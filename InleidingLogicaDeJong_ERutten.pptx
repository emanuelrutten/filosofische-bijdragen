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426.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s/slide388.xml" ContentType="application/vnd.openxmlformats-officedocument.presentationml.slide+xml"/>
  <Override PartName="/ppt/slides/slide404.xml" ContentType="application/vnd.openxmlformats-officedocument.presentationml.slide+xml"/>
  <Override PartName="/ppt/slides/slide451.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50.xml" ContentType="application/vnd.openxmlformats-officedocument.presentationml.slide+xml"/>
  <Override PartName="/ppt/slides/slide243.xml" ContentType="application/vnd.openxmlformats-officedocument.presentationml.slide+xml"/>
  <Override PartName="/ppt/slides/slide29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221.xml" ContentType="application/vnd.openxmlformats-officedocument.presentationml.slide+xml"/>
  <Override PartName="/ppt/slides/slide319.xml" ContentType="application/vnd.openxmlformats-officedocument.presentationml.slide+xml"/>
  <Override PartName="/ppt/slides/slide366.xml" ContentType="application/vnd.openxmlformats-officedocument.presentationml.slide+xml"/>
  <Override PartName="/ppt/notesSlides/notesSlide41.xml" ContentType="application/vnd.openxmlformats-officedocument.presentationml.notesSlide+xml"/>
  <Override PartName="/ppt/slides/slide158.xml" ContentType="application/vnd.openxmlformats-officedocument.presentationml.slide+xml"/>
  <Override PartName="/ppt/slides/slide344.xml" ContentType="application/vnd.openxmlformats-officedocument.presentationml.slide+xml"/>
  <Override PartName="/ppt/slides/slide391.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slides/slide88.xml" ContentType="application/vnd.openxmlformats-officedocument.presentationml.slide+xml"/>
  <Override PartName="/ppt/slides/slide259.xml" ContentType="application/vnd.openxmlformats-officedocument.presentationml.slide+xml"/>
  <Override PartName="/ppt/slides/slide322.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Override PartName="/ppt/slides/slide300.xml" ContentType="application/vnd.openxmlformats-officedocument.presentationml.slide+xml"/>
  <Override PartName="/ppt/slides/slide445.xml" ContentType="application/vnd.openxmlformats-officedocument.presentationml.slide+xml"/>
  <Override PartName="/ppt/notesSlides/notesSlide79.xml" ContentType="application/vnd.openxmlformats-officedocument.presentationml.notesSlide+xml"/>
  <Default Extension="png" ContentType="image/png"/>
  <Override PartName="/ppt/slides/slide237.xml" ContentType="application/vnd.openxmlformats-officedocument.presentationml.slide+xml"/>
  <Override PartName="/ppt/slides/slide284.xml" ContentType="application/vnd.openxmlformats-officedocument.presentationml.slide+xml"/>
  <Override PartName="/ppt/slides/slide423.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62.xml" ContentType="application/vnd.openxmlformats-officedocument.presentationml.slide+xml"/>
  <Override PartName="/ppt/slides/slide22.xml" ContentType="application/vnd.openxmlformats-officedocument.presentationml.slide+xml"/>
  <Override PartName="/ppt/slides/slide199.xml" ContentType="application/vnd.openxmlformats-officedocument.presentationml.slide+xml"/>
  <Override PartName="/ppt/slides/slide401.xml" ContentType="application/vnd.openxmlformats-officedocument.presentationml.slide+xml"/>
  <Override PartName="/ppt/notesSlides/notesSlide35.xml" ContentType="application/vnd.openxmlformats-officedocument.presentationml.notesSlide+xml"/>
  <Override PartName="/ppt/notesSlides/notesSlide82.xml" ContentType="application/vnd.openxmlformats-officedocument.presentationml.notesSlide+xml"/>
  <Override PartName="/ppt/slides/slide240.xml" ContentType="application/vnd.openxmlformats-officedocument.presentationml.slide+xml"/>
  <Override PartName="/ppt/slides/slide338.xml" ContentType="application/vnd.openxmlformats-officedocument.presentationml.slide+xml"/>
  <Override PartName="/ppt/slides/slide385.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77.xml" ContentType="application/vnd.openxmlformats-officedocument.presentationml.slide+xml"/>
  <Override PartName="/ppt/slides/slide316.xml" ContentType="application/vnd.openxmlformats-officedocument.presentationml.slide+xml"/>
  <Override PartName="/ppt/slides/slide363.xml" ContentType="application/vnd.openxmlformats-officedocument.presentationml.slide+xml"/>
  <Override PartName="/ppt/slides/slide108.xml" ContentType="application/vnd.openxmlformats-officedocument.presentationml.slide+xml"/>
  <Override PartName="/ppt/slides/slide155.xml" ContentType="application/vnd.openxmlformats-officedocument.presentationml.slide+xml"/>
  <Override PartName="/ppt/slides/slide439.xml" ContentType="application/vnd.openxmlformats-officedocument.presentationml.slide+xml"/>
  <Override PartName="/ppt/slides/slide278.xml" ContentType="application/vnd.openxmlformats-officedocument.presentationml.slide+xml"/>
  <Override PartName="/ppt/slides/slide341.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417.xml" ContentType="application/vnd.openxmlformats-officedocument.presentationml.slide+xml"/>
  <Override PartName="/ppt/notesSlides/notesSlide98.xml" ContentType="application/vnd.openxmlformats-officedocument.presentationml.notes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slides/slide442.xml" ContentType="application/vnd.openxmlformats-officedocument.presentationml.slide+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slides/slide16.xml" ContentType="application/vnd.openxmlformats-officedocument.presentationml.slide+xml"/>
  <Override PartName="/ppt/slides/slide63.xml" ContentType="application/vnd.openxmlformats-officedocument.presentationml.slide+xml"/>
  <Override PartName="/ppt/slides/slide234.xml" ContentType="application/vnd.openxmlformats-officedocument.presentationml.slide+xml"/>
  <Override PartName="/ppt/slides/slide281.xml" ContentType="application/vnd.openxmlformats-officedocument.presentationml.slide+xml"/>
  <Override PartName="/ppt/slides/slide379.xml" ContentType="application/vnd.openxmlformats-officedocument.presentationml.slide+xml"/>
  <Override PartName="/ppt/notesSlides/notesSlide110.xml" ContentType="application/vnd.openxmlformats-officedocument.presentationml.notesSlide+xml"/>
  <Override PartName="/ppt/slides/slide41.xml" ContentType="application/vnd.openxmlformats-officedocument.presentationml.slide+xml"/>
  <Override PartName="/ppt/slides/slide357.xml" ContentType="application/vnd.openxmlformats-officedocument.presentationml.slide+xml"/>
  <Override PartName="/ppt/slides/slide420.xml" ContentType="application/vnd.openxmlformats-officedocument.presentationml.slide+xml"/>
  <Override PartName="/ppt/notesSlides/notesSlide54.xml" ContentType="application/vnd.openxmlformats-officedocument.presentationml.notes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slides/slide335.xml" ContentType="application/vnd.openxmlformats-officedocument.presentationml.slide+xml"/>
  <Override PartName="/ppt/slides/slide382.xml" ContentType="application/vnd.openxmlformats-officedocument.presentationml.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slides/slide458.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297.xml" ContentType="application/vnd.openxmlformats-officedocument.presentationml.slide+xml"/>
  <Override PartName="/ppt/slides/slide313.xml" ContentType="application/vnd.openxmlformats-officedocument.presentationml.slide+xml"/>
  <Override PartName="/ppt/slides/slide360.xml" ContentType="application/vnd.openxmlformats-officedocument.presentationml.slide+xml"/>
  <Override PartName="/ppt/slideLayouts/slideLayout9.xml" ContentType="application/vnd.openxmlformats-officedocument.presentationml.slideLayout+xml"/>
  <Override PartName="/ppt/slides/slide57.xml" ContentType="application/vnd.openxmlformats-officedocument.presentationml.slide+xml"/>
  <Override PartName="/ppt/slides/slide105.xml" ContentType="application/vnd.openxmlformats-officedocument.presentationml.slide+xml"/>
  <Override PartName="/ppt/slides/slide152.xml" ContentType="application/vnd.openxmlformats-officedocument.presentationml.slide+xml"/>
  <Override PartName="/ppt/slides/slide436.xml" ContentType="application/vnd.openxmlformats-officedocument.presentationml.slide+xml"/>
  <Override PartName="/ppt/notesSlides/notesSlide1.xml" ContentType="application/vnd.openxmlformats-officedocument.presentationml.notesSlide+xml"/>
  <Override PartName="/ppt/notesSlides/notesSlide104.xml" ContentType="application/vnd.openxmlformats-officedocument.presentationml.notesSlide+xml"/>
  <Override PartName="/ppt/slides/slide130.xml" ContentType="application/vnd.openxmlformats-officedocument.presentationml.slide+xml"/>
  <Override PartName="/ppt/slides/slide228.xml" ContentType="application/vnd.openxmlformats-officedocument.presentationml.slide+xml"/>
  <Override PartName="/ppt/slides/slide275.xml" ContentType="application/vnd.openxmlformats-officedocument.presentationml.slide+xml"/>
  <Override PartName="/ppt/slides/slide414.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slides/slide35.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53.xml" ContentType="application/vnd.openxmlformats-officedocument.presentationml.slide+xml"/>
  <Override PartName="/ppt/slides/slide398.xml" ContentType="application/vnd.openxmlformats-officedocument.presentationml.slide+xml"/>
  <Override PartName="/ppt/slides/slide13.xml" ContentType="application/vnd.openxmlformats-officedocument.presentationml.slide+xml"/>
  <Override PartName="/ppt/slides/slide60.xml" ContentType="application/vnd.openxmlformats-officedocument.presentationml.slide+xml"/>
  <Override PartName="/ppt/slides/slide329.xml" ContentType="application/vnd.openxmlformats-officedocument.presentationml.slide+xml"/>
  <Override PartName="/ppt/slides/slide376.xml" ContentType="application/vnd.openxmlformats-officedocument.presentationml.slide+xml"/>
  <Override PartName="/ppt/notesSlides/notesSlide26.xml" ContentType="application/vnd.openxmlformats-officedocument.presentationml.notesSlide+xml"/>
  <Override PartName="/ppt/notesSlides/notesSlide73.xml" ContentType="application/vnd.openxmlformats-officedocument.presentationml.notesSlide+xml"/>
  <Override PartName="/ppt/slides/slide168.xml" ContentType="application/vnd.openxmlformats-officedocument.presentationml.slide+xml"/>
  <Override PartName="/ppt/slides/slide231.xml" ContentType="application/vnd.openxmlformats-officedocument.presentationml.slide+xml"/>
  <Override PartName="/ppt/notesSlides/notesSlide51.xml" ContentType="application/vnd.openxmlformats-officedocument.presentationml.notesSlide+xml"/>
  <Override PartName="/ppt/slides/slide307.xml" ContentType="application/vnd.openxmlformats-officedocument.presentationml.slide+xml"/>
  <Override PartName="/ppt/slides/slide354.xml" ContentType="application/vnd.openxmlformats-officedocument.presentationml.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slides/slide332.xml" ContentType="application/vnd.openxmlformats-officedocument.presentationml.slide+xml"/>
  <Override PartName="/ppt/slides/slide124.xml" ContentType="application/vnd.openxmlformats-officedocument.presentationml.slide+xml"/>
  <Override PartName="/ppt/slides/slide171.xml" ContentType="application/vnd.openxmlformats-officedocument.presentationml.slide+xml"/>
  <Override PartName="/ppt/slides/slide269.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310.xml" ContentType="application/vnd.openxmlformats-officedocument.presentationml.slide+xml"/>
  <Override PartName="/ppt/slides/slide408.xml" ContentType="application/vnd.openxmlformats-officedocument.presentationml.slide+xml"/>
  <Override PartName="/ppt/slides/slide455.xml" ContentType="application/vnd.openxmlformats-officedocument.presentationml.slide+xml"/>
  <Override PartName="/ppt/slides/slide4.xml" ContentType="application/vnd.openxmlformats-officedocument.presentationml.slide+xml"/>
  <Override PartName="/ppt/slides/slide54.xml" ContentType="application/vnd.openxmlformats-officedocument.presentationml.slide+xml"/>
  <Override PartName="/ppt/slides/slide102.xml" ContentType="application/vnd.openxmlformats-officedocument.presentationml.slide+xml"/>
  <Override PartName="/ppt/slides/slide247.xml" ContentType="application/vnd.openxmlformats-officedocument.presentationml.slide+xml"/>
  <Override PartName="/ppt/slides/slide294.xml" ContentType="application/vnd.openxmlformats-officedocument.presentationml.slide+xml"/>
  <Override PartName="/ppt/slides/slide433.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225.xml" ContentType="application/vnd.openxmlformats-officedocument.presentationml.slide+xml"/>
  <Override PartName="/ppt/slides/slide272.xml" ContentType="application/vnd.openxmlformats-officedocument.presentationml.slide+xml"/>
  <Override PartName="/ppt/notesSlides/notesSlide45.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slides/slide348.xml" ContentType="application/vnd.openxmlformats-officedocument.presentationml.slide+xml"/>
  <Override PartName="/ppt/slides/slide395.xml" ContentType="application/vnd.openxmlformats-officedocument.presentationml.slide+xml"/>
  <Override PartName="/ppt/slides/slide411.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slides/slide337.xml" ContentType="application/vnd.openxmlformats-officedocument.presentationml.slide+xml"/>
  <Override PartName="/ppt/slides/slide384.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slides/slide326.xml" ContentType="application/vnd.openxmlformats-officedocument.presentationml.slide+xml"/>
  <Override PartName="/ppt/slides/slide373.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slides/slide299.xml" ContentType="application/vnd.openxmlformats-officedocument.presentationml.slide+xml"/>
  <Override PartName="/ppt/slides/slide304.xml" ContentType="application/vnd.openxmlformats-officedocument.presentationml.slide+xml"/>
  <Override PartName="/ppt/slides/slide315.xml" ContentType="application/vnd.openxmlformats-officedocument.presentationml.slide+xml"/>
  <Override PartName="/ppt/slides/slide351.xml" ContentType="application/vnd.openxmlformats-officedocument.presentationml.slide+xml"/>
  <Override PartName="/ppt/slides/slide362.xml" ContentType="application/vnd.openxmlformats-officedocument.presentationml.slide+xml"/>
  <Override PartName="/ppt/slides/slide449.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slides/slide288.xml" ContentType="application/vnd.openxmlformats-officedocument.presentationml.slide+xml"/>
  <Override PartName="/ppt/slides/slide340.xml" ContentType="application/vnd.openxmlformats-officedocument.presentationml.slide+xml"/>
  <Override PartName="/ppt/slides/slide438.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s/slide277.xml" ContentType="application/vnd.openxmlformats-officedocument.presentationml.slide+xml"/>
  <Override PartName="/ppt/slides/slide416.xml" ContentType="application/vnd.openxmlformats-officedocument.presentationml.slide+xml"/>
  <Override PartName="/ppt/slides/slide427.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slides/slide266.xml" ContentType="application/vnd.openxmlformats-officedocument.presentationml.slide+xml"/>
  <Override PartName="/ppt/slides/slide405.xml" ContentType="application/vnd.openxmlformats-officedocument.presentationml.slide+xml"/>
  <Override PartName="/ppt/slides/slide452.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s/slide291.xml" ContentType="application/vnd.openxmlformats-officedocument.presentationml.slide+xml"/>
  <Override PartName="/ppt/slides/slide378.xml" ContentType="application/vnd.openxmlformats-officedocument.presentationml.slide+xml"/>
  <Override PartName="/ppt/slides/slide389.xml" ContentType="application/vnd.openxmlformats-officedocument.presentationml.slide+xml"/>
  <Override PartName="/ppt/slides/slide44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slides/slide280.xml" ContentType="application/vnd.openxmlformats-officedocument.presentationml.slide+xml"/>
  <Override PartName="/ppt/slides/slide367.xml" ContentType="application/vnd.openxmlformats-officedocument.presentationml.slide+xml"/>
  <Override PartName="/ppt/slides/slide430.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309.xml" ContentType="application/vnd.openxmlformats-officedocument.presentationml.slide+xml"/>
  <Override PartName="/ppt/slides/slide356.xml" ContentType="application/vnd.openxmlformats-officedocument.presentationml.slide+xml"/>
  <Override PartName="/ppt/notesSlides/notesSlide42.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s/slide345.xml" ContentType="application/vnd.openxmlformats-officedocument.presentationml.slide+xml"/>
  <Override PartName="/ppt/slides/slide392.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323.xml" ContentType="application/vnd.openxmlformats-officedocument.presentationml.slide+xml"/>
  <Override PartName="/ppt/slides/slide334.xml" ContentType="application/vnd.openxmlformats-officedocument.presentationml.slide+xml"/>
  <Override PartName="/ppt/slides/slide370.xml" ContentType="application/vnd.openxmlformats-officedocument.presentationml.slide+xml"/>
  <Override PartName="/ppt/slides/slide381.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slides/slide312.xml" ContentType="application/vnd.openxmlformats-officedocument.presentationml.slide+xml"/>
  <Override PartName="/ppt/slides/slide446.xml" ContentType="application/vnd.openxmlformats-officedocument.presentationml.slide+xml"/>
  <Override PartName="/ppt/slides/slide457.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s/slide285.xml" ContentType="application/vnd.openxmlformats-officedocument.presentationml.slide+xml"/>
  <Override PartName="/ppt/slides/slide296.xml" ContentType="application/vnd.openxmlformats-officedocument.presentationml.slide+xml"/>
  <Override PartName="/ppt/slides/slide301.xml" ContentType="application/vnd.openxmlformats-officedocument.presentationml.slide+xml"/>
  <Override PartName="/ppt/slides/slide435.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slides/slide274.xml" ContentType="application/vnd.openxmlformats-officedocument.presentationml.slide+xml"/>
  <Override PartName="/ppt/slides/slide424.xml" ContentType="application/vnd.openxmlformats-officedocument.presentationml.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slides/slide263.xml" ContentType="application/vnd.openxmlformats-officedocument.presentationml.slide+xml"/>
  <Override PartName="/ppt/slides/slide397.xml" ContentType="application/vnd.openxmlformats-officedocument.presentationml.slide+xml"/>
  <Override PartName="/ppt/slides/slide402.xml" ContentType="application/vnd.openxmlformats-officedocument.presentationml.slide+xml"/>
  <Override PartName="/ppt/slides/slide413.xml" ContentType="application/vnd.openxmlformats-officedocument.presentationml.slide+xml"/>
  <Override PartName="/ppt/slides/slide460.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slides/slide339.xml" ContentType="application/vnd.openxmlformats-officedocument.presentationml.slide+xml"/>
  <Override PartName="/ppt/slides/slide386.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s/slide328.xml" ContentType="application/vnd.openxmlformats-officedocument.presentationml.slide+xml"/>
  <Override PartName="/ppt/slides/slide375.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slides/slide167.xml" ContentType="application/vnd.openxmlformats-officedocument.presentationml.slide+xml"/>
  <Override PartName="/ppt/slides/slide306.xml" ContentType="application/vnd.openxmlformats-officedocument.presentationml.slide+xml"/>
  <Override PartName="/ppt/slides/slide317.xml" ContentType="application/vnd.openxmlformats-officedocument.presentationml.slide+xml"/>
  <Override PartName="/ppt/slides/slide353.xml" ContentType="application/vnd.openxmlformats-officedocument.presentationml.slide+xml"/>
  <Override PartName="/ppt/slides/slide364.xml" ContentType="application/vnd.openxmlformats-officedocument.presentationml.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slides/slide342.xml" ContentType="application/vnd.openxmlformats-officedocument.presentationml.slide+xml"/>
  <Override PartName="/ppt/notesSlides/notesSlide108.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slides/slide279.xml" ContentType="application/vnd.openxmlformats-officedocument.presentationml.slide+xml"/>
  <Override PartName="/ppt/slides/slide331.xml" ContentType="application/vnd.openxmlformats-officedocument.presentationml.slide+xml"/>
  <Override PartName="/ppt/slides/slide418.xml" ContentType="application/vnd.openxmlformats-officedocument.presentationml.slide+xml"/>
  <Override PartName="/ppt/slides/slide429.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slides/slide257.xml" ContentType="application/vnd.openxmlformats-officedocument.presentationml.slide+xml"/>
  <Override PartName="/ppt/slides/slide268.xml" ContentType="application/vnd.openxmlformats-officedocument.presentationml.slide+xml"/>
  <Override PartName="/ppt/slides/slide320.xml" ContentType="application/vnd.openxmlformats-officedocument.presentationml.slide+xml"/>
  <Override PartName="/ppt/slides/slide407.xml" ContentType="application/vnd.openxmlformats-officedocument.presentationml.slide+xml"/>
  <Override PartName="/ppt/slides/slide454.xml" ContentType="application/vnd.openxmlformats-officedocument.presentationml.slide+xml"/>
  <Override PartName="/ppt/notesSlides/notesSlide88.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246.xml" ContentType="application/vnd.openxmlformats-officedocument.presentationml.slide+xml"/>
  <Override PartName="/ppt/slides/slide293.xml" ContentType="application/vnd.openxmlformats-officedocument.presentationml.slide+xml"/>
  <Override PartName="/ppt/slides/slide443.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Override PartName="/ppt/slides/slide282.xml" ContentType="application/vnd.openxmlformats-officedocument.presentationml.slide+xml"/>
  <Override PartName="/ppt/slides/slide369.xml" ContentType="application/vnd.openxmlformats-officedocument.presentationml.slide+xml"/>
  <Override PartName="/ppt/slides/slide421.xml" ContentType="application/vnd.openxmlformats-officedocument.presentationml.slide+xml"/>
  <Override PartName="/ppt/slides/slide432.xml" ContentType="application/vnd.openxmlformats-officedocument.presentationml.slide+xml"/>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Default Extension="jpeg" ContentType="image/jpeg"/>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60.xml" ContentType="application/vnd.openxmlformats-officedocument.presentationml.slide+xml"/>
  <Override PartName="/ppt/slides/slide271.xml" ContentType="application/vnd.openxmlformats-officedocument.presentationml.slide+xml"/>
  <Override PartName="/ppt/slides/slide358.xml" ContentType="application/vnd.openxmlformats-officedocument.presentationml.slide+xml"/>
  <Override PartName="/ppt/slides/slide410.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347.xml" ContentType="application/vnd.openxmlformats-officedocument.presentationml.slide+xml"/>
  <Override PartName="/ppt/slides/slide394.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slides/slide325.xml" ContentType="application/vnd.openxmlformats-officedocument.presentationml.slide+xml"/>
  <Override PartName="/ppt/slides/slide336.xml" ContentType="application/vnd.openxmlformats-officedocument.presentationml.slide+xml"/>
  <Override PartName="/ppt/slides/slide372.xml" ContentType="application/vnd.openxmlformats-officedocument.presentationml.slide+xml"/>
  <Override PartName="/ppt/slides/slide383.xml" ContentType="application/vnd.openxmlformats-officedocument.presentationml.slide+xml"/>
  <Override PartName="/ppt/notesSlides/notesSlide1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314.xml" ContentType="application/vnd.openxmlformats-officedocument.presentationml.slide+xml"/>
  <Override PartName="/ppt/slides/slide361.xml" ContentType="application/vnd.openxmlformats-officedocument.presentationml.slide+xml"/>
  <Override PartName="/ppt/slides/slide448.xml" ContentType="application/vnd.openxmlformats-officedocument.presentationml.slide+xml"/>
  <Override PartName="/ppt/slides/slide459.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slides/slide287.xml" ContentType="application/vnd.openxmlformats-officedocument.presentationml.slide+xml"/>
  <Override PartName="/ppt/slides/slide298.xml" ContentType="application/vnd.openxmlformats-officedocument.presentationml.slide+xml"/>
  <Override PartName="/ppt/slides/slide303.xml" ContentType="application/vnd.openxmlformats-officedocument.presentationml.slide+xml"/>
  <Override PartName="/ppt/slides/slide350.xml" ContentType="application/vnd.openxmlformats-officedocument.presentationml.slide+xml"/>
  <Override PartName="/ppt/slides/slide437.xml" ContentType="application/vnd.openxmlformats-officedocument.presentationml.slide+xml"/>
  <Override PartName="/ppt/slides/slide58.xml" ContentType="application/vnd.openxmlformats-officedocument.presentationml.slide+xml"/>
  <Override PartName="/ppt/slides/slide229.xml" ContentType="application/vnd.openxmlformats-officedocument.presentationml.slide+xml"/>
  <Override PartName="/ppt/slides/slide276.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slides/slide399.xml" ContentType="application/vnd.openxmlformats-officedocument.presentationml.slide+xml"/>
  <Override PartName="/ppt/slides/slide415.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slides/slide207.xml" ContentType="application/vnd.openxmlformats-officedocument.presentationml.slide+xml"/>
  <Override PartName="/ppt/slides/slide254.xml" ContentType="application/vnd.openxmlformats-officedocument.presentationml.slide+xml"/>
  <Override PartName="/ppt/slides/slide440.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slides/slide377.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slides/slide308.xml" ContentType="application/vnd.openxmlformats-officedocument.presentationml.slide+xml"/>
  <Override PartName="/ppt/slides/slide355.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333.xml" ContentType="application/vnd.openxmlformats-officedocument.presentationml.slide+xml"/>
  <Override PartName="/ppt/slides/slide380.xml" ContentType="application/vnd.openxmlformats-officedocument.presentationml.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409.xml" ContentType="application/vnd.openxmlformats-officedocument.presentationml.slide+xml"/>
  <Override PartName="/ppt/slides/slide456.xml" ContentType="application/vnd.openxmlformats-officedocument.presentationml.slide+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s/slide248.xml" ContentType="application/vnd.openxmlformats-officedocument.presentationml.slide+xml"/>
  <Override PartName="/ppt/slides/slide295.xml" ContentType="application/vnd.openxmlformats-officedocument.presentationml.slide+xml"/>
  <Override PartName="/ppt/slides/slide311.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slides/slide55.xml" ContentType="application/vnd.openxmlformats-officedocument.presentationml.slide+xml"/>
  <Override PartName="/ppt/slides/slide434.xml" ContentType="application/vnd.openxmlformats-officedocument.presentationml.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slides/slide226.xml" ContentType="application/vnd.openxmlformats-officedocument.presentationml.slide+xml"/>
  <Override PartName="/ppt/slides/slide273.xml" ContentType="application/vnd.openxmlformats-officedocument.presentationml.slide+xml"/>
  <Override PartName="/ppt/slides/slide412.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04.xml" ContentType="application/vnd.openxmlformats-officedocument.presentationml.slide+xml"/>
  <Override PartName="/ppt/slides/slide251.xml" ContentType="application/vnd.openxmlformats-officedocument.presentationml.slide+xml"/>
  <Override PartName="/ppt/slides/slide349.xml" ContentType="application/vnd.openxmlformats-officedocument.presentationml.slide+xml"/>
  <Override PartName="/ppt/slides/slide396.xml" ContentType="application/vnd.openxmlformats-officedocument.presentationml.slide+xml"/>
  <Override PartName="/ppt/notesSlides/notesSlide24.xml" ContentType="application/vnd.openxmlformats-officedocument.presentationml.notesSlide+xml"/>
  <Override PartName="/ppt/notesSlides/notesSlide71.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327.xml" ContentType="application/vnd.openxmlformats-officedocument.presentationml.slide+xml"/>
  <Override PartName="/ppt/slides/slide374.xml" ContentType="application/vnd.openxmlformats-officedocument.presentationml.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slides/slide305.xml" ContentType="application/vnd.openxmlformats-officedocument.presentationml.slide+xml"/>
  <Override PartName="/ppt/slides/slide352.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289.xml" ContentType="application/vnd.openxmlformats-officedocument.presentationml.slide+xml"/>
  <Override PartName="/ppt/slides/slide330.xml" ContentType="application/vnd.openxmlformats-officedocument.presentationml.slide+xml"/>
  <Override PartName="/ppt/slides/slide428.xml" ContentType="application/vnd.openxmlformats-officedocument.presentationml.slide+xml"/>
  <Override PartName="/ppt/slides/slide122.xml" ContentType="application/vnd.openxmlformats-officedocument.presentationml.slide+xml"/>
  <Override PartName="/ppt/slides/slide267.xml" ContentType="application/vnd.openxmlformats-officedocument.presentationml.slide+xml"/>
  <Override PartName="/ppt/notesSlides/notesSlide87.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406.xml" ContentType="application/vnd.openxmlformats-officedocument.presentationml.slide+xml"/>
  <Override PartName="/ppt/slides/slide453.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Override PartName="/ppt/slides/slide245.xml" ContentType="application/vnd.openxmlformats-officedocument.presentationml.slide+xml"/>
  <Override PartName="/ppt/slides/slide292.xml" ContentType="application/vnd.openxmlformats-officedocument.presentationml.slide+xml"/>
  <Override PartName="/ppt/slides/slide431.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slides/slide223.xml" ContentType="application/vnd.openxmlformats-officedocument.presentationml.slide+xml"/>
  <Override PartName="/ppt/slides/slide270.xml" ContentType="application/vnd.openxmlformats-officedocument.presentationml.slide+xml"/>
  <Override PartName="/ppt/slides/slide368.xml" ContentType="application/vnd.openxmlformats-officedocument.presentationml.slide+xml"/>
  <Override PartName="/ppt/notesSlides/notesSlide43.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346.xml" ContentType="application/vnd.openxmlformats-officedocument.presentationml.slide+xml"/>
  <Override PartName="/ppt/slides/slide393.xml" ContentType="application/vnd.openxmlformats-officedocument.presentationml.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324.xml" ContentType="application/vnd.openxmlformats-officedocument.presentationml.slide+xml"/>
  <Override PartName="/ppt/slides/slide371.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s/slide302.xml" ContentType="application/vnd.openxmlformats-officedocument.presentationml.slide+xml"/>
  <Override PartName="/ppt/slides/slide447.xml" ContentType="application/vnd.openxmlformats-officedocument.presentationml.slide+xml"/>
  <Override PartName="/ppt/slides/slide141.xml" ContentType="application/vnd.openxmlformats-officedocument.presentationml.slide+xml"/>
  <Override PartName="/ppt/slides/slide239.xml" ContentType="application/vnd.openxmlformats-officedocument.presentationml.slide+xml"/>
  <Override PartName="/ppt/slides/slide286.xml" ContentType="application/vnd.openxmlformats-officedocument.presentationml.slide+xml"/>
  <Override PartName="/ppt/slides/slide425.xml" ContentType="application/vnd.openxmlformats-officedocument.presentationml.slide+xml"/>
  <Override PartName="/ppt/notesSlides/notesSlide59.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217.xml" ContentType="application/vnd.openxmlformats-officedocument.presentationml.slide+xml"/>
  <Override PartName="/ppt/slides/slide264.xml" ContentType="application/vnd.openxmlformats-officedocument.presentationml.slide+xml"/>
  <Override PartName="/ppt/slides/slide24.xml" ContentType="application/vnd.openxmlformats-officedocument.presentationml.slide+xml"/>
  <Override PartName="/ppt/slides/slide71.xml" ContentType="application/vnd.openxmlformats-officedocument.presentationml.slide+xml"/>
  <Override PartName="/ppt/slides/slide403.xml" ContentType="application/vnd.openxmlformats-officedocument.presentationml.slide+xml"/>
  <Override PartName="/ppt/slides/slide450.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242.xml" ContentType="application/vnd.openxmlformats-officedocument.presentationml.slide+xml"/>
  <Override PartName="/ppt/slides/slide387.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62.xml" ContentType="application/vnd.openxmlformats-officedocument.presentationml.notesSlide+xml"/>
  <Override PartName="/ppt/slides/slide179.xml" ContentType="application/vnd.openxmlformats-officedocument.presentationml.slide+xml"/>
  <Override PartName="/ppt/slides/slide318.xml" ContentType="application/vnd.openxmlformats-officedocument.presentationml.slide+xml"/>
  <Override PartName="/ppt/slides/slide365.xml" ContentType="application/vnd.openxmlformats-officedocument.presentationml.slide+xml"/>
  <Override PartName="/ppt/slides/slide157.xml" ContentType="application/vnd.openxmlformats-officedocument.presentationml.slide+xml"/>
  <Override PartName="/ppt/slides/slide220.xml" ContentType="application/vnd.openxmlformats-officedocument.presentationml.slide+xml"/>
  <Override PartName="/ppt/notesSlides/notesSlide40.xml" ContentType="application/vnd.openxmlformats-officedocument.presentationml.notesSlide+xml"/>
  <Override PartName="/ppt/slides/slide343.xml" ContentType="application/vnd.openxmlformats-officedocument.presentationml.slide+xml"/>
  <Override PartName="/ppt/slides/slide390.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slides/slide87.xml" ContentType="application/vnd.openxmlformats-officedocument.presentationml.slide+xml"/>
  <Override PartName="/ppt/slides/slide135.xml" ContentType="application/vnd.openxmlformats-officedocument.presentationml.slide+xml"/>
  <Override PartName="/ppt/slides/slide182.xml" ContentType="application/vnd.openxmlformats-officedocument.presentationml.slide+xml"/>
  <Override PartName="/ppt/slides/slide321.xml" ContentType="application/vnd.openxmlformats-officedocument.presentationml.slide+xml"/>
  <Override PartName="/ppt/slides/slide419.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444.xml" ContentType="application/vnd.openxmlformats-officedocument.presentationml.slide+xml"/>
  <Override PartName="/ppt/notesSlides/notesSlide78.xml" ContentType="application/vnd.openxmlformats-officedocument.presentationml.notesSlide+xml"/>
  <Override PartName="/ppt/slides/slide18.xml" ContentType="application/vnd.openxmlformats-officedocument.presentationml.slide+xml"/>
  <Override PartName="/ppt/slides/slide65.xml" ContentType="application/vnd.openxmlformats-officedocument.presentationml.slide+xml"/>
  <Override PartName="/ppt/slides/slide236.xml" ContentType="application/vnd.openxmlformats-officedocument.presentationml.slide+xml"/>
  <Override PartName="/ppt/slides/slide283.xml" ContentType="application/vnd.openxmlformats-officedocument.presentationml.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slides/slide422.xml" ContentType="application/vnd.openxmlformats-officedocument.presentationml.slide+xml"/>
  <Override PartName="/ppt/theme/theme1.xml" ContentType="application/vnd.openxmlformats-officedocument.theme+xml"/>
  <Override PartName="/ppt/notesSlides/notesSlide56.xml" ContentType="application/vnd.openxmlformats-officedocument.presentationml.notesSlide+xml"/>
  <Override PartName="/ppt/slides/slide214.xml" ContentType="application/vnd.openxmlformats-officedocument.presentationml.slide+xml"/>
  <Override PartName="/ppt/slides/slide261.xml" ContentType="application/vnd.openxmlformats-officedocument.presentationml.slide+xml"/>
  <Override PartName="/ppt/slides/slide359.xml" ContentType="application/vnd.openxmlformats-officedocument.presentationml.slide+xml"/>
  <Override PartName="/ppt/slides/slide400.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2"/>
  </p:notesMasterIdLst>
  <p:sldIdLst>
    <p:sldId id="256" r:id="rId2"/>
    <p:sldId id="363" r:id="rId3"/>
    <p:sldId id="364" r:id="rId4"/>
    <p:sldId id="262" r:id="rId5"/>
    <p:sldId id="263" r:id="rId6"/>
    <p:sldId id="264" r:id="rId7"/>
    <p:sldId id="265" r:id="rId8"/>
    <p:sldId id="266" r:id="rId9"/>
    <p:sldId id="267" r:id="rId10"/>
    <p:sldId id="268" r:id="rId11"/>
    <p:sldId id="269" r:id="rId12"/>
    <p:sldId id="270" r:id="rId13"/>
    <p:sldId id="271" r:id="rId14"/>
    <p:sldId id="272" r:id="rId15"/>
    <p:sldId id="273" r:id="rId16"/>
    <p:sldId id="275" r:id="rId17"/>
    <p:sldId id="274" r:id="rId18"/>
    <p:sldId id="276" r:id="rId19"/>
    <p:sldId id="277" r:id="rId20"/>
    <p:sldId id="282" r:id="rId21"/>
    <p:sldId id="279" r:id="rId22"/>
    <p:sldId id="280" r:id="rId23"/>
    <p:sldId id="281" r:id="rId24"/>
    <p:sldId id="283" r:id="rId25"/>
    <p:sldId id="284" r:id="rId26"/>
    <p:sldId id="285" r:id="rId27"/>
    <p:sldId id="286" r:id="rId28"/>
    <p:sldId id="287" r:id="rId29"/>
    <p:sldId id="288" r:id="rId30"/>
    <p:sldId id="289" r:id="rId31"/>
    <p:sldId id="290" r:id="rId32"/>
    <p:sldId id="293" r:id="rId33"/>
    <p:sldId id="291" r:id="rId34"/>
    <p:sldId id="292" r:id="rId35"/>
    <p:sldId id="295" r:id="rId36"/>
    <p:sldId id="294"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4" r:id="rId55"/>
    <p:sldId id="313" r:id="rId56"/>
    <p:sldId id="315" r:id="rId57"/>
    <p:sldId id="316" r:id="rId58"/>
    <p:sldId id="317" r:id="rId59"/>
    <p:sldId id="319" r:id="rId60"/>
    <p:sldId id="320" r:id="rId61"/>
    <p:sldId id="321" r:id="rId62"/>
    <p:sldId id="322" r:id="rId63"/>
    <p:sldId id="323" r:id="rId64"/>
    <p:sldId id="325" r:id="rId65"/>
    <p:sldId id="324" r:id="rId66"/>
    <p:sldId id="326" r:id="rId67"/>
    <p:sldId id="327" r:id="rId68"/>
    <p:sldId id="328" r:id="rId69"/>
    <p:sldId id="329" r:id="rId70"/>
    <p:sldId id="330" r:id="rId71"/>
    <p:sldId id="331" r:id="rId72"/>
    <p:sldId id="332" r:id="rId73"/>
    <p:sldId id="333" r:id="rId74"/>
    <p:sldId id="335" r:id="rId75"/>
    <p:sldId id="334" r:id="rId76"/>
    <p:sldId id="336" r:id="rId77"/>
    <p:sldId id="337" r:id="rId78"/>
    <p:sldId id="339" r:id="rId79"/>
    <p:sldId id="338" r:id="rId80"/>
    <p:sldId id="340" r:id="rId81"/>
    <p:sldId id="342" r:id="rId82"/>
    <p:sldId id="343" r:id="rId83"/>
    <p:sldId id="344" r:id="rId84"/>
    <p:sldId id="345" r:id="rId85"/>
    <p:sldId id="349" r:id="rId86"/>
    <p:sldId id="346" r:id="rId87"/>
    <p:sldId id="347" r:id="rId88"/>
    <p:sldId id="348" r:id="rId89"/>
    <p:sldId id="350" r:id="rId90"/>
    <p:sldId id="351" r:id="rId91"/>
    <p:sldId id="352" r:id="rId92"/>
    <p:sldId id="353" r:id="rId93"/>
    <p:sldId id="354" r:id="rId94"/>
    <p:sldId id="355" r:id="rId95"/>
    <p:sldId id="356" r:id="rId96"/>
    <p:sldId id="365" r:id="rId97"/>
    <p:sldId id="357" r:id="rId98"/>
    <p:sldId id="358" r:id="rId99"/>
    <p:sldId id="360" r:id="rId100"/>
    <p:sldId id="361" r:id="rId101"/>
    <p:sldId id="362" r:id="rId102"/>
    <p:sldId id="366" r:id="rId103"/>
    <p:sldId id="367" r:id="rId104"/>
    <p:sldId id="368" r:id="rId105"/>
    <p:sldId id="369" r:id="rId106"/>
    <p:sldId id="370" r:id="rId107"/>
    <p:sldId id="371" r:id="rId108"/>
    <p:sldId id="372" r:id="rId109"/>
    <p:sldId id="373" r:id="rId110"/>
    <p:sldId id="374" r:id="rId111"/>
    <p:sldId id="375" r:id="rId112"/>
    <p:sldId id="376" r:id="rId113"/>
    <p:sldId id="377" r:id="rId114"/>
    <p:sldId id="378" r:id="rId115"/>
    <p:sldId id="379" r:id="rId116"/>
    <p:sldId id="380" r:id="rId117"/>
    <p:sldId id="381" r:id="rId118"/>
    <p:sldId id="382" r:id="rId119"/>
    <p:sldId id="383" r:id="rId120"/>
    <p:sldId id="384" r:id="rId121"/>
    <p:sldId id="385" r:id="rId122"/>
    <p:sldId id="386" r:id="rId123"/>
    <p:sldId id="387" r:id="rId124"/>
    <p:sldId id="388" r:id="rId125"/>
    <p:sldId id="389" r:id="rId126"/>
    <p:sldId id="390" r:id="rId127"/>
    <p:sldId id="391" r:id="rId128"/>
    <p:sldId id="392" r:id="rId129"/>
    <p:sldId id="393" r:id="rId130"/>
    <p:sldId id="394" r:id="rId131"/>
    <p:sldId id="395" r:id="rId132"/>
    <p:sldId id="396" r:id="rId133"/>
    <p:sldId id="397" r:id="rId134"/>
    <p:sldId id="398" r:id="rId135"/>
    <p:sldId id="399" r:id="rId136"/>
    <p:sldId id="400" r:id="rId137"/>
    <p:sldId id="401" r:id="rId138"/>
    <p:sldId id="402" r:id="rId139"/>
    <p:sldId id="403" r:id="rId140"/>
    <p:sldId id="404" r:id="rId141"/>
    <p:sldId id="405" r:id="rId142"/>
    <p:sldId id="406" r:id="rId143"/>
    <p:sldId id="407" r:id="rId144"/>
    <p:sldId id="408" r:id="rId145"/>
    <p:sldId id="409" r:id="rId146"/>
    <p:sldId id="410" r:id="rId147"/>
    <p:sldId id="411" r:id="rId148"/>
    <p:sldId id="412" r:id="rId149"/>
    <p:sldId id="413" r:id="rId150"/>
    <p:sldId id="414" r:id="rId151"/>
    <p:sldId id="415" r:id="rId152"/>
    <p:sldId id="416" r:id="rId153"/>
    <p:sldId id="417" r:id="rId154"/>
    <p:sldId id="418" r:id="rId155"/>
    <p:sldId id="419" r:id="rId156"/>
    <p:sldId id="420" r:id="rId157"/>
    <p:sldId id="421" r:id="rId158"/>
    <p:sldId id="422" r:id="rId159"/>
    <p:sldId id="423" r:id="rId160"/>
    <p:sldId id="424" r:id="rId161"/>
    <p:sldId id="425" r:id="rId162"/>
    <p:sldId id="426" r:id="rId163"/>
    <p:sldId id="427" r:id="rId164"/>
    <p:sldId id="428" r:id="rId165"/>
    <p:sldId id="429" r:id="rId166"/>
    <p:sldId id="430" r:id="rId167"/>
    <p:sldId id="431" r:id="rId168"/>
    <p:sldId id="432" r:id="rId169"/>
    <p:sldId id="433" r:id="rId170"/>
    <p:sldId id="434" r:id="rId171"/>
    <p:sldId id="435" r:id="rId172"/>
    <p:sldId id="436" r:id="rId173"/>
    <p:sldId id="437" r:id="rId174"/>
    <p:sldId id="438" r:id="rId175"/>
    <p:sldId id="439" r:id="rId176"/>
    <p:sldId id="440" r:id="rId177"/>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 id="478" r:id="rId215"/>
    <p:sldId id="479" r:id="rId216"/>
    <p:sldId id="480" r:id="rId217"/>
    <p:sldId id="481" r:id="rId218"/>
    <p:sldId id="482" r:id="rId219"/>
    <p:sldId id="483" r:id="rId220"/>
    <p:sldId id="484" r:id="rId221"/>
    <p:sldId id="485" r:id="rId222"/>
    <p:sldId id="486" r:id="rId223"/>
    <p:sldId id="487" r:id="rId224"/>
    <p:sldId id="488" r:id="rId225"/>
    <p:sldId id="489" r:id="rId226"/>
    <p:sldId id="490" r:id="rId227"/>
    <p:sldId id="491" r:id="rId228"/>
    <p:sldId id="492" r:id="rId229"/>
    <p:sldId id="493" r:id="rId230"/>
    <p:sldId id="494" r:id="rId231"/>
    <p:sldId id="495" r:id="rId232"/>
    <p:sldId id="496" r:id="rId233"/>
    <p:sldId id="497" r:id="rId234"/>
    <p:sldId id="498" r:id="rId235"/>
    <p:sldId id="499" r:id="rId236"/>
    <p:sldId id="500" r:id="rId237"/>
    <p:sldId id="501" r:id="rId238"/>
    <p:sldId id="502" r:id="rId239"/>
    <p:sldId id="503" r:id="rId240"/>
    <p:sldId id="504" r:id="rId241"/>
    <p:sldId id="505" r:id="rId242"/>
    <p:sldId id="506" r:id="rId243"/>
    <p:sldId id="507" r:id="rId244"/>
    <p:sldId id="508" r:id="rId245"/>
    <p:sldId id="509" r:id="rId246"/>
    <p:sldId id="510" r:id="rId247"/>
    <p:sldId id="511" r:id="rId248"/>
    <p:sldId id="512" r:id="rId249"/>
    <p:sldId id="513" r:id="rId250"/>
    <p:sldId id="514" r:id="rId251"/>
    <p:sldId id="515" r:id="rId252"/>
    <p:sldId id="516" r:id="rId253"/>
    <p:sldId id="517" r:id="rId254"/>
    <p:sldId id="518" r:id="rId255"/>
    <p:sldId id="519" r:id="rId256"/>
    <p:sldId id="520" r:id="rId257"/>
    <p:sldId id="521" r:id="rId258"/>
    <p:sldId id="522" r:id="rId259"/>
    <p:sldId id="523" r:id="rId260"/>
    <p:sldId id="524" r:id="rId261"/>
    <p:sldId id="525" r:id="rId262"/>
    <p:sldId id="526" r:id="rId263"/>
    <p:sldId id="527" r:id="rId264"/>
    <p:sldId id="528" r:id="rId265"/>
    <p:sldId id="529" r:id="rId266"/>
    <p:sldId id="530" r:id="rId267"/>
    <p:sldId id="531" r:id="rId268"/>
    <p:sldId id="532" r:id="rId269"/>
    <p:sldId id="533" r:id="rId270"/>
    <p:sldId id="534" r:id="rId271"/>
    <p:sldId id="535" r:id="rId272"/>
    <p:sldId id="536" r:id="rId273"/>
    <p:sldId id="537" r:id="rId274"/>
    <p:sldId id="538" r:id="rId275"/>
    <p:sldId id="539" r:id="rId276"/>
    <p:sldId id="540" r:id="rId277"/>
    <p:sldId id="541" r:id="rId278"/>
    <p:sldId id="542" r:id="rId279"/>
    <p:sldId id="543" r:id="rId280"/>
    <p:sldId id="544" r:id="rId281"/>
    <p:sldId id="545" r:id="rId282"/>
    <p:sldId id="546" r:id="rId283"/>
    <p:sldId id="547" r:id="rId284"/>
    <p:sldId id="548" r:id="rId285"/>
    <p:sldId id="549" r:id="rId286"/>
    <p:sldId id="550" r:id="rId287"/>
    <p:sldId id="551" r:id="rId288"/>
    <p:sldId id="552" r:id="rId289"/>
    <p:sldId id="553" r:id="rId290"/>
    <p:sldId id="554" r:id="rId291"/>
    <p:sldId id="555" r:id="rId292"/>
    <p:sldId id="556" r:id="rId293"/>
    <p:sldId id="557" r:id="rId294"/>
    <p:sldId id="558" r:id="rId295"/>
    <p:sldId id="559" r:id="rId296"/>
    <p:sldId id="560" r:id="rId297"/>
    <p:sldId id="561" r:id="rId298"/>
    <p:sldId id="562" r:id="rId299"/>
    <p:sldId id="563" r:id="rId300"/>
    <p:sldId id="564" r:id="rId301"/>
    <p:sldId id="565" r:id="rId302"/>
    <p:sldId id="566" r:id="rId303"/>
    <p:sldId id="567" r:id="rId304"/>
    <p:sldId id="568" r:id="rId305"/>
    <p:sldId id="569" r:id="rId306"/>
    <p:sldId id="570" r:id="rId307"/>
    <p:sldId id="571" r:id="rId308"/>
    <p:sldId id="572" r:id="rId309"/>
    <p:sldId id="573" r:id="rId310"/>
    <p:sldId id="574" r:id="rId311"/>
    <p:sldId id="575" r:id="rId312"/>
    <p:sldId id="576" r:id="rId313"/>
    <p:sldId id="577" r:id="rId314"/>
    <p:sldId id="578" r:id="rId315"/>
    <p:sldId id="579" r:id="rId316"/>
    <p:sldId id="580" r:id="rId317"/>
    <p:sldId id="581" r:id="rId318"/>
    <p:sldId id="582" r:id="rId319"/>
    <p:sldId id="583" r:id="rId320"/>
    <p:sldId id="584" r:id="rId321"/>
    <p:sldId id="585" r:id="rId322"/>
    <p:sldId id="586" r:id="rId323"/>
    <p:sldId id="587" r:id="rId324"/>
    <p:sldId id="588" r:id="rId325"/>
    <p:sldId id="589" r:id="rId326"/>
    <p:sldId id="590" r:id="rId327"/>
    <p:sldId id="591" r:id="rId328"/>
    <p:sldId id="592" r:id="rId329"/>
    <p:sldId id="593" r:id="rId330"/>
    <p:sldId id="594" r:id="rId331"/>
    <p:sldId id="595" r:id="rId332"/>
    <p:sldId id="596" r:id="rId333"/>
    <p:sldId id="597" r:id="rId334"/>
    <p:sldId id="598" r:id="rId335"/>
    <p:sldId id="599" r:id="rId336"/>
    <p:sldId id="600" r:id="rId337"/>
    <p:sldId id="601" r:id="rId338"/>
    <p:sldId id="602" r:id="rId339"/>
    <p:sldId id="603" r:id="rId340"/>
    <p:sldId id="604" r:id="rId341"/>
    <p:sldId id="605" r:id="rId342"/>
    <p:sldId id="606" r:id="rId343"/>
    <p:sldId id="607" r:id="rId344"/>
    <p:sldId id="608" r:id="rId345"/>
    <p:sldId id="609" r:id="rId346"/>
    <p:sldId id="610" r:id="rId347"/>
    <p:sldId id="611" r:id="rId348"/>
    <p:sldId id="612" r:id="rId349"/>
    <p:sldId id="613" r:id="rId350"/>
    <p:sldId id="614" r:id="rId351"/>
    <p:sldId id="615" r:id="rId352"/>
    <p:sldId id="616" r:id="rId353"/>
    <p:sldId id="617" r:id="rId354"/>
    <p:sldId id="618" r:id="rId355"/>
    <p:sldId id="619" r:id="rId356"/>
    <p:sldId id="620" r:id="rId357"/>
    <p:sldId id="621" r:id="rId358"/>
    <p:sldId id="622" r:id="rId359"/>
    <p:sldId id="623" r:id="rId360"/>
    <p:sldId id="624" r:id="rId361"/>
    <p:sldId id="625" r:id="rId362"/>
    <p:sldId id="626" r:id="rId363"/>
    <p:sldId id="627" r:id="rId364"/>
    <p:sldId id="628" r:id="rId365"/>
    <p:sldId id="629" r:id="rId366"/>
    <p:sldId id="630" r:id="rId367"/>
    <p:sldId id="631" r:id="rId368"/>
    <p:sldId id="632" r:id="rId369"/>
    <p:sldId id="633" r:id="rId370"/>
    <p:sldId id="634" r:id="rId371"/>
    <p:sldId id="635" r:id="rId372"/>
    <p:sldId id="636" r:id="rId373"/>
    <p:sldId id="637" r:id="rId374"/>
    <p:sldId id="638" r:id="rId375"/>
    <p:sldId id="639" r:id="rId376"/>
    <p:sldId id="640" r:id="rId377"/>
    <p:sldId id="641" r:id="rId378"/>
    <p:sldId id="642" r:id="rId379"/>
    <p:sldId id="643" r:id="rId380"/>
    <p:sldId id="644" r:id="rId381"/>
    <p:sldId id="645" r:id="rId382"/>
    <p:sldId id="646" r:id="rId383"/>
    <p:sldId id="647" r:id="rId384"/>
    <p:sldId id="648" r:id="rId385"/>
    <p:sldId id="649" r:id="rId386"/>
    <p:sldId id="650" r:id="rId387"/>
    <p:sldId id="651" r:id="rId388"/>
    <p:sldId id="652" r:id="rId389"/>
    <p:sldId id="653" r:id="rId390"/>
    <p:sldId id="654" r:id="rId391"/>
    <p:sldId id="655" r:id="rId392"/>
    <p:sldId id="656" r:id="rId393"/>
    <p:sldId id="657" r:id="rId394"/>
    <p:sldId id="658" r:id="rId395"/>
    <p:sldId id="659" r:id="rId396"/>
    <p:sldId id="660" r:id="rId397"/>
    <p:sldId id="661" r:id="rId398"/>
    <p:sldId id="662" r:id="rId399"/>
    <p:sldId id="663" r:id="rId400"/>
    <p:sldId id="664" r:id="rId401"/>
    <p:sldId id="665" r:id="rId402"/>
    <p:sldId id="666" r:id="rId403"/>
    <p:sldId id="667" r:id="rId404"/>
    <p:sldId id="668" r:id="rId405"/>
    <p:sldId id="669" r:id="rId406"/>
    <p:sldId id="670" r:id="rId407"/>
    <p:sldId id="671" r:id="rId408"/>
    <p:sldId id="672" r:id="rId409"/>
    <p:sldId id="673" r:id="rId410"/>
    <p:sldId id="674" r:id="rId411"/>
    <p:sldId id="675" r:id="rId412"/>
    <p:sldId id="676" r:id="rId413"/>
    <p:sldId id="677" r:id="rId414"/>
    <p:sldId id="678" r:id="rId415"/>
    <p:sldId id="679" r:id="rId416"/>
    <p:sldId id="680" r:id="rId417"/>
    <p:sldId id="681" r:id="rId418"/>
    <p:sldId id="682" r:id="rId419"/>
    <p:sldId id="683" r:id="rId420"/>
    <p:sldId id="684" r:id="rId421"/>
    <p:sldId id="685" r:id="rId422"/>
    <p:sldId id="686" r:id="rId423"/>
    <p:sldId id="687" r:id="rId424"/>
    <p:sldId id="688" r:id="rId425"/>
    <p:sldId id="689" r:id="rId426"/>
    <p:sldId id="690" r:id="rId427"/>
    <p:sldId id="691" r:id="rId428"/>
    <p:sldId id="692" r:id="rId429"/>
    <p:sldId id="693" r:id="rId430"/>
    <p:sldId id="694" r:id="rId431"/>
    <p:sldId id="695" r:id="rId432"/>
    <p:sldId id="696" r:id="rId433"/>
    <p:sldId id="697" r:id="rId434"/>
    <p:sldId id="698" r:id="rId435"/>
    <p:sldId id="699" r:id="rId436"/>
    <p:sldId id="700" r:id="rId437"/>
    <p:sldId id="701" r:id="rId438"/>
    <p:sldId id="702" r:id="rId439"/>
    <p:sldId id="703" r:id="rId440"/>
    <p:sldId id="704" r:id="rId441"/>
    <p:sldId id="705" r:id="rId442"/>
    <p:sldId id="706" r:id="rId443"/>
    <p:sldId id="707" r:id="rId444"/>
    <p:sldId id="708" r:id="rId445"/>
    <p:sldId id="709" r:id="rId446"/>
    <p:sldId id="710" r:id="rId447"/>
    <p:sldId id="711" r:id="rId448"/>
    <p:sldId id="712" r:id="rId449"/>
    <p:sldId id="713" r:id="rId450"/>
    <p:sldId id="714" r:id="rId451"/>
    <p:sldId id="715" r:id="rId452"/>
    <p:sldId id="716" r:id="rId453"/>
    <p:sldId id="717" r:id="rId454"/>
    <p:sldId id="718" r:id="rId455"/>
    <p:sldId id="719" r:id="rId456"/>
    <p:sldId id="720" r:id="rId457"/>
    <p:sldId id="721" r:id="rId458"/>
    <p:sldId id="722" r:id="rId459"/>
    <p:sldId id="723" r:id="rId460"/>
    <p:sldId id="724" r:id="rId461"/>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16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slide" Target="slides/slide432.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44" Type="http://schemas.openxmlformats.org/officeDocument/2006/relationships/slide" Target="slides/slide443.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455" Type="http://schemas.openxmlformats.org/officeDocument/2006/relationships/slide" Target="slides/slide454.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466" Type="http://schemas.openxmlformats.org/officeDocument/2006/relationships/tableStyles" Target="tableStyles.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368" Type="http://schemas.openxmlformats.org/officeDocument/2006/relationships/slide" Target="slides/slide367.xml"/><Relationship Id="rId389" Type="http://schemas.openxmlformats.org/officeDocument/2006/relationships/slide" Target="slides/slide388.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414" Type="http://schemas.openxmlformats.org/officeDocument/2006/relationships/slide" Target="slides/slide413.xml"/><Relationship Id="rId435" Type="http://schemas.openxmlformats.org/officeDocument/2006/relationships/slide" Target="slides/slide434.xml"/><Relationship Id="rId456" Type="http://schemas.openxmlformats.org/officeDocument/2006/relationships/slide" Target="slides/slide455.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358" Type="http://schemas.openxmlformats.org/officeDocument/2006/relationships/slide" Target="slides/slide357.xml"/><Relationship Id="rId379" Type="http://schemas.openxmlformats.org/officeDocument/2006/relationships/slide" Target="slides/slide378.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25" Type="http://schemas.openxmlformats.org/officeDocument/2006/relationships/slide" Target="slides/slide424.xml"/><Relationship Id="rId446" Type="http://schemas.openxmlformats.org/officeDocument/2006/relationships/slide" Target="slides/slide445.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348" Type="http://schemas.openxmlformats.org/officeDocument/2006/relationships/slide" Target="slides/slide347.xml"/><Relationship Id="rId369" Type="http://schemas.openxmlformats.org/officeDocument/2006/relationships/slide" Target="slides/slide368.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380" Type="http://schemas.openxmlformats.org/officeDocument/2006/relationships/slide" Target="slides/slide379.xml"/><Relationship Id="rId415" Type="http://schemas.openxmlformats.org/officeDocument/2006/relationships/slide" Target="slides/slide414.xml"/><Relationship Id="rId436" Type="http://schemas.openxmlformats.org/officeDocument/2006/relationships/slide" Target="slides/slide435.xml"/><Relationship Id="rId457" Type="http://schemas.openxmlformats.org/officeDocument/2006/relationships/slide" Target="slides/slide456.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359" Type="http://schemas.openxmlformats.org/officeDocument/2006/relationships/slide" Target="slides/slide358.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70" Type="http://schemas.openxmlformats.org/officeDocument/2006/relationships/slide" Target="slides/slide369.xml"/><Relationship Id="rId391" Type="http://schemas.openxmlformats.org/officeDocument/2006/relationships/slide" Target="slides/slide390.xml"/><Relationship Id="rId405" Type="http://schemas.openxmlformats.org/officeDocument/2006/relationships/slide" Target="slides/slide404.xml"/><Relationship Id="rId426" Type="http://schemas.openxmlformats.org/officeDocument/2006/relationships/slide" Target="slides/slide425.xml"/><Relationship Id="rId447" Type="http://schemas.openxmlformats.org/officeDocument/2006/relationships/slide" Target="slides/slide446.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307" Type="http://schemas.openxmlformats.org/officeDocument/2006/relationships/slide" Target="slides/slide306.xml"/><Relationship Id="rId328" Type="http://schemas.openxmlformats.org/officeDocument/2006/relationships/slide" Target="slides/slide327.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381" Type="http://schemas.openxmlformats.org/officeDocument/2006/relationships/slide" Target="slides/slide380.xml"/><Relationship Id="rId416" Type="http://schemas.openxmlformats.org/officeDocument/2006/relationships/slide" Target="slides/slide415.xml"/><Relationship Id="rId220" Type="http://schemas.openxmlformats.org/officeDocument/2006/relationships/slide" Target="slides/slide219.xml"/><Relationship Id="rId241" Type="http://schemas.openxmlformats.org/officeDocument/2006/relationships/slide" Target="slides/slide240.xml"/><Relationship Id="rId437" Type="http://schemas.openxmlformats.org/officeDocument/2006/relationships/slide" Target="slides/slide436.xml"/><Relationship Id="rId458" Type="http://schemas.openxmlformats.org/officeDocument/2006/relationships/slide" Target="slides/slide45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371" Type="http://schemas.openxmlformats.org/officeDocument/2006/relationships/slide" Target="slides/slide370.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27" Type="http://schemas.openxmlformats.org/officeDocument/2006/relationships/slide" Target="slides/slide426.xml"/><Relationship Id="rId448" Type="http://schemas.openxmlformats.org/officeDocument/2006/relationships/slide" Target="slides/slide44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slide" Target="slides/slide360.xml"/><Relationship Id="rId196" Type="http://schemas.openxmlformats.org/officeDocument/2006/relationships/slide" Target="slides/slide195.xml"/><Relationship Id="rId200" Type="http://schemas.openxmlformats.org/officeDocument/2006/relationships/slide" Target="slides/slide199.xml"/><Relationship Id="rId382" Type="http://schemas.openxmlformats.org/officeDocument/2006/relationships/slide" Target="slides/slide381.xml"/><Relationship Id="rId417" Type="http://schemas.openxmlformats.org/officeDocument/2006/relationships/slide" Target="slides/slide416.xml"/><Relationship Id="rId438" Type="http://schemas.openxmlformats.org/officeDocument/2006/relationships/slide" Target="slides/slide437.xml"/><Relationship Id="rId459" Type="http://schemas.openxmlformats.org/officeDocument/2006/relationships/slide" Target="slides/slide458.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372" Type="http://schemas.openxmlformats.org/officeDocument/2006/relationships/slide" Target="slides/slide371.xml"/><Relationship Id="rId393" Type="http://schemas.openxmlformats.org/officeDocument/2006/relationships/slide" Target="slides/slide392.xml"/><Relationship Id="rId407" Type="http://schemas.openxmlformats.org/officeDocument/2006/relationships/slide" Target="slides/slide406.xml"/><Relationship Id="rId428" Type="http://schemas.openxmlformats.org/officeDocument/2006/relationships/slide" Target="slides/slide427.xml"/><Relationship Id="rId449" Type="http://schemas.openxmlformats.org/officeDocument/2006/relationships/slide" Target="slides/slide448.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slide" Target="slides/slide361.xml"/><Relationship Id="rId383" Type="http://schemas.openxmlformats.org/officeDocument/2006/relationships/slide" Target="slides/slide382.xml"/><Relationship Id="rId418" Type="http://schemas.openxmlformats.org/officeDocument/2006/relationships/slide" Target="slides/slide417.xml"/><Relationship Id="rId439" Type="http://schemas.openxmlformats.org/officeDocument/2006/relationships/slide" Target="slides/slide438.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450" Type="http://schemas.openxmlformats.org/officeDocument/2006/relationships/slide" Target="slides/slide449.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373" Type="http://schemas.openxmlformats.org/officeDocument/2006/relationships/slide" Target="slides/slide372.xml"/><Relationship Id="rId394" Type="http://schemas.openxmlformats.org/officeDocument/2006/relationships/slide" Target="slides/slide393.xml"/><Relationship Id="rId408" Type="http://schemas.openxmlformats.org/officeDocument/2006/relationships/slide" Target="slides/slide407.xml"/><Relationship Id="rId429" Type="http://schemas.openxmlformats.org/officeDocument/2006/relationships/slide" Target="slides/slide428.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440" Type="http://schemas.openxmlformats.org/officeDocument/2006/relationships/slide" Target="slides/slide439.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461" Type="http://schemas.openxmlformats.org/officeDocument/2006/relationships/slide" Target="slides/slide460.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363" Type="http://schemas.openxmlformats.org/officeDocument/2006/relationships/slide" Target="slides/slide362.xml"/><Relationship Id="rId384" Type="http://schemas.openxmlformats.org/officeDocument/2006/relationships/slide" Target="slides/slide383.xml"/><Relationship Id="rId419" Type="http://schemas.openxmlformats.org/officeDocument/2006/relationships/slide" Target="slides/slide418.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430" Type="http://schemas.openxmlformats.org/officeDocument/2006/relationships/slide" Target="slides/slide429.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451" Type="http://schemas.openxmlformats.org/officeDocument/2006/relationships/slide" Target="slides/slide450.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slide" Target="slides/slide440.xml"/><Relationship Id="rId462" Type="http://schemas.openxmlformats.org/officeDocument/2006/relationships/notesMaster" Target="notesMasters/notesMaster1.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452" Type="http://schemas.openxmlformats.org/officeDocument/2006/relationships/slide" Target="slides/slide45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slide" Target="slides/slide441.xml"/><Relationship Id="rId463" Type="http://schemas.openxmlformats.org/officeDocument/2006/relationships/presProps" Target="pres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slide" Target="slides/slide431.xml"/><Relationship Id="rId453" Type="http://schemas.openxmlformats.org/officeDocument/2006/relationships/slide" Target="slides/slide452.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slide" Target="slides/slide442.xml"/><Relationship Id="rId464" Type="http://schemas.openxmlformats.org/officeDocument/2006/relationships/viewProps" Target="viewProps.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465" Type="http://schemas.openxmlformats.org/officeDocument/2006/relationships/theme" Target="theme/theme1.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slide" Target="slides/slide433.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5334BD-2CFE-4460-9A3B-EBF3B9A79A1D}" type="datetimeFigureOut">
              <a:rPr lang="nl-NL" smtClean="0"/>
              <a:pPr/>
              <a:t>12-5-2014</a:t>
            </a:fld>
            <a:endParaRPr lang="nl-N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E894D2-E747-4DD6-9AC0-FA60268B0898}" type="slidenum">
              <a:rPr lang="nl-NL" smtClean="0"/>
              <a:pPr/>
              <a:t>‹#›</a:t>
            </a:fld>
            <a:endParaRPr lang="nl-NL"/>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37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38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38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38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38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38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38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38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38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38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38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39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39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39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39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39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39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39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397.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39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39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40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40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40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40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40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40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40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40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40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409.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41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4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a:t>
            </a:fld>
            <a:endParaRPr lang="nl-N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52</a:t>
            </a:fld>
            <a:endParaRPr lang="nl-N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53</a:t>
            </a:fld>
            <a:endParaRPr lang="nl-N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57</a:t>
            </a:fld>
            <a:endParaRPr lang="nl-NL"/>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59</a:t>
            </a:fld>
            <a:endParaRPr lang="nl-N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60</a:t>
            </a:fld>
            <a:endParaRPr lang="nl-NL"/>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61</a:t>
            </a:fld>
            <a:endParaRPr lang="nl-NL"/>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62</a:t>
            </a:fld>
            <a:endParaRPr lang="nl-NL"/>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63</a:t>
            </a:fld>
            <a:endParaRPr lang="nl-NL"/>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64</a:t>
            </a:fld>
            <a:endParaRPr lang="nl-NL"/>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65</a:t>
            </a:fld>
            <a:endParaRPr lang="nl-NL"/>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66</a:t>
            </a:fld>
            <a:endParaRPr lang="nl-NL"/>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67</a:t>
            </a:fld>
            <a:endParaRPr lang="nl-N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68</a:t>
            </a:fld>
            <a:endParaRPr lang="nl-N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69</a:t>
            </a:fld>
            <a:endParaRPr lang="nl-NL"/>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70</a:t>
            </a:fld>
            <a:endParaRPr lang="nl-NL"/>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71</a:t>
            </a:fld>
            <a:endParaRPr lang="nl-NL"/>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72</a:t>
            </a:fld>
            <a:endParaRPr lang="nl-NL"/>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73</a:t>
            </a:fld>
            <a:endParaRPr lang="nl-NL"/>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74</a:t>
            </a:fld>
            <a:endParaRPr lang="nl-NL"/>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95</a:t>
            </a:fld>
            <a:endParaRPr lang="nl-NL"/>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96</a:t>
            </a:fld>
            <a:endParaRPr lang="nl-NL"/>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97</a:t>
            </a:fld>
            <a:endParaRPr lang="nl-NL"/>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98</a:t>
            </a:fld>
            <a:endParaRPr lang="nl-NL"/>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99</a:t>
            </a:fld>
            <a:endParaRPr lang="nl-NL"/>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100</a:t>
            </a:fld>
            <a:endParaRPr lang="nl-NL"/>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101</a:t>
            </a:fld>
            <a:endParaRPr lang="nl-NL"/>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148</a:t>
            </a:fld>
            <a:endParaRPr lang="nl-NL"/>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149</a:t>
            </a:fld>
            <a:endParaRPr lang="nl-NL"/>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150</a:t>
            </a:fld>
            <a:endParaRPr lang="nl-NL"/>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151</a:t>
            </a:fld>
            <a:endParaRPr lang="nl-NL"/>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165</a:t>
            </a:fld>
            <a:endParaRPr lang="nl-NL"/>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166</a:t>
            </a:fld>
            <a:endParaRPr lang="nl-NL"/>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167</a:t>
            </a:fld>
            <a:endParaRPr lang="nl-NL"/>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168</a:t>
            </a:fld>
            <a:endParaRPr lang="nl-NL"/>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169</a:t>
            </a:fld>
            <a:endParaRPr lang="nl-NL"/>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170</a:t>
            </a:fld>
            <a:endParaRPr lang="nl-NL"/>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171</a:t>
            </a:fld>
            <a:endParaRPr lang="nl-NL"/>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172</a:t>
            </a:fld>
            <a:endParaRPr lang="nl-NL"/>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173</a:t>
            </a:fld>
            <a:endParaRPr lang="nl-NL"/>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174</a:t>
            </a:fld>
            <a:endParaRPr lang="nl-NL"/>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175</a:t>
            </a:fld>
            <a:endParaRPr lang="nl-NL"/>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176</a:t>
            </a:fld>
            <a:endParaRPr lang="nl-NL"/>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177</a:t>
            </a:fld>
            <a:endParaRPr lang="nl-NL"/>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178</a:t>
            </a:fld>
            <a:endParaRPr lang="nl-NL"/>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179</a:t>
            </a:fld>
            <a:endParaRPr lang="nl-NL"/>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180</a:t>
            </a:fld>
            <a:endParaRPr lang="nl-NL"/>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181</a:t>
            </a:fld>
            <a:endParaRPr lang="nl-NL"/>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182</a:t>
            </a:fld>
            <a:endParaRPr lang="nl-NL"/>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183</a:t>
            </a:fld>
            <a:endParaRPr lang="nl-NL"/>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184</a:t>
            </a:fld>
            <a:endParaRPr lang="nl-NL"/>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185</a:t>
            </a:fld>
            <a:endParaRPr lang="nl-NL"/>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186</a:t>
            </a:fld>
            <a:endParaRPr lang="nl-NL"/>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187</a:t>
            </a:fld>
            <a:endParaRPr lang="nl-NL"/>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188</a:t>
            </a:fld>
            <a:endParaRPr lang="nl-NL"/>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189</a:t>
            </a:fld>
            <a:endParaRPr lang="nl-NL"/>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190</a:t>
            </a:fld>
            <a:endParaRPr lang="nl-NL"/>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191</a:t>
            </a:fld>
            <a:endParaRPr lang="nl-NL"/>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192</a:t>
            </a:fld>
            <a:endParaRPr lang="nl-NL"/>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193</a:t>
            </a:fld>
            <a:endParaRPr lang="nl-NL"/>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194</a:t>
            </a:fld>
            <a:endParaRPr lang="nl-NL"/>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195</a:t>
            </a:fld>
            <a:endParaRPr lang="nl-NL"/>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196</a:t>
            </a:fld>
            <a:endParaRPr lang="nl-NL"/>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197</a:t>
            </a:fld>
            <a:endParaRPr lang="nl-NL"/>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198</a:t>
            </a:fld>
            <a:endParaRPr lang="nl-NL"/>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199</a:t>
            </a:fld>
            <a:endParaRPr lang="nl-NL"/>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200</a:t>
            </a:fld>
            <a:endParaRPr lang="nl-NL"/>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201</a:t>
            </a:fld>
            <a:endParaRPr lang="nl-NL"/>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202</a:t>
            </a:fld>
            <a:endParaRPr lang="nl-NL"/>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203</a:t>
            </a:fld>
            <a:endParaRPr lang="nl-NL"/>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204</a:t>
            </a:fld>
            <a:endParaRPr lang="nl-NL"/>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205</a:t>
            </a:fld>
            <a:endParaRPr lang="nl-NL"/>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206</a:t>
            </a:fld>
            <a:endParaRPr lang="nl-NL"/>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207</a:t>
            </a:fld>
            <a:endParaRPr lang="nl-NL"/>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208</a:t>
            </a:fld>
            <a:endParaRPr lang="nl-NL"/>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209</a:t>
            </a:fld>
            <a:endParaRPr lang="nl-NL"/>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210</a:t>
            </a:fld>
            <a:endParaRPr lang="nl-NL"/>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211</a:t>
            </a:fld>
            <a:endParaRPr lang="nl-NL"/>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212</a:t>
            </a:fld>
            <a:endParaRPr lang="nl-NL"/>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379</a:t>
            </a:fld>
            <a:endParaRPr lang="nl-NL"/>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380</a:t>
            </a:fld>
            <a:endParaRPr lang="nl-NL"/>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381</a:t>
            </a:fld>
            <a:endParaRPr lang="nl-NL"/>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382</a:t>
            </a:fld>
            <a:endParaRPr lang="nl-NL"/>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383</a:t>
            </a:fld>
            <a:endParaRPr lang="nl-NL"/>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384</a:t>
            </a:fld>
            <a:endParaRPr lang="nl-NL"/>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385</a:t>
            </a:fld>
            <a:endParaRPr lang="nl-NL"/>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386</a:t>
            </a:fld>
            <a:endParaRPr lang="nl-NL"/>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387</a:t>
            </a:fld>
            <a:endParaRPr lang="nl-NL"/>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388</a:t>
            </a:fld>
            <a:endParaRPr lang="nl-NL"/>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389</a:t>
            </a:fld>
            <a:endParaRPr lang="nl-NL"/>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390</a:t>
            </a:fld>
            <a:endParaRPr lang="nl-NL"/>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391</a:t>
            </a:fld>
            <a:endParaRPr lang="nl-NL"/>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392</a:t>
            </a:fld>
            <a:endParaRPr lang="nl-NL"/>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393</a:t>
            </a:fld>
            <a:endParaRPr lang="nl-NL"/>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394</a:t>
            </a:fld>
            <a:endParaRPr lang="nl-NL"/>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395</a:t>
            </a:fld>
            <a:endParaRPr lang="nl-NL"/>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396</a:t>
            </a:fld>
            <a:endParaRPr lang="nl-NL"/>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397</a:t>
            </a:fld>
            <a:endParaRPr lang="nl-NL"/>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398</a:t>
            </a:fld>
            <a:endParaRPr lang="nl-NL"/>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399</a:t>
            </a:fld>
            <a:endParaRPr lang="nl-NL"/>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400</a:t>
            </a:fld>
            <a:endParaRPr lang="nl-NL"/>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401</a:t>
            </a:fld>
            <a:endParaRPr lang="nl-NL"/>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402</a:t>
            </a:fld>
            <a:endParaRPr lang="nl-NL"/>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403</a:t>
            </a:fld>
            <a:endParaRPr lang="nl-NL"/>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404</a:t>
            </a:fld>
            <a:endParaRPr lang="nl-NL"/>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405</a:t>
            </a:fld>
            <a:endParaRPr lang="nl-NL"/>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406</a:t>
            </a:fld>
            <a:endParaRPr lang="nl-NL"/>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407</a:t>
            </a:fld>
            <a:endParaRPr lang="nl-NL"/>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408</a:t>
            </a:fld>
            <a:endParaRPr lang="nl-NL"/>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409</a:t>
            </a:fld>
            <a:endParaRPr lang="nl-NL"/>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410</a:t>
            </a:fld>
            <a:endParaRPr lang="nl-NL"/>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Slide Number Placeholder 3"/>
          <p:cNvSpPr>
            <a:spLocks noGrp="1"/>
          </p:cNvSpPr>
          <p:nvPr>
            <p:ph type="sldNum" sz="quarter" idx="10"/>
          </p:nvPr>
        </p:nvSpPr>
        <p:spPr/>
        <p:txBody>
          <a:bodyPr/>
          <a:lstStyle/>
          <a:p>
            <a:fld id="{0CE894D2-E747-4DD6-9AC0-FA60268B0898}" type="slidenum">
              <a:rPr lang="nl-NL" smtClean="0"/>
              <a:pPr/>
              <a:t>411</a:t>
            </a:fld>
            <a:endParaRPr lang="nl-N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12-5-2014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12-5-2014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AA0AEB-7E23-4A29-AE8C-DEF0EC2E5D97}" type="datetimeFigureOut">
              <a:rPr lang="nl-NL" smtClean="0"/>
              <a:pPr/>
              <a:t>12-5-2014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fld id="{12AA0AEB-7E23-4A29-AE8C-DEF0EC2E5D97}" type="datetimeFigureOut">
              <a:rPr lang="nl-NL" smtClean="0"/>
              <a:pPr/>
              <a:t>12-5-2014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p>
            <a:fld id="{12AA0AEB-7E23-4A29-AE8C-DEF0EC2E5D97}" type="datetimeFigureOut">
              <a:rPr lang="nl-NL" smtClean="0"/>
              <a:pPr/>
              <a:t>12-5-2014</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p>
            <a:fld id="{12AA0AEB-7E23-4A29-AE8C-DEF0EC2E5D97}" type="datetimeFigureOut">
              <a:rPr lang="nl-NL" smtClean="0"/>
              <a:pPr/>
              <a:t>12-5-2014</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A0AEB-7E23-4A29-AE8C-DEF0EC2E5D97}" type="datetimeFigureOut">
              <a:rPr lang="nl-NL" smtClean="0"/>
              <a:pPr/>
              <a:t>12-5-2014</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12-5-2014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12-5-2014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12-5-2014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12-5-2014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A0AEB-7E23-4A29-AE8C-DEF0EC2E5D97}" type="datetimeFigureOut">
              <a:rPr lang="nl-NL" smtClean="0"/>
              <a:pPr/>
              <a:t>12-5-2014</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04E19-9FB8-4C27-821D-BBEA7AABA37C}" type="slidenum">
              <a:rPr lang="nl-NL" smtClean="0"/>
              <a:pPr/>
              <a:t>‹#›</a:t>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60848"/>
            <a:ext cx="7772400" cy="1470025"/>
          </a:xfrm>
        </p:spPr>
        <p:txBody>
          <a:bodyPr>
            <a:normAutofit fontScale="90000"/>
          </a:bodyPr>
          <a:lstStyle/>
          <a:p>
            <a:r>
              <a:rPr lang="nl-NL" dirty="0" smtClean="0"/>
              <a:t/>
            </a:r>
            <a:br>
              <a:rPr lang="nl-NL" dirty="0" smtClean="0"/>
            </a:br>
            <a:r>
              <a:rPr lang="nl-NL" dirty="0" smtClean="0"/>
              <a:t/>
            </a:r>
            <a:br>
              <a:rPr lang="nl-NL" dirty="0" smtClean="0"/>
            </a:br>
            <a:r>
              <a:rPr lang="nl-NL" sz="4900" dirty="0" smtClean="0"/>
              <a:t>Inleiding Logica 2014</a:t>
            </a:r>
            <a:r>
              <a:rPr lang="nl-NL" sz="3600" dirty="0" smtClean="0"/>
              <a:t/>
            </a:r>
            <a:br>
              <a:rPr lang="nl-NL" sz="3600" dirty="0" smtClean="0"/>
            </a:br>
            <a:r>
              <a:rPr lang="nl-NL" sz="3600" dirty="0" smtClean="0"/>
              <a:t>Faculteit der Wijsbegeerte</a:t>
            </a:r>
            <a:endParaRPr lang="nl-NL" dirty="0"/>
          </a:p>
        </p:txBody>
      </p:sp>
      <p:sp>
        <p:nvSpPr>
          <p:cNvPr id="3" name="Subtitle 2"/>
          <p:cNvSpPr>
            <a:spLocks noGrp="1"/>
          </p:cNvSpPr>
          <p:nvPr>
            <p:ph type="subTitle" idx="1"/>
          </p:nvPr>
        </p:nvSpPr>
        <p:spPr>
          <a:xfrm>
            <a:off x="1371600" y="4365104"/>
            <a:ext cx="6400800" cy="1752600"/>
          </a:xfrm>
        </p:spPr>
        <p:txBody>
          <a:bodyPr>
            <a:normAutofit/>
          </a:bodyPr>
          <a:lstStyle/>
          <a:p>
            <a:r>
              <a:rPr lang="nl-NL" sz="2400" dirty="0" smtClean="0">
                <a:solidFill>
                  <a:schemeClr val="tx1"/>
                </a:solidFill>
              </a:rPr>
              <a:t>Emanuel Rutten</a:t>
            </a:r>
          </a:p>
          <a:p>
            <a:r>
              <a:rPr lang="nl-NL" sz="2400" dirty="0" smtClean="0">
                <a:solidFill>
                  <a:schemeClr val="tx1"/>
                </a:solidFill>
              </a:rPr>
              <a:t>Vrije Universiteit</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12776"/>
            <a:ext cx="7772400" cy="3672408"/>
          </a:xfrm>
        </p:spPr>
        <p:txBody>
          <a:bodyPr>
            <a:normAutofit/>
          </a:bodyPr>
          <a:lstStyle/>
          <a:p>
            <a:r>
              <a:rPr lang="nl-NL" sz="2800" i="1" dirty="0" smtClean="0"/>
              <a:t>Deze presentatie is gemaakt voor ‘full screen mode’ en behandelt nauwgezet stof uit ‘Argumentatie en Formele Structuur’ van Willem R. de Jong</a:t>
            </a:r>
            <a:endParaRPr lang="nl-NL" sz="2400" i="1"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1098610"/>
            <a:ext cx="8028384" cy="1754326"/>
          </a:xfrm>
          <a:prstGeom prst="rect">
            <a:avLst/>
          </a:prstGeom>
          <a:noFill/>
        </p:spPr>
        <p:txBody>
          <a:bodyPr wrap="square" rtlCol="0">
            <a:spAutoFit/>
          </a:bodyPr>
          <a:lstStyle/>
          <a:p>
            <a:pPr algn="ctr"/>
            <a:r>
              <a:rPr lang="nl-NL" dirty="0" smtClean="0"/>
              <a:t>‘Maar allereerst is er een bezwaar waarvoor we moeten oppassen.’</a:t>
            </a:r>
          </a:p>
          <a:p>
            <a:pPr algn="ctr"/>
            <a:r>
              <a:rPr lang="nl-NL" dirty="0" smtClean="0"/>
              <a:t>‘Wat voor gevaar?’, vroeg ik. ‘Dat we </a:t>
            </a:r>
            <a:r>
              <a:rPr lang="nl-NL" dirty="0" err="1" smtClean="0"/>
              <a:t>misologen</a:t>
            </a:r>
            <a:r>
              <a:rPr lang="nl-NL" dirty="0" smtClean="0"/>
              <a:t> worden, zoals</a:t>
            </a:r>
          </a:p>
          <a:p>
            <a:pPr algn="ctr"/>
            <a:r>
              <a:rPr lang="nl-NL" dirty="0" smtClean="0"/>
              <a:t>anderen misantropen worden. Want dit is wel het ergste dat</a:t>
            </a:r>
          </a:p>
          <a:p>
            <a:pPr algn="ctr"/>
            <a:r>
              <a:rPr lang="nl-NL" dirty="0" smtClean="0"/>
              <a:t>iemand kan overkomen: het redeneren te haten.’</a:t>
            </a:r>
          </a:p>
          <a:p>
            <a:pPr algn="ctr"/>
            <a:endParaRPr lang="nl-NL" dirty="0" smtClean="0"/>
          </a:p>
          <a:p>
            <a:pPr algn="ctr"/>
            <a:r>
              <a:rPr lang="nl-NL" dirty="0" err="1" smtClean="0"/>
              <a:t>Socrates</a:t>
            </a:r>
            <a:r>
              <a:rPr lang="nl-NL" dirty="0" smtClean="0"/>
              <a:t> in </a:t>
            </a:r>
            <a:r>
              <a:rPr lang="nl-NL" dirty="0" err="1" smtClean="0"/>
              <a:t>Plato’s</a:t>
            </a:r>
            <a:r>
              <a:rPr lang="nl-NL" dirty="0" smtClean="0"/>
              <a:t> </a:t>
            </a:r>
            <a:r>
              <a:rPr lang="nl-NL" i="1" dirty="0" err="1" smtClean="0"/>
              <a:t>Phaedo</a:t>
            </a:r>
            <a:endParaRPr lang="nl-NL" dirty="0"/>
          </a:p>
        </p:txBody>
      </p:sp>
      <p:sp>
        <p:nvSpPr>
          <p:cNvPr id="5" name="Rectangle 4"/>
          <p:cNvSpPr/>
          <p:nvPr/>
        </p:nvSpPr>
        <p:spPr>
          <a:xfrm>
            <a:off x="1619672" y="3895888"/>
            <a:ext cx="5616624" cy="1477328"/>
          </a:xfrm>
          <a:prstGeom prst="rect">
            <a:avLst/>
          </a:prstGeom>
        </p:spPr>
        <p:txBody>
          <a:bodyPr wrap="square">
            <a:spAutoFit/>
          </a:bodyPr>
          <a:lstStyle/>
          <a:p>
            <a:pPr algn="ctr"/>
            <a:r>
              <a:rPr lang="nl-NL" dirty="0" smtClean="0"/>
              <a:t>De meest verraderlijke vorm van romantiek bestaat uit het [grenzeloos] liefhebben van de rede, het willen van het eeuwige, het willen van het meest heldere begrip</a:t>
            </a:r>
          </a:p>
          <a:p>
            <a:pPr algn="ctr"/>
            <a:endParaRPr lang="nl-NL" dirty="0" smtClean="0"/>
          </a:p>
          <a:p>
            <a:pPr algn="ctr"/>
            <a:r>
              <a:rPr lang="nl-NL" dirty="0" err="1" smtClean="0"/>
              <a:t>Merleau-Ponty</a:t>
            </a:r>
            <a:r>
              <a:rPr lang="nl-NL" dirty="0" smtClean="0"/>
              <a:t> in </a:t>
            </a:r>
            <a:r>
              <a:rPr lang="nl-NL" i="1" dirty="0" smtClean="0"/>
              <a:t>De wereld waarnemen</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Wat is logica?</a:t>
            </a:r>
            <a:endParaRPr lang="nl-NL" sz="3600" dirty="0"/>
          </a:p>
        </p:txBody>
      </p:sp>
      <p:sp>
        <p:nvSpPr>
          <p:cNvPr id="3" name="Content Placeholder 2"/>
          <p:cNvSpPr>
            <a:spLocks noGrp="1"/>
          </p:cNvSpPr>
          <p:nvPr>
            <p:ph idx="1"/>
          </p:nvPr>
        </p:nvSpPr>
        <p:spPr/>
        <p:txBody>
          <a:bodyPr>
            <a:noAutofit/>
          </a:bodyPr>
          <a:lstStyle/>
          <a:p>
            <a:r>
              <a:rPr lang="nl-NL" sz="2000" dirty="0" smtClean="0"/>
              <a:t>Het doel van logica is het ontwikkelen van theorieën om geldige van ongeldige redeneringen te onderscheiden.</a:t>
            </a:r>
          </a:p>
          <a:p>
            <a:endParaRPr lang="nl-NL" sz="2000" dirty="0" smtClean="0"/>
          </a:p>
          <a:p>
            <a:endParaRPr lang="nl-NL" sz="2000" dirty="0" smtClean="0"/>
          </a:p>
          <a:p>
            <a:endParaRPr lang="nl-NL" sz="2000" dirty="0" smtClean="0"/>
          </a:p>
          <a:p>
            <a:endParaRPr lang="nl-NL" sz="2000" dirty="0" smtClean="0"/>
          </a:p>
        </p:txBody>
      </p:sp>
      <p:sp>
        <p:nvSpPr>
          <p:cNvPr id="4" name="Content Placeholder 2"/>
          <p:cNvSpPr txBox="1">
            <a:spLocks/>
          </p:cNvSpPr>
          <p:nvPr/>
        </p:nvSpPr>
        <p:spPr>
          <a:xfrm>
            <a:off x="446856" y="2071389"/>
            <a:ext cx="8229600" cy="14296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Een </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redenering</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start vanuit één of meerdere </a:t>
            </a:r>
            <a:r>
              <a:rPr kumimoji="0" lang="nl-NL" sz="2000" b="1" i="0" u="none" strike="noStrike" kern="1200" cap="none" spc="0" normalizeH="0" baseline="0" noProof="0" dirty="0" smtClean="0">
                <a:ln>
                  <a:noFill/>
                </a:ln>
                <a:solidFill>
                  <a:srgbClr val="0070C0"/>
                </a:solidFill>
                <a:effectLst/>
                <a:uLnTx/>
                <a:uFillTx/>
                <a:latin typeface="+mn-lt"/>
                <a:ea typeface="+mn-ea"/>
                <a:cs typeface="+mn-cs"/>
              </a:rPr>
              <a:t>premissen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(uitgangspunten, aannames) en leidt, langs nul, één of meerdere </a:t>
            </a:r>
            <a:r>
              <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rPr>
              <a:t>tussenstappen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tot een bepaalde </a:t>
            </a:r>
            <a:r>
              <a:rPr kumimoji="0" lang="nl-NL" sz="2000" b="1" i="0" u="none" strike="noStrike" kern="1200" cap="none" spc="0" normalizeH="0" baseline="0" noProof="0" dirty="0" smtClean="0">
                <a:ln>
                  <a:noFill/>
                </a:ln>
                <a:solidFill>
                  <a:srgbClr val="00B050"/>
                </a:solidFill>
                <a:effectLst/>
                <a:uLnTx/>
                <a:uFillTx/>
                <a:latin typeface="+mn-lt"/>
                <a:ea typeface="+mn-ea"/>
                <a:cs typeface="+mn-cs"/>
              </a:rPr>
              <a:t>conclusie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46856" y="2924944"/>
            <a:ext cx="8229600" cy="4525963"/>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Voorbeeld: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1. Als Piet en Kees niet winnen, dan is Jan de winnaar </a:t>
            </a:r>
            <a:r>
              <a:rPr kumimoji="0" lang="nl-NL" sz="2000" b="1" i="0" u="none" strike="noStrike" kern="1200" cap="none" spc="0" normalizeH="0" baseline="0" noProof="0" dirty="0" smtClean="0">
                <a:ln>
                  <a:noFill/>
                </a:ln>
                <a:solidFill>
                  <a:srgbClr val="0070C0"/>
                </a:solidFill>
                <a:effectLst/>
                <a:uLnTx/>
                <a:uFillTx/>
                <a:latin typeface="+mn-lt"/>
                <a:ea typeface="+mn-ea"/>
                <a:cs typeface="+mn-cs"/>
              </a:rPr>
              <a:t>(premisse)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2. Piet wint niet </a:t>
            </a:r>
            <a:r>
              <a:rPr kumimoji="0" lang="nl-NL" sz="2000" b="1" i="0" u="none" strike="noStrike" kern="1200" cap="none" spc="0" normalizeH="0" baseline="0" noProof="0" dirty="0" smtClean="0">
                <a:ln>
                  <a:noFill/>
                </a:ln>
                <a:solidFill>
                  <a:srgbClr val="0070C0"/>
                </a:solidFill>
                <a:effectLst/>
                <a:uLnTx/>
                <a:uFillTx/>
                <a:latin typeface="+mn-lt"/>
                <a:ea typeface="+mn-ea"/>
                <a:cs typeface="+mn-cs"/>
              </a:rPr>
              <a:t>(premisse)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3. Kees wint niet </a:t>
            </a:r>
            <a:r>
              <a:rPr kumimoji="0" lang="nl-NL" sz="2000" b="1" i="0" u="none" strike="noStrike" kern="1200" cap="none" spc="0" normalizeH="0" baseline="0" noProof="0" dirty="0" smtClean="0">
                <a:ln>
                  <a:noFill/>
                </a:ln>
                <a:solidFill>
                  <a:srgbClr val="0070C0"/>
                </a:solidFill>
                <a:effectLst/>
                <a:uLnTx/>
                <a:uFillTx/>
                <a:latin typeface="+mn-lt"/>
                <a:ea typeface="+mn-ea"/>
                <a:cs typeface="+mn-cs"/>
              </a:rPr>
              <a:t>(premisse)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4. Piet en Kees winnen niet </a:t>
            </a:r>
            <a:r>
              <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rPr>
              <a:t>(tussenstap, uit [2] en [3])</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5. Jan is de winnaar </a:t>
            </a:r>
            <a:r>
              <a:rPr kumimoji="0" lang="nl-NL" sz="2000" b="1" i="0" u="none" strike="noStrike" kern="1200" cap="none" spc="0" normalizeH="0" baseline="0" noProof="0" dirty="0" smtClean="0">
                <a:ln>
                  <a:noFill/>
                </a:ln>
                <a:solidFill>
                  <a:srgbClr val="00B050"/>
                </a:solidFill>
                <a:effectLst/>
                <a:uLnTx/>
                <a:uFillTx/>
                <a:latin typeface="+mn-lt"/>
                <a:ea typeface="+mn-ea"/>
                <a:cs typeface="+mn-cs"/>
              </a:rPr>
              <a:t>(conclusie, uit [1] en [4])</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3" end="3"/>
                                            </p:txEl>
                                          </p:spTgt>
                                        </p:tgtEl>
                                        <p:attrNameLst>
                                          <p:attrName>style.visibility</p:attrName>
                                        </p:attrNameLst>
                                      </p:cBhvr>
                                      <p:to>
                                        <p:strVal val="visible"/>
                                      </p:to>
                                    </p:set>
                                    <p:animEffect transition="in" filter="fade">
                                      <p:cBhvr>
                                        <p:cTn id="10" dur="2000"/>
                                        <p:tgtEl>
                                          <p:spTgt spid="4">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20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2000"/>
                                        <p:tgtEl>
                                          <p:spTgt spid="5">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fade">
                                      <p:cBhvr>
                                        <p:cTn id="21" dur="2000"/>
                                        <p:tgtEl>
                                          <p:spTgt spid="5">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2000"/>
                                        <p:tgtEl>
                                          <p:spTgt spid="5">
                                            <p:txEl>
                                              <p:pRg st="6" end="6"/>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fade">
                                      <p:cBhvr>
                                        <p:cTn id="27" dur="2000"/>
                                        <p:tgtEl>
                                          <p:spTgt spid="5">
                                            <p:txEl>
                                              <p:pRg st="7" end="7"/>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fade">
                                      <p:cBhvr>
                                        <p:cTn id="30" dur="2000"/>
                                        <p:tgtEl>
                                          <p:spTgt spid="5">
                                            <p:txEl>
                                              <p:pRg st="8" end="8"/>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fade">
                                      <p:cBhvr>
                                        <p:cTn id="33" dur="20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Wat is logica?</a:t>
            </a:r>
            <a:endParaRPr lang="nl-NL" sz="3600" dirty="0"/>
          </a:p>
        </p:txBody>
      </p:sp>
      <p:sp>
        <p:nvSpPr>
          <p:cNvPr id="3" name="Content Placeholder 2"/>
          <p:cNvSpPr>
            <a:spLocks noGrp="1"/>
          </p:cNvSpPr>
          <p:nvPr>
            <p:ph idx="1"/>
          </p:nvPr>
        </p:nvSpPr>
        <p:spPr>
          <a:xfrm>
            <a:off x="457200" y="1600201"/>
            <a:ext cx="8229600" cy="1396752"/>
          </a:xfrm>
        </p:spPr>
        <p:txBody>
          <a:bodyPr>
            <a:normAutofit/>
          </a:bodyPr>
          <a:lstStyle/>
          <a:p>
            <a:r>
              <a:rPr lang="nl-NL" sz="2000" dirty="0" smtClean="0"/>
              <a:t>Een </a:t>
            </a:r>
            <a:r>
              <a:rPr lang="nl-NL" sz="2000" u="sng" dirty="0" smtClean="0"/>
              <a:t>geldige redenering</a:t>
            </a:r>
            <a:r>
              <a:rPr lang="nl-NL" sz="2000" dirty="0" smtClean="0"/>
              <a:t> is een redenering waarvoor geldt: </a:t>
            </a:r>
            <a:r>
              <a:rPr lang="nl-NL" sz="2000" b="1" dirty="0" smtClean="0"/>
              <a:t>Als</a:t>
            </a:r>
            <a:r>
              <a:rPr lang="nl-NL" sz="2000" dirty="0" smtClean="0"/>
              <a:t> de premissen waar zijn, </a:t>
            </a:r>
            <a:r>
              <a:rPr lang="nl-NL" sz="2000" b="1" dirty="0" smtClean="0"/>
              <a:t>dan</a:t>
            </a:r>
            <a:r>
              <a:rPr lang="nl-NL" sz="2000" dirty="0" smtClean="0"/>
              <a:t> is de conclusie waar. De waarheid van de premissen leidt in het geval van een geldige redenering dus                  onvermijdelijk tot de waarheid van de conclusie.</a:t>
            </a:r>
          </a:p>
        </p:txBody>
      </p:sp>
      <p:sp>
        <p:nvSpPr>
          <p:cNvPr id="5" name="Content Placeholder 2"/>
          <p:cNvSpPr txBox="1">
            <a:spLocks/>
          </p:cNvSpPr>
          <p:nvPr/>
        </p:nvSpPr>
        <p:spPr>
          <a:xfrm>
            <a:off x="457200" y="270892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Maar hoe bepaal je nu of een bepaalde gegeven redenering al dan niet geldig is? Kunnen we dit op grond van intuïtie doen? Laten we eens een paar voorbeelden bekijken.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Zijn de volgende redenering geldig of niet?</a:t>
            </a:r>
            <a:endParaRPr lang="nl-NL" sz="3600" dirty="0"/>
          </a:p>
        </p:txBody>
      </p:sp>
      <p:sp>
        <p:nvSpPr>
          <p:cNvPr id="3" name="Content Placeholder 2"/>
          <p:cNvSpPr>
            <a:spLocks noGrp="1"/>
          </p:cNvSpPr>
          <p:nvPr>
            <p:ph idx="1"/>
          </p:nvPr>
        </p:nvSpPr>
        <p:spPr>
          <a:xfrm>
            <a:off x="395536" y="1484784"/>
            <a:ext cx="3538736" cy="1468760"/>
          </a:xfrm>
        </p:spPr>
        <p:txBody>
          <a:bodyPr>
            <a:normAutofit/>
          </a:bodyPr>
          <a:lstStyle/>
          <a:p>
            <a:pPr>
              <a:buNone/>
            </a:pPr>
            <a:r>
              <a:rPr lang="nl-NL" sz="1800" dirty="0" smtClean="0"/>
              <a:t>1. </a:t>
            </a:r>
            <a:r>
              <a:rPr lang="nl-NL" sz="1800" dirty="0" err="1" smtClean="0"/>
              <a:t>Socrates</a:t>
            </a:r>
            <a:r>
              <a:rPr lang="nl-NL" sz="1800" dirty="0" smtClean="0"/>
              <a:t> is een mens</a:t>
            </a:r>
          </a:p>
          <a:p>
            <a:pPr>
              <a:buNone/>
            </a:pPr>
            <a:r>
              <a:rPr lang="nl-NL" sz="1800" dirty="0" smtClean="0"/>
              <a:t>2. Alle mensen zijn sterfelijk</a:t>
            </a:r>
          </a:p>
          <a:p>
            <a:pPr>
              <a:buNone/>
            </a:pPr>
            <a:r>
              <a:rPr lang="nl-NL" sz="1800" dirty="0" smtClean="0"/>
              <a:t>3. </a:t>
            </a:r>
            <a:r>
              <a:rPr lang="nl-NL" sz="1800" dirty="0" err="1" smtClean="0"/>
              <a:t>Socrates</a:t>
            </a:r>
            <a:r>
              <a:rPr lang="nl-NL" sz="1800" dirty="0" smtClean="0"/>
              <a:t> is sterfelijk</a:t>
            </a:r>
          </a:p>
          <a:p>
            <a:pPr>
              <a:buNone/>
            </a:pPr>
            <a:endParaRPr lang="nl-NL" sz="1800" dirty="0" smtClean="0"/>
          </a:p>
        </p:txBody>
      </p:sp>
      <p:sp>
        <p:nvSpPr>
          <p:cNvPr id="4" name="Content Placeholder 2"/>
          <p:cNvSpPr txBox="1">
            <a:spLocks/>
          </p:cNvSpPr>
          <p:nvPr/>
        </p:nvSpPr>
        <p:spPr>
          <a:xfrm>
            <a:off x="6084168" y="2968352"/>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De</a:t>
            </a:r>
            <a:r>
              <a:rPr kumimoji="0" lang="nl-NL" b="0" i="0" u="none" strike="noStrike" kern="1200" cap="none" spc="0" normalizeH="0" noProof="0" dirty="0" smtClean="0">
                <a:ln>
                  <a:noFill/>
                </a:ln>
                <a:solidFill>
                  <a:schemeClr val="tx1"/>
                </a:solidFill>
                <a:effectLst/>
                <a:uLnTx/>
                <a:uFillTx/>
                <a:latin typeface="+mn-lt"/>
                <a:ea typeface="+mn-ea"/>
                <a:cs typeface="+mn-cs"/>
              </a:rPr>
              <a:t>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6084168" y="4509120"/>
            <a:ext cx="4608512"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2 is een even getal</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3 is een </a:t>
            </a:r>
            <a:r>
              <a:rPr lang="nl-NL" dirty="0" smtClean="0"/>
              <a:t>even </a:t>
            </a:r>
            <a:r>
              <a:rPr kumimoji="0" lang="nl-NL" b="0" i="0" u="none" strike="noStrike" kern="1200" cap="none" spc="0" normalizeH="0" baseline="0" noProof="0" dirty="0" smtClean="0">
                <a:ln>
                  <a:noFill/>
                </a:ln>
                <a:solidFill>
                  <a:schemeClr val="tx1"/>
                </a:solidFill>
                <a:effectLst/>
                <a:uLnTx/>
                <a:uFillTx/>
                <a:latin typeface="+mn-lt"/>
                <a:ea typeface="+mn-ea"/>
                <a:cs typeface="+mn-cs"/>
              </a:rPr>
              <a:t>getal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2 en 3 zijn</a:t>
            </a:r>
            <a:r>
              <a:rPr lang="nl-NL" noProof="0" dirty="0" smtClean="0"/>
              <a:t> even </a:t>
            </a:r>
            <a:r>
              <a:rPr lang="nl-NL" dirty="0" smtClean="0"/>
              <a:t>getallen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193504" y="1484784"/>
            <a:ext cx="2746648"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b="0" i="0" u="none" strike="noStrike" kern="1200" cap="none" spc="0" normalizeH="0" noProof="0" dirty="0" smtClean="0">
                <a:ln>
                  <a:noFill/>
                </a:ln>
                <a:solidFill>
                  <a:schemeClr val="tx1"/>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Het regent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straten</a:t>
            </a:r>
            <a:r>
              <a:rPr kumimoji="0" lang="nl-NL" b="0" i="0" u="none" strike="noStrike" kern="1200" cap="none" spc="0" normalizeH="0" noProof="0" dirty="0" smtClean="0">
                <a:ln>
                  <a:noFill/>
                </a:ln>
                <a:solidFill>
                  <a:schemeClr val="tx1"/>
                </a:solidFill>
                <a:effectLst/>
                <a:uLnTx/>
                <a:uFillTx/>
                <a:latin typeface="+mn-lt"/>
                <a:ea typeface="+mn-ea"/>
                <a:cs typeface="+mn-cs"/>
              </a:rPr>
              <a:t> worden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084168" y="145618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 de</a:t>
            </a:r>
            <a:r>
              <a:rPr kumimoji="0" lang="nl-NL" b="0" i="0" u="none" strike="noStrike" kern="1200" cap="none" spc="0" normalizeH="0" noProof="0" dirty="0" smtClean="0">
                <a:ln>
                  <a:noFill/>
                </a:ln>
                <a:solidFill>
                  <a:schemeClr val="tx1"/>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De prijzen stijgen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De loonkosten stijgen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95536" y="2924944"/>
            <a:ext cx="2746648"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b="0" i="0" u="none" strike="noStrike" kern="1200" cap="none" spc="0" normalizeH="0" noProof="0" dirty="0" smtClean="0">
                <a:ln>
                  <a:noFill/>
                </a:ln>
                <a:solidFill>
                  <a:schemeClr val="tx1"/>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Het</a:t>
            </a:r>
            <a:r>
              <a:rPr kumimoji="0" lang="nl-NL" b="0" i="0" u="none" strike="noStrike" kern="1200" cap="none" spc="0" normalizeH="0" noProof="0" dirty="0" smtClean="0">
                <a:ln>
                  <a:noFill/>
                </a:ln>
                <a:solidFill>
                  <a:schemeClr val="tx1"/>
                </a:solidFill>
                <a:effectLst/>
                <a:uLnTx/>
                <a:uFillTx/>
                <a:latin typeface="+mn-lt"/>
                <a:ea typeface="+mn-ea"/>
                <a:cs typeface="+mn-cs"/>
              </a:rPr>
              <a:t> regent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straten</a:t>
            </a:r>
            <a:r>
              <a:rPr kumimoji="0" lang="nl-NL" b="0" i="0" u="none" strike="noStrike" kern="1200" cap="none" spc="0" normalizeH="0" noProof="0" dirty="0" smtClean="0">
                <a:ln>
                  <a:noFill/>
                </a:ln>
                <a:solidFill>
                  <a:schemeClr val="tx1"/>
                </a:solidFill>
                <a:effectLst/>
                <a:uLnTx/>
                <a:uFillTx/>
                <a:latin typeface="+mn-lt"/>
                <a:ea typeface="+mn-ea"/>
                <a:cs typeface="+mn-cs"/>
              </a:rPr>
              <a:t> worden niet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3203848" y="292494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 de</a:t>
            </a:r>
            <a:r>
              <a:rPr kumimoji="0" lang="nl-NL" b="0" i="0" u="none" strike="noStrike" kern="1200" cap="none" spc="0" normalizeH="0" noProof="0" dirty="0" smtClean="0">
                <a:ln>
                  <a:noFill/>
                </a:ln>
                <a:solidFill>
                  <a:schemeClr val="tx1"/>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De prijzen stijgen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De loonkosten stijgen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95536" y="4509120"/>
            <a:ext cx="3960440"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noProof="0" dirty="0" smtClean="0"/>
              <a:t>De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niet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niet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203848" y="4509120"/>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Jan of Piet is de dader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Piet </a:t>
            </a:r>
            <a:r>
              <a:rPr lang="nl-NL" dirty="0" smtClean="0"/>
              <a:t>is onschuldig</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Jan is de dader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2000"/>
                                        <p:tgtEl>
                                          <p:spTgt spid="7">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2000"/>
                                        <p:tgtEl>
                                          <p:spTgt spid="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fade">
                                      <p:cBhvr>
                                        <p:cTn id="29" dur="2000"/>
                                        <p:tgtEl>
                                          <p:spTgt spid="8">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2000"/>
                                        <p:tgtEl>
                                          <p:spTgt spid="8">
                                            <p:txEl>
                                              <p:pRg st="1" end="1"/>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animEffect transition="in" filter="fade">
                                      <p:cBhvr>
                                        <p:cTn id="35" dur="2000"/>
                                        <p:tgtEl>
                                          <p:spTgt spid="8">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fade">
                                      <p:cBhvr>
                                        <p:cTn id="40" dur="2000"/>
                                        <p:tgtEl>
                                          <p:spTgt spid="10">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0">
                                            <p:txEl>
                                              <p:pRg st="1" end="1"/>
                                            </p:txEl>
                                          </p:spTgt>
                                        </p:tgtEl>
                                        <p:attrNameLst>
                                          <p:attrName>style.visibility</p:attrName>
                                        </p:attrNameLst>
                                      </p:cBhvr>
                                      <p:to>
                                        <p:strVal val="visible"/>
                                      </p:to>
                                    </p:set>
                                    <p:animEffect transition="in" filter="fade">
                                      <p:cBhvr>
                                        <p:cTn id="43" dur="2000"/>
                                        <p:tgtEl>
                                          <p:spTgt spid="10">
                                            <p:txEl>
                                              <p:pRg st="1" end="1"/>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0">
                                            <p:txEl>
                                              <p:pRg st="2" end="2"/>
                                            </p:txEl>
                                          </p:spTgt>
                                        </p:tgtEl>
                                        <p:attrNameLst>
                                          <p:attrName>style.visibility</p:attrName>
                                        </p:attrNameLst>
                                      </p:cBhvr>
                                      <p:to>
                                        <p:strVal val="visible"/>
                                      </p:to>
                                    </p:set>
                                    <p:animEffect transition="in" filter="fade">
                                      <p:cBhvr>
                                        <p:cTn id="46" dur="2000"/>
                                        <p:tgtEl>
                                          <p:spTgt spid="10">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
                                            <p:txEl>
                                              <p:pRg st="0" end="0"/>
                                            </p:txEl>
                                          </p:spTgt>
                                        </p:tgtEl>
                                        <p:attrNameLst>
                                          <p:attrName>style.visibility</p:attrName>
                                        </p:attrNameLst>
                                      </p:cBhvr>
                                      <p:to>
                                        <p:strVal val="visible"/>
                                      </p:to>
                                    </p:set>
                                    <p:animEffect transition="in" filter="fade">
                                      <p:cBhvr>
                                        <p:cTn id="51" dur="2000"/>
                                        <p:tgtEl>
                                          <p:spTgt spid="4">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
                                            <p:txEl>
                                              <p:pRg st="1" end="1"/>
                                            </p:txEl>
                                          </p:spTgt>
                                        </p:tgtEl>
                                        <p:attrNameLst>
                                          <p:attrName>style.visibility</p:attrName>
                                        </p:attrNameLst>
                                      </p:cBhvr>
                                      <p:to>
                                        <p:strVal val="visible"/>
                                      </p:to>
                                    </p:set>
                                    <p:animEffect transition="in" filter="fade">
                                      <p:cBhvr>
                                        <p:cTn id="54" dur="2000"/>
                                        <p:tgtEl>
                                          <p:spTgt spid="4">
                                            <p:txEl>
                                              <p:pRg st="1" end="1"/>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
                                            <p:txEl>
                                              <p:pRg st="2" end="2"/>
                                            </p:txEl>
                                          </p:spTgt>
                                        </p:tgtEl>
                                        <p:attrNameLst>
                                          <p:attrName>style.visibility</p:attrName>
                                        </p:attrNameLst>
                                      </p:cBhvr>
                                      <p:to>
                                        <p:strVal val="visible"/>
                                      </p:to>
                                    </p:set>
                                    <p:animEffect transition="in" filter="fade">
                                      <p:cBhvr>
                                        <p:cTn id="57" dur="2000"/>
                                        <p:tgtEl>
                                          <p:spTgt spid="4">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1">
                                            <p:txEl>
                                              <p:pRg st="0" end="0"/>
                                            </p:txEl>
                                          </p:spTgt>
                                        </p:tgtEl>
                                        <p:attrNameLst>
                                          <p:attrName>style.visibility</p:attrName>
                                        </p:attrNameLst>
                                      </p:cBhvr>
                                      <p:to>
                                        <p:strVal val="visible"/>
                                      </p:to>
                                    </p:set>
                                    <p:animEffect transition="in" filter="fade">
                                      <p:cBhvr>
                                        <p:cTn id="62" dur="2000"/>
                                        <p:tgtEl>
                                          <p:spTgt spid="11">
                                            <p:txEl>
                                              <p:pRg st="0" end="0"/>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1">
                                            <p:txEl>
                                              <p:pRg st="1" end="1"/>
                                            </p:txEl>
                                          </p:spTgt>
                                        </p:tgtEl>
                                        <p:attrNameLst>
                                          <p:attrName>style.visibility</p:attrName>
                                        </p:attrNameLst>
                                      </p:cBhvr>
                                      <p:to>
                                        <p:strVal val="visible"/>
                                      </p:to>
                                    </p:set>
                                    <p:animEffect transition="in" filter="fade">
                                      <p:cBhvr>
                                        <p:cTn id="65" dur="2000"/>
                                        <p:tgtEl>
                                          <p:spTgt spid="11">
                                            <p:txEl>
                                              <p:pRg st="1" end="1"/>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1">
                                            <p:txEl>
                                              <p:pRg st="2" end="2"/>
                                            </p:txEl>
                                          </p:spTgt>
                                        </p:tgtEl>
                                        <p:attrNameLst>
                                          <p:attrName>style.visibility</p:attrName>
                                        </p:attrNameLst>
                                      </p:cBhvr>
                                      <p:to>
                                        <p:strVal val="visible"/>
                                      </p:to>
                                    </p:set>
                                    <p:animEffect transition="in" filter="fade">
                                      <p:cBhvr>
                                        <p:cTn id="68" dur="2000"/>
                                        <p:tgtEl>
                                          <p:spTgt spid="11">
                                            <p:txEl>
                                              <p:pRg st="2" end="2"/>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13">
                                            <p:txEl>
                                              <p:pRg st="0" end="0"/>
                                            </p:txEl>
                                          </p:spTgt>
                                        </p:tgtEl>
                                        <p:attrNameLst>
                                          <p:attrName>style.visibility</p:attrName>
                                        </p:attrNameLst>
                                      </p:cBhvr>
                                      <p:to>
                                        <p:strVal val="visible"/>
                                      </p:to>
                                    </p:set>
                                    <p:animEffect transition="in" filter="fade">
                                      <p:cBhvr>
                                        <p:cTn id="73" dur="2000"/>
                                        <p:tgtEl>
                                          <p:spTgt spid="13">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3">
                                            <p:txEl>
                                              <p:pRg st="1" end="1"/>
                                            </p:txEl>
                                          </p:spTgt>
                                        </p:tgtEl>
                                        <p:attrNameLst>
                                          <p:attrName>style.visibility</p:attrName>
                                        </p:attrNameLst>
                                      </p:cBhvr>
                                      <p:to>
                                        <p:strVal val="visible"/>
                                      </p:to>
                                    </p:set>
                                    <p:animEffect transition="in" filter="fade">
                                      <p:cBhvr>
                                        <p:cTn id="76" dur="2000"/>
                                        <p:tgtEl>
                                          <p:spTgt spid="13">
                                            <p:txEl>
                                              <p:pRg st="1" end="1"/>
                                            </p:txEl>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3">
                                            <p:txEl>
                                              <p:pRg st="2" end="2"/>
                                            </p:txEl>
                                          </p:spTgt>
                                        </p:tgtEl>
                                        <p:attrNameLst>
                                          <p:attrName>style.visibility</p:attrName>
                                        </p:attrNameLst>
                                      </p:cBhvr>
                                      <p:to>
                                        <p:strVal val="visible"/>
                                      </p:to>
                                    </p:set>
                                    <p:animEffect transition="in" filter="fade">
                                      <p:cBhvr>
                                        <p:cTn id="79" dur="2000"/>
                                        <p:tgtEl>
                                          <p:spTgt spid="13">
                                            <p:txEl>
                                              <p:pRg st="2" end="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
                                            <p:txEl>
                                              <p:pRg st="0" end="0"/>
                                            </p:txEl>
                                          </p:spTgt>
                                        </p:tgtEl>
                                        <p:attrNameLst>
                                          <p:attrName>style.visibility</p:attrName>
                                        </p:attrNameLst>
                                      </p:cBhvr>
                                      <p:to>
                                        <p:strVal val="visible"/>
                                      </p:to>
                                    </p:set>
                                    <p:animEffect transition="in" filter="fade">
                                      <p:cBhvr>
                                        <p:cTn id="84" dur="2000"/>
                                        <p:tgtEl>
                                          <p:spTgt spid="5">
                                            <p:txEl>
                                              <p:pRg st="0" end="0"/>
                                            </p:tx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
                                            <p:txEl>
                                              <p:pRg st="1" end="1"/>
                                            </p:txEl>
                                          </p:spTgt>
                                        </p:tgtEl>
                                        <p:attrNameLst>
                                          <p:attrName>style.visibility</p:attrName>
                                        </p:attrNameLst>
                                      </p:cBhvr>
                                      <p:to>
                                        <p:strVal val="visible"/>
                                      </p:to>
                                    </p:set>
                                    <p:animEffect transition="in" filter="fade">
                                      <p:cBhvr>
                                        <p:cTn id="87" dur="2000"/>
                                        <p:tgtEl>
                                          <p:spTgt spid="5">
                                            <p:txEl>
                                              <p:pRg st="1" end="1"/>
                                            </p:txEl>
                                          </p:spTgt>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
                                            <p:txEl>
                                              <p:pRg st="2" end="2"/>
                                            </p:txEl>
                                          </p:spTgt>
                                        </p:tgtEl>
                                        <p:attrNameLst>
                                          <p:attrName>style.visibility</p:attrName>
                                        </p:attrNameLst>
                                      </p:cBhvr>
                                      <p:to>
                                        <p:strVal val="visible"/>
                                      </p:to>
                                    </p:set>
                                    <p:animEffect transition="in" filter="fade">
                                      <p:cBhvr>
                                        <p:cTn id="90"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P spid="10" grpId="0" build="allAtOnce"/>
      <p:bldP spid="11" grpId="0" build="allAtOnce"/>
      <p:bldP spid="1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Basis axioma van de logica</a:t>
            </a:r>
            <a:endParaRPr lang="nl-NL" sz="3600" dirty="0"/>
          </a:p>
        </p:txBody>
      </p:sp>
      <p:sp>
        <p:nvSpPr>
          <p:cNvPr id="3" name="Content Placeholder 2"/>
          <p:cNvSpPr>
            <a:spLocks noGrp="1"/>
          </p:cNvSpPr>
          <p:nvPr>
            <p:ph idx="1"/>
          </p:nvPr>
        </p:nvSpPr>
        <p:spPr>
          <a:xfrm>
            <a:off x="457200" y="1600201"/>
            <a:ext cx="8229600" cy="1180728"/>
          </a:xfrm>
        </p:spPr>
        <p:txBody>
          <a:bodyPr>
            <a:normAutofit/>
          </a:bodyPr>
          <a:lstStyle/>
          <a:p>
            <a:r>
              <a:rPr lang="nl-NL" sz="2000" dirty="0" smtClean="0"/>
              <a:t>De geldigheid van een gegeven redenering wordt niet bepaald door de </a:t>
            </a:r>
            <a:r>
              <a:rPr lang="nl-NL" sz="2000" u="sng" dirty="0" smtClean="0"/>
              <a:t>inhoud</a:t>
            </a:r>
            <a:r>
              <a:rPr lang="nl-NL" sz="2000" dirty="0" smtClean="0"/>
              <a:t> van de redenering, maar louter en alleen door de </a:t>
            </a:r>
            <a:r>
              <a:rPr lang="nl-NL" sz="2000" u="sng" dirty="0" smtClean="0"/>
              <a:t>vorm</a:t>
            </a:r>
            <a:r>
              <a:rPr lang="nl-NL" sz="2000" dirty="0" smtClean="0"/>
              <a:t> van de redenering. </a:t>
            </a:r>
          </a:p>
          <a:p>
            <a:endParaRPr lang="nl-NL" sz="800" dirty="0" smtClean="0"/>
          </a:p>
          <a:p>
            <a:pPr>
              <a:buNone/>
            </a:pPr>
            <a:endParaRPr lang="nl-NL" sz="2000" dirty="0" smtClean="0"/>
          </a:p>
          <a:p>
            <a:endParaRPr lang="nl-NL" sz="2000" dirty="0" smtClean="0"/>
          </a:p>
          <a:p>
            <a:endParaRPr lang="nl-NL" sz="2000" dirty="0" smtClean="0"/>
          </a:p>
        </p:txBody>
      </p:sp>
      <p:sp>
        <p:nvSpPr>
          <p:cNvPr id="4" name="Content Placeholder 2"/>
          <p:cNvSpPr txBox="1">
            <a:spLocks/>
          </p:cNvSpPr>
          <p:nvPr/>
        </p:nvSpPr>
        <p:spPr>
          <a:xfrm>
            <a:off x="457200" y="2503437"/>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Om te bepalen of een redenering geldig is, dienen we dus te abstraheren van de specifieke inhoud van de redenering. Dit doen we door ons af te vragen welke </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redeneervorm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bij de redenering in kwestie hoort.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46856" y="34290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we dit weten, dan is de enige vraag die overblijft of de redeneervorm al dan niet geldig is. Zo ja, dan is de oorspronkelijke redenering geldig. Zo niet, dan is de oorspronkelijke redenering ongeldig.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95536" y="4375645"/>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Kortom, de taak van de logica is om alle geldige redeneervormen in kaart te brengen. Want dan kunnen op we grond van voorgaande procedure bepalen of een gegeven redenering al dan niet geldig is.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2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Van redenering naar redeneervorm</a:t>
            </a:r>
            <a:endParaRPr lang="nl-NL" sz="3600" dirty="0"/>
          </a:p>
        </p:txBody>
      </p:sp>
      <p:sp>
        <p:nvSpPr>
          <p:cNvPr id="3" name="Content Placeholder 2"/>
          <p:cNvSpPr>
            <a:spLocks noGrp="1"/>
          </p:cNvSpPr>
          <p:nvPr>
            <p:ph idx="1"/>
          </p:nvPr>
        </p:nvSpPr>
        <p:spPr>
          <a:xfrm>
            <a:off x="395536" y="1484784"/>
            <a:ext cx="3538736" cy="1468760"/>
          </a:xfrm>
        </p:spPr>
        <p:txBody>
          <a:bodyPr>
            <a:normAutofit/>
          </a:bodyPr>
          <a:lstStyle/>
          <a:p>
            <a:pPr>
              <a:buNone/>
            </a:pPr>
            <a:r>
              <a:rPr lang="nl-NL" sz="1800" dirty="0" smtClean="0"/>
              <a:t>1. </a:t>
            </a:r>
            <a:r>
              <a:rPr lang="nl-NL" sz="1800" dirty="0" err="1" smtClean="0"/>
              <a:t>Socrates</a:t>
            </a:r>
            <a:r>
              <a:rPr lang="nl-NL" sz="1800" dirty="0" smtClean="0"/>
              <a:t> is mens</a:t>
            </a:r>
          </a:p>
          <a:p>
            <a:pPr>
              <a:buNone/>
            </a:pPr>
            <a:r>
              <a:rPr lang="nl-NL" sz="1800" dirty="0" smtClean="0"/>
              <a:t>2. Alle mensen zijn sterfelijk</a:t>
            </a:r>
          </a:p>
          <a:p>
            <a:pPr>
              <a:buNone/>
            </a:pPr>
            <a:r>
              <a:rPr lang="nl-NL" sz="1800" dirty="0" smtClean="0"/>
              <a:t>3. </a:t>
            </a:r>
            <a:r>
              <a:rPr lang="nl-NL" sz="1800" dirty="0" err="1" smtClean="0"/>
              <a:t>Socrates</a:t>
            </a:r>
            <a:r>
              <a:rPr lang="nl-NL" sz="1800" dirty="0" smtClean="0"/>
              <a:t> is sterfelijk</a:t>
            </a:r>
          </a:p>
          <a:p>
            <a:pPr>
              <a:buNone/>
            </a:pPr>
            <a:endParaRPr lang="nl-NL" sz="1800" dirty="0" smtClean="0"/>
          </a:p>
        </p:txBody>
      </p:sp>
      <p:sp>
        <p:nvSpPr>
          <p:cNvPr id="8" name="Content Placeholder 2"/>
          <p:cNvSpPr txBox="1">
            <a:spLocks/>
          </p:cNvSpPr>
          <p:nvPr/>
        </p:nvSpPr>
        <p:spPr>
          <a:xfrm>
            <a:off x="395536" y="2924944"/>
            <a:ext cx="2746648"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b="0" i="0" u="none" strike="noStrike" kern="1200" cap="none" spc="0" normalizeH="0" noProof="0" dirty="0" smtClean="0">
                <a:ln>
                  <a:noFill/>
                </a:ln>
                <a:solidFill>
                  <a:schemeClr val="tx1"/>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Het</a:t>
            </a:r>
            <a:r>
              <a:rPr kumimoji="0" lang="nl-NL" b="0" i="0" u="none" strike="noStrike" kern="1200" cap="none" spc="0" normalizeH="0" noProof="0" dirty="0" smtClean="0">
                <a:ln>
                  <a:noFill/>
                </a:ln>
                <a:solidFill>
                  <a:schemeClr val="tx1"/>
                </a:solidFill>
                <a:effectLst/>
                <a:uLnTx/>
                <a:uFillTx/>
                <a:latin typeface="+mn-lt"/>
                <a:ea typeface="+mn-ea"/>
                <a:cs typeface="+mn-cs"/>
              </a:rPr>
              <a:t> regent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straten</a:t>
            </a:r>
            <a:r>
              <a:rPr kumimoji="0" lang="nl-NL" b="0" i="0" u="none" strike="noStrike" kern="1200" cap="none" spc="0" normalizeH="0" noProof="0" dirty="0" smtClean="0">
                <a:ln>
                  <a:noFill/>
                </a:ln>
                <a:solidFill>
                  <a:schemeClr val="tx1"/>
                </a:solidFill>
                <a:effectLst/>
                <a:uLnTx/>
                <a:uFillTx/>
                <a:latin typeface="+mn-lt"/>
                <a:ea typeface="+mn-ea"/>
                <a:cs typeface="+mn-cs"/>
              </a:rPr>
              <a:t> worden niet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95536" y="4509120"/>
            <a:ext cx="3960440"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noProof="0" dirty="0" smtClean="0"/>
              <a:t>De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niet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niet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Right Arrow 15"/>
          <p:cNvSpPr/>
          <p:nvPr/>
        </p:nvSpPr>
        <p:spPr>
          <a:xfrm>
            <a:off x="3707904" y="1772816"/>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ight Arrow 16"/>
          <p:cNvSpPr/>
          <p:nvPr/>
        </p:nvSpPr>
        <p:spPr>
          <a:xfrm>
            <a:off x="3707904" y="3356992"/>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ight Arrow 17"/>
          <p:cNvSpPr/>
          <p:nvPr/>
        </p:nvSpPr>
        <p:spPr>
          <a:xfrm>
            <a:off x="3707904" y="4941168"/>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Content Placeholder 2"/>
          <p:cNvSpPr txBox="1">
            <a:spLocks/>
          </p:cNvSpPr>
          <p:nvPr/>
        </p:nvSpPr>
        <p:spPr>
          <a:xfrm>
            <a:off x="5004048"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X is Y</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Alle </a:t>
            </a:r>
            <a:r>
              <a:rPr lang="nl-NL" dirty="0" smtClean="0"/>
              <a:t>Y zijn Z</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noProof="0" dirty="0" smtClean="0"/>
              <a:t>X is Z</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TextBox 19"/>
          <p:cNvSpPr txBox="1"/>
          <p:nvPr/>
        </p:nvSpPr>
        <p:spPr>
          <a:xfrm>
            <a:off x="6804248" y="1630541"/>
            <a:ext cx="1800200" cy="646331"/>
          </a:xfrm>
          <a:prstGeom prst="rect">
            <a:avLst/>
          </a:prstGeom>
          <a:noFill/>
        </p:spPr>
        <p:txBody>
          <a:bodyPr wrap="square" rtlCol="0">
            <a:spAutoFit/>
          </a:bodyPr>
          <a:lstStyle/>
          <a:p>
            <a:r>
              <a:rPr lang="nl-NL" i="1" dirty="0" smtClean="0"/>
              <a:t>Geldige redeneervorm</a:t>
            </a:r>
            <a:endParaRPr lang="nl-NL" i="1" dirty="0"/>
          </a:p>
        </p:txBody>
      </p:sp>
      <p:sp>
        <p:nvSpPr>
          <p:cNvPr id="21" name="Content Placeholder 2"/>
          <p:cNvSpPr txBox="1">
            <a:spLocks/>
          </p:cNvSpPr>
          <p:nvPr/>
        </p:nvSpPr>
        <p:spPr>
          <a:xfrm>
            <a:off x="5004048"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Als P, dan 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t>
            </a:r>
            <a:r>
              <a:rPr lang="nl-NL" dirty="0" err="1" smtClean="0"/>
              <a:t>niet-P</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dirty="0" err="1" smtClean="0"/>
              <a:t>niet-Q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6804248" y="3142709"/>
            <a:ext cx="1800200" cy="1138773"/>
          </a:xfrm>
          <a:prstGeom prst="rect">
            <a:avLst/>
          </a:prstGeom>
          <a:noFill/>
        </p:spPr>
        <p:txBody>
          <a:bodyPr wrap="square" rtlCol="0">
            <a:spAutoFit/>
          </a:bodyPr>
          <a:lstStyle/>
          <a:p>
            <a:r>
              <a:rPr lang="nl-NL" i="1" dirty="0" smtClean="0"/>
              <a:t>Ongeldige redeneervorm </a:t>
            </a:r>
            <a:r>
              <a:rPr lang="nl-NL" sz="1600" i="1" dirty="0" smtClean="0"/>
              <a:t>(negatie van het antecedent)</a:t>
            </a:r>
            <a:endParaRPr lang="nl-NL" i="1" dirty="0"/>
          </a:p>
        </p:txBody>
      </p:sp>
      <p:sp>
        <p:nvSpPr>
          <p:cNvPr id="23" name="Content Placeholder 2"/>
          <p:cNvSpPr txBox="1">
            <a:spLocks/>
          </p:cNvSpPr>
          <p:nvPr/>
        </p:nvSpPr>
        <p:spPr>
          <a:xfrm>
            <a:off x="500404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X is Y</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t>
            </a:r>
            <a:r>
              <a:rPr lang="nl-NL" dirty="0" smtClean="0"/>
              <a:t>Alle Y zijn Z</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noProof="0" dirty="0" smtClean="0"/>
              <a:t>X is Z</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 name="TextBox 23"/>
          <p:cNvSpPr txBox="1"/>
          <p:nvPr/>
        </p:nvSpPr>
        <p:spPr>
          <a:xfrm>
            <a:off x="6804248" y="4683477"/>
            <a:ext cx="2160240" cy="1138773"/>
          </a:xfrm>
          <a:prstGeom prst="rect">
            <a:avLst/>
          </a:prstGeom>
          <a:noFill/>
        </p:spPr>
        <p:txBody>
          <a:bodyPr wrap="square" rtlCol="0">
            <a:spAutoFit/>
          </a:bodyPr>
          <a:lstStyle/>
          <a:p>
            <a:r>
              <a:rPr lang="nl-NL" i="1" dirty="0" smtClean="0"/>
              <a:t>Geldige redeneervorm </a:t>
            </a:r>
            <a:r>
              <a:rPr lang="nl-NL" sz="1600" i="1" dirty="0" smtClean="0"/>
              <a:t>(dezelfde als die van de redenering bovenaan!)</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20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20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20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0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20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2000"/>
                                        <p:tgtEl>
                                          <p:spTgt spid="2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fade">
                                      <p:cBhvr>
                                        <p:cTn id="30"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7" grpId="0" animBg="1"/>
      <p:bldP spid="18" grpId="0" animBg="1"/>
      <p:bldP spid="21" grpId="0"/>
      <p:bldP spid="22"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Van redenering naar redeneervorm (2)</a:t>
            </a:r>
            <a:endParaRPr lang="nl-NL" sz="3600" dirty="0"/>
          </a:p>
        </p:txBody>
      </p:sp>
      <p:sp>
        <p:nvSpPr>
          <p:cNvPr id="16" name="Right Arrow 15"/>
          <p:cNvSpPr/>
          <p:nvPr/>
        </p:nvSpPr>
        <p:spPr>
          <a:xfrm>
            <a:off x="3707904" y="1772816"/>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ight Arrow 16"/>
          <p:cNvSpPr/>
          <p:nvPr/>
        </p:nvSpPr>
        <p:spPr>
          <a:xfrm>
            <a:off x="3707904" y="3356992"/>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ight Arrow 17"/>
          <p:cNvSpPr/>
          <p:nvPr/>
        </p:nvSpPr>
        <p:spPr>
          <a:xfrm>
            <a:off x="3707904" y="4941168"/>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Content Placeholder 2"/>
          <p:cNvSpPr txBox="1">
            <a:spLocks/>
          </p:cNvSpPr>
          <p:nvPr/>
        </p:nvSpPr>
        <p:spPr>
          <a:xfrm>
            <a:off x="5004048"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sz="1800" b="0" i="0" u="none" strike="noStrike" kern="1200" cap="none" spc="0" normalizeH="0" noProof="0" dirty="0" smtClean="0">
                <a:ln>
                  <a:noFill/>
                </a:ln>
                <a:solidFill>
                  <a:schemeClr val="tx1"/>
                </a:solidFill>
                <a:effectLst/>
                <a:uLnTx/>
                <a:uFillTx/>
                <a:latin typeface="+mn-lt"/>
                <a:ea typeface="+mn-ea"/>
                <a:cs typeface="+mn-cs"/>
              </a:rPr>
              <a:t> P, dan 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noProof="0" dirty="0" smtClean="0"/>
              <a:t>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TextBox 19"/>
          <p:cNvSpPr txBox="1"/>
          <p:nvPr/>
        </p:nvSpPr>
        <p:spPr>
          <a:xfrm>
            <a:off x="6804248" y="1630541"/>
            <a:ext cx="1800200" cy="923330"/>
          </a:xfrm>
          <a:prstGeom prst="rect">
            <a:avLst/>
          </a:prstGeom>
          <a:noFill/>
        </p:spPr>
        <p:txBody>
          <a:bodyPr wrap="square" rtlCol="0">
            <a:spAutoFit/>
          </a:bodyPr>
          <a:lstStyle/>
          <a:p>
            <a:r>
              <a:rPr lang="nl-NL" i="1" dirty="0" smtClean="0"/>
              <a:t>Geldige redeneervorm </a:t>
            </a:r>
            <a:r>
              <a:rPr lang="nl-NL" sz="1600" i="1" dirty="0" smtClean="0"/>
              <a:t>(modus </a:t>
            </a:r>
            <a:r>
              <a:rPr lang="nl-NL" sz="1600" i="1" dirty="0" err="1" smtClean="0"/>
              <a:t>ponens</a:t>
            </a:r>
            <a:r>
              <a:rPr lang="nl-NL" sz="1600" i="1" dirty="0" smtClean="0"/>
              <a:t>)</a:t>
            </a:r>
            <a:endParaRPr lang="nl-NL" i="1" dirty="0"/>
          </a:p>
        </p:txBody>
      </p:sp>
      <p:sp>
        <p:nvSpPr>
          <p:cNvPr id="21" name="Content Placeholder 2"/>
          <p:cNvSpPr txBox="1">
            <a:spLocks/>
          </p:cNvSpPr>
          <p:nvPr/>
        </p:nvSpPr>
        <p:spPr>
          <a:xfrm>
            <a:off x="5004048"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Als P, dan 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t>
            </a:r>
            <a:r>
              <a:rPr lang="nl-NL" dirty="0" err="1" smtClean="0"/>
              <a:t>niet-Q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dirty="0" err="1" smtClean="0"/>
              <a:t>niet-P</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6804248" y="3142709"/>
            <a:ext cx="1800200" cy="923330"/>
          </a:xfrm>
          <a:prstGeom prst="rect">
            <a:avLst/>
          </a:prstGeom>
          <a:noFill/>
        </p:spPr>
        <p:txBody>
          <a:bodyPr wrap="square" rtlCol="0">
            <a:spAutoFit/>
          </a:bodyPr>
          <a:lstStyle/>
          <a:p>
            <a:r>
              <a:rPr lang="nl-NL" i="1" dirty="0" smtClean="0"/>
              <a:t>Geldige redeneervorm </a:t>
            </a:r>
            <a:r>
              <a:rPr lang="nl-NL" sz="1600" i="1" dirty="0" smtClean="0"/>
              <a:t>(modus tollens)</a:t>
            </a:r>
            <a:endParaRPr lang="nl-NL" i="1" dirty="0"/>
          </a:p>
        </p:txBody>
      </p:sp>
      <p:sp>
        <p:nvSpPr>
          <p:cNvPr id="23" name="Content Placeholder 2"/>
          <p:cNvSpPr txBox="1">
            <a:spLocks/>
          </p:cNvSpPr>
          <p:nvPr/>
        </p:nvSpPr>
        <p:spPr>
          <a:xfrm>
            <a:off x="500404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P of 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t>
            </a:r>
            <a:r>
              <a:rPr lang="nl-NL" noProof="0" dirty="0" err="1" smtClean="0"/>
              <a:t>niet-Q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P</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 name="TextBox 23"/>
          <p:cNvSpPr txBox="1"/>
          <p:nvPr/>
        </p:nvSpPr>
        <p:spPr>
          <a:xfrm>
            <a:off x="6804248" y="4683477"/>
            <a:ext cx="2160240" cy="646331"/>
          </a:xfrm>
          <a:prstGeom prst="rect">
            <a:avLst/>
          </a:prstGeom>
          <a:noFill/>
        </p:spPr>
        <p:txBody>
          <a:bodyPr wrap="square" rtlCol="0">
            <a:spAutoFit/>
          </a:bodyPr>
          <a:lstStyle/>
          <a:p>
            <a:r>
              <a:rPr lang="nl-NL" i="1" dirty="0" smtClean="0"/>
              <a:t>Geldige redeneervorm</a:t>
            </a:r>
            <a:endParaRPr lang="nl-NL" i="1" dirty="0"/>
          </a:p>
        </p:txBody>
      </p:sp>
      <p:sp>
        <p:nvSpPr>
          <p:cNvPr id="25" name="Content Placeholder 2"/>
          <p:cNvSpPr txBox="1">
            <a:spLocks/>
          </p:cNvSpPr>
          <p:nvPr/>
        </p:nvSpPr>
        <p:spPr>
          <a:xfrm>
            <a:off x="539552" y="1484784"/>
            <a:ext cx="2746648"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b="0" i="0" u="none" strike="noStrike" kern="1200" cap="none" spc="0" normalizeH="0" noProof="0" dirty="0" smtClean="0">
                <a:ln>
                  <a:noFill/>
                </a:ln>
                <a:solidFill>
                  <a:schemeClr val="tx1"/>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Het regent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straten</a:t>
            </a:r>
            <a:r>
              <a:rPr kumimoji="0" lang="nl-NL" b="0" i="0" u="none" strike="noStrike" kern="1200" cap="none" spc="0" normalizeH="0" noProof="0" dirty="0" smtClean="0">
                <a:ln>
                  <a:noFill/>
                </a:ln>
                <a:solidFill>
                  <a:schemeClr val="tx1"/>
                </a:solidFill>
                <a:effectLst/>
                <a:uLnTx/>
                <a:uFillTx/>
                <a:latin typeface="+mn-lt"/>
                <a:ea typeface="+mn-ea"/>
                <a:cs typeface="+mn-cs"/>
              </a:rPr>
              <a:t> worden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549896" y="292494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 de</a:t>
            </a:r>
            <a:r>
              <a:rPr kumimoji="0" lang="nl-NL" b="0" i="0" u="none" strike="noStrike" kern="1200" cap="none" spc="0" normalizeH="0" noProof="0" dirty="0" smtClean="0">
                <a:ln>
                  <a:noFill/>
                </a:ln>
                <a:solidFill>
                  <a:schemeClr val="tx1"/>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De prijzen stijgen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De loonkosten stijgen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7" name="Content Placeholder 2"/>
          <p:cNvSpPr txBox="1">
            <a:spLocks/>
          </p:cNvSpPr>
          <p:nvPr/>
        </p:nvSpPr>
        <p:spPr>
          <a:xfrm>
            <a:off x="549896" y="4509120"/>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Jan of Piet is de dader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Piet </a:t>
            </a:r>
            <a:r>
              <a:rPr lang="nl-NL" dirty="0" smtClean="0"/>
              <a:t>is onschuldig</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Jan is de dader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0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0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0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20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20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p:bldP spid="22" grpId="0"/>
      <p:bldP spid="23" grpId="0"/>
      <p:bldP spid="24" grpId="0"/>
      <p:bldP spid="26"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Van redenering naar redeneervorm (3)</a:t>
            </a:r>
            <a:endParaRPr lang="nl-NL" sz="3600" dirty="0"/>
          </a:p>
        </p:txBody>
      </p:sp>
      <p:sp>
        <p:nvSpPr>
          <p:cNvPr id="16" name="Right Arrow 15"/>
          <p:cNvSpPr/>
          <p:nvPr/>
        </p:nvSpPr>
        <p:spPr>
          <a:xfrm>
            <a:off x="3707904" y="1772816"/>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ight Arrow 16"/>
          <p:cNvSpPr/>
          <p:nvPr/>
        </p:nvSpPr>
        <p:spPr>
          <a:xfrm>
            <a:off x="3707904" y="3356992"/>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ight Arrow 17"/>
          <p:cNvSpPr/>
          <p:nvPr/>
        </p:nvSpPr>
        <p:spPr>
          <a:xfrm>
            <a:off x="3707904" y="4941168"/>
            <a:ext cx="1008112" cy="288032"/>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Content Placeholder 2"/>
          <p:cNvSpPr txBox="1">
            <a:spLocks/>
          </p:cNvSpPr>
          <p:nvPr/>
        </p:nvSpPr>
        <p:spPr>
          <a:xfrm>
            <a:off x="5004048"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sz="1800" b="0" i="0" u="none" strike="noStrike" kern="1200" cap="none" spc="0" normalizeH="0" noProof="0" dirty="0" smtClean="0">
                <a:ln>
                  <a:noFill/>
                </a:ln>
                <a:solidFill>
                  <a:schemeClr val="tx1"/>
                </a:solidFill>
                <a:effectLst/>
                <a:uLnTx/>
                <a:uFillTx/>
                <a:latin typeface="+mn-lt"/>
                <a:ea typeface="+mn-ea"/>
                <a:cs typeface="+mn-cs"/>
              </a:rPr>
              <a:t> P, dan 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P</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TextBox 19"/>
          <p:cNvSpPr txBox="1"/>
          <p:nvPr/>
        </p:nvSpPr>
        <p:spPr>
          <a:xfrm>
            <a:off x="6804248" y="1630541"/>
            <a:ext cx="1800200" cy="892552"/>
          </a:xfrm>
          <a:prstGeom prst="rect">
            <a:avLst/>
          </a:prstGeom>
          <a:noFill/>
        </p:spPr>
        <p:txBody>
          <a:bodyPr wrap="square" rtlCol="0">
            <a:spAutoFit/>
          </a:bodyPr>
          <a:lstStyle/>
          <a:p>
            <a:r>
              <a:rPr lang="nl-NL" i="1" dirty="0" smtClean="0"/>
              <a:t>Ongeldige redeneervorm   </a:t>
            </a:r>
            <a:r>
              <a:rPr lang="nl-NL" sz="1600" i="1" dirty="0" smtClean="0"/>
              <a:t>(ex </a:t>
            </a:r>
            <a:r>
              <a:rPr lang="nl-NL" sz="1600" i="1" dirty="0" err="1" smtClean="0"/>
              <a:t>consequentia</a:t>
            </a:r>
            <a:r>
              <a:rPr lang="nl-NL" sz="1600" i="1" dirty="0" smtClean="0"/>
              <a:t>)</a:t>
            </a:r>
            <a:endParaRPr lang="nl-NL" i="1" dirty="0"/>
          </a:p>
        </p:txBody>
      </p:sp>
      <p:sp>
        <p:nvSpPr>
          <p:cNvPr id="21" name="Content Placeholder 2"/>
          <p:cNvSpPr txBox="1">
            <a:spLocks/>
          </p:cNvSpPr>
          <p:nvPr/>
        </p:nvSpPr>
        <p:spPr>
          <a:xfrm>
            <a:off x="5004048"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t>
            </a:r>
            <a:r>
              <a:rPr lang="nl-NL" noProof="0" dirty="0" smtClean="0"/>
              <a:t>X is Y</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Alle Y zijn Z</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X is Z</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6804248" y="3142709"/>
            <a:ext cx="1800200" cy="646331"/>
          </a:xfrm>
          <a:prstGeom prst="rect">
            <a:avLst/>
          </a:prstGeom>
          <a:noFill/>
        </p:spPr>
        <p:txBody>
          <a:bodyPr wrap="square" rtlCol="0">
            <a:spAutoFit/>
          </a:bodyPr>
          <a:lstStyle/>
          <a:p>
            <a:r>
              <a:rPr lang="nl-NL" i="1" dirty="0" smtClean="0"/>
              <a:t>Geldige redeneervorm</a:t>
            </a:r>
            <a:endParaRPr lang="nl-NL" i="1" dirty="0"/>
          </a:p>
        </p:txBody>
      </p:sp>
      <p:sp>
        <p:nvSpPr>
          <p:cNvPr id="23" name="Content Placeholder 2"/>
          <p:cNvSpPr txBox="1">
            <a:spLocks/>
          </p:cNvSpPr>
          <p:nvPr/>
        </p:nvSpPr>
        <p:spPr>
          <a:xfrm>
            <a:off x="500404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P</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2. </a:t>
            </a:r>
            <a:r>
              <a:rPr lang="nl-NL" noProof="0" dirty="0" smtClean="0"/>
              <a:t>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P en Q</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 name="TextBox 23"/>
          <p:cNvSpPr txBox="1"/>
          <p:nvPr/>
        </p:nvSpPr>
        <p:spPr>
          <a:xfrm>
            <a:off x="6804248" y="4683477"/>
            <a:ext cx="2160240" cy="646331"/>
          </a:xfrm>
          <a:prstGeom prst="rect">
            <a:avLst/>
          </a:prstGeom>
          <a:noFill/>
        </p:spPr>
        <p:txBody>
          <a:bodyPr wrap="square" rtlCol="0">
            <a:spAutoFit/>
          </a:bodyPr>
          <a:lstStyle/>
          <a:p>
            <a:r>
              <a:rPr lang="nl-NL" i="1" dirty="0" smtClean="0"/>
              <a:t>Geldige redeneervorm</a:t>
            </a:r>
            <a:endParaRPr lang="nl-NL" i="1" dirty="0"/>
          </a:p>
        </p:txBody>
      </p:sp>
      <p:sp>
        <p:nvSpPr>
          <p:cNvPr id="15" name="Content Placeholder 2"/>
          <p:cNvSpPr txBox="1">
            <a:spLocks/>
          </p:cNvSpPr>
          <p:nvPr/>
        </p:nvSpPr>
        <p:spPr>
          <a:xfrm>
            <a:off x="611560" y="2968352"/>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De</a:t>
            </a:r>
            <a:r>
              <a:rPr kumimoji="0" lang="nl-NL" b="0" i="0" u="none" strike="noStrike" kern="1200" cap="none" spc="0" normalizeH="0" noProof="0" dirty="0" smtClean="0">
                <a:ln>
                  <a:noFill/>
                </a:ln>
                <a:solidFill>
                  <a:schemeClr val="tx1"/>
                </a:solidFill>
                <a:effectLst/>
                <a:uLnTx/>
                <a:uFillTx/>
                <a:latin typeface="+mn-lt"/>
                <a:ea typeface="+mn-ea"/>
                <a:cs typeface="+mn-cs"/>
              </a:rPr>
              <a:t>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611560" y="4509120"/>
            <a:ext cx="4608512"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2 is een even getal</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3 is een </a:t>
            </a:r>
            <a:r>
              <a:rPr lang="nl-NL" dirty="0" smtClean="0"/>
              <a:t>even </a:t>
            </a:r>
            <a:r>
              <a:rPr kumimoji="0" lang="nl-NL" b="0" i="0" u="none" strike="noStrike" kern="1200" cap="none" spc="0" normalizeH="0" baseline="0" noProof="0" dirty="0" smtClean="0">
                <a:ln>
                  <a:noFill/>
                </a:ln>
                <a:solidFill>
                  <a:schemeClr val="tx1"/>
                </a:solidFill>
                <a:effectLst/>
                <a:uLnTx/>
                <a:uFillTx/>
                <a:latin typeface="+mn-lt"/>
                <a:ea typeface="+mn-ea"/>
                <a:cs typeface="+mn-cs"/>
              </a:rPr>
              <a:t>getal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2 en 3 zijn</a:t>
            </a:r>
            <a:r>
              <a:rPr lang="nl-NL" noProof="0" dirty="0" smtClean="0"/>
              <a:t> even </a:t>
            </a:r>
            <a:r>
              <a:rPr lang="nl-NL" dirty="0" smtClean="0"/>
              <a:t>getallen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611560" y="145618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 de</a:t>
            </a:r>
            <a:r>
              <a:rPr kumimoji="0" lang="nl-NL" b="0" i="0" u="none" strike="noStrike" kern="1200" cap="none" spc="0" normalizeH="0" noProof="0" dirty="0" smtClean="0">
                <a:ln>
                  <a:noFill/>
                </a:ln>
                <a:solidFill>
                  <a:schemeClr val="tx1"/>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De prijzen stijgen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De loonkosten stijgen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0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20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0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20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2000"/>
                                        <p:tgtEl>
                                          <p:spTgt spid="2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2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p:bldP spid="22" grpId="0"/>
      <p:bldP spid="23" grpId="0"/>
      <p:bldP spid="24" grpId="0"/>
      <p:bldP spid="15"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Logische theorieën</a:t>
            </a:r>
            <a:endParaRPr lang="nl-NL" sz="3600" dirty="0"/>
          </a:p>
        </p:txBody>
      </p:sp>
      <p:sp>
        <p:nvSpPr>
          <p:cNvPr id="3" name="Content Placeholder 2"/>
          <p:cNvSpPr>
            <a:spLocks noGrp="1"/>
          </p:cNvSpPr>
          <p:nvPr>
            <p:ph idx="1"/>
          </p:nvPr>
        </p:nvSpPr>
        <p:spPr>
          <a:xfrm>
            <a:off x="457200" y="1600201"/>
            <a:ext cx="8229600" cy="1036712"/>
          </a:xfrm>
        </p:spPr>
        <p:txBody>
          <a:bodyPr>
            <a:normAutofit/>
          </a:bodyPr>
          <a:lstStyle/>
          <a:p>
            <a:r>
              <a:rPr lang="nl-NL" sz="2000" dirty="0" smtClean="0"/>
              <a:t>De taak van de logica is om alle geldige redeneervormen in kaart te brengen. Is het mogelijk om tot één logische theorie te komen waarin in één keer uitsluitsel wordt gegeven over alle geldige redeneervormen? </a:t>
            </a:r>
          </a:p>
          <a:p>
            <a:endParaRPr lang="nl-NL" sz="800" dirty="0" smtClean="0"/>
          </a:p>
        </p:txBody>
      </p:sp>
      <p:sp>
        <p:nvSpPr>
          <p:cNvPr id="4" name="Content Placeholder 2"/>
          <p:cNvSpPr txBox="1">
            <a:spLocks/>
          </p:cNvSpPr>
          <p:nvPr/>
        </p:nvSpPr>
        <p:spPr>
          <a:xfrm>
            <a:off x="457200" y="2503437"/>
            <a:ext cx="8229600" cy="997571"/>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Dit is typisch niet het geval. Er zijn meerdere logische theorieën. Iedere theorie richt zich op een bepaalde collectie van geldige redeneervormen.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57200" y="3068961"/>
            <a:ext cx="8229600" cy="14401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drie bekendste logische theorieën zijn 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termenlogica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syllogistiek</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syllogismeleer</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propositielogica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en de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predikatenlogica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57200" y="3717032"/>
            <a:ext cx="8229600" cy="252028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we willen bepalen of een bepaalde redenering geldig is, dan dienen   we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dus </a:t>
            </a:r>
            <a:r>
              <a:rPr kumimoji="0" lang="nl-NL" sz="2000" b="0" i="1" strike="noStrike" kern="1200" cap="none" spc="0" normalizeH="0" baseline="0" noProof="0" dirty="0" smtClean="0">
                <a:ln>
                  <a:noFill/>
                </a:ln>
                <a:solidFill>
                  <a:schemeClr val="tx1"/>
                </a:solidFill>
                <a:effectLst/>
                <a:uLnTx/>
                <a:uFillTx/>
                <a:latin typeface="+mn-lt"/>
                <a:ea typeface="+mn-ea"/>
                <a:cs typeface="+mn-cs"/>
              </a:rPr>
              <a:t>eerst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de vraag te stellen vanuit welke logische theorie we de redenering</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kwestie bekijken. Wie kiezen namelijk</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die theorie wiens redeneervormen qua structuur het beste aansluiten bij de redenering.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Vervolgens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bepalen we vanuit die theorie of de bij de redenering horende redeneervorm (en daarmee</a:t>
            </a:r>
            <a:r>
              <a:rPr kumimoji="0" lang="nl-NL" sz="2000" b="0" i="0" u="none" strike="noStrike" kern="1200" cap="none" spc="0" normalizeH="0" noProof="0" dirty="0" smtClean="0">
                <a:ln>
                  <a:noFill/>
                </a:ln>
                <a:solidFill>
                  <a:schemeClr val="tx1"/>
                </a:solidFill>
                <a:effectLst/>
                <a:uLnTx/>
                <a:uFillTx/>
                <a:latin typeface="+mn-lt"/>
                <a:ea typeface="+mn-ea"/>
                <a:cs typeface="+mn-cs"/>
              </a:rPr>
              <a:t> dus de redenering zelf)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geldig is of niet.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20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2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20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Propositielogica</a:t>
            </a:r>
            <a:endParaRPr lang="nl-NL" sz="3600" dirty="0"/>
          </a:p>
        </p:txBody>
      </p:sp>
      <p:sp>
        <p:nvSpPr>
          <p:cNvPr id="3" name="Content Placeholder 2"/>
          <p:cNvSpPr>
            <a:spLocks noGrp="1"/>
          </p:cNvSpPr>
          <p:nvPr>
            <p:ph idx="1"/>
          </p:nvPr>
        </p:nvSpPr>
        <p:spPr>
          <a:xfrm>
            <a:off x="457200" y="1484784"/>
            <a:ext cx="8229600" cy="3168352"/>
          </a:xfrm>
        </p:spPr>
        <p:txBody>
          <a:bodyPr>
            <a:normAutofit fontScale="85000" lnSpcReduction="10000"/>
          </a:bodyPr>
          <a:lstStyle/>
          <a:p>
            <a:r>
              <a:rPr lang="nl-NL" sz="2400" dirty="0" smtClean="0"/>
              <a:t>De propositielogica is geïnteresseerd in de onderlinge logische verbanden tussen proposities. </a:t>
            </a:r>
            <a:r>
              <a:rPr lang="nl-NL" sz="2400" i="1" dirty="0" smtClean="0"/>
              <a:t>Proposities</a:t>
            </a:r>
            <a:r>
              <a:rPr lang="nl-NL" sz="2400" dirty="0" smtClean="0"/>
              <a:t> zijn </a:t>
            </a:r>
            <a:r>
              <a:rPr lang="nl-NL" sz="2400" i="1" dirty="0" smtClean="0"/>
              <a:t>beweerzinnen</a:t>
            </a:r>
            <a:r>
              <a:rPr lang="nl-NL" sz="2400" dirty="0" smtClean="0"/>
              <a:t> of kortweg </a:t>
            </a:r>
            <a:r>
              <a:rPr lang="nl-NL" sz="2400" i="1" dirty="0" smtClean="0"/>
              <a:t>beweringen</a:t>
            </a:r>
            <a:r>
              <a:rPr lang="nl-NL" sz="2400" dirty="0" smtClean="0"/>
              <a:t>. </a:t>
            </a:r>
          </a:p>
          <a:p>
            <a:endParaRPr lang="nl-NL" sz="900" dirty="0" smtClean="0"/>
          </a:p>
          <a:p>
            <a:pPr>
              <a:buNone/>
            </a:pPr>
            <a:r>
              <a:rPr lang="nl-NL" sz="2000" dirty="0" smtClean="0"/>
              <a:t>      1. Parijs is de hoofdstad van Frankrijk</a:t>
            </a:r>
            <a:endParaRPr lang="nl-NL" sz="2000" i="1" dirty="0" smtClean="0"/>
          </a:p>
          <a:p>
            <a:pPr>
              <a:buNone/>
            </a:pPr>
            <a:r>
              <a:rPr lang="nl-NL" sz="2000" dirty="0" smtClean="0"/>
              <a:t>      2. Parijs is de hoofdstad van Duitsland</a:t>
            </a:r>
            <a:endParaRPr lang="nl-NL" sz="2000" i="1" dirty="0" smtClean="0"/>
          </a:p>
          <a:p>
            <a:pPr>
              <a:buNone/>
            </a:pPr>
            <a:r>
              <a:rPr lang="nl-NL" sz="2000" dirty="0" smtClean="0"/>
              <a:t>      3. Ik heb zin in koffie</a:t>
            </a:r>
            <a:endParaRPr lang="nl-NL" sz="2000" i="1" dirty="0" smtClean="0"/>
          </a:p>
          <a:p>
            <a:pPr>
              <a:buNone/>
            </a:pPr>
            <a:r>
              <a:rPr lang="nl-NL" sz="2000" dirty="0" smtClean="0"/>
              <a:t>      4. Ga eens naar school! </a:t>
            </a:r>
            <a:endParaRPr lang="nl-NL" sz="2000" i="1" dirty="0" smtClean="0"/>
          </a:p>
          <a:p>
            <a:pPr>
              <a:buNone/>
            </a:pPr>
            <a:r>
              <a:rPr lang="nl-NL" sz="2000" i="1" dirty="0" smtClean="0"/>
              <a:t>      </a:t>
            </a:r>
            <a:r>
              <a:rPr lang="nl-NL" sz="2000" dirty="0" smtClean="0"/>
              <a:t>5. Ik verklaar de vergadering voor geopend</a:t>
            </a:r>
            <a:endParaRPr lang="nl-NL" sz="2000" i="1" dirty="0" smtClean="0"/>
          </a:p>
          <a:p>
            <a:pPr>
              <a:buNone/>
            </a:pPr>
            <a:r>
              <a:rPr lang="nl-NL" sz="2000" i="1" dirty="0" smtClean="0"/>
              <a:t>      </a:t>
            </a:r>
            <a:r>
              <a:rPr lang="nl-NL" sz="2000" dirty="0" smtClean="0"/>
              <a:t>6. De vergadering is geopend </a:t>
            </a:r>
            <a:endParaRPr lang="nl-NL" sz="2000" i="1" dirty="0" smtClean="0"/>
          </a:p>
          <a:p>
            <a:pPr>
              <a:buNone/>
            </a:pPr>
            <a:r>
              <a:rPr lang="nl-NL" sz="2000" dirty="0" smtClean="0"/>
              <a:t>      7. Is Parijs de hoofdstad van Frankrijk? </a:t>
            </a:r>
            <a:endParaRPr lang="nl-NL" sz="2000" i="1" dirty="0" smtClean="0"/>
          </a:p>
          <a:p>
            <a:pPr>
              <a:buNone/>
            </a:pPr>
            <a:r>
              <a:rPr lang="nl-NL" sz="2000" dirty="0" smtClean="0"/>
              <a:t>      8. Optica valt onder natuurkunde en gras is groen </a:t>
            </a:r>
            <a:endParaRPr lang="nl-NL" sz="2000" i="1" dirty="0" smtClean="0"/>
          </a:p>
          <a:p>
            <a:endParaRPr lang="nl-NL" sz="800" dirty="0" smtClean="0"/>
          </a:p>
        </p:txBody>
      </p:sp>
      <p:sp>
        <p:nvSpPr>
          <p:cNvPr id="7" name="Content Placeholder 2"/>
          <p:cNvSpPr txBox="1">
            <a:spLocks/>
          </p:cNvSpPr>
          <p:nvPr/>
        </p:nvSpPr>
        <p:spPr>
          <a:xfrm>
            <a:off x="457200" y="4723928"/>
            <a:ext cx="8229600" cy="136936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We dienen een onderscheid te maken tussen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samengestelde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proposities (proposities opgebouwd zijn uit twee of meer eenvoudigere proposities [8]) en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elementaire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proposities (proposities waarvoor dit niet het geval is [1,2,3, 6]).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5724128" y="1844824"/>
            <a:ext cx="2664296" cy="316835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(propositie)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(propositie)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1" u="none" strike="noStrike" kern="1200" cap="none" spc="0" normalizeH="0" noProof="0" dirty="0" smtClean="0">
                <a:ln>
                  <a:noFill/>
                </a:ln>
                <a:solidFill>
                  <a:schemeClr val="tx1"/>
                </a:solidFill>
                <a:effectLst/>
                <a:uLnTx/>
                <a:uFillTx/>
                <a:latin typeface="+mn-lt"/>
                <a:ea typeface="+mn-ea"/>
                <a:cs typeface="+mn-cs"/>
              </a:rPr>
              <a:t>propositie)</a:t>
            </a:r>
            <a:endParaRPr kumimoji="0" lang="nl-NL" sz="16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(geen</a:t>
            </a:r>
            <a:r>
              <a:rPr kumimoji="0" lang="nl-NL" sz="1600" b="0" i="1" u="none" strike="noStrike" kern="1200" cap="none" spc="0" normalizeH="0" noProof="0" dirty="0" smtClean="0">
                <a:ln>
                  <a:noFill/>
                </a:ln>
                <a:solidFill>
                  <a:schemeClr val="tx1"/>
                </a:solidFill>
                <a:effectLst/>
                <a:uLnTx/>
                <a:uFillTx/>
                <a:latin typeface="+mn-lt"/>
                <a:ea typeface="+mn-ea"/>
                <a:cs typeface="+mn-cs"/>
              </a:rPr>
              <a:t> propositie)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1600" i="1" baseline="0" dirty="0" smtClean="0"/>
              <a:t>      (geen propositie)</a:t>
            </a:r>
            <a:r>
              <a:rPr kumimoji="0" lang="nl-NL" sz="1600" b="0" i="1"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1600" b="0" i="1" u="none" strike="noStrike" kern="1200" cap="none" spc="0" normalizeH="0" noProof="0" dirty="0" smtClean="0">
                <a:ln>
                  <a:noFill/>
                </a:ln>
                <a:solidFill>
                  <a:schemeClr val="tx1"/>
                </a:solidFill>
                <a:effectLst/>
                <a:uLnTx/>
                <a:uFillTx/>
                <a:latin typeface="+mn-lt"/>
                <a:ea typeface="+mn-ea"/>
                <a:cs typeface="+mn-cs"/>
              </a:rPr>
              <a:t>     (propositie)</a:t>
            </a:r>
            <a:r>
              <a:rPr kumimoji="0" lang="nl-NL" sz="1600" b="0" i="1"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(geen</a:t>
            </a:r>
            <a:r>
              <a:rPr kumimoji="0" lang="nl-NL" sz="1600" b="0" i="1" u="none" strike="noStrike" kern="1200" cap="none" spc="0" normalizeH="0" noProof="0" dirty="0" smtClean="0">
                <a:ln>
                  <a:noFill/>
                </a:ln>
                <a:solidFill>
                  <a:schemeClr val="tx1"/>
                </a:solidFill>
                <a:effectLst/>
                <a:uLnTx/>
                <a:uFillTx/>
                <a:latin typeface="+mn-lt"/>
                <a:ea typeface="+mn-ea"/>
                <a:cs typeface="+mn-cs"/>
              </a:rPr>
              <a:t> propositie)</a:t>
            </a:r>
            <a:endParaRPr kumimoji="0" lang="nl-NL" sz="16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600" b="0" i="1" u="none" strike="noStrike" kern="1200" cap="none" spc="0" normalizeH="0" baseline="0" noProof="0" dirty="0" smtClean="0">
                <a:ln>
                  <a:noFill/>
                </a:ln>
                <a:solidFill>
                  <a:schemeClr val="tx1"/>
                </a:solidFill>
                <a:effectLst/>
                <a:uLnTx/>
                <a:uFillTx/>
                <a:latin typeface="+mn-lt"/>
                <a:ea typeface="+mn-ea"/>
                <a:cs typeface="+mn-cs"/>
              </a:rPr>
              <a:t>      (propositie)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6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2000"/>
                                        <p:tgtEl>
                                          <p:spTgt spid="8">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fade">
                                      <p:cBhvr>
                                        <p:cTn id="10" dur="2000"/>
                                        <p:tgtEl>
                                          <p:spTgt spid="8">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Effect transition="in" filter="fade">
                                      <p:cBhvr>
                                        <p:cTn id="13" dur="2000"/>
                                        <p:tgtEl>
                                          <p:spTgt spid="8">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4" end="4"/>
                                            </p:txEl>
                                          </p:spTgt>
                                        </p:tgtEl>
                                        <p:attrNameLst>
                                          <p:attrName>style.visibility</p:attrName>
                                        </p:attrNameLst>
                                      </p:cBhvr>
                                      <p:to>
                                        <p:strVal val="visible"/>
                                      </p:to>
                                    </p:set>
                                    <p:animEffect transition="in" filter="fade">
                                      <p:cBhvr>
                                        <p:cTn id="16" dur="2000"/>
                                        <p:tgtEl>
                                          <p:spTgt spid="8">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animEffect transition="in" filter="fade">
                                      <p:cBhvr>
                                        <p:cTn id="19" dur="2000"/>
                                        <p:tgtEl>
                                          <p:spTgt spid="8">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2000"/>
                                        <p:tgtEl>
                                          <p:spTgt spid="8">
                                            <p:txEl>
                                              <p:pRg st="6" end="6"/>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animEffect transition="in" filter="fade">
                                      <p:cBhvr>
                                        <p:cTn id="25" dur="2000"/>
                                        <p:tgtEl>
                                          <p:spTgt spid="8">
                                            <p:txEl>
                                              <p:pRg st="7" end="7"/>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xEl>
                                              <p:pRg st="8" end="8"/>
                                            </p:txEl>
                                          </p:spTgt>
                                        </p:tgtEl>
                                        <p:attrNameLst>
                                          <p:attrName>style.visibility</p:attrName>
                                        </p:attrNameLst>
                                      </p:cBhvr>
                                      <p:to>
                                        <p:strVal val="visible"/>
                                      </p:to>
                                    </p:set>
                                    <p:animEffect transition="in" filter="fade">
                                      <p:cBhvr>
                                        <p:cTn id="28" dur="2000"/>
                                        <p:tgtEl>
                                          <p:spTgt spid="8">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0" end="0"/>
                                            </p:txEl>
                                          </p:spTgt>
                                        </p:tgtEl>
                                        <p:attrNameLst>
                                          <p:attrName>style.visibility</p:attrName>
                                        </p:attrNameLst>
                                      </p:cBhvr>
                                      <p:to>
                                        <p:strVal val="visible"/>
                                      </p:to>
                                    </p:set>
                                    <p:animEffect transition="in" filter="fade">
                                      <p:cBhvr>
                                        <p:cTn id="33"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Propositielogica</a:t>
            </a:r>
            <a:endParaRPr lang="nl-NL" sz="3600" dirty="0"/>
          </a:p>
        </p:txBody>
      </p:sp>
      <p:sp>
        <p:nvSpPr>
          <p:cNvPr id="7" name="Content Placeholder 2"/>
          <p:cNvSpPr txBox="1">
            <a:spLocks/>
          </p:cNvSpPr>
          <p:nvPr/>
        </p:nvSpPr>
        <p:spPr>
          <a:xfrm>
            <a:off x="457200" y="1412776"/>
            <a:ext cx="8686800" cy="259228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propositielogica is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niet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geïnteresseerd in de interne structuur van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elementaire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proposities. Maar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wél</a:t>
            </a:r>
            <a:r>
              <a:rPr kumimoji="0" lang="nl-NL" sz="2000" b="0" i="0" u="none" strike="noStrike" kern="1200" cap="none" spc="0" normalizeH="0" noProof="0" dirty="0" smtClean="0">
                <a:ln>
                  <a:noFill/>
                </a:ln>
                <a:solidFill>
                  <a:schemeClr val="tx1"/>
                </a:solidFill>
                <a:effectLst/>
                <a:uLnTx/>
                <a:uFillTx/>
                <a:latin typeface="+mn-lt"/>
                <a:ea typeface="+mn-ea"/>
                <a:cs typeface="+mn-cs"/>
              </a:rPr>
              <a:t> in de </a:t>
            </a:r>
            <a:r>
              <a:rPr lang="nl-NL" sz="2000" dirty="0" smtClean="0"/>
              <a:t>interne </a:t>
            </a:r>
            <a:r>
              <a:rPr kumimoji="0" lang="nl-NL" sz="2000" b="0" i="1" u="none" strike="noStrike" kern="1200" cap="none" spc="0" normalizeH="0" noProof="0" dirty="0" err="1" smtClean="0">
                <a:ln>
                  <a:noFill/>
                </a:ln>
                <a:solidFill>
                  <a:schemeClr val="tx1"/>
                </a:solidFill>
                <a:effectLst/>
                <a:uLnTx/>
                <a:uFillTx/>
                <a:latin typeface="+mn-lt"/>
                <a:ea typeface="+mn-ea"/>
                <a:cs typeface="+mn-cs"/>
              </a:rPr>
              <a:t>propositionele</a:t>
            </a:r>
            <a:r>
              <a:rPr kumimoji="0" lang="nl-NL" sz="2000" b="0" i="0" u="none" strike="noStrike" kern="1200" cap="none" spc="0" normalizeH="0" noProof="0" dirty="0" smtClean="0">
                <a:ln>
                  <a:noFill/>
                </a:ln>
                <a:solidFill>
                  <a:schemeClr val="tx1"/>
                </a:solidFill>
                <a:effectLst/>
                <a:uLnTx/>
                <a:uFillTx/>
                <a:latin typeface="+mn-lt"/>
                <a:ea typeface="+mn-ea"/>
                <a:cs typeface="+mn-cs"/>
              </a:rPr>
              <a:t>                            structuur van </a:t>
            </a:r>
            <a:r>
              <a:rPr kumimoji="0" lang="nl-NL" sz="2000" b="0" i="1" u="none" strike="noStrike" kern="1200" cap="none" spc="0" normalizeH="0" noProof="0" dirty="0" smtClean="0">
                <a:ln>
                  <a:noFill/>
                </a:ln>
                <a:solidFill>
                  <a:schemeClr val="tx1"/>
                </a:solidFill>
                <a:effectLst/>
                <a:uLnTx/>
                <a:uFillTx/>
                <a:latin typeface="+mn-lt"/>
                <a:ea typeface="+mn-ea"/>
                <a:cs typeface="+mn-cs"/>
              </a:rPr>
              <a:t>samengestelde</a:t>
            </a:r>
            <a:r>
              <a:rPr kumimoji="0" lang="nl-NL" sz="2000" b="0" i="0" u="none" strike="noStrike" kern="1200" cap="none" spc="0" normalizeH="0" noProof="0" dirty="0" smtClean="0">
                <a:ln>
                  <a:noFill/>
                </a:ln>
                <a:solidFill>
                  <a:schemeClr val="tx1"/>
                </a:solidFill>
                <a:effectLst/>
                <a:uLnTx/>
                <a:uFillTx/>
                <a:latin typeface="+mn-lt"/>
                <a:ea typeface="+mn-ea"/>
                <a:cs typeface="+mn-cs"/>
              </a:rPr>
              <a:t> proposities.</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dirty="0" smtClean="0"/>
              <a:t>	</a:t>
            </a:r>
            <a:r>
              <a:rPr lang="nl-NL" dirty="0" smtClean="0"/>
              <a:t>Optica valt onder natuurkunde  (</a:t>
            </a:r>
            <a:r>
              <a:rPr lang="nl-NL" i="1" dirty="0" smtClean="0"/>
              <a:t>elementaire propositie:</a:t>
            </a:r>
            <a:r>
              <a:rPr lang="nl-NL" dirty="0" smtClean="0"/>
              <a:t> </a:t>
            </a:r>
            <a:r>
              <a:rPr lang="nl-NL" b="1" dirty="0" smtClean="0"/>
              <a:t>P</a:t>
            </a:r>
            <a:r>
              <a:rPr lang="nl-NL" dirty="0" smtClean="0"/>
              <a:t>)</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dirty="0" smtClean="0"/>
              <a:t>	</a:t>
            </a:r>
            <a:r>
              <a:rPr lang="nl-NL" dirty="0" smtClean="0"/>
              <a:t>Gras is groen (</a:t>
            </a:r>
            <a:r>
              <a:rPr lang="nl-NL" i="1" dirty="0" smtClean="0"/>
              <a:t>elementaire propositie:</a:t>
            </a:r>
            <a:r>
              <a:rPr lang="nl-NL" dirty="0" smtClean="0"/>
              <a:t> </a:t>
            </a:r>
            <a:r>
              <a:rPr lang="nl-NL" b="1" dirty="0" smtClean="0"/>
              <a:t>Q</a:t>
            </a:r>
            <a:r>
              <a:rPr lang="nl-NL" dirty="0" smtClean="0"/>
              <a:t>)     </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dirty="0" smtClean="0"/>
              <a:t>Optica</a:t>
            </a:r>
            <a:r>
              <a:rPr kumimoji="0" lang="nl-NL" b="0" i="0" u="none" strike="noStrike" kern="1200" cap="none" spc="0" normalizeH="0" baseline="0" noProof="0" dirty="0" smtClean="0">
                <a:ln>
                  <a:noFill/>
                </a:ln>
                <a:solidFill>
                  <a:schemeClr val="tx1"/>
                </a:solidFill>
                <a:effectLst/>
                <a:uLnTx/>
                <a:uFillTx/>
                <a:latin typeface="+mn-lt"/>
                <a:ea typeface="+mn-ea"/>
                <a:cs typeface="+mn-cs"/>
              </a:rPr>
              <a:t> valt onder</a:t>
            </a:r>
            <a:r>
              <a:rPr kumimoji="0" lang="nl-NL" b="0" i="0" u="none" strike="noStrike" kern="1200" cap="none" spc="0" normalizeH="0" noProof="0" dirty="0" smtClean="0">
                <a:ln>
                  <a:noFill/>
                </a:ln>
                <a:solidFill>
                  <a:schemeClr val="tx1"/>
                </a:solidFill>
                <a:effectLst/>
                <a:uLnTx/>
                <a:uFillTx/>
                <a:latin typeface="+mn-lt"/>
                <a:ea typeface="+mn-ea"/>
                <a:cs typeface="+mn-cs"/>
              </a:rPr>
              <a:t> </a:t>
            </a:r>
            <a:r>
              <a:rPr lang="nl-NL" dirty="0" smtClean="0"/>
              <a:t>natuurkunde</a:t>
            </a:r>
            <a:r>
              <a:rPr kumimoji="0" lang="nl-NL" b="0" i="0" u="none" strike="noStrike" kern="1200" cap="none" spc="0" normalizeH="0" baseline="0" noProof="0" dirty="0" smtClean="0">
                <a:ln>
                  <a:noFill/>
                </a:ln>
                <a:solidFill>
                  <a:schemeClr val="tx1"/>
                </a:solidFill>
                <a:effectLst/>
                <a:uLnTx/>
                <a:uFillTx/>
                <a:latin typeface="+mn-lt"/>
                <a:ea typeface="+mn-ea"/>
                <a:cs typeface="+mn-cs"/>
              </a:rPr>
              <a:t> en gras</a:t>
            </a:r>
            <a:r>
              <a:rPr kumimoji="0" lang="nl-NL" b="0" i="0" u="none" strike="noStrike" kern="1200" cap="none" spc="0" normalizeH="0" noProof="0" dirty="0" smtClean="0">
                <a:ln>
                  <a:noFill/>
                </a:ln>
                <a:solidFill>
                  <a:schemeClr val="tx1"/>
                </a:solidFill>
                <a:effectLst/>
                <a:uLnTx/>
                <a:uFillTx/>
                <a:latin typeface="+mn-lt"/>
                <a:ea typeface="+mn-ea"/>
                <a:cs typeface="+mn-cs"/>
              </a:rPr>
              <a:t> is groen (</a:t>
            </a:r>
            <a:r>
              <a:rPr kumimoji="0" lang="nl-NL" b="0" i="1" u="none" strike="noStrike" kern="1200" cap="none" spc="0" normalizeH="0" noProof="0" dirty="0" smtClean="0">
                <a:ln>
                  <a:noFill/>
                </a:ln>
                <a:solidFill>
                  <a:schemeClr val="tx1"/>
                </a:solidFill>
                <a:effectLst/>
                <a:uLnTx/>
                <a:uFillTx/>
                <a:latin typeface="+mn-lt"/>
                <a:ea typeface="+mn-ea"/>
                <a:cs typeface="+mn-cs"/>
              </a:rPr>
              <a:t>samengestelde propositie:</a:t>
            </a:r>
            <a:r>
              <a:rPr kumimoji="0" lang="nl-NL" b="0" i="0" u="none" strike="noStrike" kern="1200" cap="none" spc="0" normalizeH="0" noProof="0" dirty="0" smtClean="0">
                <a:ln>
                  <a:noFill/>
                </a:ln>
                <a:solidFill>
                  <a:schemeClr val="tx1"/>
                </a:solidFill>
                <a:effectLst/>
                <a:uLnTx/>
                <a:uFillTx/>
                <a:latin typeface="+mn-lt"/>
                <a:ea typeface="+mn-ea"/>
                <a:cs typeface="+mn-cs"/>
              </a:rPr>
              <a:t> </a:t>
            </a:r>
            <a:r>
              <a:rPr kumimoji="0" lang="nl-NL" b="1" i="0" u="none" strike="noStrike" kern="1200" cap="none" spc="0" normalizeH="0" noProof="0" dirty="0" smtClean="0">
                <a:ln>
                  <a:noFill/>
                </a:ln>
                <a:solidFill>
                  <a:schemeClr val="tx1"/>
                </a:solidFill>
                <a:effectLst/>
                <a:uLnTx/>
                <a:uFillTx/>
                <a:latin typeface="+mn-lt"/>
                <a:ea typeface="+mn-ea"/>
                <a:cs typeface="+mn-cs"/>
              </a:rPr>
              <a:t>P en Q</a:t>
            </a:r>
            <a:r>
              <a:rPr kumimoji="0" lang="nl-NL" i="0" u="none" strike="noStrike" kern="1200" cap="none" spc="0" normalizeH="0" noProof="0" dirty="0" smtClean="0">
                <a:ln>
                  <a:noFill/>
                </a:ln>
                <a:solidFill>
                  <a:schemeClr val="tx1"/>
                </a:solidFill>
                <a:effectLst/>
                <a:uLnTx/>
                <a:uFillTx/>
                <a:latin typeface="+mn-lt"/>
                <a:ea typeface="+mn-ea"/>
                <a:cs typeface="+mn-cs"/>
              </a:rPr>
              <a:t>)</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457200" y="3789040"/>
            <a:ext cx="8686800" cy="52578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Redeneringen die voor wat betreft hun vorm draaien om logische verbanden</a:t>
            </a:r>
            <a:r>
              <a:rPr kumimoji="0" lang="nl-NL" sz="2000" b="0" i="0" u="none" strike="noStrike" kern="1200" cap="none" spc="0" normalizeH="0" noProof="0" dirty="0" smtClean="0">
                <a:ln>
                  <a:noFill/>
                </a:ln>
                <a:solidFill>
                  <a:schemeClr val="tx1"/>
                </a:solidFill>
                <a:effectLst/>
                <a:uLnTx/>
                <a:uFillTx/>
                <a:latin typeface="+mn-lt"/>
                <a:ea typeface="+mn-ea"/>
                <a:cs typeface="+mn-cs"/>
              </a:rPr>
              <a:t> tussen proposities en/of de </a:t>
            </a:r>
            <a:r>
              <a:rPr kumimoji="0" lang="nl-NL" sz="2000" b="0" i="0" u="none" strike="noStrike" kern="1200" cap="none" spc="0" normalizeH="0" noProof="0" dirty="0" err="1" smtClean="0">
                <a:ln>
                  <a:noFill/>
                </a:ln>
                <a:solidFill>
                  <a:schemeClr val="tx1"/>
                </a:solidFill>
                <a:effectLst/>
                <a:uLnTx/>
                <a:uFillTx/>
                <a:latin typeface="+mn-lt"/>
                <a:ea typeface="+mn-ea"/>
                <a:cs typeface="+mn-cs"/>
              </a:rPr>
              <a:t>propositionele</a:t>
            </a:r>
            <a:r>
              <a:rPr kumimoji="0" lang="nl-NL" sz="2000" b="0" i="0" u="none" strike="noStrike" kern="1200" cap="none" spc="0" normalizeH="0" noProof="0" dirty="0" smtClean="0">
                <a:ln>
                  <a:noFill/>
                </a:ln>
                <a:solidFill>
                  <a:schemeClr val="tx1"/>
                </a:solidFill>
                <a:effectLst/>
                <a:uLnTx/>
                <a:uFillTx/>
                <a:latin typeface="+mn-lt"/>
                <a:ea typeface="+mn-ea"/>
                <a:cs typeface="+mn-cs"/>
              </a:rPr>
              <a:t> structuur van samengestelde proposities (en waarbij de interne structuur van elementaire proposities er niet toe doet) kunnen </a:t>
            </a:r>
            <a:r>
              <a:rPr lang="nl-NL" sz="2000" dirty="0" smtClean="0"/>
              <a:t>het beste worden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geanalyseerd </a:t>
            </a:r>
            <a:r>
              <a:rPr lang="nl-NL" sz="2000" dirty="0" smtClean="0"/>
              <a:t>met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de propositielogica.</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2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800" dirty="0" smtClean="0"/>
              <a:t>Welke van de volgende redeneringen dienen vanuit de propositielogica geanalyseerd te worden?</a:t>
            </a:r>
            <a:endParaRPr lang="nl-NL" sz="2800" dirty="0"/>
          </a:p>
        </p:txBody>
      </p:sp>
      <p:sp>
        <p:nvSpPr>
          <p:cNvPr id="3" name="Content Placeholder 2"/>
          <p:cNvSpPr>
            <a:spLocks noGrp="1"/>
          </p:cNvSpPr>
          <p:nvPr>
            <p:ph idx="1"/>
          </p:nvPr>
        </p:nvSpPr>
        <p:spPr>
          <a:xfrm>
            <a:off x="395536" y="1484784"/>
            <a:ext cx="3538736" cy="1468760"/>
          </a:xfrm>
        </p:spPr>
        <p:txBody>
          <a:bodyPr>
            <a:normAutofit/>
          </a:bodyPr>
          <a:lstStyle/>
          <a:p>
            <a:pPr>
              <a:buNone/>
            </a:pPr>
            <a:r>
              <a:rPr lang="nl-NL" sz="1800" dirty="0" smtClean="0"/>
              <a:t>1. </a:t>
            </a:r>
            <a:r>
              <a:rPr lang="nl-NL" sz="1800" dirty="0" err="1" smtClean="0"/>
              <a:t>Socrates</a:t>
            </a:r>
            <a:r>
              <a:rPr lang="nl-NL" sz="1800" dirty="0" smtClean="0"/>
              <a:t> is een mens</a:t>
            </a:r>
          </a:p>
          <a:p>
            <a:pPr>
              <a:buNone/>
            </a:pPr>
            <a:r>
              <a:rPr lang="nl-NL" sz="1800" dirty="0" smtClean="0"/>
              <a:t>2. Alle mensen zijn sterfelijk</a:t>
            </a:r>
          </a:p>
          <a:p>
            <a:pPr>
              <a:buNone/>
            </a:pPr>
            <a:r>
              <a:rPr lang="nl-NL" sz="1800" dirty="0" smtClean="0"/>
              <a:t>3. </a:t>
            </a:r>
            <a:r>
              <a:rPr lang="nl-NL" sz="1800" dirty="0" err="1" smtClean="0"/>
              <a:t>Socrates</a:t>
            </a:r>
            <a:r>
              <a:rPr lang="nl-NL" sz="1800" dirty="0" smtClean="0"/>
              <a:t> is sterfelijk</a:t>
            </a:r>
          </a:p>
          <a:p>
            <a:pPr>
              <a:buNone/>
            </a:pPr>
            <a:endParaRPr lang="nl-NL" sz="1800" dirty="0" smtClean="0"/>
          </a:p>
        </p:txBody>
      </p:sp>
      <p:sp>
        <p:nvSpPr>
          <p:cNvPr id="4" name="Content Placeholder 2"/>
          <p:cNvSpPr txBox="1">
            <a:spLocks/>
          </p:cNvSpPr>
          <p:nvPr/>
        </p:nvSpPr>
        <p:spPr>
          <a:xfrm>
            <a:off x="6084168" y="2968352"/>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De</a:t>
            </a:r>
            <a:r>
              <a:rPr kumimoji="0" lang="nl-NL" b="0" i="0" u="none" strike="noStrike" kern="1200" cap="none" spc="0" normalizeH="0" noProof="0" dirty="0" smtClean="0">
                <a:ln>
                  <a:noFill/>
                </a:ln>
                <a:solidFill>
                  <a:schemeClr val="tx1"/>
                </a:solidFill>
                <a:effectLst/>
                <a:uLnTx/>
                <a:uFillTx/>
                <a:latin typeface="+mn-lt"/>
                <a:ea typeface="+mn-ea"/>
                <a:cs typeface="+mn-cs"/>
              </a:rPr>
              <a:t>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6084168" y="4509120"/>
            <a:ext cx="4608512"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2 is een even getal</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3 is een </a:t>
            </a:r>
            <a:r>
              <a:rPr lang="nl-NL" dirty="0" smtClean="0"/>
              <a:t>even </a:t>
            </a:r>
            <a:r>
              <a:rPr kumimoji="0" lang="nl-NL" b="0" i="0" u="none" strike="noStrike" kern="1200" cap="none" spc="0" normalizeH="0" baseline="0" noProof="0" dirty="0" smtClean="0">
                <a:ln>
                  <a:noFill/>
                </a:ln>
                <a:solidFill>
                  <a:schemeClr val="tx1"/>
                </a:solidFill>
                <a:effectLst/>
                <a:uLnTx/>
                <a:uFillTx/>
                <a:latin typeface="+mn-lt"/>
                <a:ea typeface="+mn-ea"/>
                <a:cs typeface="+mn-cs"/>
              </a:rPr>
              <a:t>getal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2 en 3 zijn</a:t>
            </a:r>
            <a:r>
              <a:rPr lang="nl-NL" noProof="0" dirty="0" smtClean="0"/>
              <a:t> </a:t>
            </a:r>
            <a:r>
              <a:rPr lang="nl-NL" dirty="0" smtClean="0"/>
              <a:t>even getallen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193504" y="1484784"/>
            <a:ext cx="2746648"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b="0" i="0" u="none" strike="noStrike" kern="1200" cap="none" spc="0" normalizeH="0" noProof="0" dirty="0" smtClean="0">
                <a:ln>
                  <a:noFill/>
                </a:ln>
                <a:solidFill>
                  <a:schemeClr val="tx1"/>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Het regent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straten</a:t>
            </a:r>
            <a:r>
              <a:rPr kumimoji="0" lang="nl-NL" b="0" i="0" u="none" strike="noStrike" kern="1200" cap="none" spc="0" normalizeH="0" noProof="0" dirty="0" smtClean="0">
                <a:ln>
                  <a:noFill/>
                </a:ln>
                <a:solidFill>
                  <a:schemeClr val="tx1"/>
                </a:solidFill>
                <a:effectLst/>
                <a:uLnTx/>
                <a:uFillTx/>
                <a:latin typeface="+mn-lt"/>
                <a:ea typeface="+mn-ea"/>
                <a:cs typeface="+mn-cs"/>
              </a:rPr>
              <a:t> worden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084168" y="145618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 de</a:t>
            </a:r>
            <a:r>
              <a:rPr kumimoji="0" lang="nl-NL" b="0" i="0" u="none" strike="noStrike" kern="1200" cap="none" spc="0" normalizeH="0" noProof="0" dirty="0" smtClean="0">
                <a:ln>
                  <a:noFill/>
                </a:ln>
                <a:solidFill>
                  <a:schemeClr val="tx1"/>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De prijzen stijgen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De loonkosten stijgen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95536" y="2924944"/>
            <a:ext cx="2746648"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a:t>
            </a:r>
            <a:r>
              <a:rPr kumimoji="0" lang="nl-NL" b="0" i="0" u="none" strike="noStrike" kern="1200" cap="none" spc="0" normalizeH="0" noProof="0" dirty="0" smtClean="0">
                <a:ln>
                  <a:noFill/>
                </a:ln>
                <a:solidFill>
                  <a:schemeClr val="tx1"/>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Het</a:t>
            </a:r>
            <a:r>
              <a:rPr kumimoji="0" lang="nl-NL" b="0" i="0" u="none" strike="noStrike" kern="1200" cap="none" spc="0" normalizeH="0" noProof="0" dirty="0" smtClean="0">
                <a:ln>
                  <a:noFill/>
                </a:ln>
                <a:solidFill>
                  <a:schemeClr val="tx1"/>
                </a:solidFill>
                <a:effectLst/>
                <a:uLnTx/>
                <a:uFillTx/>
                <a:latin typeface="+mn-lt"/>
                <a:ea typeface="+mn-ea"/>
                <a:cs typeface="+mn-cs"/>
              </a:rPr>
              <a:t> regent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straten</a:t>
            </a:r>
            <a:r>
              <a:rPr kumimoji="0" lang="nl-NL" b="0" i="0" u="none" strike="noStrike" kern="1200" cap="none" spc="0" normalizeH="0" noProof="0" dirty="0" smtClean="0">
                <a:ln>
                  <a:noFill/>
                </a:ln>
                <a:solidFill>
                  <a:schemeClr val="tx1"/>
                </a:solidFill>
                <a:effectLst/>
                <a:uLnTx/>
                <a:uFillTx/>
                <a:latin typeface="+mn-lt"/>
                <a:ea typeface="+mn-ea"/>
                <a:cs typeface="+mn-cs"/>
              </a:rPr>
              <a:t> worden niet nat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3203848" y="292494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Als de</a:t>
            </a:r>
            <a:r>
              <a:rPr kumimoji="0" lang="nl-NL" b="0" i="0" u="none" strike="noStrike" kern="1200" cap="none" spc="0" normalizeH="0" noProof="0" dirty="0" smtClean="0">
                <a:ln>
                  <a:noFill/>
                </a:ln>
                <a:solidFill>
                  <a:schemeClr val="tx1"/>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De prijzen stijgen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a:t>
            </a:r>
            <a:r>
              <a:rPr lang="nl-NL" dirty="0" smtClean="0"/>
              <a:t>De loonkosten stijgen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95536" y="4509120"/>
            <a:ext cx="3960440"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noProof="0" dirty="0" smtClean="0"/>
              <a:t>De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niet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niet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203848" y="4509120"/>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dirty="0" smtClean="0"/>
              <a:t>Jan of Piet is de dader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Piet </a:t>
            </a:r>
            <a:r>
              <a:rPr lang="nl-NL" dirty="0" smtClean="0"/>
              <a:t>is onschuldig</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Jan is de dader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800" dirty="0" smtClean="0"/>
              <a:t>Welke van de volgende redeneringen dienen vanuit de propositielogica geanalyseerd te worden?</a:t>
            </a:r>
            <a:endParaRPr lang="nl-NL" sz="2800" dirty="0"/>
          </a:p>
        </p:txBody>
      </p:sp>
      <p:sp>
        <p:nvSpPr>
          <p:cNvPr id="3" name="Content Placeholder 2"/>
          <p:cNvSpPr>
            <a:spLocks noGrp="1"/>
          </p:cNvSpPr>
          <p:nvPr>
            <p:ph idx="1"/>
          </p:nvPr>
        </p:nvSpPr>
        <p:spPr>
          <a:xfrm>
            <a:off x="395536" y="1484784"/>
            <a:ext cx="3538736" cy="1468760"/>
          </a:xfrm>
        </p:spPr>
        <p:txBody>
          <a:bodyPr>
            <a:normAutofit/>
          </a:bodyPr>
          <a:lstStyle/>
          <a:p>
            <a:pPr>
              <a:buNone/>
            </a:pPr>
            <a:r>
              <a:rPr lang="nl-NL" sz="1800" dirty="0" smtClean="0"/>
              <a:t>1. </a:t>
            </a:r>
            <a:r>
              <a:rPr lang="nl-NL" sz="1800" dirty="0" err="1" smtClean="0"/>
              <a:t>Socrates</a:t>
            </a:r>
            <a:r>
              <a:rPr lang="nl-NL" sz="1800" dirty="0" smtClean="0"/>
              <a:t> is een mens</a:t>
            </a:r>
          </a:p>
          <a:p>
            <a:pPr>
              <a:buNone/>
            </a:pPr>
            <a:r>
              <a:rPr lang="nl-NL" sz="1800" dirty="0" smtClean="0"/>
              <a:t>2. Alle mensen zijn sterfelijk</a:t>
            </a:r>
          </a:p>
          <a:p>
            <a:pPr>
              <a:buNone/>
            </a:pPr>
            <a:r>
              <a:rPr lang="nl-NL" sz="1800" dirty="0" smtClean="0"/>
              <a:t>3. </a:t>
            </a:r>
            <a:r>
              <a:rPr lang="nl-NL" sz="1800" dirty="0" err="1" smtClean="0"/>
              <a:t>Socrates</a:t>
            </a:r>
            <a:r>
              <a:rPr lang="nl-NL" sz="1800" dirty="0" smtClean="0"/>
              <a:t> is sterfelijk</a:t>
            </a:r>
          </a:p>
          <a:p>
            <a:pPr>
              <a:buNone/>
            </a:pPr>
            <a:endParaRPr lang="nl-NL" sz="1800" dirty="0" smtClean="0"/>
          </a:p>
        </p:txBody>
      </p:sp>
      <p:sp>
        <p:nvSpPr>
          <p:cNvPr id="4" name="Content Placeholder 2"/>
          <p:cNvSpPr txBox="1">
            <a:spLocks/>
          </p:cNvSpPr>
          <p:nvPr/>
        </p:nvSpPr>
        <p:spPr>
          <a:xfrm>
            <a:off x="6084168" y="2968352"/>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De</a:t>
            </a:r>
            <a:r>
              <a:rPr kumimoji="0" lang="nl-NL" b="0" i="0" u="none" strike="noStrike" kern="1200" cap="none" spc="0" normalizeH="0" noProof="0" dirty="0" smtClean="0">
                <a:ln>
                  <a:noFill/>
                </a:ln>
                <a:solidFill>
                  <a:schemeClr val="tx1"/>
                </a:solidFill>
                <a:effectLst/>
                <a:uLnTx/>
                <a:uFillTx/>
                <a:latin typeface="+mn-lt"/>
                <a:ea typeface="+mn-ea"/>
                <a:cs typeface="+mn-cs"/>
              </a:rPr>
              <a:t>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6084168" y="4509120"/>
            <a:ext cx="4608512"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2 is een even getal</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3 is een </a:t>
            </a:r>
            <a:r>
              <a:rPr lang="nl-NL" dirty="0" smtClean="0">
                <a:solidFill>
                  <a:srgbClr val="0070C0"/>
                </a:solidFill>
              </a:rPr>
              <a:t>even </a:t>
            </a:r>
            <a:r>
              <a:rPr kumimoji="0" lang="nl-NL" b="0" i="0" u="none" strike="noStrike" kern="1200" cap="none" spc="0" normalizeH="0" baseline="0" noProof="0" dirty="0" smtClean="0">
                <a:ln>
                  <a:noFill/>
                </a:ln>
                <a:solidFill>
                  <a:srgbClr val="0070C0"/>
                </a:solidFill>
                <a:effectLst/>
                <a:uLnTx/>
                <a:uFillTx/>
                <a:latin typeface="+mn-lt"/>
                <a:ea typeface="+mn-ea"/>
                <a:cs typeface="+mn-cs"/>
              </a:rPr>
              <a:t>getal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2 en 3 zijn</a:t>
            </a:r>
            <a:r>
              <a:rPr lang="nl-NL" noProof="0" dirty="0" smtClean="0">
                <a:solidFill>
                  <a:srgbClr val="0070C0"/>
                </a:solidFill>
              </a:rPr>
              <a:t> even </a:t>
            </a:r>
            <a:r>
              <a:rPr lang="nl-NL" dirty="0" smtClean="0">
                <a:solidFill>
                  <a:srgbClr val="0070C0"/>
                </a:solidFill>
              </a:rPr>
              <a:t>getallen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6" name="Content Placeholder 2"/>
          <p:cNvSpPr txBox="1">
            <a:spLocks/>
          </p:cNvSpPr>
          <p:nvPr/>
        </p:nvSpPr>
        <p:spPr>
          <a:xfrm>
            <a:off x="3193504" y="1484784"/>
            <a:ext cx="2746648"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b="0" i="0" u="none" strike="noStrike" kern="1200" cap="none" spc="0" normalizeH="0" noProof="0" dirty="0" smtClean="0">
                <a:ln>
                  <a:noFill/>
                </a:ln>
                <a:solidFill>
                  <a:srgbClr val="0070C0"/>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Het regent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De straten</a:t>
            </a:r>
            <a:r>
              <a:rPr kumimoji="0" lang="nl-NL" b="0" i="0" u="none" strike="noStrike" kern="1200" cap="none" spc="0" normalizeH="0" noProof="0" dirty="0" smtClean="0">
                <a:ln>
                  <a:noFill/>
                </a:ln>
                <a:solidFill>
                  <a:srgbClr val="0070C0"/>
                </a:solidFill>
                <a:effectLst/>
                <a:uLnTx/>
                <a:uFillTx/>
                <a:latin typeface="+mn-lt"/>
                <a:ea typeface="+mn-ea"/>
                <a:cs typeface="+mn-cs"/>
              </a:rPr>
              <a:t> worden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7" name="Content Placeholder 2"/>
          <p:cNvSpPr txBox="1">
            <a:spLocks/>
          </p:cNvSpPr>
          <p:nvPr/>
        </p:nvSpPr>
        <p:spPr>
          <a:xfrm>
            <a:off x="6084168" y="145618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 de</a:t>
            </a:r>
            <a:r>
              <a:rPr kumimoji="0" lang="nl-NL" b="0" i="0" u="none" strike="noStrike" kern="1200" cap="none" spc="0" normalizeH="0" noProof="0" dirty="0" smtClean="0">
                <a:ln>
                  <a:noFill/>
                </a:ln>
                <a:solidFill>
                  <a:srgbClr val="0070C0"/>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De prijzen stijgen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De loonkosten stijgen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8" name="Content Placeholder 2"/>
          <p:cNvSpPr txBox="1">
            <a:spLocks/>
          </p:cNvSpPr>
          <p:nvPr/>
        </p:nvSpPr>
        <p:spPr>
          <a:xfrm>
            <a:off x="395536" y="2924944"/>
            <a:ext cx="2746648"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b="0" i="0" u="none" strike="noStrike" kern="1200" cap="none" spc="0" normalizeH="0" noProof="0" dirty="0" smtClean="0">
                <a:ln>
                  <a:noFill/>
                </a:ln>
                <a:solidFill>
                  <a:srgbClr val="0070C0"/>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Het</a:t>
            </a:r>
            <a:r>
              <a:rPr kumimoji="0" lang="nl-NL" b="0" i="0" u="none" strike="noStrike" kern="1200" cap="none" spc="0" normalizeH="0" noProof="0" dirty="0" smtClean="0">
                <a:ln>
                  <a:noFill/>
                </a:ln>
                <a:solidFill>
                  <a:srgbClr val="0070C0"/>
                </a:solidFill>
                <a:effectLst/>
                <a:uLnTx/>
                <a:uFillTx/>
                <a:latin typeface="+mn-lt"/>
                <a:ea typeface="+mn-ea"/>
                <a:cs typeface="+mn-cs"/>
              </a:rPr>
              <a:t> regent niet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De straten</a:t>
            </a:r>
            <a:r>
              <a:rPr kumimoji="0" lang="nl-NL" b="0" i="0" u="none" strike="noStrike" kern="1200" cap="none" spc="0" normalizeH="0" noProof="0" dirty="0" smtClean="0">
                <a:ln>
                  <a:noFill/>
                </a:ln>
                <a:solidFill>
                  <a:srgbClr val="0070C0"/>
                </a:solidFill>
                <a:effectLst/>
                <a:uLnTx/>
                <a:uFillTx/>
                <a:latin typeface="+mn-lt"/>
                <a:ea typeface="+mn-ea"/>
                <a:cs typeface="+mn-cs"/>
              </a:rPr>
              <a:t> worden niet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0" name="Content Placeholder 2"/>
          <p:cNvSpPr txBox="1">
            <a:spLocks/>
          </p:cNvSpPr>
          <p:nvPr/>
        </p:nvSpPr>
        <p:spPr>
          <a:xfrm>
            <a:off x="3203848" y="292494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 de</a:t>
            </a:r>
            <a:r>
              <a:rPr kumimoji="0" lang="nl-NL" b="0" i="0" u="none" strike="noStrike" kern="1200" cap="none" spc="0" normalizeH="0" noProof="0" dirty="0" smtClean="0">
                <a:ln>
                  <a:noFill/>
                </a:ln>
                <a:solidFill>
                  <a:srgbClr val="0070C0"/>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De prijzen stijgen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De loonkosten stijgen niet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1" name="Content Placeholder 2"/>
          <p:cNvSpPr txBox="1">
            <a:spLocks/>
          </p:cNvSpPr>
          <p:nvPr/>
        </p:nvSpPr>
        <p:spPr>
          <a:xfrm>
            <a:off x="395536" y="4509120"/>
            <a:ext cx="3960440"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1. </a:t>
            </a:r>
            <a:r>
              <a:rPr lang="nl-NL" noProof="0" dirty="0" smtClean="0"/>
              <a:t>De maan is van kaas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2. Alles wat van kaas is,</a:t>
            </a:r>
            <a:r>
              <a:rPr kumimoji="0" lang="nl-NL" b="0" i="0" u="none" strike="noStrike" kern="1200" cap="none" spc="0" normalizeH="0" noProof="0" dirty="0" smtClean="0">
                <a:ln>
                  <a:noFill/>
                </a:ln>
                <a:solidFill>
                  <a:schemeClr val="tx1"/>
                </a:solidFill>
                <a:effectLst/>
                <a:uLnTx/>
                <a:uFillTx/>
                <a:latin typeface="+mn-lt"/>
                <a:ea typeface="+mn-ea"/>
                <a:cs typeface="+mn-cs"/>
              </a:rPr>
              <a:t>                                       is niet eetbaar</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3. De maan is niet                                    eetbaar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203848" y="4509120"/>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Jan of Piet is de dader</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Piet </a:t>
            </a:r>
            <a:r>
              <a:rPr lang="nl-NL" dirty="0" smtClean="0">
                <a:solidFill>
                  <a:srgbClr val="0070C0"/>
                </a:solidFill>
              </a:rPr>
              <a:t>is onschuldig</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Jan is de dader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800" dirty="0" smtClean="0"/>
              <a:t>Welke van de volgende redeneringen dienen vanuit de propositielogica geanalyseerd te worden?</a:t>
            </a:r>
            <a:endParaRPr lang="nl-NL" sz="2800" dirty="0"/>
          </a:p>
        </p:txBody>
      </p:sp>
      <p:sp>
        <p:nvSpPr>
          <p:cNvPr id="5" name="Content Placeholder 2"/>
          <p:cNvSpPr txBox="1">
            <a:spLocks/>
          </p:cNvSpPr>
          <p:nvPr/>
        </p:nvSpPr>
        <p:spPr>
          <a:xfrm>
            <a:off x="6084168" y="4509120"/>
            <a:ext cx="4608512"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2 is een even getal</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3 is een </a:t>
            </a:r>
            <a:r>
              <a:rPr lang="nl-NL" dirty="0" smtClean="0">
                <a:solidFill>
                  <a:srgbClr val="0070C0"/>
                </a:solidFill>
              </a:rPr>
              <a:t>even </a:t>
            </a:r>
            <a:r>
              <a:rPr kumimoji="0" lang="nl-NL" b="0" i="0" u="none" strike="noStrike" kern="1200" cap="none" spc="0" normalizeH="0" baseline="0" noProof="0" dirty="0" smtClean="0">
                <a:ln>
                  <a:noFill/>
                </a:ln>
                <a:solidFill>
                  <a:srgbClr val="0070C0"/>
                </a:solidFill>
                <a:effectLst/>
                <a:uLnTx/>
                <a:uFillTx/>
                <a:latin typeface="+mn-lt"/>
                <a:ea typeface="+mn-ea"/>
                <a:cs typeface="+mn-cs"/>
              </a:rPr>
              <a:t>getal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2 en 3 zijn</a:t>
            </a:r>
            <a:r>
              <a:rPr lang="nl-NL" noProof="0" dirty="0" smtClean="0">
                <a:solidFill>
                  <a:srgbClr val="0070C0"/>
                </a:solidFill>
              </a:rPr>
              <a:t> even </a:t>
            </a:r>
            <a:r>
              <a:rPr lang="nl-NL" dirty="0" smtClean="0">
                <a:solidFill>
                  <a:srgbClr val="0070C0"/>
                </a:solidFill>
              </a:rPr>
              <a:t>getallen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6" name="Content Placeholder 2"/>
          <p:cNvSpPr txBox="1">
            <a:spLocks/>
          </p:cNvSpPr>
          <p:nvPr/>
        </p:nvSpPr>
        <p:spPr>
          <a:xfrm>
            <a:off x="3193504" y="1484784"/>
            <a:ext cx="2746648"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b="0" i="0" u="none" strike="noStrike" kern="1200" cap="none" spc="0" normalizeH="0" noProof="0" dirty="0" smtClean="0">
                <a:ln>
                  <a:noFill/>
                </a:ln>
                <a:solidFill>
                  <a:srgbClr val="0070C0"/>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Het regent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De straten</a:t>
            </a:r>
            <a:r>
              <a:rPr kumimoji="0" lang="nl-NL" b="0" i="0" u="none" strike="noStrike" kern="1200" cap="none" spc="0" normalizeH="0" noProof="0" dirty="0" smtClean="0">
                <a:ln>
                  <a:noFill/>
                </a:ln>
                <a:solidFill>
                  <a:srgbClr val="0070C0"/>
                </a:solidFill>
                <a:effectLst/>
                <a:uLnTx/>
                <a:uFillTx/>
                <a:latin typeface="+mn-lt"/>
                <a:ea typeface="+mn-ea"/>
                <a:cs typeface="+mn-cs"/>
              </a:rPr>
              <a:t> worden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7" name="Content Placeholder 2"/>
          <p:cNvSpPr txBox="1">
            <a:spLocks/>
          </p:cNvSpPr>
          <p:nvPr/>
        </p:nvSpPr>
        <p:spPr>
          <a:xfrm>
            <a:off x="6084168" y="145618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 de</a:t>
            </a:r>
            <a:r>
              <a:rPr kumimoji="0" lang="nl-NL" b="0" i="0" u="none" strike="noStrike" kern="1200" cap="none" spc="0" normalizeH="0" noProof="0" dirty="0" smtClean="0">
                <a:ln>
                  <a:noFill/>
                </a:ln>
                <a:solidFill>
                  <a:srgbClr val="0070C0"/>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De prijzen stijgen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De loonkosten stijgen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8" name="Content Placeholder 2"/>
          <p:cNvSpPr txBox="1">
            <a:spLocks/>
          </p:cNvSpPr>
          <p:nvPr/>
        </p:nvSpPr>
        <p:spPr>
          <a:xfrm>
            <a:off x="395536" y="2924944"/>
            <a:ext cx="2746648"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b="0" i="0" u="none" strike="noStrike" kern="1200" cap="none" spc="0" normalizeH="0" noProof="0" dirty="0" smtClean="0">
                <a:ln>
                  <a:noFill/>
                </a:ln>
                <a:solidFill>
                  <a:srgbClr val="0070C0"/>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Het</a:t>
            </a:r>
            <a:r>
              <a:rPr kumimoji="0" lang="nl-NL" b="0" i="0" u="none" strike="noStrike" kern="1200" cap="none" spc="0" normalizeH="0" noProof="0" dirty="0" smtClean="0">
                <a:ln>
                  <a:noFill/>
                </a:ln>
                <a:solidFill>
                  <a:srgbClr val="0070C0"/>
                </a:solidFill>
                <a:effectLst/>
                <a:uLnTx/>
                <a:uFillTx/>
                <a:latin typeface="+mn-lt"/>
                <a:ea typeface="+mn-ea"/>
                <a:cs typeface="+mn-cs"/>
              </a:rPr>
              <a:t> regent niet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De straten</a:t>
            </a:r>
            <a:r>
              <a:rPr kumimoji="0" lang="nl-NL" b="0" i="0" u="none" strike="noStrike" kern="1200" cap="none" spc="0" normalizeH="0" noProof="0" dirty="0" smtClean="0">
                <a:ln>
                  <a:noFill/>
                </a:ln>
                <a:solidFill>
                  <a:srgbClr val="0070C0"/>
                </a:solidFill>
                <a:effectLst/>
                <a:uLnTx/>
                <a:uFillTx/>
                <a:latin typeface="+mn-lt"/>
                <a:ea typeface="+mn-ea"/>
                <a:cs typeface="+mn-cs"/>
              </a:rPr>
              <a:t> worden niet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0" name="Content Placeholder 2"/>
          <p:cNvSpPr txBox="1">
            <a:spLocks/>
          </p:cNvSpPr>
          <p:nvPr/>
        </p:nvSpPr>
        <p:spPr>
          <a:xfrm>
            <a:off x="3203848" y="292494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 de</a:t>
            </a:r>
            <a:r>
              <a:rPr kumimoji="0" lang="nl-NL" b="0" i="0" u="none" strike="noStrike" kern="1200" cap="none" spc="0" normalizeH="0" noProof="0" dirty="0" smtClean="0">
                <a:ln>
                  <a:noFill/>
                </a:ln>
                <a:solidFill>
                  <a:srgbClr val="0070C0"/>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De prijzen stijgen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De loonkosten stijgen niet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3" name="Content Placeholder 2"/>
          <p:cNvSpPr txBox="1">
            <a:spLocks/>
          </p:cNvSpPr>
          <p:nvPr/>
        </p:nvSpPr>
        <p:spPr>
          <a:xfrm>
            <a:off x="3203848" y="4509120"/>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Jan of Piet is de dader</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Piet </a:t>
            </a:r>
            <a:r>
              <a:rPr lang="nl-NL" dirty="0" smtClean="0">
                <a:solidFill>
                  <a:srgbClr val="0070C0"/>
                </a:solidFill>
              </a:rPr>
              <a:t>is onschuldig</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Jan is de dader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800" dirty="0" smtClean="0"/>
              <a:t>En deze analyse ziet er dan als volgt uit…</a:t>
            </a:r>
            <a:endParaRPr lang="nl-NL" sz="2800" dirty="0"/>
          </a:p>
        </p:txBody>
      </p:sp>
      <p:sp>
        <p:nvSpPr>
          <p:cNvPr id="12" name="Content Placeholder 2"/>
          <p:cNvSpPr txBox="1">
            <a:spLocks/>
          </p:cNvSpPr>
          <p:nvPr/>
        </p:nvSpPr>
        <p:spPr>
          <a:xfrm>
            <a:off x="3265512"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sz="1800" b="0" i="0" u="none" strike="noStrike" kern="1200" cap="none" spc="0" normalizeH="0" noProof="0" dirty="0" smtClean="0">
                <a:ln>
                  <a:noFill/>
                </a:ln>
                <a:solidFill>
                  <a:srgbClr val="0070C0"/>
                </a:solidFill>
                <a:effectLst/>
                <a:uLnTx/>
                <a:uFillTx/>
                <a:latin typeface="+mn-lt"/>
                <a:ea typeface="+mn-ea"/>
                <a:cs typeface="+mn-cs"/>
              </a:rPr>
              <a:t> P, dan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4" name="Content Placeholder 2"/>
          <p:cNvSpPr txBox="1">
            <a:spLocks/>
          </p:cNvSpPr>
          <p:nvPr/>
        </p:nvSpPr>
        <p:spPr>
          <a:xfrm>
            <a:off x="6084168"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sz="1800" b="0" i="0" u="none" strike="noStrike" kern="1200" cap="none" spc="0" normalizeH="0" noProof="0" dirty="0" smtClean="0">
                <a:ln>
                  <a:noFill/>
                </a:ln>
                <a:solidFill>
                  <a:srgbClr val="0070C0"/>
                </a:solidFill>
                <a:effectLst/>
                <a:uLnTx/>
                <a:uFillTx/>
                <a:latin typeface="+mn-lt"/>
                <a:ea typeface="+mn-ea"/>
                <a:cs typeface="+mn-cs"/>
              </a:rPr>
              <a:t> P, dan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7" name="Content Placeholder 2"/>
          <p:cNvSpPr txBox="1">
            <a:spLocks/>
          </p:cNvSpPr>
          <p:nvPr/>
        </p:nvSpPr>
        <p:spPr>
          <a:xfrm>
            <a:off x="467544"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Als P, dan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dirty="0" err="1" smtClean="0">
                <a:solidFill>
                  <a:srgbClr val="0070C0"/>
                </a:solidFill>
              </a:rPr>
              <a:t>niet-P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err="1" smtClean="0">
                <a:solidFill>
                  <a:srgbClr val="0070C0"/>
                </a:solidFill>
              </a:rPr>
              <a:t>niet-Q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8" name="Content Placeholder 2"/>
          <p:cNvSpPr txBox="1">
            <a:spLocks/>
          </p:cNvSpPr>
          <p:nvPr/>
        </p:nvSpPr>
        <p:spPr>
          <a:xfrm>
            <a:off x="3265512"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Als P, dan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dirty="0" err="1" smtClean="0">
                <a:solidFill>
                  <a:srgbClr val="0070C0"/>
                </a:solidFill>
              </a:rPr>
              <a:t>niet-Q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err="1" smtClean="0">
                <a:solidFill>
                  <a:srgbClr val="0070C0"/>
                </a:solidFill>
              </a:rPr>
              <a:t>niet-P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9" name="Content Placeholder 2"/>
          <p:cNvSpPr txBox="1">
            <a:spLocks/>
          </p:cNvSpPr>
          <p:nvPr/>
        </p:nvSpPr>
        <p:spPr>
          <a:xfrm>
            <a:off x="3265512"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 of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noProof="0" dirty="0" err="1" smtClean="0">
                <a:solidFill>
                  <a:srgbClr val="0070C0"/>
                </a:solidFill>
              </a:rPr>
              <a:t>niet-Q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0" name="Content Placeholder 2"/>
          <p:cNvSpPr txBox="1">
            <a:spLocks/>
          </p:cNvSpPr>
          <p:nvPr/>
        </p:nvSpPr>
        <p:spPr>
          <a:xfrm>
            <a:off x="608416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 en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1" name="TextBox 20"/>
          <p:cNvSpPr txBox="1"/>
          <p:nvPr/>
        </p:nvSpPr>
        <p:spPr>
          <a:xfrm>
            <a:off x="4211960" y="2204864"/>
            <a:ext cx="1008112" cy="369332"/>
          </a:xfrm>
          <a:prstGeom prst="rect">
            <a:avLst/>
          </a:prstGeom>
          <a:noFill/>
        </p:spPr>
        <p:txBody>
          <a:bodyPr wrap="square" rtlCol="0">
            <a:spAutoFit/>
          </a:bodyPr>
          <a:lstStyle/>
          <a:p>
            <a:r>
              <a:rPr lang="nl-NL" b="1" i="1" dirty="0" smtClean="0"/>
              <a:t>Geldig</a:t>
            </a:r>
            <a:endParaRPr lang="nl-NL" b="1" i="1" dirty="0"/>
          </a:p>
        </p:txBody>
      </p:sp>
      <p:sp>
        <p:nvSpPr>
          <p:cNvPr id="22" name="TextBox 21"/>
          <p:cNvSpPr txBox="1"/>
          <p:nvPr/>
        </p:nvSpPr>
        <p:spPr>
          <a:xfrm>
            <a:off x="7164288" y="2132856"/>
            <a:ext cx="1368152" cy="369332"/>
          </a:xfrm>
          <a:prstGeom prst="rect">
            <a:avLst/>
          </a:prstGeom>
          <a:noFill/>
        </p:spPr>
        <p:txBody>
          <a:bodyPr wrap="square" rtlCol="0">
            <a:spAutoFit/>
          </a:bodyPr>
          <a:lstStyle/>
          <a:p>
            <a:r>
              <a:rPr lang="nl-NL" b="1" i="1" dirty="0" smtClean="0"/>
              <a:t>Ongeldig</a:t>
            </a:r>
            <a:endParaRPr lang="nl-NL" b="1" i="1" dirty="0"/>
          </a:p>
        </p:txBody>
      </p:sp>
      <p:sp>
        <p:nvSpPr>
          <p:cNvPr id="23" name="TextBox 22"/>
          <p:cNvSpPr txBox="1"/>
          <p:nvPr/>
        </p:nvSpPr>
        <p:spPr>
          <a:xfrm>
            <a:off x="1475656" y="3923764"/>
            <a:ext cx="1296144" cy="369332"/>
          </a:xfrm>
          <a:prstGeom prst="rect">
            <a:avLst/>
          </a:prstGeom>
          <a:noFill/>
        </p:spPr>
        <p:txBody>
          <a:bodyPr wrap="square" rtlCol="0">
            <a:spAutoFit/>
          </a:bodyPr>
          <a:lstStyle/>
          <a:p>
            <a:r>
              <a:rPr lang="nl-NL" b="1" i="1" dirty="0" smtClean="0"/>
              <a:t>Ongeldig</a:t>
            </a:r>
            <a:endParaRPr lang="nl-NL" b="1" i="1" dirty="0"/>
          </a:p>
        </p:txBody>
      </p:sp>
      <p:sp>
        <p:nvSpPr>
          <p:cNvPr id="24" name="TextBox 23"/>
          <p:cNvSpPr txBox="1"/>
          <p:nvPr/>
        </p:nvSpPr>
        <p:spPr>
          <a:xfrm>
            <a:off x="4283968" y="3923764"/>
            <a:ext cx="1296144" cy="369332"/>
          </a:xfrm>
          <a:prstGeom prst="rect">
            <a:avLst/>
          </a:prstGeom>
          <a:noFill/>
        </p:spPr>
        <p:txBody>
          <a:bodyPr wrap="square" rtlCol="0">
            <a:spAutoFit/>
          </a:bodyPr>
          <a:lstStyle/>
          <a:p>
            <a:r>
              <a:rPr lang="nl-NL" b="1" i="1" dirty="0" smtClean="0"/>
              <a:t>Geldig</a:t>
            </a:r>
            <a:endParaRPr lang="nl-NL" b="1" i="1" dirty="0"/>
          </a:p>
        </p:txBody>
      </p:sp>
      <p:sp>
        <p:nvSpPr>
          <p:cNvPr id="25" name="TextBox 24"/>
          <p:cNvSpPr txBox="1"/>
          <p:nvPr/>
        </p:nvSpPr>
        <p:spPr>
          <a:xfrm>
            <a:off x="4283968" y="5435932"/>
            <a:ext cx="1296144" cy="369332"/>
          </a:xfrm>
          <a:prstGeom prst="rect">
            <a:avLst/>
          </a:prstGeom>
          <a:noFill/>
        </p:spPr>
        <p:txBody>
          <a:bodyPr wrap="square" rtlCol="0">
            <a:spAutoFit/>
          </a:bodyPr>
          <a:lstStyle/>
          <a:p>
            <a:r>
              <a:rPr lang="nl-NL" b="1" i="1" dirty="0" smtClean="0"/>
              <a:t>Geldig</a:t>
            </a:r>
            <a:endParaRPr lang="nl-NL" b="1" i="1" dirty="0"/>
          </a:p>
        </p:txBody>
      </p:sp>
      <p:sp>
        <p:nvSpPr>
          <p:cNvPr id="26" name="TextBox 25"/>
          <p:cNvSpPr txBox="1"/>
          <p:nvPr/>
        </p:nvSpPr>
        <p:spPr>
          <a:xfrm>
            <a:off x="7164288" y="5435932"/>
            <a:ext cx="1296144" cy="369332"/>
          </a:xfrm>
          <a:prstGeom prst="rect">
            <a:avLst/>
          </a:prstGeom>
          <a:noFill/>
        </p:spPr>
        <p:txBody>
          <a:bodyPr wrap="square" rtlCol="0">
            <a:spAutoFit/>
          </a:bodyPr>
          <a:lstStyle/>
          <a:p>
            <a:r>
              <a:rPr lang="nl-NL" b="1" i="1" dirty="0" smtClean="0"/>
              <a:t>Geldig</a:t>
            </a:r>
            <a:endParaRPr lang="nl-NL"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fade">
                                      <p:cBhvr>
                                        <p:cTn id="7" dur="2000"/>
                                        <p:tgtEl>
                                          <p:spTgt spid="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20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xEl>
                                              <p:pRg st="0" end="0"/>
                                            </p:txEl>
                                          </p:spTgt>
                                        </p:tgtEl>
                                        <p:attrNameLst>
                                          <p:attrName>style.visibility</p:attrName>
                                        </p:attrNameLst>
                                      </p:cBhvr>
                                      <p:to>
                                        <p:strVal val="visible"/>
                                      </p:to>
                                    </p:set>
                                    <p:animEffect transition="in" filter="fade">
                                      <p:cBhvr>
                                        <p:cTn id="17" dur="2000"/>
                                        <p:tgtEl>
                                          <p:spTgt spid="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fade">
                                      <p:cBhvr>
                                        <p:cTn id="22" dur="2000"/>
                                        <p:tgtEl>
                                          <p:spTgt spid="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2000"/>
                                        <p:tgtEl>
                                          <p:spTgt spid="25">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xEl>
                                              <p:pRg st="0" end="0"/>
                                            </p:txEl>
                                          </p:spTgt>
                                        </p:tgtEl>
                                        <p:attrNameLst>
                                          <p:attrName>style.visibility</p:attrName>
                                        </p:attrNameLst>
                                      </p:cBhvr>
                                      <p:to>
                                        <p:strVal val="visible"/>
                                      </p:to>
                                    </p:set>
                                    <p:animEffect transition="in" filter="fade">
                                      <p:cBhvr>
                                        <p:cTn id="32" dur="20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allAtOnce"/>
      <p:bldP spid="22" grpId="0" build="allAtOnce"/>
      <p:bldP spid="23" grpId="0" build="allAtOnce"/>
      <p:bldP spid="24" grpId="0" build="allAtOnce"/>
      <p:bldP spid="25" grpId="0" build="allAtOnce"/>
      <p:bldP spid="26" grpId="0"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800" dirty="0" smtClean="0"/>
              <a:t>En dus…</a:t>
            </a:r>
            <a:endParaRPr lang="nl-NL" sz="2800" dirty="0"/>
          </a:p>
        </p:txBody>
      </p:sp>
      <p:sp>
        <p:nvSpPr>
          <p:cNvPr id="5" name="Content Placeholder 2"/>
          <p:cNvSpPr txBox="1">
            <a:spLocks/>
          </p:cNvSpPr>
          <p:nvPr/>
        </p:nvSpPr>
        <p:spPr>
          <a:xfrm>
            <a:off x="6084168" y="4509120"/>
            <a:ext cx="4608512"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2 is een even getal</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3 is een </a:t>
            </a:r>
            <a:r>
              <a:rPr lang="nl-NL" dirty="0" smtClean="0">
                <a:solidFill>
                  <a:srgbClr val="0070C0"/>
                </a:solidFill>
              </a:rPr>
              <a:t>even </a:t>
            </a:r>
            <a:r>
              <a:rPr kumimoji="0" lang="nl-NL" b="0" i="0" u="none" strike="noStrike" kern="1200" cap="none" spc="0" normalizeH="0" baseline="0" noProof="0" dirty="0" smtClean="0">
                <a:ln>
                  <a:noFill/>
                </a:ln>
                <a:solidFill>
                  <a:srgbClr val="0070C0"/>
                </a:solidFill>
                <a:effectLst/>
                <a:uLnTx/>
                <a:uFillTx/>
                <a:latin typeface="+mn-lt"/>
                <a:ea typeface="+mn-ea"/>
                <a:cs typeface="+mn-cs"/>
              </a:rPr>
              <a:t>getal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2 en </a:t>
            </a:r>
            <a:r>
              <a:rPr lang="nl-NL" dirty="0" smtClean="0">
                <a:solidFill>
                  <a:srgbClr val="0070C0"/>
                </a:solidFill>
              </a:rPr>
              <a:t>3 </a:t>
            </a:r>
            <a:r>
              <a:rPr kumimoji="0" lang="nl-NL" b="0" i="0" u="none" strike="noStrike" kern="1200" cap="none" spc="0" normalizeH="0" baseline="0" noProof="0" dirty="0" smtClean="0">
                <a:ln>
                  <a:noFill/>
                </a:ln>
                <a:solidFill>
                  <a:srgbClr val="0070C0"/>
                </a:solidFill>
                <a:effectLst/>
                <a:uLnTx/>
                <a:uFillTx/>
                <a:latin typeface="+mn-lt"/>
                <a:ea typeface="+mn-ea"/>
                <a:cs typeface="+mn-cs"/>
              </a:rPr>
              <a:t>zijn</a:t>
            </a:r>
            <a:r>
              <a:rPr lang="nl-NL" noProof="0" dirty="0" smtClean="0">
                <a:solidFill>
                  <a:srgbClr val="0070C0"/>
                </a:solidFill>
              </a:rPr>
              <a:t> even </a:t>
            </a:r>
            <a:r>
              <a:rPr lang="nl-NL" dirty="0" smtClean="0">
                <a:solidFill>
                  <a:srgbClr val="0070C0"/>
                </a:solidFill>
              </a:rPr>
              <a:t>getallen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6" name="Content Placeholder 2"/>
          <p:cNvSpPr txBox="1">
            <a:spLocks/>
          </p:cNvSpPr>
          <p:nvPr/>
        </p:nvSpPr>
        <p:spPr>
          <a:xfrm>
            <a:off x="3193504" y="1484784"/>
            <a:ext cx="2746648"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b="0" i="0" u="none" strike="noStrike" kern="1200" cap="none" spc="0" normalizeH="0" noProof="0" dirty="0" smtClean="0">
                <a:ln>
                  <a:noFill/>
                </a:ln>
                <a:solidFill>
                  <a:srgbClr val="0070C0"/>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Het regent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De straten</a:t>
            </a:r>
            <a:r>
              <a:rPr kumimoji="0" lang="nl-NL" b="0" i="0" u="none" strike="noStrike" kern="1200" cap="none" spc="0" normalizeH="0" noProof="0" dirty="0" smtClean="0">
                <a:ln>
                  <a:noFill/>
                </a:ln>
                <a:solidFill>
                  <a:srgbClr val="0070C0"/>
                </a:solidFill>
                <a:effectLst/>
                <a:uLnTx/>
                <a:uFillTx/>
                <a:latin typeface="+mn-lt"/>
                <a:ea typeface="+mn-ea"/>
                <a:cs typeface="+mn-cs"/>
              </a:rPr>
              <a:t> worden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7" name="Content Placeholder 2"/>
          <p:cNvSpPr txBox="1">
            <a:spLocks/>
          </p:cNvSpPr>
          <p:nvPr/>
        </p:nvSpPr>
        <p:spPr>
          <a:xfrm>
            <a:off x="6084168" y="145618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 de</a:t>
            </a:r>
            <a:r>
              <a:rPr kumimoji="0" lang="nl-NL" b="0" i="0" u="none" strike="noStrike" kern="1200" cap="none" spc="0" normalizeH="0" noProof="0" dirty="0" smtClean="0">
                <a:ln>
                  <a:noFill/>
                </a:ln>
                <a:solidFill>
                  <a:srgbClr val="0070C0"/>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De prijzen stijgen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De loonkosten stijgen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8" name="Content Placeholder 2"/>
          <p:cNvSpPr txBox="1">
            <a:spLocks/>
          </p:cNvSpPr>
          <p:nvPr/>
        </p:nvSpPr>
        <p:spPr>
          <a:xfrm>
            <a:off x="395536" y="2924944"/>
            <a:ext cx="2746648" cy="1468760"/>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a:t>
            </a:r>
            <a:r>
              <a:rPr kumimoji="0" lang="nl-NL" b="0" i="0" u="none" strike="noStrike" kern="1200" cap="none" spc="0" normalizeH="0" noProof="0" dirty="0" smtClean="0">
                <a:ln>
                  <a:noFill/>
                </a:ln>
                <a:solidFill>
                  <a:srgbClr val="0070C0"/>
                </a:solidFill>
                <a:effectLst/>
                <a:uLnTx/>
                <a:uFillTx/>
                <a:latin typeface="+mn-lt"/>
                <a:ea typeface="+mn-ea"/>
                <a:cs typeface="+mn-cs"/>
              </a:rPr>
              <a:t> het regent, dan worden de straten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Het</a:t>
            </a:r>
            <a:r>
              <a:rPr kumimoji="0" lang="nl-NL" b="0" i="0" u="none" strike="noStrike" kern="1200" cap="none" spc="0" normalizeH="0" noProof="0" dirty="0" smtClean="0">
                <a:ln>
                  <a:noFill/>
                </a:ln>
                <a:solidFill>
                  <a:srgbClr val="0070C0"/>
                </a:solidFill>
                <a:effectLst/>
                <a:uLnTx/>
                <a:uFillTx/>
                <a:latin typeface="+mn-lt"/>
                <a:ea typeface="+mn-ea"/>
                <a:cs typeface="+mn-cs"/>
              </a:rPr>
              <a:t> regent niet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De straten</a:t>
            </a:r>
            <a:r>
              <a:rPr kumimoji="0" lang="nl-NL" b="0" i="0" u="none" strike="noStrike" kern="1200" cap="none" spc="0" normalizeH="0" noProof="0" dirty="0" smtClean="0">
                <a:ln>
                  <a:noFill/>
                </a:ln>
                <a:solidFill>
                  <a:srgbClr val="0070C0"/>
                </a:solidFill>
                <a:effectLst/>
                <a:uLnTx/>
                <a:uFillTx/>
                <a:latin typeface="+mn-lt"/>
                <a:ea typeface="+mn-ea"/>
                <a:cs typeface="+mn-cs"/>
              </a:rPr>
              <a:t> worden niet nat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0" name="Content Placeholder 2"/>
          <p:cNvSpPr txBox="1">
            <a:spLocks/>
          </p:cNvSpPr>
          <p:nvPr/>
        </p:nvSpPr>
        <p:spPr>
          <a:xfrm>
            <a:off x="3203848" y="2924944"/>
            <a:ext cx="288032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Als de</a:t>
            </a:r>
            <a:r>
              <a:rPr kumimoji="0" lang="nl-NL" b="0" i="0" u="none" strike="noStrike" kern="1200" cap="none" spc="0" normalizeH="0" noProof="0" dirty="0" smtClean="0">
                <a:ln>
                  <a:noFill/>
                </a:ln>
                <a:solidFill>
                  <a:srgbClr val="0070C0"/>
                </a:solidFill>
                <a:effectLst/>
                <a:uLnTx/>
                <a:uFillTx/>
                <a:latin typeface="+mn-lt"/>
                <a:ea typeface="+mn-ea"/>
                <a:cs typeface="+mn-cs"/>
              </a:rPr>
              <a:t> loonkosten stijgen,                                                                dan stijgen de prijzen</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De prijzen stijgen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De loonkosten stijgen niet</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3" name="Content Placeholder 2"/>
          <p:cNvSpPr txBox="1">
            <a:spLocks/>
          </p:cNvSpPr>
          <p:nvPr/>
        </p:nvSpPr>
        <p:spPr>
          <a:xfrm>
            <a:off x="3203848" y="4509120"/>
            <a:ext cx="3960440"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Jan of Piet is de dader</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2. Piet </a:t>
            </a:r>
            <a:r>
              <a:rPr lang="nl-NL" dirty="0" smtClean="0">
                <a:solidFill>
                  <a:srgbClr val="0070C0"/>
                </a:solidFill>
              </a:rPr>
              <a:t>is onschuldig</a:t>
            </a: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0" i="0" u="none" strike="noStrike" kern="1200" cap="none" spc="0" normalizeH="0" baseline="0" noProof="0" dirty="0" smtClean="0">
                <a:ln>
                  <a:noFill/>
                </a:ln>
                <a:solidFill>
                  <a:srgbClr val="0070C0"/>
                </a:solidFill>
                <a:effectLst/>
                <a:uLnTx/>
                <a:uFillTx/>
                <a:latin typeface="+mn-lt"/>
                <a:ea typeface="+mn-ea"/>
                <a:cs typeface="+mn-cs"/>
              </a:rPr>
              <a:t>3. Jan is de dader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9" name="TextBox 8"/>
          <p:cNvSpPr txBox="1"/>
          <p:nvPr/>
        </p:nvSpPr>
        <p:spPr>
          <a:xfrm>
            <a:off x="5292080" y="2627620"/>
            <a:ext cx="1008112" cy="369332"/>
          </a:xfrm>
          <a:prstGeom prst="rect">
            <a:avLst/>
          </a:prstGeom>
          <a:noFill/>
        </p:spPr>
        <p:txBody>
          <a:bodyPr wrap="square" rtlCol="0">
            <a:spAutoFit/>
          </a:bodyPr>
          <a:lstStyle/>
          <a:p>
            <a:r>
              <a:rPr lang="nl-NL" b="1" i="1" dirty="0" smtClean="0"/>
              <a:t>Geldig</a:t>
            </a:r>
            <a:endParaRPr lang="nl-NL" b="1" i="1" dirty="0"/>
          </a:p>
        </p:txBody>
      </p:sp>
      <p:sp>
        <p:nvSpPr>
          <p:cNvPr id="11" name="TextBox 10"/>
          <p:cNvSpPr txBox="1"/>
          <p:nvPr/>
        </p:nvSpPr>
        <p:spPr>
          <a:xfrm>
            <a:off x="7884368" y="2627620"/>
            <a:ext cx="1368152" cy="369332"/>
          </a:xfrm>
          <a:prstGeom prst="rect">
            <a:avLst/>
          </a:prstGeom>
          <a:noFill/>
        </p:spPr>
        <p:txBody>
          <a:bodyPr wrap="square" rtlCol="0">
            <a:spAutoFit/>
          </a:bodyPr>
          <a:lstStyle/>
          <a:p>
            <a:r>
              <a:rPr lang="nl-NL" b="1" i="1" dirty="0" smtClean="0"/>
              <a:t>Ongeldig</a:t>
            </a:r>
            <a:endParaRPr lang="nl-NL" b="1" i="1" dirty="0"/>
          </a:p>
        </p:txBody>
      </p:sp>
      <p:sp>
        <p:nvSpPr>
          <p:cNvPr id="12" name="TextBox 11"/>
          <p:cNvSpPr txBox="1"/>
          <p:nvPr/>
        </p:nvSpPr>
        <p:spPr>
          <a:xfrm>
            <a:off x="1979712" y="4077072"/>
            <a:ext cx="1296144" cy="369332"/>
          </a:xfrm>
          <a:prstGeom prst="rect">
            <a:avLst/>
          </a:prstGeom>
          <a:noFill/>
        </p:spPr>
        <p:txBody>
          <a:bodyPr wrap="square" rtlCol="0">
            <a:spAutoFit/>
          </a:bodyPr>
          <a:lstStyle/>
          <a:p>
            <a:r>
              <a:rPr lang="nl-NL" b="1" i="1" dirty="0" smtClean="0"/>
              <a:t>Ongeldig</a:t>
            </a:r>
            <a:endParaRPr lang="nl-NL" b="1" i="1" dirty="0"/>
          </a:p>
        </p:txBody>
      </p:sp>
      <p:sp>
        <p:nvSpPr>
          <p:cNvPr id="14" name="TextBox 13"/>
          <p:cNvSpPr txBox="1"/>
          <p:nvPr/>
        </p:nvSpPr>
        <p:spPr>
          <a:xfrm>
            <a:off x="5436096" y="4077072"/>
            <a:ext cx="1296144" cy="369332"/>
          </a:xfrm>
          <a:prstGeom prst="rect">
            <a:avLst/>
          </a:prstGeom>
          <a:noFill/>
        </p:spPr>
        <p:txBody>
          <a:bodyPr wrap="square" rtlCol="0">
            <a:spAutoFit/>
          </a:bodyPr>
          <a:lstStyle/>
          <a:p>
            <a:r>
              <a:rPr lang="nl-NL" b="1" i="1" dirty="0" smtClean="0"/>
              <a:t>Geldig</a:t>
            </a:r>
            <a:endParaRPr lang="nl-NL" b="1" i="1" dirty="0"/>
          </a:p>
        </p:txBody>
      </p:sp>
      <p:sp>
        <p:nvSpPr>
          <p:cNvPr id="15" name="TextBox 14"/>
          <p:cNvSpPr txBox="1"/>
          <p:nvPr/>
        </p:nvSpPr>
        <p:spPr>
          <a:xfrm>
            <a:off x="4788024" y="5373216"/>
            <a:ext cx="1296144" cy="369332"/>
          </a:xfrm>
          <a:prstGeom prst="rect">
            <a:avLst/>
          </a:prstGeom>
          <a:noFill/>
        </p:spPr>
        <p:txBody>
          <a:bodyPr wrap="square" rtlCol="0">
            <a:spAutoFit/>
          </a:bodyPr>
          <a:lstStyle/>
          <a:p>
            <a:r>
              <a:rPr lang="nl-NL" b="1" i="1" dirty="0" smtClean="0"/>
              <a:t>Geldig</a:t>
            </a:r>
            <a:endParaRPr lang="nl-NL" b="1" i="1" dirty="0"/>
          </a:p>
        </p:txBody>
      </p:sp>
      <p:sp>
        <p:nvSpPr>
          <p:cNvPr id="16" name="TextBox 15"/>
          <p:cNvSpPr txBox="1"/>
          <p:nvPr/>
        </p:nvSpPr>
        <p:spPr>
          <a:xfrm>
            <a:off x="8244408" y="5435932"/>
            <a:ext cx="1296144" cy="369332"/>
          </a:xfrm>
          <a:prstGeom prst="rect">
            <a:avLst/>
          </a:prstGeom>
          <a:noFill/>
        </p:spPr>
        <p:txBody>
          <a:bodyPr wrap="square" rtlCol="0">
            <a:spAutoFit/>
          </a:bodyPr>
          <a:lstStyle/>
          <a:p>
            <a:r>
              <a:rPr lang="nl-NL" b="1" i="1" dirty="0" smtClean="0"/>
              <a:t>Geldig</a:t>
            </a:r>
            <a:endParaRPr lang="nl-NL" b="1" i="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a:t>
            </a:r>
            <a:r>
              <a:rPr lang="nl-NL" sz="3200" i="1" dirty="0" smtClean="0"/>
              <a:t>logische constanten</a:t>
            </a:r>
            <a:r>
              <a:rPr lang="nl-NL" sz="3200" dirty="0" smtClean="0"/>
              <a:t> van de propositielogica</a:t>
            </a:r>
            <a:endParaRPr lang="nl-NL" sz="3200" dirty="0"/>
          </a:p>
        </p:txBody>
      </p:sp>
      <p:sp>
        <p:nvSpPr>
          <p:cNvPr id="12" name="Content Placeholder 2"/>
          <p:cNvSpPr txBox="1">
            <a:spLocks/>
          </p:cNvSpPr>
          <p:nvPr/>
        </p:nvSpPr>
        <p:spPr>
          <a:xfrm>
            <a:off x="3265512"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1. Als</a:t>
            </a:r>
            <a:r>
              <a:rPr kumimoji="0" lang="nl-NL" sz="1800" i="0" u="none" strike="noStrike" kern="1200" cap="none" spc="0" normalizeH="0" noProof="0" dirty="0" smtClean="0">
                <a:ln>
                  <a:noFill/>
                </a:ln>
                <a:solidFill>
                  <a:srgbClr val="0070C0"/>
                </a:solidFill>
                <a:effectLst/>
                <a:uLnTx/>
                <a:uFillTx/>
                <a:latin typeface="+mn-lt"/>
                <a:ea typeface="+mn-ea"/>
                <a:cs typeface="+mn-cs"/>
              </a:rPr>
              <a:t> P, dan 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2.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3. </a:t>
            </a:r>
            <a:r>
              <a:rPr lang="nl-NL" noProof="0" dirty="0" smtClean="0">
                <a:solidFill>
                  <a:srgbClr val="0070C0"/>
                </a:solidFill>
              </a:rPr>
              <a:t>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4" name="Content Placeholder 2"/>
          <p:cNvSpPr txBox="1">
            <a:spLocks/>
          </p:cNvSpPr>
          <p:nvPr/>
        </p:nvSpPr>
        <p:spPr>
          <a:xfrm>
            <a:off x="6084168"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1. Als</a:t>
            </a:r>
            <a:r>
              <a:rPr kumimoji="0" lang="nl-NL" sz="1800" i="0" u="none" strike="noStrike" kern="1200" cap="none" spc="0" normalizeH="0" noProof="0" dirty="0" smtClean="0">
                <a:ln>
                  <a:noFill/>
                </a:ln>
                <a:solidFill>
                  <a:srgbClr val="0070C0"/>
                </a:solidFill>
                <a:effectLst/>
                <a:uLnTx/>
                <a:uFillTx/>
                <a:latin typeface="+mn-lt"/>
                <a:ea typeface="+mn-ea"/>
                <a:cs typeface="+mn-cs"/>
              </a:rPr>
              <a:t> P, dan 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2. 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7" name="Content Placeholder 2"/>
          <p:cNvSpPr txBox="1">
            <a:spLocks/>
          </p:cNvSpPr>
          <p:nvPr/>
        </p:nvSpPr>
        <p:spPr>
          <a:xfrm>
            <a:off x="467544"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Als P, dan 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2. </a:t>
            </a:r>
            <a:r>
              <a:rPr lang="nl-NL" dirty="0" err="1" smtClean="0">
                <a:solidFill>
                  <a:srgbClr val="0070C0"/>
                </a:solidFill>
              </a:rPr>
              <a:t>niet-P</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3. </a:t>
            </a:r>
            <a:r>
              <a:rPr lang="nl-NL" dirty="0" err="1" smtClean="0">
                <a:solidFill>
                  <a:srgbClr val="0070C0"/>
                </a:solidFill>
              </a:rPr>
              <a:t>niet-Q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8" name="Content Placeholder 2"/>
          <p:cNvSpPr txBox="1">
            <a:spLocks/>
          </p:cNvSpPr>
          <p:nvPr/>
        </p:nvSpPr>
        <p:spPr>
          <a:xfrm>
            <a:off x="3265512"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Als P, dan 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2. </a:t>
            </a:r>
            <a:r>
              <a:rPr lang="nl-NL" dirty="0" err="1" smtClean="0">
                <a:solidFill>
                  <a:srgbClr val="0070C0"/>
                </a:solidFill>
              </a:rPr>
              <a:t>niet-Q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3. </a:t>
            </a:r>
            <a:r>
              <a:rPr lang="nl-NL" dirty="0" err="1" smtClean="0">
                <a:solidFill>
                  <a:srgbClr val="0070C0"/>
                </a:solidFill>
              </a:rPr>
              <a:t>niet-P</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9" name="Content Placeholder 2"/>
          <p:cNvSpPr txBox="1">
            <a:spLocks/>
          </p:cNvSpPr>
          <p:nvPr/>
        </p:nvSpPr>
        <p:spPr>
          <a:xfrm>
            <a:off x="3265512"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 of 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2. </a:t>
            </a:r>
            <a:r>
              <a:rPr lang="nl-NL" noProof="0" dirty="0" err="1" smtClean="0">
                <a:solidFill>
                  <a:srgbClr val="0070C0"/>
                </a:solidFill>
              </a:rPr>
              <a:t>niet-Q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0" name="Content Placeholder 2"/>
          <p:cNvSpPr txBox="1">
            <a:spLocks/>
          </p:cNvSpPr>
          <p:nvPr/>
        </p:nvSpPr>
        <p:spPr>
          <a:xfrm>
            <a:off x="608416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2. </a:t>
            </a:r>
            <a:r>
              <a:rPr lang="nl-NL" noProof="0" dirty="0" smtClean="0">
                <a:solidFill>
                  <a:srgbClr val="0070C0"/>
                </a:solidFill>
              </a:rPr>
              <a:t>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 en Q</a:t>
            </a: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a:t>
            </a:r>
            <a:r>
              <a:rPr lang="nl-NL" sz="3200" i="1" dirty="0" smtClean="0"/>
              <a:t>logische constanten</a:t>
            </a:r>
            <a:r>
              <a:rPr lang="nl-NL" sz="3200" dirty="0" smtClean="0"/>
              <a:t> van de propositielogica</a:t>
            </a:r>
            <a:endParaRPr lang="nl-NL" sz="3200" dirty="0"/>
          </a:p>
        </p:txBody>
      </p:sp>
      <p:sp>
        <p:nvSpPr>
          <p:cNvPr id="12" name="Content Placeholder 2"/>
          <p:cNvSpPr txBox="1">
            <a:spLocks/>
          </p:cNvSpPr>
          <p:nvPr/>
        </p:nvSpPr>
        <p:spPr>
          <a:xfrm>
            <a:off x="3265512"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kumimoji="0" lang="nl-NL" sz="1800" b="1" i="0" u="none" strike="noStrike" kern="1200" cap="none" spc="0" normalizeH="0" baseline="0" noProof="0" dirty="0" smtClean="0">
                <a:ln>
                  <a:noFill/>
                </a:ln>
                <a:effectLst/>
                <a:uLnTx/>
                <a:uFillTx/>
                <a:latin typeface="+mn-lt"/>
                <a:ea typeface="+mn-ea"/>
                <a:cs typeface="+mn-cs"/>
              </a:rPr>
              <a:t>Als</a:t>
            </a:r>
            <a:r>
              <a:rPr kumimoji="0" lang="nl-NL" sz="1800" b="0" i="0" u="none" strike="noStrike" kern="1200" cap="none" spc="0" normalizeH="0" noProof="0" dirty="0" smtClean="0">
                <a:ln>
                  <a:noFill/>
                </a:ln>
                <a:solidFill>
                  <a:srgbClr val="0070C0"/>
                </a:solidFill>
                <a:effectLst/>
                <a:uLnTx/>
                <a:uFillTx/>
                <a:latin typeface="+mn-lt"/>
                <a:ea typeface="+mn-ea"/>
                <a:cs typeface="+mn-cs"/>
              </a:rPr>
              <a:t> P, </a:t>
            </a:r>
            <a:r>
              <a:rPr kumimoji="0" lang="nl-NL" sz="1800" b="1" i="0" u="none" strike="noStrike" kern="1200" cap="none" spc="0" normalizeH="0" noProof="0" dirty="0" smtClean="0">
                <a:ln>
                  <a:noFill/>
                </a:ln>
                <a:effectLst/>
                <a:uLnTx/>
                <a:uFillTx/>
                <a:latin typeface="+mn-lt"/>
                <a:ea typeface="+mn-ea"/>
                <a:cs typeface="+mn-cs"/>
              </a:rPr>
              <a:t>dan</a:t>
            </a:r>
            <a:r>
              <a:rPr kumimoji="0" lang="nl-NL" sz="1800" b="0" i="0" u="none" strike="noStrike" kern="1200" cap="none" spc="0" normalizeH="0" noProof="0" dirty="0" smtClean="0">
                <a:ln>
                  <a:noFill/>
                </a:ln>
                <a:solidFill>
                  <a:srgbClr val="0070C0"/>
                </a:solidFill>
                <a:effectLst/>
                <a:uLnTx/>
                <a:uFillTx/>
                <a:latin typeface="+mn-lt"/>
                <a:ea typeface="+mn-ea"/>
                <a:cs typeface="+mn-cs"/>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4" name="Content Placeholder 2"/>
          <p:cNvSpPr txBox="1">
            <a:spLocks/>
          </p:cNvSpPr>
          <p:nvPr/>
        </p:nvSpPr>
        <p:spPr>
          <a:xfrm>
            <a:off x="6084168" y="1484784"/>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kumimoji="0" lang="nl-NL" sz="1800" b="1" i="0" u="none" strike="noStrike" kern="1200" cap="none" spc="0" normalizeH="0" baseline="0" noProof="0" dirty="0" smtClean="0">
                <a:ln>
                  <a:noFill/>
                </a:ln>
                <a:effectLst/>
                <a:uLnTx/>
                <a:uFillTx/>
                <a:latin typeface="+mn-lt"/>
                <a:ea typeface="+mn-ea"/>
                <a:cs typeface="+mn-cs"/>
              </a:rPr>
              <a:t>Als</a:t>
            </a:r>
            <a:r>
              <a:rPr kumimoji="0" lang="nl-NL" sz="1800" b="0" i="0" u="none" strike="noStrike" kern="1200" cap="none" spc="0" normalizeH="0" noProof="0" dirty="0" smtClean="0">
                <a:ln>
                  <a:noFill/>
                </a:ln>
                <a:solidFill>
                  <a:srgbClr val="0070C0"/>
                </a:solidFill>
                <a:effectLst/>
                <a:uLnTx/>
                <a:uFillTx/>
                <a:latin typeface="+mn-lt"/>
                <a:ea typeface="+mn-ea"/>
                <a:cs typeface="+mn-cs"/>
              </a:rPr>
              <a:t> P, </a:t>
            </a:r>
            <a:r>
              <a:rPr kumimoji="0" lang="nl-NL" sz="1800" b="1" i="0" u="none" strike="noStrike" kern="1200" cap="none" spc="0" normalizeH="0" noProof="0" dirty="0" smtClean="0">
                <a:ln>
                  <a:noFill/>
                </a:ln>
                <a:effectLst/>
                <a:uLnTx/>
                <a:uFillTx/>
                <a:latin typeface="+mn-lt"/>
                <a:ea typeface="+mn-ea"/>
                <a:cs typeface="+mn-cs"/>
              </a:rPr>
              <a:t>dan</a:t>
            </a:r>
            <a:r>
              <a:rPr kumimoji="0" lang="nl-NL" sz="1800" b="0" i="0" u="none" strike="noStrike" kern="1200" cap="none" spc="0" normalizeH="0" noProof="0" dirty="0" smtClean="0">
                <a:ln>
                  <a:noFill/>
                </a:ln>
                <a:solidFill>
                  <a:srgbClr val="0070C0"/>
                </a:solidFill>
                <a:effectLst/>
                <a:uLnTx/>
                <a:uFillTx/>
                <a:latin typeface="+mn-lt"/>
                <a:ea typeface="+mn-ea"/>
                <a:cs typeface="+mn-cs"/>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7" name="Content Placeholder 2"/>
          <p:cNvSpPr txBox="1">
            <a:spLocks/>
          </p:cNvSpPr>
          <p:nvPr/>
        </p:nvSpPr>
        <p:spPr>
          <a:xfrm>
            <a:off x="467544"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b="1" dirty="0" smtClean="0"/>
              <a:t>Als</a:t>
            </a:r>
            <a:r>
              <a:rPr lang="nl-NL" dirty="0" smtClean="0">
                <a:solidFill>
                  <a:srgbClr val="0070C0"/>
                </a:solidFill>
              </a:rPr>
              <a:t> P, </a:t>
            </a:r>
            <a:r>
              <a:rPr lang="nl-NL" b="1" dirty="0" smtClean="0"/>
              <a:t>dan</a:t>
            </a:r>
            <a:r>
              <a:rPr lang="nl-NL" dirty="0" smtClean="0">
                <a:solidFill>
                  <a:srgbClr val="0070C0"/>
                </a:solidFill>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b="1" dirty="0" err="1" smtClean="0"/>
              <a:t>niet-</a:t>
            </a:r>
            <a:r>
              <a:rPr lang="nl-NL" dirty="0" err="1"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b="1" dirty="0" err="1" smtClean="0"/>
              <a:t>niet-</a:t>
            </a:r>
            <a:r>
              <a:rPr lang="nl-NL" dirty="0" err="1"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8" name="Content Placeholder 2"/>
          <p:cNvSpPr txBox="1">
            <a:spLocks/>
          </p:cNvSpPr>
          <p:nvPr/>
        </p:nvSpPr>
        <p:spPr>
          <a:xfrm>
            <a:off x="3265512" y="2968352"/>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b="1" dirty="0" smtClean="0"/>
              <a:t>Als</a:t>
            </a:r>
            <a:r>
              <a:rPr lang="nl-NL" dirty="0" smtClean="0">
                <a:solidFill>
                  <a:srgbClr val="0070C0"/>
                </a:solidFill>
              </a:rPr>
              <a:t> P, </a:t>
            </a:r>
            <a:r>
              <a:rPr lang="nl-NL" b="1" dirty="0" smtClean="0"/>
              <a:t>dan</a:t>
            </a:r>
            <a:r>
              <a:rPr lang="nl-NL" dirty="0" smtClean="0">
                <a:solidFill>
                  <a:srgbClr val="0070C0"/>
                </a:solidFill>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b="1" dirty="0" err="1" smtClean="0"/>
              <a:t>niet-</a:t>
            </a:r>
            <a:r>
              <a:rPr lang="nl-NL" dirty="0" err="1"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b="1" dirty="0" err="1" smtClean="0"/>
              <a:t>niet-</a:t>
            </a:r>
            <a:r>
              <a:rPr lang="nl-NL" dirty="0" err="1"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9" name="Content Placeholder 2"/>
          <p:cNvSpPr txBox="1">
            <a:spLocks/>
          </p:cNvSpPr>
          <p:nvPr/>
        </p:nvSpPr>
        <p:spPr>
          <a:xfrm>
            <a:off x="3265512"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 </a:t>
            </a:r>
            <a:r>
              <a:rPr lang="nl-NL" b="1" dirty="0" smtClean="0"/>
              <a:t>of</a:t>
            </a:r>
            <a:r>
              <a:rPr lang="nl-NL" dirty="0" smtClean="0">
                <a:solidFill>
                  <a:srgbClr val="0070C0"/>
                </a:solidFill>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b="1" noProof="0" dirty="0" err="1" smtClean="0"/>
              <a:t>niet-</a:t>
            </a:r>
            <a:r>
              <a:rPr lang="nl-NL" noProof="0" dirty="0" err="1"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0" name="Content Placeholder 2"/>
          <p:cNvSpPr txBox="1">
            <a:spLocks/>
          </p:cNvSpPr>
          <p:nvPr/>
        </p:nvSpPr>
        <p:spPr>
          <a:xfrm>
            <a:off x="608416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 </a:t>
            </a:r>
            <a:r>
              <a:rPr lang="nl-NL" b="1" dirty="0" smtClean="0"/>
              <a:t>en</a:t>
            </a:r>
            <a:r>
              <a:rPr lang="nl-NL" dirty="0" smtClean="0">
                <a:solidFill>
                  <a:srgbClr val="0070C0"/>
                </a:solidFill>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a:t>
            </a:r>
            <a:r>
              <a:rPr lang="nl-NL" sz="3200" i="1" dirty="0" smtClean="0"/>
              <a:t>logische constanten</a:t>
            </a:r>
            <a:r>
              <a:rPr lang="nl-NL" sz="3200" dirty="0" smtClean="0"/>
              <a:t> van propositielogica</a:t>
            </a:r>
            <a:endParaRPr lang="nl-NL" sz="3200" dirty="0"/>
          </a:p>
        </p:txBody>
      </p:sp>
      <p:graphicFrame>
        <p:nvGraphicFramePr>
          <p:cNvPr id="4" name="Content Placeholder 3"/>
          <p:cNvGraphicFramePr>
            <a:graphicFrameLocks noGrp="1"/>
          </p:cNvGraphicFramePr>
          <p:nvPr>
            <p:ph idx="1"/>
          </p:nvPr>
        </p:nvGraphicFramePr>
        <p:xfrm>
          <a:off x="457200" y="1600200"/>
          <a:ext cx="8229600" cy="2679184"/>
        </p:xfrm>
        <a:graphic>
          <a:graphicData uri="http://schemas.openxmlformats.org/drawingml/2006/table">
            <a:tbl>
              <a:tblPr firstRow="1" bandRow="1">
                <a:tableStyleId>{5C22544A-7EE6-4342-B048-85BDC9FD1C3A}</a:tableStyleId>
              </a:tblPr>
              <a:tblGrid>
                <a:gridCol w="2818656"/>
                <a:gridCol w="2667744"/>
                <a:gridCol w="2743200"/>
              </a:tblGrid>
              <a:tr h="509776">
                <a:tc>
                  <a:txBody>
                    <a:bodyPr/>
                    <a:lstStyle/>
                    <a:p>
                      <a:r>
                        <a:rPr lang="nl-NL" dirty="0" smtClean="0"/>
                        <a:t>Logische constanten</a:t>
                      </a:r>
                      <a:r>
                        <a:rPr lang="nl-NL" baseline="0" dirty="0" smtClean="0"/>
                        <a:t> van propositielogica</a:t>
                      </a:r>
                      <a:endParaRPr lang="nl-NL" dirty="0"/>
                    </a:p>
                  </a:txBody>
                  <a:tcPr/>
                </a:tc>
                <a:tc>
                  <a:txBody>
                    <a:bodyPr/>
                    <a:lstStyle/>
                    <a:p>
                      <a:r>
                        <a:rPr lang="nl-NL" dirty="0" smtClean="0"/>
                        <a:t>In formele</a:t>
                      </a:r>
                      <a:r>
                        <a:rPr lang="nl-NL" baseline="0" dirty="0" smtClean="0"/>
                        <a:t> taal</a:t>
                      </a:r>
                      <a:endParaRPr lang="nl-NL" dirty="0"/>
                    </a:p>
                  </a:txBody>
                  <a:tcPr/>
                </a:tc>
                <a:tc>
                  <a:txBody>
                    <a:bodyPr/>
                    <a:lstStyle/>
                    <a:p>
                      <a:r>
                        <a:rPr lang="nl-NL" dirty="0" smtClean="0"/>
                        <a:t>Aanduiding</a:t>
                      </a:r>
                      <a:endParaRPr lang="nl-NL" dirty="0"/>
                    </a:p>
                  </a:txBody>
                  <a:tcPr/>
                </a:tc>
              </a:tr>
              <a:tr h="509776">
                <a:tc>
                  <a:txBody>
                    <a:bodyPr/>
                    <a:lstStyle/>
                    <a:p>
                      <a:r>
                        <a:rPr lang="nl-NL" b="0" dirty="0" smtClean="0"/>
                        <a:t>Als… Dan…</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Implicatie</a:t>
                      </a:r>
                      <a:endParaRPr lang="nl-NL" sz="2000" b="0" dirty="0"/>
                    </a:p>
                  </a:txBody>
                  <a:tcPr/>
                </a:tc>
              </a:tr>
              <a:tr h="509776">
                <a:tc>
                  <a:txBody>
                    <a:bodyPr/>
                    <a:lstStyle/>
                    <a:p>
                      <a:r>
                        <a:rPr lang="nl-NL" b="0" dirty="0" smtClean="0"/>
                        <a:t>En</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Conjunctie</a:t>
                      </a:r>
                      <a:endParaRPr lang="nl-NL" sz="2000" b="0" dirty="0"/>
                    </a:p>
                  </a:txBody>
                  <a:tcPr/>
                </a:tc>
              </a:tr>
              <a:tr h="509776">
                <a:tc>
                  <a:txBody>
                    <a:bodyPr/>
                    <a:lstStyle/>
                    <a:p>
                      <a:r>
                        <a:rPr lang="nl-NL" b="0" dirty="0" smtClean="0"/>
                        <a:t>Of</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Disjunctie </a:t>
                      </a:r>
                      <a:endParaRPr lang="nl-NL" sz="2000" b="0" dirty="0"/>
                    </a:p>
                  </a:txBody>
                  <a:tcPr/>
                </a:tc>
              </a:tr>
              <a:tr h="509776">
                <a:tc>
                  <a:txBody>
                    <a:bodyPr/>
                    <a:lstStyle/>
                    <a:p>
                      <a:r>
                        <a:rPr lang="nl-NL" b="0" dirty="0" smtClean="0"/>
                        <a:t>Niet</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Negatie</a:t>
                      </a:r>
                      <a:r>
                        <a:rPr lang="nl-NL" sz="2000" b="0" baseline="0" dirty="0" smtClean="0"/>
                        <a:t> (ontkenning)</a:t>
                      </a:r>
                      <a:endParaRPr lang="nl-NL" sz="2000" b="0" dirty="0"/>
                    </a:p>
                  </a:txBody>
                  <a:tcPr/>
                </a:tc>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a:t>
            </a:r>
            <a:r>
              <a:rPr lang="nl-NL" sz="3200" i="1" dirty="0" smtClean="0"/>
              <a:t>logische constanten</a:t>
            </a:r>
            <a:r>
              <a:rPr lang="nl-NL" sz="3200" dirty="0" smtClean="0"/>
              <a:t> van propositielogica</a:t>
            </a:r>
            <a:endParaRPr lang="nl-NL" sz="3200" dirty="0"/>
          </a:p>
        </p:txBody>
      </p:sp>
      <p:graphicFrame>
        <p:nvGraphicFramePr>
          <p:cNvPr id="4" name="Content Placeholder 3"/>
          <p:cNvGraphicFramePr>
            <a:graphicFrameLocks noGrp="1"/>
          </p:cNvGraphicFramePr>
          <p:nvPr>
            <p:ph idx="1"/>
          </p:nvPr>
        </p:nvGraphicFramePr>
        <p:xfrm>
          <a:off x="457200" y="1600200"/>
          <a:ext cx="8229600" cy="3380224"/>
        </p:xfrm>
        <a:graphic>
          <a:graphicData uri="http://schemas.openxmlformats.org/drawingml/2006/table">
            <a:tbl>
              <a:tblPr firstRow="1" bandRow="1">
                <a:tableStyleId>{5C22544A-7EE6-4342-B048-85BDC9FD1C3A}</a:tableStyleId>
              </a:tblPr>
              <a:tblGrid>
                <a:gridCol w="2818656"/>
                <a:gridCol w="2664296"/>
                <a:gridCol w="2746648"/>
              </a:tblGrid>
              <a:tr h="509776">
                <a:tc>
                  <a:txBody>
                    <a:bodyPr/>
                    <a:lstStyle/>
                    <a:p>
                      <a:r>
                        <a:rPr lang="nl-NL" dirty="0" smtClean="0"/>
                        <a:t>Logische constanten</a:t>
                      </a:r>
                      <a:r>
                        <a:rPr lang="nl-NL" baseline="0" dirty="0" smtClean="0"/>
                        <a:t> van propositielogica</a:t>
                      </a:r>
                      <a:endParaRPr lang="nl-NL" dirty="0"/>
                    </a:p>
                  </a:txBody>
                  <a:tcPr/>
                </a:tc>
                <a:tc>
                  <a:txBody>
                    <a:bodyPr/>
                    <a:lstStyle/>
                    <a:p>
                      <a:r>
                        <a:rPr lang="nl-NL" dirty="0" smtClean="0"/>
                        <a:t>In formele</a:t>
                      </a:r>
                      <a:r>
                        <a:rPr lang="nl-NL" baseline="0" dirty="0" smtClean="0"/>
                        <a:t> taal</a:t>
                      </a:r>
                      <a:endParaRPr lang="nl-NL" dirty="0"/>
                    </a:p>
                  </a:txBody>
                  <a:tcPr/>
                </a:tc>
                <a:tc>
                  <a:txBody>
                    <a:bodyPr/>
                    <a:lstStyle/>
                    <a:p>
                      <a:r>
                        <a:rPr lang="nl-NL" dirty="0" smtClean="0"/>
                        <a:t>Aanduiding</a:t>
                      </a:r>
                      <a:endParaRPr lang="nl-NL" dirty="0"/>
                    </a:p>
                  </a:txBody>
                  <a:tcPr/>
                </a:tc>
              </a:tr>
              <a:tr h="509776">
                <a:tc>
                  <a:txBody>
                    <a:bodyPr/>
                    <a:lstStyle/>
                    <a:p>
                      <a:r>
                        <a:rPr lang="nl-NL" b="0" dirty="0" smtClean="0"/>
                        <a:t>Als… Dan…</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Implicatie</a:t>
                      </a:r>
                      <a:endParaRPr lang="nl-NL" sz="2000" b="0" dirty="0"/>
                    </a:p>
                  </a:txBody>
                  <a:tcPr/>
                </a:tc>
              </a:tr>
              <a:tr h="509776">
                <a:tc>
                  <a:txBody>
                    <a:bodyPr/>
                    <a:lstStyle/>
                    <a:p>
                      <a:r>
                        <a:rPr lang="nl-NL" b="0" dirty="0" smtClean="0"/>
                        <a:t>En</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Conjunctie</a:t>
                      </a:r>
                      <a:endParaRPr lang="nl-NL" sz="2000" b="0" dirty="0"/>
                    </a:p>
                  </a:txBody>
                  <a:tcPr/>
                </a:tc>
              </a:tr>
              <a:tr h="509776">
                <a:tc>
                  <a:txBody>
                    <a:bodyPr/>
                    <a:lstStyle/>
                    <a:p>
                      <a:r>
                        <a:rPr lang="nl-NL" b="0" dirty="0" smtClean="0"/>
                        <a:t>Of</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Disjunctie</a:t>
                      </a:r>
                      <a:endParaRPr lang="nl-NL" sz="2000" b="0" dirty="0"/>
                    </a:p>
                  </a:txBody>
                  <a:tcPr/>
                </a:tc>
              </a:tr>
              <a:tr h="509776">
                <a:tc>
                  <a:txBody>
                    <a:bodyPr/>
                    <a:lstStyle/>
                    <a:p>
                      <a:r>
                        <a:rPr lang="nl-NL" b="0" dirty="0" smtClean="0"/>
                        <a:t>Niet</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Negatie (ontkenning)</a:t>
                      </a:r>
                      <a:endParaRPr lang="nl-NL" sz="2000" b="0" dirty="0"/>
                    </a:p>
                  </a:txBody>
                  <a:tcPr/>
                </a:tc>
              </a:tr>
              <a:tr h="509776">
                <a:tc>
                  <a:txBody>
                    <a:bodyPr/>
                    <a:lstStyle/>
                    <a:p>
                      <a:r>
                        <a:rPr lang="nl-NL" b="0" dirty="0" smtClean="0"/>
                        <a:t>Dan en slechts</a:t>
                      </a:r>
                      <a:r>
                        <a:rPr lang="nl-NL" b="0" baseline="0" dirty="0" smtClean="0"/>
                        <a:t> dan als</a:t>
                      </a:r>
                      <a:endParaRPr lang="nl-NL" b="0" dirty="0"/>
                    </a:p>
                  </a:txBody>
                  <a:tcPr/>
                </a:tc>
                <a:tc>
                  <a:txBody>
                    <a:bodyPr/>
                    <a:lstStyle/>
                    <a:p>
                      <a:r>
                        <a:rPr lang="nl-NL" sz="2400" b="0" dirty="0" smtClean="0"/>
                        <a:t>↔</a:t>
                      </a:r>
                      <a:endParaRPr lang="nl-NL" sz="2400" b="0" dirty="0"/>
                    </a:p>
                  </a:txBody>
                  <a:tcPr/>
                </a:tc>
                <a:tc>
                  <a:txBody>
                    <a:bodyPr/>
                    <a:lstStyle/>
                    <a:p>
                      <a:r>
                        <a:rPr lang="nl-NL" sz="2000" b="0" dirty="0" smtClean="0"/>
                        <a:t>Equivalentie</a:t>
                      </a:r>
                      <a:r>
                        <a:rPr lang="nl-NL" sz="2000" b="0" baseline="0" dirty="0" smtClean="0"/>
                        <a:t> (dubbele implicatie)</a:t>
                      </a:r>
                      <a:endParaRPr lang="nl-NL" sz="2000" b="0" dirty="0"/>
                    </a:p>
                  </a:txBody>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a:t>
            </a:r>
            <a:r>
              <a:rPr lang="nl-NL" sz="3200" i="1" dirty="0" smtClean="0"/>
              <a:t>logische constanten</a:t>
            </a:r>
            <a:r>
              <a:rPr lang="nl-NL" sz="3200" dirty="0" smtClean="0"/>
              <a:t> van de propositielogica</a:t>
            </a:r>
            <a:endParaRPr lang="nl-NL" sz="3200" dirty="0"/>
          </a:p>
        </p:txBody>
      </p:sp>
      <p:sp>
        <p:nvSpPr>
          <p:cNvPr id="12" name="Content Placeholder 2"/>
          <p:cNvSpPr txBox="1">
            <a:spLocks/>
          </p:cNvSpPr>
          <p:nvPr/>
        </p:nvSpPr>
        <p:spPr>
          <a:xfrm>
            <a:off x="3265512" y="1484784"/>
            <a:ext cx="3538736" cy="1468760"/>
          </a:xfrm>
          <a:prstGeom prst="rect">
            <a:avLst/>
          </a:prstGeom>
        </p:spPr>
        <p:txBody>
          <a:bodyPr vert="horz" lIns="91440" tIns="45720" rIns="91440" bIns="45720" rtlCol="0">
            <a:normAutofit/>
          </a:bodyPr>
          <a:lstStyle/>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kumimoji="0" lang="nl-NL" sz="1800" b="0" i="0" u="none" strike="noStrike" kern="1200" cap="none" spc="0" normalizeH="0" noProof="0" dirty="0" smtClean="0">
                <a:ln>
                  <a:noFill/>
                </a:ln>
                <a:solidFill>
                  <a:srgbClr val="0070C0"/>
                </a:solidFill>
                <a:effectLst/>
                <a:uLnTx/>
                <a:uFillTx/>
                <a:latin typeface="+mn-lt"/>
                <a:ea typeface="+mn-ea"/>
                <a:cs typeface="+mn-cs"/>
              </a:rPr>
              <a:t>P</a:t>
            </a:r>
            <a:r>
              <a:rPr kumimoji="0" lang="nl-NL" sz="1800" b="1" i="0" u="none" strike="noStrike" kern="1200" cap="none" spc="0" normalizeH="0" noProof="0" dirty="0" smtClean="0">
                <a:ln>
                  <a:noFill/>
                </a:ln>
                <a:solidFill>
                  <a:srgbClr val="0070C0"/>
                </a:solidFill>
                <a:effectLst/>
                <a:uLnTx/>
                <a:uFillTx/>
                <a:latin typeface="+mn-lt"/>
                <a:ea typeface="+mn-ea"/>
                <a:cs typeface="+mn-cs"/>
              </a:rPr>
              <a:t> </a:t>
            </a:r>
            <a:r>
              <a:rPr lang="nl-NL" b="1" dirty="0" smtClean="0"/>
              <a:t>→</a:t>
            </a:r>
            <a:r>
              <a:rPr lang="nl-NL" dirty="0" smtClean="0"/>
              <a:t> </a:t>
            </a:r>
            <a:r>
              <a:rPr kumimoji="0" lang="nl-NL" sz="1800" b="0" i="0" u="none" strike="noStrike" kern="1200" cap="none" spc="0" normalizeH="0" noProof="0" dirty="0" smtClean="0">
                <a:ln>
                  <a:noFill/>
                </a:ln>
                <a:solidFill>
                  <a:srgbClr val="0070C0"/>
                </a:solidFill>
                <a:effectLst/>
                <a:uLnTx/>
                <a:uFillTx/>
                <a:latin typeface="+mn-lt"/>
                <a:ea typeface="+mn-ea"/>
                <a:cs typeface="+mn-cs"/>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4" name="Content Placeholder 2"/>
          <p:cNvSpPr txBox="1">
            <a:spLocks/>
          </p:cNvSpPr>
          <p:nvPr/>
        </p:nvSpPr>
        <p:spPr>
          <a:xfrm>
            <a:off x="6084168" y="1484784"/>
            <a:ext cx="3538736" cy="1468760"/>
          </a:xfrm>
          <a:prstGeom prst="rect">
            <a:avLst/>
          </a:prstGeom>
        </p:spPr>
        <p:txBody>
          <a:bodyPr vert="horz" lIns="91440" tIns="45720" rIns="91440" bIns="45720" rtlCol="0">
            <a:normAutofit/>
          </a:bodyPr>
          <a:lstStyle/>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kumimoji="0" lang="nl-NL" sz="1800" b="0" i="0" u="none" strike="noStrike" kern="1200" cap="none" spc="0" normalizeH="0" noProof="0" dirty="0" smtClean="0">
                <a:ln>
                  <a:noFill/>
                </a:ln>
                <a:solidFill>
                  <a:srgbClr val="0070C0"/>
                </a:solidFill>
                <a:effectLst/>
                <a:uLnTx/>
                <a:uFillTx/>
                <a:latin typeface="+mn-lt"/>
                <a:ea typeface="+mn-ea"/>
                <a:cs typeface="+mn-cs"/>
              </a:rPr>
              <a:t>P </a:t>
            </a:r>
            <a:r>
              <a:rPr lang="nl-NL" b="1" dirty="0" smtClean="0"/>
              <a:t>→ </a:t>
            </a:r>
            <a:r>
              <a:rPr kumimoji="0" lang="nl-NL" sz="1800" b="0" i="0" u="none" strike="noStrike" kern="1200" cap="none" spc="0" normalizeH="0" noProof="0" dirty="0" smtClean="0">
                <a:ln>
                  <a:noFill/>
                </a:ln>
                <a:solidFill>
                  <a:srgbClr val="0070C0"/>
                </a:solidFill>
                <a:effectLst/>
                <a:uLnTx/>
                <a:uFillTx/>
                <a:latin typeface="+mn-lt"/>
                <a:ea typeface="+mn-ea"/>
                <a:cs typeface="+mn-cs"/>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Q</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7" name="Content Placeholder 2"/>
          <p:cNvSpPr txBox="1">
            <a:spLocks/>
          </p:cNvSpPr>
          <p:nvPr/>
        </p:nvSpPr>
        <p:spPr>
          <a:xfrm>
            <a:off x="467544" y="2968352"/>
            <a:ext cx="3538736" cy="1468760"/>
          </a:xfrm>
          <a:prstGeom prst="rect">
            <a:avLst/>
          </a:prstGeom>
        </p:spPr>
        <p:txBody>
          <a:bodyPr vert="horz" lIns="91440" tIns="45720" rIns="91440" bIns="45720" rtlCol="0">
            <a:normAutofit/>
          </a:bodyPr>
          <a:lstStyle/>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 </a:t>
            </a:r>
            <a:r>
              <a:rPr lang="nl-NL" b="1" dirty="0" smtClean="0"/>
              <a:t>→ </a:t>
            </a:r>
            <a:r>
              <a:rPr lang="nl-NL"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b="1" dirty="0" smtClean="0"/>
              <a:t>¬</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b="1" dirty="0" smtClean="0"/>
              <a:t>¬</a:t>
            </a:r>
            <a:r>
              <a:rPr lang="nl-NL"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8" name="Content Placeholder 2"/>
          <p:cNvSpPr txBox="1">
            <a:spLocks/>
          </p:cNvSpPr>
          <p:nvPr/>
        </p:nvSpPr>
        <p:spPr>
          <a:xfrm>
            <a:off x="3265512" y="2968352"/>
            <a:ext cx="3538736" cy="1468760"/>
          </a:xfrm>
          <a:prstGeom prst="rect">
            <a:avLst/>
          </a:prstGeom>
        </p:spPr>
        <p:txBody>
          <a:bodyPr vert="horz" lIns="91440" tIns="45720" rIns="91440" bIns="45720" rtlCol="0">
            <a:normAutofit/>
          </a:bodyPr>
          <a:lstStyle/>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 </a:t>
            </a:r>
            <a:r>
              <a:rPr lang="nl-NL" b="1" dirty="0" smtClean="0"/>
              <a:t>→ </a:t>
            </a:r>
            <a:r>
              <a:rPr lang="nl-NL"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b="1" dirty="0" smtClean="0"/>
              <a:t>¬</a:t>
            </a:r>
            <a:r>
              <a:rPr lang="nl-NL"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b="1" dirty="0" smtClean="0"/>
              <a:t>¬</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9" name="Content Placeholder 2"/>
          <p:cNvSpPr txBox="1">
            <a:spLocks/>
          </p:cNvSpPr>
          <p:nvPr/>
        </p:nvSpPr>
        <p:spPr>
          <a:xfrm>
            <a:off x="3265512" y="4509120"/>
            <a:ext cx="3538736" cy="1468760"/>
          </a:xfrm>
          <a:prstGeom prst="rect">
            <a:avLst/>
          </a:prstGeom>
        </p:spPr>
        <p:txBody>
          <a:bodyPr vert="horz" lIns="91440" tIns="45720" rIns="91440" bIns="45720" rtlCol="0">
            <a:normAutofit/>
          </a:bodyPr>
          <a:lstStyle/>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 </a:t>
            </a:r>
            <a:r>
              <a:rPr lang="nl-NL" b="1" dirty="0" smtClean="0"/>
              <a:t>∨</a:t>
            </a:r>
            <a:r>
              <a:rPr lang="nl-NL" dirty="0" smtClean="0">
                <a:solidFill>
                  <a:srgbClr val="0070C0"/>
                </a:solidFill>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b="1" dirty="0" smtClean="0"/>
              <a:t>¬</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0" name="Content Placeholder 2"/>
          <p:cNvSpPr txBox="1">
            <a:spLocks/>
          </p:cNvSpPr>
          <p:nvPr/>
        </p:nvSpPr>
        <p:spPr>
          <a:xfrm>
            <a:off x="6084168" y="4509120"/>
            <a:ext cx="3538736" cy="146876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1. </a:t>
            </a:r>
            <a:r>
              <a:rPr lang="nl-NL" dirty="0" smtClean="0">
                <a:solidFill>
                  <a:srgbClr val="0070C0"/>
                </a:solidFill>
              </a:rPr>
              <a:t>P</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2. </a:t>
            </a:r>
            <a:r>
              <a:rPr lang="nl-NL" noProof="0" dirty="0" smtClean="0">
                <a:solidFill>
                  <a:srgbClr val="0070C0"/>
                </a:solidFill>
              </a:rPr>
              <a:t>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kumimoji="0" lang="nl-NL" sz="1800" b="0" i="0" u="none" strike="noStrike" kern="1200" cap="none" spc="0" normalizeH="0" baseline="0" noProof="0" dirty="0" smtClean="0">
                <a:ln>
                  <a:noFill/>
                </a:ln>
                <a:solidFill>
                  <a:srgbClr val="0070C0"/>
                </a:solidFill>
                <a:effectLst/>
                <a:uLnTx/>
                <a:uFillTx/>
                <a:latin typeface="+mn-lt"/>
                <a:ea typeface="+mn-ea"/>
                <a:cs typeface="+mn-cs"/>
              </a:rPr>
              <a:t>3. </a:t>
            </a:r>
            <a:r>
              <a:rPr lang="nl-NL" dirty="0" smtClean="0">
                <a:solidFill>
                  <a:srgbClr val="0070C0"/>
                </a:solidFill>
              </a:rPr>
              <a:t>P </a:t>
            </a:r>
            <a:r>
              <a:rPr lang="nl-NL" b="1" dirty="0" smtClean="0"/>
              <a:t>∧</a:t>
            </a:r>
            <a:r>
              <a:rPr lang="nl-NL" dirty="0" smtClean="0">
                <a:solidFill>
                  <a:srgbClr val="0070C0"/>
                </a:solidFill>
              </a:rPr>
              <a:t> Q</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2800" dirty="0" err="1" smtClean="0"/>
              <a:t>Propositionele</a:t>
            </a:r>
            <a:r>
              <a:rPr lang="nl-NL" sz="2800" dirty="0" smtClean="0"/>
              <a:t> structuur van samengestelde proposities</a:t>
            </a:r>
            <a:endParaRPr lang="nl-NL" sz="2800" dirty="0"/>
          </a:p>
        </p:txBody>
      </p:sp>
      <p:sp>
        <p:nvSpPr>
          <p:cNvPr id="3" name="Content Placeholder 2"/>
          <p:cNvSpPr>
            <a:spLocks noGrp="1"/>
          </p:cNvSpPr>
          <p:nvPr>
            <p:ph idx="1"/>
          </p:nvPr>
        </p:nvSpPr>
        <p:spPr>
          <a:xfrm>
            <a:off x="35496" y="1340768"/>
            <a:ext cx="3538736" cy="648072"/>
          </a:xfrm>
        </p:spPr>
        <p:txBody>
          <a:bodyPr>
            <a:normAutofit/>
          </a:bodyPr>
          <a:lstStyle/>
          <a:p>
            <a:pPr>
              <a:buNone/>
            </a:pPr>
            <a:r>
              <a:rPr lang="nl-NL" sz="1800" dirty="0" smtClean="0"/>
              <a:t>Als het koud is of waait, dan gaan we met de trein</a:t>
            </a:r>
          </a:p>
        </p:txBody>
      </p:sp>
      <p:sp>
        <p:nvSpPr>
          <p:cNvPr id="8" name="Content Placeholder 2"/>
          <p:cNvSpPr txBox="1">
            <a:spLocks/>
          </p:cNvSpPr>
          <p:nvPr/>
        </p:nvSpPr>
        <p:spPr>
          <a:xfrm>
            <a:off x="35496" y="2348880"/>
            <a:ext cx="4104456" cy="6766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dirty="0" smtClean="0"/>
              <a:t>Je meent het niet en als je het zou menen, dan zou ik het niet geloven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5496" y="3068960"/>
            <a:ext cx="3960440" cy="6480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dirty="0" smtClean="0"/>
              <a:t>Als Jan wint, dan winnen Hans en Piet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6512" y="4653136"/>
            <a:ext cx="3960440" cy="115212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dirty="0" smtClean="0"/>
              <a:t>Als het deze of de volgende week niet regent, dan is de oogst reddeloos verloren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6512" y="5805264"/>
            <a:ext cx="3960440" cy="100811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dirty="0" smtClean="0"/>
              <a:t>Als er noch leraren noch leerlingen in de deugd zijn dan kan de deugd niet onderwezen worden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35496" y="3789040"/>
            <a:ext cx="3960440" cy="6480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dirty="0" smtClean="0"/>
              <a:t>De economie trekt aan maar de werkloosheid daalt niet</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4067944" y="1268760"/>
            <a:ext cx="3096344" cy="9361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1" i="0" u="none" strike="noStrike" kern="1200" cap="none" spc="0" normalizeH="0" baseline="0" noProof="0" dirty="0" smtClean="0">
                <a:ln>
                  <a:noFill/>
                </a:ln>
                <a:solidFill>
                  <a:schemeClr val="tx1"/>
                </a:solidFill>
                <a:effectLst/>
                <a:uLnTx/>
                <a:uFillTx/>
                <a:latin typeface="+mn-lt"/>
                <a:ea typeface="+mn-ea"/>
                <a:cs typeface="+mn-cs"/>
              </a:rPr>
              <a:t>P</a:t>
            </a:r>
            <a:r>
              <a:rPr kumimoji="0" lang="nl-NL" b="0" i="0" u="none" strike="noStrike" kern="1200" cap="none" spc="0" normalizeH="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smtClean="0">
                <a:ln>
                  <a:noFill/>
                </a:ln>
                <a:solidFill>
                  <a:schemeClr val="tx1"/>
                </a:solidFill>
                <a:effectLst/>
                <a:uLnTx/>
                <a:uFillTx/>
                <a:latin typeface="+mn-lt"/>
                <a:ea typeface="+mn-ea"/>
                <a:cs typeface="+mn-cs"/>
              </a:rPr>
              <a:t>Het is koud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t>Q</a:t>
            </a:r>
            <a:r>
              <a:rPr lang="nl-NL" noProof="0" dirty="0" smtClean="0"/>
              <a:t> : Het waait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t>R</a:t>
            </a:r>
            <a:r>
              <a:rPr lang="nl-NL" dirty="0" smtClean="0"/>
              <a:t>: We gaan met de trein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7092280" y="1556792"/>
            <a:ext cx="3096344" cy="6480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6876256" y="1412776"/>
            <a:ext cx="3096344" cy="648072"/>
          </a:xfrm>
          <a:prstGeom prst="rect">
            <a:avLst/>
          </a:prstGeom>
        </p:spPr>
        <p:txBody>
          <a:bodyPr vert="horz" lIns="91440" tIns="45720" rIns="91440" bIns="45720" rtlCol="0">
            <a:normAutofit/>
          </a:bodyPr>
          <a:lstStyle/>
          <a:p>
            <a:pPr marL="342900" lvl="0" indent="-342900">
              <a:spcBef>
                <a:spcPct val="20000"/>
              </a:spcBef>
            </a:pPr>
            <a:r>
              <a:rPr lang="nl-NL" b="1" dirty="0" smtClean="0"/>
              <a:t>(P ∨ Q) → R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4067944" y="2348880"/>
            <a:ext cx="3096344" cy="648072"/>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1" i="0" u="none" strike="noStrike" kern="1200" cap="none" spc="0" normalizeH="0" baseline="0" noProof="0" dirty="0" smtClean="0">
                <a:ln>
                  <a:noFill/>
                </a:ln>
                <a:solidFill>
                  <a:schemeClr val="tx1"/>
                </a:solidFill>
                <a:effectLst/>
                <a:uLnTx/>
                <a:uFillTx/>
                <a:latin typeface="+mn-lt"/>
                <a:ea typeface="+mn-ea"/>
                <a:cs typeface="+mn-cs"/>
              </a:rPr>
              <a:t>P</a:t>
            </a:r>
            <a:r>
              <a:rPr kumimoji="0" lang="nl-NL" sz="1800" b="0" i="0" u="none" strike="noStrike" kern="1200" cap="none" spc="0" normalizeH="0" noProof="0" dirty="0" smtClean="0">
                <a:ln>
                  <a:noFill/>
                </a:ln>
                <a:solidFill>
                  <a:schemeClr val="tx1"/>
                </a:solidFill>
                <a:effectLst/>
                <a:uLnTx/>
                <a:uFillTx/>
                <a:latin typeface="+mn-lt"/>
                <a:ea typeface="+mn-ea"/>
                <a:cs typeface="+mn-cs"/>
              </a:rPr>
              <a:t>: Je meent het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baseline="0" dirty="0" smtClean="0"/>
              <a:t>Q</a:t>
            </a:r>
            <a:r>
              <a:rPr lang="nl-NL" baseline="0" dirty="0" smtClean="0"/>
              <a:t>:</a:t>
            </a:r>
            <a:r>
              <a:rPr lang="nl-NL" dirty="0" smtClean="0"/>
              <a:t> Ik geloof het </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 name="Content Placeholder 2"/>
          <p:cNvSpPr txBox="1">
            <a:spLocks/>
          </p:cNvSpPr>
          <p:nvPr/>
        </p:nvSpPr>
        <p:spPr>
          <a:xfrm>
            <a:off x="7164288" y="2348880"/>
            <a:ext cx="3096344" cy="6480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Content Placeholder 2"/>
          <p:cNvSpPr txBox="1">
            <a:spLocks/>
          </p:cNvSpPr>
          <p:nvPr/>
        </p:nvSpPr>
        <p:spPr>
          <a:xfrm>
            <a:off x="7452320" y="2348880"/>
            <a:ext cx="3096344" cy="648072"/>
          </a:xfrm>
          <a:prstGeom prst="rect">
            <a:avLst/>
          </a:prstGeom>
        </p:spPr>
        <p:txBody>
          <a:bodyPr vert="horz" lIns="91440" tIns="45720" rIns="91440" bIns="45720" rtlCol="0">
            <a:normAutofit/>
          </a:bodyPr>
          <a:lstStyle/>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9" name="Content Placeholder 2"/>
          <p:cNvSpPr txBox="1">
            <a:spLocks/>
          </p:cNvSpPr>
          <p:nvPr/>
        </p:nvSpPr>
        <p:spPr>
          <a:xfrm>
            <a:off x="6228184" y="2420888"/>
            <a:ext cx="3096344" cy="648072"/>
          </a:xfrm>
          <a:prstGeom prst="rect">
            <a:avLst/>
          </a:prstGeom>
        </p:spPr>
        <p:txBody>
          <a:bodyPr vert="horz" lIns="91440" tIns="45720" rIns="91440" bIns="45720" rtlCol="0">
            <a:normAutofit lnSpcReduction="10000"/>
          </a:bodyPr>
          <a:lstStyle/>
          <a:p>
            <a:pPr marL="342900" indent="-342900">
              <a:spcBef>
                <a:spcPct val="20000"/>
              </a:spcBef>
            </a:pPr>
            <a:r>
              <a:rPr lang="nl-NL" b="1" dirty="0" smtClean="0"/>
              <a:t>¬P ∧ (P → ¬Q) </a:t>
            </a:r>
            <a:endParaRPr lang="nl-NL" dirty="0" smtClean="0"/>
          </a:p>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4067944" y="3068960"/>
            <a:ext cx="3096344" cy="648072"/>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1" i="0" u="none" strike="noStrike" kern="1200" cap="none" spc="0" normalizeH="0" baseline="0" noProof="0" dirty="0" smtClean="0">
                <a:ln>
                  <a:noFill/>
                </a:ln>
                <a:solidFill>
                  <a:schemeClr val="tx1"/>
                </a:solidFill>
                <a:effectLst/>
                <a:uLnTx/>
                <a:uFillTx/>
                <a:latin typeface="+mn-lt"/>
                <a:ea typeface="+mn-ea"/>
                <a:cs typeface="+mn-cs"/>
              </a:rPr>
              <a:t>P</a:t>
            </a:r>
            <a:r>
              <a:rPr kumimoji="0" lang="nl-NL" sz="1800" b="0" i="0" u="none" strike="noStrike" kern="1200" cap="none" spc="0" normalizeH="0" noProof="0" dirty="0" smtClean="0">
                <a:ln>
                  <a:noFill/>
                </a:ln>
                <a:solidFill>
                  <a:schemeClr val="tx1"/>
                </a:solidFill>
                <a:effectLst/>
                <a:uLnTx/>
                <a:uFillTx/>
                <a:latin typeface="+mn-lt"/>
                <a:ea typeface="+mn-ea"/>
                <a:cs typeface="+mn-cs"/>
              </a:rPr>
              <a:t>: </a:t>
            </a:r>
            <a:r>
              <a:rPr lang="nl-NL" dirty="0" smtClean="0"/>
              <a:t>Jan wint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noProof="0" dirty="0" smtClean="0">
                <a:ln>
                  <a:noFill/>
                </a:ln>
                <a:solidFill>
                  <a:schemeClr val="tx1"/>
                </a:solidFill>
                <a:effectLst/>
                <a:uLnTx/>
                <a:uFillTx/>
                <a:latin typeface="+mn-lt"/>
                <a:ea typeface="+mn-ea"/>
                <a:cs typeface="+mn-cs"/>
              </a:rPr>
              <a:t> </a:t>
            </a:r>
            <a:r>
              <a:rPr kumimoji="0" lang="nl-NL" sz="1800" b="1" i="0" u="none" strike="noStrike" kern="1200" cap="none" spc="0" normalizeH="0" noProof="0" dirty="0" smtClean="0">
                <a:ln>
                  <a:noFill/>
                </a:ln>
                <a:solidFill>
                  <a:schemeClr val="tx1"/>
                </a:solidFill>
                <a:effectLst/>
                <a:uLnTx/>
                <a:uFillTx/>
                <a:latin typeface="+mn-lt"/>
                <a:ea typeface="+mn-ea"/>
                <a:cs typeface="+mn-cs"/>
              </a:rPr>
              <a:t>R</a:t>
            </a:r>
            <a:r>
              <a:rPr kumimoji="0" lang="nl-NL" sz="1800" b="0" i="0" u="none" strike="noStrike" kern="1200" cap="none" spc="0" normalizeH="0" noProof="0" dirty="0" smtClean="0">
                <a:ln>
                  <a:noFill/>
                </a:ln>
                <a:solidFill>
                  <a:schemeClr val="tx1"/>
                </a:solidFill>
                <a:effectLst/>
                <a:uLnTx/>
                <a:uFillTx/>
                <a:latin typeface="+mn-lt"/>
                <a:ea typeface="+mn-ea"/>
                <a:cs typeface="+mn-cs"/>
              </a:rPr>
              <a:t>: Hans wint </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t>Q</a:t>
            </a:r>
            <a:r>
              <a:rPr lang="nl-NL" noProof="0" dirty="0" smtClean="0"/>
              <a:t> : Piet wint</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Content Placeholder 2"/>
          <p:cNvSpPr txBox="1">
            <a:spLocks/>
          </p:cNvSpPr>
          <p:nvPr/>
        </p:nvSpPr>
        <p:spPr>
          <a:xfrm>
            <a:off x="7020272" y="3140968"/>
            <a:ext cx="3096344" cy="648072"/>
          </a:xfrm>
          <a:prstGeom prst="rect">
            <a:avLst/>
          </a:prstGeom>
        </p:spPr>
        <p:txBody>
          <a:bodyPr vert="horz" lIns="91440" tIns="45720" rIns="91440" bIns="45720" rtlCol="0">
            <a:normAutofit lnSpcReduction="10000"/>
          </a:bodyPr>
          <a:lstStyle/>
          <a:p>
            <a:pPr marL="342900" indent="-342900">
              <a:spcBef>
                <a:spcPct val="20000"/>
              </a:spcBef>
            </a:pPr>
            <a:r>
              <a:rPr lang="nl-NL" b="1" dirty="0" smtClean="0"/>
              <a:t>P → (¬Q ∧ ¬R)   </a:t>
            </a:r>
            <a:endParaRPr lang="nl-NL" dirty="0" smtClean="0"/>
          </a:p>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3" name="Content Placeholder 2"/>
          <p:cNvSpPr txBox="1">
            <a:spLocks/>
          </p:cNvSpPr>
          <p:nvPr/>
        </p:nvSpPr>
        <p:spPr>
          <a:xfrm>
            <a:off x="4067944" y="3789040"/>
            <a:ext cx="3096344" cy="648072"/>
          </a:xfrm>
          <a:prstGeom prst="rect">
            <a:avLst/>
          </a:prstGeom>
        </p:spPr>
        <p:txBody>
          <a:bodyPr vert="horz" lIns="91440" tIns="45720" rIns="91440" bIns="45720" rtlCol="0">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1" i="0" u="none" strike="noStrike" kern="1200" cap="none" spc="0" normalizeH="0" baseline="0" noProof="0" dirty="0" smtClean="0">
                <a:ln>
                  <a:noFill/>
                </a:ln>
                <a:solidFill>
                  <a:schemeClr val="tx1"/>
                </a:solidFill>
                <a:effectLst/>
                <a:uLnTx/>
                <a:uFillTx/>
                <a:latin typeface="+mn-lt"/>
                <a:ea typeface="+mn-ea"/>
                <a:cs typeface="+mn-cs"/>
              </a:rPr>
              <a:t>P</a:t>
            </a:r>
            <a:r>
              <a:rPr kumimoji="0" lang="nl-NL" sz="1800" b="0" i="0" u="none" strike="noStrike" kern="1200" cap="none" spc="0" normalizeH="0" noProof="0" dirty="0" smtClean="0">
                <a:ln>
                  <a:noFill/>
                </a:ln>
                <a:solidFill>
                  <a:schemeClr val="tx1"/>
                </a:solidFill>
                <a:effectLst/>
                <a:uLnTx/>
                <a:uFillTx/>
                <a:latin typeface="+mn-lt"/>
                <a:ea typeface="+mn-ea"/>
                <a:cs typeface="+mn-cs"/>
              </a:rPr>
              <a:t>: </a:t>
            </a:r>
            <a:r>
              <a:rPr lang="nl-NL" noProof="0" dirty="0" smtClean="0"/>
              <a:t>De economie trekt aan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1" i="0" u="none" strike="noStrike" kern="1200" cap="none" spc="0" normalizeH="0" baseline="0" dirty="0" smtClean="0">
                <a:ln>
                  <a:noFill/>
                </a:ln>
                <a:solidFill>
                  <a:schemeClr val="tx1"/>
                </a:solidFill>
                <a:effectLst/>
                <a:uLnTx/>
                <a:uFillTx/>
                <a:latin typeface="+mn-lt"/>
                <a:ea typeface="+mn-ea"/>
                <a:cs typeface="+mn-cs"/>
              </a:rPr>
              <a:t>Q</a:t>
            </a:r>
            <a:r>
              <a:rPr kumimoji="0" lang="nl-NL" sz="1800" b="0" i="0" u="none" strike="noStrike" kern="1200" cap="none" spc="0" normalizeH="0" baseline="0" dirty="0" smtClean="0">
                <a:ln>
                  <a:noFill/>
                </a:ln>
                <a:solidFill>
                  <a:schemeClr val="tx1"/>
                </a:solidFill>
                <a:effectLst/>
                <a:uLnTx/>
                <a:uFillTx/>
                <a:latin typeface="+mn-lt"/>
                <a:ea typeface="+mn-ea"/>
                <a:cs typeface="+mn-cs"/>
              </a:rPr>
              <a:t>:</a:t>
            </a:r>
            <a:r>
              <a:rPr kumimoji="0" lang="nl-NL" sz="1800" b="0" i="0" u="none" strike="noStrike" kern="1200" cap="none" spc="0" normalizeH="0" dirty="0" smtClean="0">
                <a:ln>
                  <a:noFill/>
                </a:ln>
                <a:solidFill>
                  <a:schemeClr val="tx1"/>
                </a:solidFill>
                <a:effectLst/>
                <a:uLnTx/>
                <a:uFillTx/>
                <a:latin typeface="+mn-lt"/>
                <a:ea typeface="+mn-ea"/>
                <a:cs typeface="+mn-cs"/>
              </a:rPr>
              <a:t> De werkloosheid daalt</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 name="Content Placeholder 2"/>
          <p:cNvSpPr txBox="1">
            <a:spLocks/>
          </p:cNvSpPr>
          <p:nvPr/>
        </p:nvSpPr>
        <p:spPr>
          <a:xfrm>
            <a:off x="7092280" y="3861048"/>
            <a:ext cx="3096344" cy="648072"/>
          </a:xfrm>
          <a:prstGeom prst="rect">
            <a:avLst/>
          </a:prstGeom>
        </p:spPr>
        <p:txBody>
          <a:bodyPr vert="horz" lIns="91440" tIns="45720" rIns="91440" bIns="45720" rtlCol="0">
            <a:normAutofit lnSpcReduction="10000"/>
          </a:bodyPr>
          <a:lstStyle/>
          <a:p>
            <a:pPr marL="342900" indent="-342900">
              <a:spcBef>
                <a:spcPct val="20000"/>
              </a:spcBef>
            </a:pPr>
            <a:r>
              <a:rPr lang="nl-NL" b="1" dirty="0" smtClean="0"/>
              <a:t>P ∧ ¬Q     </a:t>
            </a:r>
            <a:endParaRPr lang="nl-NL" dirty="0" smtClean="0"/>
          </a:p>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5" name="Content Placeholder 2"/>
          <p:cNvSpPr txBox="1">
            <a:spLocks/>
          </p:cNvSpPr>
          <p:nvPr/>
        </p:nvSpPr>
        <p:spPr>
          <a:xfrm>
            <a:off x="4067944" y="4581128"/>
            <a:ext cx="3672408"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1" i="0" u="none" strike="noStrike" kern="1200" cap="none" spc="0" normalizeH="0" baseline="0" noProof="0" dirty="0" smtClean="0">
                <a:ln>
                  <a:noFill/>
                </a:ln>
                <a:solidFill>
                  <a:schemeClr val="tx1"/>
                </a:solidFill>
                <a:effectLst/>
                <a:uLnTx/>
                <a:uFillTx/>
                <a:latin typeface="+mn-lt"/>
                <a:ea typeface="+mn-ea"/>
                <a:cs typeface="+mn-cs"/>
              </a:rPr>
              <a:t>P</a:t>
            </a:r>
            <a:r>
              <a:rPr kumimoji="0" lang="nl-NL" b="0" i="0" u="none" strike="noStrike" kern="1200" cap="none" spc="0" normalizeH="0" noProof="0" dirty="0" smtClean="0">
                <a:ln>
                  <a:noFill/>
                </a:ln>
                <a:solidFill>
                  <a:schemeClr val="tx1"/>
                </a:solidFill>
                <a:effectLst/>
                <a:uLnTx/>
                <a:uFillTx/>
                <a:latin typeface="+mn-lt"/>
                <a:ea typeface="+mn-ea"/>
                <a:cs typeface="+mn-cs"/>
              </a:rPr>
              <a:t>: </a:t>
            </a:r>
            <a:r>
              <a:rPr lang="nl-NL" dirty="0" smtClean="0"/>
              <a:t>Het regent deze week</a:t>
            </a:r>
            <a:endParaRPr lang="nl-NL" noProof="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1" i="0" u="none" strike="noStrike" kern="1200" cap="none" spc="0" normalizeH="0" baseline="0" dirty="0" smtClean="0">
                <a:ln>
                  <a:noFill/>
                </a:ln>
                <a:solidFill>
                  <a:schemeClr val="tx1"/>
                </a:solidFill>
                <a:effectLst/>
                <a:uLnTx/>
                <a:uFillTx/>
                <a:latin typeface="+mn-lt"/>
                <a:ea typeface="+mn-ea"/>
                <a:cs typeface="+mn-cs"/>
              </a:rPr>
              <a:t>Q</a:t>
            </a:r>
            <a:r>
              <a:rPr kumimoji="0" lang="nl-NL" b="0" i="0" u="none" strike="noStrike" kern="1200" cap="none" spc="0" normalizeH="0" baseline="0" dirty="0" smtClean="0">
                <a:ln>
                  <a:noFill/>
                </a:ln>
                <a:solidFill>
                  <a:schemeClr val="tx1"/>
                </a:solidFill>
                <a:effectLst/>
                <a:uLnTx/>
                <a:uFillTx/>
                <a:latin typeface="+mn-lt"/>
                <a:ea typeface="+mn-ea"/>
                <a:cs typeface="+mn-cs"/>
              </a:rPr>
              <a:t>:</a:t>
            </a:r>
            <a:r>
              <a:rPr kumimoji="0" lang="nl-NL" b="0" i="0" u="none" strike="noStrike" kern="1200" cap="none" spc="0" normalizeH="0" dirty="0" smtClean="0">
                <a:ln>
                  <a:noFill/>
                </a:ln>
                <a:solidFill>
                  <a:schemeClr val="tx1"/>
                </a:solidFill>
                <a:effectLst/>
                <a:uLnTx/>
                <a:uFillTx/>
                <a:latin typeface="+mn-lt"/>
                <a:ea typeface="+mn-ea"/>
                <a:cs typeface="+mn-cs"/>
              </a:rPr>
              <a:t> Het regent volgende week</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t>R</a:t>
            </a:r>
            <a:r>
              <a:rPr lang="nl-NL" dirty="0" smtClean="0"/>
              <a:t>: De oogst is reddeloos verloren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7308304" y="4725144"/>
            <a:ext cx="3096344" cy="648072"/>
          </a:xfrm>
          <a:prstGeom prst="rect">
            <a:avLst/>
          </a:prstGeom>
        </p:spPr>
        <p:txBody>
          <a:bodyPr vert="horz" lIns="91440" tIns="45720" rIns="91440" bIns="45720" rtlCol="0">
            <a:normAutofit lnSpcReduction="10000"/>
          </a:bodyPr>
          <a:lstStyle/>
          <a:p>
            <a:pPr marL="342900" indent="-342900">
              <a:spcBef>
                <a:spcPct val="20000"/>
              </a:spcBef>
            </a:pPr>
            <a:r>
              <a:rPr lang="nl-NL" b="1" dirty="0" smtClean="0"/>
              <a:t>¬(P ∨ Q) → R     </a:t>
            </a:r>
            <a:endParaRPr lang="nl-NL" dirty="0" smtClean="0"/>
          </a:p>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7" name="Content Placeholder 2"/>
          <p:cNvSpPr txBox="1">
            <a:spLocks/>
          </p:cNvSpPr>
          <p:nvPr/>
        </p:nvSpPr>
        <p:spPr>
          <a:xfrm>
            <a:off x="4067944" y="5805264"/>
            <a:ext cx="3672408"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1" i="0" u="none" strike="noStrike" kern="1200" cap="none" spc="0" normalizeH="0" baseline="0" noProof="0" dirty="0" smtClean="0">
                <a:ln>
                  <a:noFill/>
                </a:ln>
                <a:solidFill>
                  <a:schemeClr val="tx1"/>
                </a:solidFill>
                <a:effectLst/>
                <a:uLnTx/>
                <a:uFillTx/>
                <a:latin typeface="+mn-lt"/>
                <a:ea typeface="+mn-ea"/>
                <a:cs typeface="+mn-cs"/>
              </a:rPr>
              <a:t>P</a:t>
            </a:r>
            <a:r>
              <a:rPr kumimoji="0" lang="nl-NL" b="0" i="0" u="none" strike="noStrike" kern="1200" cap="none" spc="0" normalizeH="0" noProof="0" dirty="0" smtClean="0">
                <a:ln>
                  <a:noFill/>
                </a:ln>
                <a:solidFill>
                  <a:schemeClr val="tx1"/>
                </a:solidFill>
                <a:effectLst/>
                <a:uLnTx/>
                <a:uFillTx/>
                <a:latin typeface="+mn-lt"/>
                <a:ea typeface="+mn-ea"/>
                <a:cs typeface="+mn-cs"/>
              </a:rPr>
              <a:t>: </a:t>
            </a:r>
            <a:r>
              <a:rPr lang="nl-NL" noProof="0" dirty="0" smtClean="0"/>
              <a:t>Er zijn leraren in de deugd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b="1" i="0" u="none" strike="noStrike" kern="1200" cap="none" spc="0" normalizeH="0" baseline="0" dirty="0" smtClean="0">
                <a:ln>
                  <a:noFill/>
                </a:ln>
                <a:solidFill>
                  <a:schemeClr val="tx1"/>
                </a:solidFill>
                <a:effectLst/>
                <a:uLnTx/>
                <a:uFillTx/>
                <a:latin typeface="+mn-lt"/>
                <a:ea typeface="+mn-ea"/>
                <a:cs typeface="+mn-cs"/>
              </a:rPr>
              <a:t>Q</a:t>
            </a:r>
            <a:r>
              <a:rPr kumimoji="0" lang="nl-NL" b="0" i="0" u="none" strike="noStrike" kern="1200" cap="none" spc="0" normalizeH="0" baseline="0" dirty="0" smtClean="0">
                <a:ln>
                  <a:noFill/>
                </a:ln>
                <a:solidFill>
                  <a:schemeClr val="tx1"/>
                </a:solidFill>
                <a:effectLst/>
                <a:uLnTx/>
                <a:uFillTx/>
                <a:latin typeface="+mn-lt"/>
                <a:ea typeface="+mn-ea"/>
                <a:cs typeface="+mn-cs"/>
              </a:rPr>
              <a:t>:</a:t>
            </a:r>
            <a:r>
              <a:rPr kumimoji="0" lang="nl-NL" b="0" i="0" u="none" strike="noStrike" kern="1200" cap="none" spc="0" normalizeH="0" dirty="0" smtClean="0">
                <a:ln>
                  <a:noFill/>
                </a:ln>
                <a:solidFill>
                  <a:schemeClr val="tx1"/>
                </a:solidFill>
                <a:effectLst/>
                <a:uLnTx/>
                <a:uFillTx/>
                <a:latin typeface="+mn-lt"/>
                <a:ea typeface="+mn-ea"/>
                <a:cs typeface="+mn-cs"/>
              </a:rPr>
              <a:t> Er zijn leerlingen in de deugd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t>R</a:t>
            </a:r>
            <a:r>
              <a:rPr lang="nl-NL" dirty="0" smtClean="0"/>
              <a:t>: De deugd kan onderwezen worden</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7308304" y="5661248"/>
            <a:ext cx="3096344" cy="648072"/>
          </a:xfrm>
          <a:prstGeom prst="rect">
            <a:avLst/>
          </a:prstGeom>
        </p:spPr>
        <p:txBody>
          <a:bodyPr vert="horz" lIns="91440" tIns="45720" rIns="91440" bIns="45720" rtlCol="0">
            <a:normAutofit lnSpcReduction="10000"/>
          </a:bodyPr>
          <a:lstStyle/>
          <a:p>
            <a:pPr marL="342900" indent="-342900">
              <a:spcBef>
                <a:spcPct val="20000"/>
              </a:spcBef>
            </a:pPr>
            <a:r>
              <a:rPr lang="nl-NL" b="1" dirty="0" smtClean="0"/>
              <a:t>     </a:t>
            </a:r>
            <a:endParaRPr lang="nl-NL" dirty="0" smtClean="0"/>
          </a:p>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7452320" y="6021288"/>
            <a:ext cx="3096344" cy="648072"/>
          </a:xfrm>
          <a:prstGeom prst="rect">
            <a:avLst/>
          </a:prstGeom>
        </p:spPr>
        <p:txBody>
          <a:bodyPr vert="horz" lIns="91440" tIns="45720" rIns="91440" bIns="45720" rtlCol="0">
            <a:normAutofit lnSpcReduction="10000"/>
          </a:bodyPr>
          <a:lstStyle/>
          <a:p>
            <a:pPr marL="342900" indent="-342900">
              <a:spcBef>
                <a:spcPct val="20000"/>
              </a:spcBef>
            </a:pPr>
            <a:r>
              <a:rPr lang="nl-NL" b="1" dirty="0" smtClean="0"/>
              <a:t>(¬P ∧ ¬Q) → ¬R        </a:t>
            </a:r>
            <a:endParaRPr lang="nl-NL" dirty="0" smtClean="0"/>
          </a:p>
          <a:p>
            <a:pPr marL="342900" lvl="0" indent="-342900">
              <a:spcBef>
                <a:spcPct val="20000"/>
              </a:spcBef>
            </a:pPr>
            <a:r>
              <a:rPr lang="nl-NL" b="1" dirty="0" smtClean="0"/>
              <a:t>   </a:t>
            </a:r>
            <a:endParaRPr kumimoji="0" lang="nl-NL" sz="1800" b="1"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2000"/>
                                        <p:tgtEl>
                                          <p:spTgt spid="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animEffect transition="in" filter="fade">
                                      <p:cBhvr>
                                        <p:cTn id="13" dur="2000"/>
                                        <p:tgtEl>
                                          <p:spTgt spid="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xEl>
                                              <p:pRg st="0" end="0"/>
                                            </p:txEl>
                                          </p:spTgt>
                                        </p:tgtEl>
                                        <p:attrNameLst>
                                          <p:attrName>style.visibility</p:attrName>
                                        </p:attrNameLst>
                                      </p:cBhvr>
                                      <p:to>
                                        <p:strVal val="visible"/>
                                      </p:to>
                                    </p:set>
                                    <p:animEffect transition="in" filter="fade">
                                      <p:cBhvr>
                                        <p:cTn id="18" dur="2000"/>
                                        <p:tgtEl>
                                          <p:spTgt spid="1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fade">
                                      <p:cBhvr>
                                        <p:cTn id="23" dur="2000"/>
                                        <p:tgtEl>
                                          <p:spTgt spid="8">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xEl>
                                              <p:pRg st="0" end="0"/>
                                            </p:txEl>
                                          </p:spTgt>
                                        </p:tgtEl>
                                        <p:attrNameLst>
                                          <p:attrName>style.visibility</p:attrName>
                                        </p:attrNameLst>
                                      </p:cBhvr>
                                      <p:to>
                                        <p:strVal val="visible"/>
                                      </p:to>
                                    </p:set>
                                    <p:animEffect transition="in" filter="fade">
                                      <p:cBhvr>
                                        <p:cTn id="28" dur="2000"/>
                                        <p:tgtEl>
                                          <p:spTgt spid="16">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xEl>
                                              <p:pRg st="1" end="1"/>
                                            </p:txEl>
                                          </p:spTgt>
                                        </p:tgtEl>
                                        <p:attrNameLst>
                                          <p:attrName>style.visibility</p:attrName>
                                        </p:attrNameLst>
                                      </p:cBhvr>
                                      <p:to>
                                        <p:strVal val="visible"/>
                                      </p:to>
                                    </p:set>
                                    <p:animEffect transition="in" filter="fade">
                                      <p:cBhvr>
                                        <p:cTn id="31" dur="2000"/>
                                        <p:tgtEl>
                                          <p:spTgt spid="16">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9">
                                            <p:txEl>
                                              <p:pRg st="0" end="0"/>
                                            </p:txEl>
                                          </p:spTgt>
                                        </p:tgtEl>
                                        <p:attrNameLst>
                                          <p:attrName>style.visibility</p:attrName>
                                        </p:attrNameLst>
                                      </p:cBhvr>
                                      <p:to>
                                        <p:strVal val="visible"/>
                                      </p:to>
                                    </p:set>
                                    <p:animEffect transition="in" filter="fade">
                                      <p:cBhvr>
                                        <p:cTn id="36" dur="2000"/>
                                        <p:tgtEl>
                                          <p:spTgt spid="19">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xEl>
                                              <p:pRg st="1" end="1"/>
                                            </p:txEl>
                                          </p:spTgt>
                                        </p:tgtEl>
                                        <p:attrNameLst>
                                          <p:attrName>style.visibility</p:attrName>
                                        </p:attrNameLst>
                                      </p:cBhvr>
                                      <p:to>
                                        <p:strVal val="visible"/>
                                      </p:to>
                                    </p:set>
                                    <p:animEffect transition="in" filter="fade">
                                      <p:cBhvr>
                                        <p:cTn id="39" dur="2000"/>
                                        <p:tgtEl>
                                          <p:spTgt spid="19">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
                                            <p:txEl>
                                              <p:pRg st="0" end="0"/>
                                            </p:txEl>
                                          </p:spTgt>
                                        </p:tgtEl>
                                        <p:attrNameLst>
                                          <p:attrName>style.visibility</p:attrName>
                                        </p:attrNameLst>
                                      </p:cBhvr>
                                      <p:to>
                                        <p:strVal val="visible"/>
                                      </p:to>
                                    </p:set>
                                    <p:animEffect transition="in" filter="fade">
                                      <p:cBhvr>
                                        <p:cTn id="44" dur="2000"/>
                                        <p:tgtEl>
                                          <p:spTgt spid="11">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xEl>
                                              <p:pRg st="0" end="0"/>
                                            </p:txEl>
                                          </p:spTgt>
                                        </p:tgtEl>
                                        <p:attrNameLst>
                                          <p:attrName>style.visibility</p:attrName>
                                        </p:attrNameLst>
                                      </p:cBhvr>
                                      <p:to>
                                        <p:strVal val="visible"/>
                                      </p:to>
                                    </p:set>
                                    <p:animEffect transition="in" filter="fade">
                                      <p:cBhvr>
                                        <p:cTn id="49" dur="2000"/>
                                        <p:tgtEl>
                                          <p:spTgt spid="21">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xEl>
                                              <p:pRg st="1" end="1"/>
                                            </p:txEl>
                                          </p:spTgt>
                                        </p:tgtEl>
                                        <p:attrNameLst>
                                          <p:attrName>style.visibility</p:attrName>
                                        </p:attrNameLst>
                                      </p:cBhvr>
                                      <p:to>
                                        <p:strVal val="visible"/>
                                      </p:to>
                                    </p:set>
                                    <p:animEffect transition="in" filter="fade">
                                      <p:cBhvr>
                                        <p:cTn id="52" dur="2000"/>
                                        <p:tgtEl>
                                          <p:spTgt spid="21">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xEl>
                                              <p:pRg st="0" end="0"/>
                                            </p:txEl>
                                          </p:spTgt>
                                        </p:tgtEl>
                                        <p:attrNameLst>
                                          <p:attrName>style.visibility</p:attrName>
                                        </p:attrNameLst>
                                      </p:cBhvr>
                                      <p:to>
                                        <p:strVal val="visible"/>
                                      </p:to>
                                    </p:set>
                                    <p:animEffect transition="in" filter="fade">
                                      <p:cBhvr>
                                        <p:cTn id="57" dur="2000"/>
                                        <p:tgtEl>
                                          <p:spTgt spid="22">
                                            <p:txEl>
                                              <p:pRg st="0" end="0"/>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xEl>
                                              <p:pRg st="1" end="1"/>
                                            </p:txEl>
                                          </p:spTgt>
                                        </p:tgtEl>
                                        <p:attrNameLst>
                                          <p:attrName>style.visibility</p:attrName>
                                        </p:attrNameLst>
                                      </p:cBhvr>
                                      <p:to>
                                        <p:strVal val="visible"/>
                                      </p:to>
                                    </p:set>
                                    <p:animEffect transition="in" filter="fade">
                                      <p:cBhvr>
                                        <p:cTn id="60" dur="2000"/>
                                        <p:tgtEl>
                                          <p:spTgt spid="22">
                                            <p:txEl>
                                              <p:pRg st="1" end="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5">
                                            <p:txEl>
                                              <p:pRg st="0" end="0"/>
                                            </p:txEl>
                                          </p:spTgt>
                                        </p:tgtEl>
                                        <p:attrNameLst>
                                          <p:attrName>style.visibility</p:attrName>
                                        </p:attrNameLst>
                                      </p:cBhvr>
                                      <p:to>
                                        <p:strVal val="visible"/>
                                      </p:to>
                                    </p:set>
                                    <p:animEffect transition="in" filter="fade">
                                      <p:cBhvr>
                                        <p:cTn id="65" dur="2000"/>
                                        <p:tgtEl>
                                          <p:spTgt spid="15">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3">
                                            <p:txEl>
                                              <p:pRg st="0" end="0"/>
                                            </p:txEl>
                                          </p:spTgt>
                                        </p:tgtEl>
                                        <p:attrNameLst>
                                          <p:attrName>style.visibility</p:attrName>
                                        </p:attrNameLst>
                                      </p:cBhvr>
                                      <p:to>
                                        <p:strVal val="visible"/>
                                      </p:to>
                                    </p:set>
                                    <p:animEffect transition="in" filter="fade">
                                      <p:cBhvr>
                                        <p:cTn id="70" dur="2000"/>
                                        <p:tgtEl>
                                          <p:spTgt spid="23">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3">
                                            <p:txEl>
                                              <p:pRg st="1" end="1"/>
                                            </p:txEl>
                                          </p:spTgt>
                                        </p:tgtEl>
                                        <p:attrNameLst>
                                          <p:attrName>style.visibility</p:attrName>
                                        </p:attrNameLst>
                                      </p:cBhvr>
                                      <p:to>
                                        <p:strVal val="visible"/>
                                      </p:to>
                                    </p:set>
                                    <p:animEffect transition="in" filter="fade">
                                      <p:cBhvr>
                                        <p:cTn id="73" dur="2000"/>
                                        <p:tgtEl>
                                          <p:spTgt spid="23">
                                            <p:txEl>
                                              <p:pRg st="1" end="1"/>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4">
                                            <p:txEl>
                                              <p:pRg st="0" end="0"/>
                                            </p:txEl>
                                          </p:spTgt>
                                        </p:tgtEl>
                                        <p:attrNameLst>
                                          <p:attrName>style.visibility</p:attrName>
                                        </p:attrNameLst>
                                      </p:cBhvr>
                                      <p:to>
                                        <p:strVal val="visible"/>
                                      </p:to>
                                    </p:set>
                                    <p:animEffect transition="in" filter="fade">
                                      <p:cBhvr>
                                        <p:cTn id="78" dur="2000"/>
                                        <p:tgtEl>
                                          <p:spTgt spid="24">
                                            <p:txEl>
                                              <p:pRg st="0" end="0"/>
                                            </p:txEl>
                                          </p:spTgt>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4">
                                            <p:txEl>
                                              <p:pRg st="1" end="1"/>
                                            </p:txEl>
                                          </p:spTgt>
                                        </p:tgtEl>
                                        <p:attrNameLst>
                                          <p:attrName>style.visibility</p:attrName>
                                        </p:attrNameLst>
                                      </p:cBhvr>
                                      <p:to>
                                        <p:strVal val="visible"/>
                                      </p:to>
                                    </p:set>
                                    <p:animEffect transition="in" filter="fade">
                                      <p:cBhvr>
                                        <p:cTn id="81" dur="2000"/>
                                        <p:tgtEl>
                                          <p:spTgt spid="24">
                                            <p:txEl>
                                              <p:pRg st="1" end="1"/>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2">
                                            <p:txEl>
                                              <p:pRg st="0" end="0"/>
                                            </p:txEl>
                                          </p:spTgt>
                                        </p:tgtEl>
                                        <p:attrNameLst>
                                          <p:attrName>style.visibility</p:attrName>
                                        </p:attrNameLst>
                                      </p:cBhvr>
                                      <p:to>
                                        <p:strVal val="visible"/>
                                      </p:to>
                                    </p:set>
                                    <p:animEffect transition="in" filter="fade">
                                      <p:cBhvr>
                                        <p:cTn id="86" dur="2000"/>
                                        <p:tgtEl>
                                          <p:spTgt spid="12">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5">
                                            <p:txEl>
                                              <p:pRg st="0" end="0"/>
                                            </p:txEl>
                                          </p:spTgt>
                                        </p:tgtEl>
                                        <p:attrNameLst>
                                          <p:attrName>style.visibility</p:attrName>
                                        </p:attrNameLst>
                                      </p:cBhvr>
                                      <p:to>
                                        <p:strVal val="visible"/>
                                      </p:to>
                                    </p:set>
                                    <p:animEffect transition="in" filter="fade">
                                      <p:cBhvr>
                                        <p:cTn id="91" dur="2000"/>
                                        <p:tgtEl>
                                          <p:spTgt spid="25">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5">
                                            <p:txEl>
                                              <p:pRg st="1" end="1"/>
                                            </p:txEl>
                                          </p:spTgt>
                                        </p:tgtEl>
                                        <p:attrNameLst>
                                          <p:attrName>style.visibility</p:attrName>
                                        </p:attrNameLst>
                                      </p:cBhvr>
                                      <p:to>
                                        <p:strVal val="visible"/>
                                      </p:to>
                                    </p:set>
                                    <p:animEffect transition="in" filter="fade">
                                      <p:cBhvr>
                                        <p:cTn id="94" dur="2000"/>
                                        <p:tgtEl>
                                          <p:spTgt spid="25">
                                            <p:txEl>
                                              <p:pRg st="1" end="1"/>
                                            </p:txEl>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5">
                                            <p:txEl>
                                              <p:pRg st="2" end="2"/>
                                            </p:txEl>
                                          </p:spTgt>
                                        </p:tgtEl>
                                        <p:attrNameLst>
                                          <p:attrName>style.visibility</p:attrName>
                                        </p:attrNameLst>
                                      </p:cBhvr>
                                      <p:to>
                                        <p:strVal val="visible"/>
                                      </p:to>
                                    </p:set>
                                    <p:animEffect transition="in" filter="fade">
                                      <p:cBhvr>
                                        <p:cTn id="97" dur="2000"/>
                                        <p:tgtEl>
                                          <p:spTgt spid="25">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6">
                                            <p:txEl>
                                              <p:pRg st="0" end="0"/>
                                            </p:txEl>
                                          </p:spTgt>
                                        </p:tgtEl>
                                        <p:attrNameLst>
                                          <p:attrName>style.visibility</p:attrName>
                                        </p:attrNameLst>
                                      </p:cBhvr>
                                      <p:to>
                                        <p:strVal val="visible"/>
                                      </p:to>
                                    </p:set>
                                    <p:animEffect transition="in" filter="fade">
                                      <p:cBhvr>
                                        <p:cTn id="102" dur="2000"/>
                                        <p:tgtEl>
                                          <p:spTgt spid="26">
                                            <p:txEl>
                                              <p:pRg st="0" end="0"/>
                                            </p:txEl>
                                          </p:spTgt>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6">
                                            <p:txEl>
                                              <p:pRg st="1" end="1"/>
                                            </p:txEl>
                                          </p:spTgt>
                                        </p:tgtEl>
                                        <p:attrNameLst>
                                          <p:attrName>style.visibility</p:attrName>
                                        </p:attrNameLst>
                                      </p:cBhvr>
                                      <p:to>
                                        <p:strVal val="visible"/>
                                      </p:to>
                                    </p:set>
                                    <p:animEffect transition="in" filter="fade">
                                      <p:cBhvr>
                                        <p:cTn id="105" dur="2000"/>
                                        <p:tgtEl>
                                          <p:spTgt spid="26">
                                            <p:txEl>
                                              <p:pRg st="1" end="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14">
                                            <p:txEl>
                                              <p:pRg st="0" end="0"/>
                                            </p:txEl>
                                          </p:spTgt>
                                        </p:tgtEl>
                                        <p:attrNameLst>
                                          <p:attrName>style.visibility</p:attrName>
                                        </p:attrNameLst>
                                      </p:cBhvr>
                                      <p:to>
                                        <p:strVal val="visible"/>
                                      </p:to>
                                    </p:set>
                                    <p:animEffect transition="in" filter="fade">
                                      <p:cBhvr>
                                        <p:cTn id="110" dur="2000"/>
                                        <p:tgtEl>
                                          <p:spTgt spid="14">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7">
                                            <p:txEl>
                                              <p:pRg st="0" end="0"/>
                                            </p:txEl>
                                          </p:spTgt>
                                        </p:tgtEl>
                                        <p:attrNameLst>
                                          <p:attrName>style.visibility</p:attrName>
                                        </p:attrNameLst>
                                      </p:cBhvr>
                                      <p:to>
                                        <p:strVal val="visible"/>
                                      </p:to>
                                    </p:set>
                                    <p:animEffect transition="in" filter="fade">
                                      <p:cBhvr>
                                        <p:cTn id="115" dur="2000"/>
                                        <p:tgtEl>
                                          <p:spTgt spid="27">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7">
                                            <p:txEl>
                                              <p:pRg st="1" end="1"/>
                                            </p:txEl>
                                          </p:spTgt>
                                        </p:tgtEl>
                                        <p:attrNameLst>
                                          <p:attrName>style.visibility</p:attrName>
                                        </p:attrNameLst>
                                      </p:cBhvr>
                                      <p:to>
                                        <p:strVal val="visible"/>
                                      </p:to>
                                    </p:set>
                                    <p:animEffect transition="in" filter="fade">
                                      <p:cBhvr>
                                        <p:cTn id="118" dur="2000"/>
                                        <p:tgtEl>
                                          <p:spTgt spid="27">
                                            <p:txEl>
                                              <p:pRg st="1" end="1"/>
                                            </p:txEl>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7">
                                            <p:txEl>
                                              <p:pRg st="2" end="2"/>
                                            </p:txEl>
                                          </p:spTgt>
                                        </p:tgtEl>
                                        <p:attrNameLst>
                                          <p:attrName>style.visibility</p:attrName>
                                        </p:attrNameLst>
                                      </p:cBhvr>
                                      <p:to>
                                        <p:strVal val="visible"/>
                                      </p:to>
                                    </p:set>
                                    <p:animEffect transition="in" filter="fade">
                                      <p:cBhvr>
                                        <p:cTn id="121" dur="2000"/>
                                        <p:tgtEl>
                                          <p:spTgt spid="27">
                                            <p:txEl>
                                              <p:pRg st="2" end="2"/>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29">
                                            <p:txEl>
                                              <p:pRg st="0" end="0"/>
                                            </p:txEl>
                                          </p:spTgt>
                                        </p:tgtEl>
                                        <p:attrNameLst>
                                          <p:attrName>style.visibility</p:attrName>
                                        </p:attrNameLst>
                                      </p:cBhvr>
                                      <p:to>
                                        <p:strVal val="visible"/>
                                      </p:to>
                                    </p:set>
                                    <p:animEffect transition="in" filter="fade">
                                      <p:cBhvr>
                                        <p:cTn id="126" dur="2000"/>
                                        <p:tgtEl>
                                          <p:spTgt spid="29">
                                            <p:txEl>
                                              <p:pRg st="0" end="0"/>
                                            </p:txEl>
                                          </p:spTgt>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9">
                                            <p:txEl>
                                              <p:pRg st="1" end="1"/>
                                            </p:txEl>
                                          </p:spTgt>
                                        </p:tgtEl>
                                        <p:attrNameLst>
                                          <p:attrName>style.visibility</p:attrName>
                                        </p:attrNameLst>
                                      </p:cBhvr>
                                      <p:to>
                                        <p:strVal val="visible"/>
                                      </p:to>
                                    </p:set>
                                    <p:animEffect transition="in" filter="fade">
                                      <p:cBhvr>
                                        <p:cTn id="129" dur="20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11" grpId="0" build="allAtOnce"/>
      <p:bldP spid="12" grpId="0" build="allAtOnce"/>
      <p:bldP spid="14" grpId="0" build="allAtOnce"/>
      <p:bldP spid="15" grpId="0" build="allAtOnce"/>
      <p:bldP spid="9" grpId="0" build="allAtOnce"/>
      <p:bldP spid="13" grpId="0" build="allAtOnce"/>
      <p:bldP spid="16" grpId="0" build="allAtOnce"/>
      <p:bldP spid="19" grpId="0" build="allAtOnce"/>
      <p:bldP spid="21" grpId="0" build="allAtOnce"/>
      <p:bldP spid="22" grpId="0" build="allAtOnce"/>
      <p:bldP spid="23" grpId="0" build="allAtOnce"/>
      <p:bldP spid="24" grpId="0" build="allAtOnce"/>
      <p:bldP spid="25" grpId="0" build="allAtOnce"/>
      <p:bldP spid="26" grpId="0" build="allAtOnce"/>
      <p:bldP spid="27" grpId="0" build="allAtOnce"/>
      <p:bldP spid="29"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 proposities van de propositielogica</a:t>
            </a:r>
            <a:endParaRPr lang="nl-NL" sz="3200" dirty="0"/>
          </a:p>
        </p:txBody>
      </p:sp>
      <p:sp>
        <p:nvSpPr>
          <p:cNvPr id="20" name="Content Placeholder 2"/>
          <p:cNvSpPr txBox="1">
            <a:spLocks/>
          </p:cNvSpPr>
          <p:nvPr/>
        </p:nvSpPr>
        <p:spPr>
          <a:xfrm>
            <a:off x="179512"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P</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9" name="Content Placeholder 2"/>
          <p:cNvSpPr txBox="1">
            <a:spLocks/>
          </p:cNvSpPr>
          <p:nvPr/>
        </p:nvSpPr>
        <p:spPr>
          <a:xfrm>
            <a:off x="1115616"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Q</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0" name="Content Placeholder 2"/>
          <p:cNvSpPr txBox="1">
            <a:spLocks/>
          </p:cNvSpPr>
          <p:nvPr/>
        </p:nvSpPr>
        <p:spPr>
          <a:xfrm>
            <a:off x="2051720"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R</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1" name="Content Placeholder 2"/>
          <p:cNvSpPr txBox="1">
            <a:spLocks/>
          </p:cNvSpPr>
          <p:nvPr/>
        </p:nvSpPr>
        <p:spPr>
          <a:xfrm>
            <a:off x="2843808"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S</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3" name="Content Placeholder 2"/>
          <p:cNvSpPr txBox="1">
            <a:spLocks/>
          </p:cNvSpPr>
          <p:nvPr/>
        </p:nvSpPr>
        <p:spPr>
          <a:xfrm>
            <a:off x="3779912"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T</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5" name="Content Placeholder 2"/>
          <p:cNvSpPr txBox="1">
            <a:spLocks/>
          </p:cNvSpPr>
          <p:nvPr/>
        </p:nvSpPr>
        <p:spPr>
          <a:xfrm>
            <a:off x="4644008"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U</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6" name="Content Placeholder 2"/>
          <p:cNvSpPr txBox="1">
            <a:spLocks/>
          </p:cNvSpPr>
          <p:nvPr/>
        </p:nvSpPr>
        <p:spPr>
          <a:xfrm>
            <a:off x="5436096"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V</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1" name="Content Placeholder 2"/>
          <p:cNvSpPr txBox="1">
            <a:spLocks/>
          </p:cNvSpPr>
          <p:nvPr/>
        </p:nvSpPr>
        <p:spPr>
          <a:xfrm>
            <a:off x="6228184"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W</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2" name="TextBox 21"/>
          <p:cNvSpPr txBox="1"/>
          <p:nvPr/>
        </p:nvSpPr>
        <p:spPr>
          <a:xfrm>
            <a:off x="7344816" y="1990581"/>
            <a:ext cx="1547664" cy="646331"/>
          </a:xfrm>
          <a:prstGeom prst="rect">
            <a:avLst/>
          </a:prstGeom>
          <a:noFill/>
        </p:spPr>
        <p:txBody>
          <a:bodyPr wrap="square" rtlCol="0">
            <a:spAutoFit/>
          </a:bodyPr>
          <a:lstStyle/>
          <a:p>
            <a:r>
              <a:rPr lang="nl-NL" i="1" dirty="0" smtClean="0"/>
              <a:t>Elementaire proposities</a:t>
            </a:r>
            <a:endParaRPr lang="nl-NL" i="1" dirty="0"/>
          </a:p>
        </p:txBody>
      </p:sp>
      <p:sp>
        <p:nvSpPr>
          <p:cNvPr id="23" name="TextBox 22"/>
          <p:cNvSpPr txBox="1"/>
          <p:nvPr/>
        </p:nvSpPr>
        <p:spPr>
          <a:xfrm>
            <a:off x="7020272" y="2780928"/>
            <a:ext cx="2195736" cy="923330"/>
          </a:xfrm>
          <a:prstGeom prst="rect">
            <a:avLst/>
          </a:prstGeom>
          <a:noFill/>
        </p:spPr>
        <p:txBody>
          <a:bodyPr wrap="square" rtlCol="0">
            <a:spAutoFit/>
          </a:bodyPr>
          <a:lstStyle/>
          <a:p>
            <a:pPr algn="ctr"/>
            <a:r>
              <a:rPr lang="nl-NL" i="1" dirty="0" smtClean="0"/>
              <a:t>Samenstellingen             van elementaire proposities</a:t>
            </a:r>
            <a:endParaRPr lang="nl-NL" i="1" dirty="0"/>
          </a:p>
        </p:txBody>
      </p:sp>
      <p:sp>
        <p:nvSpPr>
          <p:cNvPr id="24" name="TextBox 23"/>
          <p:cNvSpPr txBox="1"/>
          <p:nvPr/>
        </p:nvSpPr>
        <p:spPr>
          <a:xfrm>
            <a:off x="7020272" y="3861048"/>
            <a:ext cx="2195736" cy="1200329"/>
          </a:xfrm>
          <a:prstGeom prst="rect">
            <a:avLst/>
          </a:prstGeom>
          <a:noFill/>
        </p:spPr>
        <p:txBody>
          <a:bodyPr wrap="square" rtlCol="0">
            <a:spAutoFit/>
          </a:bodyPr>
          <a:lstStyle/>
          <a:p>
            <a:pPr algn="ctr"/>
            <a:r>
              <a:rPr lang="nl-NL" i="1" dirty="0" smtClean="0"/>
              <a:t>Samenstellingen             van samenstellingen van elementaire proposities</a:t>
            </a:r>
            <a:endParaRPr lang="nl-NL" i="1" dirty="0"/>
          </a:p>
        </p:txBody>
      </p:sp>
      <p:sp>
        <p:nvSpPr>
          <p:cNvPr id="25" name="TextBox 24"/>
          <p:cNvSpPr txBox="1"/>
          <p:nvPr/>
        </p:nvSpPr>
        <p:spPr>
          <a:xfrm>
            <a:off x="7416824" y="5363924"/>
            <a:ext cx="2195736" cy="369332"/>
          </a:xfrm>
          <a:prstGeom prst="rect">
            <a:avLst/>
          </a:prstGeom>
          <a:noFill/>
        </p:spPr>
        <p:txBody>
          <a:bodyPr wrap="square" rtlCol="0">
            <a:spAutoFit/>
          </a:bodyPr>
          <a:lstStyle/>
          <a:p>
            <a:r>
              <a:rPr lang="nl-NL" i="1" dirty="0" smtClean="0"/>
              <a:t>Enzovoort…</a:t>
            </a:r>
            <a:endParaRPr lang="nl-NL" i="1" dirty="0"/>
          </a:p>
        </p:txBody>
      </p:sp>
      <p:sp>
        <p:nvSpPr>
          <p:cNvPr id="26" name="Content Placeholder 2"/>
          <p:cNvSpPr txBox="1">
            <a:spLocks/>
          </p:cNvSpPr>
          <p:nvPr/>
        </p:nvSpPr>
        <p:spPr>
          <a:xfrm>
            <a:off x="395536" y="2852936"/>
            <a:ext cx="86409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Q)</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7" name="Content Placeholder 2"/>
          <p:cNvSpPr txBox="1">
            <a:spLocks/>
          </p:cNvSpPr>
          <p:nvPr/>
        </p:nvSpPr>
        <p:spPr>
          <a:xfrm>
            <a:off x="1691680" y="2852936"/>
            <a:ext cx="86409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¬R</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8" name="Content Placeholder 2"/>
          <p:cNvSpPr txBox="1">
            <a:spLocks/>
          </p:cNvSpPr>
          <p:nvPr/>
        </p:nvSpPr>
        <p:spPr>
          <a:xfrm>
            <a:off x="2555776" y="2852936"/>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9" name="Content Placeholder 2"/>
          <p:cNvSpPr txBox="1">
            <a:spLocks/>
          </p:cNvSpPr>
          <p:nvPr/>
        </p:nvSpPr>
        <p:spPr>
          <a:xfrm>
            <a:off x="3923928" y="2852936"/>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(T ∨ U)</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1" name="Content Placeholder 2"/>
          <p:cNvSpPr txBox="1">
            <a:spLocks/>
          </p:cNvSpPr>
          <p:nvPr/>
        </p:nvSpPr>
        <p:spPr>
          <a:xfrm>
            <a:off x="5220072" y="2852936"/>
            <a:ext cx="1224136" cy="792088"/>
          </a:xfrm>
          <a:prstGeom prst="rect">
            <a:avLst/>
          </a:prstGeom>
        </p:spPr>
        <p:txBody>
          <a:bodyPr vert="horz" lIns="91440" tIns="45720" rIns="91440" bIns="45720" rtlCol="0">
            <a:normAutofit/>
          </a:bodyPr>
          <a:lstStyle/>
          <a:p>
            <a:pPr marL="342900" indent="-342900">
              <a:spcBef>
                <a:spcPct val="20000"/>
              </a:spcBef>
              <a:defRPr/>
            </a:pPr>
            <a:r>
              <a:rPr lang="nl-NL" b="1" dirty="0" smtClean="0">
                <a:solidFill>
                  <a:srgbClr val="0070C0"/>
                </a:solidFill>
              </a:rPr>
              <a:t>(Q ↔ V)</a:t>
            </a:r>
          </a:p>
          <a:p>
            <a:pPr marL="342900" lvl="0" indent="-342900">
              <a:spcBef>
                <a:spcPct val="20000"/>
              </a:spcBef>
              <a:defRPr/>
            </a:pP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2" name="Content Placeholder 2"/>
          <p:cNvSpPr txBox="1">
            <a:spLocks/>
          </p:cNvSpPr>
          <p:nvPr/>
        </p:nvSpPr>
        <p:spPr>
          <a:xfrm>
            <a:off x="467544" y="4077072"/>
            <a:ext cx="1728192"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Q) ∨ ¬R)</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4" name="Content Placeholder 2"/>
          <p:cNvSpPr txBox="1">
            <a:spLocks/>
          </p:cNvSpPr>
          <p:nvPr/>
        </p:nvSpPr>
        <p:spPr>
          <a:xfrm>
            <a:off x="2123728" y="4077072"/>
            <a:ext cx="2232248"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 ∧ (T ∨ U))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5" name="Content Placeholder 2"/>
          <p:cNvSpPr txBox="1">
            <a:spLocks/>
          </p:cNvSpPr>
          <p:nvPr/>
        </p:nvSpPr>
        <p:spPr>
          <a:xfrm>
            <a:off x="4283968" y="4077072"/>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((T ∨ U)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6" name="Content Placeholder 2"/>
          <p:cNvSpPr txBox="1">
            <a:spLocks/>
          </p:cNvSpPr>
          <p:nvPr/>
        </p:nvSpPr>
        <p:spPr>
          <a:xfrm>
            <a:off x="5292080" y="4077072"/>
            <a:ext cx="1224136" cy="792088"/>
          </a:xfrm>
          <a:prstGeom prst="rect">
            <a:avLst/>
          </a:prstGeom>
        </p:spPr>
        <p:txBody>
          <a:bodyPr vert="horz" lIns="91440" tIns="45720" rIns="91440" bIns="45720" rtlCol="0">
            <a:normAutofit/>
          </a:bodyPr>
          <a:lstStyle/>
          <a:p>
            <a:pPr marL="342900" indent="-342900">
              <a:spcBef>
                <a:spcPct val="20000"/>
              </a:spcBef>
              <a:defRPr/>
            </a:pPr>
            <a:r>
              <a:rPr lang="nl-NL" b="1" dirty="0" smtClean="0">
                <a:solidFill>
                  <a:srgbClr val="0070C0"/>
                </a:solidFill>
              </a:rPr>
              <a:t>(P ∧ Q))</a:t>
            </a:r>
          </a:p>
          <a:p>
            <a:pPr marL="342900" lvl="0" indent="-342900">
              <a:spcBef>
                <a:spcPct val="20000"/>
              </a:spcBef>
              <a:defRPr/>
            </a:pP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7" name="Content Placeholder 2"/>
          <p:cNvSpPr txBox="1">
            <a:spLocks/>
          </p:cNvSpPr>
          <p:nvPr/>
        </p:nvSpPr>
        <p:spPr>
          <a:xfrm>
            <a:off x="1475656" y="5157192"/>
            <a:ext cx="194421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Q) ∨ ¬R) →</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8" name="Content Placeholder 2"/>
          <p:cNvSpPr txBox="1">
            <a:spLocks/>
          </p:cNvSpPr>
          <p:nvPr/>
        </p:nvSpPr>
        <p:spPr>
          <a:xfrm>
            <a:off x="3131840" y="5157192"/>
            <a:ext cx="2232248"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 ∧ (T ∨ U)))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2000"/>
                                        <p:tgtEl>
                                          <p:spTgt spid="2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xEl>
                                              <p:pRg st="0" end="0"/>
                                            </p:txEl>
                                          </p:spTgt>
                                        </p:tgtEl>
                                        <p:attrNameLst>
                                          <p:attrName>style.visibility</p:attrName>
                                        </p:attrNameLst>
                                      </p:cBhvr>
                                      <p:to>
                                        <p:strVal val="visible"/>
                                      </p:to>
                                    </p:set>
                                    <p:animEffect transition="in" filter="fade">
                                      <p:cBhvr>
                                        <p:cTn id="10" dur="2000"/>
                                        <p:tgtEl>
                                          <p:spTgt spid="26">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
                                            <p:txEl>
                                              <p:pRg st="0" end="0"/>
                                            </p:txEl>
                                          </p:spTgt>
                                        </p:tgtEl>
                                        <p:attrNameLst>
                                          <p:attrName>style.visibility</p:attrName>
                                        </p:attrNameLst>
                                      </p:cBhvr>
                                      <p:to>
                                        <p:strVal val="visible"/>
                                      </p:to>
                                    </p:set>
                                    <p:animEffect transition="in" filter="fade">
                                      <p:cBhvr>
                                        <p:cTn id="13" dur="2000"/>
                                        <p:tgtEl>
                                          <p:spTgt spid="27">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xEl>
                                              <p:pRg st="0" end="0"/>
                                            </p:txEl>
                                          </p:spTgt>
                                        </p:tgtEl>
                                        <p:attrNameLst>
                                          <p:attrName>style.visibility</p:attrName>
                                        </p:attrNameLst>
                                      </p:cBhvr>
                                      <p:to>
                                        <p:strVal val="visible"/>
                                      </p:to>
                                    </p:set>
                                    <p:animEffect transition="in" filter="fade">
                                      <p:cBhvr>
                                        <p:cTn id="16" dur="2000"/>
                                        <p:tgtEl>
                                          <p:spTgt spid="28">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xEl>
                                              <p:pRg st="0" end="0"/>
                                            </p:txEl>
                                          </p:spTgt>
                                        </p:tgtEl>
                                        <p:attrNameLst>
                                          <p:attrName>style.visibility</p:attrName>
                                        </p:attrNameLst>
                                      </p:cBhvr>
                                      <p:to>
                                        <p:strVal val="visible"/>
                                      </p:to>
                                    </p:set>
                                    <p:animEffect transition="in" filter="fade">
                                      <p:cBhvr>
                                        <p:cTn id="19" dur="2000"/>
                                        <p:tgtEl>
                                          <p:spTgt spid="29">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xEl>
                                              <p:pRg st="0" end="0"/>
                                            </p:txEl>
                                          </p:spTgt>
                                        </p:tgtEl>
                                        <p:attrNameLst>
                                          <p:attrName>style.visibility</p:attrName>
                                        </p:attrNameLst>
                                      </p:cBhvr>
                                      <p:to>
                                        <p:strVal val="visible"/>
                                      </p:to>
                                    </p:set>
                                    <p:animEffect transition="in" filter="fade">
                                      <p:cBhvr>
                                        <p:cTn id="22" dur="2000"/>
                                        <p:tgtEl>
                                          <p:spTgt spid="31">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1">
                                            <p:txEl>
                                              <p:pRg st="1" end="1"/>
                                            </p:txEl>
                                          </p:spTgt>
                                        </p:tgtEl>
                                        <p:attrNameLst>
                                          <p:attrName>style.visibility</p:attrName>
                                        </p:attrNameLst>
                                      </p:cBhvr>
                                      <p:to>
                                        <p:strVal val="visible"/>
                                      </p:to>
                                    </p:set>
                                    <p:animEffect transition="in" filter="fade">
                                      <p:cBhvr>
                                        <p:cTn id="25" dur="2000"/>
                                        <p:tgtEl>
                                          <p:spTgt spid="31">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xEl>
                                              <p:pRg st="0" end="0"/>
                                            </p:txEl>
                                          </p:spTgt>
                                        </p:tgtEl>
                                        <p:attrNameLst>
                                          <p:attrName>style.visibility</p:attrName>
                                        </p:attrNameLst>
                                      </p:cBhvr>
                                      <p:to>
                                        <p:strVal val="visible"/>
                                      </p:to>
                                    </p:set>
                                    <p:animEffect transition="in" filter="fade">
                                      <p:cBhvr>
                                        <p:cTn id="30" dur="2000"/>
                                        <p:tgtEl>
                                          <p:spTgt spid="24">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xEl>
                                              <p:pRg st="0" end="0"/>
                                            </p:txEl>
                                          </p:spTgt>
                                        </p:tgtEl>
                                        <p:attrNameLst>
                                          <p:attrName>style.visibility</p:attrName>
                                        </p:attrNameLst>
                                      </p:cBhvr>
                                      <p:to>
                                        <p:strVal val="visible"/>
                                      </p:to>
                                    </p:set>
                                    <p:animEffect transition="in" filter="fade">
                                      <p:cBhvr>
                                        <p:cTn id="33" dur="2000"/>
                                        <p:tgtEl>
                                          <p:spTgt spid="32">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4">
                                            <p:txEl>
                                              <p:pRg st="0" end="0"/>
                                            </p:txEl>
                                          </p:spTgt>
                                        </p:tgtEl>
                                        <p:attrNameLst>
                                          <p:attrName>style.visibility</p:attrName>
                                        </p:attrNameLst>
                                      </p:cBhvr>
                                      <p:to>
                                        <p:strVal val="visible"/>
                                      </p:to>
                                    </p:set>
                                    <p:animEffect transition="in" filter="fade">
                                      <p:cBhvr>
                                        <p:cTn id="36" dur="2000"/>
                                        <p:tgtEl>
                                          <p:spTgt spid="34">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5">
                                            <p:txEl>
                                              <p:pRg st="0" end="0"/>
                                            </p:txEl>
                                          </p:spTgt>
                                        </p:tgtEl>
                                        <p:attrNameLst>
                                          <p:attrName>style.visibility</p:attrName>
                                        </p:attrNameLst>
                                      </p:cBhvr>
                                      <p:to>
                                        <p:strVal val="visible"/>
                                      </p:to>
                                    </p:set>
                                    <p:animEffect transition="in" filter="fade">
                                      <p:cBhvr>
                                        <p:cTn id="39" dur="2000"/>
                                        <p:tgtEl>
                                          <p:spTgt spid="35">
                                            <p:txEl>
                                              <p:pRg st="0" end="0"/>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6">
                                            <p:txEl>
                                              <p:pRg st="0" end="0"/>
                                            </p:txEl>
                                          </p:spTgt>
                                        </p:tgtEl>
                                        <p:attrNameLst>
                                          <p:attrName>style.visibility</p:attrName>
                                        </p:attrNameLst>
                                      </p:cBhvr>
                                      <p:to>
                                        <p:strVal val="visible"/>
                                      </p:to>
                                    </p:set>
                                    <p:animEffect transition="in" filter="fade">
                                      <p:cBhvr>
                                        <p:cTn id="42" dur="2000"/>
                                        <p:tgtEl>
                                          <p:spTgt spid="36">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xEl>
                                              <p:pRg st="1" end="1"/>
                                            </p:txEl>
                                          </p:spTgt>
                                        </p:tgtEl>
                                        <p:attrNameLst>
                                          <p:attrName>style.visibility</p:attrName>
                                        </p:attrNameLst>
                                      </p:cBhvr>
                                      <p:to>
                                        <p:strVal val="visible"/>
                                      </p:to>
                                    </p:set>
                                    <p:animEffect transition="in" filter="fade">
                                      <p:cBhvr>
                                        <p:cTn id="45" dur="2000"/>
                                        <p:tgtEl>
                                          <p:spTgt spid="36">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xEl>
                                              <p:pRg st="0" end="0"/>
                                            </p:txEl>
                                          </p:spTgt>
                                        </p:tgtEl>
                                        <p:attrNameLst>
                                          <p:attrName>style.visibility</p:attrName>
                                        </p:attrNameLst>
                                      </p:cBhvr>
                                      <p:to>
                                        <p:strVal val="visible"/>
                                      </p:to>
                                    </p:set>
                                    <p:animEffect transition="in" filter="fade">
                                      <p:cBhvr>
                                        <p:cTn id="50" dur="2000"/>
                                        <p:tgtEl>
                                          <p:spTgt spid="25">
                                            <p:txEl>
                                              <p:pRg st="0" end="0"/>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7">
                                            <p:txEl>
                                              <p:pRg st="0" end="0"/>
                                            </p:txEl>
                                          </p:spTgt>
                                        </p:tgtEl>
                                        <p:attrNameLst>
                                          <p:attrName>style.visibility</p:attrName>
                                        </p:attrNameLst>
                                      </p:cBhvr>
                                      <p:to>
                                        <p:strVal val="visible"/>
                                      </p:to>
                                    </p:set>
                                    <p:animEffect transition="in" filter="fade">
                                      <p:cBhvr>
                                        <p:cTn id="53" dur="2000"/>
                                        <p:tgtEl>
                                          <p:spTgt spid="37">
                                            <p:txEl>
                                              <p:pRg st="0" end="0"/>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8">
                                            <p:txEl>
                                              <p:pRg st="0" end="0"/>
                                            </p:txEl>
                                          </p:spTgt>
                                        </p:tgtEl>
                                        <p:attrNameLst>
                                          <p:attrName>style.visibility</p:attrName>
                                        </p:attrNameLst>
                                      </p:cBhvr>
                                      <p:to>
                                        <p:strVal val="visible"/>
                                      </p:to>
                                    </p:set>
                                    <p:animEffect transition="in" filter="fade">
                                      <p:cBhvr>
                                        <p:cTn id="56" dur="2000"/>
                                        <p:tgtEl>
                                          <p:spTgt spid="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allAtOnce"/>
      <p:bldP spid="24" grpId="0" build="allAtOnce"/>
      <p:bldP spid="25" grpId="0" build="allAtOnce"/>
      <p:bldP spid="26" grpId="0" build="allAtOnce"/>
      <p:bldP spid="27" grpId="0" build="allAtOnce"/>
      <p:bldP spid="28" grpId="0" build="allAtOnce"/>
      <p:bldP spid="29" grpId="0" build="allAtOnce"/>
      <p:bldP spid="31" grpId="0" build="allAtOnce"/>
      <p:bldP spid="32" grpId="0" build="allAtOnce"/>
      <p:bldP spid="34" grpId="0" build="allAtOnce"/>
      <p:bldP spid="35" grpId="0" build="allAtOnce"/>
      <p:bldP spid="36" grpId="0" build="allAtOnce"/>
      <p:bldP spid="37" grpId="0" build="allAtOnce"/>
      <p:bldP spid="38" grpId="0"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rmAutofit/>
          </a:bodyPr>
          <a:lstStyle/>
          <a:p>
            <a:r>
              <a:rPr lang="nl-NL" sz="3200" dirty="0" smtClean="0"/>
              <a:t>De uiterst buitenste haakjes in samenstellingen…</a:t>
            </a:r>
            <a:endParaRPr lang="nl-NL" sz="3200" dirty="0"/>
          </a:p>
        </p:txBody>
      </p:sp>
      <p:sp>
        <p:nvSpPr>
          <p:cNvPr id="20" name="Content Placeholder 2"/>
          <p:cNvSpPr txBox="1">
            <a:spLocks/>
          </p:cNvSpPr>
          <p:nvPr/>
        </p:nvSpPr>
        <p:spPr>
          <a:xfrm>
            <a:off x="179512"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P</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9" name="Content Placeholder 2"/>
          <p:cNvSpPr txBox="1">
            <a:spLocks/>
          </p:cNvSpPr>
          <p:nvPr/>
        </p:nvSpPr>
        <p:spPr>
          <a:xfrm>
            <a:off x="1115616"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Q</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0" name="Content Placeholder 2"/>
          <p:cNvSpPr txBox="1">
            <a:spLocks/>
          </p:cNvSpPr>
          <p:nvPr/>
        </p:nvSpPr>
        <p:spPr>
          <a:xfrm>
            <a:off x="2051720"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R</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1" name="Content Placeholder 2"/>
          <p:cNvSpPr txBox="1">
            <a:spLocks/>
          </p:cNvSpPr>
          <p:nvPr/>
        </p:nvSpPr>
        <p:spPr>
          <a:xfrm>
            <a:off x="2843808"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S</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3" name="Content Placeholder 2"/>
          <p:cNvSpPr txBox="1">
            <a:spLocks/>
          </p:cNvSpPr>
          <p:nvPr/>
        </p:nvSpPr>
        <p:spPr>
          <a:xfrm>
            <a:off x="3779912"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T</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5" name="Content Placeholder 2"/>
          <p:cNvSpPr txBox="1">
            <a:spLocks/>
          </p:cNvSpPr>
          <p:nvPr/>
        </p:nvSpPr>
        <p:spPr>
          <a:xfrm>
            <a:off x="4644008"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U</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6" name="Content Placeholder 2"/>
          <p:cNvSpPr txBox="1">
            <a:spLocks/>
          </p:cNvSpPr>
          <p:nvPr/>
        </p:nvSpPr>
        <p:spPr>
          <a:xfrm>
            <a:off x="5436096"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V</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1" name="Content Placeholder 2"/>
          <p:cNvSpPr txBox="1">
            <a:spLocks/>
          </p:cNvSpPr>
          <p:nvPr/>
        </p:nvSpPr>
        <p:spPr>
          <a:xfrm>
            <a:off x="6228184"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W</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2" name="TextBox 21"/>
          <p:cNvSpPr txBox="1"/>
          <p:nvPr/>
        </p:nvSpPr>
        <p:spPr>
          <a:xfrm>
            <a:off x="7344816" y="1990581"/>
            <a:ext cx="1547664" cy="646331"/>
          </a:xfrm>
          <a:prstGeom prst="rect">
            <a:avLst/>
          </a:prstGeom>
          <a:noFill/>
        </p:spPr>
        <p:txBody>
          <a:bodyPr wrap="square" rtlCol="0">
            <a:spAutoFit/>
          </a:bodyPr>
          <a:lstStyle/>
          <a:p>
            <a:r>
              <a:rPr lang="nl-NL" i="1" dirty="0" smtClean="0"/>
              <a:t>Elementaire proposities</a:t>
            </a:r>
            <a:endParaRPr lang="nl-NL" i="1" dirty="0"/>
          </a:p>
        </p:txBody>
      </p:sp>
      <p:sp>
        <p:nvSpPr>
          <p:cNvPr id="23" name="TextBox 22"/>
          <p:cNvSpPr txBox="1"/>
          <p:nvPr/>
        </p:nvSpPr>
        <p:spPr>
          <a:xfrm>
            <a:off x="7020272" y="2780928"/>
            <a:ext cx="2195736" cy="923330"/>
          </a:xfrm>
          <a:prstGeom prst="rect">
            <a:avLst/>
          </a:prstGeom>
          <a:noFill/>
        </p:spPr>
        <p:txBody>
          <a:bodyPr wrap="square" rtlCol="0">
            <a:spAutoFit/>
          </a:bodyPr>
          <a:lstStyle/>
          <a:p>
            <a:pPr algn="ctr"/>
            <a:r>
              <a:rPr lang="nl-NL" i="1" dirty="0" smtClean="0"/>
              <a:t>Samenstellingen             van elementaire proposities</a:t>
            </a:r>
            <a:endParaRPr lang="nl-NL" i="1" dirty="0"/>
          </a:p>
        </p:txBody>
      </p:sp>
      <p:sp>
        <p:nvSpPr>
          <p:cNvPr id="24" name="TextBox 23"/>
          <p:cNvSpPr txBox="1"/>
          <p:nvPr/>
        </p:nvSpPr>
        <p:spPr>
          <a:xfrm>
            <a:off x="7020272" y="3861048"/>
            <a:ext cx="2195736" cy="1200329"/>
          </a:xfrm>
          <a:prstGeom prst="rect">
            <a:avLst/>
          </a:prstGeom>
          <a:noFill/>
        </p:spPr>
        <p:txBody>
          <a:bodyPr wrap="square" rtlCol="0">
            <a:spAutoFit/>
          </a:bodyPr>
          <a:lstStyle/>
          <a:p>
            <a:pPr algn="ctr"/>
            <a:r>
              <a:rPr lang="nl-NL" i="1" dirty="0" smtClean="0"/>
              <a:t>Samenstellingen             van samenstellingen van elementaire proposities</a:t>
            </a:r>
            <a:endParaRPr lang="nl-NL" i="1" dirty="0"/>
          </a:p>
        </p:txBody>
      </p:sp>
      <p:sp>
        <p:nvSpPr>
          <p:cNvPr id="25" name="TextBox 24"/>
          <p:cNvSpPr txBox="1"/>
          <p:nvPr/>
        </p:nvSpPr>
        <p:spPr>
          <a:xfrm>
            <a:off x="7416824" y="5363924"/>
            <a:ext cx="2195736" cy="369332"/>
          </a:xfrm>
          <a:prstGeom prst="rect">
            <a:avLst/>
          </a:prstGeom>
          <a:noFill/>
        </p:spPr>
        <p:txBody>
          <a:bodyPr wrap="square" rtlCol="0">
            <a:spAutoFit/>
          </a:bodyPr>
          <a:lstStyle/>
          <a:p>
            <a:r>
              <a:rPr lang="nl-NL" i="1" dirty="0" smtClean="0"/>
              <a:t>Enzovoort…</a:t>
            </a:r>
            <a:endParaRPr lang="nl-NL" i="1" dirty="0"/>
          </a:p>
        </p:txBody>
      </p:sp>
      <p:sp>
        <p:nvSpPr>
          <p:cNvPr id="26" name="Content Placeholder 2"/>
          <p:cNvSpPr txBox="1">
            <a:spLocks/>
          </p:cNvSpPr>
          <p:nvPr/>
        </p:nvSpPr>
        <p:spPr>
          <a:xfrm>
            <a:off x="395536" y="2852936"/>
            <a:ext cx="86409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P ∧ Q</a:t>
            </a:r>
            <a:r>
              <a:rPr lang="nl-NL" b="1" dirty="0" smtClean="0">
                <a:solidFill>
                  <a:srgbClr val="FF0000"/>
                </a:solidFill>
              </a:rPr>
              <a:t>)</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7" name="Content Placeholder 2"/>
          <p:cNvSpPr txBox="1">
            <a:spLocks/>
          </p:cNvSpPr>
          <p:nvPr/>
        </p:nvSpPr>
        <p:spPr>
          <a:xfrm>
            <a:off x="1691680" y="2852936"/>
            <a:ext cx="86409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¬R</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8" name="Content Placeholder 2"/>
          <p:cNvSpPr txBox="1">
            <a:spLocks/>
          </p:cNvSpPr>
          <p:nvPr/>
        </p:nvSpPr>
        <p:spPr>
          <a:xfrm>
            <a:off x="2555776" y="2852936"/>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P → T</a:t>
            </a:r>
            <a:r>
              <a:rPr lang="nl-NL" b="1" dirty="0" smtClean="0">
                <a:solidFill>
                  <a:srgbClr val="FF0000"/>
                </a:solidFill>
              </a:rPr>
              <a:t>)</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9" name="Content Placeholder 2"/>
          <p:cNvSpPr txBox="1">
            <a:spLocks/>
          </p:cNvSpPr>
          <p:nvPr/>
        </p:nvSpPr>
        <p:spPr>
          <a:xfrm>
            <a:off x="3923928" y="2852936"/>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T ∨ U</a:t>
            </a:r>
            <a:r>
              <a:rPr lang="nl-NL" b="1" dirty="0" smtClean="0">
                <a:solidFill>
                  <a:srgbClr val="FF0000"/>
                </a:solidFill>
              </a:rPr>
              <a:t>)</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1" name="Content Placeholder 2"/>
          <p:cNvSpPr txBox="1">
            <a:spLocks/>
          </p:cNvSpPr>
          <p:nvPr/>
        </p:nvSpPr>
        <p:spPr>
          <a:xfrm>
            <a:off x="5220072" y="2852936"/>
            <a:ext cx="1224136" cy="792088"/>
          </a:xfrm>
          <a:prstGeom prst="rect">
            <a:avLst/>
          </a:prstGeom>
        </p:spPr>
        <p:txBody>
          <a:bodyPr vert="horz" lIns="91440" tIns="45720" rIns="91440" bIns="45720" rtlCol="0">
            <a:normAutofit/>
          </a:bodyPr>
          <a:lstStyle/>
          <a:p>
            <a:pPr marL="342900" indent="-342900">
              <a:spcBef>
                <a:spcPct val="20000"/>
              </a:spcBef>
              <a:defRPr/>
            </a:pPr>
            <a:r>
              <a:rPr lang="nl-NL" b="1" dirty="0" smtClean="0">
                <a:solidFill>
                  <a:srgbClr val="FF0000"/>
                </a:solidFill>
              </a:rPr>
              <a:t>(</a:t>
            </a:r>
            <a:r>
              <a:rPr lang="nl-NL" b="1" dirty="0" smtClean="0">
                <a:solidFill>
                  <a:srgbClr val="0070C0"/>
                </a:solidFill>
              </a:rPr>
              <a:t>Q ↔ V</a:t>
            </a:r>
            <a:r>
              <a:rPr lang="nl-NL" b="1" dirty="0" smtClean="0">
                <a:solidFill>
                  <a:srgbClr val="FF0000"/>
                </a:solidFill>
              </a:rPr>
              <a:t>)</a:t>
            </a:r>
          </a:p>
          <a:p>
            <a:pPr marL="342900" lvl="0" indent="-342900">
              <a:spcBef>
                <a:spcPct val="20000"/>
              </a:spcBef>
              <a:defRPr/>
            </a:pP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2" name="Content Placeholder 2"/>
          <p:cNvSpPr txBox="1">
            <a:spLocks/>
          </p:cNvSpPr>
          <p:nvPr/>
        </p:nvSpPr>
        <p:spPr>
          <a:xfrm>
            <a:off x="467544" y="4077072"/>
            <a:ext cx="1728192"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(P ∧ Q) ∨ ¬R</a:t>
            </a:r>
            <a:r>
              <a:rPr lang="nl-NL" b="1" dirty="0" smtClean="0">
                <a:solidFill>
                  <a:srgbClr val="FF0000"/>
                </a:solidFill>
              </a:rPr>
              <a:t>)</a:t>
            </a:r>
            <a:endParaRPr kumimoji="0" lang="nl-NL" sz="1800" b="1" i="0" u="none" strike="noStrike" kern="120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4" name="Content Placeholder 2"/>
          <p:cNvSpPr txBox="1">
            <a:spLocks/>
          </p:cNvSpPr>
          <p:nvPr/>
        </p:nvSpPr>
        <p:spPr>
          <a:xfrm>
            <a:off x="2123728" y="4077072"/>
            <a:ext cx="2232248"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(P → T) ∧ (T ∨ U)</a:t>
            </a:r>
            <a:r>
              <a:rPr lang="nl-NL" b="1" dirty="0" smtClean="0">
                <a:solidFill>
                  <a:srgbClr val="FF0000"/>
                </a:solidFill>
              </a:rPr>
              <a:t>)</a:t>
            </a: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5" name="Content Placeholder 2"/>
          <p:cNvSpPr txBox="1">
            <a:spLocks/>
          </p:cNvSpPr>
          <p:nvPr/>
        </p:nvSpPr>
        <p:spPr>
          <a:xfrm>
            <a:off x="4283968" y="4077072"/>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(T ∨ U)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6" name="Content Placeholder 2"/>
          <p:cNvSpPr txBox="1">
            <a:spLocks/>
          </p:cNvSpPr>
          <p:nvPr/>
        </p:nvSpPr>
        <p:spPr>
          <a:xfrm>
            <a:off x="5292080" y="4077072"/>
            <a:ext cx="1224136" cy="792088"/>
          </a:xfrm>
          <a:prstGeom prst="rect">
            <a:avLst/>
          </a:prstGeom>
        </p:spPr>
        <p:txBody>
          <a:bodyPr vert="horz" lIns="91440" tIns="45720" rIns="91440" bIns="45720" rtlCol="0">
            <a:normAutofit/>
          </a:bodyPr>
          <a:lstStyle/>
          <a:p>
            <a:pPr marL="342900" indent="-342900">
              <a:spcBef>
                <a:spcPct val="20000"/>
              </a:spcBef>
              <a:defRPr/>
            </a:pPr>
            <a:r>
              <a:rPr lang="nl-NL" b="1" dirty="0" smtClean="0">
                <a:solidFill>
                  <a:srgbClr val="0070C0"/>
                </a:solidFill>
              </a:rPr>
              <a:t>(P ∧ Q)</a:t>
            </a:r>
            <a:r>
              <a:rPr lang="nl-NL" b="1" dirty="0" smtClean="0">
                <a:solidFill>
                  <a:srgbClr val="FF0000"/>
                </a:solidFill>
              </a:rPr>
              <a:t>)</a:t>
            </a:r>
          </a:p>
          <a:p>
            <a:pPr marL="342900" lvl="0" indent="-342900">
              <a:spcBef>
                <a:spcPct val="20000"/>
              </a:spcBef>
              <a:defRPr/>
            </a:pP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7" name="Content Placeholder 2"/>
          <p:cNvSpPr txBox="1">
            <a:spLocks/>
          </p:cNvSpPr>
          <p:nvPr/>
        </p:nvSpPr>
        <p:spPr>
          <a:xfrm>
            <a:off x="1475656" y="5157192"/>
            <a:ext cx="194421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FF0000"/>
                </a:solidFill>
              </a:rPr>
              <a:t>(</a:t>
            </a:r>
            <a:r>
              <a:rPr lang="nl-NL" b="1" dirty="0" smtClean="0">
                <a:solidFill>
                  <a:srgbClr val="0070C0"/>
                </a:solidFill>
              </a:rPr>
              <a:t>((P ∧ Q) ∨ ¬R) →</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8" name="Content Placeholder 2"/>
          <p:cNvSpPr txBox="1">
            <a:spLocks/>
          </p:cNvSpPr>
          <p:nvPr/>
        </p:nvSpPr>
        <p:spPr>
          <a:xfrm>
            <a:off x="3131840" y="5157192"/>
            <a:ext cx="2232248"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 ∧ (T ∨ U))</a:t>
            </a:r>
            <a:r>
              <a:rPr lang="nl-NL" b="1" dirty="0" smtClean="0">
                <a:solidFill>
                  <a:srgbClr val="FF0000"/>
                </a:solidFill>
              </a:rPr>
              <a:t>)</a:t>
            </a: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560" y="274638"/>
            <a:ext cx="10081120" cy="1143000"/>
          </a:xfrm>
        </p:spPr>
        <p:txBody>
          <a:bodyPr>
            <a:normAutofit/>
          </a:bodyPr>
          <a:lstStyle/>
          <a:p>
            <a:r>
              <a:rPr lang="nl-NL" sz="3200" dirty="0" smtClean="0"/>
              <a:t>… zijn eigenlijk onnodig en kunnen                                                      dus weggelaten worden</a:t>
            </a:r>
            <a:endParaRPr lang="nl-NL" sz="3200" dirty="0"/>
          </a:p>
        </p:txBody>
      </p:sp>
      <p:sp>
        <p:nvSpPr>
          <p:cNvPr id="20" name="Content Placeholder 2"/>
          <p:cNvSpPr txBox="1">
            <a:spLocks/>
          </p:cNvSpPr>
          <p:nvPr/>
        </p:nvSpPr>
        <p:spPr>
          <a:xfrm>
            <a:off x="179512"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P</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9" name="Content Placeholder 2"/>
          <p:cNvSpPr txBox="1">
            <a:spLocks/>
          </p:cNvSpPr>
          <p:nvPr/>
        </p:nvSpPr>
        <p:spPr>
          <a:xfrm>
            <a:off x="1115616"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Q</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0" name="Content Placeholder 2"/>
          <p:cNvSpPr txBox="1">
            <a:spLocks/>
          </p:cNvSpPr>
          <p:nvPr/>
        </p:nvSpPr>
        <p:spPr>
          <a:xfrm>
            <a:off x="2051720"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R</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1" name="Content Placeholder 2"/>
          <p:cNvSpPr txBox="1">
            <a:spLocks/>
          </p:cNvSpPr>
          <p:nvPr/>
        </p:nvSpPr>
        <p:spPr>
          <a:xfrm>
            <a:off x="2843808"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S</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3" name="Content Placeholder 2"/>
          <p:cNvSpPr txBox="1">
            <a:spLocks/>
          </p:cNvSpPr>
          <p:nvPr/>
        </p:nvSpPr>
        <p:spPr>
          <a:xfrm>
            <a:off x="3779912"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T</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5" name="Content Placeholder 2"/>
          <p:cNvSpPr txBox="1">
            <a:spLocks/>
          </p:cNvSpPr>
          <p:nvPr/>
        </p:nvSpPr>
        <p:spPr>
          <a:xfrm>
            <a:off x="4644008"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U</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6" name="Content Placeholder 2"/>
          <p:cNvSpPr txBox="1">
            <a:spLocks/>
          </p:cNvSpPr>
          <p:nvPr/>
        </p:nvSpPr>
        <p:spPr>
          <a:xfrm>
            <a:off x="5436096"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noProof="0" dirty="0" smtClean="0">
                <a:solidFill>
                  <a:srgbClr val="0070C0"/>
                </a:solidFill>
              </a:rPr>
              <a:t>V</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1" name="Content Placeholder 2"/>
          <p:cNvSpPr txBox="1">
            <a:spLocks/>
          </p:cNvSpPr>
          <p:nvPr/>
        </p:nvSpPr>
        <p:spPr>
          <a:xfrm>
            <a:off x="6228184" y="1844824"/>
            <a:ext cx="432048" cy="504056"/>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b="1" dirty="0" smtClean="0">
                <a:solidFill>
                  <a:srgbClr val="0070C0"/>
                </a:solidFill>
              </a:rPr>
              <a:t>W</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2" name="TextBox 21"/>
          <p:cNvSpPr txBox="1"/>
          <p:nvPr/>
        </p:nvSpPr>
        <p:spPr>
          <a:xfrm>
            <a:off x="7344816" y="1990581"/>
            <a:ext cx="1547664" cy="646331"/>
          </a:xfrm>
          <a:prstGeom prst="rect">
            <a:avLst/>
          </a:prstGeom>
          <a:noFill/>
        </p:spPr>
        <p:txBody>
          <a:bodyPr wrap="square" rtlCol="0">
            <a:spAutoFit/>
          </a:bodyPr>
          <a:lstStyle/>
          <a:p>
            <a:r>
              <a:rPr lang="nl-NL" i="1" dirty="0" smtClean="0"/>
              <a:t>Elementaire proposities</a:t>
            </a:r>
            <a:endParaRPr lang="nl-NL" i="1" dirty="0"/>
          </a:p>
        </p:txBody>
      </p:sp>
      <p:sp>
        <p:nvSpPr>
          <p:cNvPr id="23" name="TextBox 22"/>
          <p:cNvSpPr txBox="1"/>
          <p:nvPr/>
        </p:nvSpPr>
        <p:spPr>
          <a:xfrm>
            <a:off x="7020272" y="2780928"/>
            <a:ext cx="2195736" cy="923330"/>
          </a:xfrm>
          <a:prstGeom prst="rect">
            <a:avLst/>
          </a:prstGeom>
          <a:noFill/>
        </p:spPr>
        <p:txBody>
          <a:bodyPr wrap="square" rtlCol="0">
            <a:spAutoFit/>
          </a:bodyPr>
          <a:lstStyle/>
          <a:p>
            <a:pPr algn="ctr"/>
            <a:r>
              <a:rPr lang="nl-NL" i="1" dirty="0" smtClean="0"/>
              <a:t>Samenstellingen             van elementaire proposities</a:t>
            </a:r>
            <a:endParaRPr lang="nl-NL" i="1" dirty="0"/>
          </a:p>
        </p:txBody>
      </p:sp>
      <p:sp>
        <p:nvSpPr>
          <p:cNvPr id="24" name="TextBox 23"/>
          <p:cNvSpPr txBox="1"/>
          <p:nvPr/>
        </p:nvSpPr>
        <p:spPr>
          <a:xfrm>
            <a:off x="7020272" y="3861048"/>
            <a:ext cx="2195736" cy="1200329"/>
          </a:xfrm>
          <a:prstGeom prst="rect">
            <a:avLst/>
          </a:prstGeom>
          <a:noFill/>
        </p:spPr>
        <p:txBody>
          <a:bodyPr wrap="square" rtlCol="0">
            <a:spAutoFit/>
          </a:bodyPr>
          <a:lstStyle/>
          <a:p>
            <a:pPr algn="ctr"/>
            <a:r>
              <a:rPr lang="nl-NL" i="1" dirty="0" smtClean="0"/>
              <a:t>Samenstellingen             van samenstellingen van elementaire proposities</a:t>
            </a:r>
            <a:endParaRPr lang="nl-NL" i="1" dirty="0"/>
          </a:p>
        </p:txBody>
      </p:sp>
      <p:sp>
        <p:nvSpPr>
          <p:cNvPr id="25" name="TextBox 24"/>
          <p:cNvSpPr txBox="1"/>
          <p:nvPr/>
        </p:nvSpPr>
        <p:spPr>
          <a:xfrm>
            <a:off x="7416824" y="5363924"/>
            <a:ext cx="2195736" cy="369332"/>
          </a:xfrm>
          <a:prstGeom prst="rect">
            <a:avLst/>
          </a:prstGeom>
          <a:noFill/>
        </p:spPr>
        <p:txBody>
          <a:bodyPr wrap="square" rtlCol="0">
            <a:spAutoFit/>
          </a:bodyPr>
          <a:lstStyle/>
          <a:p>
            <a:r>
              <a:rPr lang="nl-NL" i="1" dirty="0" smtClean="0"/>
              <a:t>Enzovoort…</a:t>
            </a:r>
            <a:endParaRPr lang="nl-NL" i="1" dirty="0"/>
          </a:p>
        </p:txBody>
      </p:sp>
      <p:sp>
        <p:nvSpPr>
          <p:cNvPr id="26" name="Content Placeholder 2"/>
          <p:cNvSpPr txBox="1">
            <a:spLocks/>
          </p:cNvSpPr>
          <p:nvPr/>
        </p:nvSpPr>
        <p:spPr>
          <a:xfrm>
            <a:off x="395536" y="2852936"/>
            <a:ext cx="86409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Q</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7" name="Content Placeholder 2"/>
          <p:cNvSpPr txBox="1">
            <a:spLocks/>
          </p:cNvSpPr>
          <p:nvPr/>
        </p:nvSpPr>
        <p:spPr>
          <a:xfrm>
            <a:off x="1691680" y="2852936"/>
            <a:ext cx="86409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¬R</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8" name="Content Placeholder 2"/>
          <p:cNvSpPr txBox="1">
            <a:spLocks/>
          </p:cNvSpPr>
          <p:nvPr/>
        </p:nvSpPr>
        <p:spPr>
          <a:xfrm>
            <a:off x="2555776" y="2852936"/>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29" name="Content Placeholder 2"/>
          <p:cNvSpPr txBox="1">
            <a:spLocks/>
          </p:cNvSpPr>
          <p:nvPr/>
        </p:nvSpPr>
        <p:spPr>
          <a:xfrm>
            <a:off x="3923928" y="2852936"/>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T ∨ U</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1" name="Content Placeholder 2"/>
          <p:cNvSpPr txBox="1">
            <a:spLocks/>
          </p:cNvSpPr>
          <p:nvPr/>
        </p:nvSpPr>
        <p:spPr>
          <a:xfrm>
            <a:off x="5220072" y="2852936"/>
            <a:ext cx="1224136" cy="792088"/>
          </a:xfrm>
          <a:prstGeom prst="rect">
            <a:avLst/>
          </a:prstGeom>
        </p:spPr>
        <p:txBody>
          <a:bodyPr vert="horz" lIns="91440" tIns="45720" rIns="91440" bIns="45720" rtlCol="0">
            <a:normAutofit/>
          </a:bodyPr>
          <a:lstStyle/>
          <a:p>
            <a:pPr marL="342900" indent="-342900">
              <a:spcBef>
                <a:spcPct val="20000"/>
              </a:spcBef>
              <a:defRPr/>
            </a:pPr>
            <a:r>
              <a:rPr lang="nl-NL" b="1" dirty="0" smtClean="0">
                <a:solidFill>
                  <a:srgbClr val="0070C0"/>
                </a:solidFill>
              </a:rPr>
              <a:t>Q ↔ V</a:t>
            </a:r>
            <a:endParaRPr lang="nl-NL" b="1" dirty="0" smtClean="0">
              <a:solidFill>
                <a:srgbClr val="FF0000"/>
              </a:solidFill>
            </a:endParaRPr>
          </a:p>
          <a:p>
            <a:pPr marL="342900" lvl="0" indent="-342900">
              <a:spcBef>
                <a:spcPct val="20000"/>
              </a:spcBef>
              <a:defRPr/>
            </a:pP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2" name="Content Placeholder 2"/>
          <p:cNvSpPr txBox="1">
            <a:spLocks/>
          </p:cNvSpPr>
          <p:nvPr/>
        </p:nvSpPr>
        <p:spPr>
          <a:xfrm>
            <a:off x="467544" y="4077072"/>
            <a:ext cx="1728192"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Q) ∨ ¬R</a:t>
            </a:r>
            <a:endParaRPr kumimoji="0" lang="nl-NL" sz="1800" b="1" i="0" u="none" strike="noStrike" kern="120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4" name="Content Placeholder 2"/>
          <p:cNvSpPr txBox="1">
            <a:spLocks/>
          </p:cNvSpPr>
          <p:nvPr/>
        </p:nvSpPr>
        <p:spPr>
          <a:xfrm>
            <a:off x="2123728" y="4077072"/>
            <a:ext cx="2232248"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 ∧ (T ∨ U)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5" name="Content Placeholder 2"/>
          <p:cNvSpPr txBox="1">
            <a:spLocks/>
          </p:cNvSpPr>
          <p:nvPr/>
        </p:nvSpPr>
        <p:spPr>
          <a:xfrm>
            <a:off x="4283968" y="4077072"/>
            <a:ext cx="122413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(T ∨ U)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6" name="Content Placeholder 2"/>
          <p:cNvSpPr txBox="1">
            <a:spLocks/>
          </p:cNvSpPr>
          <p:nvPr/>
        </p:nvSpPr>
        <p:spPr>
          <a:xfrm>
            <a:off x="5220072" y="4077072"/>
            <a:ext cx="1224136" cy="792088"/>
          </a:xfrm>
          <a:prstGeom prst="rect">
            <a:avLst/>
          </a:prstGeom>
        </p:spPr>
        <p:txBody>
          <a:bodyPr vert="horz" lIns="91440" tIns="45720" rIns="91440" bIns="45720" rtlCol="0">
            <a:normAutofit/>
          </a:bodyPr>
          <a:lstStyle/>
          <a:p>
            <a:pPr marL="342900" indent="-342900">
              <a:spcBef>
                <a:spcPct val="20000"/>
              </a:spcBef>
              <a:defRPr/>
            </a:pPr>
            <a:r>
              <a:rPr lang="nl-NL" b="1" dirty="0" smtClean="0">
                <a:solidFill>
                  <a:srgbClr val="0070C0"/>
                </a:solidFill>
              </a:rPr>
              <a:t>(P ∧ Q)</a:t>
            </a:r>
            <a:endParaRPr lang="nl-NL" b="1" dirty="0" smtClean="0">
              <a:solidFill>
                <a:srgbClr val="FF0000"/>
              </a:solidFill>
            </a:endParaRPr>
          </a:p>
          <a:p>
            <a:pPr marL="342900" lvl="0" indent="-342900">
              <a:spcBef>
                <a:spcPct val="20000"/>
              </a:spcBef>
              <a:defRPr/>
            </a:pPr>
            <a:r>
              <a:rPr lang="nl-NL" b="1" dirty="0" smtClean="0">
                <a:solidFill>
                  <a:srgbClr val="0070C0"/>
                </a:solidFill>
              </a:rPr>
              <a:t> </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7" name="Content Placeholder 2"/>
          <p:cNvSpPr txBox="1">
            <a:spLocks/>
          </p:cNvSpPr>
          <p:nvPr/>
        </p:nvSpPr>
        <p:spPr>
          <a:xfrm>
            <a:off x="1475656" y="5157192"/>
            <a:ext cx="1944216"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Q) ∨ ¬R) →</a:t>
            </a:r>
            <a:endParaRPr kumimoji="0" lang="nl-NL" sz="1800" b="1"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38" name="Content Placeholder 2"/>
          <p:cNvSpPr txBox="1">
            <a:spLocks/>
          </p:cNvSpPr>
          <p:nvPr/>
        </p:nvSpPr>
        <p:spPr>
          <a:xfrm>
            <a:off x="3131840" y="5157192"/>
            <a:ext cx="2232248" cy="792088"/>
          </a:xfrm>
          <a:prstGeom prst="rect">
            <a:avLst/>
          </a:prstGeom>
        </p:spPr>
        <p:txBody>
          <a:bodyPr vert="horz" lIns="91440" tIns="45720" rIns="91440" bIns="45720" rtlCol="0">
            <a:normAutofit/>
          </a:bodyPr>
          <a:lstStyle/>
          <a:p>
            <a:pPr marL="342900" lvl="0" indent="-342900">
              <a:spcBef>
                <a:spcPct val="20000"/>
              </a:spcBef>
              <a:defRPr/>
            </a:pPr>
            <a:r>
              <a:rPr lang="nl-NL" b="1" dirty="0" smtClean="0">
                <a:solidFill>
                  <a:srgbClr val="0070C0"/>
                </a:solidFill>
              </a:rPr>
              <a:t>((P → T) ∧ (T ∨ U))</a:t>
            </a:r>
            <a:r>
              <a:rPr lang="nl-NL" dirty="0" smtClean="0">
                <a:solidFill>
                  <a:srgbClr val="0070C0"/>
                </a:solidFill>
              </a:rPr>
              <a:t> </a:t>
            </a: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1800" b="0" i="0" u="none" strike="noStrike" kern="1200" cap="none" spc="0" normalizeH="0" baseline="0" noProof="0" dirty="0" smtClean="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We krijgen zo de volgende definitie van de formele taal van de propositielogica</a:t>
            </a:r>
            <a:endParaRPr lang="nl-NL" sz="3200" dirty="0"/>
          </a:p>
        </p:txBody>
      </p:sp>
      <p:sp>
        <p:nvSpPr>
          <p:cNvPr id="3" name="Content Placeholder 2"/>
          <p:cNvSpPr>
            <a:spLocks noGrp="1"/>
          </p:cNvSpPr>
          <p:nvPr>
            <p:ph idx="1"/>
          </p:nvPr>
        </p:nvSpPr>
        <p:spPr>
          <a:xfrm>
            <a:off x="457200" y="1672208"/>
            <a:ext cx="8686800" cy="1828800"/>
          </a:xfrm>
        </p:spPr>
        <p:txBody>
          <a:bodyPr>
            <a:normAutofit/>
          </a:bodyPr>
          <a:lstStyle/>
          <a:p>
            <a:pPr>
              <a:buNone/>
            </a:pPr>
            <a:r>
              <a:rPr lang="nl-NL" sz="2200" dirty="0" smtClean="0"/>
              <a:t>De taal van de propositielogica omvat de volgende tekens</a:t>
            </a:r>
          </a:p>
          <a:p>
            <a:pPr>
              <a:buNone/>
            </a:pPr>
            <a:r>
              <a:rPr lang="nl-NL" sz="2200" dirty="0" smtClean="0"/>
              <a:t>1. Propositieletters: </a:t>
            </a:r>
            <a:r>
              <a:rPr lang="nl-NL" sz="2200" b="1" dirty="0" smtClean="0">
                <a:solidFill>
                  <a:srgbClr val="0070C0"/>
                </a:solidFill>
              </a:rPr>
              <a:t>p</a:t>
            </a:r>
            <a:r>
              <a:rPr lang="nl-NL" sz="2200" dirty="0" smtClean="0"/>
              <a:t>,</a:t>
            </a:r>
            <a:r>
              <a:rPr lang="nl-NL" sz="2200" b="1" dirty="0" smtClean="0">
                <a:solidFill>
                  <a:srgbClr val="0070C0"/>
                </a:solidFill>
              </a:rPr>
              <a:t> q</a:t>
            </a:r>
            <a:r>
              <a:rPr lang="nl-NL" sz="2200" dirty="0" smtClean="0"/>
              <a:t> ,</a:t>
            </a:r>
            <a:r>
              <a:rPr lang="nl-NL" sz="2200" b="1" dirty="0" smtClean="0">
                <a:solidFill>
                  <a:srgbClr val="0070C0"/>
                </a:solidFill>
              </a:rPr>
              <a:t> r</a:t>
            </a:r>
            <a:r>
              <a:rPr lang="nl-NL" sz="2200" dirty="0" smtClean="0"/>
              <a:t>,</a:t>
            </a:r>
            <a:r>
              <a:rPr lang="nl-NL" sz="2200" b="1" dirty="0" smtClean="0">
                <a:solidFill>
                  <a:srgbClr val="0070C0"/>
                </a:solidFill>
              </a:rPr>
              <a:t> s</a:t>
            </a:r>
            <a:r>
              <a:rPr lang="nl-NL" sz="2200" dirty="0" smtClean="0"/>
              <a:t>,</a:t>
            </a:r>
            <a:r>
              <a:rPr lang="nl-NL" sz="2200" b="1" dirty="0" smtClean="0">
                <a:solidFill>
                  <a:srgbClr val="0070C0"/>
                </a:solidFill>
              </a:rPr>
              <a:t> t</a:t>
            </a:r>
            <a:r>
              <a:rPr lang="nl-NL" sz="2200" dirty="0" smtClean="0"/>
              <a:t>,</a:t>
            </a:r>
            <a:r>
              <a:rPr lang="nl-NL" sz="2200" b="1" dirty="0" smtClean="0">
                <a:solidFill>
                  <a:srgbClr val="0070C0"/>
                </a:solidFill>
              </a:rPr>
              <a:t> u</a:t>
            </a:r>
            <a:r>
              <a:rPr lang="nl-NL" sz="2200" dirty="0" smtClean="0"/>
              <a:t>,</a:t>
            </a:r>
            <a:r>
              <a:rPr lang="nl-NL" sz="2200" b="1" dirty="0" smtClean="0">
                <a:solidFill>
                  <a:srgbClr val="0070C0"/>
                </a:solidFill>
              </a:rPr>
              <a:t> v</a:t>
            </a:r>
            <a:r>
              <a:rPr lang="nl-NL" sz="2200" dirty="0" smtClean="0"/>
              <a:t>,</a:t>
            </a:r>
            <a:r>
              <a:rPr lang="nl-NL" sz="2200" b="1" dirty="0" smtClean="0">
                <a:solidFill>
                  <a:srgbClr val="0070C0"/>
                </a:solidFill>
              </a:rPr>
              <a:t> w</a:t>
            </a:r>
            <a:r>
              <a:rPr lang="nl-NL" sz="2200" dirty="0" smtClean="0"/>
              <a:t>,</a:t>
            </a:r>
            <a:r>
              <a:rPr lang="nl-NL" sz="2200" b="1" dirty="0" smtClean="0">
                <a:solidFill>
                  <a:srgbClr val="0070C0"/>
                </a:solidFill>
              </a:rPr>
              <a:t> </a:t>
            </a:r>
            <a:r>
              <a:rPr lang="nl-NL" sz="2200" dirty="0" smtClean="0"/>
              <a:t>…</a:t>
            </a:r>
            <a:endParaRPr lang="nl-NL" sz="2200" b="1" dirty="0" smtClean="0">
              <a:solidFill>
                <a:srgbClr val="0070C0"/>
              </a:solidFill>
            </a:endParaRPr>
          </a:p>
          <a:p>
            <a:pPr>
              <a:buNone/>
            </a:pPr>
            <a:r>
              <a:rPr lang="nl-NL" sz="2200" dirty="0" smtClean="0"/>
              <a:t>2. Logische constanten: </a:t>
            </a:r>
            <a:r>
              <a:rPr lang="nl-NL" sz="2200" b="1" dirty="0" smtClean="0">
                <a:solidFill>
                  <a:srgbClr val="0070C0"/>
                </a:solidFill>
              </a:rPr>
              <a:t>¬ </a:t>
            </a:r>
            <a:r>
              <a:rPr lang="nl-NL" sz="2200" dirty="0" smtClean="0"/>
              <a:t>,</a:t>
            </a:r>
            <a:r>
              <a:rPr lang="nl-NL" sz="2200" b="1" dirty="0" smtClean="0">
                <a:solidFill>
                  <a:srgbClr val="0070C0"/>
                </a:solidFill>
              </a:rPr>
              <a:t> ∧ </a:t>
            </a:r>
            <a:r>
              <a:rPr lang="nl-NL" sz="2200" dirty="0" smtClean="0"/>
              <a:t>,</a:t>
            </a:r>
            <a:r>
              <a:rPr lang="nl-NL" sz="2200" b="1" dirty="0" smtClean="0">
                <a:solidFill>
                  <a:srgbClr val="0070C0"/>
                </a:solidFill>
              </a:rPr>
              <a:t> ∨ </a:t>
            </a:r>
            <a:r>
              <a:rPr lang="nl-NL" sz="2200" dirty="0" smtClean="0"/>
              <a:t>,</a:t>
            </a:r>
            <a:r>
              <a:rPr lang="nl-NL" sz="2200" b="1" dirty="0" smtClean="0">
                <a:solidFill>
                  <a:srgbClr val="0070C0"/>
                </a:solidFill>
              </a:rPr>
              <a:t> → </a:t>
            </a:r>
            <a:r>
              <a:rPr lang="nl-NL" sz="2200" dirty="0" smtClean="0"/>
              <a:t>,</a:t>
            </a:r>
            <a:r>
              <a:rPr lang="nl-NL" sz="2200" b="1" dirty="0" smtClean="0">
                <a:solidFill>
                  <a:srgbClr val="0070C0"/>
                </a:solidFill>
              </a:rPr>
              <a:t> ↔</a:t>
            </a:r>
          </a:p>
          <a:p>
            <a:pPr>
              <a:buNone/>
            </a:pPr>
            <a:r>
              <a:rPr lang="nl-NL" sz="2200" dirty="0" smtClean="0"/>
              <a:t>3. Hulptekens: </a:t>
            </a:r>
            <a:r>
              <a:rPr lang="nl-NL" sz="2200" b="1" dirty="0" smtClean="0">
                <a:solidFill>
                  <a:srgbClr val="0070C0"/>
                </a:solidFill>
              </a:rPr>
              <a:t>(</a:t>
            </a:r>
            <a:r>
              <a:rPr lang="nl-NL" sz="2200" dirty="0" smtClean="0"/>
              <a:t> , </a:t>
            </a:r>
            <a:r>
              <a:rPr lang="nl-NL" sz="2200" b="1" dirty="0" smtClean="0">
                <a:solidFill>
                  <a:srgbClr val="0070C0"/>
                </a:solidFill>
              </a:rPr>
              <a:t>) </a:t>
            </a:r>
            <a:endParaRPr lang="nl-NL" sz="2200" dirty="0"/>
          </a:p>
        </p:txBody>
      </p:sp>
      <p:sp>
        <p:nvSpPr>
          <p:cNvPr id="4" name="Content Placeholder 2"/>
          <p:cNvSpPr txBox="1">
            <a:spLocks/>
          </p:cNvSpPr>
          <p:nvPr/>
        </p:nvSpPr>
        <p:spPr>
          <a:xfrm>
            <a:off x="467544" y="3573016"/>
            <a:ext cx="8686800" cy="2520280"/>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Formules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van</a:t>
            </a:r>
            <a:r>
              <a:rPr kumimoji="0" lang="nl-NL" sz="2400" b="0" i="1" u="none" strike="noStrike" kern="1200" cap="none" spc="0" normalizeH="0" noProof="0" dirty="0" smtClean="0">
                <a:ln>
                  <a:noFill/>
                </a:ln>
                <a:solidFill>
                  <a:schemeClr val="tx1"/>
                </a:solidFill>
                <a:effectLst/>
                <a:uLnTx/>
                <a:uFillTx/>
                <a:latin typeface="+mn-lt"/>
                <a:ea typeface="+mn-ea"/>
                <a:cs typeface="+mn-cs"/>
              </a:rPr>
              <a:t> de propositielogica </a:t>
            </a:r>
            <a:r>
              <a:rPr kumimoji="0" lang="nl-NL" sz="2400" b="0" i="0" u="none" strike="noStrike" kern="1200" cap="none" spc="0" normalizeH="0" noProof="0" dirty="0" smtClean="0">
                <a:ln>
                  <a:noFill/>
                </a:ln>
                <a:solidFill>
                  <a:schemeClr val="tx1"/>
                </a:solidFill>
                <a:effectLst/>
                <a:uLnTx/>
                <a:uFillTx/>
                <a:latin typeface="+mn-lt"/>
                <a:ea typeface="+mn-ea"/>
                <a:cs typeface="+mn-cs"/>
              </a:rPr>
              <a:t>worden als volgt verkregen</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400" dirty="0" smtClean="0"/>
              <a:t>i.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Propositieletters</a:t>
            </a:r>
            <a:r>
              <a:rPr kumimoji="0" lang="nl-NL" sz="2400" b="0" i="0" u="none" strike="noStrike" kern="1200" cap="none" spc="0" normalizeH="0" noProof="0" dirty="0" smtClean="0">
                <a:ln>
                  <a:noFill/>
                </a:ln>
                <a:solidFill>
                  <a:schemeClr val="tx1"/>
                </a:solidFill>
                <a:effectLst/>
                <a:uLnTx/>
                <a:uFillTx/>
                <a:latin typeface="+mn-lt"/>
                <a:ea typeface="+mn-ea"/>
                <a:cs typeface="+mn-cs"/>
              </a:rPr>
              <a:t> zijn formules</a:t>
            </a:r>
            <a:endParaRPr kumimoji="0" lang="nl-NL" sz="2400" b="1"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lang="nl-NL" sz="2400" dirty="0" err="1" smtClean="0"/>
              <a:t>ii</a:t>
            </a:r>
            <a:r>
              <a:rPr lang="nl-NL" sz="2400" dirty="0" smtClean="0"/>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Als</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el-GR" sz="2400" b="1" i="1" u="none" strike="noStrike" kern="1200" cap="none" spc="0" normalizeH="0" noProof="0" dirty="0" smtClean="0">
                <a:ln>
                  <a:noFill/>
                </a:ln>
                <a:solidFill>
                  <a:schemeClr val="tx1"/>
                </a:solidFill>
                <a:effectLst/>
                <a:uLnTx/>
                <a:uFillTx/>
                <a:latin typeface="+mn-lt"/>
                <a:ea typeface="+mn-ea"/>
                <a:cs typeface="+mn-cs"/>
              </a:rPr>
              <a:t>α</a:t>
            </a:r>
            <a:r>
              <a:rPr kumimoji="0" lang="nl-NL" sz="2400" b="0" i="0" u="none" strike="noStrike" kern="1200" cap="none" spc="0" normalizeH="0" noProof="0" dirty="0" smtClean="0">
                <a:ln>
                  <a:noFill/>
                </a:ln>
                <a:solidFill>
                  <a:schemeClr val="tx1"/>
                </a:solidFill>
                <a:effectLst/>
                <a:uLnTx/>
                <a:uFillTx/>
                <a:latin typeface="+mn-lt"/>
                <a:ea typeface="+mn-ea"/>
                <a:cs typeface="+mn-cs"/>
              </a:rPr>
              <a:t> een formule is, dan is </a:t>
            </a:r>
            <a:r>
              <a:rPr lang="nl-NL" sz="2400" b="1" dirty="0" smtClean="0">
                <a:solidFill>
                  <a:srgbClr val="0070C0"/>
                </a:solidFill>
              </a:rPr>
              <a:t>¬</a:t>
            </a:r>
            <a:r>
              <a:rPr lang="el-GR" sz="2400" b="1" i="1" dirty="0" smtClean="0"/>
              <a:t>α</a:t>
            </a:r>
            <a:r>
              <a:rPr lang="nl-NL" sz="2400" b="1" dirty="0" smtClean="0">
                <a:solidFill>
                  <a:srgbClr val="0070C0"/>
                </a:solidFill>
              </a:rPr>
              <a:t> </a:t>
            </a:r>
            <a:r>
              <a:rPr lang="nl-NL" sz="2400" dirty="0" smtClean="0"/>
              <a:t>ook </a:t>
            </a:r>
            <a:r>
              <a:rPr kumimoji="0" lang="nl-NL" sz="2400" b="0" i="0" u="none" strike="noStrike" kern="1200" cap="none" spc="0" normalizeH="0" noProof="0" dirty="0" smtClean="0">
                <a:ln>
                  <a:noFill/>
                </a:ln>
                <a:solidFill>
                  <a:schemeClr val="tx1"/>
                </a:solidFill>
                <a:effectLst/>
                <a:uLnTx/>
                <a:uFillTx/>
                <a:latin typeface="+mn-lt"/>
                <a:ea typeface="+mn-ea"/>
                <a:cs typeface="+mn-cs"/>
              </a:rPr>
              <a:t>en formule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defRPr/>
            </a:pPr>
            <a:r>
              <a:rPr lang="nl-NL" sz="2400" noProof="0" dirty="0" err="1" smtClean="0"/>
              <a:t>iii</a:t>
            </a:r>
            <a:r>
              <a:rPr lang="nl-NL" sz="2400" noProof="0" dirty="0" smtClean="0"/>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Als</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lang="el-GR" sz="2400" b="1" i="1" dirty="0" smtClean="0"/>
              <a:t>α</a:t>
            </a:r>
            <a:r>
              <a:rPr lang="el-GR" sz="2400" dirty="0" smtClean="0"/>
              <a:t> </a:t>
            </a:r>
            <a:r>
              <a:rPr kumimoji="0" lang="nl-NL" sz="2400" b="0" i="0" u="none" strike="noStrike" kern="1200" cap="none" spc="0" normalizeH="0" noProof="0" dirty="0" smtClean="0">
                <a:ln>
                  <a:noFill/>
                </a:ln>
                <a:solidFill>
                  <a:schemeClr val="tx1"/>
                </a:solidFill>
                <a:effectLst/>
                <a:uLnTx/>
                <a:uFillTx/>
                <a:latin typeface="+mn-lt"/>
                <a:ea typeface="+mn-ea"/>
                <a:cs typeface="+mn-cs"/>
              </a:rPr>
              <a:t>en </a:t>
            </a:r>
            <a:r>
              <a:rPr kumimoji="0" lang="el-GR" sz="2400" b="1" i="1" u="none" strike="noStrike" kern="1200" cap="none" spc="0" normalizeH="0" noProof="0" dirty="0" smtClean="0">
                <a:ln>
                  <a:noFill/>
                </a:ln>
                <a:solidFill>
                  <a:schemeClr val="tx1"/>
                </a:solidFill>
                <a:effectLst/>
                <a:uLnTx/>
                <a:uFillTx/>
                <a:latin typeface="+mn-lt"/>
                <a:ea typeface="+mn-ea"/>
                <a:cs typeface="+mn-cs"/>
              </a:rPr>
              <a:t>β</a:t>
            </a:r>
            <a:r>
              <a:rPr kumimoji="0" lang="nl-NL" sz="2400" b="0" i="0" u="none" strike="noStrike" kern="1200" cap="none" spc="0" normalizeH="0" noProof="0" dirty="0" smtClean="0">
                <a:ln>
                  <a:noFill/>
                </a:ln>
                <a:solidFill>
                  <a:schemeClr val="tx1"/>
                </a:solidFill>
                <a:effectLst/>
                <a:uLnTx/>
                <a:uFillTx/>
                <a:latin typeface="+mn-lt"/>
                <a:ea typeface="+mn-ea"/>
                <a:cs typeface="+mn-cs"/>
              </a:rPr>
              <a:t> formules zijn, dan zijn </a:t>
            </a:r>
            <a:r>
              <a:rPr kumimoji="0" lang="nl-NL" sz="2400" b="1" u="none" strike="noStrike" kern="1200" cap="none" spc="0" normalizeH="0" noProof="0" dirty="0" smtClean="0">
                <a:ln>
                  <a:noFill/>
                </a:ln>
                <a:solidFill>
                  <a:srgbClr val="0070C0"/>
                </a:solidFill>
                <a:effectLst/>
                <a:uLnTx/>
                <a:uFillTx/>
                <a:latin typeface="+mn-lt"/>
                <a:ea typeface="+mn-ea"/>
                <a:cs typeface="+mn-cs"/>
              </a:rPr>
              <a:t>(</a:t>
            </a:r>
            <a:r>
              <a:rPr lang="el-GR" sz="2400" b="1" i="1" dirty="0" smtClean="0"/>
              <a:t>α</a:t>
            </a:r>
            <a:r>
              <a:rPr lang="nl-NL" sz="2400" b="1" dirty="0" smtClean="0">
                <a:solidFill>
                  <a:srgbClr val="0070C0"/>
                </a:solidFill>
              </a:rPr>
              <a:t> ∧ </a:t>
            </a:r>
            <a:r>
              <a:rPr lang="el-GR" sz="2400" b="1" i="1" dirty="0" smtClean="0"/>
              <a:t>β</a:t>
            </a:r>
            <a:r>
              <a:rPr lang="nl-NL" sz="2400" b="1" dirty="0" smtClean="0">
                <a:solidFill>
                  <a:srgbClr val="0070C0"/>
                </a:solidFill>
              </a:rPr>
              <a:t>)</a:t>
            </a:r>
            <a:r>
              <a:rPr lang="nl-NL" sz="2400" dirty="0" smtClean="0"/>
              <a:t>, </a:t>
            </a:r>
            <a:r>
              <a:rPr lang="nl-NL" sz="2400" b="1" dirty="0" smtClean="0">
                <a:solidFill>
                  <a:srgbClr val="0070C0"/>
                </a:solidFill>
              </a:rPr>
              <a:t>(</a:t>
            </a:r>
            <a:r>
              <a:rPr lang="el-GR" sz="2400" b="1" i="1" dirty="0" smtClean="0"/>
              <a:t>α</a:t>
            </a:r>
            <a:r>
              <a:rPr lang="nl-NL" sz="2400" b="1" dirty="0" smtClean="0">
                <a:solidFill>
                  <a:srgbClr val="0070C0"/>
                </a:solidFill>
              </a:rPr>
              <a:t> ∨ </a:t>
            </a:r>
            <a:r>
              <a:rPr lang="el-GR" sz="2400" b="1" i="1" dirty="0" smtClean="0"/>
              <a:t>β</a:t>
            </a:r>
            <a:r>
              <a:rPr lang="nl-NL" sz="2400" b="1" dirty="0" smtClean="0">
                <a:solidFill>
                  <a:srgbClr val="0070C0"/>
                </a:solidFill>
              </a:rPr>
              <a:t>)</a:t>
            </a:r>
            <a:r>
              <a:rPr lang="nl-NL" sz="2400" dirty="0" smtClean="0"/>
              <a:t>, </a:t>
            </a:r>
            <a:r>
              <a:rPr lang="nl-NL" sz="2400" b="1" dirty="0" smtClean="0">
                <a:solidFill>
                  <a:srgbClr val="0070C0"/>
                </a:solidFill>
              </a:rPr>
              <a:t>(</a:t>
            </a:r>
            <a:r>
              <a:rPr lang="el-GR" sz="2400" b="1" i="1" dirty="0" smtClean="0"/>
              <a:t>α </a:t>
            </a:r>
            <a:r>
              <a:rPr lang="nl-NL" sz="2400" b="1" dirty="0" smtClean="0">
                <a:solidFill>
                  <a:srgbClr val="0070C0"/>
                </a:solidFill>
              </a:rPr>
              <a:t>→ </a:t>
            </a:r>
            <a:r>
              <a:rPr lang="el-GR" sz="2400" b="1" i="1" dirty="0" smtClean="0"/>
              <a:t>β</a:t>
            </a:r>
            <a:r>
              <a:rPr lang="nl-NL" sz="2400" b="1" dirty="0" smtClean="0">
                <a:solidFill>
                  <a:srgbClr val="0070C0"/>
                </a:solidFill>
              </a:rPr>
              <a:t>)</a:t>
            </a:r>
            <a:r>
              <a:rPr lang="nl-NL" sz="2400" b="1" i="1" dirty="0" smtClean="0"/>
              <a:t> </a:t>
            </a:r>
            <a:r>
              <a:rPr lang="nl-NL" sz="2400" dirty="0" smtClean="0"/>
              <a:t>en</a:t>
            </a:r>
            <a:r>
              <a:rPr lang="nl-NL" sz="2400" b="1" i="1" dirty="0" smtClean="0"/>
              <a:t> </a:t>
            </a:r>
            <a:r>
              <a:rPr lang="nl-NL" sz="2400" b="1" dirty="0" smtClean="0">
                <a:solidFill>
                  <a:srgbClr val="0070C0"/>
                </a:solidFill>
              </a:rPr>
              <a:t>(</a:t>
            </a:r>
            <a:r>
              <a:rPr lang="el-GR" sz="2400" b="1" i="1" dirty="0" smtClean="0"/>
              <a:t>α</a:t>
            </a:r>
            <a:r>
              <a:rPr lang="nl-NL" sz="2400" b="1" dirty="0" smtClean="0">
                <a:solidFill>
                  <a:srgbClr val="0070C0"/>
                </a:solidFill>
              </a:rPr>
              <a:t> ↔</a:t>
            </a:r>
            <a:r>
              <a:rPr lang="el-GR" sz="2400" b="1" i="1" dirty="0" smtClean="0"/>
              <a:t> β</a:t>
            </a:r>
            <a:r>
              <a:rPr lang="nl-NL" sz="2400" b="1" dirty="0" smtClean="0">
                <a:solidFill>
                  <a:srgbClr val="0070C0"/>
                </a:solidFill>
              </a:rPr>
              <a:t>) </a:t>
            </a:r>
            <a:r>
              <a:rPr lang="nl-NL" sz="2400" dirty="0" smtClean="0"/>
              <a:t>ook </a:t>
            </a:r>
            <a:r>
              <a:rPr kumimoji="0" lang="nl-NL" sz="2400" b="0" i="0" u="none" strike="noStrike" kern="1200" cap="none" spc="0" normalizeH="0" noProof="0" dirty="0" smtClean="0">
                <a:ln>
                  <a:noFill/>
                </a:ln>
                <a:solidFill>
                  <a:schemeClr val="tx1"/>
                </a:solidFill>
                <a:effectLst/>
                <a:uLnTx/>
                <a:uFillTx/>
                <a:latin typeface="+mn-lt"/>
                <a:ea typeface="+mn-ea"/>
                <a:cs typeface="+mn-cs"/>
              </a:rPr>
              <a:t>formules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400" dirty="0" err="1" smtClean="0"/>
              <a:t>iv</a:t>
            </a:r>
            <a:r>
              <a:rPr lang="nl-NL" sz="2400" dirty="0" smtClean="0"/>
              <a:t>. </a:t>
            </a:r>
            <a:r>
              <a:rPr lang="nl-NL" sz="2400" dirty="0" err="1" smtClean="0"/>
              <a:t>Alléén</a:t>
            </a:r>
            <a:r>
              <a:rPr lang="nl-NL" sz="2400" dirty="0" smtClean="0"/>
              <a:t> die rijtjes van tekens zijn formules, die kunnen worden    verkregen door (eventueel herhaalde) toepassing van [i], [</a:t>
            </a:r>
            <a:r>
              <a:rPr lang="nl-NL" sz="2400" dirty="0" err="1" smtClean="0"/>
              <a:t>ii</a:t>
            </a:r>
            <a:r>
              <a:rPr lang="nl-NL" sz="2400" dirty="0" smtClean="0"/>
              <a:t>] en [</a:t>
            </a:r>
            <a:r>
              <a:rPr lang="nl-NL" sz="2400" dirty="0" err="1" smtClean="0"/>
              <a:t>iii</a:t>
            </a:r>
            <a:r>
              <a:rPr lang="nl-NL" sz="2400" dirty="0" smtClean="0"/>
              <a:t>]</a:t>
            </a: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Formules in diagrammen</a:t>
            </a:r>
            <a:endParaRPr lang="nl-NL" sz="3200" dirty="0"/>
          </a:p>
        </p:txBody>
      </p:sp>
      <p:sp>
        <p:nvSpPr>
          <p:cNvPr id="7" name="TextBox 6"/>
          <p:cNvSpPr txBox="1"/>
          <p:nvPr/>
        </p:nvSpPr>
        <p:spPr>
          <a:xfrm>
            <a:off x="1187624" y="1772816"/>
            <a:ext cx="3024336" cy="369332"/>
          </a:xfrm>
          <a:prstGeom prst="rect">
            <a:avLst/>
          </a:prstGeom>
          <a:noFill/>
        </p:spPr>
        <p:txBody>
          <a:bodyPr wrap="square" rtlCol="0">
            <a:spAutoFit/>
          </a:bodyPr>
          <a:lstStyle/>
          <a:p>
            <a:r>
              <a:rPr lang="nl-NL" b="1" dirty="0" smtClean="0">
                <a:solidFill>
                  <a:srgbClr val="0070C0"/>
                </a:solidFill>
              </a:rPr>
              <a:t>¬(P → (P ∧ Q))   </a:t>
            </a:r>
            <a:endParaRPr lang="nl-NL" dirty="0"/>
          </a:p>
        </p:txBody>
      </p:sp>
      <p:cxnSp>
        <p:nvCxnSpPr>
          <p:cNvPr id="11" name="Straight Connector 10"/>
          <p:cNvCxnSpPr/>
          <p:nvPr/>
        </p:nvCxnSpPr>
        <p:spPr>
          <a:xfrm flipH="1">
            <a:off x="1259632" y="2276872"/>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835696" y="2276872"/>
            <a:ext cx="576064" cy="72008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043608" y="2987660"/>
            <a:ext cx="1152128" cy="369332"/>
          </a:xfrm>
          <a:prstGeom prst="rect">
            <a:avLst/>
          </a:prstGeom>
          <a:noFill/>
        </p:spPr>
        <p:txBody>
          <a:bodyPr wrap="square" rtlCol="0">
            <a:spAutoFit/>
          </a:bodyPr>
          <a:lstStyle/>
          <a:p>
            <a:r>
              <a:rPr lang="nl-NL" b="1" dirty="0" smtClean="0">
                <a:solidFill>
                  <a:srgbClr val="0070C0"/>
                </a:solidFill>
              </a:rPr>
              <a:t>¬</a:t>
            </a:r>
            <a:endParaRPr lang="nl-NL" dirty="0"/>
          </a:p>
        </p:txBody>
      </p:sp>
      <p:sp>
        <p:nvSpPr>
          <p:cNvPr id="16" name="TextBox 15"/>
          <p:cNvSpPr txBox="1"/>
          <p:nvPr/>
        </p:nvSpPr>
        <p:spPr>
          <a:xfrm>
            <a:off x="1835696" y="2996952"/>
            <a:ext cx="1296144" cy="369332"/>
          </a:xfrm>
          <a:prstGeom prst="rect">
            <a:avLst/>
          </a:prstGeom>
          <a:noFill/>
        </p:spPr>
        <p:txBody>
          <a:bodyPr wrap="square" rtlCol="0">
            <a:spAutoFit/>
          </a:bodyPr>
          <a:lstStyle/>
          <a:p>
            <a:r>
              <a:rPr lang="nl-NL" b="1" dirty="0" smtClean="0">
                <a:solidFill>
                  <a:srgbClr val="0070C0"/>
                </a:solidFill>
              </a:rPr>
              <a:t>P → (P ∧ Q)   </a:t>
            </a:r>
            <a:endParaRPr lang="nl-NL" dirty="0"/>
          </a:p>
        </p:txBody>
      </p:sp>
      <p:cxnSp>
        <p:nvCxnSpPr>
          <p:cNvPr id="17" name="Straight Connector 16"/>
          <p:cNvCxnSpPr/>
          <p:nvPr/>
        </p:nvCxnSpPr>
        <p:spPr>
          <a:xfrm flipH="1">
            <a:off x="1835696" y="3429000"/>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411760" y="3429000"/>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411760" y="3429000"/>
            <a:ext cx="0" cy="79208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619672" y="4149080"/>
            <a:ext cx="360040" cy="369332"/>
          </a:xfrm>
          <a:prstGeom prst="rect">
            <a:avLst/>
          </a:prstGeom>
          <a:noFill/>
        </p:spPr>
        <p:txBody>
          <a:bodyPr wrap="square" rtlCol="0">
            <a:spAutoFit/>
          </a:bodyPr>
          <a:lstStyle/>
          <a:p>
            <a:r>
              <a:rPr lang="nl-NL" b="1" dirty="0" smtClean="0">
                <a:solidFill>
                  <a:srgbClr val="0070C0"/>
                </a:solidFill>
              </a:rPr>
              <a:t>P</a:t>
            </a:r>
            <a:endParaRPr lang="nl-NL" dirty="0"/>
          </a:p>
        </p:txBody>
      </p:sp>
      <p:sp>
        <p:nvSpPr>
          <p:cNvPr id="22" name="TextBox 21"/>
          <p:cNvSpPr txBox="1"/>
          <p:nvPr/>
        </p:nvSpPr>
        <p:spPr>
          <a:xfrm>
            <a:off x="2195736" y="4139788"/>
            <a:ext cx="360040" cy="369332"/>
          </a:xfrm>
          <a:prstGeom prst="rect">
            <a:avLst/>
          </a:prstGeom>
          <a:noFill/>
        </p:spPr>
        <p:txBody>
          <a:bodyPr wrap="square" rtlCol="0">
            <a:spAutoFit/>
          </a:bodyPr>
          <a:lstStyle/>
          <a:p>
            <a:r>
              <a:rPr lang="nl-NL" b="1" dirty="0" smtClean="0">
                <a:solidFill>
                  <a:srgbClr val="0070C0"/>
                </a:solidFill>
              </a:rPr>
              <a:t>→</a:t>
            </a:r>
            <a:endParaRPr lang="nl-NL" dirty="0"/>
          </a:p>
        </p:txBody>
      </p:sp>
      <p:sp>
        <p:nvSpPr>
          <p:cNvPr id="23" name="TextBox 22"/>
          <p:cNvSpPr txBox="1"/>
          <p:nvPr/>
        </p:nvSpPr>
        <p:spPr>
          <a:xfrm>
            <a:off x="2699792" y="4149080"/>
            <a:ext cx="936104" cy="369332"/>
          </a:xfrm>
          <a:prstGeom prst="rect">
            <a:avLst/>
          </a:prstGeom>
          <a:noFill/>
        </p:spPr>
        <p:txBody>
          <a:bodyPr wrap="square" rtlCol="0">
            <a:spAutoFit/>
          </a:bodyPr>
          <a:lstStyle/>
          <a:p>
            <a:r>
              <a:rPr lang="nl-NL" b="1" dirty="0" smtClean="0">
                <a:solidFill>
                  <a:srgbClr val="0070C0"/>
                </a:solidFill>
              </a:rPr>
              <a:t>P ∧ Q  </a:t>
            </a:r>
            <a:endParaRPr lang="nl-NL" dirty="0"/>
          </a:p>
        </p:txBody>
      </p:sp>
      <p:cxnSp>
        <p:nvCxnSpPr>
          <p:cNvPr id="24" name="Straight Connector 23"/>
          <p:cNvCxnSpPr/>
          <p:nvPr/>
        </p:nvCxnSpPr>
        <p:spPr>
          <a:xfrm flipH="1">
            <a:off x="2483768" y="4509120"/>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059832" y="4509120"/>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059832" y="4509120"/>
            <a:ext cx="0" cy="792088"/>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267744" y="5229200"/>
            <a:ext cx="360040" cy="369332"/>
          </a:xfrm>
          <a:prstGeom prst="rect">
            <a:avLst/>
          </a:prstGeom>
          <a:noFill/>
        </p:spPr>
        <p:txBody>
          <a:bodyPr wrap="square" rtlCol="0">
            <a:spAutoFit/>
          </a:bodyPr>
          <a:lstStyle/>
          <a:p>
            <a:r>
              <a:rPr lang="nl-NL" b="1" dirty="0" smtClean="0">
                <a:solidFill>
                  <a:srgbClr val="0070C0"/>
                </a:solidFill>
              </a:rPr>
              <a:t>P</a:t>
            </a:r>
            <a:endParaRPr lang="nl-NL" dirty="0"/>
          </a:p>
        </p:txBody>
      </p:sp>
      <p:sp>
        <p:nvSpPr>
          <p:cNvPr id="28" name="TextBox 27"/>
          <p:cNvSpPr txBox="1"/>
          <p:nvPr/>
        </p:nvSpPr>
        <p:spPr>
          <a:xfrm>
            <a:off x="2843808" y="5219908"/>
            <a:ext cx="360040" cy="369332"/>
          </a:xfrm>
          <a:prstGeom prst="rect">
            <a:avLst/>
          </a:prstGeom>
          <a:noFill/>
        </p:spPr>
        <p:txBody>
          <a:bodyPr wrap="square" rtlCol="0">
            <a:spAutoFit/>
          </a:bodyPr>
          <a:lstStyle/>
          <a:p>
            <a:r>
              <a:rPr lang="nl-NL" b="1" dirty="0" smtClean="0">
                <a:solidFill>
                  <a:srgbClr val="0070C0"/>
                </a:solidFill>
              </a:rPr>
              <a:t>∧</a:t>
            </a:r>
            <a:endParaRPr lang="nl-NL" dirty="0"/>
          </a:p>
        </p:txBody>
      </p:sp>
      <p:sp>
        <p:nvSpPr>
          <p:cNvPr id="29" name="TextBox 28"/>
          <p:cNvSpPr txBox="1"/>
          <p:nvPr/>
        </p:nvSpPr>
        <p:spPr>
          <a:xfrm>
            <a:off x="3347864" y="5229200"/>
            <a:ext cx="936104" cy="369332"/>
          </a:xfrm>
          <a:prstGeom prst="rect">
            <a:avLst/>
          </a:prstGeom>
          <a:noFill/>
        </p:spPr>
        <p:txBody>
          <a:bodyPr wrap="square" rtlCol="0">
            <a:spAutoFit/>
          </a:bodyPr>
          <a:lstStyle/>
          <a:p>
            <a:r>
              <a:rPr lang="nl-NL" b="1" dirty="0" smtClean="0">
                <a:solidFill>
                  <a:srgbClr val="0070C0"/>
                </a:solidFill>
              </a:rPr>
              <a:t>   Q  </a:t>
            </a:r>
            <a:endParaRPr lang="nl-NL" dirty="0"/>
          </a:p>
        </p:txBody>
      </p:sp>
      <p:sp>
        <p:nvSpPr>
          <p:cNvPr id="30" name="TextBox 29"/>
          <p:cNvSpPr txBox="1"/>
          <p:nvPr/>
        </p:nvSpPr>
        <p:spPr>
          <a:xfrm>
            <a:off x="1043608" y="5949280"/>
            <a:ext cx="2952328" cy="369332"/>
          </a:xfrm>
          <a:prstGeom prst="rect">
            <a:avLst/>
          </a:prstGeom>
          <a:noFill/>
        </p:spPr>
        <p:txBody>
          <a:bodyPr wrap="square" rtlCol="0">
            <a:spAutoFit/>
          </a:bodyPr>
          <a:lstStyle/>
          <a:p>
            <a:r>
              <a:rPr lang="nl-NL" i="1" dirty="0" err="1" smtClean="0"/>
              <a:t>Phrase</a:t>
            </a:r>
            <a:r>
              <a:rPr lang="nl-NL" i="1" dirty="0" smtClean="0"/>
              <a:t> </a:t>
            </a:r>
            <a:r>
              <a:rPr lang="nl-NL" i="1" dirty="0" err="1" smtClean="0"/>
              <a:t>structure</a:t>
            </a:r>
            <a:r>
              <a:rPr lang="nl-NL" i="1" dirty="0" smtClean="0"/>
              <a:t> diagram</a:t>
            </a:r>
            <a:endParaRPr lang="nl-NL" i="1" dirty="0"/>
          </a:p>
        </p:txBody>
      </p:sp>
      <p:sp>
        <p:nvSpPr>
          <p:cNvPr id="31" name="TextBox 30"/>
          <p:cNvSpPr txBox="1"/>
          <p:nvPr/>
        </p:nvSpPr>
        <p:spPr>
          <a:xfrm>
            <a:off x="4716016" y="1772816"/>
            <a:ext cx="3024336" cy="369332"/>
          </a:xfrm>
          <a:prstGeom prst="rect">
            <a:avLst/>
          </a:prstGeom>
          <a:noFill/>
        </p:spPr>
        <p:txBody>
          <a:bodyPr wrap="square" rtlCol="0">
            <a:spAutoFit/>
          </a:bodyPr>
          <a:lstStyle/>
          <a:p>
            <a:r>
              <a:rPr lang="nl-NL" b="1" dirty="0" smtClean="0">
                <a:solidFill>
                  <a:srgbClr val="0070C0"/>
                </a:solidFill>
              </a:rPr>
              <a:t>¬(P → (P ∧ Q))   </a:t>
            </a:r>
            <a:endParaRPr lang="nl-NL" dirty="0"/>
          </a:p>
        </p:txBody>
      </p:sp>
      <p:sp>
        <p:nvSpPr>
          <p:cNvPr id="34" name="TextBox 33"/>
          <p:cNvSpPr txBox="1"/>
          <p:nvPr/>
        </p:nvSpPr>
        <p:spPr>
          <a:xfrm>
            <a:off x="5364088" y="2420888"/>
            <a:ext cx="1152128" cy="369332"/>
          </a:xfrm>
          <a:prstGeom prst="rect">
            <a:avLst/>
          </a:prstGeom>
          <a:noFill/>
        </p:spPr>
        <p:txBody>
          <a:bodyPr wrap="square" rtlCol="0">
            <a:spAutoFit/>
          </a:bodyPr>
          <a:lstStyle/>
          <a:p>
            <a:r>
              <a:rPr lang="nl-NL" b="1" dirty="0" smtClean="0">
                <a:solidFill>
                  <a:srgbClr val="0070C0"/>
                </a:solidFill>
              </a:rPr>
              <a:t>¬</a:t>
            </a:r>
            <a:endParaRPr lang="nl-NL" dirty="0"/>
          </a:p>
        </p:txBody>
      </p:sp>
      <p:sp>
        <p:nvSpPr>
          <p:cNvPr id="35" name="TextBox 34"/>
          <p:cNvSpPr txBox="1"/>
          <p:nvPr/>
        </p:nvSpPr>
        <p:spPr>
          <a:xfrm>
            <a:off x="4788024" y="3059668"/>
            <a:ext cx="3024336" cy="369332"/>
          </a:xfrm>
          <a:prstGeom prst="rect">
            <a:avLst/>
          </a:prstGeom>
          <a:noFill/>
        </p:spPr>
        <p:txBody>
          <a:bodyPr wrap="square" rtlCol="0">
            <a:spAutoFit/>
          </a:bodyPr>
          <a:lstStyle/>
          <a:p>
            <a:r>
              <a:rPr lang="nl-NL" b="1" dirty="0" smtClean="0">
                <a:solidFill>
                  <a:srgbClr val="0070C0"/>
                </a:solidFill>
              </a:rPr>
              <a:t>P → (P ∧ Q)   </a:t>
            </a:r>
            <a:endParaRPr lang="nl-NL" dirty="0"/>
          </a:p>
        </p:txBody>
      </p:sp>
      <p:cxnSp>
        <p:nvCxnSpPr>
          <p:cNvPr id="36" name="Straight Connector 35"/>
          <p:cNvCxnSpPr/>
          <p:nvPr/>
        </p:nvCxnSpPr>
        <p:spPr>
          <a:xfrm flipH="1">
            <a:off x="4788024" y="3429000"/>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5364088" y="3429000"/>
            <a:ext cx="576064" cy="720080"/>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4644008" y="4149080"/>
            <a:ext cx="360040" cy="369332"/>
          </a:xfrm>
          <a:prstGeom prst="rect">
            <a:avLst/>
          </a:prstGeom>
          <a:noFill/>
        </p:spPr>
        <p:txBody>
          <a:bodyPr wrap="square" rtlCol="0">
            <a:spAutoFit/>
          </a:bodyPr>
          <a:lstStyle/>
          <a:p>
            <a:r>
              <a:rPr lang="nl-NL" b="1" dirty="0" smtClean="0">
                <a:solidFill>
                  <a:srgbClr val="0070C0"/>
                </a:solidFill>
              </a:rPr>
              <a:t>P</a:t>
            </a:r>
            <a:endParaRPr lang="nl-NL" dirty="0"/>
          </a:p>
        </p:txBody>
      </p:sp>
      <p:sp>
        <p:nvSpPr>
          <p:cNvPr id="40" name="TextBox 39"/>
          <p:cNvSpPr txBox="1"/>
          <p:nvPr/>
        </p:nvSpPr>
        <p:spPr>
          <a:xfrm>
            <a:off x="5148064" y="3573016"/>
            <a:ext cx="360040" cy="369332"/>
          </a:xfrm>
          <a:prstGeom prst="rect">
            <a:avLst/>
          </a:prstGeom>
          <a:noFill/>
        </p:spPr>
        <p:txBody>
          <a:bodyPr wrap="square" rtlCol="0">
            <a:spAutoFit/>
          </a:bodyPr>
          <a:lstStyle/>
          <a:p>
            <a:r>
              <a:rPr lang="nl-NL" b="1" dirty="0" smtClean="0">
                <a:solidFill>
                  <a:srgbClr val="0070C0"/>
                </a:solidFill>
              </a:rPr>
              <a:t>→</a:t>
            </a:r>
            <a:endParaRPr lang="nl-NL" dirty="0"/>
          </a:p>
        </p:txBody>
      </p:sp>
      <p:sp>
        <p:nvSpPr>
          <p:cNvPr id="41" name="TextBox 40"/>
          <p:cNvSpPr txBox="1"/>
          <p:nvPr/>
        </p:nvSpPr>
        <p:spPr>
          <a:xfrm>
            <a:off x="5652120" y="4149080"/>
            <a:ext cx="936104" cy="369332"/>
          </a:xfrm>
          <a:prstGeom prst="rect">
            <a:avLst/>
          </a:prstGeom>
          <a:noFill/>
        </p:spPr>
        <p:txBody>
          <a:bodyPr wrap="square" rtlCol="0">
            <a:spAutoFit/>
          </a:bodyPr>
          <a:lstStyle/>
          <a:p>
            <a:r>
              <a:rPr lang="nl-NL" b="1" dirty="0" smtClean="0">
                <a:solidFill>
                  <a:srgbClr val="0070C0"/>
                </a:solidFill>
              </a:rPr>
              <a:t>P ∧ Q  </a:t>
            </a:r>
            <a:endParaRPr lang="nl-NL" dirty="0"/>
          </a:p>
        </p:txBody>
      </p:sp>
      <p:cxnSp>
        <p:nvCxnSpPr>
          <p:cNvPr id="42" name="Straight Connector 41"/>
          <p:cNvCxnSpPr/>
          <p:nvPr/>
        </p:nvCxnSpPr>
        <p:spPr>
          <a:xfrm flipH="1">
            <a:off x="5436096" y="4571836"/>
            <a:ext cx="576064" cy="72008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6012160" y="4571836"/>
            <a:ext cx="576064" cy="720080"/>
          </a:xfrm>
          <a:prstGeom prst="line">
            <a:avLst/>
          </a:prstGeom>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5220072" y="5291916"/>
            <a:ext cx="360040" cy="369332"/>
          </a:xfrm>
          <a:prstGeom prst="rect">
            <a:avLst/>
          </a:prstGeom>
          <a:noFill/>
        </p:spPr>
        <p:txBody>
          <a:bodyPr wrap="square" rtlCol="0">
            <a:spAutoFit/>
          </a:bodyPr>
          <a:lstStyle/>
          <a:p>
            <a:r>
              <a:rPr lang="nl-NL" b="1" dirty="0" smtClean="0">
                <a:solidFill>
                  <a:srgbClr val="0070C0"/>
                </a:solidFill>
              </a:rPr>
              <a:t>P</a:t>
            </a:r>
            <a:endParaRPr lang="nl-NL" dirty="0"/>
          </a:p>
        </p:txBody>
      </p:sp>
      <p:sp>
        <p:nvSpPr>
          <p:cNvPr id="46" name="TextBox 45"/>
          <p:cNvSpPr txBox="1"/>
          <p:nvPr/>
        </p:nvSpPr>
        <p:spPr>
          <a:xfrm>
            <a:off x="5868144" y="4653136"/>
            <a:ext cx="360040" cy="369332"/>
          </a:xfrm>
          <a:prstGeom prst="rect">
            <a:avLst/>
          </a:prstGeom>
          <a:noFill/>
        </p:spPr>
        <p:txBody>
          <a:bodyPr wrap="square" rtlCol="0">
            <a:spAutoFit/>
          </a:bodyPr>
          <a:lstStyle/>
          <a:p>
            <a:r>
              <a:rPr lang="nl-NL" b="1" dirty="0" smtClean="0">
                <a:solidFill>
                  <a:srgbClr val="0070C0"/>
                </a:solidFill>
              </a:rPr>
              <a:t>∧</a:t>
            </a:r>
            <a:endParaRPr lang="nl-NL" dirty="0"/>
          </a:p>
        </p:txBody>
      </p:sp>
      <p:sp>
        <p:nvSpPr>
          <p:cNvPr id="47" name="TextBox 46"/>
          <p:cNvSpPr txBox="1"/>
          <p:nvPr/>
        </p:nvSpPr>
        <p:spPr>
          <a:xfrm>
            <a:off x="6300192" y="5291916"/>
            <a:ext cx="936104" cy="369332"/>
          </a:xfrm>
          <a:prstGeom prst="rect">
            <a:avLst/>
          </a:prstGeom>
          <a:noFill/>
        </p:spPr>
        <p:txBody>
          <a:bodyPr wrap="square" rtlCol="0">
            <a:spAutoFit/>
          </a:bodyPr>
          <a:lstStyle/>
          <a:p>
            <a:r>
              <a:rPr lang="nl-NL" b="1" dirty="0" smtClean="0">
                <a:solidFill>
                  <a:srgbClr val="0070C0"/>
                </a:solidFill>
              </a:rPr>
              <a:t>   Q  </a:t>
            </a:r>
            <a:endParaRPr lang="nl-NL" dirty="0"/>
          </a:p>
        </p:txBody>
      </p:sp>
      <p:cxnSp>
        <p:nvCxnSpPr>
          <p:cNvPr id="48" name="Straight Connector 47"/>
          <p:cNvCxnSpPr/>
          <p:nvPr/>
        </p:nvCxnSpPr>
        <p:spPr>
          <a:xfrm>
            <a:off x="5364088" y="2276872"/>
            <a:ext cx="0" cy="792088"/>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5004048" y="5877272"/>
            <a:ext cx="2952328" cy="369332"/>
          </a:xfrm>
          <a:prstGeom prst="rect">
            <a:avLst/>
          </a:prstGeom>
          <a:noFill/>
        </p:spPr>
        <p:txBody>
          <a:bodyPr wrap="square" rtlCol="0">
            <a:spAutoFit/>
          </a:bodyPr>
          <a:lstStyle/>
          <a:p>
            <a:r>
              <a:rPr lang="nl-NL" i="1" dirty="0" smtClean="0"/>
              <a:t>Constructieboom</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0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0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2000"/>
                                        <p:tgtEl>
                                          <p:spTgt spid="18"/>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20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20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20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20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200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20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2000"/>
                                        <p:tgtEl>
                                          <p:spTgt spid="2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2000"/>
                                        <p:tgtEl>
                                          <p:spTgt spid="2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20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2000"/>
                                        <p:tgtEl>
                                          <p:spTgt spid="2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2000"/>
                                        <p:tgtEl>
                                          <p:spTgt spid="3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fade">
                                      <p:cBhvr>
                                        <p:cTn id="63" dur="2000"/>
                                        <p:tgtEl>
                                          <p:spTgt spid="3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2000"/>
                                        <p:tgtEl>
                                          <p:spTgt spid="3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2000"/>
                                        <p:tgtEl>
                                          <p:spTgt spid="35"/>
                                        </p:tgtEl>
                                      </p:cBhvr>
                                    </p:animEffect>
                                  </p:childTnLst>
                                </p:cTn>
                              </p:par>
                              <p:par>
                                <p:cTn id="70" presetID="10" presetClass="entr" presetSubtype="0" fill="hold"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2000"/>
                                        <p:tgtEl>
                                          <p:spTgt spid="36"/>
                                        </p:tgtEl>
                                      </p:cBhvr>
                                    </p:animEffect>
                                  </p:childTnLst>
                                </p:cTn>
                              </p:par>
                              <p:par>
                                <p:cTn id="73" presetID="10"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2000"/>
                                        <p:tgtEl>
                                          <p:spTgt spid="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2000"/>
                                        <p:tgtEl>
                                          <p:spTgt spid="3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20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20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2000"/>
                                        <p:tgtEl>
                                          <p:spTgt spid="42"/>
                                        </p:tgtEl>
                                      </p:cBhvr>
                                    </p:animEffect>
                                  </p:childTnLst>
                                </p:cTn>
                              </p:par>
                              <p:par>
                                <p:cTn id="88" presetID="10" presetClass="entr" presetSubtype="0" fill="hold"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20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2000"/>
                                        <p:tgtEl>
                                          <p:spTgt spid="4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6"/>
                                        </p:tgtEl>
                                        <p:attrNameLst>
                                          <p:attrName>style.visibility</p:attrName>
                                        </p:attrNameLst>
                                      </p:cBhvr>
                                      <p:to>
                                        <p:strVal val="visible"/>
                                      </p:to>
                                    </p:set>
                                    <p:animEffect transition="in" filter="fade">
                                      <p:cBhvr>
                                        <p:cTn id="96" dur="2000"/>
                                        <p:tgtEl>
                                          <p:spTgt spid="4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2000"/>
                                        <p:tgtEl>
                                          <p:spTgt spid="47"/>
                                        </p:tgtEl>
                                      </p:cBhvr>
                                    </p:animEffect>
                                  </p:childTnLst>
                                </p:cTn>
                              </p:par>
                              <p:par>
                                <p:cTn id="100" presetID="10" presetClass="entr" presetSubtype="0" fill="hold" nodeType="with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2000"/>
                                        <p:tgtEl>
                                          <p:spTgt spid="4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fade">
                                      <p:cBhvr>
                                        <p:cTn id="105"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16" grpId="0"/>
      <p:bldP spid="21" grpId="0"/>
      <p:bldP spid="22" grpId="0"/>
      <p:bldP spid="23" grpId="0"/>
      <p:bldP spid="27" grpId="0"/>
      <p:bldP spid="28" grpId="0"/>
      <p:bldP spid="29" grpId="0"/>
      <p:bldP spid="30" grpId="0"/>
      <p:bldP spid="31" grpId="0"/>
      <p:bldP spid="34" grpId="0"/>
      <p:bldP spid="35" grpId="0"/>
      <p:bldP spid="39" grpId="0"/>
      <p:bldP spid="40" grpId="0"/>
      <p:bldP spid="41" grpId="0"/>
      <p:bldP spid="45" grpId="0"/>
      <p:bldP spid="46" grpId="0"/>
      <p:bldP spid="47" grpId="0"/>
      <p:bldP spid="4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Redeneringen vertalen naar propositielogica </a:t>
            </a:r>
            <a:endParaRPr lang="nl-NL" sz="3200" dirty="0"/>
          </a:p>
        </p:txBody>
      </p:sp>
      <p:sp>
        <p:nvSpPr>
          <p:cNvPr id="3" name="Content Placeholder 2"/>
          <p:cNvSpPr>
            <a:spLocks noGrp="1"/>
          </p:cNvSpPr>
          <p:nvPr>
            <p:ph idx="1"/>
          </p:nvPr>
        </p:nvSpPr>
        <p:spPr>
          <a:xfrm>
            <a:off x="205680" y="1672208"/>
            <a:ext cx="8686800" cy="1828800"/>
          </a:xfrm>
        </p:spPr>
        <p:txBody>
          <a:bodyPr>
            <a:normAutofit/>
          </a:bodyPr>
          <a:lstStyle/>
          <a:p>
            <a:pPr>
              <a:buNone/>
            </a:pPr>
            <a:r>
              <a:rPr lang="nl-NL" sz="2200" dirty="0" smtClean="0"/>
              <a:t>      “Als het bestaande bestaat, dan is het één of veel; maar, zoals we zullen aantonen, het is noch één, noch veel; daarom bestaat het bestaande niet.” (</a:t>
            </a:r>
            <a:r>
              <a:rPr lang="nl-NL" sz="2200" dirty="0" err="1" smtClean="0"/>
              <a:t>Sextus</a:t>
            </a:r>
            <a:r>
              <a:rPr lang="nl-NL" sz="2200" dirty="0" smtClean="0"/>
              <a:t> Empiricus; uit: </a:t>
            </a:r>
            <a:r>
              <a:rPr lang="nl-NL" sz="2200" i="1" dirty="0" smtClean="0"/>
              <a:t>Tegen de logici</a:t>
            </a:r>
            <a:r>
              <a:rPr lang="nl-NL" sz="2200" dirty="0" smtClean="0"/>
              <a:t>) </a:t>
            </a:r>
            <a:endParaRPr lang="nl-NL" sz="2200" dirty="0"/>
          </a:p>
        </p:txBody>
      </p:sp>
      <p:sp>
        <p:nvSpPr>
          <p:cNvPr id="4" name="Content Placeholder 2"/>
          <p:cNvSpPr txBox="1">
            <a:spLocks/>
          </p:cNvSpPr>
          <p:nvPr/>
        </p:nvSpPr>
        <p:spPr>
          <a:xfrm>
            <a:off x="493712" y="3068960"/>
            <a:ext cx="8686800" cy="1656184"/>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Vertaalsleutel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b="1" dirty="0" smtClean="0"/>
              <a:t>P</a:t>
            </a:r>
            <a:r>
              <a:rPr lang="nl-NL" sz="2000" dirty="0" smtClean="0"/>
              <a:t>: Het bestaande bestaat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1" i="0" u="none" strike="noStrike" kern="1200" cap="none" spc="0" normalizeH="0" baseline="0" noProof="0" dirty="0" smtClean="0">
                <a:ln>
                  <a:noFill/>
                </a:ln>
                <a:solidFill>
                  <a:schemeClr val="tx1"/>
                </a:solidFill>
                <a:effectLst/>
                <a:uLnTx/>
                <a:uFillTx/>
                <a:latin typeface="+mn-lt"/>
                <a:ea typeface="+mn-ea"/>
                <a:cs typeface="+mn-cs"/>
              </a:rPr>
              <a:t>Q</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noProof="0" dirty="0" smtClean="0">
                <a:ln>
                  <a:noFill/>
                </a:ln>
                <a:solidFill>
                  <a:schemeClr val="tx1"/>
                </a:solidFill>
                <a:effectLst/>
                <a:uLnTx/>
                <a:uFillTx/>
                <a:latin typeface="+mn-lt"/>
                <a:ea typeface="+mn-ea"/>
                <a:cs typeface="+mn-cs"/>
              </a:rPr>
              <a:t> Het bestaande is één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b="1" dirty="0" smtClean="0"/>
              <a:t>R</a:t>
            </a:r>
            <a:r>
              <a:rPr lang="nl-NL" sz="2000" dirty="0" smtClean="0"/>
              <a:t>: Het bestaande is veel</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4139952" y="3068960"/>
            <a:ext cx="8686800" cy="2088232"/>
          </a:xfrm>
          <a:prstGeom prst="rect">
            <a:avLst/>
          </a:prstGeom>
        </p:spPr>
        <p:txBody>
          <a:bodyPr vert="horz" lIns="91440" tIns="45720" rIns="91440" bIns="45720" rtlCol="0">
            <a:normAutofit/>
          </a:bodyPr>
          <a:lstStyle/>
          <a:p>
            <a:pPr marL="342900" lvl="0" indent="-342900">
              <a:spcBef>
                <a:spcPct val="20000"/>
              </a:spcBef>
              <a:defRPr/>
            </a:pPr>
            <a:r>
              <a:rPr lang="nl-NL" sz="2000" dirty="0" smtClean="0"/>
              <a:t>Formele r</a:t>
            </a:r>
            <a:r>
              <a:rPr kumimoji="0" lang="nl-NL" sz="2000" u="none" strike="noStrike" kern="1200" cap="none" spc="0" normalizeH="0" noProof="0" dirty="0" err="1" smtClean="0">
                <a:ln>
                  <a:noFill/>
                </a:ln>
                <a:effectLst/>
                <a:uLnTx/>
                <a:uFillTx/>
                <a:latin typeface="+mn-lt"/>
                <a:ea typeface="+mn-ea"/>
                <a:cs typeface="+mn-cs"/>
              </a:rPr>
              <a:t>edeneervorm</a:t>
            </a:r>
            <a:endParaRPr kumimoji="0" lang="nl-NL" sz="2000" u="none" strike="noStrike" kern="1200" cap="none" spc="0" normalizeH="0" noProof="0" dirty="0" smtClean="0">
              <a:ln>
                <a:noFill/>
              </a:ln>
              <a:effectLst/>
              <a:uLnTx/>
              <a:uFillTx/>
              <a:latin typeface="+mn-lt"/>
              <a:ea typeface="+mn-ea"/>
              <a:cs typeface="+mn-cs"/>
            </a:endParaRPr>
          </a:p>
          <a:p>
            <a:pPr marL="342900" lvl="0" indent="-342900">
              <a:spcBef>
                <a:spcPct val="20000"/>
              </a:spcBef>
              <a:defRPr/>
            </a:pPr>
            <a:endParaRPr kumimoji="0" lang="nl-NL" sz="800" u="none" strike="noStrike" kern="1200" cap="none" spc="0" normalizeH="0" baseline="0" noProof="0" dirty="0" smtClean="0">
              <a:ln>
                <a:noFill/>
              </a:ln>
              <a:effectLst/>
              <a:uLnTx/>
              <a:uFillTx/>
              <a:latin typeface="+mn-lt"/>
              <a:ea typeface="+mn-ea"/>
              <a:cs typeface="+mn-cs"/>
            </a:endParaRPr>
          </a:p>
          <a:p>
            <a:pPr marL="342900" lvl="0" indent="-342900">
              <a:spcBef>
                <a:spcPct val="20000"/>
              </a:spcBef>
              <a:defRPr/>
            </a:pPr>
            <a:r>
              <a:rPr kumimoji="0" lang="nl-NL" sz="2000" u="none" strike="noStrike" kern="1200" cap="none" spc="0" normalizeH="0" baseline="0" noProof="0" dirty="0" smtClean="0">
                <a:ln>
                  <a:noFill/>
                </a:ln>
                <a:effectLst/>
                <a:uLnTx/>
                <a:uFillTx/>
                <a:latin typeface="+mn-lt"/>
                <a:ea typeface="+mn-ea"/>
                <a:cs typeface="+mn-cs"/>
              </a:rPr>
              <a:t>1.</a:t>
            </a:r>
            <a:r>
              <a:rPr kumimoji="0" lang="nl-NL" sz="2000" u="none" strike="noStrike" kern="1200" cap="none" spc="0" normalizeH="0" noProof="0" dirty="0" smtClean="0">
                <a:ln>
                  <a:noFill/>
                </a:ln>
                <a:effectLst/>
                <a:uLnTx/>
                <a:uFillTx/>
                <a:latin typeface="+mn-lt"/>
                <a:ea typeface="+mn-ea"/>
                <a:cs typeface="+mn-cs"/>
              </a:rPr>
              <a:t>   </a:t>
            </a:r>
            <a:r>
              <a:rPr kumimoji="0" lang="nl-NL" sz="2000" b="1" u="none" strike="noStrike" kern="1200" cap="none" spc="0" normalizeH="0" noProof="0" dirty="0" smtClean="0">
                <a:ln>
                  <a:noFill/>
                </a:ln>
                <a:effectLst/>
                <a:uLnTx/>
                <a:uFillTx/>
                <a:latin typeface="+mn-lt"/>
                <a:ea typeface="+mn-ea"/>
                <a:cs typeface="+mn-cs"/>
              </a:rPr>
              <a:t>P </a:t>
            </a:r>
            <a:r>
              <a:rPr lang="nl-NL" sz="2000" b="1" dirty="0" smtClean="0"/>
              <a:t>→ (Q ∨ R)</a:t>
            </a:r>
          </a:p>
          <a:p>
            <a:pPr marL="342900" indent="-342900">
              <a:spcBef>
                <a:spcPct val="20000"/>
              </a:spcBef>
              <a:defRPr/>
            </a:pPr>
            <a:r>
              <a:rPr lang="nl-NL" sz="2000" dirty="0" smtClean="0"/>
              <a:t>2.   </a:t>
            </a:r>
            <a:r>
              <a:rPr lang="nl-NL" sz="2000" b="1" dirty="0" smtClean="0"/>
              <a:t>¬Q ∧ ¬R</a:t>
            </a:r>
          </a:p>
          <a:p>
            <a:pPr marL="342900" indent="-342900">
              <a:spcBef>
                <a:spcPct val="20000"/>
              </a:spcBef>
              <a:defRPr/>
            </a:pPr>
            <a:r>
              <a:rPr lang="nl-NL" sz="2000" dirty="0" smtClean="0"/>
              <a:t>3.   </a:t>
            </a:r>
            <a:r>
              <a:rPr lang="nl-NL" sz="2000" b="1" dirty="0" smtClean="0"/>
              <a:t>¬P</a:t>
            </a:r>
          </a:p>
          <a:p>
            <a:pPr marL="342900" lvl="0" indent="-342900">
              <a:spcBef>
                <a:spcPct val="20000"/>
              </a:spcBef>
              <a:defRPr/>
            </a:pPr>
            <a:endParaRPr kumimoji="0" lang="nl-NL" sz="2000" b="1" i="0" u="none" strike="noStrike" kern="1200" cap="none" spc="0" normalizeH="0" noProof="0" dirty="0" smtClean="0">
              <a:ln>
                <a:noFill/>
              </a:ln>
              <a:effectLst/>
              <a:uLnTx/>
              <a:uFillTx/>
              <a:latin typeface="+mn-lt"/>
              <a:ea typeface="+mn-ea"/>
              <a:cs typeface="+mn-cs"/>
            </a:endParaRPr>
          </a:p>
        </p:txBody>
      </p:sp>
      <p:sp>
        <p:nvSpPr>
          <p:cNvPr id="6" name="TextBox 5"/>
          <p:cNvSpPr txBox="1"/>
          <p:nvPr/>
        </p:nvSpPr>
        <p:spPr>
          <a:xfrm>
            <a:off x="4067944" y="5003884"/>
            <a:ext cx="3528392" cy="369332"/>
          </a:xfrm>
          <a:prstGeom prst="rect">
            <a:avLst/>
          </a:prstGeom>
          <a:noFill/>
        </p:spPr>
        <p:txBody>
          <a:bodyPr wrap="square" rtlCol="0">
            <a:spAutoFit/>
          </a:bodyPr>
          <a:lstStyle/>
          <a:p>
            <a:r>
              <a:rPr lang="nl-NL" i="1" dirty="0" smtClean="0"/>
              <a:t>Geldige redeneervorm of niet?</a:t>
            </a:r>
            <a:endParaRPr lang="nl-NL" i="1" dirty="0"/>
          </a:p>
        </p:txBody>
      </p:sp>
      <p:sp>
        <p:nvSpPr>
          <p:cNvPr id="7" name="TextBox 6"/>
          <p:cNvSpPr txBox="1"/>
          <p:nvPr/>
        </p:nvSpPr>
        <p:spPr>
          <a:xfrm>
            <a:off x="4067944" y="5446965"/>
            <a:ext cx="4248472" cy="646331"/>
          </a:xfrm>
          <a:prstGeom prst="rect">
            <a:avLst/>
          </a:prstGeom>
          <a:noFill/>
        </p:spPr>
        <p:txBody>
          <a:bodyPr wrap="square" rtlCol="0">
            <a:spAutoFit/>
          </a:bodyPr>
          <a:lstStyle/>
          <a:p>
            <a:r>
              <a:rPr lang="nl-NL" i="1" dirty="0" smtClean="0"/>
              <a:t>Hoe kan deze vraag met behulp van de propositielogica beantwoord worden?</a:t>
            </a:r>
            <a:endParaRPr lang="nl-NL" i="1" dirty="0"/>
          </a:p>
        </p:txBody>
      </p:sp>
      <p:sp>
        <p:nvSpPr>
          <p:cNvPr id="8" name="TextBox 7"/>
          <p:cNvSpPr txBox="1"/>
          <p:nvPr/>
        </p:nvSpPr>
        <p:spPr>
          <a:xfrm>
            <a:off x="4067944" y="6093296"/>
            <a:ext cx="5076056" cy="646331"/>
          </a:xfrm>
          <a:prstGeom prst="rect">
            <a:avLst/>
          </a:prstGeom>
          <a:noFill/>
        </p:spPr>
        <p:txBody>
          <a:bodyPr wrap="square" rtlCol="0">
            <a:spAutoFit/>
          </a:bodyPr>
          <a:lstStyle/>
          <a:p>
            <a:r>
              <a:rPr lang="nl-NL" i="1" dirty="0" smtClean="0"/>
              <a:t>Hiervoor kan </a:t>
            </a:r>
            <a:r>
              <a:rPr lang="nl-NL" i="1" u="sng" dirty="0" smtClean="0"/>
              <a:t>het systeem van natuurlijke deductie voor de propositielogica</a:t>
            </a:r>
            <a:r>
              <a:rPr lang="nl-NL" i="1" dirty="0" smtClean="0"/>
              <a:t> gebruikt worden</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000"/>
                                        <p:tgtEl>
                                          <p:spTgt spid="5">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2000"/>
                                        <p:tgtEl>
                                          <p:spTgt spid="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fade">
                                      <p:cBhvr>
                                        <p:cTn id="35" dur="2000"/>
                                        <p:tgtEl>
                                          <p:spTgt spid="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0" end="0"/>
                                            </p:txEl>
                                          </p:spTgt>
                                        </p:tgtEl>
                                        <p:attrNameLst>
                                          <p:attrName>style.visibility</p:attrName>
                                        </p:attrNameLst>
                                      </p:cBhvr>
                                      <p:to>
                                        <p:strVal val="visible"/>
                                      </p:to>
                                    </p:set>
                                    <p:animEffect transition="in" filter="fade">
                                      <p:cBhvr>
                                        <p:cTn id="40" dur="2000"/>
                                        <p:tgtEl>
                                          <p:spTgt spid="7">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xEl>
                                              <p:pRg st="0" end="0"/>
                                            </p:txEl>
                                          </p:spTgt>
                                        </p:tgtEl>
                                        <p:attrNameLst>
                                          <p:attrName>style.visibility</p:attrName>
                                        </p:attrNameLst>
                                      </p:cBhvr>
                                      <p:to>
                                        <p:strVal val="visible"/>
                                      </p:to>
                                    </p:set>
                                    <p:animEffect transition="in" filter="fade">
                                      <p:cBhvr>
                                        <p:cTn id="45"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7" grpId="0" build="allAtOnce"/>
      <p:bldP spid="8"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Het systeem van natuurlijke deductie                         voor de propositielogica</a:t>
            </a:r>
            <a:endParaRPr lang="nl-NL" sz="3600" dirty="0"/>
          </a:p>
        </p:txBody>
      </p:sp>
      <p:sp>
        <p:nvSpPr>
          <p:cNvPr id="3" name="Content Placeholder 2"/>
          <p:cNvSpPr>
            <a:spLocks noGrp="1"/>
          </p:cNvSpPr>
          <p:nvPr>
            <p:ph idx="1"/>
          </p:nvPr>
        </p:nvSpPr>
        <p:spPr>
          <a:xfrm>
            <a:off x="457200" y="1600200"/>
            <a:ext cx="8229600" cy="1108720"/>
          </a:xfrm>
        </p:spPr>
        <p:txBody>
          <a:bodyPr>
            <a:noAutofit/>
          </a:bodyPr>
          <a:lstStyle/>
          <a:p>
            <a:r>
              <a:rPr lang="nl-NL" sz="2200" dirty="0" smtClean="0"/>
              <a:t>Het </a:t>
            </a:r>
            <a:r>
              <a:rPr lang="nl-NL" sz="2200" i="1" dirty="0" smtClean="0"/>
              <a:t>systeem van natuurlijke deductie voor de propositielogica </a:t>
            </a:r>
            <a:r>
              <a:rPr lang="nl-NL" sz="2200" dirty="0" smtClean="0"/>
              <a:t>is bedoeld om op systematische wijze afleidingen te kunnen maken, dat wil zeggen nieuwe formules af te leiden uit gegeven formules.</a:t>
            </a:r>
          </a:p>
        </p:txBody>
      </p:sp>
      <p:sp>
        <p:nvSpPr>
          <p:cNvPr id="4" name="Content Placeholder 2"/>
          <p:cNvSpPr txBox="1">
            <a:spLocks/>
          </p:cNvSpPr>
          <p:nvPr/>
        </p:nvSpPr>
        <p:spPr>
          <a:xfrm>
            <a:off x="457200" y="2636912"/>
            <a:ext cx="8229600"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Laat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200" b="0" i="1" u="none" strike="noStrike" kern="1200" cap="none" spc="0" normalizeH="0" baseline="-2500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2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 ,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7</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en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formules zijn. Indien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200" b="1" i="0"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met behulp van de regels van het systeem van natuurlijke deductie kan worden afgeleid uit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200" b="0" i="1" u="none" strike="noStrike" kern="1200" cap="none" spc="0" normalizeH="0" baseline="-2500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2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 ,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7</a:t>
            </a:r>
            <a:r>
              <a:rPr kumimoji="0" lang="nl-NL" sz="2200" b="0" i="1" u="none" strike="noStrike" kern="1200" cap="none" spc="0" normalizeH="0" baseline="-25000" noProof="0" dirty="0" smtClean="0">
                <a:ln>
                  <a:noFill/>
                </a:ln>
                <a:solidFill>
                  <a:schemeClr val="tx1"/>
                </a:solidFill>
                <a:effectLst/>
                <a:uLnTx/>
                <a:uFillTx/>
                <a:latin typeface="+mn-lt"/>
                <a:ea typeface="+mn-ea"/>
                <a:cs typeface="+mn-cs"/>
              </a:rPr>
              <a:t> </a:t>
            </a:r>
            <a:r>
              <a:rPr kumimoji="0" lang="nl-NL" sz="2200" b="0" i="1" u="none" strike="noStrike" kern="1200" cap="none" spc="0" normalizeH="0" baseline="0" noProof="0" dirty="0" smtClean="0">
                <a:ln>
                  <a:noFill/>
                </a:ln>
                <a:solidFill>
                  <a:schemeClr val="tx1"/>
                </a:solidFill>
                <a:effectLst/>
                <a:uLnTx/>
                <a:uFillTx/>
                <a:latin typeface="+mn-lt"/>
                <a:ea typeface="+mn-ea"/>
                <a:cs typeface="+mn-cs"/>
              </a:rPr>
              <a:t> ,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dan schrijven we: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200" b="0" i="1" u="none" strike="noStrike" kern="1200" cap="none" spc="0" normalizeH="0" baseline="-2500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2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 ,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200" b="1" i="1" u="none" strike="noStrike" kern="1200" cap="none" spc="0" normalizeH="0" baseline="-25000" noProof="0" dirty="0" smtClean="0">
                <a:ln>
                  <a:noFill/>
                </a:ln>
                <a:solidFill>
                  <a:schemeClr val="tx1"/>
                </a:solidFill>
                <a:effectLst/>
                <a:uLnTx/>
                <a:uFillTx/>
                <a:latin typeface="+mn-lt"/>
                <a:ea typeface="+mn-ea"/>
                <a:cs typeface="+mn-cs"/>
              </a:rPr>
              <a:t>7  </a:t>
            </a:r>
            <a:r>
              <a:rPr kumimoji="0" lang="nl-NL" sz="2200" b="1" i="0" u="none" strike="noStrike" kern="1200" cap="none" spc="0" normalizeH="0" baseline="0" noProof="0" dirty="0" smtClean="0">
                <a:ln>
                  <a:noFill/>
                </a:ln>
                <a:solidFill>
                  <a:schemeClr val="tx1"/>
                </a:solidFill>
                <a:effectLst/>
                <a:uLnTx/>
                <a:uFillTx/>
                <a:latin typeface="+mn-lt"/>
                <a:ea typeface="+mn-ea"/>
                <a:cs typeface="+mn-cs"/>
              </a:rPr>
              <a:t>Ⱶ </a:t>
            </a:r>
            <a:r>
              <a:rPr kumimoji="0" lang="el-GR" sz="22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200" b="1"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899592" y="3861048"/>
            <a:ext cx="5616624" cy="3200876"/>
          </a:xfrm>
          <a:prstGeom prst="rect">
            <a:avLst/>
          </a:prstGeom>
          <a:noFill/>
        </p:spPr>
        <p:txBody>
          <a:bodyPr wrap="square" rtlCol="0">
            <a:spAutoFit/>
          </a:bodyPr>
          <a:lstStyle/>
          <a:p>
            <a:pPr marL="342900" indent="-342900">
              <a:buAutoNum type="arabicPeriod"/>
            </a:pPr>
            <a:r>
              <a:rPr lang="nl-NL" dirty="0" smtClean="0"/>
              <a:t> </a:t>
            </a:r>
            <a:r>
              <a:rPr lang="el-GR" b="1" i="1" dirty="0" smtClean="0"/>
              <a:t>α</a:t>
            </a:r>
            <a:r>
              <a:rPr lang="nl-NL" b="1" i="1" baseline="-25000" dirty="0" smtClean="0"/>
              <a:t>1</a:t>
            </a:r>
          </a:p>
          <a:p>
            <a:pPr marL="342900" indent="-342900">
              <a:buAutoNum type="arabicPeriod"/>
            </a:pPr>
            <a:r>
              <a:rPr lang="nl-NL" dirty="0" smtClean="0"/>
              <a:t> </a:t>
            </a:r>
            <a:r>
              <a:rPr lang="el-GR" b="1" i="1" dirty="0" smtClean="0"/>
              <a:t>α</a:t>
            </a:r>
            <a:r>
              <a:rPr lang="nl-NL" b="1" i="1" baseline="-25000" dirty="0" smtClean="0"/>
              <a:t>2</a:t>
            </a:r>
          </a:p>
          <a:p>
            <a:pPr marL="342900" indent="-342900">
              <a:buAutoNum type="arabicPeriod"/>
            </a:pPr>
            <a:r>
              <a:rPr lang="nl-NL" dirty="0" smtClean="0"/>
              <a:t> </a:t>
            </a:r>
            <a:r>
              <a:rPr lang="el-GR" b="1" i="1" dirty="0" smtClean="0"/>
              <a:t>α</a:t>
            </a:r>
            <a:r>
              <a:rPr lang="nl-NL" b="1" i="1" baseline="-25000" dirty="0" smtClean="0"/>
              <a:t>3 </a:t>
            </a:r>
            <a:r>
              <a:rPr lang="nl-NL" b="1" i="1" dirty="0" smtClean="0"/>
              <a:t>  </a:t>
            </a:r>
            <a:endParaRPr lang="nl-NL" baseline="-25000" dirty="0" smtClean="0"/>
          </a:p>
          <a:p>
            <a:pPr marL="342900" indent="-342900"/>
            <a:r>
              <a:rPr lang="nl-NL" b="1" i="1" dirty="0" smtClean="0"/>
              <a:t>…</a:t>
            </a:r>
          </a:p>
          <a:p>
            <a:pPr marL="342900" indent="-342900"/>
            <a:r>
              <a:rPr lang="nl-NL" dirty="0" smtClean="0"/>
              <a:t>7.    </a:t>
            </a:r>
            <a:r>
              <a:rPr lang="el-GR" b="1" i="1" dirty="0" smtClean="0"/>
              <a:t>α</a:t>
            </a:r>
            <a:r>
              <a:rPr lang="nl-NL" b="1" i="1" baseline="-25000" dirty="0" smtClean="0"/>
              <a:t>7</a:t>
            </a:r>
          </a:p>
          <a:p>
            <a:pPr marL="342900" indent="-342900"/>
            <a:r>
              <a:rPr lang="nl-NL" dirty="0" smtClean="0"/>
              <a:t>…</a:t>
            </a:r>
          </a:p>
          <a:p>
            <a:pPr marL="342900" indent="-342900"/>
            <a:r>
              <a:rPr lang="nl-NL" dirty="0" smtClean="0"/>
              <a:t>…</a:t>
            </a:r>
          </a:p>
          <a:p>
            <a:pPr marL="342900" indent="-342900"/>
            <a:r>
              <a:rPr lang="nl-NL" dirty="0" smtClean="0"/>
              <a:t>12. …</a:t>
            </a:r>
          </a:p>
          <a:p>
            <a:pPr marL="342900" indent="-342900"/>
            <a:r>
              <a:rPr lang="nl-NL" dirty="0" smtClean="0"/>
              <a:t>…</a:t>
            </a:r>
          </a:p>
          <a:p>
            <a:pPr marL="342900" indent="-342900"/>
            <a:r>
              <a:rPr lang="nl-NL" dirty="0" smtClean="0"/>
              <a:t>17.  </a:t>
            </a:r>
            <a:r>
              <a:rPr lang="el-GR" b="1" i="1" dirty="0" smtClean="0"/>
              <a:t>β</a:t>
            </a:r>
            <a:endParaRPr lang="nl-NL" dirty="0" smtClean="0"/>
          </a:p>
          <a:p>
            <a:pPr marL="342900" indent="-342900"/>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2000"/>
                                        <p:tgtEl>
                                          <p:spTgt spid="8">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2000"/>
                                        <p:tgtEl>
                                          <p:spTgt spid="8">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animEffect transition="in" filter="fade">
                                      <p:cBhvr>
                                        <p:cTn id="21" dur="2000"/>
                                        <p:tgtEl>
                                          <p:spTgt spid="8">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xEl>
                                              <p:pRg st="4" end="4"/>
                                            </p:txEl>
                                          </p:spTgt>
                                        </p:tgtEl>
                                        <p:attrNameLst>
                                          <p:attrName>style.visibility</p:attrName>
                                        </p:attrNameLst>
                                      </p:cBhvr>
                                      <p:to>
                                        <p:strVal val="visible"/>
                                      </p:to>
                                    </p:set>
                                    <p:animEffect transition="in" filter="fade">
                                      <p:cBhvr>
                                        <p:cTn id="24" dur="2000"/>
                                        <p:tgtEl>
                                          <p:spTgt spid="8">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2000"/>
                                        <p:tgtEl>
                                          <p:spTgt spid="8">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6" end="6"/>
                                            </p:txEl>
                                          </p:spTgt>
                                        </p:tgtEl>
                                        <p:attrNameLst>
                                          <p:attrName>style.visibility</p:attrName>
                                        </p:attrNameLst>
                                      </p:cBhvr>
                                      <p:to>
                                        <p:strVal val="visible"/>
                                      </p:to>
                                    </p:set>
                                    <p:animEffect transition="in" filter="fade">
                                      <p:cBhvr>
                                        <p:cTn id="30" dur="2000"/>
                                        <p:tgtEl>
                                          <p:spTgt spid="8">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xEl>
                                              <p:pRg st="7" end="7"/>
                                            </p:txEl>
                                          </p:spTgt>
                                        </p:tgtEl>
                                        <p:attrNameLst>
                                          <p:attrName>style.visibility</p:attrName>
                                        </p:attrNameLst>
                                      </p:cBhvr>
                                      <p:to>
                                        <p:strVal val="visible"/>
                                      </p:to>
                                    </p:set>
                                    <p:animEffect transition="in" filter="fade">
                                      <p:cBhvr>
                                        <p:cTn id="33" dur="2000"/>
                                        <p:tgtEl>
                                          <p:spTgt spid="8">
                                            <p:txEl>
                                              <p:pRg st="7" end="7"/>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xEl>
                                              <p:pRg st="8" end="8"/>
                                            </p:txEl>
                                          </p:spTgt>
                                        </p:tgtEl>
                                        <p:attrNameLst>
                                          <p:attrName>style.visibility</p:attrName>
                                        </p:attrNameLst>
                                      </p:cBhvr>
                                      <p:to>
                                        <p:strVal val="visible"/>
                                      </p:to>
                                    </p:set>
                                    <p:animEffect transition="in" filter="fade">
                                      <p:cBhvr>
                                        <p:cTn id="36" dur="2000"/>
                                        <p:tgtEl>
                                          <p:spTgt spid="8">
                                            <p:txEl>
                                              <p:pRg st="8" end="8"/>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xEl>
                                              <p:pRg st="9" end="9"/>
                                            </p:txEl>
                                          </p:spTgt>
                                        </p:tgtEl>
                                        <p:attrNameLst>
                                          <p:attrName>style.visibility</p:attrName>
                                        </p:attrNameLst>
                                      </p:cBhvr>
                                      <p:to>
                                        <p:strVal val="visible"/>
                                      </p:to>
                                    </p:set>
                                    <p:animEffect transition="in" filter="fade">
                                      <p:cBhvr>
                                        <p:cTn id="39" dur="20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8" grpId="0" build="allAtOnce"/>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Het systeem van natuurlijke deductie                         voor de propositielogica</a:t>
            </a:r>
            <a:endParaRPr lang="nl-NL" sz="3600" dirty="0"/>
          </a:p>
        </p:txBody>
      </p:sp>
      <p:sp>
        <p:nvSpPr>
          <p:cNvPr id="5" name="Content Placeholder 2"/>
          <p:cNvSpPr txBox="1">
            <a:spLocks/>
          </p:cNvSpPr>
          <p:nvPr/>
        </p:nvSpPr>
        <p:spPr>
          <a:xfrm>
            <a:off x="457200" y="1484784"/>
            <a:ext cx="8229600"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1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7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Ⱶ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dan is deze afleiding een logisch geldige redenering met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conclusie en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000" b="0" i="1" u="none" strike="noStrike" kern="1200" cap="none" spc="0" normalizeH="0" baseline="-2500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 ,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7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als premissen.</a:t>
            </a:r>
          </a:p>
        </p:txBody>
      </p:sp>
      <p:sp>
        <p:nvSpPr>
          <p:cNvPr id="6" name="Content Placeholder 2"/>
          <p:cNvSpPr txBox="1">
            <a:spLocks/>
          </p:cNvSpPr>
          <p:nvPr/>
        </p:nvSpPr>
        <p:spPr>
          <a:xfrm>
            <a:off x="457200" y="4725144"/>
            <a:ext cx="8229600" cy="144016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sng" strike="noStrike" kern="1200" cap="none" spc="0" normalizeH="0" baseline="0" noProof="0" dirty="0" smtClean="0">
                <a:ln>
                  <a:noFill/>
                </a:ln>
                <a:solidFill>
                  <a:schemeClr val="tx1"/>
                </a:solidFill>
                <a:effectLst/>
                <a:uLnTx/>
                <a:uFillTx/>
                <a:latin typeface="+mn-lt"/>
                <a:ea typeface="+mn-ea"/>
                <a:cs typeface="+mn-cs"/>
              </a:rPr>
              <a:t>Omgekeerd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als er een logisch geldige redenering bestaat met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1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7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premissen en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als conclusie, dan bestaat er ook een afleiding van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β</a:t>
            </a:r>
            <a:r>
              <a:rPr kumimoji="0" lang="el-GR"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uit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1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 ,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7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het systeem van natuurlijke deductie. </a:t>
            </a:r>
            <a:r>
              <a:rPr lang="nl-NL" sz="2000" dirty="0" smtClean="0"/>
              <a:t>K</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ortom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dan is het ook zo dat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1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2</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 ,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25000" noProof="0" dirty="0" smtClean="0">
                <a:ln>
                  <a:noFill/>
                </a:ln>
                <a:solidFill>
                  <a:schemeClr val="tx1"/>
                </a:solidFill>
                <a:effectLst/>
                <a:uLnTx/>
                <a:uFillTx/>
                <a:latin typeface="+mn-lt"/>
                <a:ea typeface="+mn-ea"/>
                <a:cs typeface="+mn-cs"/>
              </a:rPr>
              <a:t>7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Ⱶ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57200" y="6048672"/>
            <a:ext cx="8939336" cy="7647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Het systeem voor natuurlijke deductie valt dus naadloos samen met                    het geheel van alle logisch geldige afleidingen in de propositielogica!</a:t>
            </a:r>
          </a:p>
        </p:txBody>
      </p:sp>
      <p:sp>
        <p:nvSpPr>
          <p:cNvPr id="8" name="TextBox 7"/>
          <p:cNvSpPr txBox="1"/>
          <p:nvPr/>
        </p:nvSpPr>
        <p:spPr>
          <a:xfrm>
            <a:off x="1043608" y="2192084"/>
            <a:ext cx="5616624" cy="2893100"/>
          </a:xfrm>
          <a:prstGeom prst="rect">
            <a:avLst/>
          </a:prstGeom>
          <a:noFill/>
        </p:spPr>
        <p:txBody>
          <a:bodyPr wrap="square" rtlCol="0">
            <a:spAutoFit/>
          </a:bodyPr>
          <a:lstStyle/>
          <a:p>
            <a:pPr marL="342900" indent="-342900">
              <a:buAutoNum type="arabicPeriod"/>
            </a:pPr>
            <a:r>
              <a:rPr lang="nl-NL" sz="1600" dirty="0" smtClean="0"/>
              <a:t> </a:t>
            </a:r>
            <a:r>
              <a:rPr lang="el-GR" sz="1600" b="1" i="1" dirty="0" smtClean="0"/>
              <a:t>α</a:t>
            </a:r>
            <a:r>
              <a:rPr lang="nl-NL" sz="1600" b="1" i="1" baseline="-25000" dirty="0" smtClean="0"/>
              <a:t>1   </a:t>
            </a:r>
            <a:r>
              <a:rPr lang="nl-NL" sz="1600" dirty="0" smtClean="0"/>
              <a:t>(premisse)</a:t>
            </a:r>
            <a:endParaRPr lang="nl-NL" sz="1600" b="1" i="1" baseline="-25000" dirty="0" smtClean="0"/>
          </a:p>
          <a:p>
            <a:pPr marL="342900" indent="-342900">
              <a:buAutoNum type="arabicPeriod"/>
            </a:pPr>
            <a:r>
              <a:rPr lang="nl-NL" sz="1600" dirty="0" smtClean="0"/>
              <a:t> </a:t>
            </a:r>
            <a:r>
              <a:rPr lang="el-GR" sz="1600" b="1" i="1" dirty="0" smtClean="0"/>
              <a:t>α</a:t>
            </a:r>
            <a:r>
              <a:rPr lang="nl-NL" sz="1600" b="1" i="1" baseline="-25000" dirty="0" smtClean="0"/>
              <a:t>2   </a:t>
            </a:r>
            <a:r>
              <a:rPr lang="nl-NL" sz="1600" dirty="0" smtClean="0"/>
              <a:t>(premisse)</a:t>
            </a:r>
            <a:endParaRPr lang="nl-NL" sz="1600" b="1" i="1" baseline="-25000" dirty="0" smtClean="0"/>
          </a:p>
          <a:p>
            <a:pPr marL="342900" indent="-342900">
              <a:buAutoNum type="arabicPeriod"/>
            </a:pPr>
            <a:r>
              <a:rPr lang="nl-NL" sz="1600" dirty="0" smtClean="0"/>
              <a:t> </a:t>
            </a:r>
            <a:r>
              <a:rPr lang="el-GR" sz="1600" b="1" i="1" dirty="0" smtClean="0"/>
              <a:t>α</a:t>
            </a:r>
            <a:r>
              <a:rPr lang="nl-NL" sz="1600" b="1" i="1" baseline="-25000" dirty="0" smtClean="0"/>
              <a:t>3   </a:t>
            </a:r>
            <a:r>
              <a:rPr lang="nl-NL" sz="1600" dirty="0" smtClean="0"/>
              <a:t>(premisse)</a:t>
            </a:r>
            <a:r>
              <a:rPr lang="nl-NL" sz="1600" b="1" i="1" dirty="0" smtClean="0"/>
              <a:t> </a:t>
            </a:r>
            <a:endParaRPr lang="nl-NL" sz="1600" baseline="-25000" dirty="0" smtClean="0"/>
          </a:p>
          <a:p>
            <a:pPr marL="342900" indent="-342900"/>
            <a:r>
              <a:rPr lang="nl-NL" sz="1600" i="1" dirty="0" smtClean="0"/>
              <a:t>…</a:t>
            </a:r>
          </a:p>
          <a:p>
            <a:pPr marL="342900" indent="-342900"/>
            <a:r>
              <a:rPr lang="nl-NL" sz="1600" dirty="0" smtClean="0"/>
              <a:t>7.     </a:t>
            </a:r>
            <a:r>
              <a:rPr lang="el-GR" sz="1600" b="1" i="1" dirty="0" smtClean="0"/>
              <a:t>α</a:t>
            </a:r>
            <a:r>
              <a:rPr lang="nl-NL" sz="1600" b="1" i="1" baseline="-25000" dirty="0" smtClean="0"/>
              <a:t>7   </a:t>
            </a:r>
            <a:r>
              <a:rPr lang="nl-NL" sz="1600" dirty="0" smtClean="0"/>
              <a:t>(premisse)</a:t>
            </a:r>
            <a:endParaRPr lang="nl-NL" sz="1600" b="1" i="1" baseline="-25000" dirty="0" smtClean="0"/>
          </a:p>
          <a:p>
            <a:pPr marL="342900" indent="-342900"/>
            <a:r>
              <a:rPr lang="nl-NL" sz="1600" dirty="0" smtClean="0"/>
              <a:t>…</a:t>
            </a:r>
          </a:p>
          <a:p>
            <a:pPr marL="342900" indent="-342900"/>
            <a:r>
              <a:rPr lang="nl-NL" sz="1600" dirty="0" smtClean="0"/>
              <a:t>…</a:t>
            </a:r>
          </a:p>
          <a:p>
            <a:pPr marL="342900" indent="-342900"/>
            <a:r>
              <a:rPr lang="nl-NL" sz="1600" dirty="0" smtClean="0"/>
              <a:t>12. …</a:t>
            </a:r>
          </a:p>
          <a:p>
            <a:pPr marL="342900" indent="-342900"/>
            <a:r>
              <a:rPr lang="nl-NL" sz="1600" dirty="0" smtClean="0"/>
              <a:t>…</a:t>
            </a:r>
          </a:p>
          <a:p>
            <a:pPr marL="342900" indent="-342900"/>
            <a:r>
              <a:rPr lang="nl-NL" sz="1600" dirty="0" smtClean="0"/>
              <a:t>17.   </a:t>
            </a:r>
            <a:r>
              <a:rPr lang="el-GR" sz="1600" b="1" i="1" dirty="0" smtClean="0"/>
              <a:t>β</a:t>
            </a:r>
            <a:r>
              <a:rPr lang="nl-NL" sz="1600" b="1" i="1" dirty="0" smtClean="0"/>
              <a:t>    </a:t>
            </a:r>
            <a:r>
              <a:rPr lang="nl-NL" sz="1600" dirty="0" smtClean="0"/>
              <a:t>(conclusie)</a:t>
            </a:r>
          </a:p>
          <a:p>
            <a:pPr marL="342900" indent="-342900"/>
            <a:endParaRPr lang="nl-NL"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20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20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20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2000"/>
                                        <p:tgtEl>
                                          <p:spTgt spid="8">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xEl>
                                              <p:pRg st="5" end="5"/>
                                            </p:txEl>
                                          </p:spTgt>
                                        </p:tgtEl>
                                        <p:attrNameLst>
                                          <p:attrName>style.visibility</p:attrName>
                                        </p:attrNameLst>
                                      </p:cBhvr>
                                      <p:to>
                                        <p:strVal val="visible"/>
                                      </p:to>
                                    </p:set>
                                    <p:animEffect transition="in" filter="fade">
                                      <p:cBhvr>
                                        <p:cTn id="22" dur="2000"/>
                                        <p:tgtEl>
                                          <p:spTgt spid="8">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animEffect transition="in" filter="fade">
                                      <p:cBhvr>
                                        <p:cTn id="25" dur="2000"/>
                                        <p:tgtEl>
                                          <p:spTgt spid="8">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xEl>
                                              <p:pRg st="7" end="7"/>
                                            </p:txEl>
                                          </p:spTgt>
                                        </p:tgtEl>
                                        <p:attrNameLst>
                                          <p:attrName>style.visibility</p:attrName>
                                        </p:attrNameLst>
                                      </p:cBhvr>
                                      <p:to>
                                        <p:strVal val="visible"/>
                                      </p:to>
                                    </p:set>
                                    <p:animEffect transition="in" filter="fade">
                                      <p:cBhvr>
                                        <p:cTn id="28" dur="2000"/>
                                        <p:tgtEl>
                                          <p:spTgt spid="8">
                                            <p:txEl>
                                              <p:pRg st="7" end="7"/>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animEffect transition="in" filter="fade">
                                      <p:cBhvr>
                                        <p:cTn id="31" dur="2000"/>
                                        <p:tgtEl>
                                          <p:spTgt spid="8">
                                            <p:txEl>
                                              <p:pRg st="8" end="8"/>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xEl>
                                              <p:pRg st="9" end="9"/>
                                            </p:txEl>
                                          </p:spTgt>
                                        </p:tgtEl>
                                        <p:attrNameLst>
                                          <p:attrName>style.visibility</p:attrName>
                                        </p:attrNameLst>
                                      </p:cBhvr>
                                      <p:to>
                                        <p:strVal val="visible"/>
                                      </p:to>
                                    </p:set>
                                    <p:animEffect transition="in" filter="fade">
                                      <p:cBhvr>
                                        <p:cTn id="34" dur="2000"/>
                                        <p:tgtEl>
                                          <p:spTgt spid="8">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animEffect transition="in" filter="fade">
                                      <p:cBhvr>
                                        <p:cTn id="39" dur="2000"/>
                                        <p:tgtEl>
                                          <p:spTgt spid="6">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7">
                                            <p:txEl>
                                              <p:pRg st="0" end="0"/>
                                            </p:txEl>
                                          </p:spTgt>
                                        </p:tgtEl>
                                        <p:attrNameLst>
                                          <p:attrName>style.visibility</p:attrName>
                                        </p:attrNameLst>
                                      </p:cBhvr>
                                      <p:to>
                                        <p:strVal val="visible"/>
                                      </p:to>
                                    </p:set>
                                    <p:animEffect transition="in" filter="fade">
                                      <p:cBhvr>
                                        <p:cTn id="44"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Het systeem van natuurlijke deductie                         voor de propositielogica</a:t>
            </a:r>
            <a:endParaRPr lang="nl-NL" sz="3600" dirty="0"/>
          </a:p>
        </p:txBody>
      </p:sp>
      <p:sp>
        <p:nvSpPr>
          <p:cNvPr id="3" name="Content Placeholder 2"/>
          <p:cNvSpPr>
            <a:spLocks noGrp="1"/>
          </p:cNvSpPr>
          <p:nvPr>
            <p:ph idx="1"/>
          </p:nvPr>
        </p:nvSpPr>
        <p:spPr>
          <a:xfrm>
            <a:off x="457200" y="1600200"/>
            <a:ext cx="8867328" cy="1468760"/>
          </a:xfrm>
        </p:spPr>
        <p:txBody>
          <a:bodyPr>
            <a:noAutofit/>
          </a:bodyPr>
          <a:lstStyle/>
          <a:p>
            <a:r>
              <a:rPr lang="nl-NL" sz="2200" dirty="0" smtClean="0"/>
              <a:t>De vraag of een gegeven redeneervorm geldig is, kan dus beantwoord worden door na te gaan of de conclusie van deze redeneervorm met behulp van de regels van het systeem van natuurlijke deductie kan worden afgeleid uit de premissen van de redeneervorm</a:t>
            </a:r>
          </a:p>
        </p:txBody>
      </p:sp>
      <p:sp>
        <p:nvSpPr>
          <p:cNvPr id="8" name="Content Placeholder 2"/>
          <p:cNvSpPr txBox="1">
            <a:spLocks/>
          </p:cNvSpPr>
          <p:nvPr/>
        </p:nvSpPr>
        <p:spPr>
          <a:xfrm>
            <a:off x="467544" y="3112368"/>
            <a:ext cx="8867328" cy="5326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Zo ja, dan is de redeneervorm geldig. Zo niet, dan niet.</a:t>
            </a:r>
          </a:p>
        </p:txBody>
      </p:sp>
      <p:sp>
        <p:nvSpPr>
          <p:cNvPr id="9" name="Content Placeholder 2"/>
          <p:cNvSpPr txBox="1">
            <a:spLocks/>
          </p:cNvSpPr>
          <p:nvPr/>
        </p:nvSpPr>
        <p:spPr>
          <a:xfrm>
            <a:off x="457200" y="3573016"/>
            <a:ext cx="8867328" cy="197281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Maar hoe ziet het systeem van natuurlijke deductie er dan uit? Welnu,  dit systeem bestaat uit een lijst van </a:t>
            </a:r>
            <a:r>
              <a:rPr kumimoji="0" lang="nl-NL" sz="2200" b="0" i="1" u="none" strike="noStrike" kern="1200" cap="none" spc="0" normalizeH="0" baseline="0" noProof="0" dirty="0" smtClean="0">
                <a:ln>
                  <a:noFill/>
                </a:ln>
                <a:solidFill>
                  <a:schemeClr val="tx1"/>
                </a:solidFill>
                <a:effectLst/>
                <a:uLnTx/>
                <a:uFillTx/>
                <a:latin typeface="+mn-lt"/>
                <a:ea typeface="+mn-ea"/>
                <a:cs typeface="+mn-cs"/>
              </a:rPr>
              <a:t>afleidingsregels</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Bij iedere logische constante (</a:t>
            </a:r>
            <a:r>
              <a:rPr kumimoji="0" lang="nl-NL" sz="2200" b="1" i="0" u="none" strike="noStrike" kern="1200" cap="none" spc="0" normalizeH="0" baseline="0" noProof="0" dirty="0" smtClean="0">
                <a:ln>
                  <a:noFill/>
                </a:ln>
                <a:solidFill>
                  <a:srgbClr val="0070C0"/>
                </a:solidFill>
                <a:effectLst/>
                <a:uLnTx/>
                <a:uFillTx/>
                <a:latin typeface="+mn-lt"/>
                <a:ea typeface="+mn-ea"/>
                <a:cs typeface="+mn-cs"/>
              </a:rPr>
              <a:t>¬ , ∧ , ∨ , → ,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horen precies twee afleidingsregels:</a:t>
            </a: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	De </a:t>
            </a:r>
            <a:r>
              <a:rPr kumimoji="0" lang="nl-NL" sz="2200" b="0" i="1" u="none" strike="noStrike" kern="1200" cap="none" spc="0" normalizeH="0" baseline="0" noProof="0" dirty="0" smtClean="0">
                <a:ln>
                  <a:noFill/>
                </a:ln>
                <a:solidFill>
                  <a:schemeClr val="tx1"/>
                </a:solidFill>
                <a:effectLst/>
                <a:uLnTx/>
                <a:uFillTx/>
                <a:latin typeface="+mn-lt"/>
                <a:ea typeface="+mn-ea"/>
                <a:cs typeface="+mn-cs"/>
              </a:rPr>
              <a:t>introductieregel</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voor die logische constante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	De </a:t>
            </a:r>
            <a:r>
              <a:rPr kumimoji="0" lang="nl-NL" sz="2200" b="0" i="1" u="none" strike="noStrike" kern="1200" cap="none" spc="0" normalizeH="0" baseline="0" noProof="0" dirty="0" smtClean="0">
                <a:ln>
                  <a:noFill/>
                </a:ln>
                <a:solidFill>
                  <a:schemeClr val="tx1"/>
                </a:solidFill>
                <a:effectLst/>
                <a:uLnTx/>
                <a:uFillTx/>
                <a:latin typeface="+mn-lt"/>
                <a:ea typeface="+mn-ea"/>
                <a:cs typeface="+mn-cs"/>
              </a:rPr>
              <a:t>gebruiksregel</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 voor die logische constante</a:t>
            </a:r>
          </a:p>
        </p:txBody>
      </p:sp>
      <p:sp>
        <p:nvSpPr>
          <p:cNvPr id="12" name="Content Placeholder 2"/>
          <p:cNvSpPr txBox="1">
            <a:spLocks/>
          </p:cNvSpPr>
          <p:nvPr/>
        </p:nvSpPr>
        <p:spPr>
          <a:xfrm>
            <a:off x="457200" y="5589240"/>
            <a:ext cx="8867328" cy="86409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Dit levert in</a:t>
            </a:r>
            <a:r>
              <a:rPr kumimoji="0" lang="nl-NL" sz="2200" b="0" i="0" u="none" strike="noStrike" kern="1200" cap="none" spc="0" normalizeH="0" noProof="0" dirty="0" smtClean="0">
                <a:ln>
                  <a:noFill/>
                </a:ln>
                <a:solidFill>
                  <a:schemeClr val="tx1"/>
                </a:solidFill>
                <a:effectLst/>
                <a:uLnTx/>
                <a:uFillTx/>
                <a:latin typeface="+mn-lt"/>
                <a:ea typeface="+mn-ea"/>
                <a:cs typeface="+mn-cs"/>
              </a:rPr>
              <a:t> </a:t>
            </a:r>
            <a:r>
              <a:rPr kumimoji="0" lang="nl-NL" sz="2200" b="0" i="0" u="none" strike="noStrike" kern="1200" cap="none" spc="0" normalizeH="0" baseline="0" noProof="0" dirty="0" smtClean="0">
                <a:ln>
                  <a:noFill/>
                </a:ln>
                <a:solidFill>
                  <a:schemeClr val="tx1"/>
                </a:solidFill>
                <a:effectLst/>
                <a:uLnTx/>
                <a:uFillTx/>
                <a:latin typeface="+mn-lt"/>
                <a:ea typeface="+mn-ea"/>
                <a:cs typeface="+mn-cs"/>
              </a:rPr>
              <a:t>totaal 5 x 2 = 10 afleidingsregels op. We zullen hierna         iedere afleidingsregel in detail gaan bespreken.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2000"/>
                                        <p:tgtEl>
                                          <p:spTgt spid="9">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20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animEffect transition="in" filter="fade">
                                      <p:cBhvr>
                                        <p:cTn id="23"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P spid="12" grpId="0" build="allAtOnce"/>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de conjunctie (∧)</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1 </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α</a:t>
            </a:r>
            <a:r>
              <a:rPr lang="nl-NL" sz="2400" b="1" i="1" baseline="-25000" dirty="0" smtClean="0"/>
              <a:t>2</a:t>
            </a:r>
            <a:endParaRPr lang="nl-NL" sz="2400" dirty="0" smtClean="0"/>
          </a:p>
          <a:p>
            <a:pPr marL="514350" indent="-514350">
              <a:buNone/>
            </a:pPr>
            <a:r>
              <a:rPr lang="nl-NL" sz="2400" dirty="0" smtClean="0"/>
              <a:t>…</a:t>
            </a:r>
          </a:p>
          <a:p>
            <a:pPr marL="514350" indent="-514350">
              <a:buNone/>
            </a:pPr>
            <a:r>
              <a:rPr lang="nl-NL" sz="2400" dirty="0" smtClean="0"/>
              <a:t>16. </a:t>
            </a:r>
            <a:r>
              <a:rPr lang="el-GR" sz="2400" b="1" i="1" dirty="0" smtClean="0"/>
              <a:t>α</a:t>
            </a:r>
            <a:r>
              <a:rPr lang="nl-NL" sz="2400" b="1" i="1" baseline="-25000" dirty="0" smtClean="0"/>
              <a:t>1 </a:t>
            </a:r>
            <a:r>
              <a:rPr lang="nl-NL" sz="2400" b="1" dirty="0" smtClean="0"/>
              <a:t>∧</a:t>
            </a:r>
            <a:r>
              <a:rPr lang="nl-NL" sz="2400" dirty="0" smtClean="0"/>
              <a:t> </a:t>
            </a:r>
            <a:r>
              <a:rPr lang="el-GR" sz="2400" b="1" i="1" dirty="0" smtClean="0"/>
              <a:t>α</a:t>
            </a:r>
            <a:r>
              <a:rPr lang="nl-NL" sz="2400" b="1" i="1" baseline="-25000" dirty="0" smtClean="0"/>
              <a:t>2 </a:t>
            </a:r>
            <a:r>
              <a:rPr lang="nl-NL" sz="2400" b="1" i="1" dirty="0" smtClean="0"/>
              <a:t>    </a:t>
            </a:r>
            <a:r>
              <a:rPr lang="nl-NL" sz="2400" dirty="0" smtClean="0"/>
              <a:t>I ∧ (10, 15)</a:t>
            </a:r>
            <a:endParaRPr lang="nl-NL" sz="2400" baseline="-25000" dirty="0" smtClean="0"/>
          </a:p>
        </p:txBody>
      </p:sp>
      <p:sp>
        <p:nvSpPr>
          <p:cNvPr id="4" name="TextBox 3"/>
          <p:cNvSpPr txBox="1"/>
          <p:nvPr/>
        </p:nvSpPr>
        <p:spPr>
          <a:xfrm>
            <a:off x="4499992" y="1700808"/>
            <a:ext cx="3672408" cy="1200329"/>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a:t>
            </a:r>
            <a:r>
              <a:rPr lang="nl-NL" sz="2400" b="1" dirty="0" smtClean="0"/>
              <a:t>Prem.</a:t>
            </a:r>
          </a:p>
          <a:p>
            <a:pPr marL="342900" indent="-342900">
              <a:buAutoNum type="arabicPeriod"/>
            </a:pPr>
            <a:r>
              <a:rPr lang="nl-NL" sz="2400" b="1" dirty="0" smtClean="0">
                <a:solidFill>
                  <a:srgbClr val="0070C0"/>
                </a:solidFill>
              </a:rPr>
              <a:t>R     </a:t>
            </a:r>
            <a:r>
              <a:rPr lang="nl-NL" sz="2400" b="1" dirty="0" smtClean="0"/>
              <a:t>Prem.</a:t>
            </a:r>
          </a:p>
          <a:p>
            <a:pPr marL="342900" indent="-342900">
              <a:buFontTx/>
              <a:buAutoNum type="arabicPeriod"/>
            </a:pPr>
            <a:r>
              <a:rPr lang="nl-NL" sz="2400" b="1" dirty="0" smtClean="0">
                <a:solidFill>
                  <a:srgbClr val="0070C0"/>
                </a:solidFill>
              </a:rPr>
              <a:t>R ∧ (P → Q)     </a:t>
            </a:r>
            <a:r>
              <a:rPr lang="nl-NL" sz="2400" b="1" dirty="0" smtClean="0"/>
              <a:t>I ∧ (1,2)</a:t>
            </a:r>
            <a:r>
              <a:rPr lang="nl-NL" sz="2400" b="1" dirty="0" smtClean="0">
                <a:solidFill>
                  <a:srgbClr val="0070C0"/>
                </a:solidFill>
              </a:rPr>
              <a:t> </a:t>
            </a:r>
          </a:p>
        </p:txBody>
      </p:sp>
      <p:sp>
        <p:nvSpPr>
          <p:cNvPr id="5" name="TextBox 4"/>
          <p:cNvSpPr txBox="1"/>
          <p:nvPr/>
        </p:nvSpPr>
        <p:spPr>
          <a:xfrm>
            <a:off x="4499992" y="3645024"/>
            <a:ext cx="3672408" cy="830997"/>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smtClean="0"/>
              <a:t>Prem.</a:t>
            </a:r>
          </a:p>
          <a:p>
            <a:pPr marL="342900" indent="-342900">
              <a:buAutoNum type="arabicPeriod"/>
            </a:pPr>
            <a:r>
              <a:rPr lang="nl-NL" sz="2400" b="1" dirty="0" smtClean="0">
                <a:solidFill>
                  <a:srgbClr val="0070C0"/>
                </a:solidFill>
              </a:rPr>
              <a:t>P ∧ P    </a:t>
            </a:r>
            <a:r>
              <a:rPr lang="nl-NL" sz="2400" b="1" dirty="0" smtClean="0"/>
              <a:t>I ∧ (1,1)</a:t>
            </a:r>
            <a:r>
              <a:rPr lang="nl-NL" sz="2400" b="1" dirty="0" smtClean="0">
                <a:solidFill>
                  <a:srgbClr val="0070C0"/>
                </a:solidFill>
              </a:rPr>
              <a:t> </a:t>
            </a:r>
          </a:p>
        </p:txBody>
      </p:sp>
      <p:sp>
        <p:nvSpPr>
          <p:cNvPr id="6" name="Rectangle 5"/>
          <p:cNvSpPr/>
          <p:nvPr/>
        </p:nvSpPr>
        <p:spPr>
          <a:xfrm>
            <a:off x="4644008" y="4653136"/>
            <a:ext cx="1486304" cy="461665"/>
          </a:xfrm>
          <a:prstGeom prst="rect">
            <a:avLst/>
          </a:prstGeom>
        </p:spPr>
        <p:txBody>
          <a:bodyPr wrap="none">
            <a:spAutoFit/>
          </a:bodyPr>
          <a:lstStyle/>
          <a:p>
            <a:r>
              <a:rPr lang="nl-NL" sz="2400" b="1" dirty="0" smtClean="0"/>
              <a:t>P  Ⱶ  P ∧ P </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0" end="0"/>
                                            </p:txEl>
                                          </p:spTgt>
                                        </p:tgtEl>
                                        <p:attrNameLst>
                                          <p:attrName>style.visibility</p:attrName>
                                        </p:attrNameLst>
                                      </p:cBhvr>
                                      <p:to>
                                        <p:strVal val="visible"/>
                                      </p:to>
                                    </p:set>
                                    <p:animEffect transition="in" filter="fade">
                                      <p:cBhvr>
                                        <p:cTn id="26"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de conjunctie (∧)</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1 </a:t>
            </a:r>
            <a:r>
              <a:rPr lang="nl-NL" sz="2400" b="1" dirty="0" smtClean="0"/>
              <a:t>∧</a:t>
            </a:r>
            <a:r>
              <a:rPr lang="nl-NL" sz="2400" dirty="0" smtClean="0"/>
              <a:t> </a:t>
            </a:r>
            <a:r>
              <a:rPr lang="el-GR" sz="2400" b="1" i="1" dirty="0" smtClean="0"/>
              <a:t>α</a:t>
            </a:r>
            <a:r>
              <a:rPr lang="nl-NL" sz="2400" b="1" i="1" baseline="-25000" dirty="0" smtClean="0"/>
              <a:t>2 </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16. </a:t>
            </a:r>
            <a:r>
              <a:rPr lang="el-GR" sz="2400" b="1" i="1" dirty="0" smtClean="0"/>
              <a:t>α</a:t>
            </a:r>
            <a:r>
              <a:rPr lang="nl-NL" sz="2400" b="1" i="1" baseline="-25000" dirty="0" smtClean="0"/>
              <a:t>1     </a:t>
            </a:r>
            <a:r>
              <a:rPr lang="nl-NL" sz="2400" dirty="0" smtClean="0"/>
              <a:t>G ∧ (10)</a:t>
            </a:r>
            <a:endParaRPr lang="nl-NL" sz="2400" baseline="-25000" dirty="0" smtClean="0"/>
          </a:p>
        </p:txBody>
      </p:sp>
      <p:sp>
        <p:nvSpPr>
          <p:cNvPr id="4" name="TextBox 3"/>
          <p:cNvSpPr txBox="1"/>
          <p:nvPr/>
        </p:nvSpPr>
        <p:spPr>
          <a:xfrm>
            <a:off x="4499992" y="1700808"/>
            <a:ext cx="3672408" cy="1200329"/>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 R     </a:t>
            </a:r>
            <a:r>
              <a:rPr lang="nl-NL" sz="2400" b="1" dirty="0" smtClean="0"/>
              <a:t>Prem.</a:t>
            </a:r>
          </a:p>
          <a:p>
            <a:pPr marL="342900" indent="-342900">
              <a:buAutoNum type="arabicPeriod"/>
            </a:pPr>
            <a:r>
              <a:rPr lang="nl-NL" sz="2400" b="1" dirty="0" smtClean="0">
                <a:solidFill>
                  <a:srgbClr val="0070C0"/>
                </a:solidFill>
              </a:rPr>
              <a:t>P ∧ Q     </a:t>
            </a:r>
            <a:r>
              <a:rPr lang="nl-NL" sz="2400" b="1" dirty="0" smtClean="0"/>
              <a:t>G ∧ (1) </a:t>
            </a:r>
          </a:p>
          <a:p>
            <a:pPr marL="342900" indent="-342900">
              <a:buFontTx/>
              <a:buAutoNum type="arabicPeriod"/>
            </a:pPr>
            <a:r>
              <a:rPr lang="nl-NL" sz="2400" b="1" dirty="0" smtClean="0">
                <a:solidFill>
                  <a:srgbClr val="0070C0"/>
                </a:solidFill>
              </a:rPr>
              <a:t>Q      </a:t>
            </a:r>
            <a:r>
              <a:rPr lang="nl-NL" sz="2400" b="1" dirty="0" smtClean="0"/>
              <a:t>G ∧ (2)</a:t>
            </a:r>
            <a:r>
              <a:rPr lang="nl-NL" sz="2400" b="1" dirty="0" smtClean="0">
                <a:solidFill>
                  <a:srgbClr val="0070C0"/>
                </a:solidFill>
              </a:rPr>
              <a:t> </a:t>
            </a:r>
          </a:p>
        </p:txBody>
      </p:sp>
      <p:sp>
        <p:nvSpPr>
          <p:cNvPr id="5" name="TextBox 4"/>
          <p:cNvSpPr txBox="1"/>
          <p:nvPr/>
        </p:nvSpPr>
        <p:spPr>
          <a:xfrm>
            <a:off x="4499992" y="3645024"/>
            <a:ext cx="3672408" cy="1569660"/>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a:t>
            </a:r>
            <a:r>
              <a:rPr lang="nl-NL" sz="2400" b="1" dirty="0" smtClean="0"/>
              <a:t>Prem.</a:t>
            </a:r>
          </a:p>
          <a:p>
            <a:pPr marL="342900" indent="-342900">
              <a:buAutoNum type="arabicPeriod"/>
            </a:pPr>
            <a:r>
              <a:rPr lang="nl-NL" sz="2400" b="1" dirty="0" smtClean="0">
                <a:solidFill>
                  <a:srgbClr val="0070C0"/>
                </a:solidFill>
              </a:rPr>
              <a:t>Q     </a:t>
            </a:r>
            <a:r>
              <a:rPr lang="nl-NL" sz="2400" b="1" dirty="0" smtClean="0"/>
              <a:t>G ∧ (1)</a:t>
            </a:r>
          </a:p>
          <a:p>
            <a:pPr marL="342900" indent="-342900">
              <a:buAutoNum type="arabicPeriod"/>
            </a:pPr>
            <a:r>
              <a:rPr lang="nl-NL" sz="2400" b="1" dirty="0" smtClean="0">
                <a:solidFill>
                  <a:srgbClr val="0070C0"/>
                </a:solidFill>
              </a:rPr>
              <a:t>P     </a:t>
            </a:r>
            <a:r>
              <a:rPr lang="nl-NL" sz="2400" b="1" dirty="0" smtClean="0"/>
              <a:t>G ∧ (1)</a:t>
            </a:r>
          </a:p>
          <a:p>
            <a:pPr marL="342900" indent="-342900">
              <a:buAutoNum type="arabicPeriod"/>
            </a:pPr>
            <a:r>
              <a:rPr lang="nl-NL" sz="2400" b="1" dirty="0" smtClean="0">
                <a:solidFill>
                  <a:srgbClr val="0070C0"/>
                </a:solidFill>
              </a:rPr>
              <a:t>Q ∧ P    </a:t>
            </a:r>
            <a:r>
              <a:rPr lang="nl-NL" sz="2400" b="1" dirty="0" smtClean="0"/>
              <a:t>I ∧ (2,3)</a:t>
            </a:r>
            <a:endParaRPr lang="nl-NL" sz="2400" b="1" dirty="0" smtClean="0">
              <a:solidFill>
                <a:srgbClr val="0070C0"/>
              </a:solidFill>
            </a:endParaRPr>
          </a:p>
        </p:txBody>
      </p:sp>
      <p:sp>
        <p:nvSpPr>
          <p:cNvPr id="6" name="Rectangle 5"/>
          <p:cNvSpPr/>
          <p:nvPr/>
        </p:nvSpPr>
        <p:spPr>
          <a:xfrm>
            <a:off x="4644008" y="5661248"/>
            <a:ext cx="2061783" cy="461665"/>
          </a:xfrm>
          <a:prstGeom prst="rect">
            <a:avLst/>
          </a:prstGeom>
        </p:spPr>
        <p:txBody>
          <a:bodyPr wrap="none">
            <a:spAutoFit/>
          </a:bodyPr>
          <a:lstStyle/>
          <a:p>
            <a:r>
              <a:rPr lang="nl-NL" sz="2400" b="1" dirty="0" smtClean="0"/>
              <a:t>P ∧ Q  Ⱶ  Q ∧ P </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fade">
                                      <p:cBhvr>
                                        <p:cTn id="18" dur="2000"/>
                                        <p:tgtEl>
                                          <p:spTgt spid="5">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2000"/>
                                        <p:tgtEl>
                                          <p:spTgt spid="5">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0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de implicatie (→)</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b="1" dirty="0" smtClean="0"/>
              <a:t>→</a:t>
            </a:r>
            <a:r>
              <a:rPr lang="nl-NL" sz="2400" dirty="0" smtClean="0"/>
              <a:t> </a:t>
            </a:r>
            <a:r>
              <a:rPr lang="el-GR" sz="2400" b="1" i="1" dirty="0" smtClean="0"/>
              <a:t>β</a:t>
            </a:r>
            <a:r>
              <a:rPr lang="nl-NL" sz="2400" b="1" i="1" baseline="-25000" dirty="0" smtClean="0"/>
              <a:t> </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13. </a:t>
            </a:r>
            <a:r>
              <a:rPr lang="el-GR" sz="2400" b="1" i="1" dirty="0" smtClean="0"/>
              <a:t>α</a:t>
            </a:r>
            <a:endParaRPr lang="nl-NL" sz="2400" dirty="0" smtClean="0"/>
          </a:p>
          <a:p>
            <a:pPr marL="514350" indent="-514350">
              <a:buNone/>
            </a:pPr>
            <a:endParaRPr lang="nl-NL" sz="2400" dirty="0" smtClean="0"/>
          </a:p>
          <a:p>
            <a:pPr marL="514350" indent="-514350">
              <a:buNone/>
            </a:pPr>
            <a:r>
              <a:rPr lang="nl-NL" sz="2400" dirty="0" smtClean="0"/>
              <a:t>16. </a:t>
            </a:r>
            <a:r>
              <a:rPr lang="el-GR" sz="2400" b="1" i="1" dirty="0" smtClean="0"/>
              <a:t>β</a:t>
            </a:r>
            <a:r>
              <a:rPr lang="nl-NL" sz="2400" b="1" i="1" baseline="-25000" dirty="0" smtClean="0"/>
              <a:t>    </a:t>
            </a:r>
            <a:r>
              <a:rPr lang="nl-NL" sz="2400" dirty="0" smtClean="0"/>
              <a:t>G → (10,13)</a:t>
            </a:r>
            <a:endParaRPr lang="nl-NL" sz="2400" baseline="-25000" dirty="0" smtClean="0"/>
          </a:p>
        </p:txBody>
      </p:sp>
      <p:sp>
        <p:nvSpPr>
          <p:cNvPr id="4" name="TextBox 3"/>
          <p:cNvSpPr txBox="1"/>
          <p:nvPr/>
        </p:nvSpPr>
        <p:spPr>
          <a:xfrm>
            <a:off x="4499992" y="1700808"/>
            <a:ext cx="3672408" cy="2308324"/>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 R     </a:t>
            </a:r>
            <a:r>
              <a:rPr lang="nl-NL" sz="2400" b="1" dirty="0" smtClean="0"/>
              <a:t>Prem.</a:t>
            </a:r>
          </a:p>
          <a:p>
            <a:pPr marL="342900" indent="-342900">
              <a:buAutoNum type="arabicPeriod"/>
            </a:pPr>
            <a:r>
              <a:rPr lang="nl-NL" sz="2400" b="1" dirty="0" smtClean="0">
                <a:solidFill>
                  <a:srgbClr val="0070C0"/>
                </a:solidFill>
              </a:rPr>
              <a:t>P         </a:t>
            </a:r>
            <a:r>
              <a:rPr lang="nl-NL" sz="2400" b="1" dirty="0" smtClean="0"/>
              <a:t>Prem.</a:t>
            </a:r>
            <a:endParaRPr lang="nl-NL" sz="2400" b="1" dirty="0" smtClean="0">
              <a:solidFill>
                <a:srgbClr val="0070C0"/>
              </a:solidFill>
            </a:endParaRPr>
          </a:p>
          <a:p>
            <a:pPr marL="342900" indent="-342900">
              <a:buAutoNum type="arabicPeriod"/>
            </a:pPr>
            <a:r>
              <a:rPr lang="nl-NL" sz="2400" b="1" dirty="0" smtClean="0">
                <a:solidFill>
                  <a:srgbClr val="0070C0"/>
                </a:solidFill>
              </a:rPr>
              <a:t>Q        </a:t>
            </a:r>
            <a:r>
              <a:rPr lang="nl-NL" sz="2400" b="1" dirty="0" smtClean="0"/>
              <a:t>Prem.</a:t>
            </a:r>
          </a:p>
          <a:p>
            <a:pPr marL="342900" indent="-342900">
              <a:buFontTx/>
              <a:buAutoNum type="arabicPeriod"/>
            </a:pPr>
            <a:r>
              <a:rPr lang="nl-NL" sz="2400" b="1" dirty="0" smtClean="0">
                <a:solidFill>
                  <a:srgbClr val="0070C0"/>
                </a:solidFill>
              </a:rPr>
              <a:t>P ∧ Q     </a:t>
            </a:r>
            <a:r>
              <a:rPr lang="nl-NL" sz="2400" b="1" dirty="0" smtClean="0"/>
              <a:t>I ∧ (2,3)</a:t>
            </a:r>
          </a:p>
          <a:p>
            <a:pPr marL="342900" indent="-342900">
              <a:buFontTx/>
              <a:buAutoNum type="arabicPeriod"/>
            </a:pPr>
            <a:r>
              <a:rPr lang="nl-NL" sz="2400" b="1" dirty="0" smtClean="0">
                <a:solidFill>
                  <a:srgbClr val="0070C0"/>
                </a:solidFill>
              </a:rPr>
              <a:t>R     </a:t>
            </a:r>
            <a:r>
              <a:rPr lang="nl-NL" sz="2400" b="1" dirty="0" smtClean="0"/>
              <a:t>G → (1,4)</a:t>
            </a:r>
            <a:endParaRPr lang="nl-NL" sz="2400" b="1" baseline="-25000" dirty="0" smtClean="0"/>
          </a:p>
          <a:p>
            <a:pPr marL="342900" indent="-342900">
              <a:buFontTx/>
              <a:buAutoNum type="arabicPeriod"/>
            </a:pPr>
            <a:endParaRPr lang="nl-NL" sz="2400" b="1" dirty="0" smtClean="0">
              <a:solidFill>
                <a:srgbClr val="0070C0"/>
              </a:solidFill>
            </a:endParaRPr>
          </a:p>
        </p:txBody>
      </p:sp>
      <p:sp>
        <p:nvSpPr>
          <p:cNvPr id="6" name="TextBox 5"/>
          <p:cNvSpPr txBox="1"/>
          <p:nvPr/>
        </p:nvSpPr>
        <p:spPr>
          <a:xfrm>
            <a:off x="4572000" y="4005064"/>
            <a:ext cx="3672408" cy="2308324"/>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a:t>
            </a:r>
            <a:r>
              <a:rPr lang="nl-NL" sz="2400" b="1" dirty="0" smtClean="0"/>
              <a:t>Prem.</a:t>
            </a:r>
          </a:p>
          <a:p>
            <a:pPr marL="342900" indent="-342900">
              <a:buAutoNum type="arabicPeriod"/>
            </a:pPr>
            <a:r>
              <a:rPr lang="nl-NL" sz="2400" b="1" dirty="0" smtClean="0">
                <a:solidFill>
                  <a:srgbClr val="0070C0"/>
                </a:solidFill>
              </a:rPr>
              <a:t>P → R     </a:t>
            </a:r>
            <a:r>
              <a:rPr lang="nl-NL" sz="2400" b="1" dirty="0" smtClean="0"/>
              <a:t>Prem.</a:t>
            </a:r>
            <a:endParaRPr lang="nl-NL" sz="2400" b="1" dirty="0" smtClean="0">
              <a:solidFill>
                <a:srgbClr val="0070C0"/>
              </a:solidFill>
            </a:endParaRPr>
          </a:p>
          <a:p>
            <a:pPr marL="342900" indent="-342900">
              <a:buAutoNum type="arabicPeriod"/>
            </a:pPr>
            <a:r>
              <a:rPr lang="nl-NL" sz="2400" b="1" dirty="0" smtClean="0">
                <a:solidFill>
                  <a:srgbClr val="0070C0"/>
                </a:solidFill>
              </a:rPr>
              <a:t>P        </a:t>
            </a:r>
            <a:r>
              <a:rPr lang="nl-NL" sz="2400" b="1" dirty="0" smtClean="0"/>
              <a:t>G ∧ (1)</a:t>
            </a:r>
          </a:p>
          <a:p>
            <a:pPr marL="342900" indent="-342900">
              <a:buFontTx/>
              <a:buAutoNum type="arabicPeriod"/>
            </a:pPr>
            <a:r>
              <a:rPr lang="nl-NL" sz="2400" b="1" dirty="0" smtClean="0">
                <a:solidFill>
                  <a:srgbClr val="0070C0"/>
                </a:solidFill>
              </a:rPr>
              <a:t>R        </a:t>
            </a:r>
            <a:r>
              <a:rPr lang="nl-NL" sz="2400" b="1" dirty="0" smtClean="0"/>
              <a:t>G → (2,3)</a:t>
            </a:r>
          </a:p>
          <a:p>
            <a:pPr marL="342900" indent="-342900">
              <a:buFontTx/>
              <a:buAutoNum type="arabicPeriod"/>
            </a:pPr>
            <a:r>
              <a:rPr lang="nl-NL" sz="2400" b="1" dirty="0" smtClean="0">
                <a:solidFill>
                  <a:srgbClr val="0070C0"/>
                </a:solidFill>
              </a:rPr>
              <a:t>Q        </a:t>
            </a:r>
            <a:r>
              <a:rPr lang="nl-NL" sz="2400" b="1" dirty="0" smtClean="0"/>
              <a:t>G ∧ (1)</a:t>
            </a:r>
            <a:endParaRPr lang="nl-NL" sz="2400" b="1" baseline="-25000" dirty="0" smtClean="0"/>
          </a:p>
          <a:p>
            <a:pPr marL="342900" indent="-342900">
              <a:buFontTx/>
              <a:buAutoNum type="arabicPeriod"/>
            </a:pPr>
            <a:r>
              <a:rPr lang="nl-NL" sz="2400" b="1" dirty="0" smtClean="0">
                <a:solidFill>
                  <a:srgbClr val="0070C0"/>
                </a:solidFill>
              </a:rPr>
              <a:t>Q ∧ R      </a:t>
            </a:r>
            <a:r>
              <a:rPr lang="nl-NL" sz="2400" b="1" dirty="0" smtClean="0"/>
              <a:t>I ∧ (4,5)</a:t>
            </a:r>
            <a:endParaRPr lang="nl-NL" sz="2400" b="1" dirty="0" smtClean="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fade">
                                      <p:cBhvr>
                                        <p:cTn id="16" dur="2000"/>
                                        <p:tgtEl>
                                          <p:spTgt spid="4">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2000"/>
                                        <p:tgtEl>
                                          <p:spTgt spid="4">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2000"/>
                                        <p:tgtEl>
                                          <p:spTgt spid="6">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fade">
                                      <p:cBhvr>
                                        <p:cTn id="27" dur="2000"/>
                                        <p:tgtEl>
                                          <p:spTgt spid="6">
                                            <p:txEl>
                                              <p:pRg st="1" end="1"/>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fade">
                                      <p:cBhvr>
                                        <p:cTn id="30" dur="2000"/>
                                        <p:tgtEl>
                                          <p:spTgt spid="6">
                                            <p:txEl>
                                              <p:pRg st="2" end="2"/>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2000"/>
                                        <p:tgtEl>
                                          <p:spTgt spid="6">
                                            <p:txEl>
                                              <p:pRg st="3" end="3"/>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Effect transition="in" filter="fade">
                                      <p:cBhvr>
                                        <p:cTn id="36" dur="2000"/>
                                        <p:tgtEl>
                                          <p:spTgt spid="6">
                                            <p:txEl>
                                              <p:pRg st="4" end="4"/>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
                                            <p:txEl>
                                              <p:pRg st="5" end="5"/>
                                            </p:txEl>
                                          </p:spTgt>
                                        </p:tgtEl>
                                        <p:attrNameLst>
                                          <p:attrName>style.visibility</p:attrName>
                                        </p:attrNameLst>
                                      </p:cBhvr>
                                      <p:to>
                                        <p:strVal val="visible"/>
                                      </p:to>
                                    </p:set>
                                    <p:animEffect transition="in" filter="fade">
                                      <p:cBhvr>
                                        <p:cTn id="39" dur="20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6" grpId="0" build="allAtOnce"/>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de implicatie (→)</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b="1" dirty="0" smtClean="0"/>
              <a:t>    </a:t>
            </a:r>
            <a:r>
              <a:rPr lang="nl-NL" sz="2400" dirty="0" smtClean="0"/>
              <a:t>Assumptie</a:t>
            </a:r>
            <a:r>
              <a:rPr lang="nl-NL" sz="2400" b="1" i="1" baseline="-25000" dirty="0" smtClean="0"/>
              <a:t> </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13. </a:t>
            </a:r>
            <a:r>
              <a:rPr lang="el-GR" sz="2400" b="1" i="1" dirty="0" smtClean="0"/>
              <a:t>β</a:t>
            </a:r>
            <a:r>
              <a:rPr lang="nl-NL" sz="2400" dirty="0" smtClean="0"/>
              <a:t> </a:t>
            </a:r>
          </a:p>
          <a:p>
            <a:pPr marL="514350" indent="-514350">
              <a:buNone/>
            </a:pPr>
            <a:endParaRPr lang="nl-NL" sz="800" dirty="0" smtClean="0"/>
          </a:p>
          <a:p>
            <a:pPr marL="514350" indent="-514350">
              <a:buNone/>
            </a:pPr>
            <a:r>
              <a:rPr lang="nl-NL" sz="2400" dirty="0" smtClean="0"/>
              <a:t>14. </a:t>
            </a:r>
            <a:r>
              <a:rPr lang="el-GR" sz="2400" b="1" i="1" dirty="0" smtClean="0"/>
              <a:t>α </a:t>
            </a:r>
            <a:r>
              <a:rPr lang="nl-NL" sz="2400" b="1" dirty="0" smtClean="0"/>
              <a:t>→</a:t>
            </a:r>
            <a:r>
              <a:rPr lang="nl-NL" sz="2400" b="1" i="1" dirty="0" smtClean="0"/>
              <a:t> </a:t>
            </a:r>
            <a:r>
              <a:rPr lang="el-GR" sz="2400" b="1" i="1" dirty="0" smtClean="0"/>
              <a:t>β</a:t>
            </a:r>
            <a:r>
              <a:rPr lang="nl-NL" sz="2400" b="1" i="1" baseline="-25000" dirty="0" smtClean="0"/>
              <a:t>    </a:t>
            </a:r>
            <a:r>
              <a:rPr lang="nl-NL" sz="2400" dirty="0" smtClean="0"/>
              <a:t>I → (10,13)</a:t>
            </a:r>
            <a:endParaRPr lang="nl-NL" sz="2400" baseline="-25000" dirty="0" smtClean="0"/>
          </a:p>
        </p:txBody>
      </p:sp>
      <p:sp>
        <p:nvSpPr>
          <p:cNvPr id="4" name="TextBox 3"/>
          <p:cNvSpPr txBox="1"/>
          <p:nvPr/>
        </p:nvSpPr>
        <p:spPr>
          <a:xfrm>
            <a:off x="4499992" y="1700808"/>
            <a:ext cx="3672408" cy="3293209"/>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 R)     </a:t>
            </a:r>
            <a:r>
              <a:rPr lang="nl-NL" sz="2400" b="1" dirty="0" smtClean="0"/>
              <a:t>Prem.</a:t>
            </a:r>
          </a:p>
          <a:p>
            <a:pPr marL="342900" indent="-342900">
              <a:buAutoNum type="arabicPeriod"/>
            </a:pPr>
            <a:r>
              <a:rPr lang="nl-NL" sz="2400" b="1" dirty="0" smtClean="0">
                <a:solidFill>
                  <a:srgbClr val="0070C0"/>
                </a:solidFill>
              </a:rPr>
              <a:t>P → Q         </a:t>
            </a:r>
            <a:r>
              <a:rPr lang="nl-NL" sz="2400" b="1" dirty="0" smtClean="0"/>
              <a:t>Prem.</a:t>
            </a:r>
            <a:endParaRPr lang="nl-NL" sz="2400" b="1" dirty="0" smtClean="0">
              <a:solidFill>
                <a:srgbClr val="0070C0"/>
              </a:solidFill>
            </a:endParaRPr>
          </a:p>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buAutoNum type="arabicPeriod"/>
            </a:pPr>
            <a:r>
              <a:rPr lang="nl-NL" sz="2400" b="1" dirty="0" smtClean="0">
                <a:solidFill>
                  <a:srgbClr val="0070C0"/>
                </a:solidFill>
              </a:rPr>
              <a:t>Q → R        </a:t>
            </a:r>
            <a:r>
              <a:rPr lang="nl-NL" sz="2400" b="1" dirty="0" smtClean="0"/>
              <a:t>G → (1,3)</a:t>
            </a:r>
          </a:p>
          <a:p>
            <a:pPr marL="342900" indent="-342900">
              <a:buFontTx/>
              <a:buAutoNum type="arabicPeriod"/>
            </a:pPr>
            <a:r>
              <a:rPr lang="nl-NL" sz="2400" b="1" dirty="0" smtClean="0">
                <a:solidFill>
                  <a:srgbClr val="0070C0"/>
                </a:solidFill>
              </a:rPr>
              <a:t>Q     </a:t>
            </a:r>
            <a:r>
              <a:rPr lang="nl-NL" sz="2400" b="1" dirty="0" smtClean="0"/>
              <a:t>G → (2,3)</a:t>
            </a:r>
            <a:endParaRPr lang="nl-NL" sz="2400" b="1" baseline="-25000" dirty="0" smtClean="0"/>
          </a:p>
          <a:p>
            <a:pPr marL="342900" indent="-342900"/>
            <a:r>
              <a:rPr lang="nl-NL" sz="2400" b="1" dirty="0" smtClean="0">
                <a:solidFill>
                  <a:srgbClr val="0070C0"/>
                </a:solidFill>
              </a:rPr>
              <a:t>6.  R     </a:t>
            </a:r>
            <a:r>
              <a:rPr lang="nl-NL" sz="2400" b="1" dirty="0" smtClean="0"/>
              <a:t>G → (4,5)</a:t>
            </a:r>
          </a:p>
          <a:p>
            <a:pPr marL="342900" indent="-342900"/>
            <a:r>
              <a:rPr lang="nl-NL" sz="2400" b="1" dirty="0" smtClean="0">
                <a:solidFill>
                  <a:srgbClr val="0070C0"/>
                </a:solidFill>
              </a:rPr>
              <a:t>7.  P → R        </a:t>
            </a:r>
            <a:r>
              <a:rPr lang="nl-NL" sz="2400" b="1" dirty="0" smtClean="0"/>
              <a:t>I → (3,6)</a:t>
            </a:r>
          </a:p>
          <a:p>
            <a:pPr marL="342900" indent="-342900"/>
            <a:endParaRPr lang="nl-NL" sz="2400" b="1" baseline="-25000" dirty="0" smtClean="0"/>
          </a:p>
          <a:p>
            <a:pPr marL="342900" indent="-342900">
              <a:buFontTx/>
              <a:buAutoNum type="arabicPeriod"/>
            </a:pPr>
            <a:endParaRPr lang="nl-NL" sz="2400" b="1" dirty="0" smtClean="0">
              <a:solidFill>
                <a:srgbClr val="0070C0"/>
              </a:solidFill>
            </a:endParaRPr>
          </a:p>
        </p:txBody>
      </p:sp>
      <p:cxnSp>
        <p:nvCxnSpPr>
          <p:cNvPr id="8" name="Straight Connector 7"/>
          <p:cNvCxnSpPr/>
          <p:nvPr/>
        </p:nvCxnSpPr>
        <p:spPr>
          <a:xfrm flipH="1">
            <a:off x="323528" y="335699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528" y="3356992"/>
            <a:ext cx="0" cy="18722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3528" y="5229200"/>
            <a:ext cx="2520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4283968" y="2492896"/>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283968" y="2492896"/>
            <a:ext cx="0" cy="14401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283968" y="3933056"/>
            <a:ext cx="2520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499992" y="4869160"/>
            <a:ext cx="4017446" cy="461665"/>
          </a:xfrm>
          <a:prstGeom prst="rect">
            <a:avLst/>
          </a:prstGeom>
        </p:spPr>
        <p:txBody>
          <a:bodyPr wrap="none">
            <a:spAutoFit/>
          </a:bodyPr>
          <a:lstStyle/>
          <a:p>
            <a:r>
              <a:rPr lang="nl-NL" sz="2400" b="1" dirty="0" smtClean="0"/>
              <a:t>P → (Q → R) , P → Q  Ⱶ  P → R </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Effect transition="in" filter="fade">
                                      <p:cBhvr>
                                        <p:cTn id="21"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Herhalingsregel</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endParaRPr lang="nl-NL" sz="800" dirty="0" smtClean="0"/>
          </a:p>
          <a:p>
            <a:pPr marL="514350" indent="-514350">
              <a:buNone/>
            </a:pPr>
            <a:r>
              <a:rPr lang="nl-NL" sz="2400" dirty="0" smtClean="0"/>
              <a:t>13. </a:t>
            </a:r>
            <a:r>
              <a:rPr lang="el-GR" sz="2400" b="1" i="1" dirty="0" smtClean="0"/>
              <a:t>α</a:t>
            </a:r>
            <a:r>
              <a:rPr lang="nl-NL" sz="2400" b="1" i="1" dirty="0" smtClean="0"/>
              <a:t>  </a:t>
            </a:r>
            <a:r>
              <a:rPr lang="nl-NL" sz="2400" b="1" dirty="0" err="1" smtClean="0"/>
              <a:t>Herh</a:t>
            </a:r>
            <a:r>
              <a:rPr lang="nl-NL" sz="2400" b="1" dirty="0" smtClean="0"/>
              <a:t>. (10)</a:t>
            </a:r>
            <a:endParaRPr lang="nl-NL" sz="2400" baseline="-25000" dirty="0" smtClean="0"/>
          </a:p>
        </p:txBody>
      </p:sp>
      <p:sp>
        <p:nvSpPr>
          <p:cNvPr id="11" name="TextBox 10"/>
          <p:cNvSpPr txBox="1"/>
          <p:nvPr/>
        </p:nvSpPr>
        <p:spPr>
          <a:xfrm>
            <a:off x="4499992" y="1466201"/>
            <a:ext cx="3672408" cy="1200329"/>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err="1" smtClean="0"/>
              <a:t>Ass</a:t>
            </a:r>
            <a:endParaRPr lang="nl-NL" sz="2400" b="1" dirty="0" smtClean="0"/>
          </a:p>
          <a:p>
            <a:pPr marL="342900" indent="-342900">
              <a:buAutoNum type="arabicPeriod"/>
            </a:pPr>
            <a:r>
              <a:rPr lang="nl-NL" sz="2400" b="1" dirty="0" smtClean="0">
                <a:solidFill>
                  <a:srgbClr val="0070C0"/>
                </a:solidFill>
              </a:rPr>
              <a:t>P     </a:t>
            </a:r>
            <a:r>
              <a:rPr lang="nl-NL" sz="2400" b="1" dirty="0" err="1" smtClean="0"/>
              <a:t>Herh</a:t>
            </a:r>
            <a:r>
              <a:rPr lang="nl-NL" sz="2400" b="1" dirty="0" smtClean="0"/>
              <a:t>. (1) </a:t>
            </a:r>
          </a:p>
          <a:p>
            <a:pPr marL="342900" indent="-342900">
              <a:buFontTx/>
              <a:buAutoNum type="arabicPeriod"/>
            </a:pPr>
            <a:r>
              <a:rPr lang="nl-NL" sz="2400" b="1" dirty="0" smtClean="0">
                <a:solidFill>
                  <a:srgbClr val="0070C0"/>
                </a:solidFill>
              </a:rPr>
              <a:t>P → P        </a:t>
            </a:r>
            <a:r>
              <a:rPr lang="nl-NL" sz="2400" b="1" dirty="0" smtClean="0"/>
              <a:t>I → (1,2)</a:t>
            </a:r>
            <a:r>
              <a:rPr lang="nl-NL" sz="2400" b="1" dirty="0" smtClean="0">
                <a:solidFill>
                  <a:srgbClr val="0070C0"/>
                </a:solidFill>
              </a:rPr>
              <a:t> </a:t>
            </a:r>
          </a:p>
        </p:txBody>
      </p:sp>
      <p:cxnSp>
        <p:nvCxnSpPr>
          <p:cNvPr id="12" name="Straight Connector 11"/>
          <p:cNvCxnSpPr/>
          <p:nvPr/>
        </p:nvCxnSpPr>
        <p:spPr>
          <a:xfrm flipH="1">
            <a:off x="4283968" y="1466201"/>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283968" y="1484784"/>
            <a:ext cx="0" cy="79208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283968" y="2258289"/>
            <a:ext cx="2520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427984" y="2858160"/>
            <a:ext cx="4032448" cy="1200329"/>
          </a:xfrm>
          <a:prstGeom prst="rect">
            <a:avLst/>
          </a:prstGeom>
          <a:noFill/>
        </p:spPr>
        <p:txBody>
          <a:bodyPr wrap="square" rtlCol="0">
            <a:spAutoFit/>
          </a:bodyPr>
          <a:lstStyle/>
          <a:p>
            <a:r>
              <a:rPr lang="nl-NL" dirty="0" smtClean="0"/>
              <a:t>Blijkbaar zijn er ook geldige redeneringen mogelijk </a:t>
            </a:r>
            <a:r>
              <a:rPr lang="nl-NL" i="1" dirty="0" smtClean="0"/>
              <a:t>zonder</a:t>
            </a:r>
            <a:r>
              <a:rPr lang="nl-NL" dirty="0" smtClean="0"/>
              <a:t> premissen! We schrijven in dat geval </a:t>
            </a:r>
            <a:r>
              <a:rPr lang="nl-NL" b="1" dirty="0" smtClean="0"/>
              <a:t>Ⱶ </a:t>
            </a:r>
            <a:r>
              <a:rPr lang="el-GR" b="1" i="1" dirty="0" smtClean="0"/>
              <a:t>β</a:t>
            </a:r>
            <a:r>
              <a:rPr lang="nl-NL" b="1" i="1" dirty="0" smtClean="0"/>
              <a:t>. </a:t>
            </a:r>
            <a:r>
              <a:rPr lang="nl-NL" dirty="0" smtClean="0"/>
              <a:t>Voor wat betreft het voorbeeld wordt dat dus </a:t>
            </a:r>
            <a:r>
              <a:rPr lang="nl-NL" b="1" dirty="0" smtClean="0"/>
              <a:t>Ⱶ P → P</a:t>
            </a:r>
            <a:r>
              <a:rPr lang="nl-NL" b="1" dirty="0" smtClean="0">
                <a:solidFill>
                  <a:srgbClr val="0070C0"/>
                </a:solidFill>
              </a:rPr>
              <a:t> </a:t>
            </a:r>
            <a:endParaRPr lang="nl-NL" dirty="0"/>
          </a:p>
        </p:txBody>
      </p:sp>
      <p:sp>
        <p:nvSpPr>
          <p:cNvPr id="21" name="TextBox 20"/>
          <p:cNvSpPr txBox="1"/>
          <p:nvPr/>
        </p:nvSpPr>
        <p:spPr>
          <a:xfrm>
            <a:off x="4499992" y="4226312"/>
            <a:ext cx="3672408" cy="1938992"/>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buAutoNum type="arabicPeriod"/>
            </a:pPr>
            <a:r>
              <a:rPr lang="nl-NL" sz="2400" b="1" dirty="0" smtClean="0">
                <a:solidFill>
                  <a:srgbClr val="0070C0"/>
                </a:solidFill>
              </a:rPr>
              <a:t>Q      </a:t>
            </a:r>
            <a:r>
              <a:rPr lang="nl-NL" sz="2400" b="1" dirty="0" err="1" smtClean="0"/>
              <a:t>Ass</a:t>
            </a:r>
            <a:r>
              <a:rPr lang="nl-NL" sz="2400" b="1" dirty="0" smtClean="0"/>
              <a:t>. </a:t>
            </a:r>
          </a:p>
          <a:p>
            <a:pPr marL="342900" indent="-342900">
              <a:buFontTx/>
              <a:buAutoNum type="arabicPeriod"/>
            </a:pPr>
            <a:r>
              <a:rPr lang="nl-NL" sz="2400" b="1" dirty="0" smtClean="0">
                <a:solidFill>
                  <a:srgbClr val="0070C0"/>
                </a:solidFill>
              </a:rPr>
              <a:t>P      </a:t>
            </a:r>
            <a:r>
              <a:rPr lang="nl-NL" sz="2400" b="1" dirty="0" err="1" smtClean="0"/>
              <a:t>Herh</a:t>
            </a:r>
            <a:r>
              <a:rPr lang="nl-NL" sz="2400" b="1" dirty="0" smtClean="0"/>
              <a:t>. (1) </a:t>
            </a:r>
            <a:endParaRPr lang="nl-NL" sz="2400" b="1" dirty="0" smtClean="0">
              <a:solidFill>
                <a:srgbClr val="0070C0"/>
              </a:solidFill>
            </a:endParaRPr>
          </a:p>
          <a:p>
            <a:pPr marL="342900" indent="-342900">
              <a:buFontTx/>
              <a:buAutoNum type="arabicPeriod"/>
            </a:pPr>
            <a:r>
              <a:rPr lang="nl-NL" sz="2400" b="1" dirty="0" smtClean="0">
                <a:solidFill>
                  <a:srgbClr val="0070C0"/>
                </a:solidFill>
              </a:rPr>
              <a:t>Q → P          </a:t>
            </a:r>
            <a:r>
              <a:rPr lang="nl-NL" sz="2400" b="1" dirty="0" smtClean="0"/>
              <a:t>I → (2,3)</a:t>
            </a:r>
            <a:endParaRPr lang="nl-NL" sz="2400" b="1" dirty="0" smtClean="0">
              <a:solidFill>
                <a:srgbClr val="0070C0"/>
              </a:solidFill>
            </a:endParaRPr>
          </a:p>
          <a:p>
            <a:pPr marL="342900" indent="-342900">
              <a:buFontTx/>
              <a:buAutoNum type="arabicPeriod"/>
            </a:pPr>
            <a:r>
              <a:rPr lang="nl-NL" sz="2400" b="1" dirty="0" smtClean="0">
                <a:solidFill>
                  <a:srgbClr val="0070C0"/>
                </a:solidFill>
              </a:rPr>
              <a:t>P → (Q → P)      </a:t>
            </a:r>
            <a:r>
              <a:rPr lang="nl-NL" sz="2400" b="1" dirty="0" smtClean="0"/>
              <a:t>I → (1,4) </a:t>
            </a:r>
            <a:endParaRPr lang="nl-NL" sz="2400" b="1" dirty="0" smtClean="0">
              <a:solidFill>
                <a:srgbClr val="0070C0"/>
              </a:solidFill>
            </a:endParaRPr>
          </a:p>
        </p:txBody>
      </p:sp>
      <p:cxnSp>
        <p:nvCxnSpPr>
          <p:cNvPr id="22" name="Straight Connector 21"/>
          <p:cNvCxnSpPr/>
          <p:nvPr/>
        </p:nvCxnSpPr>
        <p:spPr>
          <a:xfrm flipH="1">
            <a:off x="4283968" y="422631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283968" y="4202505"/>
            <a:ext cx="0" cy="148836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4499992" y="4634553"/>
            <a:ext cx="6480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499992" y="4634553"/>
            <a:ext cx="0"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499992" y="5354633"/>
            <a:ext cx="25202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4283968" y="5714673"/>
            <a:ext cx="27363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5292080" y="6351711"/>
            <a:ext cx="2106667" cy="461665"/>
          </a:xfrm>
          <a:prstGeom prst="rect">
            <a:avLst/>
          </a:prstGeom>
        </p:spPr>
        <p:txBody>
          <a:bodyPr wrap="none">
            <a:spAutoFit/>
          </a:bodyPr>
          <a:lstStyle/>
          <a:p>
            <a:r>
              <a:rPr lang="nl-NL" sz="2400" b="1" dirty="0" smtClean="0"/>
              <a:t>Ⱶ P → (Q → P) </a:t>
            </a:r>
            <a:r>
              <a:rPr lang="nl-NL" sz="2400" b="1" dirty="0" smtClean="0">
                <a:solidFill>
                  <a:srgbClr val="0070C0"/>
                </a:solidFill>
              </a:rPr>
              <a:t> </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0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20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animEffect transition="in" filter="fade">
                                      <p:cBhvr>
                                        <p:cTn id="21" dur="2000"/>
                                        <p:tgtEl>
                                          <p:spTgt spid="20">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2000"/>
                                        <p:tgtEl>
                                          <p:spTgt spid="21"/>
                                        </p:tgtEl>
                                      </p:cBhvr>
                                    </p:animEffect>
                                  </p:childTnLst>
                                </p:cTn>
                              </p:par>
                              <p:par>
                                <p:cTn id="27" presetID="10"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2000"/>
                                        <p:tgtEl>
                                          <p:spTgt spid="22"/>
                                        </p:tgtEl>
                                      </p:cBhvr>
                                    </p:animEffect>
                                  </p:childTnLst>
                                </p:cTn>
                              </p:par>
                              <p:par>
                                <p:cTn id="30" presetID="10"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2000"/>
                                        <p:tgtEl>
                                          <p:spTgt spid="23"/>
                                        </p:tgtEl>
                                      </p:cBhvr>
                                    </p:animEffect>
                                  </p:childTnLst>
                                </p:cTn>
                              </p:par>
                              <p:par>
                                <p:cTn id="33" presetID="10" presetClass="entr" presetSubtype="0" fill="hold"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2000"/>
                                        <p:tgtEl>
                                          <p:spTgt spid="25"/>
                                        </p:tgtEl>
                                      </p:cBhvr>
                                    </p:animEffect>
                                  </p:childTnLst>
                                </p:cTn>
                              </p:par>
                              <p:par>
                                <p:cTn id="36" presetID="10" presetClass="entr" presetSubtype="0"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2000"/>
                                        <p:tgtEl>
                                          <p:spTgt spid="27"/>
                                        </p:tgtEl>
                                      </p:cBhvr>
                                    </p:animEffect>
                                  </p:childTnLst>
                                </p:cTn>
                              </p:par>
                              <p:par>
                                <p:cTn id="39" presetID="10" presetClass="entr" presetSubtype="0" fill="hold"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2000"/>
                                        <p:tgtEl>
                                          <p:spTgt spid="28"/>
                                        </p:tgtEl>
                                      </p:cBhvr>
                                    </p:animEffect>
                                  </p:childTnLst>
                                </p:cTn>
                              </p:par>
                              <p:par>
                                <p:cTn id="42" presetID="10" presetClass="entr" presetSubtype="0"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20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3">
                                            <p:txEl>
                                              <p:pRg st="0" end="0"/>
                                            </p:txEl>
                                          </p:spTgt>
                                        </p:tgtEl>
                                        <p:attrNameLst>
                                          <p:attrName>style.visibility</p:attrName>
                                        </p:attrNameLst>
                                      </p:cBhvr>
                                      <p:to>
                                        <p:strVal val="visible"/>
                                      </p:to>
                                    </p:set>
                                    <p:animEffect transition="in" filter="fade">
                                      <p:cBhvr>
                                        <p:cTn id="49" dur="20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0" grpId="0" build="allAtOnce"/>
      <p:bldP spid="21" grpId="0"/>
      <p:bldP spid="33" grpId="0" build="allAtOnce"/>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de disjunctie (∨)</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α</a:t>
            </a:r>
            <a:r>
              <a:rPr lang="nl-NL" sz="2400" b="1" i="1" baseline="-25000" dirty="0" smtClean="0"/>
              <a:t> </a:t>
            </a:r>
            <a:r>
              <a:rPr lang="nl-NL" sz="2400" b="1" dirty="0" smtClean="0"/>
              <a:t>∨ </a:t>
            </a:r>
            <a:r>
              <a:rPr lang="el-GR" sz="2400" b="1" i="1" dirty="0" smtClean="0"/>
              <a:t>β</a:t>
            </a:r>
            <a:r>
              <a:rPr lang="nl-NL" sz="2400" dirty="0" smtClean="0"/>
              <a:t> </a:t>
            </a:r>
            <a:r>
              <a:rPr lang="nl-NL" sz="2400" b="1" i="1" baseline="-25000" dirty="0" smtClean="0"/>
              <a:t> </a:t>
            </a:r>
            <a:r>
              <a:rPr lang="nl-NL" sz="2400" b="1" i="1" dirty="0" smtClean="0"/>
              <a:t>    </a:t>
            </a:r>
            <a:r>
              <a:rPr lang="nl-NL" sz="2400" dirty="0" smtClean="0"/>
              <a:t>I ∨ (10)</a:t>
            </a:r>
            <a:endParaRPr lang="nl-NL" sz="2400" baseline="-25000" dirty="0" smtClean="0"/>
          </a:p>
        </p:txBody>
      </p:sp>
      <p:sp>
        <p:nvSpPr>
          <p:cNvPr id="4" name="TextBox 3"/>
          <p:cNvSpPr txBox="1"/>
          <p:nvPr/>
        </p:nvSpPr>
        <p:spPr>
          <a:xfrm>
            <a:off x="4499992" y="1700808"/>
            <a:ext cx="3672408" cy="1938992"/>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smtClean="0"/>
              <a:t> </a:t>
            </a:r>
            <a:r>
              <a:rPr lang="nl-NL" sz="2400" b="1" dirty="0" smtClean="0">
                <a:solidFill>
                  <a:srgbClr val="0070C0"/>
                </a:solidFill>
              </a:rPr>
              <a:t>Q) → Q    </a:t>
            </a:r>
            <a:r>
              <a:rPr lang="nl-NL" sz="2400" b="1" dirty="0" smtClean="0"/>
              <a:t>Prem.</a:t>
            </a:r>
          </a:p>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P ∨ Q      </a:t>
            </a:r>
            <a:r>
              <a:rPr lang="nl-NL" sz="2400" b="1" dirty="0" smtClean="0"/>
              <a:t>I ∨ (2)</a:t>
            </a:r>
            <a:endParaRPr lang="nl-NL" sz="2400" b="1" dirty="0" smtClean="0">
              <a:solidFill>
                <a:srgbClr val="0070C0"/>
              </a:solidFill>
            </a:endParaRPr>
          </a:p>
          <a:p>
            <a:pPr marL="342900" indent="-342900">
              <a:buFontTx/>
              <a:buAutoNum type="arabicPeriod"/>
            </a:pPr>
            <a:r>
              <a:rPr lang="nl-NL" sz="2400" b="1" dirty="0" smtClean="0">
                <a:solidFill>
                  <a:srgbClr val="0070C0"/>
                </a:solidFill>
              </a:rPr>
              <a:t>Q     </a:t>
            </a:r>
            <a:r>
              <a:rPr lang="nl-NL" sz="2400" b="1" dirty="0" smtClean="0"/>
              <a:t> G </a:t>
            </a:r>
            <a:r>
              <a:rPr lang="nl-NL" sz="2400" b="1" dirty="0" smtClean="0">
                <a:solidFill>
                  <a:srgbClr val="002060"/>
                </a:solidFill>
              </a:rPr>
              <a:t>→</a:t>
            </a:r>
            <a:r>
              <a:rPr lang="nl-NL" sz="2400" b="1" dirty="0" smtClean="0"/>
              <a:t> (1,3)</a:t>
            </a:r>
          </a:p>
          <a:p>
            <a:pPr marL="342900" indent="-342900">
              <a:buFontTx/>
              <a:buAutoNum type="arabicPeriod"/>
            </a:pPr>
            <a:r>
              <a:rPr lang="nl-NL" sz="2400" b="1" dirty="0" smtClean="0">
                <a:solidFill>
                  <a:srgbClr val="0070C0"/>
                </a:solidFill>
              </a:rPr>
              <a:t>P → Q    </a:t>
            </a:r>
            <a:r>
              <a:rPr lang="nl-NL" sz="2400" b="1" dirty="0" smtClean="0"/>
              <a:t>I </a:t>
            </a:r>
            <a:r>
              <a:rPr lang="nl-NL" sz="2400" b="1" dirty="0" smtClean="0">
                <a:solidFill>
                  <a:srgbClr val="002060"/>
                </a:solidFill>
              </a:rPr>
              <a:t>→</a:t>
            </a:r>
            <a:r>
              <a:rPr lang="nl-NL" sz="2400" b="1" dirty="0" smtClean="0"/>
              <a:t> (2,4)</a:t>
            </a:r>
            <a:endParaRPr lang="nl-NL" sz="2400" b="1" dirty="0" smtClean="0">
              <a:solidFill>
                <a:srgbClr val="0070C0"/>
              </a:solidFill>
            </a:endParaRPr>
          </a:p>
        </p:txBody>
      </p:sp>
      <p:sp>
        <p:nvSpPr>
          <p:cNvPr id="6" name="Rectangle 5"/>
          <p:cNvSpPr/>
          <p:nvPr/>
        </p:nvSpPr>
        <p:spPr>
          <a:xfrm>
            <a:off x="4608134" y="3975447"/>
            <a:ext cx="2987997" cy="461665"/>
          </a:xfrm>
          <a:prstGeom prst="rect">
            <a:avLst/>
          </a:prstGeom>
        </p:spPr>
        <p:txBody>
          <a:bodyPr wrap="none">
            <a:spAutoFit/>
          </a:bodyPr>
          <a:lstStyle/>
          <a:p>
            <a:r>
              <a:rPr lang="nl-NL" sz="2400" b="1" dirty="0" smtClean="0"/>
              <a:t>(P ∨ Q) → Q Ⱶ P → Q   </a:t>
            </a:r>
            <a:endParaRPr lang="nl-NL" sz="2400" dirty="0"/>
          </a:p>
        </p:txBody>
      </p:sp>
      <p:cxnSp>
        <p:nvCxnSpPr>
          <p:cNvPr id="7" name="Straight Connector 6"/>
          <p:cNvCxnSpPr/>
          <p:nvPr/>
        </p:nvCxnSpPr>
        <p:spPr>
          <a:xfrm flipH="1">
            <a:off x="4283968" y="2132856"/>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83968" y="2132856"/>
            <a:ext cx="0" cy="10801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4283968" y="3212976"/>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de disjunctie (∨)</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r>
              <a:rPr lang="el-GR" sz="2400" b="1" i="1" dirty="0" smtClean="0"/>
              <a:t>α</a:t>
            </a:r>
            <a:r>
              <a:rPr lang="nl-NL" sz="2400" b="1" i="1" dirty="0" smtClean="0"/>
              <a:t> </a:t>
            </a:r>
            <a:r>
              <a:rPr lang="nl-NL" sz="2400" b="1" dirty="0" smtClean="0"/>
              <a:t>∨ </a:t>
            </a:r>
            <a:r>
              <a:rPr lang="el-GR" sz="2400" b="1" i="1" dirty="0" smtClean="0"/>
              <a:t>β</a:t>
            </a:r>
            <a:endParaRPr lang="nl-NL" sz="2400" dirty="0" smtClean="0"/>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b="1" dirty="0" smtClean="0"/>
              <a:t>→ </a:t>
            </a:r>
            <a:r>
              <a:rPr lang="el-GR" sz="2400" b="1" dirty="0" smtClean="0"/>
              <a:t>γ</a:t>
            </a:r>
            <a:endParaRPr lang="nl-NL" sz="2400" dirty="0" smtClean="0"/>
          </a:p>
          <a:p>
            <a:pPr marL="514350" indent="-514350">
              <a:buNone/>
            </a:pPr>
            <a:r>
              <a:rPr lang="nl-NL" sz="2400" dirty="0" smtClean="0"/>
              <a:t>…</a:t>
            </a:r>
          </a:p>
          <a:p>
            <a:pPr marL="514350" indent="-514350">
              <a:buNone/>
            </a:pPr>
            <a:r>
              <a:rPr lang="nl-NL" sz="2400" dirty="0" smtClean="0"/>
              <a:t>14. </a:t>
            </a:r>
            <a:r>
              <a:rPr lang="el-GR" sz="2400" b="1" i="1" dirty="0" smtClean="0"/>
              <a:t>β</a:t>
            </a:r>
            <a:r>
              <a:rPr lang="nl-NL" sz="2400" b="1" i="1" dirty="0" smtClean="0"/>
              <a:t> </a:t>
            </a:r>
            <a:r>
              <a:rPr lang="nl-NL" sz="2400" b="1" dirty="0" smtClean="0"/>
              <a:t>→ </a:t>
            </a:r>
            <a:r>
              <a:rPr lang="el-GR" sz="2400" b="1" dirty="0" smtClean="0"/>
              <a:t>γ</a:t>
            </a:r>
            <a:endParaRPr lang="nl-NL" sz="2400" dirty="0" smtClean="0"/>
          </a:p>
          <a:p>
            <a:pPr marL="514350" indent="-514350">
              <a:buNone/>
            </a:pPr>
            <a:r>
              <a:rPr lang="nl-NL" sz="2400" dirty="0" smtClean="0"/>
              <a:t>…</a:t>
            </a:r>
          </a:p>
          <a:p>
            <a:pPr marL="514350" indent="-514350">
              <a:buNone/>
            </a:pPr>
            <a:r>
              <a:rPr lang="nl-NL" sz="2400" dirty="0" smtClean="0"/>
              <a:t>…</a:t>
            </a:r>
          </a:p>
          <a:p>
            <a:pPr marL="514350" indent="-514350">
              <a:buNone/>
            </a:pPr>
            <a:r>
              <a:rPr lang="nl-NL" sz="2400" dirty="0" smtClean="0"/>
              <a:t>19. </a:t>
            </a:r>
            <a:r>
              <a:rPr lang="el-GR" sz="2400" b="1" dirty="0" smtClean="0"/>
              <a:t>γ </a:t>
            </a:r>
            <a:r>
              <a:rPr lang="nl-NL" sz="2400" b="1" dirty="0" smtClean="0"/>
              <a:t> </a:t>
            </a:r>
            <a:r>
              <a:rPr lang="nl-NL" sz="2400" dirty="0" smtClean="0"/>
              <a:t>G ∨ (3,10,14)</a:t>
            </a:r>
            <a:endParaRPr lang="nl-NL" sz="2400" baseline="-25000" dirty="0" smtClean="0"/>
          </a:p>
        </p:txBody>
      </p:sp>
      <p:sp>
        <p:nvSpPr>
          <p:cNvPr id="4" name="TextBox 3"/>
          <p:cNvSpPr txBox="1"/>
          <p:nvPr/>
        </p:nvSpPr>
        <p:spPr>
          <a:xfrm>
            <a:off x="4499992" y="1700808"/>
            <a:ext cx="3672408" cy="2308324"/>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smtClean="0"/>
              <a:t> </a:t>
            </a:r>
            <a:r>
              <a:rPr lang="nl-NL" sz="2400" b="1" dirty="0" smtClean="0">
                <a:solidFill>
                  <a:srgbClr val="0070C0"/>
                </a:solidFill>
              </a:rPr>
              <a:t>Q      </a:t>
            </a:r>
            <a:r>
              <a:rPr lang="nl-NL" sz="2400" b="1" dirty="0" smtClean="0"/>
              <a:t>Prem.</a:t>
            </a:r>
          </a:p>
          <a:p>
            <a:pPr marL="342900" indent="-342900">
              <a:buAutoNum type="arabicPeriod"/>
            </a:pPr>
            <a:r>
              <a:rPr lang="nl-NL" sz="2400" b="1" dirty="0" smtClean="0">
                <a:solidFill>
                  <a:srgbClr val="0070C0"/>
                </a:solidFill>
              </a:rPr>
              <a:t>P → Q     </a:t>
            </a:r>
            <a:r>
              <a:rPr lang="nl-NL" sz="2400" b="1" dirty="0" smtClean="0"/>
              <a:t>Prem.</a:t>
            </a:r>
          </a:p>
          <a:p>
            <a:pPr marL="342900" indent="-342900">
              <a:buFontTx/>
              <a:buAutoNum type="arabicPeriod"/>
            </a:pPr>
            <a:r>
              <a:rPr lang="nl-NL" sz="2400" b="1" dirty="0" smtClean="0">
                <a:solidFill>
                  <a:srgbClr val="0070C0"/>
                </a:solidFill>
              </a:rPr>
              <a:t>Q      </a:t>
            </a:r>
            <a:r>
              <a:rPr lang="nl-NL" sz="2400" b="1" dirty="0" err="1" smtClean="0"/>
              <a:t>Ass</a:t>
            </a:r>
            <a:r>
              <a:rPr lang="nl-NL" sz="2400" b="1" dirty="0" smtClean="0"/>
              <a:t>.</a:t>
            </a:r>
            <a:endParaRPr lang="nl-NL" sz="2400" b="1" dirty="0" smtClean="0">
              <a:solidFill>
                <a:srgbClr val="0070C0"/>
              </a:solidFill>
            </a:endParaRPr>
          </a:p>
          <a:p>
            <a:pPr marL="342900" indent="-342900">
              <a:buFontTx/>
              <a:buAutoNum type="arabicPeriod"/>
            </a:pPr>
            <a:r>
              <a:rPr lang="nl-NL" sz="2400" b="1" dirty="0" smtClean="0">
                <a:solidFill>
                  <a:srgbClr val="0070C0"/>
                </a:solidFill>
              </a:rPr>
              <a:t>Q     </a:t>
            </a:r>
            <a:r>
              <a:rPr lang="nl-NL" sz="2400" b="1" dirty="0" smtClean="0"/>
              <a:t> </a:t>
            </a:r>
            <a:r>
              <a:rPr lang="nl-NL" sz="2400" b="1" dirty="0" err="1" smtClean="0"/>
              <a:t>Herh</a:t>
            </a:r>
            <a:r>
              <a:rPr lang="nl-NL" sz="2400" b="1" dirty="0" smtClean="0"/>
              <a:t>. (3)</a:t>
            </a:r>
          </a:p>
          <a:p>
            <a:pPr marL="342900" indent="-342900">
              <a:buFontTx/>
              <a:buAutoNum type="arabicPeriod"/>
            </a:pPr>
            <a:r>
              <a:rPr lang="nl-NL" sz="2400" b="1" dirty="0" smtClean="0">
                <a:solidFill>
                  <a:srgbClr val="0070C0"/>
                </a:solidFill>
              </a:rPr>
              <a:t>Q → Q     </a:t>
            </a:r>
            <a:r>
              <a:rPr lang="nl-NL" sz="2400" b="1" dirty="0" smtClean="0"/>
              <a:t>I </a:t>
            </a:r>
            <a:r>
              <a:rPr lang="nl-NL" sz="2400" b="1" dirty="0" smtClean="0">
                <a:solidFill>
                  <a:srgbClr val="002060"/>
                </a:solidFill>
              </a:rPr>
              <a:t>→</a:t>
            </a:r>
            <a:r>
              <a:rPr lang="nl-NL" sz="2400" b="1" dirty="0" smtClean="0"/>
              <a:t> (3,4)</a:t>
            </a:r>
          </a:p>
          <a:p>
            <a:pPr marL="342900" indent="-342900">
              <a:buFontTx/>
              <a:buAutoNum type="arabicPeriod"/>
            </a:pPr>
            <a:r>
              <a:rPr lang="nl-NL" sz="2400" b="1" dirty="0" smtClean="0">
                <a:solidFill>
                  <a:srgbClr val="0070C0"/>
                </a:solidFill>
              </a:rPr>
              <a:t>Q     </a:t>
            </a:r>
            <a:r>
              <a:rPr lang="nl-NL" sz="2400" b="1" dirty="0" smtClean="0"/>
              <a:t>G ∨ (1,2,5)</a:t>
            </a:r>
          </a:p>
        </p:txBody>
      </p:sp>
      <p:sp>
        <p:nvSpPr>
          <p:cNvPr id="6" name="Rectangle 5"/>
          <p:cNvSpPr/>
          <p:nvPr/>
        </p:nvSpPr>
        <p:spPr>
          <a:xfrm>
            <a:off x="4608134" y="4335487"/>
            <a:ext cx="2592376" cy="461665"/>
          </a:xfrm>
          <a:prstGeom prst="rect">
            <a:avLst/>
          </a:prstGeom>
        </p:spPr>
        <p:txBody>
          <a:bodyPr wrap="none">
            <a:spAutoFit/>
          </a:bodyPr>
          <a:lstStyle/>
          <a:p>
            <a:r>
              <a:rPr lang="nl-NL" sz="2400" b="1" dirty="0" smtClean="0"/>
              <a:t>P ∨ Q , P → Q Ⱶ Q   </a:t>
            </a:r>
            <a:endParaRPr lang="nl-NL" sz="2400" dirty="0"/>
          </a:p>
        </p:txBody>
      </p:sp>
      <p:sp>
        <p:nvSpPr>
          <p:cNvPr id="9" name="TextBox 8"/>
          <p:cNvSpPr txBox="1"/>
          <p:nvPr/>
        </p:nvSpPr>
        <p:spPr>
          <a:xfrm>
            <a:off x="251520" y="6309320"/>
            <a:ext cx="3096344" cy="400110"/>
          </a:xfrm>
          <a:prstGeom prst="rect">
            <a:avLst/>
          </a:prstGeom>
          <a:noFill/>
        </p:spPr>
        <p:txBody>
          <a:bodyPr wrap="square" rtlCol="0">
            <a:spAutoFit/>
          </a:bodyPr>
          <a:lstStyle/>
          <a:p>
            <a:r>
              <a:rPr lang="nl-NL" sz="2000" i="1" dirty="0" smtClean="0"/>
              <a:t>Constructief dilemma</a:t>
            </a:r>
            <a:endParaRPr lang="nl-NL" sz="2000" i="1" dirty="0"/>
          </a:p>
        </p:txBody>
      </p:sp>
      <p:cxnSp>
        <p:nvCxnSpPr>
          <p:cNvPr id="10" name="Straight Connector 9"/>
          <p:cNvCxnSpPr/>
          <p:nvPr/>
        </p:nvCxnSpPr>
        <p:spPr>
          <a:xfrm flipH="1">
            <a:off x="4283968" y="2492896"/>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283968" y="2492896"/>
            <a:ext cx="0"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4283968" y="3212976"/>
            <a:ext cx="27363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20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uild="allAtOnce"/>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de disjunctie (∨)</a:t>
            </a:r>
            <a:endParaRPr lang="nl-NL" sz="3600" dirty="0"/>
          </a:p>
        </p:txBody>
      </p:sp>
      <p:sp>
        <p:nvSpPr>
          <p:cNvPr id="4" name="TextBox 3"/>
          <p:cNvSpPr txBox="1"/>
          <p:nvPr/>
        </p:nvSpPr>
        <p:spPr>
          <a:xfrm>
            <a:off x="539552" y="1412776"/>
            <a:ext cx="5616624" cy="5262979"/>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smtClean="0"/>
              <a:t> </a:t>
            </a:r>
            <a:r>
              <a:rPr lang="nl-NL" sz="2400" b="1" dirty="0" smtClean="0">
                <a:solidFill>
                  <a:srgbClr val="0070C0"/>
                </a:solidFill>
              </a:rPr>
              <a:t>Q) ∨ R     </a:t>
            </a:r>
            <a:r>
              <a:rPr lang="nl-NL" sz="2400" b="1" dirty="0" smtClean="0"/>
              <a:t>Prem.</a:t>
            </a:r>
            <a:r>
              <a:rPr lang="nl-NL" sz="2400" b="1" dirty="0" smtClean="0">
                <a:solidFill>
                  <a:srgbClr val="0070C0"/>
                </a:solidFill>
              </a:rPr>
              <a:t>       </a:t>
            </a:r>
            <a:endParaRPr lang="nl-NL" sz="2400" b="1" dirty="0" smtClean="0"/>
          </a:p>
          <a:p>
            <a:pPr marL="342900" indent="-342900">
              <a:buAutoNum type="arabicPeriod"/>
            </a:pPr>
            <a:r>
              <a:rPr lang="nl-NL" sz="2400" b="1" dirty="0" smtClean="0">
                <a:solidFill>
                  <a:srgbClr val="0070C0"/>
                </a:solidFill>
              </a:rPr>
              <a:t>P ∧ Q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P                  </a:t>
            </a:r>
            <a:r>
              <a:rPr lang="nl-NL" sz="2400" b="1" dirty="0" smtClean="0"/>
              <a:t>G ∧ (2)</a:t>
            </a:r>
          </a:p>
          <a:p>
            <a:pPr marL="342900" indent="-342900">
              <a:buFontTx/>
              <a:buAutoNum type="arabicPeriod"/>
            </a:pPr>
            <a:r>
              <a:rPr lang="nl-NL" sz="2400" b="1" dirty="0" smtClean="0">
                <a:solidFill>
                  <a:srgbClr val="0070C0"/>
                </a:solidFill>
              </a:rPr>
              <a:t>P ∨ R      </a:t>
            </a:r>
            <a:r>
              <a:rPr lang="nl-NL" sz="2400" b="1" dirty="0" smtClean="0"/>
              <a:t>     I ∨ (3)</a:t>
            </a:r>
          </a:p>
          <a:p>
            <a:pPr marL="342900" indent="-342900">
              <a:buFontTx/>
              <a:buAutoNum type="arabicPeriod"/>
            </a:pPr>
            <a:r>
              <a:rPr lang="nl-NL" sz="2400" b="1" dirty="0" smtClean="0">
                <a:solidFill>
                  <a:srgbClr val="0070C0"/>
                </a:solidFill>
              </a:rPr>
              <a:t>Q                 </a:t>
            </a:r>
            <a:r>
              <a:rPr lang="nl-NL" sz="2400" b="1" dirty="0" smtClean="0"/>
              <a:t>G ∧ (2)</a:t>
            </a:r>
          </a:p>
          <a:p>
            <a:pPr marL="342900" indent="-342900">
              <a:buFontTx/>
              <a:buAutoNum type="arabicPeriod"/>
            </a:pPr>
            <a:r>
              <a:rPr lang="nl-NL" sz="2400" b="1" dirty="0" smtClean="0">
                <a:solidFill>
                  <a:srgbClr val="0070C0"/>
                </a:solidFill>
              </a:rPr>
              <a:t>Q ∨ R          </a:t>
            </a:r>
            <a:r>
              <a:rPr lang="nl-NL" sz="2400" b="1" dirty="0" smtClean="0"/>
              <a:t>I ∨ (5)</a:t>
            </a:r>
          </a:p>
          <a:p>
            <a:pPr marL="342900" indent="-342900">
              <a:buFontTx/>
              <a:buAutoNum type="arabicPeriod"/>
            </a:pPr>
            <a:r>
              <a:rPr lang="nl-NL" sz="2400" b="1" dirty="0" smtClean="0">
                <a:solidFill>
                  <a:srgbClr val="0070C0"/>
                </a:solidFill>
              </a:rPr>
              <a:t>(P ∨ R) ∧ (Q ∨ R)         </a:t>
            </a:r>
            <a:r>
              <a:rPr lang="nl-NL" sz="2400" b="1" dirty="0" smtClean="0"/>
              <a:t>I ∧ (4,6)</a:t>
            </a:r>
          </a:p>
          <a:p>
            <a:pPr marL="342900" indent="-342900">
              <a:buFontTx/>
              <a:buAutoNum type="arabicPeriod"/>
            </a:pPr>
            <a:r>
              <a:rPr lang="nl-NL" sz="2400" b="1" dirty="0" smtClean="0">
                <a:solidFill>
                  <a:srgbClr val="0070C0"/>
                </a:solidFill>
              </a:rPr>
              <a:t>(P ∧</a:t>
            </a:r>
            <a:r>
              <a:rPr lang="nl-NL" sz="2400" b="1" dirty="0" smtClean="0"/>
              <a:t> </a:t>
            </a:r>
            <a:r>
              <a:rPr lang="nl-NL" sz="2400" b="1" dirty="0" smtClean="0">
                <a:solidFill>
                  <a:srgbClr val="0070C0"/>
                </a:solidFill>
              </a:rPr>
              <a:t>Q) → ((P ∨ R) ∧ (Q ∨ R))       </a:t>
            </a:r>
            <a:r>
              <a:rPr lang="nl-NL" sz="2400" b="1" dirty="0" smtClean="0"/>
              <a:t>I → (2,7)</a:t>
            </a:r>
            <a:r>
              <a:rPr lang="nl-NL" sz="2400" b="1" dirty="0" smtClean="0">
                <a:solidFill>
                  <a:srgbClr val="0070C0"/>
                </a:solidFill>
              </a:rPr>
              <a:t>  </a:t>
            </a:r>
            <a:endParaRPr lang="nl-NL" sz="2400" b="1" dirty="0" smtClean="0"/>
          </a:p>
          <a:p>
            <a:pPr marL="342900" indent="-342900">
              <a:buFontTx/>
              <a:buAutoNum type="arabicPeriod"/>
            </a:pPr>
            <a:r>
              <a:rPr lang="nl-NL" sz="2400" b="1" dirty="0" smtClean="0">
                <a:solidFill>
                  <a:srgbClr val="0070C0"/>
                </a:solidFill>
              </a:rPr>
              <a:t>R                 </a:t>
            </a:r>
            <a:r>
              <a:rPr lang="nl-NL" sz="2400" b="1" dirty="0" err="1" smtClean="0"/>
              <a:t>Ass</a:t>
            </a:r>
            <a:r>
              <a:rPr lang="nl-NL" sz="2400" b="1" dirty="0" smtClean="0"/>
              <a:t>.</a:t>
            </a:r>
            <a:r>
              <a:rPr lang="nl-NL" sz="2400" b="1" dirty="0" smtClean="0">
                <a:solidFill>
                  <a:srgbClr val="0070C0"/>
                </a:solidFill>
              </a:rPr>
              <a:t> </a:t>
            </a:r>
            <a:endParaRPr lang="nl-NL" sz="2400" b="1" dirty="0" smtClean="0"/>
          </a:p>
          <a:p>
            <a:pPr marL="342900" indent="-342900">
              <a:buFontTx/>
              <a:buAutoNum type="arabicPeriod"/>
            </a:pPr>
            <a:r>
              <a:rPr lang="nl-NL" sz="2400" b="1" dirty="0" smtClean="0">
                <a:solidFill>
                  <a:srgbClr val="0070C0"/>
                </a:solidFill>
              </a:rPr>
              <a:t> P ∨ R         </a:t>
            </a:r>
            <a:r>
              <a:rPr lang="nl-NL" sz="2400" b="1" dirty="0" smtClean="0"/>
              <a:t>I</a:t>
            </a:r>
            <a:r>
              <a:rPr lang="nl-NL" sz="2400" b="1" dirty="0" smtClean="0">
                <a:solidFill>
                  <a:srgbClr val="0070C0"/>
                </a:solidFill>
              </a:rPr>
              <a:t> </a:t>
            </a:r>
            <a:r>
              <a:rPr lang="nl-NL" sz="2400" b="1" dirty="0" smtClean="0"/>
              <a:t>∨ (9)</a:t>
            </a:r>
            <a:endParaRPr lang="nl-NL" sz="2400" b="1" dirty="0" smtClean="0">
              <a:solidFill>
                <a:srgbClr val="0070C0"/>
              </a:solidFill>
            </a:endParaRPr>
          </a:p>
          <a:p>
            <a:pPr marL="342900" indent="-342900">
              <a:buFontTx/>
              <a:buAutoNum type="arabicPeriod"/>
            </a:pPr>
            <a:r>
              <a:rPr lang="nl-NL" sz="2400" b="1" dirty="0" smtClean="0">
                <a:solidFill>
                  <a:srgbClr val="0070C0"/>
                </a:solidFill>
              </a:rPr>
              <a:t> Q ∨ R        </a:t>
            </a:r>
            <a:r>
              <a:rPr lang="nl-NL" sz="2400" b="1" dirty="0" smtClean="0"/>
              <a:t>I</a:t>
            </a:r>
            <a:r>
              <a:rPr lang="nl-NL" sz="2400" b="1" dirty="0" smtClean="0">
                <a:solidFill>
                  <a:srgbClr val="0070C0"/>
                </a:solidFill>
              </a:rPr>
              <a:t> </a:t>
            </a:r>
            <a:r>
              <a:rPr lang="nl-NL" sz="2400" b="1" dirty="0" smtClean="0"/>
              <a:t>∨ (9)</a:t>
            </a:r>
            <a:endParaRPr lang="nl-NL" sz="2400" b="1" dirty="0" smtClean="0">
              <a:solidFill>
                <a:srgbClr val="0070C0"/>
              </a:solidFill>
            </a:endParaRPr>
          </a:p>
          <a:p>
            <a:pPr marL="342900" indent="-342900">
              <a:buFontTx/>
              <a:buAutoNum type="arabicPeriod"/>
            </a:pPr>
            <a:r>
              <a:rPr lang="nl-NL" sz="2400" b="1" dirty="0" smtClean="0">
                <a:solidFill>
                  <a:srgbClr val="0070C0"/>
                </a:solidFill>
              </a:rPr>
              <a:t> (P ∨ R) ∧ (Q ∨ R)           </a:t>
            </a:r>
            <a:r>
              <a:rPr lang="nl-NL" sz="2400" b="1" dirty="0" smtClean="0"/>
              <a:t>I</a:t>
            </a:r>
            <a:r>
              <a:rPr lang="nl-NL" sz="2400" b="1" dirty="0" smtClean="0">
                <a:solidFill>
                  <a:srgbClr val="0070C0"/>
                </a:solidFill>
              </a:rPr>
              <a:t> </a:t>
            </a:r>
            <a:r>
              <a:rPr lang="nl-NL" sz="2400" b="1" dirty="0" smtClean="0"/>
              <a:t>∧ (10,11)</a:t>
            </a:r>
            <a:endParaRPr lang="nl-NL" sz="2400" b="1" dirty="0" smtClean="0">
              <a:solidFill>
                <a:srgbClr val="0070C0"/>
              </a:solidFill>
            </a:endParaRPr>
          </a:p>
          <a:p>
            <a:pPr marL="342900" indent="-342900">
              <a:buFontTx/>
              <a:buAutoNum type="arabicPeriod"/>
            </a:pPr>
            <a:r>
              <a:rPr lang="nl-NL" sz="2400" b="1" dirty="0" smtClean="0">
                <a:solidFill>
                  <a:srgbClr val="0070C0"/>
                </a:solidFill>
              </a:rPr>
              <a:t> R → ((P ∨ R) ∧ (Q ∨ R))       </a:t>
            </a:r>
            <a:r>
              <a:rPr lang="nl-NL" sz="2400" b="1" dirty="0" smtClean="0"/>
              <a:t>I</a:t>
            </a:r>
            <a:r>
              <a:rPr lang="nl-NL" sz="2400" b="1" dirty="0" smtClean="0">
                <a:solidFill>
                  <a:srgbClr val="0070C0"/>
                </a:solidFill>
              </a:rPr>
              <a:t> </a:t>
            </a:r>
            <a:r>
              <a:rPr lang="nl-NL" sz="2400" b="1" dirty="0" smtClean="0"/>
              <a:t>→ (9,12)</a:t>
            </a:r>
            <a:endParaRPr lang="nl-NL" sz="2400" b="1" dirty="0" smtClean="0">
              <a:solidFill>
                <a:srgbClr val="0070C0"/>
              </a:solidFill>
            </a:endParaRPr>
          </a:p>
          <a:p>
            <a:pPr marL="342900" indent="-342900">
              <a:buFontTx/>
              <a:buAutoNum type="arabicPeriod"/>
            </a:pPr>
            <a:r>
              <a:rPr lang="nl-NL" sz="2400" b="1" dirty="0" smtClean="0">
                <a:solidFill>
                  <a:srgbClr val="0070C0"/>
                </a:solidFill>
              </a:rPr>
              <a:t> (P ∨ R) ∧ (Q ∨ R)          </a:t>
            </a:r>
            <a:r>
              <a:rPr lang="nl-NL" sz="2400" b="1" dirty="0" smtClean="0"/>
              <a:t>G ∨ (1,8,13)</a:t>
            </a:r>
          </a:p>
        </p:txBody>
      </p:sp>
      <p:cxnSp>
        <p:nvCxnSpPr>
          <p:cNvPr id="13" name="Straight Connector 12"/>
          <p:cNvCxnSpPr/>
          <p:nvPr/>
        </p:nvCxnSpPr>
        <p:spPr>
          <a:xfrm flipH="1">
            <a:off x="395536" y="1844824"/>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95536" y="1844824"/>
            <a:ext cx="0" cy="2160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95536" y="4005064"/>
            <a:ext cx="28803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395536" y="4365104"/>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95536" y="4365104"/>
            <a:ext cx="0" cy="151216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395536" y="5877272"/>
            <a:ext cx="288032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4643920" y="2060848"/>
            <a:ext cx="4110100" cy="461665"/>
          </a:xfrm>
          <a:prstGeom prst="rect">
            <a:avLst/>
          </a:prstGeom>
        </p:spPr>
        <p:txBody>
          <a:bodyPr wrap="none">
            <a:spAutoFit/>
          </a:bodyPr>
          <a:lstStyle/>
          <a:p>
            <a:r>
              <a:rPr lang="nl-NL" sz="2400" b="1" dirty="0" smtClean="0"/>
              <a:t>(P ∧ Q) ∨ R Ⱶ (P ∨ R) ∧ (Q ∨ R)   </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00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de negatie (</a:t>
            </a:r>
            <a:r>
              <a:rPr lang="nl-NL" sz="3600" b="1" dirty="0" smtClean="0"/>
              <a:t>¬</a:t>
            </a:r>
            <a:r>
              <a:rPr lang="nl-NL" sz="3600" dirty="0" smtClean="0"/>
              <a:t>)</a:t>
            </a:r>
            <a:endParaRPr lang="nl-NL" sz="3600" dirty="0"/>
          </a:p>
        </p:txBody>
      </p:sp>
      <p:sp>
        <p:nvSpPr>
          <p:cNvPr id="3" name="Content Placeholder 2"/>
          <p:cNvSpPr>
            <a:spLocks noGrp="1"/>
          </p:cNvSpPr>
          <p:nvPr>
            <p:ph idx="1"/>
          </p:nvPr>
        </p:nvSpPr>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dirty="0" smtClean="0"/>
              <a:t>     </a:t>
            </a:r>
            <a:r>
              <a:rPr lang="nl-NL" sz="2400" dirty="0" err="1" smtClean="0"/>
              <a:t>Ass</a:t>
            </a:r>
            <a:r>
              <a:rPr lang="nl-NL" sz="2400" dirty="0" smtClean="0"/>
              <a:t>.</a:t>
            </a:r>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r>
              <a:rPr lang="nl-NL" sz="2400" b="1" dirty="0" smtClean="0"/>
              <a:t>∧</a:t>
            </a:r>
            <a:r>
              <a:rPr lang="nl-NL" sz="2400" b="1" i="1" dirty="0" smtClean="0"/>
              <a:t> </a:t>
            </a:r>
            <a:r>
              <a:rPr lang="nl-NL" sz="2400" b="1" dirty="0" smtClean="0"/>
              <a:t>¬</a:t>
            </a:r>
            <a:r>
              <a:rPr lang="el-GR" sz="2400" b="1" i="1" dirty="0" smtClean="0"/>
              <a:t>β</a:t>
            </a:r>
            <a:endParaRPr lang="nl-NL" sz="2400" dirty="0" smtClean="0"/>
          </a:p>
          <a:p>
            <a:pPr marL="514350" indent="-514350">
              <a:buNone/>
            </a:pPr>
            <a:r>
              <a:rPr lang="nl-NL" sz="2400" dirty="0" smtClean="0"/>
              <a:t>16. </a:t>
            </a:r>
            <a:r>
              <a:rPr lang="nl-NL" sz="2400" b="1" dirty="0" smtClean="0"/>
              <a:t>¬</a:t>
            </a:r>
            <a:r>
              <a:rPr lang="el-GR" sz="2400" b="1" i="1" dirty="0" smtClean="0"/>
              <a:t>α</a:t>
            </a:r>
            <a:r>
              <a:rPr lang="nl-NL" sz="2400" b="1" i="1" dirty="0" smtClean="0"/>
              <a:t>          </a:t>
            </a:r>
            <a:r>
              <a:rPr lang="nl-NL" sz="2400" dirty="0" smtClean="0"/>
              <a:t>I </a:t>
            </a:r>
            <a:r>
              <a:rPr lang="nl-NL" sz="2400" b="1" dirty="0" smtClean="0"/>
              <a:t>¬</a:t>
            </a:r>
            <a:r>
              <a:rPr lang="nl-NL" sz="2400" dirty="0" smtClean="0"/>
              <a:t> (10,15)</a:t>
            </a:r>
          </a:p>
          <a:p>
            <a:pPr marL="514350" indent="-514350">
              <a:buNone/>
            </a:pPr>
            <a:r>
              <a:rPr lang="nl-NL" sz="2400" dirty="0" smtClean="0"/>
              <a:t> </a:t>
            </a:r>
            <a:endParaRPr lang="nl-NL" sz="2400" baseline="-25000" dirty="0" smtClean="0"/>
          </a:p>
        </p:txBody>
      </p:sp>
      <p:sp>
        <p:nvSpPr>
          <p:cNvPr id="4" name="TextBox 3"/>
          <p:cNvSpPr txBox="1"/>
          <p:nvPr/>
        </p:nvSpPr>
        <p:spPr>
          <a:xfrm>
            <a:off x="4499992" y="1700808"/>
            <a:ext cx="3672408" cy="4893647"/>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a:t>
            </a:r>
            <a:r>
              <a:rPr lang="nl-NL" sz="2400" b="1" dirty="0" smtClean="0"/>
              <a:t>Prem.</a:t>
            </a:r>
          </a:p>
          <a:p>
            <a:pPr marL="342900" indent="-342900">
              <a:buAutoNum type="arabicPeriod"/>
            </a:pPr>
            <a:r>
              <a:rPr lang="nl-NL" sz="2400" b="1" dirty="0" smtClean="0">
                <a:solidFill>
                  <a:srgbClr val="0070C0"/>
                </a:solidFill>
              </a:rPr>
              <a:t>R → S        </a:t>
            </a:r>
            <a:r>
              <a:rPr lang="nl-NL" sz="2400" b="1" dirty="0" smtClean="0"/>
              <a:t>Prem.</a:t>
            </a:r>
          </a:p>
          <a:p>
            <a:pPr marL="342900" indent="-342900">
              <a:buAutoNum type="arabicPeriod"/>
            </a:pPr>
            <a:r>
              <a:rPr lang="nl-NL" sz="2400" b="1" dirty="0" smtClean="0">
                <a:solidFill>
                  <a:srgbClr val="0070C0"/>
                </a:solidFill>
              </a:rPr>
              <a:t>T              </a:t>
            </a:r>
            <a:r>
              <a:rPr lang="nl-NL" sz="2400" b="1" dirty="0" smtClean="0"/>
              <a:t>Prem.</a:t>
            </a:r>
          </a:p>
          <a:p>
            <a:pPr marL="342900" indent="-342900">
              <a:buFontTx/>
              <a:buAutoNum type="arabicPeriod"/>
            </a:pPr>
            <a:r>
              <a:rPr lang="nl-NL" sz="2400" b="1" dirty="0" smtClean="0">
                <a:solidFill>
                  <a:srgbClr val="0070C0"/>
                </a:solidFill>
              </a:rPr>
              <a:t>(Q ∧ S) → ¬T       </a:t>
            </a:r>
            <a:r>
              <a:rPr lang="nl-NL" sz="2400" b="1" dirty="0" smtClean="0"/>
              <a:t>Prem.</a:t>
            </a:r>
          </a:p>
          <a:p>
            <a:pPr marL="342900" indent="-342900">
              <a:buFontTx/>
              <a:buAutoNum type="arabicPeriod"/>
            </a:pPr>
            <a:r>
              <a:rPr lang="nl-NL" sz="2400" b="1" dirty="0" smtClean="0">
                <a:solidFill>
                  <a:srgbClr val="0070C0"/>
                </a:solidFill>
              </a:rPr>
              <a:t>R ∧ P      </a:t>
            </a:r>
            <a:r>
              <a:rPr lang="nl-NL" sz="2400" b="1" dirty="0" smtClean="0"/>
              <a:t>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R               </a:t>
            </a:r>
            <a:r>
              <a:rPr lang="nl-NL" sz="2400" b="1" dirty="0" smtClean="0"/>
              <a:t>G ∧ (5)</a:t>
            </a:r>
          </a:p>
          <a:p>
            <a:pPr marL="342900" indent="-342900">
              <a:buFontTx/>
              <a:buAutoNum type="arabicPeriod"/>
            </a:pPr>
            <a:r>
              <a:rPr lang="nl-NL" sz="2400" b="1" dirty="0" smtClean="0">
                <a:solidFill>
                  <a:srgbClr val="0070C0"/>
                </a:solidFill>
              </a:rPr>
              <a:t>S               </a:t>
            </a:r>
            <a:r>
              <a:rPr lang="nl-NL" sz="2400" b="1" dirty="0" smtClean="0"/>
              <a:t>G → (2,6)</a:t>
            </a:r>
          </a:p>
          <a:p>
            <a:pPr marL="342900" indent="-342900">
              <a:buFontTx/>
              <a:buAutoNum type="arabicPeriod"/>
            </a:pPr>
            <a:r>
              <a:rPr lang="nl-NL" sz="2400" b="1" dirty="0" smtClean="0">
                <a:solidFill>
                  <a:srgbClr val="0070C0"/>
                </a:solidFill>
              </a:rPr>
              <a:t>P               </a:t>
            </a:r>
            <a:r>
              <a:rPr lang="nl-NL" sz="2400" b="1" dirty="0" smtClean="0"/>
              <a:t>G ∧ (5)</a:t>
            </a:r>
          </a:p>
          <a:p>
            <a:pPr marL="342900" indent="-342900">
              <a:buFontTx/>
              <a:buAutoNum type="arabicPeriod"/>
            </a:pPr>
            <a:r>
              <a:rPr lang="nl-NL" sz="2400" b="1" dirty="0" smtClean="0">
                <a:solidFill>
                  <a:srgbClr val="0070C0"/>
                </a:solidFill>
              </a:rPr>
              <a:t>Q               </a:t>
            </a:r>
            <a:r>
              <a:rPr lang="nl-NL" sz="2400" b="1" dirty="0" smtClean="0"/>
              <a:t>G → (1,8)</a:t>
            </a:r>
          </a:p>
          <a:p>
            <a:pPr marL="342900" indent="-342900">
              <a:buFontTx/>
              <a:buAutoNum type="arabicPeriod"/>
            </a:pPr>
            <a:r>
              <a:rPr lang="nl-NL" sz="2400" b="1" dirty="0" smtClean="0">
                <a:solidFill>
                  <a:srgbClr val="0070C0"/>
                </a:solidFill>
              </a:rPr>
              <a:t> Q ∧ S           </a:t>
            </a:r>
            <a:r>
              <a:rPr lang="nl-NL" sz="2400" b="1" dirty="0" smtClean="0"/>
              <a:t>I ∧ (7,9)</a:t>
            </a:r>
          </a:p>
          <a:p>
            <a:pPr marL="342900" indent="-342900">
              <a:buFontTx/>
              <a:buAutoNum type="arabicPeriod"/>
            </a:pPr>
            <a:r>
              <a:rPr lang="nl-NL" sz="2400" b="1" dirty="0" smtClean="0">
                <a:solidFill>
                  <a:srgbClr val="0070C0"/>
                </a:solidFill>
              </a:rPr>
              <a:t> ¬T                 </a:t>
            </a:r>
            <a:r>
              <a:rPr lang="nl-NL" sz="2400" b="1" dirty="0" smtClean="0"/>
              <a:t>G → (4,10)</a:t>
            </a:r>
            <a:r>
              <a:rPr lang="nl-NL" sz="2400" b="1" dirty="0" smtClean="0">
                <a:solidFill>
                  <a:srgbClr val="0070C0"/>
                </a:solidFill>
              </a:rPr>
              <a:t> </a:t>
            </a:r>
          </a:p>
          <a:p>
            <a:pPr marL="342900" indent="-342900">
              <a:buFontTx/>
              <a:buAutoNum type="arabicPeriod"/>
            </a:pPr>
            <a:r>
              <a:rPr lang="nl-NL" sz="2400" b="1" dirty="0" smtClean="0">
                <a:solidFill>
                  <a:srgbClr val="0070C0"/>
                </a:solidFill>
              </a:rPr>
              <a:t> T ∧ ¬T           </a:t>
            </a:r>
            <a:r>
              <a:rPr lang="nl-NL" sz="2400" b="1" dirty="0" smtClean="0"/>
              <a:t>I ∧ (3,11)</a:t>
            </a:r>
          </a:p>
          <a:p>
            <a:pPr marL="342900" indent="-342900">
              <a:buFontTx/>
              <a:buAutoNum type="arabicPeriod"/>
            </a:pPr>
            <a:r>
              <a:rPr lang="nl-NL" sz="2400" b="1" dirty="0" smtClean="0">
                <a:solidFill>
                  <a:srgbClr val="0070C0"/>
                </a:solidFill>
              </a:rPr>
              <a:t>¬(R ∧ P)         </a:t>
            </a:r>
            <a:r>
              <a:rPr lang="nl-NL" sz="2400" b="1" dirty="0" smtClean="0"/>
              <a:t>I ¬ (5,12)</a:t>
            </a:r>
          </a:p>
        </p:txBody>
      </p:sp>
      <p:cxnSp>
        <p:nvCxnSpPr>
          <p:cNvPr id="9" name="Straight Connector 8"/>
          <p:cNvCxnSpPr/>
          <p:nvPr/>
        </p:nvCxnSpPr>
        <p:spPr>
          <a:xfrm flipH="1">
            <a:off x="323528" y="335699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528" y="3356992"/>
            <a:ext cx="0" cy="1800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23528"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51520" y="5949280"/>
            <a:ext cx="3096344" cy="400110"/>
          </a:xfrm>
          <a:prstGeom prst="rect">
            <a:avLst/>
          </a:prstGeom>
          <a:noFill/>
        </p:spPr>
        <p:txBody>
          <a:bodyPr wrap="square" rtlCol="0">
            <a:spAutoFit/>
          </a:bodyPr>
          <a:lstStyle/>
          <a:p>
            <a:r>
              <a:rPr lang="nl-NL" sz="2000" i="1" dirty="0" err="1" smtClean="0"/>
              <a:t>Reductio</a:t>
            </a:r>
            <a:r>
              <a:rPr lang="nl-NL" sz="2000" i="1" dirty="0" smtClean="0"/>
              <a:t> ad </a:t>
            </a:r>
            <a:r>
              <a:rPr lang="nl-NL" sz="2000" i="1" dirty="0" err="1" smtClean="0"/>
              <a:t>absurdum</a:t>
            </a:r>
            <a:endParaRPr lang="nl-NL" sz="2000" i="1" dirty="0"/>
          </a:p>
        </p:txBody>
      </p:sp>
      <p:cxnSp>
        <p:nvCxnSpPr>
          <p:cNvPr id="15" name="Straight Connector 14"/>
          <p:cNvCxnSpPr/>
          <p:nvPr/>
        </p:nvCxnSpPr>
        <p:spPr>
          <a:xfrm flipH="1">
            <a:off x="4355976" y="3212976"/>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4355976" y="3212976"/>
            <a:ext cx="0" cy="295232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4355976" y="6165304"/>
            <a:ext cx="36004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de negatie (</a:t>
            </a:r>
            <a:r>
              <a:rPr lang="nl-NL" sz="3600" b="1" dirty="0" smtClean="0"/>
              <a:t>¬</a:t>
            </a:r>
            <a:r>
              <a:rPr lang="nl-NL" sz="3600" dirty="0" smtClean="0"/>
              <a:t>)</a:t>
            </a:r>
            <a:endParaRPr lang="nl-NL" sz="3600" dirty="0"/>
          </a:p>
        </p:txBody>
      </p:sp>
      <p:sp>
        <p:nvSpPr>
          <p:cNvPr id="4" name="TextBox 3"/>
          <p:cNvSpPr txBox="1"/>
          <p:nvPr/>
        </p:nvSpPr>
        <p:spPr>
          <a:xfrm>
            <a:off x="611560" y="1700808"/>
            <a:ext cx="3672408" cy="2677656"/>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a:t>
            </a:r>
            <a:r>
              <a:rPr lang="nl-NL" sz="2400" b="1" dirty="0" smtClean="0"/>
              <a:t>Prem.</a:t>
            </a:r>
          </a:p>
          <a:p>
            <a:pPr marL="342900" indent="-342900">
              <a:buAutoNum type="arabicPeriod"/>
            </a:pPr>
            <a:r>
              <a:rPr lang="nl-NL" sz="2400" b="1" dirty="0" smtClean="0">
                <a:solidFill>
                  <a:srgbClr val="0070C0"/>
                </a:solidFill>
              </a:rPr>
              <a:t>¬Q           </a:t>
            </a:r>
            <a:r>
              <a:rPr lang="nl-NL" sz="2400" b="1" dirty="0" err="1" smtClean="0"/>
              <a:t>Ass</a:t>
            </a:r>
            <a:r>
              <a:rPr lang="nl-NL" sz="2400" b="1" dirty="0" smtClean="0"/>
              <a:t>.</a:t>
            </a:r>
          </a:p>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Q             </a:t>
            </a:r>
            <a:r>
              <a:rPr lang="nl-NL" sz="2400" b="1" dirty="0" smtClean="0"/>
              <a:t>G → (1,3)</a:t>
            </a:r>
          </a:p>
          <a:p>
            <a:pPr marL="342900" indent="-342900">
              <a:buFontTx/>
              <a:buAutoNum type="arabicPeriod"/>
            </a:pPr>
            <a:r>
              <a:rPr lang="nl-NL" sz="2400" b="1" dirty="0" smtClean="0">
                <a:solidFill>
                  <a:srgbClr val="0070C0"/>
                </a:solidFill>
              </a:rPr>
              <a:t>Q ∧ ¬Q     </a:t>
            </a:r>
            <a:r>
              <a:rPr lang="nl-NL" sz="2400" b="1" dirty="0" smtClean="0"/>
              <a:t>I</a:t>
            </a:r>
            <a:r>
              <a:rPr lang="nl-NL" sz="2400" b="1" dirty="0" smtClean="0">
                <a:solidFill>
                  <a:srgbClr val="0070C0"/>
                </a:solidFill>
              </a:rPr>
              <a:t> </a:t>
            </a:r>
            <a:r>
              <a:rPr lang="nl-NL" sz="2400" b="1" dirty="0" smtClean="0"/>
              <a:t>∧ (2,4)</a:t>
            </a:r>
            <a:r>
              <a:rPr lang="nl-NL" sz="2400" b="1" dirty="0" smtClean="0">
                <a:solidFill>
                  <a:srgbClr val="0070C0"/>
                </a:solidFill>
              </a:rPr>
              <a:t>    </a:t>
            </a:r>
            <a:r>
              <a:rPr lang="nl-NL" sz="2400" b="1" dirty="0" smtClean="0"/>
              <a:t>  </a:t>
            </a:r>
          </a:p>
          <a:p>
            <a:pPr marL="342900" indent="-342900">
              <a:buFontTx/>
              <a:buAutoNum type="arabicPeriod"/>
            </a:pPr>
            <a:r>
              <a:rPr lang="nl-NL" sz="2400" b="1" dirty="0" smtClean="0">
                <a:solidFill>
                  <a:srgbClr val="0070C0"/>
                </a:solidFill>
              </a:rPr>
              <a:t>¬P               </a:t>
            </a:r>
            <a:r>
              <a:rPr lang="nl-NL" sz="2400" b="1" dirty="0" smtClean="0"/>
              <a:t>I ¬ (3,5)</a:t>
            </a:r>
          </a:p>
          <a:p>
            <a:pPr marL="342900" indent="-342900">
              <a:buFontTx/>
              <a:buAutoNum type="arabicPeriod"/>
            </a:pPr>
            <a:r>
              <a:rPr lang="nl-NL" sz="2400" b="1" dirty="0" smtClean="0">
                <a:solidFill>
                  <a:srgbClr val="0070C0"/>
                </a:solidFill>
              </a:rPr>
              <a:t>¬Q → ¬P          </a:t>
            </a:r>
            <a:r>
              <a:rPr lang="nl-NL" sz="2400" b="1" dirty="0" smtClean="0"/>
              <a:t>I → (2,6)</a:t>
            </a:r>
          </a:p>
        </p:txBody>
      </p:sp>
      <p:cxnSp>
        <p:nvCxnSpPr>
          <p:cNvPr id="15" name="Straight Connector 14"/>
          <p:cNvCxnSpPr/>
          <p:nvPr/>
        </p:nvCxnSpPr>
        <p:spPr>
          <a:xfrm flipH="1">
            <a:off x="323528" y="2132856"/>
            <a:ext cx="8640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23528" y="2132856"/>
            <a:ext cx="0" cy="18002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323528" y="3933056"/>
            <a:ext cx="30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539552" y="2492896"/>
            <a:ext cx="6480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39552" y="2492896"/>
            <a:ext cx="0" cy="108012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539552" y="3573016"/>
            <a:ext cx="165618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608134" y="1844824"/>
            <a:ext cx="2847254" cy="461665"/>
          </a:xfrm>
          <a:prstGeom prst="rect">
            <a:avLst/>
          </a:prstGeom>
        </p:spPr>
        <p:txBody>
          <a:bodyPr wrap="none">
            <a:spAutoFit/>
          </a:bodyPr>
          <a:lstStyle/>
          <a:p>
            <a:r>
              <a:rPr lang="nl-NL" sz="2400" b="1" dirty="0" smtClean="0"/>
              <a:t>P → Q  Ⱶ  ¬Q → ¬P     </a:t>
            </a:r>
            <a:endParaRPr lang="nl-NL" sz="2400" dirty="0"/>
          </a:p>
        </p:txBody>
      </p:sp>
      <p:sp>
        <p:nvSpPr>
          <p:cNvPr id="30" name="TextBox 29"/>
          <p:cNvSpPr txBox="1"/>
          <p:nvPr/>
        </p:nvSpPr>
        <p:spPr>
          <a:xfrm>
            <a:off x="4644008" y="2380818"/>
            <a:ext cx="3096344" cy="400110"/>
          </a:xfrm>
          <a:prstGeom prst="rect">
            <a:avLst/>
          </a:prstGeom>
          <a:noFill/>
        </p:spPr>
        <p:txBody>
          <a:bodyPr wrap="square" rtlCol="0">
            <a:spAutoFit/>
          </a:bodyPr>
          <a:lstStyle/>
          <a:p>
            <a:r>
              <a:rPr lang="nl-NL" sz="2000" i="1" dirty="0" smtClean="0"/>
              <a:t>Contrapositie</a:t>
            </a:r>
            <a:endParaRPr lang="nl-NL" sz="20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0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2000"/>
                                        <p:tgtEl>
                                          <p:spTgt spid="19"/>
                                        </p:tgtEl>
                                      </p:cBhvr>
                                    </p:animEffect>
                                  </p:childTnLst>
                                </p:cTn>
                              </p:par>
                              <p:par>
                                <p:cTn id="17" presetID="10"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20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2000"/>
                                        <p:tgtEl>
                                          <p:spTgt spid="24"/>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de negatie (</a:t>
            </a:r>
            <a:r>
              <a:rPr lang="nl-NL" sz="3600" b="1" dirty="0" smtClean="0"/>
              <a:t>¬</a:t>
            </a:r>
            <a:r>
              <a:rPr lang="nl-NL" sz="3600" dirty="0" smtClean="0"/>
              <a:t>)</a:t>
            </a:r>
            <a:endParaRPr lang="nl-NL" sz="3600" dirty="0"/>
          </a:p>
        </p:txBody>
      </p:sp>
      <p:sp>
        <p:nvSpPr>
          <p:cNvPr id="3" name="Content Placeholder 2"/>
          <p:cNvSpPr>
            <a:spLocks noGrp="1"/>
          </p:cNvSpPr>
          <p:nvPr>
            <p:ph idx="1"/>
          </p:nvPr>
        </p:nvSpPr>
        <p:spPr>
          <a:xfrm>
            <a:off x="961256" y="2071389"/>
            <a:ext cx="2242592" cy="4525963"/>
          </a:xfrm>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r>
              <a:rPr lang="el-GR" sz="2400" b="1" i="1" dirty="0" smtClean="0"/>
              <a:t>α</a:t>
            </a:r>
            <a:r>
              <a:rPr lang="nl-NL" sz="2400" b="1" i="1" dirty="0" smtClean="0"/>
              <a:t> </a:t>
            </a:r>
            <a:r>
              <a:rPr lang="nl-NL" sz="2400" b="1" dirty="0" smtClean="0"/>
              <a:t>∨</a:t>
            </a:r>
            <a:r>
              <a:rPr lang="nl-NL" sz="2400" b="1" i="1" dirty="0" smtClean="0"/>
              <a:t> </a:t>
            </a:r>
            <a:r>
              <a:rPr lang="el-GR" sz="2400" b="1" i="1" dirty="0" smtClean="0"/>
              <a:t>β</a:t>
            </a:r>
            <a:endParaRPr lang="nl-NL" sz="2400" dirty="0" smtClean="0"/>
          </a:p>
          <a:p>
            <a:pPr marL="514350" indent="-514350">
              <a:buNone/>
            </a:pPr>
            <a:r>
              <a:rPr lang="nl-NL" sz="2400" dirty="0" smtClean="0"/>
              <a:t>…</a:t>
            </a:r>
          </a:p>
          <a:p>
            <a:pPr marL="514350" indent="-514350">
              <a:buNone/>
            </a:pPr>
            <a:r>
              <a:rPr lang="nl-NL" sz="2400" dirty="0" smtClean="0"/>
              <a:t>10. </a:t>
            </a:r>
            <a:r>
              <a:rPr lang="nl-NL" sz="2400" b="1" dirty="0" smtClean="0"/>
              <a:t>¬</a:t>
            </a:r>
            <a:r>
              <a:rPr lang="el-GR" sz="2400" b="1" i="1" dirty="0" smtClean="0"/>
              <a:t>α</a:t>
            </a:r>
            <a:endParaRPr lang="nl-NL" sz="2400" dirty="0" smtClean="0"/>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endParaRPr lang="nl-NL" sz="2400" dirty="0" smtClean="0"/>
          </a:p>
          <a:p>
            <a:pPr marL="514350" indent="-514350">
              <a:buNone/>
            </a:pPr>
            <a:endParaRPr lang="nl-NL" sz="2400" dirty="0" smtClean="0"/>
          </a:p>
          <a:p>
            <a:pPr marL="514350" indent="-514350">
              <a:buNone/>
            </a:pPr>
            <a:r>
              <a:rPr lang="nl-NL" sz="2400" dirty="0" smtClean="0"/>
              <a:t> </a:t>
            </a:r>
            <a:endParaRPr lang="nl-NL" sz="2400" baseline="-25000" dirty="0" smtClean="0"/>
          </a:p>
        </p:txBody>
      </p:sp>
      <p:sp>
        <p:nvSpPr>
          <p:cNvPr id="14" name="TextBox 13"/>
          <p:cNvSpPr txBox="1"/>
          <p:nvPr/>
        </p:nvSpPr>
        <p:spPr>
          <a:xfrm>
            <a:off x="755576" y="5765194"/>
            <a:ext cx="3096344" cy="400110"/>
          </a:xfrm>
          <a:prstGeom prst="rect">
            <a:avLst/>
          </a:prstGeom>
          <a:noFill/>
        </p:spPr>
        <p:txBody>
          <a:bodyPr wrap="square" rtlCol="0">
            <a:spAutoFit/>
          </a:bodyPr>
          <a:lstStyle/>
          <a:p>
            <a:r>
              <a:rPr lang="nl-NL" sz="2000" i="1" dirty="0" err="1" smtClean="0"/>
              <a:t>Disjunctief</a:t>
            </a:r>
            <a:r>
              <a:rPr lang="nl-NL" sz="2000" i="1" dirty="0" smtClean="0"/>
              <a:t> syllogisme</a:t>
            </a:r>
            <a:endParaRPr lang="nl-NL" sz="2000" i="1" dirty="0"/>
          </a:p>
        </p:txBody>
      </p:sp>
      <p:sp>
        <p:nvSpPr>
          <p:cNvPr id="17" name="TextBox 16"/>
          <p:cNvSpPr txBox="1"/>
          <p:nvPr/>
        </p:nvSpPr>
        <p:spPr>
          <a:xfrm>
            <a:off x="971600" y="1484784"/>
            <a:ext cx="1944216" cy="400110"/>
          </a:xfrm>
          <a:prstGeom prst="rect">
            <a:avLst/>
          </a:prstGeom>
          <a:noFill/>
        </p:spPr>
        <p:txBody>
          <a:bodyPr wrap="square" rtlCol="0">
            <a:spAutoFit/>
          </a:bodyPr>
          <a:lstStyle/>
          <a:p>
            <a:r>
              <a:rPr lang="nl-NL" sz="2000" b="1" dirty="0" smtClean="0"/>
              <a:t>OPTIE 1</a:t>
            </a:r>
            <a:endParaRPr lang="nl-NL" sz="2000" b="1" dirty="0"/>
          </a:p>
        </p:txBody>
      </p:sp>
      <p:sp>
        <p:nvSpPr>
          <p:cNvPr id="19" name="TextBox 18"/>
          <p:cNvSpPr txBox="1"/>
          <p:nvPr/>
        </p:nvSpPr>
        <p:spPr>
          <a:xfrm>
            <a:off x="4860032" y="1475492"/>
            <a:ext cx="1944216" cy="400110"/>
          </a:xfrm>
          <a:prstGeom prst="rect">
            <a:avLst/>
          </a:prstGeom>
          <a:noFill/>
        </p:spPr>
        <p:txBody>
          <a:bodyPr wrap="square" rtlCol="0">
            <a:spAutoFit/>
          </a:bodyPr>
          <a:lstStyle/>
          <a:p>
            <a:r>
              <a:rPr lang="nl-NL" sz="2000" b="1" dirty="0" smtClean="0"/>
              <a:t>OPTIE 2</a:t>
            </a:r>
            <a:endParaRPr lang="nl-NL" sz="2000" b="1" dirty="0"/>
          </a:p>
        </p:txBody>
      </p:sp>
      <p:sp>
        <p:nvSpPr>
          <p:cNvPr id="20" name="Content Placeholder 2"/>
          <p:cNvSpPr txBox="1">
            <a:spLocks/>
          </p:cNvSpPr>
          <p:nvPr/>
        </p:nvSpPr>
        <p:spPr>
          <a:xfrm>
            <a:off x="4860032" y="1999381"/>
            <a:ext cx="2242592" cy="4525963"/>
          </a:xfrm>
          <a:prstGeom prst="rect">
            <a:avLst/>
          </a:prstGeom>
        </p:spPr>
        <p:txBody>
          <a:bodyPr vert="horz" lIns="91440" tIns="45720" rIns="91440" bIns="45720" rtlCol="0">
            <a:normAutofit/>
          </a:bodyPr>
          <a:lstStyle/>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11.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15.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 </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400" b="0" i="0" u="none" strike="noStrike" kern="1200" cap="none" spc="0" normalizeH="0" baseline="-25000" noProof="0" dirty="0" smtClean="0">
              <a:ln>
                <a:noFill/>
              </a:ln>
              <a:solidFill>
                <a:schemeClr val="tx1"/>
              </a:solidFill>
              <a:effectLst/>
              <a:uLnTx/>
              <a:uFillTx/>
              <a:latin typeface="+mn-lt"/>
              <a:ea typeface="+mn-ea"/>
              <a:cs typeface="+mn-cs"/>
            </a:endParaRPr>
          </a:p>
        </p:txBody>
      </p:sp>
      <p:sp>
        <p:nvSpPr>
          <p:cNvPr id="21" name="TextBox 20"/>
          <p:cNvSpPr txBox="1"/>
          <p:nvPr/>
        </p:nvSpPr>
        <p:spPr>
          <a:xfrm>
            <a:off x="4716016" y="5765194"/>
            <a:ext cx="3096344" cy="400110"/>
          </a:xfrm>
          <a:prstGeom prst="rect">
            <a:avLst/>
          </a:prstGeom>
          <a:noFill/>
        </p:spPr>
        <p:txBody>
          <a:bodyPr wrap="square" rtlCol="0">
            <a:spAutoFit/>
          </a:bodyPr>
          <a:lstStyle/>
          <a:p>
            <a:r>
              <a:rPr lang="nl-NL" sz="2000" i="1" dirty="0" smtClean="0"/>
              <a:t>Ex </a:t>
            </a:r>
            <a:r>
              <a:rPr lang="nl-NL" sz="2000" i="1" dirty="0" err="1" smtClean="0"/>
              <a:t>falso</a:t>
            </a:r>
            <a:r>
              <a:rPr lang="nl-NL" sz="2000" i="1" dirty="0" smtClean="0"/>
              <a:t> sequitur quodlibet</a:t>
            </a:r>
            <a:endParaRPr lang="nl-NL" sz="2000" i="1"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i="1" dirty="0" err="1" smtClean="0"/>
              <a:t>Disjunctief</a:t>
            </a:r>
            <a:r>
              <a:rPr lang="nl-NL" sz="3600" i="1" dirty="0" smtClean="0"/>
              <a:t> syllogisme</a:t>
            </a:r>
            <a:r>
              <a:rPr lang="nl-NL" sz="3600" dirty="0" smtClean="0"/>
              <a:t> en </a:t>
            </a:r>
            <a:r>
              <a:rPr lang="nl-NL" sz="3600" i="1" dirty="0" smtClean="0"/>
              <a:t>Ex </a:t>
            </a:r>
            <a:r>
              <a:rPr lang="nl-NL" sz="3600" i="1" dirty="0" err="1" smtClean="0"/>
              <a:t>falso</a:t>
            </a:r>
            <a:r>
              <a:rPr lang="nl-NL" sz="3600" dirty="0" smtClean="0"/>
              <a:t>                                      zijn logisch equivalent</a:t>
            </a:r>
            <a:endParaRPr lang="nl-NL" sz="3600" dirty="0"/>
          </a:p>
        </p:txBody>
      </p:sp>
      <p:sp>
        <p:nvSpPr>
          <p:cNvPr id="4" name="TextBox 3"/>
          <p:cNvSpPr txBox="1"/>
          <p:nvPr/>
        </p:nvSpPr>
        <p:spPr>
          <a:xfrm>
            <a:off x="395536" y="2852936"/>
            <a:ext cx="3672408" cy="1938992"/>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smtClean="0"/>
              <a:t>Prem.</a:t>
            </a:r>
          </a:p>
          <a:p>
            <a:pPr marL="342900" indent="-342900">
              <a:buAutoNum type="arabicPeriod"/>
            </a:pPr>
            <a:r>
              <a:rPr lang="nl-NL" sz="2400" b="1" dirty="0" smtClean="0">
                <a:solidFill>
                  <a:srgbClr val="0070C0"/>
                </a:solidFill>
              </a:rPr>
              <a:t>¬P           </a:t>
            </a:r>
            <a:r>
              <a:rPr lang="nl-NL" sz="2400" b="1" dirty="0" smtClean="0"/>
              <a:t>Prem.</a:t>
            </a:r>
          </a:p>
          <a:p>
            <a:pPr marL="342900" indent="-342900">
              <a:buAutoNum type="arabicPeriod"/>
            </a:pPr>
            <a:r>
              <a:rPr lang="nl-NL" sz="2400" b="1" dirty="0" smtClean="0">
                <a:solidFill>
                  <a:srgbClr val="0070C0"/>
                </a:solidFill>
              </a:rPr>
              <a:t>P ∨ Q      </a:t>
            </a:r>
            <a:r>
              <a:rPr lang="nl-NL" sz="2400" b="1" dirty="0" smtClean="0"/>
              <a:t>I ∨ (1)</a:t>
            </a:r>
            <a:r>
              <a:rPr lang="nl-NL" sz="2400" b="1" dirty="0" smtClean="0">
                <a:solidFill>
                  <a:srgbClr val="0070C0"/>
                </a:solidFill>
              </a:rPr>
              <a:t> </a:t>
            </a:r>
            <a:endParaRPr lang="nl-NL" sz="2400" b="1" dirty="0" smtClean="0"/>
          </a:p>
          <a:p>
            <a:pPr marL="342900" indent="-342900">
              <a:buFontTx/>
              <a:buAutoNum type="arabicPeriod"/>
            </a:pPr>
            <a:r>
              <a:rPr lang="nl-NL" sz="2400" b="1" dirty="0" smtClean="0">
                <a:solidFill>
                  <a:srgbClr val="0070C0"/>
                </a:solidFill>
              </a:rPr>
              <a:t>Q            </a:t>
            </a:r>
            <a:r>
              <a:rPr lang="nl-NL" sz="2400" b="1" dirty="0" err="1" smtClean="0"/>
              <a:t>Disjunctief</a:t>
            </a:r>
            <a:r>
              <a:rPr lang="nl-NL" sz="2400" b="1" dirty="0" smtClean="0"/>
              <a:t> 	       syllogisme (2,3)</a:t>
            </a:r>
          </a:p>
        </p:txBody>
      </p:sp>
      <p:sp>
        <p:nvSpPr>
          <p:cNvPr id="12" name="TextBox 11"/>
          <p:cNvSpPr txBox="1"/>
          <p:nvPr/>
        </p:nvSpPr>
        <p:spPr>
          <a:xfrm>
            <a:off x="323528" y="1844824"/>
            <a:ext cx="3528392" cy="646331"/>
          </a:xfrm>
          <a:prstGeom prst="rect">
            <a:avLst/>
          </a:prstGeom>
          <a:noFill/>
        </p:spPr>
        <p:txBody>
          <a:bodyPr wrap="square" rtlCol="0">
            <a:spAutoFit/>
          </a:bodyPr>
          <a:lstStyle/>
          <a:p>
            <a:r>
              <a:rPr lang="nl-NL" i="1" dirty="0" smtClean="0"/>
              <a:t>Ex </a:t>
            </a:r>
            <a:r>
              <a:rPr lang="nl-NL" i="1" dirty="0" err="1" smtClean="0"/>
              <a:t>falso</a:t>
            </a:r>
            <a:r>
              <a:rPr lang="nl-NL" i="1" dirty="0" smtClean="0"/>
              <a:t> kan worden afgeleid uit het </a:t>
            </a:r>
            <a:r>
              <a:rPr lang="nl-NL" i="1" dirty="0" err="1" smtClean="0"/>
              <a:t>disjunctief</a:t>
            </a:r>
            <a:r>
              <a:rPr lang="nl-NL" i="1" dirty="0" smtClean="0"/>
              <a:t> syllogisme</a:t>
            </a:r>
            <a:endParaRPr lang="nl-NL" i="1" dirty="0"/>
          </a:p>
        </p:txBody>
      </p:sp>
      <p:sp>
        <p:nvSpPr>
          <p:cNvPr id="13" name="TextBox 12"/>
          <p:cNvSpPr txBox="1"/>
          <p:nvPr/>
        </p:nvSpPr>
        <p:spPr>
          <a:xfrm>
            <a:off x="4716016" y="1846565"/>
            <a:ext cx="3528392" cy="646331"/>
          </a:xfrm>
          <a:prstGeom prst="rect">
            <a:avLst/>
          </a:prstGeom>
          <a:noFill/>
        </p:spPr>
        <p:txBody>
          <a:bodyPr wrap="square" rtlCol="0">
            <a:spAutoFit/>
          </a:bodyPr>
          <a:lstStyle/>
          <a:p>
            <a:r>
              <a:rPr lang="nl-NL" i="1" dirty="0" err="1" smtClean="0"/>
              <a:t>Disjunctief</a:t>
            </a:r>
            <a:r>
              <a:rPr lang="nl-NL" i="1" dirty="0" smtClean="0"/>
              <a:t> syllogisme kan worden afgeleid uit ex </a:t>
            </a:r>
            <a:r>
              <a:rPr lang="nl-NL" i="1" dirty="0" err="1" smtClean="0"/>
              <a:t>falso</a:t>
            </a:r>
            <a:endParaRPr lang="nl-NL" i="1" dirty="0"/>
          </a:p>
        </p:txBody>
      </p:sp>
      <p:sp>
        <p:nvSpPr>
          <p:cNvPr id="14" name="TextBox 13"/>
          <p:cNvSpPr txBox="1"/>
          <p:nvPr/>
        </p:nvSpPr>
        <p:spPr>
          <a:xfrm>
            <a:off x="4788024" y="2780928"/>
            <a:ext cx="3672408" cy="3416320"/>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V Q     </a:t>
            </a:r>
            <a:r>
              <a:rPr lang="nl-NL" sz="2400" b="1" dirty="0" smtClean="0"/>
              <a:t>Prem.</a:t>
            </a:r>
            <a:r>
              <a:rPr lang="nl-NL" sz="2400" b="1" dirty="0" smtClean="0">
                <a:solidFill>
                  <a:srgbClr val="0070C0"/>
                </a:solidFill>
              </a:rPr>
              <a:t>             </a:t>
            </a:r>
            <a:endParaRPr lang="nl-NL" sz="2400" b="1" dirty="0" smtClean="0"/>
          </a:p>
          <a:p>
            <a:pPr marL="342900" indent="-342900">
              <a:buAutoNum type="arabicPeriod"/>
            </a:pPr>
            <a:r>
              <a:rPr lang="nl-NL" sz="2400" b="1" dirty="0" smtClean="0">
                <a:solidFill>
                  <a:srgbClr val="0070C0"/>
                </a:solidFill>
              </a:rPr>
              <a:t>¬P          </a:t>
            </a:r>
            <a:r>
              <a:rPr lang="nl-NL" sz="2400" b="1" dirty="0" smtClean="0"/>
              <a:t>Prem.</a:t>
            </a:r>
            <a:r>
              <a:rPr lang="nl-NL" sz="2400" b="1" dirty="0" smtClean="0">
                <a:solidFill>
                  <a:srgbClr val="0070C0"/>
                </a:solidFill>
              </a:rPr>
              <a:t> </a:t>
            </a:r>
            <a:endParaRPr lang="nl-NL" sz="2400" b="1" dirty="0" smtClean="0"/>
          </a:p>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Q	      </a:t>
            </a:r>
            <a:r>
              <a:rPr lang="nl-NL" sz="2400" b="1" dirty="0" smtClean="0"/>
              <a:t>Ex </a:t>
            </a:r>
            <a:r>
              <a:rPr lang="nl-NL" sz="2400" b="1" dirty="0" err="1" smtClean="0"/>
              <a:t>falso</a:t>
            </a:r>
            <a:r>
              <a:rPr lang="nl-NL" sz="2400" b="1" dirty="0" smtClean="0"/>
              <a:t>(2,3)</a:t>
            </a:r>
          </a:p>
          <a:p>
            <a:pPr marL="342900" indent="-342900">
              <a:buFontTx/>
              <a:buAutoNum type="arabicPeriod"/>
            </a:pPr>
            <a:r>
              <a:rPr lang="nl-NL" sz="2400" b="1" dirty="0" smtClean="0">
                <a:solidFill>
                  <a:srgbClr val="0070C0"/>
                </a:solidFill>
              </a:rPr>
              <a:t>P → Q        </a:t>
            </a:r>
            <a:r>
              <a:rPr lang="nl-NL" sz="2400" b="1" dirty="0" smtClean="0"/>
              <a:t>I → (3,4) </a:t>
            </a:r>
          </a:p>
          <a:p>
            <a:pPr marL="342900" indent="-342900">
              <a:buFontTx/>
              <a:buAutoNum type="arabicPeriod"/>
            </a:pPr>
            <a:r>
              <a:rPr lang="nl-NL" sz="2400" b="1" dirty="0" smtClean="0">
                <a:solidFill>
                  <a:srgbClr val="0070C0"/>
                </a:solidFill>
              </a:rPr>
              <a:t>Q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Q           </a:t>
            </a:r>
            <a:r>
              <a:rPr lang="nl-NL" sz="2400" b="1" dirty="0" err="1" smtClean="0"/>
              <a:t>Herh</a:t>
            </a:r>
            <a:r>
              <a:rPr lang="nl-NL" sz="2400" b="1" dirty="0" smtClean="0"/>
              <a:t>. (6)</a:t>
            </a:r>
          </a:p>
          <a:p>
            <a:pPr marL="342900" indent="-342900">
              <a:buFontTx/>
              <a:buAutoNum type="arabicPeriod"/>
            </a:pPr>
            <a:r>
              <a:rPr lang="nl-NL" sz="2400" b="1" dirty="0" smtClean="0">
                <a:solidFill>
                  <a:srgbClr val="0070C0"/>
                </a:solidFill>
              </a:rPr>
              <a:t>Q → Q       </a:t>
            </a:r>
            <a:r>
              <a:rPr lang="nl-NL" sz="2400" b="1" dirty="0" smtClean="0"/>
              <a:t>I → (6,7)</a:t>
            </a:r>
          </a:p>
          <a:p>
            <a:pPr marL="342900" indent="-342900">
              <a:buFontTx/>
              <a:buAutoNum type="arabicPeriod"/>
            </a:pPr>
            <a:r>
              <a:rPr lang="nl-NL" sz="2400" b="1" dirty="0" smtClean="0">
                <a:solidFill>
                  <a:srgbClr val="0070C0"/>
                </a:solidFill>
              </a:rPr>
              <a:t>Q                </a:t>
            </a:r>
            <a:r>
              <a:rPr lang="nl-NL" sz="2400" b="1" dirty="0" smtClean="0"/>
              <a:t>G ∨ (1,5,8)</a:t>
            </a:r>
          </a:p>
        </p:txBody>
      </p:sp>
      <p:cxnSp>
        <p:nvCxnSpPr>
          <p:cNvPr id="16" name="Straight Connector 15"/>
          <p:cNvCxnSpPr/>
          <p:nvPr/>
        </p:nvCxnSpPr>
        <p:spPr>
          <a:xfrm flipH="1">
            <a:off x="4716016" y="3573016"/>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4716016" y="3573016"/>
            <a:ext cx="0"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4716016" y="4293096"/>
            <a:ext cx="1440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4716016" y="4653136"/>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716016" y="4653136"/>
            <a:ext cx="0" cy="72008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4716016" y="5373216"/>
            <a:ext cx="14401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20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20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000"/>
                                        <p:tgtEl>
                                          <p:spTgt spid="28"/>
                                        </p:tgtEl>
                                      </p:cBhvr>
                                    </p:animEffect>
                                  </p:childTnLst>
                                </p:cTn>
                              </p:par>
                              <p:par>
                                <p:cTn id="26" presetID="10" presetClass="entr" presetSubtype="0" fill="hold"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i="1" dirty="0" smtClean="0"/>
              <a:t>Ex </a:t>
            </a:r>
            <a:r>
              <a:rPr lang="nl-NL" sz="3600" i="1" dirty="0" err="1" smtClean="0"/>
              <a:t>falso</a:t>
            </a:r>
            <a:r>
              <a:rPr lang="nl-NL" sz="3600" i="1" dirty="0" smtClean="0"/>
              <a:t> </a:t>
            </a:r>
            <a:r>
              <a:rPr lang="nl-NL" sz="3600" dirty="0" smtClean="0"/>
              <a:t>als de gebruiksregel voor de negatie (</a:t>
            </a:r>
            <a:r>
              <a:rPr lang="nl-NL" sz="3600" b="1" dirty="0" smtClean="0"/>
              <a:t>¬</a:t>
            </a:r>
            <a:r>
              <a:rPr lang="nl-NL" sz="3600" dirty="0" smtClean="0"/>
              <a:t>)</a:t>
            </a:r>
            <a:endParaRPr lang="nl-NL" sz="3600" dirty="0"/>
          </a:p>
        </p:txBody>
      </p:sp>
      <p:sp>
        <p:nvSpPr>
          <p:cNvPr id="20" name="Content Placeholder 2"/>
          <p:cNvSpPr txBox="1">
            <a:spLocks/>
          </p:cNvSpPr>
          <p:nvPr/>
        </p:nvSpPr>
        <p:spPr>
          <a:xfrm>
            <a:off x="755576" y="1999381"/>
            <a:ext cx="2664296" cy="4525963"/>
          </a:xfrm>
          <a:prstGeom prst="rect">
            <a:avLst/>
          </a:prstGeom>
        </p:spPr>
        <p:txBody>
          <a:bodyPr vert="horz" lIns="91440" tIns="45720" rIns="91440" bIns="45720" rtlCol="0">
            <a:normAutofit/>
          </a:bodyPr>
          <a:lstStyle/>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11.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15.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 </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lang="nl-NL" sz="2400" dirty="0" smtClean="0"/>
              <a:t>G </a:t>
            </a:r>
            <a:r>
              <a:rPr lang="nl-NL" sz="2400" b="1" dirty="0" smtClean="0"/>
              <a:t>¬ </a:t>
            </a:r>
            <a:r>
              <a:rPr lang="nl-NL" sz="2400" dirty="0" smtClean="0"/>
              <a:t>(3,10) </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400" b="0" i="0" u="none" strike="noStrike" kern="1200" cap="none" spc="0" normalizeH="0" baseline="-25000" noProof="0" dirty="0" smtClean="0">
              <a:ln>
                <a:noFill/>
              </a:ln>
              <a:solidFill>
                <a:schemeClr val="tx1"/>
              </a:solidFill>
              <a:effectLst/>
              <a:uLnTx/>
              <a:uFillTx/>
              <a:latin typeface="+mn-lt"/>
              <a:ea typeface="+mn-ea"/>
              <a:cs typeface="+mn-cs"/>
            </a:endParaRPr>
          </a:p>
        </p:txBody>
      </p:sp>
      <p:sp>
        <p:nvSpPr>
          <p:cNvPr id="21" name="TextBox 20"/>
          <p:cNvSpPr txBox="1"/>
          <p:nvPr/>
        </p:nvSpPr>
        <p:spPr>
          <a:xfrm>
            <a:off x="611560" y="5765194"/>
            <a:ext cx="3096344" cy="400110"/>
          </a:xfrm>
          <a:prstGeom prst="rect">
            <a:avLst/>
          </a:prstGeom>
          <a:noFill/>
        </p:spPr>
        <p:txBody>
          <a:bodyPr wrap="square" rtlCol="0">
            <a:spAutoFit/>
          </a:bodyPr>
          <a:lstStyle/>
          <a:p>
            <a:r>
              <a:rPr lang="nl-NL" sz="2000" i="1" dirty="0" smtClean="0"/>
              <a:t>Ex </a:t>
            </a:r>
            <a:r>
              <a:rPr lang="nl-NL" sz="2000" i="1" dirty="0" err="1" smtClean="0"/>
              <a:t>falso</a:t>
            </a:r>
            <a:r>
              <a:rPr lang="nl-NL" sz="2000" i="1" dirty="0" smtClean="0"/>
              <a:t> sequitur quodlibet</a:t>
            </a:r>
            <a:endParaRPr lang="nl-NL" sz="2000" i="1" dirty="0"/>
          </a:p>
        </p:txBody>
      </p:sp>
      <p:sp>
        <p:nvSpPr>
          <p:cNvPr id="10" name="TextBox 9"/>
          <p:cNvSpPr txBox="1"/>
          <p:nvPr/>
        </p:nvSpPr>
        <p:spPr>
          <a:xfrm>
            <a:off x="3779912" y="2060848"/>
            <a:ext cx="3312368" cy="1015663"/>
          </a:xfrm>
          <a:prstGeom prst="rect">
            <a:avLst/>
          </a:prstGeom>
          <a:noFill/>
        </p:spPr>
        <p:txBody>
          <a:bodyPr wrap="square" rtlCol="0">
            <a:spAutoFit/>
          </a:bodyPr>
          <a:lstStyle/>
          <a:p>
            <a:r>
              <a:rPr lang="nl-NL" sz="2000" dirty="0" smtClean="0"/>
              <a:t>De negatie treedt als enige logische constante op in de redeneervorm </a:t>
            </a:r>
            <a:r>
              <a:rPr lang="nl-NL" sz="2000" i="1" dirty="0" smtClean="0"/>
              <a:t>ex </a:t>
            </a:r>
            <a:r>
              <a:rPr lang="nl-NL" sz="2000" i="1" dirty="0" err="1" smtClean="0"/>
              <a:t>falso</a:t>
            </a:r>
            <a:r>
              <a:rPr lang="nl-NL" sz="2000" dirty="0" smtClean="0"/>
              <a:t> </a:t>
            </a:r>
            <a:endParaRPr lang="nl-NL" sz="2000"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Introductieregel voor de negatie</a:t>
            </a:r>
            <a:endParaRPr lang="nl-NL" sz="3600" i="1" dirty="0"/>
          </a:p>
        </p:txBody>
      </p:sp>
      <p:sp>
        <p:nvSpPr>
          <p:cNvPr id="6" name="Content Placeholder 2"/>
          <p:cNvSpPr>
            <a:spLocks noGrp="1"/>
          </p:cNvSpPr>
          <p:nvPr>
            <p:ph idx="1"/>
          </p:nvPr>
        </p:nvSpPr>
        <p:spPr>
          <a:xfrm>
            <a:off x="323528" y="1639341"/>
            <a:ext cx="8229600" cy="4525963"/>
          </a:xfrm>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dirty="0" smtClean="0"/>
              <a:t>     </a:t>
            </a:r>
            <a:r>
              <a:rPr lang="nl-NL" sz="2400" dirty="0" err="1" smtClean="0"/>
              <a:t>Ass</a:t>
            </a:r>
            <a:r>
              <a:rPr lang="nl-NL" sz="2400" dirty="0" smtClean="0"/>
              <a:t>.</a:t>
            </a:r>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r>
              <a:rPr lang="nl-NL" sz="2400" b="1" dirty="0" smtClean="0"/>
              <a:t>∧</a:t>
            </a:r>
            <a:r>
              <a:rPr lang="nl-NL" sz="2400" b="1" i="1" dirty="0" smtClean="0"/>
              <a:t> </a:t>
            </a:r>
            <a:r>
              <a:rPr lang="nl-NL" sz="2400" b="1" dirty="0" smtClean="0"/>
              <a:t>¬</a:t>
            </a:r>
            <a:r>
              <a:rPr lang="el-GR" sz="2400" b="1" i="1" dirty="0" smtClean="0"/>
              <a:t>β</a:t>
            </a:r>
            <a:endParaRPr lang="nl-NL" sz="2400" dirty="0" smtClean="0"/>
          </a:p>
          <a:p>
            <a:pPr marL="514350" indent="-514350">
              <a:buNone/>
            </a:pPr>
            <a:r>
              <a:rPr lang="nl-NL" sz="2400" dirty="0" smtClean="0"/>
              <a:t>16. </a:t>
            </a:r>
            <a:r>
              <a:rPr lang="nl-NL" sz="2400" b="1" dirty="0" smtClean="0"/>
              <a:t>¬</a:t>
            </a:r>
            <a:r>
              <a:rPr lang="el-GR" sz="2400" b="1" i="1" dirty="0" smtClean="0"/>
              <a:t>α</a:t>
            </a:r>
            <a:r>
              <a:rPr lang="nl-NL" sz="2400" b="1" i="1" dirty="0" smtClean="0"/>
              <a:t>          </a:t>
            </a:r>
            <a:r>
              <a:rPr lang="nl-NL" sz="2400" dirty="0" smtClean="0"/>
              <a:t>I </a:t>
            </a:r>
            <a:r>
              <a:rPr lang="nl-NL" sz="2400" b="1" dirty="0" smtClean="0"/>
              <a:t>¬</a:t>
            </a:r>
            <a:r>
              <a:rPr lang="nl-NL" sz="2400" dirty="0" smtClean="0"/>
              <a:t> (10,15)</a:t>
            </a:r>
          </a:p>
          <a:p>
            <a:pPr marL="514350" indent="-514350">
              <a:buNone/>
            </a:pPr>
            <a:r>
              <a:rPr lang="nl-NL" sz="2400" dirty="0" smtClean="0"/>
              <a:t> </a:t>
            </a:r>
            <a:endParaRPr lang="nl-NL" sz="2400" baseline="-25000" dirty="0" smtClean="0"/>
          </a:p>
        </p:txBody>
      </p:sp>
      <p:cxnSp>
        <p:nvCxnSpPr>
          <p:cNvPr id="7" name="Straight Connector 6"/>
          <p:cNvCxnSpPr/>
          <p:nvPr/>
        </p:nvCxnSpPr>
        <p:spPr>
          <a:xfrm flipH="1">
            <a:off x="323528" y="3429000"/>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3528" y="3429000"/>
            <a:ext cx="0" cy="1728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23528"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1520" y="5949280"/>
            <a:ext cx="3096344" cy="400110"/>
          </a:xfrm>
          <a:prstGeom prst="rect">
            <a:avLst/>
          </a:prstGeom>
          <a:noFill/>
        </p:spPr>
        <p:txBody>
          <a:bodyPr wrap="square" rtlCol="0">
            <a:spAutoFit/>
          </a:bodyPr>
          <a:lstStyle/>
          <a:p>
            <a:r>
              <a:rPr lang="nl-NL" sz="2000" i="1" dirty="0" err="1" smtClean="0"/>
              <a:t>Reductio</a:t>
            </a:r>
            <a:r>
              <a:rPr lang="nl-NL" sz="2000" i="1" dirty="0" smtClean="0"/>
              <a:t> ad </a:t>
            </a:r>
            <a:r>
              <a:rPr lang="nl-NL" sz="2000" i="1" dirty="0" err="1" smtClean="0"/>
              <a:t>absurdum</a:t>
            </a:r>
            <a:endParaRPr lang="nl-NL" sz="2000" i="1" dirty="0"/>
          </a:p>
        </p:txBody>
      </p:sp>
      <p:sp>
        <p:nvSpPr>
          <p:cNvPr id="13" name="Content Placeholder 2"/>
          <p:cNvSpPr txBox="1">
            <a:spLocks/>
          </p:cNvSpPr>
          <p:nvPr/>
        </p:nvSpPr>
        <p:spPr>
          <a:xfrm>
            <a:off x="3831232" y="1639341"/>
            <a:ext cx="2973016" cy="2725763"/>
          </a:xfrm>
          <a:prstGeom prst="rect">
            <a:avLst/>
          </a:prstGeom>
        </p:spPr>
        <p:txBody>
          <a:bodyPr vert="horz" lIns="91440" tIns="45720" rIns="91440" bIns="45720" rtlCol="0">
            <a:normAutofit/>
          </a:bodyPr>
          <a:lstStyle/>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r>
              <a:rPr lang="nl-NL" sz="2400" b="1" dirty="0" smtClean="0">
                <a:solidFill>
                  <a:srgbClr val="0070C0"/>
                </a:solidFill>
              </a:rPr>
              <a:t>¬P   </a:t>
            </a:r>
            <a:r>
              <a:rPr lang="nl-NL" sz="2400" b="1" dirty="0" err="1" smtClean="0"/>
              <a:t>Ass</a:t>
            </a:r>
            <a:r>
              <a:rPr lang="nl-NL" sz="2400" b="1" dirty="0" smtClean="0"/>
              <a:t>.</a:t>
            </a:r>
            <a:endParaRPr kumimoji="0" lang="nl-NL" sz="2400" b="0" i="0" u="none" strike="noStrike" kern="1200" cap="none" spc="0" normalizeH="0" baseline="0" noProof="0" dirty="0" smtClean="0">
              <a:ln>
                <a:noFill/>
              </a:ln>
              <a:solidFill>
                <a:srgbClr val="0070C0"/>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kumimoji="0" lang="nl-NL" sz="2400" b="1" i="0" u="none" strike="noStrike" kern="1200" cap="none" spc="0" normalizeH="0" baseline="0" noProof="0" dirty="0" smtClean="0">
                <a:ln>
                  <a:noFill/>
                </a:ln>
                <a:solidFill>
                  <a:srgbClr val="0070C0"/>
                </a:solidFill>
                <a:effectLst/>
                <a:uLnTx/>
                <a:uFillTx/>
                <a:latin typeface="+mn-lt"/>
                <a:ea typeface="+mn-ea"/>
                <a:cs typeface="+mn-cs"/>
              </a:rPr>
              <a:t>Q </a:t>
            </a:r>
            <a:r>
              <a:rPr lang="nl-NL" sz="2400" b="1" dirty="0" smtClean="0">
                <a:solidFill>
                  <a:srgbClr val="0070C0"/>
                </a:solidFill>
              </a:rPr>
              <a:t>∧ ¬Q</a:t>
            </a:r>
            <a:r>
              <a:rPr lang="nl-NL" sz="2400" b="1" dirty="0" smtClean="0"/>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514350" lvl="0" indent="-514350">
              <a:spcBef>
                <a:spcPct val="20000"/>
              </a:spcBef>
            </a:pPr>
            <a:r>
              <a:rPr lang="nl-NL" sz="2400" dirty="0" smtClean="0"/>
              <a:t>11.</a:t>
            </a:r>
            <a:r>
              <a:rPr lang="nl-NL" sz="2400" dirty="0" smtClean="0">
                <a:solidFill>
                  <a:srgbClr val="FF0000"/>
                </a:solidFill>
              </a:rPr>
              <a:t> </a:t>
            </a:r>
            <a:r>
              <a:rPr lang="nl-NL" sz="2400" b="1" dirty="0" smtClean="0">
                <a:solidFill>
                  <a:srgbClr val="0070C0"/>
                </a:solidFill>
              </a:rPr>
              <a:t>P</a:t>
            </a:r>
            <a:r>
              <a:rPr lang="nl-NL" sz="2400" b="1" dirty="0" smtClean="0">
                <a:solidFill>
                  <a:srgbClr val="FF0000"/>
                </a:solidFill>
              </a:rPr>
              <a:t>     </a:t>
            </a:r>
            <a:r>
              <a:rPr lang="nl-NL" sz="2400" b="1" dirty="0" smtClean="0"/>
              <a:t>I ¬ (1,10) </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p:txBody>
      </p:sp>
      <p:cxnSp>
        <p:nvCxnSpPr>
          <p:cNvPr id="14" name="Straight Connector 13"/>
          <p:cNvCxnSpPr/>
          <p:nvPr/>
        </p:nvCxnSpPr>
        <p:spPr>
          <a:xfrm flipH="1">
            <a:off x="3779912" y="155679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79912" y="1556792"/>
            <a:ext cx="0" cy="23042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779912" y="3861048"/>
            <a:ext cx="1800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300192" y="2204864"/>
            <a:ext cx="2376264" cy="400110"/>
          </a:xfrm>
          <a:prstGeom prst="rect">
            <a:avLst/>
          </a:prstGeom>
          <a:noFill/>
        </p:spPr>
        <p:txBody>
          <a:bodyPr wrap="square" rtlCol="0">
            <a:spAutoFit/>
          </a:bodyPr>
          <a:lstStyle/>
          <a:p>
            <a:r>
              <a:rPr lang="nl-NL" sz="2000" dirty="0" smtClean="0"/>
              <a:t>Is dit geoorloofd? </a:t>
            </a:r>
            <a:endParaRPr lang="nl-NL" sz="20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0"/>
                                        <p:tgtEl>
                                          <p:spTgt spid="15"/>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000"/>
                                        <p:tgtEl>
                                          <p:spTgt spid="1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Introductieregel voor de negatie</a:t>
            </a:r>
            <a:endParaRPr lang="nl-NL" sz="3600" i="1" dirty="0"/>
          </a:p>
        </p:txBody>
      </p:sp>
      <p:sp>
        <p:nvSpPr>
          <p:cNvPr id="6" name="Content Placeholder 2"/>
          <p:cNvSpPr>
            <a:spLocks noGrp="1"/>
          </p:cNvSpPr>
          <p:nvPr>
            <p:ph idx="1"/>
          </p:nvPr>
        </p:nvSpPr>
        <p:spPr>
          <a:xfrm>
            <a:off x="323528" y="1639341"/>
            <a:ext cx="8229600" cy="4525963"/>
          </a:xfrm>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dirty="0" smtClean="0"/>
              <a:t>     </a:t>
            </a:r>
            <a:r>
              <a:rPr lang="nl-NL" sz="2400" dirty="0" err="1" smtClean="0"/>
              <a:t>Ass</a:t>
            </a:r>
            <a:r>
              <a:rPr lang="nl-NL" sz="2400" dirty="0" smtClean="0"/>
              <a:t>.</a:t>
            </a:r>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r>
              <a:rPr lang="nl-NL" sz="2400" b="1" dirty="0" smtClean="0"/>
              <a:t>∧</a:t>
            </a:r>
            <a:r>
              <a:rPr lang="nl-NL" sz="2400" b="1" i="1" dirty="0" smtClean="0"/>
              <a:t> </a:t>
            </a:r>
            <a:r>
              <a:rPr lang="nl-NL" sz="2400" b="1" dirty="0" smtClean="0"/>
              <a:t>¬</a:t>
            </a:r>
            <a:r>
              <a:rPr lang="el-GR" sz="2400" b="1" i="1" dirty="0" smtClean="0"/>
              <a:t>β</a:t>
            </a:r>
            <a:endParaRPr lang="nl-NL" sz="2400" dirty="0" smtClean="0"/>
          </a:p>
          <a:p>
            <a:pPr marL="514350" indent="-514350">
              <a:buNone/>
            </a:pPr>
            <a:r>
              <a:rPr lang="nl-NL" sz="2400" dirty="0" smtClean="0"/>
              <a:t>16. </a:t>
            </a:r>
            <a:r>
              <a:rPr lang="nl-NL" sz="2400" b="1" dirty="0" smtClean="0"/>
              <a:t>¬</a:t>
            </a:r>
            <a:r>
              <a:rPr lang="el-GR" sz="2400" b="1" i="1" dirty="0" smtClean="0"/>
              <a:t>α</a:t>
            </a:r>
            <a:r>
              <a:rPr lang="nl-NL" sz="2400" b="1" i="1" dirty="0" smtClean="0"/>
              <a:t>          </a:t>
            </a:r>
            <a:r>
              <a:rPr lang="nl-NL" sz="2400" dirty="0" smtClean="0"/>
              <a:t>I </a:t>
            </a:r>
            <a:r>
              <a:rPr lang="nl-NL" sz="2400" b="1" dirty="0" smtClean="0"/>
              <a:t>¬</a:t>
            </a:r>
            <a:r>
              <a:rPr lang="nl-NL" sz="2400" dirty="0" smtClean="0"/>
              <a:t> (10,15)</a:t>
            </a:r>
          </a:p>
          <a:p>
            <a:pPr marL="514350" indent="-514350">
              <a:buNone/>
            </a:pPr>
            <a:r>
              <a:rPr lang="nl-NL" sz="2400" dirty="0" smtClean="0"/>
              <a:t> </a:t>
            </a:r>
            <a:endParaRPr lang="nl-NL" sz="2400" baseline="-25000" dirty="0" smtClean="0"/>
          </a:p>
        </p:txBody>
      </p:sp>
      <p:cxnSp>
        <p:nvCxnSpPr>
          <p:cNvPr id="7" name="Straight Connector 6"/>
          <p:cNvCxnSpPr/>
          <p:nvPr/>
        </p:nvCxnSpPr>
        <p:spPr>
          <a:xfrm flipH="1">
            <a:off x="323528" y="3429000"/>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3528" y="3429000"/>
            <a:ext cx="0" cy="1728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23528"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1520" y="5949280"/>
            <a:ext cx="3096344" cy="400110"/>
          </a:xfrm>
          <a:prstGeom prst="rect">
            <a:avLst/>
          </a:prstGeom>
          <a:noFill/>
        </p:spPr>
        <p:txBody>
          <a:bodyPr wrap="square" rtlCol="0">
            <a:spAutoFit/>
          </a:bodyPr>
          <a:lstStyle/>
          <a:p>
            <a:r>
              <a:rPr lang="nl-NL" sz="2000" i="1" dirty="0" err="1" smtClean="0"/>
              <a:t>Reductio</a:t>
            </a:r>
            <a:r>
              <a:rPr lang="nl-NL" sz="2000" i="1" dirty="0" smtClean="0"/>
              <a:t> ad </a:t>
            </a:r>
            <a:r>
              <a:rPr lang="nl-NL" sz="2000" i="1" dirty="0" err="1" smtClean="0"/>
              <a:t>absurdum</a:t>
            </a:r>
            <a:endParaRPr lang="nl-NL" sz="2000" i="1" dirty="0"/>
          </a:p>
        </p:txBody>
      </p:sp>
      <p:sp>
        <p:nvSpPr>
          <p:cNvPr id="13" name="Content Placeholder 2"/>
          <p:cNvSpPr txBox="1">
            <a:spLocks/>
          </p:cNvSpPr>
          <p:nvPr/>
        </p:nvSpPr>
        <p:spPr>
          <a:xfrm>
            <a:off x="3831232" y="1639341"/>
            <a:ext cx="2973016" cy="2725763"/>
          </a:xfrm>
          <a:prstGeom prst="rect">
            <a:avLst/>
          </a:prstGeom>
        </p:spPr>
        <p:txBody>
          <a:bodyPr vert="horz" lIns="91440" tIns="45720" rIns="91440" bIns="45720" rtlCol="0">
            <a:normAutofit/>
          </a:bodyPr>
          <a:lstStyle/>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r>
              <a:rPr lang="nl-NL" sz="2400" b="1" dirty="0" smtClean="0">
                <a:solidFill>
                  <a:srgbClr val="0070C0"/>
                </a:solidFill>
              </a:rPr>
              <a:t>¬P   </a:t>
            </a:r>
            <a:r>
              <a:rPr lang="nl-NL" sz="2400" b="1" dirty="0" err="1" smtClean="0"/>
              <a:t>Ass</a:t>
            </a:r>
            <a:r>
              <a:rPr lang="nl-NL" sz="2400" b="1" dirty="0" smtClean="0"/>
              <a:t>.</a:t>
            </a:r>
            <a:endParaRPr kumimoji="0" lang="nl-NL" sz="2400" b="0" i="0" u="none" strike="noStrike" kern="1200" cap="none" spc="0" normalizeH="0" baseline="0" noProof="0" dirty="0" smtClean="0">
              <a:ln>
                <a:noFill/>
              </a:ln>
              <a:solidFill>
                <a:srgbClr val="0070C0"/>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kumimoji="0" lang="nl-NL" sz="2400" b="1" i="0" u="none" strike="noStrike" kern="1200" cap="none" spc="0" normalizeH="0" baseline="0" noProof="0" dirty="0" smtClean="0">
                <a:ln>
                  <a:noFill/>
                </a:ln>
                <a:solidFill>
                  <a:srgbClr val="0070C0"/>
                </a:solidFill>
                <a:effectLst/>
                <a:uLnTx/>
                <a:uFillTx/>
                <a:latin typeface="+mn-lt"/>
                <a:ea typeface="+mn-ea"/>
                <a:cs typeface="+mn-cs"/>
              </a:rPr>
              <a:t>Q </a:t>
            </a:r>
            <a:r>
              <a:rPr lang="nl-NL" sz="2400" b="1" dirty="0" smtClean="0">
                <a:solidFill>
                  <a:srgbClr val="0070C0"/>
                </a:solidFill>
              </a:rPr>
              <a:t>∧ ¬Q</a:t>
            </a:r>
            <a:r>
              <a:rPr lang="nl-NL" sz="2400" b="1" dirty="0" smtClean="0"/>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514350" lvl="0" indent="-514350">
              <a:spcBef>
                <a:spcPct val="20000"/>
              </a:spcBef>
            </a:pPr>
            <a:r>
              <a:rPr lang="nl-NL" sz="2400" b="1" dirty="0" smtClean="0">
                <a:solidFill>
                  <a:srgbClr val="FF0000"/>
                </a:solidFill>
              </a:rPr>
              <a:t>11.</a:t>
            </a:r>
            <a:r>
              <a:rPr lang="nl-NL" sz="2400" dirty="0" smtClean="0">
                <a:solidFill>
                  <a:srgbClr val="FF0000"/>
                </a:solidFill>
              </a:rPr>
              <a:t> </a:t>
            </a:r>
            <a:r>
              <a:rPr lang="nl-NL" sz="2400" b="1" dirty="0" smtClean="0">
                <a:solidFill>
                  <a:srgbClr val="FF0000"/>
                </a:solidFill>
              </a:rPr>
              <a:t>P     I ¬ (1,10)</a:t>
            </a:r>
            <a:r>
              <a:rPr lang="nl-NL" sz="2400" b="1" dirty="0" smtClean="0"/>
              <a:t> </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p:txBody>
      </p:sp>
      <p:cxnSp>
        <p:nvCxnSpPr>
          <p:cNvPr id="14" name="Straight Connector 13"/>
          <p:cNvCxnSpPr/>
          <p:nvPr/>
        </p:nvCxnSpPr>
        <p:spPr>
          <a:xfrm flipH="1">
            <a:off x="3779912" y="155679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79912" y="1556792"/>
            <a:ext cx="0" cy="23042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779912" y="3861048"/>
            <a:ext cx="1800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228184" y="2195572"/>
            <a:ext cx="2376264" cy="400110"/>
          </a:xfrm>
          <a:prstGeom prst="rect">
            <a:avLst/>
          </a:prstGeom>
          <a:noFill/>
        </p:spPr>
        <p:txBody>
          <a:bodyPr wrap="square" rtlCol="0">
            <a:spAutoFit/>
          </a:bodyPr>
          <a:lstStyle/>
          <a:p>
            <a:r>
              <a:rPr lang="nl-NL" sz="2000" b="1" dirty="0" smtClean="0">
                <a:solidFill>
                  <a:srgbClr val="FF0000"/>
                </a:solidFill>
              </a:rPr>
              <a:t>Nee, dit volgt niet!</a:t>
            </a:r>
            <a:endParaRPr lang="nl-NL" sz="2000" b="1" dirty="0">
              <a:solidFill>
                <a:srgbClr val="FF0000"/>
              </a:solidFill>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Introductieregel voor de negatie</a:t>
            </a:r>
            <a:endParaRPr lang="nl-NL" sz="3600" i="1" dirty="0"/>
          </a:p>
        </p:txBody>
      </p:sp>
      <p:sp>
        <p:nvSpPr>
          <p:cNvPr id="6" name="Content Placeholder 2"/>
          <p:cNvSpPr>
            <a:spLocks noGrp="1"/>
          </p:cNvSpPr>
          <p:nvPr>
            <p:ph idx="1"/>
          </p:nvPr>
        </p:nvSpPr>
        <p:spPr>
          <a:xfrm>
            <a:off x="323528" y="1639341"/>
            <a:ext cx="8229600" cy="4525963"/>
          </a:xfrm>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dirty="0" smtClean="0"/>
              <a:t>     </a:t>
            </a:r>
            <a:r>
              <a:rPr lang="nl-NL" sz="2400" dirty="0" err="1" smtClean="0"/>
              <a:t>Ass</a:t>
            </a:r>
            <a:r>
              <a:rPr lang="nl-NL" sz="2400" dirty="0" smtClean="0"/>
              <a:t>.</a:t>
            </a:r>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r>
              <a:rPr lang="nl-NL" sz="2400" b="1" dirty="0" smtClean="0"/>
              <a:t>∧</a:t>
            </a:r>
            <a:r>
              <a:rPr lang="nl-NL" sz="2400" b="1" i="1" dirty="0" smtClean="0"/>
              <a:t> </a:t>
            </a:r>
            <a:r>
              <a:rPr lang="nl-NL" sz="2400" b="1" dirty="0" smtClean="0"/>
              <a:t>¬</a:t>
            </a:r>
            <a:r>
              <a:rPr lang="el-GR" sz="2400" b="1" i="1" dirty="0" smtClean="0"/>
              <a:t>β</a:t>
            </a:r>
            <a:endParaRPr lang="nl-NL" sz="2400" dirty="0" smtClean="0"/>
          </a:p>
          <a:p>
            <a:pPr marL="514350" indent="-514350">
              <a:buNone/>
            </a:pPr>
            <a:r>
              <a:rPr lang="nl-NL" sz="2400" dirty="0" smtClean="0"/>
              <a:t>16. </a:t>
            </a:r>
            <a:r>
              <a:rPr lang="nl-NL" sz="2400" b="1" dirty="0" smtClean="0"/>
              <a:t>¬</a:t>
            </a:r>
            <a:r>
              <a:rPr lang="el-GR" sz="2400" b="1" i="1" dirty="0" smtClean="0"/>
              <a:t>α</a:t>
            </a:r>
            <a:r>
              <a:rPr lang="nl-NL" sz="2400" b="1" i="1" dirty="0" smtClean="0"/>
              <a:t>          </a:t>
            </a:r>
            <a:r>
              <a:rPr lang="nl-NL" sz="2400" dirty="0" smtClean="0"/>
              <a:t>I </a:t>
            </a:r>
            <a:r>
              <a:rPr lang="nl-NL" sz="2400" b="1" dirty="0" smtClean="0"/>
              <a:t>¬</a:t>
            </a:r>
            <a:r>
              <a:rPr lang="nl-NL" sz="2400" dirty="0" smtClean="0"/>
              <a:t> (10,15)</a:t>
            </a:r>
          </a:p>
          <a:p>
            <a:pPr marL="514350" indent="-514350">
              <a:buNone/>
            </a:pPr>
            <a:r>
              <a:rPr lang="nl-NL" sz="2400" dirty="0" smtClean="0"/>
              <a:t> </a:t>
            </a:r>
            <a:endParaRPr lang="nl-NL" sz="2400" baseline="-25000" dirty="0" smtClean="0"/>
          </a:p>
        </p:txBody>
      </p:sp>
      <p:cxnSp>
        <p:nvCxnSpPr>
          <p:cNvPr id="7" name="Straight Connector 6"/>
          <p:cNvCxnSpPr/>
          <p:nvPr/>
        </p:nvCxnSpPr>
        <p:spPr>
          <a:xfrm flipH="1">
            <a:off x="323528" y="3429000"/>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3528" y="3429000"/>
            <a:ext cx="0" cy="1728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23528"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1520" y="5949280"/>
            <a:ext cx="3096344" cy="400110"/>
          </a:xfrm>
          <a:prstGeom prst="rect">
            <a:avLst/>
          </a:prstGeom>
          <a:noFill/>
        </p:spPr>
        <p:txBody>
          <a:bodyPr wrap="square" rtlCol="0">
            <a:spAutoFit/>
          </a:bodyPr>
          <a:lstStyle/>
          <a:p>
            <a:r>
              <a:rPr lang="nl-NL" sz="2000" i="1" dirty="0" err="1" smtClean="0"/>
              <a:t>Reductio</a:t>
            </a:r>
            <a:r>
              <a:rPr lang="nl-NL" sz="2000" i="1" dirty="0" smtClean="0"/>
              <a:t> ad </a:t>
            </a:r>
            <a:r>
              <a:rPr lang="nl-NL" sz="2000" i="1" dirty="0" err="1" smtClean="0"/>
              <a:t>absurdum</a:t>
            </a:r>
            <a:endParaRPr lang="nl-NL" sz="2000" i="1" dirty="0"/>
          </a:p>
        </p:txBody>
      </p:sp>
      <p:sp>
        <p:nvSpPr>
          <p:cNvPr id="13" name="Content Placeholder 2"/>
          <p:cNvSpPr txBox="1">
            <a:spLocks/>
          </p:cNvSpPr>
          <p:nvPr/>
        </p:nvSpPr>
        <p:spPr>
          <a:xfrm>
            <a:off x="3831232" y="1639341"/>
            <a:ext cx="2973016" cy="2725763"/>
          </a:xfrm>
          <a:prstGeom prst="rect">
            <a:avLst/>
          </a:prstGeom>
        </p:spPr>
        <p:txBody>
          <a:bodyPr vert="horz" lIns="91440" tIns="45720" rIns="91440" bIns="45720" rtlCol="0">
            <a:normAutofit/>
          </a:bodyPr>
          <a:lstStyle/>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r>
              <a:rPr lang="nl-NL" sz="2400" b="1" dirty="0" smtClean="0">
                <a:solidFill>
                  <a:srgbClr val="0070C0"/>
                </a:solidFill>
              </a:rPr>
              <a:t>¬P   </a:t>
            </a:r>
            <a:r>
              <a:rPr lang="nl-NL" sz="2400" b="1" dirty="0" err="1" smtClean="0"/>
              <a:t>Ass</a:t>
            </a:r>
            <a:r>
              <a:rPr lang="nl-NL" sz="2400" b="1" dirty="0" smtClean="0"/>
              <a:t>.</a:t>
            </a:r>
            <a:endParaRPr kumimoji="0" lang="nl-NL" sz="2400" b="0" i="0" u="none" strike="noStrike" kern="1200" cap="none" spc="0" normalizeH="0" baseline="0" noProof="0" dirty="0" smtClean="0">
              <a:ln>
                <a:noFill/>
              </a:ln>
              <a:solidFill>
                <a:srgbClr val="0070C0"/>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kumimoji="0" lang="nl-NL" sz="2400" b="1" i="0" u="none" strike="noStrike" kern="1200" cap="none" spc="0" normalizeH="0" baseline="0" noProof="0" dirty="0" smtClean="0">
                <a:ln>
                  <a:noFill/>
                </a:ln>
                <a:solidFill>
                  <a:srgbClr val="0070C0"/>
                </a:solidFill>
                <a:effectLst/>
                <a:uLnTx/>
                <a:uFillTx/>
                <a:latin typeface="+mn-lt"/>
                <a:ea typeface="+mn-ea"/>
                <a:cs typeface="+mn-cs"/>
              </a:rPr>
              <a:t>Q </a:t>
            </a:r>
            <a:r>
              <a:rPr lang="nl-NL" sz="2400" b="1" dirty="0" smtClean="0">
                <a:solidFill>
                  <a:srgbClr val="0070C0"/>
                </a:solidFill>
              </a:rPr>
              <a:t>∧ ¬Q</a:t>
            </a:r>
            <a:r>
              <a:rPr lang="nl-NL" sz="2400" b="1" dirty="0" smtClean="0"/>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514350" lvl="0" indent="-514350">
              <a:spcBef>
                <a:spcPct val="20000"/>
              </a:spcBef>
            </a:pPr>
            <a:r>
              <a:rPr lang="nl-NL" sz="2400" dirty="0" smtClean="0"/>
              <a:t>11.</a:t>
            </a:r>
            <a:r>
              <a:rPr lang="nl-NL" sz="2400" dirty="0" smtClean="0">
                <a:solidFill>
                  <a:srgbClr val="FF0000"/>
                </a:solidFill>
              </a:rPr>
              <a:t> </a:t>
            </a:r>
            <a:r>
              <a:rPr lang="nl-NL" sz="2400" b="1" dirty="0" smtClean="0">
                <a:solidFill>
                  <a:srgbClr val="0070C0"/>
                </a:solidFill>
              </a:rPr>
              <a:t>¬¬P</a:t>
            </a:r>
            <a:r>
              <a:rPr lang="nl-NL" sz="2400" b="1" dirty="0" smtClean="0">
                <a:solidFill>
                  <a:srgbClr val="FF0000"/>
                </a:solidFill>
              </a:rPr>
              <a:t>    </a:t>
            </a:r>
            <a:r>
              <a:rPr lang="nl-NL" sz="2400" b="1" dirty="0" smtClean="0"/>
              <a:t>I ¬ (1,10) </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p:txBody>
      </p:sp>
      <p:cxnSp>
        <p:nvCxnSpPr>
          <p:cNvPr id="14" name="Straight Connector 13"/>
          <p:cNvCxnSpPr/>
          <p:nvPr/>
        </p:nvCxnSpPr>
        <p:spPr>
          <a:xfrm flipH="1">
            <a:off x="3779912" y="155679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79912" y="1556792"/>
            <a:ext cx="0" cy="23042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779912" y="3861048"/>
            <a:ext cx="1800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228184" y="2195572"/>
            <a:ext cx="2376264" cy="707886"/>
          </a:xfrm>
          <a:prstGeom prst="rect">
            <a:avLst/>
          </a:prstGeom>
          <a:noFill/>
        </p:spPr>
        <p:txBody>
          <a:bodyPr wrap="square" rtlCol="0">
            <a:spAutoFit/>
          </a:bodyPr>
          <a:lstStyle/>
          <a:p>
            <a:r>
              <a:rPr lang="nl-NL" sz="2000" dirty="0" smtClean="0"/>
              <a:t>Het enige wat volgt is dit…</a:t>
            </a:r>
            <a:endParaRPr lang="nl-NL" sz="20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Introductieregel voor de negatie</a:t>
            </a:r>
            <a:endParaRPr lang="nl-NL" sz="3600" i="1" dirty="0"/>
          </a:p>
        </p:txBody>
      </p:sp>
      <p:sp>
        <p:nvSpPr>
          <p:cNvPr id="6" name="Content Placeholder 2"/>
          <p:cNvSpPr>
            <a:spLocks noGrp="1"/>
          </p:cNvSpPr>
          <p:nvPr>
            <p:ph idx="1"/>
          </p:nvPr>
        </p:nvSpPr>
        <p:spPr>
          <a:xfrm>
            <a:off x="323528" y="1639341"/>
            <a:ext cx="8229600" cy="4525963"/>
          </a:xfrm>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dirty="0" smtClean="0"/>
              <a:t>     </a:t>
            </a:r>
            <a:r>
              <a:rPr lang="nl-NL" sz="2400" dirty="0" err="1" smtClean="0"/>
              <a:t>Ass</a:t>
            </a:r>
            <a:r>
              <a:rPr lang="nl-NL" sz="2400" dirty="0" smtClean="0"/>
              <a:t>.</a:t>
            </a:r>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r>
              <a:rPr lang="nl-NL" sz="2400" b="1" dirty="0" smtClean="0"/>
              <a:t>∧</a:t>
            </a:r>
            <a:r>
              <a:rPr lang="nl-NL" sz="2400" b="1" i="1" dirty="0" smtClean="0"/>
              <a:t> </a:t>
            </a:r>
            <a:r>
              <a:rPr lang="nl-NL" sz="2400" b="1" dirty="0" smtClean="0"/>
              <a:t>¬</a:t>
            </a:r>
            <a:r>
              <a:rPr lang="el-GR" sz="2400" b="1" i="1" dirty="0" smtClean="0"/>
              <a:t>β</a:t>
            </a:r>
            <a:endParaRPr lang="nl-NL" sz="2400" dirty="0" smtClean="0"/>
          </a:p>
          <a:p>
            <a:pPr marL="514350" indent="-514350">
              <a:buNone/>
            </a:pPr>
            <a:r>
              <a:rPr lang="nl-NL" sz="2400" dirty="0" smtClean="0"/>
              <a:t>16. </a:t>
            </a:r>
            <a:r>
              <a:rPr lang="nl-NL" sz="2400" b="1" dirty="0" smtClean="0"/>
              <a:t>¬</a:t>
            </a:r>
            <a:r>
              <a:rPr lang="el-GR" sz="2400" b="1" i="1" dirty="0" smtClean="0"/>
              <a:t>α</a:t>
            </a:r>
            <a:r>
              <a:rPr lang="nl-NL" sz="2400" b="1" i="1" dirty="0" smtClean="0"/>
              <a:t>          </a:t>
            </a:r>
            <a:r>
              <a:rPr lang="nl-NL" sz="2400" dirty="0" smtClean="0"/>
              <a:t>I </a:t>
            </a:r>
            <a:r>
              <a:rPr lang="nl-NL" sz="2400" b="1" dirty="0" smtClean="0"/>
              <a:t>¬</a:t>
            </a:r>
            <a:r>
              <a:rPr lang="nl-NL" sz="2400" dirty="0" smtClean="0"/>
              <a:t> (10,15)</a:t>
            </a:r>
          </a:p>
          <a:p>
            <a:pPr marL="514350" indent="-514350">
              <a:buNone/>
            </a:pPr>
            <a:r>
              <a:rPr lang="nl-NL" sz="2400" dirty="0" smtClean="0"/>
              <a:t> </a:t>
            </a:r>
            <a:endParaRPr lang="nl-NL" sz="2400" baseline="-25000" dirty="0" smtClean="0"/>
          </a:p>
        </p:txBody>
      </p:sp>
      <p:cxnSp>
        <p:nvCxnSpPr>
          <p:cNvPr id="7" name="Straight Connector 6"/>
          <p:cNvCxnSpPr/>
          <p:nvPr/>
        </p:nvCxnSpPr>
        <p:spPr>
          <a:xfrm flipH="1">
            <a:off x="323528" y="3429000"/>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3528" y="3429000"/>
            <a:ext cx="0" cy="1728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23528"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1520" y="5949280"/>
            <a:ext cx="3096344" cy="400110"/>
          </a:xfrm>
          <a:prstGeom prst="rect">
            <a:avLst/>
          </a:prstGeom>
          <a:noFill/>
        </p:spPr>
        <p:txBody>
          <a:bodyPr wrap="square" rtlCol="0">
            <a:spAutoFit/>
          </a:bodyPr>
          <a:lstStyle/>
          <a:p>
            <a:r>
              <a:rPr lang="nl-NL" sz="2000" i="1" dirty="0" err="1" smtClean="0"/>
              <a:t>Reductio</a:t>
            </a:r>
            <a:r>
              <a:rPr lang="nl-NL" sz="2000" i="1" dirty="0" smtClean="0"/>
              <a:t> ad </a:t>
            </a:r>
            <a:r>
              <a:rPr lang="nl-NL" sz="2000" i="1" dirty="0" err="1" smtClean="0"/>
              <a:t>absurdum</a:t>
            </a:r>
            <a:endParaRPr lang="nl-NL" sz="2000" i="1" dirty="0"/>
          </a:p>
        </p:txBody>
      </p:sp>
      <p:sp>
        <p:nvSpPr>
          <p:cNvPr id="13" name="Content Placeholder 2"/>
          <p:cNvSpPr txBox="1">
            <a:spLocks/>
          </p:cNvSpPr>
          <p:nvPr/>
        </p:nvSpPr>
        <p:spPr>
          <a:xfrm>
            <a:off x="3831232" y="1639341"/>
            <a:ext cx="2973016" cy="2725763"/>
          </a:xfrm>
          <a:prstGeom prst="rect">
            <a:avLst/>
          </a:prstGeom>
        </p:spPr>
        <p:txBody>
          <a:bodyPr vert="horz" lIns="91440" tIns="45720" rIns="91440" bIns="45720" rtlCol="0">
            <a:normAutofit/>
          </a:bodyPr>
          <a:lstStyle/>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r>
              <a:rPr lang="nl-NL" sz="2400" b="1" dirty="0" smtClean="0">
                <a:solidFill>
                  <a:srgbClr val="0070C0"/>
                </a:solidFill>
              </a:rPr>
              <a:t>¬P   </a:t>
            </a:r>
            <a:r>
              <a:rPr lang="nl-NL" sz="2400" b="1" dirty="0" err="1" smtClean="0"/>
              <a:t>Ass</a:t>
            </a:r>
            <a:r>
              <a:rPr lang="nl-NL" sz="2400" b="1" dirty="0" smtClean="0"/>
              <a:t>.</a:t>
            </a:r>
            <a:endParaRPr kumimoji="0" lang="nl-NL" sz="2400" b="0" i="0" u="none" strike="noStrike" kern="1200" cap="none" spc="0" normalizeH="0" baseline="0" noProof="0" dirty="0" smtClean="0">
              <a:ln>
                <a:noFill/>
              </a:ln>
              <a:solidFill>
                <a:srgbClr val="0070C0"/>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kumimoji="0" lang="nl-NL" sz="2400" b="1" i="0" u="none" strike="noStrike" kern="1200" cap="none" spc="0" normalizeH="0" baseline="0" noProof="0" dirty="0" smtClean="0">
                <a:ln>
                  <a:noFill/>
                </a:ln>
                <a:solidFill>
                  <a:srgbClr val="0070C0"/>
                </a:solidFill>
                <a:effectLst/>
                <a:uLnTx/>
                <a:uFillTx/>
                <a:latin typeface="+mn-lt"/>
                <a:ea typeface="+mn-ea"/>
                <a:cs typeface="+mn-cs"/>
              </a:rPr>
              <a:t>Q </a:t>
            </a:r>
            <a:r>
              <a:rPr lang="nl-NL" sz="2400" b="1" dirty="0" smtClean="0">
                <a:solidFill>
                  <a:srgbClr val="0070C0"/>
                </a:solidFill>
              </a:rPr>
              <a:t>∧ ¬Q</a:t>
            </a:r>
            <a:r>
              <a:rPr lang="nl-NL" sz="2400" b="1" dirty="0" smtClean="0"/>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514350" lvl="0" indent="-514350">
              <a:spcBef>
                <a:spcPct val="20000"/>
              </a:spcBef>
            </a:pPr>
            <a:r>
              <a:rPr lang="nl-NL" sz="2400" dirty="0" smtClean="0"/>
              <a:t>11.</a:t>
            </a:r>
            <a:r>
              <a:rPr lang="nl-NL" sz="2400" dirty="0" smtClean="0">
                <a:solidFill>
                  <a:srgbClr val="FF0000"/>
                </a:solidFill>
              </a:rPr>
              <a:t> </a:t>
            </a:r>
            <a:r>
              <a:rPr lang="nl-NL" sz="2400" b="1" dirty="0" smtClean="0">
                <a:solidFill>
                  <a:srgbClr val="0070C0"/>
                </a:solidFill>
              </a:rPr>
              <a:t>P</a:t>
            </a:r>
            <a:r>
              <a:rPr lang="nl-NL" sz="2400" b="1" dirty="0" smtClean="0">
                <a:solidFill>
                  <a:srgbClr val="FF0000"/>
                </a:solidFill>
              </a:rPr>
              <a:t>     </a:t>
            </a:r>
            <a:r>
              <a:rPr lang="nl-NL" sz="2400" b="1" dirty="0" smtClean="0"/>
              <a:t> </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p:txBody>
      </p:sp>
      <p:cxnSp>
        <p:nvCxnSpPr>
          <p:cNvPr id="14" name="Straight Connector 13"/>
          <p:cNvCxnSpPr/>
          <p:nvPr/>
        </p:nvCxnSpPr>
        <p:spPr>
          <a:xfrm flipH="1">
            <a:off x="3779912" y="1556792"/>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779912" y="1556792"/>
            <a:ext cx="0" cy="23042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779912" y="3861048"/>
            <a:ext cx="1800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5796136" y="1483037"/>
            <a:ext cx="3347864" cy="3170099"/>
          </a:xfrm>
          <a:prstGeom prst="rect">
            <a:avLst/>
          </a:prstGeom>
          <a:noFill/>
        </p:spPr>
        <p:txBody>
          <a:bodyPr wrap="square" rtlCol="0">
            <a:spAutoFit/>
          </a:bodyPr>
          <a:lstStyle/>
          <a:p>
            <a:r>
              <a:rPr lang="nl-NL" sz="2000" dirty="0" smtClean="0"/>
              <a:t>Toch willen we deze </a:t>
            </a:r>
            <a:r>
              <a:rPr lang="nl-NL" sz="2000" dirty="0" err="1" smtClean="0"/>
              <a:t>plausible</a:t>
            </a:r>
            <a:r>
              <a:rPr lang="nl-NL" sz="2000" dirty="0" smtClean="0"/>
              <a:t> redeneervorm graag opnemen in het systeem van natuurlijke deductie.  Zij kan echter niet worden afgeleid met behulp van alle tot dusver ingevoerde regels! Wellicht daarom als aanvullende afleidingsregel expliciet toevoegen aan het systeem? </a:t>
            </a:r>
            <a:endParaRPr lang="nl-NL" sz="2000" b="1" dirty="0">
              <a:solidFill>
                <a:srgbClr val="FF000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i="1" dirty="0" smtClean="0"/>
              <a:t>Zwakke</a:t>
            </a:r>
            <a:r>
              <a:rPr lang="nl-NL" sz="3600" dirty="0" smtClean="0"/>
              <a:t> en </a:t>
            </a:r>
            <a:r>
              <a:rPr lang="nl-NL" sz="3600" i="1" dirty="0" smtClean="0"/>
              <a:t>sterke</a:t>
            </a:r>
            <a:r>
              <a:rPr lang="nl-NL" sz="3600" dirty="0" smtClean="0"/>
              <a:t> </a:t>
            </a:r>
            <a:r>
              <a:rPr lang="nl-NL" sz="3600" dirty="0" err="1" smtClean="0"/>
              <a:t>reductio</a:t>
            </a:r>
            <a:r>
              <a:rPr lang="nl-NL" sz="3600" dirty="0" smtClean="0"/>
              <a:t> ad </a:t>
            </a:r>
            <a:r>
              <a:rPr lang="nl-NL" sz="3600" dirty="0" err="1" smtClean="0"/>
              <a:t>absurdum</a:t>
            </a:r>
            <a:endParaRPr lang="nl-NL" sz="3600" i="1" dirty="0"/>
          </a:p>
        </p:txBody>
      </p:sp>
      <p:sp>
        <p:nvSpPr>
          <p:cNvPr id="6" name="Content Placeholder 2"/>
          <p:cNvSpPr>
            <a:spLocks noGrp="1"/>
          </p:cNvSpPr>
          <p:nvPr>
            <p:ph idx="1"/>
          </p:nvPr>
        </p:nvSpPr>
        <p:spPr>
          <a:xfrm>
            <a:off x="323528" y="1639341"/>
            <a:ext cx="8229600" cy="4525963"/>
          </a:xfrm>
        </p:spPr>
        <p:txBody>
          <a:bodyPr>
            <a:normAutofit/>
          </a:bodyPr>
          <a:lstStyle/>
          <a:p>
            <a:pPr marL="514350" indent="-514350">
              <a:buNone/>
            </a:pPr>
            <a:r>
              <a:rPr lang="nl-NL" sz="2400" dirty="0" smtClean="0"/>
              <a:t>1. …</a:t>
            </a:r>
          </a:p>
          <a:p>
            <a:pPr marL="514350" indent="-514350">
              <a:buNone/>
            </a:pPr>
            <a:r>
              <a:rPr lang="nl-NL" sz="2400" dirty="0" smtClean="0"/>
              <a:t>2. …</a:t>
            </a:r>
          </a:p>
          <a:p>
            <a:pPr marL="514350" indent="-514350">
              <a:buNone/>
            </a:pPr>
            <a:r>
              <a:rPr lang="nl-NL" sz="2400" dirty="0" smtClean="0"/>
              <a:t>3. …</a:t>
            </a:r>
          </a:p>
          <a:p>
            <a:pPr marL="514350" indent="-514350">
              <a:buNone/>
            </a:pPr>
            <a:r>
              <a:rPr lang="nl-NL" sz="2400" dirty="0" smtClean="0"/>
              <a:t>…</a:t>
            </a:r>
          </a:p>
          <a:p>
            <a:pPr marL="514350" indent="-514350">
              <a:buNone/>
            </a:pPr>
            <a:r>
              <a:rPr lang="nl-NL" sz="2400" dirty="0" smtClean="0"/>
              <a:t>10. </a:t>
            </a:r>
            <a:r>
              <a:rPr lang="el-GR" sz="2400" b="1" i="1" dirty="0" smtClean="0"/>
              <a:t>α</a:t>
            </a:r>
            <a:r>
              <a:rPr lang="nl-NL" sz="2400" b="1" i="1" baseline="-25000" dirty="0" smtClean="0"/>
              <a:t> </a:t>
            </a:r>
            <a:r>
              <a:rPr lang="nl-NL" sz="2400" dirty="0" smtClean="0"/>
              <a:t>     </a:t>
            </a:r>
            <a:r>
              <a:rPr lang="nl-NL" sz="2400" dirty="0" err="1" smtClean="0"/>
              <a:t>Ass</a:t>
            </a:r>
            <a:r>
              <a:rPr lang="nl-NL" sz="2400" dirty="0" smtClean="0"/>
              <a:t>.</a:t>
            </a:r>
          </a:p>
          <a:p>
            <a:pPr marL="514350" indent="-514350">
              <a:buNone/>
            </a:pPr>
            <a:r>
              <a:rPr lang="nl-NL" sz="2400" dirty="0" smtClean="0"/>
              <a:t>11. …</a:t>
            </a:r>
          </a:p>
          <a:p>
            <a:pPr marL="514350" indent="-514350">
              <a:buNone/>
            </a:pPr>
            <a:r>
              <a:rPr lang="nl-NL" sz="2400" dirty="0" smtClean="0"/>
              <a:t>…</a:t>
            </a:r>
          </a:p>
          <a:p>
            <a:pPr marL="514350" indent="-514350">
              <a:buNone/>
            </a:pPr>
            <a:r>
              <a:rPr lang="nl-NL" sz="2400" dirty="0" smtClean="0"/>
              <a:t>15. </a:t>
            </a:r>
            <a:r>
              <a:rPr lang="el-GR" sz="2400" b="1" i="1" dirty="0" smtClean="0"/>
              <a:t>β </a:t>
            </a:r>
            <a:r>
              <a:rPr lang="nl-NL" sz="2400" b="1" dirty="0" smtClean="0"/>
              <a:t>∧</a:t>
            </a:r>
            <a:r>
              <a:rPr lang="nl-NL" sz="2400" b="1" i="1" dirty="0" smtClean="0"/>
              <a:t> </a:t>
            </a:r>
            <a:r>
              <a:rPr lang="nl-NL" sz="2400" b="1" dirty="0" smtClean="0"/>
              <a:t>¬</a:t>
            </a:r>
            <a:r>
              <a:rPr lang="el-GR" sz="2400" b="1" i="1" dirty="0" smtClean="0"/>
              <a:t>β</a:t>
            </a:r>
            <a:endParaRPr lang="nl-NL" sz="2400" dirty="0" smtClean="0"/>
          </a:p>
          <a:p>
            <a:pPr marL="514350" indent="-514350">
              <a:buNone/>
            </a:pPr>
            <a:r>
              <a:rPr lang="nl-NL" sz="2400" dirty="0" smtClean="0"/>
              <a:t>16. </a:t>
            </a:r>
            <a:r>
              <a:rPr lang="nl-NL" sz="2400" b="1" dirty="0" smtClean="0"/>
              <a:t>¬</a:t>
            </a:r>
            <a:r>
              <a:rPr lang="el-GR" sz="2400" b="1" i="1" dirty="0" smtClean="0"/>
              <a:t>α</a:t>
            </a:r>
            <a:r>
              <a:rPr lang="nl-NL" sz="2400" b="1" i="1" dirty="0" smtClean="0"/>
              <a:t>         </a:t>
            </a:r>
            <a:r>
              <a:rPr lang="nl-NL" sz="2400" dirty="0" smtClean="0"/>
              <a:t>I </a:t>
            </a:r>
            <a:r>
              <a:rPr lang="nl-NL" sz="2400" b="1" dirty="0" smtClean="0"/>
              <a:t>¬</a:t>
            </a:r>
            <a:r>
              <a:rPr lang="nl-NL" sz="2400" dirty="0" smtClean="0"/>
              <a:t> (10,15)</a:t>
            </a:r>
            <a:r>
              <a:rPr lang="nl-NL" sz="2400" b="1" i="1" dirty="0" smtClean="0"/>
              <a:t>          </a:t>
            </a:r>
            <a:endParaRPr lang="nl-NL" sz="2400" dirty="0" smtClean="0"/>
          </a:p>
          <a:p>
            <a:pPr marL="514350" indent="-514350">
              <a:buNone/>
            </a:pPr>
            <a:r>
              <a:rPr lang="nl-NL" sz="2400" dirty="0" smtClean="0"/>
              <a:t> </a:t>
            </a:r>
            <a:endParaRPr lang="nl-NL" sz="2400" baseline="-25000" dirty="0" smtClean="0"/>
          </a:p>
        </p:txBody>
      </p:sp>
      <p:cxnSp>
        <p:nvCxnSpPr>
          <p:cNvPr id="7" name="Straight Connector 6"/>
          <p:cNvCxnSpPr/>
          <p:nvPr/>
        </p:nvCxnSpPr>
        <p:spPr>
          <a:xfrm flipH="1">
            <a:off x="323528" y="3429000"/>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3528" y="3429000"/>
            <a:ext cx="0" cy="1728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23528"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1520" y="5949280"/>
            <a:ext cx="3672408" cy="707886"/>
          </a:xfrm>
          <a:prstGeom prst="rect">
            <a:avLst/>
          </a:prstGeom>
          <a:noFill/>
        </p:spPr>
        <p:txBody>
          <a:bodyPr wrap="square" rtlCol="0">
            <a:spAutoFit/>
          </a:bodyPr>
          <a:lstStyle/>
          <a:p>
            <a:r>
              <a:rPr lang="nl-NL" sz="2000" b="1" i="1" dirty="0" smtClean="0"/>
              <a:t>Zwakke</a:t>
            </a:r>
            <a:r>
              <a:rPr lang="nl-NL" sz="2000" i="1" dirty="0" smtClean="0"/>
              <a:t> </a:t>
            </a:r>
            <a:r>
              <a:rPr lang="nl-NL" sz="2000" i="1" dirty="0" err="1" smtClean="0"/>
              <a:t>reductio</a:t>
            </a:r>
            <a:r>
              <a:rPr lang="nl-NL" sz="2000" i="1" dirty="0" smtClean="0"/>
              <a:t> ad </a:t>
            </a:r>
            <a:r>
              <a:rPr lang="nl-NL" sz="2000" i="1" dirty="0" err="1" smtClean="0"/>
              <a:t>absurdum</a:t>
            </a:r>
            <a:endParaRPr lang="nl-NL" sz="2000" i="1" dirty="0" smtClean="0"/>
          </a:p>
          <a:p>
            <a:r>
              <a:rPr lang="nl-NL" sz="2000" i="1" dirty="0" smtClean="0"/>
              <a:t>(Introductieregel voor de negatie)</a:t>
            </a:r>
            <a:endParaRPr lang="nl-NL" sz="2000" i="1" dirty="0"/>
          </a:p>
        </p:txBody>
      </p:sp>
      <p:sp>
        <p:nvSpPr>
          <p:cNvPr id="16" name="Content Placeholder 2"/>
          <p:cNvSpPr txBox="1">
            <a:spLocks/>
          </p:cNvSpPr>
          <p:nvPr/>
        </p:nvSpPr>
        <p:spPr>
          <a:xfrm>
            <a:off x="4716016" y="1639341"/>
            <a:ext cx="8229600" cy="4525963"/>
          </a:xfrm>
          <a:prstGeom prst="rect">
            <a:avLst/>
          </a:prstGeom>
        </p:spPr>
        <p:txBody>
          <a:bodyPr vert="horz" lIns="91440" tIns="45720" rIns="91440" bIns="45720" rtlCol="0">
            <a:normAutofit/>
          </a:bodyPr>
          <a:lstStyle/>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2.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3.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lvl="0" indent="-51435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10. </a:t>
            </a:r>
            <a:r>
              <a:rPr lang="nl-NL" sz="2400" b="1" dirty="0" smtClean="0"/>
              <a:t>¬</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Ass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11. …</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a:t>
            </a: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15.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16.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400" b="0" i="0" u="none" strike="noStrike" kern="1200" cap="none" spc="0" normalizeH="0" baseline="-25000" noProof="0" dirty="0" smtClean="0">
              <a:ln>
                <a:noFill/>
              </a:ln>
              <a:solidFill>
                <a:schemeClr val="tx1"/>
              </a:solidFill>
              <a:effectLst/>
              <a:uLnTx/>
              <a:uFillTx/>
              <a:latin typeface="+mn-lt"/>
              <a:ea typeface="+mn-ea"/>
              <a:cs typeface="+mn-cs"/>
            </a:endParaRPr>
          </a:p>
        </p:txBody>
      </p:sp>
      <p:cxnSp>
        <p:nvCxnSpPr>
          <p:cNvPr id="18" name="Straight Connector 17"/>
          <p:cNvCxnSpPr/>
          <p:nvPr/>
        </p:nvCxnSpPr>
        <p:spPr>
          <a:xfrm flipH="1">
            <a:off x="4716016" y="3429000"/>
            <a:ext cx="7920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716016" y="3429000"/>
            <a:ext cx="0" cy="172819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4716016" y="5157192"/>
            <a:ext cx="266429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4644008" y="5949280"/>
            <a:ext cx="3528392" cy="400110"/>
          </a:xfrm>
          <a:prstGeom prst="rect">
            <a:avLst/>
          </a:prstGeom>
          <a:noFill/>
        </p:spPr>
        <p:txBody>
          <a:bodyPr wrap="square" rtlCol="0">
            <a:spAutoFit/>
          </a:bodyPr>
          <a:lstStyle/>
          <a:p>
            <a:r>
              <a:rPr lang="nl-NL" sz="2000" b="1" i="1" dirty="0" smtClean="0"/>
              <a:t>Sterke</a:t>
            </a:r>
            <a:r>
              <a:rPr lang="nl-NL" sz="2000" i="1" dirty="0" smtClean="0"/>
              <a:t> </a:t>
            </a:r>
            <a:r>
              <a:rPr lang="nl-NL" sz="2000" i="1" dirty="0" err="1" smtClean="0"/>
              <a:t>reductio</a:t>
            </a:r>
            <a:r>
              <a:rPr lang="nl-NL" sz="2000" i="1" dirty="0" smtClean="0"/>
              <a:t> ad </a:t>
            </a:r>
            <a:r>
              <a:rPr lang="nl-NL" sz="2000" i="1" dirty="0" err="1" smtClean="0"/>
              <a:t>absurdum</a:t>
            </a:r>
            <a:endParaRPr lang="nl-NL" sz="2000" i="1"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i="1" dirty="0" smtClean="0"/>
              <a:t>Sterke </a:t>
            </a:r>
            <a:r>
              <a:rPr lang="nl-NL" sz="3600" i="1" dirty="0" err="1" smtClean="0"/>
              <a:t>reductio</a:t>
            </a:r>
            <a:r>
              <a:rPr lang="nl-NL" sz="3600" i="1" dirty="0" smtClean="0"/>
              <a:t> </a:t>
            </a:r>
            <a:r>
              <a:rPr lang="nl-NL" sz="3600" dirty="0" smtClean="0"/>
              <a:t>is logisch equivalent met </a:t>
            </a:r>
            <a:r>
              <a:rPr lang="nl-NL" sz="3600" i="1" dirty="0" smtClean="0"/>
              <a:t>de   regel voor de eliminatie van dubbele negatie</a:t>
            </a:r>
            <a:endParaRPr lang="nl-NL" sz="3600" i="1" dirty="0"/>
          </a:p>
        </p:txBody>
      </p:sp>
      <p:sp>
        <p:nvSpPr>
          <p:cNvPr id="4" name="TextBox 3"/>
          <p:cNvSpPr txBox="1"/>
          <p:nvPr/>
        </p:nvSpPr>
        <p:spPr>
          <a:xfrm>
            <a:off x="395536" y="4082296"/>
            <a:ext cx="3672408" cy="1938992"/>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r>
              <a:rPr lang="nl-NL" sz="2400" b="1" dirty="0" smtClean="0">
                <a:solidFill>
                  <a:srgbClr val="0070C0"/>
                </a:solidFill>
              </a:rPr>
              <a:t>…</a:t>
            </a:r>
            <a:endParaRPr lang="nl-NL" sz="2400" b="1" dirty="0" smtClean="0"/>
          </a:p>
          <a:p>
            <a:pPr marL="342900" indent="-342900"/>
            <a:r>
              <a:rPr lang="nl-NL" sz="2400" b="1" dirty="0" smtClean="0">
                <a:solidFill>
                  <a:srgbClr val="0070C0"/>
                </a:solidFill>
              </a:rPr>
              <a:t>5. Q ∧</a:t>
            </a:r>
            <a:r>
              <a:rPr lang="nl-NL" sz="2400" b="1" dirty="0" smtClean="0"/>
              <a:t> </a:t>
            </a:r>
            <a:r>
              <a:rPr lang="nl-NL" sz="2400" b="1" dirty="0" smtClean="0">
                <a:solidFill>
                  <a:srgbClr val="0070C0"/>
                </a:solidFill>
              </a:rPr>
              <a:t>¬Q</a:t>
            </a:r>
            <a:endParaRPr lang="nl-NL" sz="2400" b="1" dirty="0" smtClean="0"/>
          </a:p>
          <a:p>
            <a:pPr marL="342900" indent="-342900"/>
            <a:r>
              <a:rPr lang="nl-NL" sz="2400" b="1" dirty="0" smtClean="0">
                <a:solidFill>
                  <a:srgbClr val="0070C0"/>
                </a:solidFill>
              </a:rPr>
              <a:t>6. ¬¬P         </a:t>
            </a:r>
            <a:r>
              <a:rPr lang="nl-NL" sz="2400" b="1" dirty="0" smtClean="0"/>
              <a:t>I ¬ (1,5)</a:t>
            </a:r>
            <a:r>
              <a:rPr lang="nl-NL" sz="2400" b="1" dirty="0" smtClean="0">
                <a:solidFill>
                  <a:srgbClr val="0070C0"/>
                </a:solidFill>
              </a:rPr>
              <a:t> </a:t>
            </a:r>
            <a:endParaRPr lang="nl-NL" sz="2400" b="1" dirty="0" smtClean="0"/>
          </a:p>
          <a:p>
            <a:pPr marL="342900" indent="-342900"/>
            <a:r>
              <a:rPr lang="nl-NL" sz="2400" b="1" dirty="0" smtClean="0">
                <a:solidFill>
                  <a:srgbClr val="0070C0"/>
                </a:solidFill>
              </a:rPr>
              <a:t>7. P             </a:t>
            </a:r>
            <a:r>
              <a:rPr lang="nl-NL" sz="2400" b="1" dirty="0" err="1" smtClean="0"/>
              <a:t>Elim</a:t>
            </a:r>
            <a:r>
              <a:rPr lang="nl-NL" sz="2400" b="1" dirty="0" smtClean="0"/>
              <a:t>¬¬(6)</a:t>
            </a:r>
          </a:p>
        </p:txBody>
      </p:sp>
      <p:sp>
        <p:nvSpPr>
          <p:cNvPr id="12" name="TextBox 11"/>
          <p:cNvSpPr txBox="1"/>
          <p:nvPr/>
        </p:nvSpPr>
        <p:spPr>
          <a:xfrm>
            <a:off x="144016" y="3068960"/>
            <a:ext cx="4211960" cy="646331"/>
          </a:xfrm>
          <a:prstGeom prst="rect">
            <a:avLst/>
          </a:prstGeom>
          <a:noFill/>
        </p:spPr>
        <p:txBody>
          <a:bodyPr wrap="square" rtlCol="0">
            <a:spAutoFit/>
          </a:bodyPr>
          <a:lstStyle/>
          <a:p>
            <a:r>
              <a:rPr lang="nl-NL" i="1" dirty="0" smtClean="0"/>
              <a:t>Sterke </a:t>
            </a:r>
            <a:r>
              <a:rPr lang="nl-NL" i="1" dirty="0" err="1" smtClean="0"/>
              <a:t>reductio</a:t>
            </a:r>
            <a:r>
              <a:rPr lang="nl-NL" i="1" dirty="0" smtClean="0"/>
              <a:t> kan worden afgeleid uit de regel voor eliminatie van dubbele negatie</a:t>
            </a:r>
            <a:endParaRPr lang="nl-NL" i="1" dirty="0"/>
          </a:p>
        </p:txBody>
      </p:sp>
      <p:sp>
        <p:nvSpPr>
          <p:cNvPr id="13" name="TextBox 12"/>
          <p:cNvSpPr txBox="1"/>
          <p:nvPr/>
        </p:nvSpPr>
        <p:spPr>
          <a:xfrm>
            <a:off x="4536504" y="3068960"/>
            <a:ext cx="4499992" cy="646331"/>
          </a:xfrm>
          <a:prstGeom prst="rect">
            <a:avLst/>
          </a:prstGeom>
          <a:noFill/>
        </p:spPr>
        <p:txBody>
          <a:bodyPr wrap="square" rtlCol="0">
            <a:spAutoFit/>
          </a:bodyPr>
          <a:lstStyle/>
          <a:p>
            <a:r>
              <a:rPr lang="nl-NL" i="1" dirty="0" smtClean="0"/>
              <a:t>De regel voor eliminatie van dubbele negatie kan worden afgeleid uit sterke </a:t>
            </a:r>
            <a:r>
              <a:rPr lang="nl-NL" i="1" dirty="0" err="1" smtClean="0"/>
              <a:t>reductio</a:t>
            </a:r>
            <a:endParaRPr lang="nl-NL" i="1" dirty="0"/>
          </a:p>
        </p:txBody>
      </p:sp>
      <p:sp>
        <p:nvSpPr>
          <p:cNvPr id="14" name="TextBox 13"/>
          <p:cNvSpPr txBox="1"/>
          <p:nvPr/>
        </p:nvSpPr>
        <p:spPr>
          <a:xfrm>
            <a:off x="4427984" y="4010288"/>
            <a:ext cx="5004048" cy="1569660"/>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smtClean="0"/>
              <a:t>Prem.</a:t>
            </a:r>
            <a:r>
              <a:rPr lang="nl-NL" sz="2400" b="1" dirty="0" smtClean="0">
                <a:solidFill>
                  <a:srgbClr val="0070C0"/>
                </a:solidFill>
              </a:rPr>
              <a:t>             </a:t>
            </a:r>
            <a:endParaRPr lang="nl-NL" sz="2400" b="1" dirty="0" smtClean="0"/>
          </a:p>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buFontTx/>
              <a:buAutoNum type="arabicPeriod"/>
            </a:pPr>
            <a:r>
              <a:rPr lang="nl-NL" sz="2400" b="1" dirty="0" smtClean="0">
                <a:solidFill>
                  <a:srgbClr val="0070C0"/>
                </a:solidFill>
              </a:rPr>
              <a:t>¬¬P ∧ ¬P  	   </a:t>
            </a:r>
            <a:r>
              <a:rPr lang="nl-NL" sz="2400" b="1" dirty="0" smtClean="0"/>
              <a:t>I ∧ (1,2)</a:t>
            </a:r>
          </a:p>
          <a:p>
            <a:pPr marL="342900" indent="-342900">
              <a:buFontTx/>
              <a:buAutoNum type="arabicPeriod"/>
            </a:pPr>
            <a:r>
              <a:rPr lang="nl-NL" sz="2400" b="1" dirty="0" smtClean="0">
                <a:solidFill>
                  <a:srgbClr val="0070C0"/>
                </a:solidFill>
              </a:rPr>
              <a:t>P                      </a:t>
            </a:r>
            <a:r>
              <a:rPr lang="nl-NL" sz="2400" b="1" dirty="0" smtClean="0"/>
              <a:t>Sterke </a:t>
            </a:r>
            <a:r>
              <a:rPr lang="nl-NL" sz="2400" b="1" dirty="0" err="1" smtClean="0"/>
              <a:t>Reductio</a:t>
            </a:r>
            <a:r>
              <a:rPr lang="nl-NL" sz="2400" b="1" dirty="0" smtClean="0"/>
              <a:t>(2,3)</a:t>
            </a:r>
          </a:p>
        </p:txBody>
      </p:sp>
      <p:cxnSp>
        <p:nvCxnSpPr>
          <p:cNvPr id="15" name="Straight Connector 14"/>
          <p:cNvCxnSpPr/>
          <p:nvPr/>
        </p:nvCxnSpPr>
        <p:spPr>
          <a:xfrm flipH="1">
            <a:off x="395536" y="4077072"/>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95536" y="4082296"/>
            <a:ext cx="0" cy="11469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79512" y="1979548"/>
            <a:ext cx="8640960" cy="769441"/>
          </a:xfrm>
          <a:prstGeom prst="rect">
            <a:avLst/>
          </a:prstGeom>
          <a:noFill/>
        </p:spPr>
        <p:txBody>
          <a:bodyPr wrap="square" rtlCol="0">
            <a:spAutoFit/>
          </a:bodyPr>
          <a:lstStyle/>
          <a:p>
            <a:r>
              <a:rPr lang="nl-NL" sz="2200" dirty="0" smtClean="0"/>
              <a:t>Volgens </a:t>
            </a:r>
            <a:r>
              <a:rPr lang="nl-NL" sz="2200" u="sng" dirty="0" smtClean="0"/>
              <a:t>de regel voor eliminatie van dubbele negatie</a:t>
            </a:r>
            <a:r>
              <a:rPr lang="nl-NL" sz="2200" dirty="0" smtClean="0"/>
              <a:t> mag uit </a:t>
            </a:r>
            <a:r>
              <a:rPr lang="nl-NL" sz="2200" b="1" dirty="0" smtClean="0"/>
              <a:t>¬¬</a:t>
            </a:r>
            <a:r>
              <a:rPr lang="el-GR" sz="2200" b="1" i="1" dirty="0" smtClean="0"/>
              <a:t>α </a:t>
            </a:r>
            <a:r>
              <a:rPr lang="nl-NL" sz="2200" b="1" i="1" dirty="0" smtClean="0"/>
              <a:t> </a:t>
            </a:r>
            <a:r>
              <a:rPr lang="nl-NL" sz="2200" dirty="0" smtClean="0"/>
              <a:t>besloten worden tot </a:t>
            </a:r>
            <a:r>
              <a:rPr lang="el-GR" sz="2200" b="1" i="1" dirty="0" smtClean="0"/>
              <a:t>α</a:t>
            </a:r>
            <a:r>
              <a:rPr lang="nl-NL" sz="2200" dirty="0" smtClean="0"/>
              <a:t>. Dus: </a:t>
            </a:r>
            <a:r>
              <a:rPr lang="nl-NL" sz="2200" b="1" dirty="0" smtClean="0"/>
              <a:t>¬¬</a:t>
            </a:r>
            <a:r>
              <a:rPr lang="el-GR" sz="2200" b="1" i="1" dirty="0" smtClean="0"/>
              <a:t>α</a:t>
            </a:r>
            <a:r>
              <a:rPr lang="nl-NL" sz="2200" b="1" i="1" dirty="0" smtClean="0"/>
              <a:t> </a:t>
            </a:r>
            <a:r>
              <a:rPr lang="nl-NL" sz="2200" b="1" dirty="0" smtClean="0"/>
              <a:t>Ⱶ </a:t>
            </a:r>
            <a:r>
              <a:rPr lang="el-GR" sz="2200" b="1" i="1" dirty="0" smtClean="0"/>
              <a:t>α</a:t>
            </a:r>
            <a:r>
              <a:rPr lang="nl-NL" sz="2200" b="1" i="1" dirty="0" smtClean="0"/>
              <a:t>. </a:t>
            </a:r>
            <a:r>
              <a:rPr lang="nl-NL" sz="2200" dirty="0" smtClean="0"/>
              <a:t>We noteren deze regel als</a:t>
            </a:r>
            <a:r>
              <a:rPr lang="nl-NL" sz="2200" b="1" i="1" dirty="0" smtClean="0"/>
              <a:t> </a:t>
            </a:r>
            <a:r>
              <a:rPr lang="nl-NL" sz="2200" b="1" dirty="0" err="1" smtClean="0"/>
              <a:t>Elim</a:t>
            </a:r>
            <a:r>
              <a:rPr lang="nl-NL" sz="2000" b="1" dirty="0" smtClean="0"/>
              <a:t>¬¬</a:t>
            </a:r>
            <a:endParaRPr lang="nl-NL" sz="2200" dirty="0"/>
          </a:p>
        </p:txBody>
      </p:sp>
      <p:cxnSp>
        <p:nvCxnSpPr>
          <p:cNvPr id="21" name="Straight Connector 20"/>
          <p:cNvCxnSpPr/>
          <p:nvPr/>
        </p:nvCxnSpPr>
        <p:spPr>
          <a:xfrm flipH="1">
            <a:off x="395536" y="5234424"/>
            <a:ext cx="24482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4355976" y="4442336"/>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355976" y="4442336"/>
            <a:ext cx="0" cy="7520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4355976" y="5157192"/>
            <a:ext cx="2088232" cy="522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20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20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2000"/>
                                        <p:tgtEl>
                                          <p:spTgt spid="15"/>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20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20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2000"/>
                                        <p:tgtEl>
                                          <p:spTgt spid="1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000"/>
                                        <p:tgtEl>
                                          <p:spTgt spid="14"/>
                                        </p:tgtEl>
                                      </p:cBhvr>
                                    </p:animEffect>
                                  </p:childTnLst>
                                </p:cTn>
                              </p:par>
                              <p:par>
                                <p:cTn id="33" presetID="10"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2000"/>
                                        <p:tgtEl>
                                          <p:spTgt spid="36"/>
                                        </p:tgtEl>
                                      </p:cBhvr>
                                    </p:animEffect>
                                  </p:childTnLst>
                                </p:cTn>
                              </p:par>
                              <p:par>
                                <p:cTn id="36" presetID="10" presetClass="entr" presetSubtype="0" fill="hold"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20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9"/>
                                        </p:tgtEl>
                                        <p:attrNameLst>
                                          <p:attrName>style.visibility</p:attrName>
                                        </p:attrNameLst>
                                      </p:cBhvr>
                                      <p:to>
                                        <p:strVal val="visible"/>
                                      </p:to>
                                    </p:set>
                                    <p:animEffect transition="in" filter="fade">
                                      <p:cBhvr>
                                        <p:cTn id="41" dur="2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P spid="14" grpId="0"/>
      <p:bldP spid="19" grpId="0" build="allAtOnce"/>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i="1" dirty="0" smtClean="0"/>
              <a:t>Sterke </a:t>
            </a:r>
            <a:r>
              <a:rPr lang="nl-NL" sz="3600" i="1" dirty="0" err="1" smtClean="0"/>
              <a:t>reductio</a:t>
            </a:r>
            <a:r>
              <a:rPr lang="nl-NL" sz="3600" i="1" dirty="0" smtClean="0"/>
              <a:t> </a:t>
            </a:r>
            <a:r>
              <a:rPr lang="nl-NL" sz="3600" dirty="0" smtClean="0"/>
              <a:t>is in feite </a:t>
            </a:r>
            <a:r>
              <a:rPr lang="nl-NL" sz="3600" i="1" dirty="0" smtClean="0"/>
              <a:t>zwakke </a:t>
            </a:r>
            <a:r>
              <a:rPr lang="nl-NL" sz="3600" i="1" dirty="0" err="1" smtClean="0"/>
              <a:t>reductio</a:t>
            </a:r>
            <a:r>
              <a:rPr lang="nl-NL" sz="3600" i="1" dirty="0" smtClean="0"/>
              <a:t> </a:t>
            </a:r>
            <a:r>
              <a:rPr lang="nl-NL" sz="3600" dirty="0" smtClean="0"/>
              <a:t>plus </a:t>
            </a:r>
            <a:r>
              <a:rPr lang="nl-NL" sz="3600" i="1" dirty="0" smtClean="0"/>
              <a:t>de regel voor de eliminatie van dubbele negatie</a:t>
            </a:r>
            <a:endParaRPr lang="nl-NL" sz="3600" i="1" dirty="0"/>
          </a:p>
        </p:txBody>
      </p:sp>
      <p:sp>
        <p:nvSpPr>
          <p:cNvPr id="4" name="TextBox 3"/>
          <p:cNvSpPr txBox="1"/>
          <p:nvPr/>
        </p:nvSpPr>
        <p:spPr>
          <a:xfrm>
            <a:off x="395536" y="4082296"/>
            <a:ext cx="3672408" cy="1938992"/>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a:t>
            </a:r>
            <a:r>
              <a:rPr lang="nl-NL" sz="2400" b="1" dirty="0" err="1" smtClean="0"/>
              <a:t>Ass</a:t>
            </a:r>
            <a:r>
              <a:rPr lang="nl-NL" sz="2400" b="1" dirty="0" smtClean="0"/>
              <a:t>.</a:t>
            </a:r>
          </a:p>
          <a:p>
            <a:pPr marL="342900" indent="-342900"/>
            <a:r>
              <a:rPr lang="nl-NL" sz="2400" b="1" dirty="0" smtClean="0">
                <a:solidFill>
                  <a:srgbClr val="0070C0"/>
                </a:solidFill>
              </a:rPr>
              <a:t>…</a:t>
            </a:r>
            <a:endParaRPr lang="nl-NL" sz="2400" b="1" dirty="0" smtClean="0"/>
          </a:p>
          <a:p>
            <a:pPr marL="342900" indent="-342900"/>
            <a:r>
              <a:rPr lang="nl-NL" sz="2400" b="1" dirty="0" smtClean="0">
                <a:solidFill>
                  <a:srgbClr val="0070C0"/>
                </a:solidFill>
              </a:rPr>
              <a:t>5. Q ∧</a:t>
            </a:r>
            <a:r>
              <a:rPr lang="nl-NL" sz="2400" b="1" dirty="0" smtClean="0"/>
              <a:t> </a:t>
            </a:r>
            <a:r>
              <a:rPr lang="nl-NL" sz="2400" b="1" dirty="0" smtClean="0">
                <a:solidFill>
                  <a:srgbClr val="0070C0"/>
                </a:solidFill>
              </a:rPr>
              <a:t>¬Q</a:t>
            </a:r>
            <a:endParaRPr lang="nl-NL" sz="2400" b="1" dirty="0" smtClean="0"/>
          </a:p>
          <a:p>
            <a:pPr marL="342900" indent="-342900"/>
            <a:r>
              <a:rPr lang="nl-NL" sz="2400" b="1" dirty="0" smtClean="0">
                <a:solidFill>
                  <a:srgbClr val="0070C0"/>
                </a:solidFill>
              </a:rPr>
              <a:t>6. ¬¬P         </a:t>
            </a:r>
            <a:r>
              <a:rPr lang="nl-NL" sz="2400" b="1" dirty="0" smtClean="0"/>
              <a:t>I ¬ (1,5)</a:t>
            </a:r>
            <a:r>
              <a:rPr lang="nl-NL" sz="2400" b="1" dirty="0" smtClean="0">
                <a:solidFill>
                  <a:srgbClr val="0070C0"/>
                </a:solidFill>
              </a:rPr>
              <a:t> </a:t>
            </a:r>
            <a:endParaRPr lang="nl-NL" sz="2400" b="1" dirty="0" smtClean="0"/>
          </a:p>
          <a:p>
            <a:pPr marL="342900" indent="-342900"/>
            <a:r>
              <a:rPr lang="nl-NL" sz="2400" b="1" dirty="0" smtClean="0">
                <a:solidFill>
                  <a:srgbClr val="0070C0"/>
                </a:solidFill>
              </a:rPr>
              <a:t>7. P             </a:t>
            </a:r>
            <a:r>
              <a:rPr lang="nl-NL" sz="2400" b="1" dirty="0" err="1" smtClean="0"/>
              <a:t>Elim</a:t>
            </a:r>
            <a:r>
              <a:rPr lang="nl-NL" sz="2400" b="1" dirty="0" smtClean="0"/>
              <a:t>¬¬(6)</a:t>
            </a:r>
          </a:p>
        </p:txBody>
      </p:sp>
      <p:cxnSp>
        <p:nvCxnSpPr>
          <p:cNvPr id="15" name="Straight Connector 14"/>
          <p:cNvCxnSpPr/>
          <p:nvPr/>
        </p:nvCxnSpPr>
        <p:spPr>
          <a:xfrm flipH="1">
            <a:off x="395536" y="4077072"/>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95536" y="4082296"/>
            <a:ext cx="0" cy="114690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395536" y="5234424"/>
            <a:ext cx="244827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139952" y="2492896"/>
            <a:ext cx="4536504" cy="1631216"/>
          </a:xfrm>
          <a:prstGeom prst="rect">
            <a:avLst/>
          </a:prstGeom>
          <a:noFill/>
        </p:spPr>
        <p:txBody>
          <a:bodyPr wrap="square" rtlCol="0">
            <a:spAutoFit/>
          </a:bodyPr>
          <a:lstStyle/>
          <a:p>
            <a:r>
              <a:rPr lang="nl-NL" sz="2000" dirty="0" smtClean="0"/>
              <a:t>En daarom ligt het voor de hand om niet de </a:t>
            </a:r>
            <a:r>
              <a:rPr lang="nl-NL" sz="2000" i="1" dirty="0" smtClean="0"/>
              <a:t>sterke </a:t>
            </a:r>
            <a:r>
              <a:rPr lang="nl-NL" sz="2000" i="1" dirty="0" err="1" smtClean="0"/>
              <a:t>reductio</a:t>
            </a:r>
            <a:r>
              <a:rPr lang="nl-NL" sz="2000" dirty="0" smtClean="0"/>
              <a:t>, maar </a:t>
            </a:r>
            <a:r>
              <a:rPr lang="nl-NL" sz="2000" i="1" dirty="0" smtClean="0"/>
              <a:t>de regel voor de eliminatie van de dubbele negatie</a:t>
            </a:r>
            <a:r>
              <a:rPr lang="nl-NL" sz="2000" dirty="0" smtClean="0"/>
              <a:t> als tiende en laatste regel aan het systeem van natuurlijke deductie toe te voegen</a:t>
            </a:r>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Text Box 2"/>
          <p:cNvSpPr txBox="1">
            <a:spLocks noChangeArrowheads="1"/>
          </p:cNvSpPr>
          <p:nvPr/>
        </p:nvSpPr>
        <p:spPr bwMode="auto">
          <a:xfrm>
            <a:off x="1835696" y="908720"/>
            <a:ext cx="5760640" cy="5879927"/>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Introductie conjunctie</a:t>
            </a:r>
            <a:r>
              <a:rPr kumimoji="0" lang="nl-NL" sz="1200" b="0" i="0" u="none" strike="noStrike" cap="none" normalizeH="0" baseline="0" dirty="0" smtClean="0">
                <a:ln>
                  <a:noFill/>
                </a:ln>
                <a:solidFill>
                  <a:schemeClr val="tx1"/>
                </a:solidFill>
                <a:effectLst/>
                <a:latin typeface="Calibri" pitchFamily="34" charset="0"/>
                <a:cs typeface="Arial" pitchFamily="34" charset="0"/>
              </a:rPr>
              <a:t>:</a:t>
            </a:r>
            <a:r>
              <a:rPr kumimoji="0" lang="nl-NL" sz="1200" b="1"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Gebruik conjunctie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G</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o.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I</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nl-NL" sz="1200" b="1" i="0" u="none" strike="noStrike" cap="none" normalizeH="0" baseline="0" dirty="0" smtClean="0">
              <a:ln>
                <a:noFill/>
              </a:ln>
              <a:solidFill>
                <a:schemeClr val="tx1"/>
              </a:solidFill>
              <a:effectLst/>
              <a:latin typeface="Calibri" pitchFamily="34"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Introductie implicatie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Gebruik implicatie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err="1" smtClean="0">
                <a:ln>
                  <a:noFill/>
                </a:ln>
                <a:solidFill>
                  <a:schemeClr val="tx1"/>
                </a:solidFill>
                <a:effectLst/>
                <a:latin typeface="Calibri" pitchFamily="34" charset="0"/>
                <a:cs typeface="Arial" pitchFamily="34" charset="0"/>
              </a:rPr>
              <a:t>ass</a:t>
            </a:r>
            <a:r>
              <a:rPr kumimoji="0" lang="nl-NL" sz="1200" b="0" i="0" u="none" strike="noStrike" cap="none" normalizeH="0" baseline="0" dirty="0" smtClean="0">
                <a:ln>
                  <a:noFill/>
                </a:ln>
                <a:solidFill>
                  <a:schemeClr val="tx1"/>
                </a:solidFill>
                <a:effectLst/>
                <a:latin typeface="Calibri" pitchFamily="34" charset="0"/>
                <a:cs typeface="Arial" pitchFamily="34" charset="0"/>
              </a:rPr>
              <a:t>.	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n+1.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I</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o.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G</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endParaRPr kumimoji="0" lang="nl-NL" sz="1200" b="1" i="0" u="none" strike="noStrike" cap="none" normalizeH="0" baseline="0" dirty="0" smtClean="0">
              <a:ln>
                <a:noFill/>
              </a:ln>
              <a:solidFill>
                <a:schemeClr val="tx1"/>
              </a:solidFill>
              <a:effectLst/>
              <a:latin typeface="Calibri" pitchFamily="34"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Introductie disjunctie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Gebruik disjunctie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I</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o.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endParaRPr kumimoji="0" lang="nl-NL" sz="11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p.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G</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o) </a:t>
            </a:r>
            <a:endParaRPr kumimoji="0" lang="nl-NL"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Title 1"/>
          <p:cNvSpPr>
            <a:spLocks noGrp="1"/>
          </p:cNvSpPr>
          <p:nvPr>
            <p:ph type="title"/>
          </p:nvPr>
        </p:nvSpPr>
        <p:spPr>
          <a:xfrm>
            <a:off x="457200" y="-171400"/>
            <a:ext cx="8229600" cy="1143000"/>
          </a:xfrm>
        </p:spPr>
        <p:txBody>
          <a:bodyPr>
            <a:normAutofit fontScale="90000"/>
          </a:bodyPr>
          <a:lstStyle/>
          <a:p>
            <a:r>
              <a:rPr lang="nl-NL" sz="3600" dirty="0" smtClean="0"/>
              <a:t>Alle natuurlijke deductieregels op een rijtje (1)</a:t>
            </a:r>
            <a:endParaRPr lang="nl-NL" sz="36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3"/>
          <p:cNvSpPr txBox="1">
            <a:spLocks noChangeArrowheads="1"/>
          </p:cNvSpPr>
          <p:nvPr/>
        </p:nvSpPr>
        <p:spPr bwMode="auto">
          <a:xfrm>
            <a:off x="1979712" y="1340768"/>
            <a:ext cx="5495925" cy="4824536"/>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Introductie negatie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Gebruik negatie</a:t>
            </a:r>
            <a:r>
              <a:rPr kumimoji="0" lang="nl-NL" sz="1200" b="0" i="0" u="none" strike="noStrike" cap="none" normalizeH="0" baseline="0" dirty="0" smtClean="0">
                <a:ln>
                  <a:noFill/>
                </a:ln>
                <a:solidFill>
                  <a:schemeClr val="tx1"/>
                </a:solidFill>
                <a:effectLst/>
                <a:latin typeface="Calibri" pitchFamily="34" charset="0"/>
                <a:cs typeface="Arial" pitchFamily="34" charset="0"/>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    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lang="nl-NL" sz="1200" dirty="0" smtClean="0">
                <a:latin typeface="Times New Roman" pitchFamily="18" charset="0"/>
                <a:cs typeface="Arial" pitchFamily="34" charset="0"/>
                <a:sym typeface="Symbol" pitchFamily="18" charset="2"/>
              </a:rPr>
              <a:t>              </a:t>
            </a:r>
            <a:r>
              <a:rPr kumimoji="0" lang="nl-NL" sz="1200" b="0" i="0" u="none" strike="noStrike" cap="none" normalizeH="0" baseline="0" dirty="0" err="1" smtClean="0">
                <a:ln>
                  <a:noFill/>
                </a:ln>
                <a:solidFill>
                  <a:schemeClr val="tx1"/>
                </a:solidFill>
                <a:effectLst/>
                <a:latin typeface="Calibri" pitchFamily="34" charset="0"/>
                <a:cs typeface="Arial" pitchFamily="34" charset="0"/>
              </a:rPr>
              <a:t>ass</a:t>
            </a:r>
            <a:r>
              <a:rPr kumimoji="0" lang="nl-NL" sz="1200" b="0" i="0" u="none" strike="noStrike" cap="none" normalizeH="0" baseline="0" dirty="0" smtClean="0">
                <a:ln>
                  <a:noFill/>
                </a:ln>
                <a:solidFill>
                  <a:schemeClr val="tx1"/>
                </a:solidFill>
                <a:effectLst/>
                <a:latin typeface="Calibri" pitchFamily="34" charset="0"/>
                <a:cs typeface="Arial" pitchFamily="34" charset="0"/>
              </a:rPr>
              <a:t>.	                             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    n+1.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lang="nl-NL" sz="1200" dirty="0" smtClean="0">
                <a:latin typeface="Times New Roman" pitchFamily="18" charset="0"/>
                <a:cs typeface="Arial" pitchFamily="34" charset="0"/>
                <a:sym typeface="Symbol" pitchFamily="18" charset="2"/>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I</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o.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G</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a:t>
            </a:r>
            <a:endParaRPr kumimoji="0" lang="nl-NL" sz="12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Eliminatie dubbele negatie</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Herhaling</a:t>
            </a:r>
            <a:r>
              <a:rPr kumimoji="0" lang="nl-NL" sz="1200" b="0" i="0" u="none" strike="noStrike" cap="none" normalizeH="0" baseline="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     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m.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lang="nl-NL" sz="1200" dirty="0" smtClean="0">
                <a:latin typeface="Times New Roman" pitchFamily="18" charset="0"/>
                <a:cs typeface="Arial" pitchFamily="34" charset="0"/>
                <a:sym typeface="Symbol" pitchFamily="18" charset="2"/>
              </a:rPr>
              <a:t>           </a:t>
            </a:r>
            <a:r>
              <a:rPr kumimoji="0" lang="nl-NL" sz="1200" b="0" i="0" u="none" strike="noStrike" cap="none" normalizeH="0" baseline="0" dirty="0" err="1" smtClean="0">
                <a:ln>
                  <a:noFill/>
                </a:ln>
                <a:solidFill>
                  <a:schemeClr val="tx1"/>
                </a:solidFill>
                <a:effectLst/>
                <a:latin typeface="Calibri" pitchFamily="34" charset="0"/>
                <a:cs typeface="Arial" pitchFamily="34" charset="0"/>
              </a:rPr>
              <a:t>Elim</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(m)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0" i="0" u="none" strike="noStrike" cap="none" normalizeH="0" baseline="0" dirty="0" err="1" smtClean="0">
                <a:ln>
                  <a:noFill/>
                </a:ln>
                <a:solidFill>
                  <a:schemeClr val="tx1"/>
                </a:solidFill>
                <a:effectLst/>
                <a:latin typeface="Calibri" pitchFamily="34" charset="0"/>
                <a:cs typeface="Arial" pitchFamily="34" charset="0"/>
              </a:rPr>
              <a:t>herh</a:t>
            </a:r>
            <a:r>
              <a:rPr kumimoji="0" lang="nl-NL" sz="1200" b="0" i="0" u="none" strike="noStrike" cap="none" normalizeH="0" baseline="0" dirty="0" smtClean="0">
                <a:ln>
                  <a:noFill/>
                </a:ln>
                <a:solidFill>
                  <a:schemeClr val="tx1"/>
                </a:solidFill>
                <a:effectLst/>
                <a:latin typeface="Calibri" pitchFamily="34" charset="0"/>
                <a:cs typeface="Arial" pitchFamily="34" charset="0"/>
              </a:rPr>
              <a:t>. (m)	</a:t>
            </a:r>
            <a:endParaRPr kumimoji="0" lang="nl-NL" sz="1200" b="0" i="0" u="none" strike="noStrike" cap="none" normalizeH="0" baseline="0" dirty="0" smtClean="0">
              <a:ln>
                <a:noFill/>
              </a:ln>
              <a:solidFill>
                <a:schemeClr val="tx1"/>
              </a:solidFill>
              <a:effectLst/>
              <a:latin typeface="Times New Roman" pitchFamily="18" charset="0"/>
              <a:cs typeface="Arial" pitchFamily="34" charset="0"/>
            </a:endParaRPr>
          </a:p>
        </p:txBody>
      </p:sp>
      <p:sp>
        <p:nvSpPr>
          <p:cNvPr id="6" name="Title 1"/>
          <p:cNvSpPr>
            <a:spLocks noGrp="1"/>
          </p:cNvSpPr>
          <p:nvPr>
            <p:ph type="title"/>
          </p:nvPr>
        </p:nvSpPr>
        <p:spPr>
          <a:xfrm>
            <a:off x="457200" y="-162272"/>
            <a:ext cx="8229600" cy="1143000"/>
          </a:xfrm>
        </p:spPr>
        <p:txBody>
          <a:bodyPr>
            <a:normAutofit fontScale="90000"/>
          </a:bodyPr>
          <a:lstStyle/>
          <a:p>
            <a:r>
              <a:rPr lang="nl-NL" sz="3600" dirty="0" smtClean="0"/>
              <a:t>Alle natuurlijke deductieregels op een rijtje (2)</a:t>
            </a:r>
            <a:endParaRPr lang="nl-NL" sz="36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Deductieregels voor dubbele implicatie (↔)?</a:t>
            </a:r>
            <a:endParaRPr lang="nl-NL" sz="3200" dirty="0"/>
          </a:p>
        </p:txBody>
      </p:sp>
      <p:sp>
        <p:nvSpPr>
          <p:cNvPr id="3" name="Content Placeholder 2"/>
          <p:cNvSpPr>
            <a:spLocks noGrp="1"/>
          </p:cNvSpPr>
          <p:nvPr>
            <p:ph idx="1"/>
          </p:nvPr>
        </p:nvSpPr>
        <p:spPr>
          <a:xfrm>
            <a:off x="457200" y="1600200"/>
            <a:ext cx="8229600" cy="1900807"/>
          </a:xfrm>
        </p:spPr>
        <p:txBody>
          <a:bodyPr>
            <a:normAutofit/>
          </a:bodyPr>
          <a:lstStyle/>
          <a:p>
            <a:r>
              <a:rPr lang="nl-NL" sz="2000" dirty="0" smtClean="0"/>
              <a:t> Er zijn geen aparte deductieregels voor de dubbele implicatie (↔) </a:t>
            </a:r>
            <a:br>
              <a:rPr lang="nl-NL" sz="2000" dirty="0" smtClean="0"/>
            </a:br>
            <a:r>
              <a:rPr lang="nl-NL" sz="2000" dirty="0" smtClean="0"/>
              <a:t> ingevoerd. Dit is ook niet nodig omdat de dubbele implicatie kan     </a:t>
            </a:r>
            <a:br>
              <a:rPr lang="nl-NL" sz="2000" dirty="0" smtClean="0"/>
            </a:br>
            <a:r>
              <a:rPr lang="nl-NL" sz="2000" dirty="0" smtClean="0"/>
              <a:t> worden beschouwd als een afkorting:</a:t>
            </a:r>
          </a:p>
          <a:p>
            <a:pPr>
              <a:buNone/>
            </a:pPr>
            <a:endParaRPr lang="nl-NL" sz="2000" dirty="0" smtClean="0"/>
          </a:p>
          <a:p>
            <a:pPr>
              <a:buNone/>
            </a:pPr>
            <a:r>
              <a:rPr lang="nl-NL" sz="2000" dirty="0" smtClean="0"/>
              <a:t>	</a:t>
            </a:r>
            <a:r>
              <a:rPr lang="el-GR" sz="2000" b="1" i="1" dirty="0" smtClean="0"/>
              <a:t> </a:t>
            </a:r>
            <a:r>
              <a:rPr lang="nl-NL" sz="2000" b="1" i="1" dirty="0" smtClean="0"/>
              <a:t> </a:t>
            </a:r>
            <a:r>
              <a:rPr lang="el-GR" sz="2000" b="1" i="1" dirty="0" smtClean="0"/>
              <a:t>α</a:t>
            </a:r>
            <a:r>
              <a:rPr lang="nl-NL" sz="2000" b="1" dirty="0" smtClean="0"/>
              <a:t> ↔ </a:t>
            </a:r>
            <a:r>
              <a:rPr lang="el-GR" sz="2000" b="1" i="1" dirty="0" smtClean="0"/>
              <a:t>β</a:t>
            </a:r>
            <a:r>
              <a:rPr lang="nl-NL" sz="2000" b="1" dirty="0" smtClean="0"/>
              <a:t>   =</a:t>
            </a:r>
            <a:r>
              <a:rPr lang="nl-NL" sz="2000" b="1" i="1" baseline="-25000" dirty="0" smtClean="0"/>
              <a:t>definitie</a:t>
            </a:r>
            <a:r>
              <a:rPr lang="nl-NL" sz="2000" b="1" dirty="0" smtClean="0"/>
              <a:t>   (</a:t>
            </a:r>
            <a:r>
              <a:rPr lang="el-GR" sz="2000" b="1" i="1" dirty="0" smtClean="0"/>
              <a:t>α</a:t>
            </a:r>
            <a:r>
              <a:rPr lang="nl-NL" sz="2000" b="1" dirty="0" smtClean="0"/>
              <a:t> → </a:t>
            </a:r>
            <a:r>
              <a:rPr lang="el-GR" sz="2000" b="1" i="1" dirty="0" smtClean="0"/>
              <a:t>β</a:t>
            </a:r>
            <a:r>
              <a:rPr lang="nl-NL" sz="2000" b="1" dirty="0" smtClean="0"/>
              <a:t>)  ∧  (</a:t>
            </a:r>
            <a:r>
              <a:rPr lang="el-GR" sz="2000" b="1" i="1" dirty="0" smtClean="0"/>
              <a:t>β</a:t>
            </a:r>
            <a:r>
              <a:rPr lang="nl-NL" sz="2000" b="1" dirty="0" smtClean="0"/>
              <a:t> → </a:t>
            </a:r>
            <a:r>
              <a:rPr lang="el-GR" sz="2000" b="1" i="1" dirty="0" smtClean="0"/>
              <a:t>α</a:t>
            </a:r>
            <a:r>
              <a:rPr lang="nl-NL" sz="2000" b="1" dirty="0" smtClean="0"/>
              <a:t>)</a:t>
            </a:r>
          </a:p>
          <a:p>
            <a:pPr>
              <a:buNone/>
            </a:pPr>
            <a:endParaRPr lang="nl-NL" sz="2000" dirty="0" smtClean="0"/>
          </a:p>
          <a:p>
            <a:pPr>
              <a:buNone/>
            </a:pPr>
            <a:endParaRPr lang="nl-NL" sz="2000" dirty="0" smtClean="0"/>
          </a:p>
          <a:p>
            <a:pPr>
              <a:buNone/>
            </a:pPr>
            <a:endParaRPr lang="nl-NL" sz="2000" dirty="0" smtClean="0"/>
          </a:p>
          <a:p>
            <a:pPr>
              <a:buNone/>
            </a:pPr>
            <a:endParaRPr lang="nl-NL" sz="2000" dirty="0" smtClean="0"/>
          </a:p>
          <a:p>
            <a:endParaRPr lang="nl-NL" sz="2000" dirty="0" smtClean="0"/>
          </a:p>
          <a:p>
            <a:endParaRPr lang="nl-NL" sz="2000" dirty="0" smtClean="0"/>
          </a:p>
          <a:p>
            <a:endParaRPr lang="nl-NL" sz="2000" dirty="0" smtClean="0"/>
          </a:p>
          <a:p>
            <a:endParaRPr lang="nl-NL" sz="2000" dirty="0" smtClean="0"/>
          </a:p>
          <a:p>
            <a:endParaRPr lang="nl-NL" sz="2000" dirty="0" smtClean="0"/>
          </a:p>
          <a:p>
            <a:endParaRPr lang="nl-NL" sz="2000" dirty="0" smtClean="0"/>
          </a:p>
          <a:p>
            <a:endParaRPr lang="nl-NL" sz="800" dirty="0" smtClean="0"/>
          </a:p>
          <a:p>
            <a:pPr>
              <a:buNone/>
            </a:pPr>
            <a:endParaRPr lang="nl-NL" sz="2000" dirty="0" smtClean="0"/>
          </a:p>
          <a:p>
            <a:endParaRPr lang="nl-NL" sz="2000" dirty="0" smtClean="0"/>
          </a:p>
          <a:p>
            <a:endParaRPr lang="nl-NL" sz="2000" dirty="0" smtClean="0"/>
          </a:p>
        </p:txBody>
      </p:sp>
      <p:sp>
        <p:nvSpPr>
          <p:cNvPr id="5" name="Content Placeholder 2"/>
          <p:cNvSpPr txBox="1">
            <a:spLocks/>
          </p:cNvSpPr>
          <p:nvPr/>
        </p:nvSpPr>
        <p:spPr>
          <a:xfrm>
            <a:off x="446856" y="3429000"/>
            <a:ext cx="8229600" cy="45259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Wanneer we bijvoorbeeld willen aantonen dat </a:t>
            </a:r>
            <a:r>
              <a:rPr lang="nl-NL" sz="2000" b="1" dirty="0" smtClean="0"/>
              <a:t>Ⱶ P ↔ P V P</a:t>
            </a:r>
            <a:r>
              <a:rPr lang="nl-NL" sz="2000" dirty="0" smtClean="0"/>
              <a:t>, dan is het voldoende om te laten zien dat </a:t>
            </a:r>
            <a:r>
              <a:rPr lang="nl-NL" sz="2000" b="1" dirty="0" smtClean="0"/>
              <a:t>Ⱶ P → P V P</a:t>
            </a:r>
            <a:r>
              <a:rPr lang="nl-NL" sz="2000" dirty="0" smtClean="0"/>
              <a:t> </a:t>
            </a:r>
            <a:r>
              <a:rPr lang="nl-NL" sz="2000" dirty="0" err="1" smtClean="0"/>
              <a:t>én</a:t>
            </a:r>
            <a:r>
              <a:rPr lang="nl-NL" sz="2000" b="1" dirty="0" smtClean="0"/>
              <a:t> Ⱶ P V P → P </a:t>
            </a:r>
            <a:r>
              <a:rPr lang="nl-NL" sz="2000" i="1" dirty="0" smtClean="0"/>
              <a:t>(Hoe?)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20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Nogmaals: Regel voor eliminatie dubbele negatie</a:t>
            </a:r>
            <a:endParaRPr lang="nl-NL" sz="3200" dirty="0"/>
          </a:p>
        </p:txBody>
      </p:sp>
      <p:sp>
        <p:nvSpPr>
          <p:cNvPr id="3" name="Content Placeholder 2"/>
          <p:cNvSpPr>
            <a:spLocks noGrp="1"/>
          </p:cNvSpPr>
          <p:nvPr>
            <p:ph idx="1"/>
          </p:nvPr>
        </p:nvSpPr>
        <p:spPr>
          <a:xfrm>
            <a:off x="457200" y="1600200"/>
            <a:ext cx="8291264" cy="1036712"/>
          </a:xfrm>
        </p:spPr>
        <p:txBody>
          <a:bodyPr>
            <a:noAutofit/>
          </a:bodyPr>
          <a:lstStyle/>
          <a:p>
            <a:r>
              <a:rPr lang="nl-NL" sz="2000" dirty="0" smtClean="0"/>
              <a:t>We hebben de regel voor eliminatie van dubbele negatie (</a:t>
            </a:r>
            <a:r>
              <a:rPr lang="nl-NL" sz="2000" dirty="0" err="1" smtClean="0"/>
              <a:t>Elim</a:t>
            </a:r>
            <a:r>
              <a:rPr lang="nl-NL" sz="2000" dirty="0" smtClean="0"/>
              <a:t>¬¬)</a:t>
            </a:r>
            <a:r>
              <a:rPr lang="nl-NL" sz="2000" b="1" dirty="0" smtClean="0"/>
              <a:t> </a:t>
            </a:r>
            <a:r>
              <a:rPr lang="nl-NL" sz="2000" dirty="0" smtClean="0"/>
              <a:t>aan het systeem toegevoegd opdat naast de </a:t>
            </a:r>
            <a:r>
              <a:rPr lang="nl-NL" sz="2000" i="1" dirty="0" smtClean="0"/>
              <a:t>zwakke</a:t>
            </a:r>
            <a:r>
              <a:rPr lang="nl-NL" sz="2000" dirty="0" smtClean="0"/>
              <a:t> </a:t>
            </a:r>
            <a:r>
              <a:rPr lang="nl-NL" sz="2000" dirty="0" err="1" smtClean="0"/>
              <a:t>reductio</a:t>
            </a:r>
            <a:r>
              <a:rPr lang="nl-NL" sz="2000" dirty="0" smtClean="0"/>
              <a:t> ook de</a:t>
            </a:r>
            <a:r>
              <a:rPr lang="nl-NL" sz="2000" i="1" dirty="0" smtClean="0"/>
              <a:t> sterke </a:t>
            </a:r>
            <a:r>
              <a:rPr lang="nl-NL" sz="2000" dirty="0" err="1" smtClean="0"/>
              <a:t>reductio</a:t>
            </a:r>
            <a:r>
              <a:rPr lang="nl-NL" sz="2000" dirty="0" smtClean="0"/>
              <a:t> als een geldige redenering gezien kan worden.</a:t>
            </a:r>
          </a:p>
          <a:p>
            <a:pPr>
              <a:buNone/>
            </a:pPr>
            <a:endParaRPr lang="nl-NL" sz="2000" dirty="0" smtClean="0"/>
          </a:p>
          <a:p>
            <a:endParaRPr lang="nl-NL" sz="2000" dirty="0" smtClean="0"/>
          </a:p>
          <a:p>
            <a:pPr>
              <a:buNone/>
            </a:pPr>
            <a:endParaRPr lang="nl-NL" sz="2000" dirty="0" smtClean="0"/>
          </a:p>
          <a:p>
            <a:pPr>
              <a:buNone/>
            </a:pPr>
            <a:r>
              <a:rPr lang="nl-NL" sz="2000" dirty="0" smtClean="0"/>
              <a:t>	</a:t>
            </a:r>
            <a:endParaRPr lang="nl-NL" sz="2000" b="1" dirty="0" smtClean="0"/>
          </a:p>
          <a:p>
            <a:pPr>
              <a:buNone/>
            </a:pPr>
            <a:endParaRPr lang="nl-NL" sz="2000" dirty="0" smtClean="0"/>
          </a:p>
          <a:p>
            <a:pPr>
              <a:buNone/>
            </a:pPr>
            <a:endParaRPr lang="nl-NL" sz="2000" dirty="0" smtClean="0"/>
          </a:p>
          <a:p>
            <a:pPr>
              <a:buNone/>
            </a:pPr>
            <a:endParaRPr lang="nl-NL" sz="2000" dirty="0" smtClean="0"/>
          </a:p>
          <a:p>
            <a:pPr>
              <a:buNone/>
            </a:pPr>
            <a:endParaRPr lang="nl-NL" sz="2000" dirty="0" smtClean="0"/>
          </a:p>
          <a:p>
            <a:endParaRPr lang="nl-NL" sz="2000" dirty="0" smtClean="0"/>
          </a:p>
          <a:p>
            <a:endParaRPr lang="nl-NL" sz="2000" dirty="0" smtClean="0"/>
          </a:p>
          <a:p>
            <a:endParaRPr lang="nl-NL" sz="2000" dirty="0" smtClean="0"/>
          </a:p>
          <a:p>
            <a:endParaRPr lang="nl-NL" sz="2000" dirty="0" smtClean="0"/>
          </a:p>
          <a:p>
            <a:endParaRPr lang="nl-NL" sz="2000" dirty="0" smtClean="0"/>
          </a:p>
          <a:p>
            <a:endParaRPr lang="nl-NL" sz="2000" dirty="0" smtClean="0"/>
          </a:p>
          <a:p>
            <a:endParaRPr lang="nl-NL" sz="2000" dirty="0" smtClean="0"/>
          </a:p>
          <a:p>
            <a:pPr>
              <a:buNone/>
            </a:pPr>
            <a:endParaRPr lang="nl-NL" sz="2000" dirty="0" smtClean="0"/>
          </a:p>
          <a:p>
            <a:endParaRPr lang="nl-NL" sz="2000" dirty="0" smtClean="0"/>
          </a:p>
          <a:p>
            <a:endParaRPr lang="nl-NL" sz="2000" dirty="0" smtClean="0"/>
          </a:p>
        </p:txBody>
      </p:sp>
      <p:sp>
        <p:nvSpPr>
          <p:cNvPr id="6" name="Content Placeholder 2"/>
          <p:cNvSpPr txBox="1">
            <a:spLocks/>
          </p:cNvSpPr>
          <p:nvPr/>
        </p:nvSpPr>
        <p:spPr>
          <a:xfrm>
            <a:off x="457200" y="2464296"/>
            <a:ext cx="8291264" cy="9647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Sommigen plaatsen echter vraagtekens bij het toelaten van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Elim</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en de sterke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reductio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het systeem van natuurlijke deductie.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57200" y="3140968"/>
            <a:ext cx="8291264" cy="201622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sterke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reductio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kan gebruikt worden om aan te tonen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dat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iets het geval is, maar daarmee maakt ze nog niet duidelijk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waarom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dat zo is. De sterke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reductio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dus niet verklarend. Ze laat niet zien waarom iets zo is als het is. De zwakke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reductio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is daarentegen wel acceptabel, omdat ze slechts laat zien dat iets niet het geval is.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(Antoine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Arnauld</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en Pierre Nicole in 1662)</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457200" y="4696544"/>
            <a:ext cx="8291264" cy="48531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Het twintigste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eeuwse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intuïtionisme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interpreteert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als “P is bewezen” en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¬P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“Het is bewezen dat P niet bewijsbaar is”. Maar dan volgt uit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(“Het is bewezen dat ¬P niet bewijsbaar is”) uiteraard niet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P</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Dus verwerpen de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intuïtionisten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eveneens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Elim</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en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de sterke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reductio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20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fade">
                                      <p:cBhvr>
                                        <p:cTn id="10" dur="2000"/>
                                        <p:tgtEl>
                                          <p:spTgt spid="7">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Effect transition="in" filter="fade">
                                      <p:cBhvr>
                                        <p:cTn id="15" dur="2000"/>
                                        <p:tgtEl>
                                          <p:spTgt spid="8">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7" end="7"/>
                                            </p:txEl>
                                          </p:spTgt>
                                        </p:tgtEl>
                                        <p:attrNameLst>
                                          <p:attrName>style.visibility</p:attrName>
                                        </p:attrNameLst>
                                      </p:cBhvr>
                                      <p:to>
                                        <p:strVal val="visible"/>
                                      </p:to>
                                    </p:set>
                                    <p:animEffect transition="in" filter="fade">
                                      <p:cBhvr>
                                        <p:cTn id="18" dur="20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4000" dirty="0" smtClean="0"/>
              <a:t>Verschillende propositielogica’s</a:t>
            </a:r>
            <a:endParaRPr lang="nl-NL" sz="4000" dirty="0"/>
          </a:p>
        </p:txBody>
      </p:sp>
      <p:graphicFrame>
        <p:nvGraphicFramePr>
          <p:cNvPr id="5" name="Content Placeholder 4"/>
          <p:cNvGraphicFramePr>
            <a:graphicFrameLocks noGrp="1"/>
          </p:cNvGraphicFramePr>
          <p:nvPr>
            <p:ph idx="1"/>
          </p:nvPr>
        </p:nvGraphicFramePr>
        <p:xfrm>
          <a:off x="457200" y="1600200"/>
          <a:ext cx="8229600" cy="283972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nl-NL" dirty="0" smtClean="0"/>
                        <a:t>Naam</a:t>
                      </a:r>
                      <a:endParaRPr lang="nl-NL" dirty="0"/>
                    </a:p>
                  </a:txBody>
                  <a:tcPr/>
                </a:tc>
                <a:tc>
                  <a:txBody>
                    <a:bodyPr/>
                    <a:lstStyle/>
                    <a:p>
                      <a:r>
                        <a:rPr lang="nl-NL" dirty="0" smtClean="0"/>
                        <a:t>Omschrijving</a:t>
                      </a:r>
                      <a:endParaRPr lang="nl-NL" dirty="0"/>
                    </a:p>
                  </a:txBody>
                  <a:tcPr/>
                </a:tc>
              </a:tr>
              <a:tr h="370840">
                <a:tc>
                  <a:txBody>
                    <a:bodyPr/>
                    <a:lstStyle/>
                    <a:p>
                      <a:r>
                        <a:rPr lang="nl-NL" dirty="0" smtClean="0"/>
                        <a:t>Klassieke propositielogica</a:t>
                      </a:r>
                      <a:endParaRPr lang="nl-NL" dirty="0"/>
                    </a:p>
                  </a:txBody>
                  <a:tcPr/>
                </a:tc>
                <a:tc>
                  <a:txBody>
                    <a:bodyPr/>
                    <a:lstStyle/>
                    <a:p>
                      <a:r>
                        <a:rPr lang="nl-NL" dirty="0" smtClean="0"/>
                        <a:t>Gedefinieerd</a:t>
                      </a:r>
                      <a:r>
                        <a:rPr lang="nl-NL" baseline="0" dirty="0" smtClean="0"/>
                        <a:t> door acceptatie van alle tot dusver behandelde 10 deductieregels </a:t>
                      </a:r>
                      <a:endParaRPr lang="nl-NL" dirty="0"/>
                    </a:p>
                  </a:txBody>
                  <a:tcPr/>
                </a:tc>
              </a:tr>
              <a:tr h="370840">
                <a:tc>
                  <a:txBody>
                    <a:bodyPr/>
                    <a:lstStyle/>
                    <a:p>
                      <a:r>
                        <a:rPr lang="nl-NL" dirty="0" err="1" smtClean="0"/>
                        <a:t>Intuïtionistische</a:t>
                      </a:r>
                      <a:r>
                        <a:rPr lang="nl-NL" baseline="0" dirty="0" smtClean="0"/>
                        <a:t> propositielogica</a:t>
                      </a:r>
                      <a:endParaRPr lang="nl-NL" dirty="0"/>
                    </a:p>
                  </a:txBody>
                  <a:tcPr/>
                </a:tc>
                <a:tc>
                  <a:txBody>
                    <a:bodyPr/>
                    <a:lstStyle/>
                    <a:p>
                      <a:r>
                        <a:rPr lang="nl-NL" dirty="0" smtClean="0"/>
                        <a:t>Wordt</a:t>
                      </a:r>
                      <a:r>
                        <a:rPr lang="nl-NL" baseline="0" dirty="0" smtClean="0"/>
                        <a:t> verkregen uit de klassieke propositielogica door schrappen van de </a:t>
                      </a:r>
                      <a:r>
                        <a:rPr lang="nl-NL" i="1" baseline="0" dirty="0" err="1" smtClean="0"/>
                        <a:t>Elim</a:t>
                      </a:r>
                      <a:r>
                        <a:rPr kumimoji="0" lang="nl-NL" sz="18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regel (en bestaat dus uit 9 regels).</a:t>
                      </a:r>
                      <a:endParaRPr lang="nl-NL" dirty="0"/>
                    </a:p>
                  </a:txBody>
                  <a:tcPr/>
                </a:tc>
              </a:tr>
              <a:tr h="370840">
                <a:tc>
                  <a:txBody>
                    <a:bodyPr/>
                    <a:lstStyle/>
                    <a:p>
                      <a:r>
                        <a:rPr lang="nl-NL" dirty="0" smtClean="0"/>
                        <a:t>Minimale propositielogica</a:t>
                      </a:r>
                      <a:endParaRPr lang="nl-NL"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smtClean="0"/>
                        <a:t>Wordt</a:t>
                      </a:r>
                      <a:r>
                        <a:rPr lang="nl-NL" baseline="0" dirty="0" smtClean="0"/>
                        <a:t> verkregen uit </a:t>
                      </a:r>
                      <a:r>
                        <a:rPr lang="nl-NL" baseline="0" dirty="0" err="1" smtClean="0"/>
                        <a:t>intuïtionistische</a:t>
                      </a:r>
                      <a:r>
                        <a:rPr lang="nl-NL" baseline="0" dirty="0" smtClean="0"/>
                        <a:t> propositielogica door schrappen van de </a:t>
                      </a:r>
                      <a:r>
                        <a:rPr lang="nl-NL" i="1" baseline="0" dirty="0" smtClean="0"/>
                        <a:t>G</a:t>
                      </a:r>
                      <a:r>
                        <a:rPr kumimoji="0" lang="nl-NL" sz="18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regel (en bestaat dus uit 8 regels).</a:t>
                      </a:r>
                      <a:endParaRPr lang="nl-NL" dirty="0" smtClean="0"/>
                    </a:p>
                  </a:txBody>
                  <a:tcPr/>
                </a:tc>
              </a:tr>
            </a:tbl>
          </a:graphicData>
        </a:graphic>
      </p:graphicFrame>
      <p:sp>
        <p:nvSpPr>
          <p:cNvPr id="7" name="TextBox 6"/>
          <p:cNvSpPr txBox="1"/>
          <p:nvPr/>
        </p:nvSpPr>
        <p:spPr>
          <a:xfrm>
            <a:off x="1115616" y="4881934"/>
            <a:ext cx="6912768" cy="923330"/>
          </a:xfrm>
          <a:prstGeom prst="rect">
            <a:avLst/>
          </a:prstGeom>
          <a:noFill/>
        </p:spPr>
        <p:txBody>
          <a:bodyPr wrap="square" rtlCol="0">
            <a:spAutoFit/>
          </a:bodyPr>
          <a:lstStyle/>
          <a:p>
            <a:r>
              <a:rPr lang="nl-NL" dirty="0" smtClean="0"/>
              <a:t>Dialectische denkers kiezen vaak voor de minimale propositielogica. Zij hebben namelijk niet alleen een probleem met </a:t>
            </a:r>
            <a:r>
              <a:rPr lang="nl-NL" i="1" dirty="0" err="1" smtClean="0"/>
              <a:t>Elim</a:t>
            </a:r>
            <a:r>
              <a:rPr lang="nl-NL" i="1" dirty="0" smtClean="0"/>
              <a:t>¬¬ </a:t>
            </a:r>
            <a:r>
              <a:rPr lang="nl-NL" dirty="0" smtClean="0"/>
              <a:t>, maar ook met </a:t>
            </a:r>
            <a:r>
              <a:rPr lang="nl-NL" i="1" dirty="0" smtClean="0"/>
              <a:t>G¬ </a:t>
            </a:r>
            <a:r>
              <a:rPr lang="nl-NL" dirty="0" smtClean="0"/>
              <a:t>(ex </a:t>
            </a:r>
            <a:r>
              <a:rPr lang="nl-NL" dirty="0" err="1" smtClean="0"/>
              <a:t>falso</a:t>
            </a:r>
            <a:r>
              <a:rPr lang="nl-NL" dirty="0" smtClean="0"/>
              <a:t>). </a:t>
            </a:r>
            <a:r>
              <a:rPr lang="nl-NL" i="1" dirty="0" smtClean="0"/>
              <a:t>G¬</a:t>
            </a:r>
            <a:r>
              <a:rPr lang="nl-NL" dirty="0" smtClean="0"/>
              <a:t> laat immers geen serieuze dialectische logica toe.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Deductiestelling</a:t>
            </a:r>
            <a:endParaRPr lang="nl-NL" sz="3200" dirty="0"/>
          </a:p>
        </p:txBody>
      </p:sp>
      <p:sp>
        <p:nvSpPr>
          <p:cNvPr id="3" name="Content Placeholder 2"/>
          <p:cNvSpPr>
            <a:spLocks noGrp="1"/>
          </p:cNvSpPr>
          <p:nvPr>
            <p:ph idx="1"/>
          </p:nvPr>
        </p:nvSpPr>
        <p:spPr>
          <a:xfrm>
            <a:off x="251520" y="1412776"/>
            <a:ext cx="8291264" cy="1036712"/>
          </a:xfrm>
        </p:spPr>
        <p:txBody>
          <a:bodyPr>
            <a:noAutofit/>
          </a:bodyPr>
          <a:lstStyle/>
          <a:p>
            <a:r>
              <a:rPr lang="nl-NL" sz="2000" dirty="0" smtClean="0"/>
              <a:t>Het valt eenvoudig in te zien dat</a:t>
            </a:r>
            <a:endParaRPr lang="nl-NL" sz="800" dirty="0" smtClean="0"/>
          </a:p>
          <a:p>
            <a:pPr>
              <a:buNone/>
            </a:pPr>
            <a:r>
              <a:rPr lang="nl-NL" sz="2000" b="1" i="1" dirty="0" smtClean="0"/>
              <a:t>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b="1" dirty="0" smtClean="0"/>
              <a:t>Ⱶ </a:t>
            </a:r>
            <a:r>
              <a:rPr lang="el-GR" sz="2000" b="1" i="1" dirty="0" smtClean="0"/>
              <a:t>β</a:t>
            </a:r>
            <a:r>
              <a:rPr lang="nl-NL" sz="2000" b="1" i="1" dirty="0" smtClean="0"/>
              <a:t>   </a:t>
            </a:r>
            <a:r>
              <a:rPr lang="nl-NL" sz="2000" i="1" dirty="0" smtClean="0"/>
              <a:t>dan en slechts dan als</a:t>
            </a:r>
            <a:r>
              <a:rPr lang="nl-NL" sz="2000" dirty="0" smtClean="0"/>
              <a:t>  </a:t>
            </a:r>
            <a:r>
              <a:rPr lang="el-GR" sz="2000" b="1" i="1" dirty="0" smtClean="0"/>
              <a:t>α</a:t>
            </a:r>
            <a:r>
              <a:rPr lang="nl-NL" sz="2000" b="1" i="1" baseline="-25000" dirty="0" smtClean="0"/>
              <a:t>1</a:t>
            </a:r>
            <a:r>
              <a:rPr lang="nl-NL" sz="2000" b="1" i="1" dirty="0" smtClean="0"/>
              <a:t> </a:t>
            </a:r>
            <a:r>
              <a:rPr lang="nl-NL" sz="2000" dirty="0" smtClean="0"/>
              <a:t>,</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b="1" dirty="0" smtClean="0"/>
              <a:t>Ⱶ </a:t>
            </a:r>
            <a:r>
              <a:rPr lang="el-GR" sz="2000" b="1" i="1" dirty="0" smtClean="0"/>
              <a:t>α</a:t>
            </a:r>
            <a:r>
              <a:rPr lang="nl-NL" sz="2000" b="1" i="1" baseline="-25000" dirty="0" smtClean="0"/>
              <a:t>4 </a:t>
            </a:r>
            <a:r>
              <a:rPr lang="nl-NL" sz="2000" b="1" dirty="0" smtClean="0"/>
              <a:t>→ </a:t>
            </a:r>
            <a:r>
              <a:rPr lang="el-GR" sz="2000" b="1" i="1" dirty="0" smtClean="0"/>
              <a:t>β</a:t>
            </a:r>
            <a:r>
              <a:rPr lang="nl-NL" sz="2000" dirty="0" smtClean="0"/>
              <a:t>  </a:t>
            </a:r>
          </a:p>
          <a:p>
            <a:pPr>
              <a:buNone/>
            </a:pPr>
            <a:endParaRPr lang="nl-NL" sz="2400" dirty="0" smtClean="0"/>
          </a:p>
          <a:p>
            <a:endParaRPr lang="nl-NL" sz="2400" dirty="0" smtClean="0"/>
          </a:p>
          <a:p>
            <a:pPr>
              <a:buNone/>
            </a:pPr>
            <a:r>
              <a:rPr lang="nl-NL" sz="2400" dirty="0" smtClean="0"/>
              <a:t> </a:t>
            </a:r>
          </a:p>
          <a:p>
            <a:pPr>
              <a:buNone/>
            </a:pPr>
            <a:endParaRPr lang="nl-NL" sz="2400" dirty="0" smtClean="0"/>
          </a:p>
          <a:p>
            <a:pPr>
              <a:buNone/>
            </a:pPr>
            <a:r>
              <a:rPr lang="nl-NL" sz="2400" dirty="0" smtClean="0"/>
              <a:t>	</a:t>
            </a:r>
            <a:endParaRPr lang="nl-NL" sz="2400" b="1" dirty="0" smtClean="0"/>
          </a:p>
          <a:p>
            <a:pPr>
              <a:buNone/>
            </a:pPr>
            <a:endParaRPr lang="nl-NL" sz="2400" dirty="0" smtClean="0"/>
          </a:p>
          <a:p>
            <a:pPr>
              <a:buNone/>
            </a:pPr>
            <a:endParaRPr lang="nl-NL" sz="2400" dirty="0" smtClean="0"/>
          </a:p>
          <a:p>
            <a:pPr>
              <a:buNone/>
            </a:pPr>
            <a:endParaRPr lang="nl-NL" sz="2400" dirty="0" smtClean="0"/>
          </a:p>
          <a:p>
            <a:pPr>
              <a:buNone/>
            </a:pPr>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endParaRPr lang="nl-NL" sz="2400" dirty="0" smtClean="0"/>
          </a:p>
          <a:p>
            <a:pPr>
              <a:buNone/>
            </a:pPr>
            <a:endParaRPr lang="nl-NL" sz="2400" dirty="0" smtClean="0"/>
          </a:p>
          <a:p>
            <a:endParaRPr lang="nl-NL" sz="2400" dirty="0" smtClean="0"/>
          </a:p>
          <a:p>
            <a:endParaRPr lang="nl-NL" sz="2400" dirty="0" smtClean="0"/>
          </a:p>
        </p:txBody>
      </p:sp>
      <p:sp>
        <p:nvSpPr>
          <p:cNvPr id="6" name="Content Placeholder 2"/>
          <p:cNvSpPr txBox="1">
            <a:spLocks/>
          </p:cNvSpPr>
          <p:nvPr/>
        </p:nvSpPr>
        <p:spPr>
          <a:xfrm>
            <a:off x="241176" y="2348880"/>
            <a:ext cx="8291264" cy="9647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Dit resultaat</a:t>
            </a:r>
            <a:r>
              <a:rPr kumimoji="0" lang="nl-NL" sz="2000" b="0" i="0" u="none" strike="noStrike" kern="1200" cap="none" spc="0" normalizeH="0" noProof="0" dirty="0" smtClean="0">
                <a:ln>
                  <a:noFill/>
                </a:ln>
                <a:solidFill>
                  <a:schemeClr val="tx1"/>
                </a:solidFill>
                <a:effectLst/>
                <a:uLnTx/>
                <a:uFillTx/>
                <a:latin typeface="+mn-lt"/>
                <a:ea typeface="+mn-ea"/>
                <a:cs typeface="+mn-cs"/>
              </a:rPr>
              <a:t> kunnen we als volgt generaliseren (</a:t>
            </a:r>
            <a:r>
              <a:rPr kumimoji="0" lang="nl-NL" sz="2000" b="0" i="0" u="sng" strike="noStrike" kern="1200" cap="none" spc="0" normalizeH="0" noProof="0" dirty="0" smtClean="0">
                <a:ln>
                  <a:noFill/>
                </a:ln>
                <a:solidFill>
                  <a:schemeClr val="tx1"/>
                </a:solidFill>
                <a:effectLst/>
                <a:uLnTx/>
                <a:uFillTx/>
                <a:latin typeface="+mn-lt"/>
                <a:ea typeface="+mn-ea"/>
                <a:cs typeface="+mn-cs"/>
              </a:rPr>
              <a:t>deductiestelling</a:t>
            </a:r>
            <a:r>
              <a:rPr kumimoji="0" lang="nl-NL" sz="2000" b="0" i="0" u="none" strike="noStrike" kern="1200" cap="none" spc="0" normalizeH="0" noProof="0" dirty="0" smtClean="0">
                <a:ln>
                  <a:noFill/>
                </a:ln>
                <a:solidFill>
                  <a:schemeClr val="tx1"/>
                </a:solidFill>
                <a:effectLst/>
                <a:uLnTx/>
                <a:uFillTx/>
                <a:latin typeface="+mn-lt"/>
                <a:ea typeface="+mn-ea"/>
                <a:cs typeface="+mn-cs"/>
              </a:rPr>
              <a:t>)</a:t>
            </a:r>
            <a:endParaRPr lang="nl-NL" sz="800" dirty="0" smtClean="0"/>
          </a:p>
          <a:p>
            <a:pPr marL="342900" lvl="0" indent="-342900">
              <a:spcBef>
                <a:spcPct val="20000"/>
              </a:spcBef>
              <a:defRPr/>
            </a:pPr>
            <a:r>
              <a:rPr lang="nl-NL" sz="2000" b="1" i="1" dirty="0" smtClean="0"/>
              <a:t>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b="1" dirty="0" smtClean="0"/>
              <a:t>Ⱶ </a:t>
            </a:r>
            <a:r>
              <a:rPr lang="el-GR" sz="2000" b="1" i="1" dirty="0" smtClean="0"/>
              <a:t>β</a:t>
            </a:r>
            <a:r>
              <a:rPr lang="nl-NL" sz="2000" b="1" i="1" dirty="0" smtClean="0"/>
              <a:t>  </a:t>
            </a:r>
            <a:r>
              <a:rPr lang="nl-NL" sz="2000" i="1" dirty="0" smtClean="0"/>
              <a:t>dan en slechts dan als   </a:t>
            </a:r>
            <a:r>
              <a:rPr lang="nl-NL" sz="2000" b="1" dirty="0" smtClean="0"/>
              <a:t>Ⱶ </a:t>
            </a:r>
            <a:r>
              <a:rPr lang="el-GR" sz="2000" b="1" i="1" dirty="0" smtClean="0"/>
              <a:t>α</a:t>
            </a:r>
            <a:r>
              <a:rPr lang="nl-NL" sz="2000" b="1" i="1" baseline="-25000" dirty="0" smtClean="0"/>
              <a:t>1 </a:t>
            </a:r>
            <a:r>
              <a:rPr lang="nl-NL" sz="2000" b="1" dirty="0" smtClean="0"/>
              <a:t>→ (</a:t>
            </a:r>
            <a:r>
              <a:rPr lang="el-GR" sz="2000" b="1" i="1" dirty="0" smtClean="0"/>
              <a:t>α</a:t>
            </a:r>
            <a:r>
              <a:rPr lang="nl-NL" sz="2000" b="1" i="1" baseline="-25000" dirty="0" smtClean="0"/>
              <a:t>2 </a:t>
            </a:r>
            <a:r>
              <a:rPr lang="nl-NL" sz="2000" b="1" dirty="0" smtClean="0"/>
              <a:t>→ (</a:t>
            </a:r>
            <a:r>
              <a:rPr lang="el-GR" sz="2000" b="1" i="1" dirty="0" smtClean="0"/>
              <a:t>α</a:t>
            </a:r>
            <a:r>
              <a:rPr lang="nl-NL" sz="2000" b="1" i="1" baseline="-25000" dirty="0" smtClean="0"/>
              <a:t>3 </a:t>
            </a:r>
            <a:r>
              <a:rPr lang="nl-NL" sz="2000" b="1" dirty="0" smtClean="0"/>
              <a:t>→ (</a:t>
            </a:r>
            <a:r>
              <a:rPr lang="el-GR" sz="2000" b="1" i="1" dirty="0" smtClean="0"/>
              <a:t>α</a:t>
            </a:r>
            <a:r>
              <a:rPr lang="nl-NL" sz="2000" b="1" i="1" baseline="-25000" dirty="0" smtClean="0"/>
              <a:t>4 </a:t>
            </a:r>
            <a:r>
              <a:rPr lang="nl-NL" sz="2000" b="1" dirty="0" smtClean="0"/>
              <a:t>→ </a:t>
            </a:r>
            <a:r>
              <a:rPr lang="el-GR" sz="2000" b="1" i="1" dirty="0" smtClean="0"/>
              <a:t>β</a:t>
            </a:r>
            <a:r>
              <a:rPr lang="nl-NL" sz="2000" b="1" dirty="0" smtClean="0"/>
              <a:t>)))</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241176" y="3544416"/>
            <a:ext cx="8291264" cy="9647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Eveneens</a:t>
            </a:r>
            <a:r>
              <a:rPr kumimoji="0" lang="nl-NL" sz="2000" b="0" i="0" u="none" strike="noStrike" kern="1200" cap="none" spc="0" normalizeH="0" noProof="0" dirty="0" smtClean="0">
                <a:ln>
                  <a:noFill/>
                </a:ln>
                <a:solidFill>
                  <a:schemeClr val="tx1"/>
                </a:solidFill>
                <a:effectLst/>
                <a:uLnTx/>
                <a:uFillTx/>
                <a:latin typeface="+mn-lt"/>
                <a:ea typeface="+mn-ea"/>
                <a:cs typeface="+mn-cs"/>
              </a:rPr>
              <a:t> kan eenvoudig nagegaan worden dat</a:t>
            </a:r>
            <a:endParaRPr lang="nl-NL" sz="800" dirty="0" smtClean="0"/>
          </a:p>
          <a:p>
            <a:pPr marL="342900" lvl="0" indent="-342900">
              <a:spcBef>
                <a:spcPct val="20000"/>
              </a:spcBef>
              <a:defRPr/>
            </a:pPr>
            <a:r>
              <a:rPr lang="nl-NL" sz="2000" b="1" i="1" dirty="0" smtClean="0"/>
              <a:t>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b="1" dirty="0" smtClean="0"/>
              <a:t>Ⱶ </a:t>
            </a:r>
            <a:r>
              <a:rPr lang="el-GR" sz="2000" b="1" i="1" dirty="0" smtClean="0"/>
              <a:t>β</a:t>
            </a:r>
            <a:r>
              <a:rPr lang="nl-NL" sz="2000" b="1" i="1" dirty="0" smtClean="0"/>
              <a:t>  </a:t>
            </a:r>
            <a:r>
              <a:rPr lang="nl-NL" sz="2000" i="1" dirty="0" smtClean="0"/>
              <a:t>dan en slechts dan als   </a:t>
            </a:r>
            <a:r>
              <a:rPr lang="nl-NL" sz="2000" b="1" dirty="0" smtClean="0"/>
              <a:t>Ⱶ (</a:t>
            </a:r>
            <a:r>
              <a:rPr lang="el-GR" sz="2000" b="1" i="1" dirty="0" smtClean="0"/>
              <a:t>α</a:t>
            </a:r>
            <a:r>
              <a:rPr lang="nl-NL" sz="2000" b="1" i="1" baseline="-25000" dirty="0" smtClean="0"/>
              <a:t>1 </a:t>
            </a:r>
            <a:r>
              <a:rPr lang="nl-NL" sz="2000" b="1" dirty="0" smtClean="0"/>
              <a:t>∧ </a:t>
            </a:r>
            <a:r>
              <a:rPr lang="el-GR" sz="2000" b="1" i="1" dirty="0" smtClean="0"/>
              <a:t>α</a:t>
            </a:r>
            <a:r>
              <a:rPr lang="nl-NL" sz="2000" b="1" i="1" baseline="-25000" dirty="0" smtClean="0"/>
              <a:t>2 </a:t>
            </a:r>
            <a:r>
              <a:rPr lang="nl-NL" sz="2000" b="1" dirty="0" smtClean="0"/>
              <a:t>∧ </a:t>
            </a:r>
            <a:r>
              <a:rPr lang="el-GR" sz="2000" b="1" i="1" dirty="0" smtClean="0"/>
              <a:t>α</a:t>
            </a:r>
            <a:r>
              <a:rPr lang="nl-NL" sz="2000" b="1" i="1" baseline="-25000" dirty="0" smtClean="0"/>
              <a:t>3 </a:t>
            </a:r>
            <a:r>
              <a:rPr lang="nl-NL" sz="2000" b="1" dirty="0" smtClean="0"/>
              <a:t>∧ </a:t>
            </a:r>
            <a:r>
              <a:rPr lang="el-GR" sz="2000" b="1" i="1" dirty="0" smtClean="0"/>
              <a:t>α</a:t>
            </a:r>
            <a:r>
              <a:rPr lang="nl-NL" sz="2000" b="1" i="1" baseline="-25000" dirty="0" smtClean="0"/>
              <a:t>4</a:t>
            </a:r>
            <a:r>
              <a:rPr lang="nl-NL" sz="2000" b="1" dirty="0" smtClean="0"/>
              <a:t>) → </a:t>
            </a:r>
            <a:r>
              <a:rPr lang="el-GR" sz="2000" b="1" i="1" dirty="0" smtClean="0"/>
              <a:t>β</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2000"/>
                                        <p:tgtEl>
                                          <p:spTgt spid="6">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20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2000"/>
                                        <p:tgtEl>
                                          <p:spTgt spid="10">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20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10" grpId="0" build="allAtOnce"/>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Monotonie</a:t>
            </a:r>
            <a:endParaRPr lang="nl-NL" sz="3200" dirty="0"/>
          </a:p>
        </p:txBody>
      </p:sp>
      <p:sp>
        <p:nvSpPr>
          <p:cNvPr id="8" name="Content Placeholder 2"/>
          <p:cNvSpPr txBox="1">
            <a:spLocks/>
          </p:cNvSpPr>
          <p:nvPr/>
        </p:nvSpPr>
        <p:spPr>
          <a:xfrm>
            <a:off x="241176" y="1412776"/>
            <a:ext cx="8291264"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Het systeem van natuurlijke deductie is </a:t>
            </a:r>
            <a:r>
              <a:rPr lang="nl-NL" sz="2000" u="sng" dirty="0" smtClean="0"/>
              <a:t>monotoon</a:t>
            </a:r>
            <a:r>
              <a:rPr lang="nl-NL" sz="2000" dirty="0" smtClean="0"/>
              <a:t>. Dit betekent dat “in het verleden behaalde resultaten hier wel een garantie zijn voor de toekomst”. Er mag anders gezegd in afleidingen </a:t>
            </a:r>
            <a:r>
              <a:rPr lang="nl-NL" sz="2000" i="1" dirty="0" smtClean="0"/>
              <a:t>altijd </a:t>
            </a:r>
            <a:r>
              <a:rPr lang="nl-NL" sz="2000" dirty="0" smtClean="0"/>
              <a:t>een beroep gedaan worden op stellingen die al eerder zijn afgeleid: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179512" y="2924944"/>
            <a:ext cx="8291264" cy="266429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8.  …..</a:t>
            </a:r>
          </a:p>
          <a:p>
            <a:pPr marL="342900" lvl="0" indent="-342900">
              <a:spcBef>
                <a:spcPct val="20000"/>
              </a:spcBef>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9.    </a:t>
            </a:r>
            <a:r>
              <a:rPr lang="nl-NL" sz="2000" b="1" dirty="0" smtClean="0">
                <a:solidFill>
                  <a:srgbClr val="0070C0"/>
                </a:solidFill>
              </a:rPr>
              <a:t>P ∧ Q</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10.</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b="1" dirty="0" smtClean="0">
                <a:solidFill>
                  <a:srgbClr val="0070C0"/>
                </a:solidFill>
              </a:rPr>
              <a:t>(P ∧ Q) V R	          </a:t>
            </a:r>
            <a:r>
              <a:rPr lang="nl-NL" sz="2000" b="1" dirty="0" smtClean="0"/>
              <a:t>I V (9)</a:t>
            </a:r>
            <a:r>
              <a:rPr lang="nl-NL" sz="2000" b="1" dirty="0" smtClean="0">
                <a:solidFill>
                  <a:srgbClr val="0070C0"/>
                </a:solidFill>
              </a:rPr>
              <a:t>     		</a:t>
            </a:r>
            <a:endParaRPr kumimoji="0" lang="nl-NL" sz="2000" b="1" i="0" u="none" strike="noStrike" kern="1200" cap="none" spc="0" normalizeH="0" baseline="0" noProof="0" dirty="0" smtClean="0">
              <a:ln>
                <a:noFill/>
              </a:ln>
              <a:solidFill>
                <a:srgbClr val="0070C0"/>
              </a:solidFill>
              <a:effectLst/>
              <a:uLnTx/>
              <a:uFillTx/>
              <a:latin typeface="+mn-lt"/>
              <a:ea typeface="+mn-ea"/>
              <a:cs typeface="+mn-cs"/>
            </a:endParaRPr>
          </a:p>
          <a:p>
            <a:pPr marL="342900" lvl="0" indent="-342900">
              <a:spcBef>
                <a:spcPct val="20000"/>
              </a:spcBef>
              <a:defRPr/>
            </a:pPr>
            <a:r>
              <a:rPr lang="nl-NL" sz="2000" dirty="0" smtClean="0"/>
              <a:t>       11. </a:t>
            </a:r>
            <a:r>
              <a:rPr lang="nl-NL" sz="2000" b="1" dirty="0" smtClean="0">
                <a:solidFill>
                  <a:srgbClr val="0070C0"/>
                </a:solidFill>
              </a:rPr>
              <a:t>(P V R) ∧ (Q V R)</a:t>
            </a:r>
            <a:r>
              <a:rPr lang="nl-NL" sz="2000" dirty="0" smtClean="0"/>
              <a:t>               Wegens </a:t>
            </a:r>
            <a:r>
              <a:rPr lang="nl-NL" sz="2000" b="1" dirty="0" smtClean="0"/>
              <a:t>(A</a:t>
            </a:r>
            <a:r>
              <a:rPr lang="nl-NL" sz="2000" dirty="0" smtClean="0"/>
              <a:t> </a:t>
            </a:r>
            <a:r>
              <a:rPr lang="nl-NL" sz="2000" b="1" dirty="0" smtClean="0"/>
              <a:t>∧ B) V C ↔ (A V C) ∧ (B V C)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12.</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b="1" dirty="0" smtClean="0">
                <a:solidFill>
                  <a:srgbClr val="0070C0"/>
                </a:solidFill>
              </a:rPr>
              <a:t>Q V R	                          </a:t>
            </a:r>
            <a:r>
              <a:rPr lang="nl-NL" sz="2000" b="1" dirty="0" smtClean="0"/>
              <a:t>G ∧  (11)</a:t>
            </a:r>
          </a:p>
          <a:p>
            <a:pPr marL="342900" lvl="0" indent="-342900">
              <a:spcBef>
                <a:spcPct val="20000"/>
              </a:spcBef>
              <a:defRPr/>
            </a:pPr>
            <a:r>
              <a:rPr lang="nl-NL" sz="2000" b="1" dirty="0" smtClean="0">
                <a:solidFill>
                  <a:srgbClr val="0070C0"/>
                </a:solidFill>
              </a:rPr>
              <a:t>       </a:t>
            </a:r>
            <a:r>
              <a:rPr lang="nl-NL" sz="2000" dirty="0" smtClean="0"/>
              <a:t>13. …..</a:t>
            </a:r>
            <a:r>
              <a:rPr lang="nl-NL" sz="2000" b="1" dirty="0" smtClean="0">
                <a:solidFill>
                  <a:srgbClr val="0070C0"/>
                </a:solidFill>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Effect transition="in" filter="fade">
                                      <p:cBhvr>
                                        <p:cTn id="7" dur="2000"/>
                                        <p:tgtEl>
                                          <p:spTgt spid="9">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3" end="3"/>
                                            </p:txEl>
                                          </p:spTgt>
                                        </p:tgtEl>
                                        <p:attrNameLst>
                                          <p:attrName>style.visibility</p:attrName>
                                        </p:attrNameLst>
                                      </p:cBhvr>
                                      <p:to>
                                        <p:strVal val="visible"/>
                                      </p:to>
                                    </p:set>
                                    <p:animEffect transition="in" filter="fade">
                                      <p:cBhvr>
                                        <p:cTn id="10" dur="2000"/>
                                        <p:tgtEl>
                                          <p:spTgt spid="9">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fade">
                                      <p:cBhvr>
                                        <p:cTn id="13" dur="2000"/>
                                        <p:tgtEl>
                                          <p:spTgt spid="9">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xEl>
                                              <p:pRg st="5" end="5"/>
                                            </p:txEl>
                                          </p:spTgt>
                                        </p:tgtEl>
                                        <p:attrNameLst>
                                          <p:attrName>style.visibility</p:attrName>
                                        </p:attrNameLst>
                                      </p:cBhvr>
                                      <p:to>
                                        <p:strVal val="visible"/>
                                      </p:to>
                                    </p:set>
                                    <p:animEffect transition="in" filter="fade">
                                      <p:cBhvr>
                                        <p:cTn id="16" dur="2000"/>
                                        <p:tgtEl>
                                          <p:spTgt spid="9">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animEffect transition="in" filter="fade">
                                      <p:cBhvr>
                                        <p:cTn id="19" dur="2000"/>
                                        <p:tgtEl>
                                          <p:spTgt spid="9">
                                            <p:txEl>
                                              <p:pRg st="6" end="6"/>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xEl>
                                              <p:pRg st="7" end="7"/>
                                            </p:txEl>
                                          </p:spTgt>
                                        </p:tgtEl>
                                        <p:attrNameLst>
                                          <p:attrName>style.visibility</p:attrName>
                                        </p:attrNameLst>
                                      </p:cBhvr>
                                      <p:to>
                                        <p:strVal val="visible"/>
                                      </p:to>
                                    </p:set>
                                    <p:animEffect transition="in" filter="fade">
                                      <p:cBhvr>
                                        <p:cTn id="22" dur="2000"/>
                                        <p:tgtEl>
                                          <p:spTgt spid="9">
                                            <p:txEl>
                                              <p:pRg st="7" end="7"/>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xEl>
                                              <p:pRg st="8" end="8"/>
                                            </p:txEl>
                                          </p:spTgt>
                                        </p:tgtEl>
                                        <p:attrNameLst>
                                          <p:attrName>style.visibility</p:attrName>
                                        </p:attrNameLst>
                                      </p:cBhvr>
                                      <p:to>
                                        <p:strVal val="visible"/>
                                      </p:to>
                                    </p:set>
                                    <p:animEffect transition="in" filter="fade">
                                      <p:cBhvr>
                                        <p:cTn id="25" dur="20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Semantiek</a:t>
            </a:r>
            <a:endParaRPr lang="nl-NL" sz="3200" dirty="0"/>
          </a:p>
        </p:txBody>
      </p:sp>
      <p:sp>
        <p:nvSpPr>
          <p:cNvPr id="8" name="Content Placeholder 2"/>
          <p:cNvSpPr txBox="1">
            <a:spLocks/>
          </p:cNvSpPr>
          <p:nvPr/>
        </p:nvSpPr>
        <p:spPr>
          <a:xfrm>
            <a:off x="241176" y="1412776"/>
            <a:ext cx="8291264"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Het systeem van natuurlijke deductie betreft een louter </a:t>
            </a:r>
            <a:r>
              <a:rPr lang="nl-NL" sz="2000" b="1" dirty="0" smtClean="0"/>
              <a:t>syntactische </a:t>
            </a:r>
            <a:r>
              <a:rPr lang="nl-NL" sz="2000" dirty="0" smtClean="0"/>
              <a:t>karakterisering van geldigheid. Het geeft alleen aan hoe uit bepaalde syntactisch welgevormde formules andere syntactisch welgevormde formules op grond van syntactische regels kunnen worden afgeleid.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241176" y="3068960"/>
            <a:ext cx="8291264"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introduceren nu ook een </a:t>
            </a:r>
            <a:r>
              <a:rPr lang="nl-NL" sz="2000" b="1" dirty="0" smtClean="0"/>
              <a:t>semantische </a:t>
            </a:r>
            <a:r>
              <a:rPr lang="nl-NL" sz="2000" dirty="0" smtClean="0"/>
              <a:t>theorie van logische geldigheid. Een semantische theorie richt zich op een precisering van </a:t>
            </a:r>
            <a:r>
              <a:rPr lang="nl-NL" sz="2000" i="1" dirty="0" smtClean="0"/>
              <a:t>betekenis</a:t>
            </a:r>
            <a:r>
              <a:rPr lang="nl-NL" sz="2000" dirty="0" smtClean="0"/>
              <a:t> van de formules van de propositielogica. Dit doen we door het </a:t>
            </a:r>
            <a:r>
              <a:rPr lang="nl-NL" sz="2000" i="1" dirty="0" err="1" smtClean="0"/>
              <a:t>waarheidswaarde-gedrag</a:t>
            </a:r>
            <a:r>
              <a:rPr lang="nl-NL" sz="2000" dirty="0" smtClean="0"/>
              <a:t> van deze formules nader te preciseren.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41176" y="4581128"/>
            <a:ext cx="8651304" cy="15841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b="1" dirty="0" smtClean="0"/>
              <a:t>Twee principes</a:t>
            </a:r>
            <a:r>
              <a:rPr lang="nl-NL" sz="2000" dirty="0" smtClean="0"/>
              <a:t> zijn hierbij van belang</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1. Het principe van </a:t>
            </a:r>
            <a:r>
              <a:rPr lang="nl-NL" sz="2000" u="sng" dirty="0" err="1" smtClean="0"/>
              <a:t>bivalentie</a:t>
            </a:r>
            <a:r>
              <a:rPr lang="nl-NL" sz="2000" dirty="0" smtClean="0"/>
              <a:t>: Elke formule is </a:t>
            </a:r>
            <a:r>
              <a:rPr lang="nl-NL" sz="2000" dirty="0" err="1" smtClean="0"/>
              <a:t>óf</a:t>
            </a:r>
            <a:r>
              <a:rPr lang="nl-NL" sz="2000" dirty="0" smtClean="0"/>
              <a:t> waar, </a:t>
            </a:r>
            <a:r>
              <a:rPr lang="nl-NL" sz="2000" dirty="0" err="1" smtClean="0"/>
              <a:t>óf</a:t>
            </a:r>
            <a:r>
              <a:rPr lang="nl-NL" sz="2000" dirty="0" smtClean="0"/>
              <a:t> onwaar</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2. Het principe van </a:t>
            </a:r>
            <a:r>
              <a:rPr lang="nl-NL" sz="2000" u="sng" dirty="0" smtClean="0"/>
              <a:t>waarheidsfunctionaliteit</a:t>
            </a:r>
            <a:r>
              <a:rPr lang="nl-NL" sz="2000" dirty="0" smtClean="0"/>
              <a:t>: De </a:t>
            </a:r>
            <a:r>
              <a:rPr lang="nl-NL" sz="2000" i="1" dirty="0" smtClean="0"/>
              <a:t>waarheidswaarde</a:t>
            </a:r>
            <a:r>
              <a:rPr lang="nl-NL" sz="2000" dirty="0" smtClean="0"/>
              <a:t> (‘waar’        </a:t>
            </a:r>
            <a:br>
              <a:rPr lang="nl-NL" sz="2000" dirty="0" smtClean="0"/>
            </a:br>
            <a:r>
              <a:rPr lang="nl-NL" sz="2000" dirty="0" smtClean="0"/>
              <a:t>    of ‘onwaar’) van een complexe formule wordt geheel bepaald door de </a:t>
            </a:r>
            <a:br>
              <a:rPr lang="nl-NL" sz="2000" dirty="0" smtClean="0"/>
            </a:br>
            <a:r>
              <a:rPr lang="nl-NL" sz="2000" dirty="0" smtClean="0"/>
              <a:t>    waarheidswaarde(n) van de erin bevatte (meer) elementaire formule(s)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20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2000"/>
                                        <p:tgtEl>
                                          <p:spTgt spid="6">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2000"/>
                                        <p:tgtEl>
                                          <p:spTgt spid="6">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2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Waarheidstafel van de conjunctie (∧)</a:t>
            </a:r>
            <a:endParaRPr lang="nl-NL" sz="3200" dirty="0"/>
          </a:p>
        </p:txBody>
      </p:sp>
      <p:graphicFrame>
        <p:nvGraphicFramePr>
          <p:cNvPr id="7" name="Table 6"/>
          <p:cNvGraphicFramePr>
            <a:graphicFrameLocks noGrp="1"/>
          </p:cNvGraphicFramePr>
          <p:nvPr/>
        </p:nvGraphicFramePr>
        <p:xfrm>
          <a:off x="1524000" y="1358776"/>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P </a:t>
                      </a:r>
                      <a:r>
                        <a:rPr lang="nl-NL" sz="1800" b="1" dirty="0" smtClean="0"/>
                        <a:t>∧ Q</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sp>
        <p:nvSpPr>
          <p:cNvPr id="11" name="TextBox 10"/>
          <p:cNvSpPr txBox="1"/>
          <p:nvPr/>
        </p:nvSpPr>
        <p:spPr>
          <a:xfrm>
            <a:off x="1187624" y="3789040"/>
            <a:ext cx="6912768" cy="1754326"/>
          </a:xfrm>
          <a:prstGeom prst="rect">
            <a:avLst/>
          </a:prstGeom>
          <a:noFill/>
        </p:spPr>
        <p:txBody>
          <a:bodyPr wrap="square" rtlCol="0">
            <a:spAutoFit/>
          </a:bodyPr>
          <a:lstStyle/>
          <a:p>
            <a:r>
              <a:rPr lang="nl-NL" dirty="0" smtClean="0"/>
              <a:t>Deze </a:t>
            </a:r>
            <a:r>
              <a:rPr lang="nl-NL" i="1" dirty="0" smtClean="0"/>
              <a:t>waarheidstafel</a:t>
            </a:r>
            <a:r>
              <a:rPr lang="nl-NL" dirty="0" smtClean="0"/>
              <a:t> bestaat uit vier </a:t>
            </a:r>
            <a:r>
              <a:rPr lang="nl-NL" i="1" dirty="0" err="1" smtClean="0"/>
              <a:t>waarheidswaardeverdelingen</a:t>
            </a:r>
            <a:r>
              <a:rPr lang="nl-NL" dirty="0" smtClean="0"/>
              <a:t>. Een waarheidstafel is volledig wanneer voor elke </a:t>
            </a:r>
            <a:r>
              <a:rPr lang="nl-NL" dirty="0" err="1" smtClean="0"/>
              <a:t>waarheidswaardeverdeling</a:t>
            </a:r>
            <a:r>
              <a:rPr lang="nl-NL" dirty="0" smtClean="0"/>
              <a:t> van de </a:t>
            </a:r>
            <a:r>
              <a:rPr lang="nl-NL" i="1" dirty="0" smtClean="0"/>
              <a:t>atomaire proposities </a:t>
            </a:r>
            <a:r>
              <a:rPr lang="nl-NL" dirty="0" smtClean="0"/>
              <a:t>de bijbehorende </a:t>
            </a:r>
            <a:r>
              <a:rPr lang="nl-NL" i="1" dirty="0" smtClean="0"/>
              <a:t>waarheidswaarde</a:t>
            </a:r>
            <a:r>
              <a:rPr lang="nl-NL" dirty="0" smtClean="0"/>
              <a:t> van de betreffende propositie is vastgelegd. De waarheidstafel als geheel stelt de </a:t>
            </a:r>
            <a:r>
              <a:rPr lang="nl-NL" i="1" dirty="0" smtClean="0"/>
              <a:t>waarheidsfunctie</a:t>
            </a:r>
            <a:r>
              <a:rPr lang="nl-NL" dirty="0" smtClean="0"/>
              <a:t> van de desbetreffende formule voor ogen. De waarheidstafel hierboven legt de </a:t>
            </a:r>
            <a:r>
              <a:rPr lang="nl-NL" i="1" dirty="0" smtClean="0"/>
              <a:t>betekenis</a:t>
            </a:r>
            <a:r>
              <a:rPr lang="nl-NL" dirty="0" smtClean="0"/>
              <a:t> van de conjunctie vast.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Waarheidstafel van de negatie (</a:t>
            </a:r>
            <a:r>
              <a:rPr lang="nl-NL" sz="3200" b="1" dirty="0" smtClean="0"/>
              <a:t>¬</a:t>
            </a:r>
            <a:r>
              <a:rPr lang="nl-NL" sz="3200" dirty="0" smtClean="0"/>
              <a:t>)</a:t>
            </a:r>
            <a:endParaRPr lang="nl-NL" sz="3200" dirty="0"/>
          </a:p>
        </p:txBody>
      </p:sp>
      <p:graphicFrame>
        <p:nvGraphicFramePr>
          <p:cNvPr id="7" name="Table 6"/>
          <p:cNvGraphicFramePr>
            <a:graphicFrameLocks noGrp="1"/>
          </p:cNvGraphicFramePr>
          <p:nvPr/>
        </p:nvGraphicFramePr>
        <p:xfrm>
          <a:off x="2308200" y="1556792"/>
          <a:ext cx="4064000" cy="1112520"/>
        </p:xfrm>
        <a:graphic>
          <a:graphicData uri="http://schemas.openxmlformats.org/drawingml/2006/table">
            <a:tbl>
              <a:tblPr firstRow="1" bandRow="1">
                <a:tableStyleId>{5C22544A-7EE6-4342-B048-85BDC9FD1C3A}</a:tableStyleId>
              </a:tblPr>
              <a:tblGrid>
                <a:gridCol w="2032000"/>
                <a:gridCol w="2032000"/>
              </a:tblGrid>
              <a:tr h="370840">
                <a:tc>
                  <a:txBody>
                    <a:bodyPr/>
                    <a:lstStyle/>
                    <a:p>
                      <a:pPr algn="ctr"/>
                      <a:r>
                        <a:rPr lang="nl-NL" dirty="0" smtClean="0"/>
                        <a:t>P</a:t>
                      </a:r>
                      <a:endParaRPr lang="nl-NL" dirty="0"/>
                    </a:p>
                  </a:txBody>
                  <a:tcPr/>
                </a:tc>
                <a:tc>
                  <a:txBody>
                    <a:bodyPr/>
                    <a:lstStyle/>
                    <a:p>
                      <a:pPr algn="ctr"/>
                      <a:r>
                        <a:rPr kumimoji="0" lang="nl-NL" sz="1800" b="1" i="0" u="none" strike="noStrike" kern="1200" cap="none" spc="0" normalizeH="0" baseline="0" noProof="0" dirty="0" smtClean="0">
                          <a:ln>
                            <a:noFill/>
                          </a:ln>
                          <a:solidFill>
                            <a:schemeClr val="bg1"/>
                          </a:solidFill>
                          <a:effectLst/>
                          <a:uLnTx/>
                          <a:uFillTx/>
                          <a:latin typeface="+mn-lt"/>
                          <a:ea typeface="+mn-ea"/>
                          <a:cs typeface="+mn-cs"/>
                        </a:rPr>
                        <a:t>¬P</a:t>
                      </a:r>
                      <a:endParaRPr lang="nl-NL" b="1" dirty="0">
                        <a:solidFill>
                          <a:schemeClr val="bg1"/>
                        </a:solidFill>
                      </a:endParaRPr>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
        <p:nvSpPr>
          <p:cNvPr id="5" name="Title 1"/>
          <p:cNvSpPr txBox="1">
            <a:spLocks/>
          </p:cNvSpPr>
          <p:nvPr/>
        </p:nvSpPr>
        <p:spPr>
          <a:xfrm>
            <a:off x="133672" y="2862064"/>
            <a:ext cx="86868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l-NL" sz="3200" b="0" i="0" u="none" strike="noStrike" kern="1200" cap="none" spc="0" normalizeH="0" baseline="0" noProof="0" dirty="0" smtClean="0">
                <a:ln>
                  <a:noFill/>
                </a:ln>
                <a:solidFill>
                  <a:schemeClr val="tx1"/>
                </a:solidFill>
                <a:effectLst/>
                <a:uLnTx/>
                <a:uFillTx/>
                <a:latin typeface="+mj-lt"/>
                <a:ea typeface="+mj-ea"/>
                <a:cs typeface="+mj-cs"/>
              </a:rPr>
              <a:t>Waarheidstafel van de disjunctie (V)</a:t>
            </a:r>
            <a:endParaRPr kumimoji="0" lang="nl-NL" sz="32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12" name="Table 11"/>
          <p:cNvGraphicFramePr>
            <a:graphicFrameLocks noGrp="1"/>
          </p:cNvGraphicFramePr>
          <p:nvPr/>
        </p:nvGraphicFramePr>
        <p:xfrm>
          <a:off x="1524000" y="4005064"/>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P V Q</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Waarheidstafel van de negatie (</a:t>
            </a:r>
            <a:r>
              <a:rPr lang="nl-NL" sz="3200" b="1" dirty="0" smtClean="0"/>
              <a:t>¬</a:t>
            </a:r>
            <a:r>
              <a:rPr lang="nl-NL" sz="3200" dirty="0" smtClean="0"/>
              <a:t>)</a:t>
            </a:r>
            <a:endParaRPr lang="nl-NL" sz="3200" dirty="0"/>
          </a:p>
        </p:txBody>
      </p:sp>
      <p:graphicFrame>
        <p:nvGraphicFramePr>
          <p:cNvPr id="7" name="Table 6"/>
          <p:cNvGraphicFramePr>
            <a:graphicFrameLocks noGrp="1"/>
          </p:cNvGraphicFramePr>
          <p:nvPr/>
        </p:nvGraphicFramePr>
        <p:xfrm>
          <a:off x="2308200" y="1556792"/>
          <a:ext cx="4064000" cy="1112520"/>
        </p:xfrm>
        <a:graphic>
          <a:graphicData uri="http://schemas.openxmlformats.org/drawingml/2006/table">
            <a:tbl>
              <a:tblPr firstRow="1" bandRow="1">
                <a:tableStyleId>{5C22544A-7EE6-4342-B048-85BDC9FD1C3A}</a:tableStyleId>
              </a:tblPr>
              <a:tblGrid>
                <a:gridCol w="2032000"/>
                <a:gridCol w="2032000"/>
              </a:tblGrid>
              <a:tr h="370840">
                <a:tc>
                  <a:txBody>
                    <a:bodyPr/>
                    <a:lstStyle/>
                    <a:p>
                      <a:pPr algn="ctr"/>
                      <a:r>
                        <a:rPr lang="nl-NL" dirty="0" smtClean="0"/>
                        <a:t>P</a:t>
                      </a:r>
                      <a:endParaRPr lang="nl-NL" dirty="0"/>
                    </a:p>
                  </a:txBody>
                  <a:tcPr/>
                </a:tc>
                <a:tc>
                  <a:txBody>
                    <a:bodyPr/>
                    <a:lstStyle/>
                    <a:p>
                      <a:pPr algn="ctr"/>
                      <a:r>
                        <a:rPr kumimoji="0" lang="nl-NL" sz="1800" b="1" i="0" u="none" strike="noStrike" kern="1200" cap="none" spc="0" normalizeH="0" baseline="0" noProof="0" dirty="0" smtClean="0">
                          <a:ln>
                            <a:noFill/>
                          </a:ln>
                          <a:solidFill>
                            <a:schemeClr val="bg1"/>
                          </a:solidFill>
                          <a:effectLst/>
                          <a:uLnTx/>
                          <a:uFillTx/>
                          <a:latin typeface="+mn-lt"/>
                          <a:ea typeface="+mn-ea"/>
                          <a:cs typeface="+mn-cs"/>
                        </a:rPr>
                        <a:t>¬P</a:t>
                      </a:r>
                      <a:endParaRPr lang="nl-NL" b="1" dirty="0">
                        <a:solidFill>
                          <a:schemeClr val="bg1"/>
                        </a:solidFill>
                      </a:endParaRPr>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
        <p:nvSpPr>
          <p:cNvPr id="5" name="Title 1"/>
          <p:cNvSpPr txBox="1">
            <a:spLocks/>
          </p:cNvSpPr>
          <p:nvPr/>
        </p:nvSpPr>
        <p:spPr>
          <a:xfrm>
            <a:off x="133672" y="2862064"/>
            <a:ext cx="86868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l-NL" sz="3200" b="0" i="0" u="none" strike="noStrike" kern="1200" cap="none" spc="0" normalizeH="0" baseline="0" noProof="0" dirty="0" smtClean="0">
                <a:ln>
                  <a:noFill/>
                </a:ln>
                <a:solidFill>
                  <a:schemeClr val="tx1"/>
                </a:solidFill>
                <a:effectLst/>
                <a:uLnTx/>
                <a:uFillTx/>
                <a:latin typeface="+mj-lt"/>
                <a:ea typeface="+mj-ea"/>
                <a:cs typeface="+mj-cs"/>
              </a:rPr>
              <a:t>Waarheidstafel van de </a:t>
            </a:r>
            <a:r>
              <a:rPr kumimoji="0" lang="nl-NL" sz="3200" i="1" u="none" strike="noStrike" kern="1200" cap="none" spc="0" normalizeH="0" baseline="0" noProof="0" dirty="0" smtClean="0">
                <a:ln>
                  <a:noFill/>
                </a:ln>
                <a:solidFill>
                  <a:schemeClr val="tx1"/>
                </a:solidFill>
                <a:effectLst/>
                <a:uLnTx/>
                <a:uFillTx/>
                <a:latin typeface="+mj-lt"/>
                <a:ea typeface="+mj-ea"/>
                <a:cs typeface="+mj-cs"/>
              </a:rPr>
              <a:t>inclusieve</a:t>
            </a:r>
            <a:r>
              <a:rPr kumimoji="0" lang="nl-NL" sz="3200" b="0" i="0" u="none" strike="noStrike" kern="1200" cap="none" spc="0" normalizeH="0" noProof="0" dirty="0" smtClean="0">
                <a:ln>
                  <a:noFill/>
                </a:ln>
                <a:solidFill>
                  <a:schemeClr val="tx1"/>
                </a:solidFill>
                <a:effectLst/>
                <a:uLnTx/>
                <a:uFillTx/>
                <a:latin typeface="+mj-lt"/>
                <a:ea typeface="+mj-ea"/>
                <a:cs typeface="+mj-cs"/>
              </a:rPr>
              <a:t> </a:t>
            </a:r>
            <a:r>
              <a:rPr kumimoji="0" lang="nl-NL" sz="3200" b="0" i="0" u="none" strike="noStrike" kern="1200" cap="none" spc="0" normalizeH="0" baseline="0" noProof="0" dirty="0" smtClean="0">
                <a:ln>
                  <a:noFill/>
                </a:ln>
                <a:solidFill>
                  <a:schemeClr val="tx1"/>
                </a:solidFill>
                <a:effectLst/>
                <a:uLnTx/>
                <a:uFillTx/>
                <a:latin typeface="+mj-lt"/>
                <a:ea typeface="+mj-ea"/>
                <a:cs typeface="+mj-cs"/>
              </a:rPr>
              <a:t>disjunctie (V)</a:t>
            </a:r>
            <a:endParaRPr kumimoji="0" lang="nl-NL" sz="32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12" name="Table 11"/>
          <p:cNvGraphicFramePr>
            <a:graphicFrameLocks noGrp="1"/>
          </p:cNvGraphicFramePr>
          <p:nvPr/>
        </p:nvGraphicFramePr>
        <p:xfrm>
          <a:off x="1524000" y="4005064"/>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P V Q</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33672" y="188640"/>
            <a:ext cx="86868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l-NL" sz="3200" b="0" i="0" u="none" strike="noStrike" kern="1200" cap="none" spc="0" normalizeH="0" baseline="0" noProof="0" dirty="0" smtClean="0">
                <a:ln>
                  <a:noFill/>
                </a:ln>
                <a:solidFill>
                  <a:schemeClr val="tx1"/>
                </a:solidFill>
                <a:effectLst/>
                <a:uLnTx/>
                <a:uFillTx/>
                <a:latin typeface="+mj-lt"/>
                <a:ea typeface="+mj-ea"/>
                <a:cs typeface="+mj-cs"/>
              </a:rPr>
              <a:t>Waarheidstafel van de </a:t>
            </a:r>
            <a:r>
              <a:rPr kumimoji="0" lang="nl-NL" sz="3200" b="0" i="1" u="none" strike="noStrike" kern="1200" cap="none" spc="0" normalizeH="0" baseline="0" noProof="0" dirty="0" smtClean="0">
                <a:ln>
                  <a:noFill/>
                </a:ln>
                <a:solidFill>
                  <a:schemeClr val="tx1"/>
                </a:solidFill>
                <a:effectLst/>
                <a:uLnTx/>
                <a:uFillTx/>
                <a:latin typeface="+mj-lt"/>
                <a:ea typeface="+mj-ea"/>
                <a:cs typeface="+mj-cs"/>
              </a:rPr>
              <a:t>exclusieve</a:t>
            </a:r>
            <a:r>
              <a:rPr kumimoji="0" lang="nl-NL" sz="3200" b="0" i="0" u="none" strike="noStrike" kern="1200" cap="none" spc="0" normalizeH="0" noProof="0" dirty="0" smtClean="0">
                <a:ln>
                  <a:noFill/>
                </a:ln>
                <a:solidFill>
                  <a:schemeClr val="tx1"/>
                </a:solidFill>
                <a:effectLst/>
                <a:uLnTx/>
                <a:uFillTx/>
                <a:latin typeface="+mj-lt"/>
                <a:ea typeface="+mj-ea"/>
                <a:cs typeface="+mj-cs"/>
              </a:rPr>
              <a:t> </a:t>
            </a:r>
            <a:r>
              <a:rPr kumimoji="0" lang="nl-NL" sz="3200" b="0" i="0" u="none" strike="noStrike" kern="1200" cap="none" spc="0" normalizeH="0" baseline="0" noProof="0" dirty="0" smtClean="0">
                <a:ln>
                  <a:noFill/>
                </a:ln>
                <a:solidFill>
                  <a:schemeClr val="tx1"/>
                </a:solidFill>
                <a:effectLst/>
                <a:uLnTx/>
                <a:uFillTx/>
                <a:latin typeface="+mj-lt"/>
                <a:ea typeface="+mj-ea"/>
                <a:cs typeface="+mj-cs"/>
              </a:rPr>
              <a:t>disjunctie (V)</a:t>
            </a:r>
            <a:endParaRPr kumimoji="0" lang="nl-NL" sz="32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12" name="Table 11"/>
          <p:cNvGraphicFramePr>
            <a:graphicFrameLocks noGrp="1"/>
          </p:cNvGraphicFramePr>
          <p:nvPr/>
        </p:nvGraphicFramePr>
        <p:xfrm>
          <a:off x="1524000" y="1331640"/>
          <a:ext cx="6096000" cy="2397760"/>
        </p:xfrm>
        <a:graphic>
          <a:graphicData uri="http://schemas.openxmlformats.org/drawingml/2006/table">
            <a:tbl>
              <a:tblPr firstRow="1" bandRow="1">
                <a:tableStyleId>{5C22544A-7EE6-4342-B048-85BDC9FD1C3A}</a:tableStyleId>
              </a:tblPr>
              <a:tblGrid>
                <a:gridCol w="2032000"/>
                <a:gridCol w="2032000"/>
                <a:gridCol w="2032000"/>
              </a:tblGrid>
              <a:tr h="513184">
                <a:tc>
                  <a:txBody>
                    <a:bodyPr/>
                    <a:lstStyle/>
                    <a:p>
                      <a:pPr algn="ctr"/>
                      <a:endParaRPr lang="nl-NL" dirty="0" smtClean="0"/>
                    </a:p>
                    <a:p>
                      <a:pPr algn="ctr"/>
                      <a:r>
                        <a:rPr lang="nl-NL" dirty="0" smtClean="0"/>
                        <a:t>P</a:t>
                      </a:r>
                      <a:endParaRPr lang="nl-NL" dirty="0"/>
                    </a:p>
                  </a:txBody>
                  <a:tcPr/>
                </a:tc>
                <a:tc>
                  <a:txBody>
                    <a:bodyPr/>
                    <a:lstStyle/>
                    <a:p>
                      <a:pPr algn="ctr"/>
                      <a:endParaRPr lang="nl-NL" dirty="0" smtClean="0"/>
                    </a:p>
                    <a:p>
                      <a:pPr algn="ctr"/>
                      <a:r>
                        <a:rPr lang="nl-NL" dirty="0" smtClean="0"/>
                        <a:t>Q</a:t>
                      </a:r>
                      <a:endParaRPr lang="nl-NL" dirty="0"/>
                    </a:p>
                  </a:txBody>
                  <a:tcPr/>
                </a:tc>
                <a:tc>
                  <a:txBody>
                    <a:bodyPr/>
                    <a:lstStyle/>
                    <a:p>
                      <a:pPr algn="ctr"/>
                      <a:endParaRPr lang="nl-NL" dirty="0" smtClean="0"/>
                    </a:p>
                    <a:p>
                      <a:pPr algn="ctr"/>
                      <a:r>
                        <a:rPr lang="nl-NL" dirty="0" smtClean="0"/>
                        <a:t>P V Q</a:t>
                      </a:r>
                    </a:p>
                    <a:p>
                      <a:pPr algn="ctr"/>
                      <a:endParaRPr lang="nl-NL" dirty="0"/>
                    </a:p>
                  </a:txBody>
                  <a:tcPr/>
                </a:tc>
              </a:tr>
              <a:tr h="370840">
                <a:tc>
                  <a:txBody>
                    <a:bodyPr/>
                    <a:lstStyle/>
                    <a:p>
                      <a:pPr algn="ctr"/>
                      <a:r>
                        <a:rPr lang="nl-NL" b="0" dirty="0" smtClean="0"/>
                        <a:t>W</a:t>
                      </a:r>
                      <a:endParaRPr lang="nl-NL" b="0" dirty="0"/>
                    </a:p>
                  </a:txBody>
                  <a:tcPr/>
                </a:tc>
                <a:tc>
                  <a:txBody>
                    <a:bodyPr/>
                    <a:lstStyle/>
                    <a:p>
                      <a:pPr algn="ctr"/>
                      <a:r>
                        <a:rPr lang="nl-NL" b="0" dirty="0" smtClean="0"/>
                        <a:t>W</a:t>
                      </a:r>
                      <a:endParaRPr lang="nl-NL" b="0" dirty="0"/>
                    </a:p>
                  </a:txBody>
                  <a:tcPr/>
                </a:tc>
                <a:tc>
                  <a:txBody>
                    <a:bodyPr/>
                    <a:lstStyle/>
                    <a:p>
                      <a:pPr algn="ctr"/>
                      <a:r>
                        <a:rPr lang="nl-NL" b="0" dirty="0" smtClean="0"/>
                        <a:t>O</a:t>
                      </a:r>
                      <a:endParaRPr lang="nl-NL" b="0"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cxnSp>
        <p:nvCxnSpPr>
          <p:cNvPr id="9" name="Straight Connector 8"/>
          <p:cNvCxnSpPr/>
          <p:nvPr/>
        </p:nvCxnSpPr>
        <p:spPr>
          <a:xfrm>
            <a:off x="7956376" y="548680"/>
            <a:ext cx="21602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516216" y="1628800"/>
            <a:ext cx="14401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33672" y="188640"/>
            <a:ext cx="86868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l-NL" sz="3200" b="0" i="0" u="none" strike="noStrike" kern="1200" cap="none" spc="0" normalizeH="0" baseline="0" noProof="0" dirty="0" smtClean="0">
                <a:ln>
                  <a:noFill/>
                </a:ln>
                <a:solidFill>
                  <a:schemeClr val="tx1"/>
                </a:solidFill>
                <a:effectLst/>
                <a:uLnTx/>
                <a:uFillTx/>
                <a:latin typeface="+mj-lt"/>
                <a:ea typeface="+mj-ea"/>
                <a:cs typeface="+mj-cs"/>
              </a:rPr>
              <a:t>Waarheidstafel van de </a:t>
            </a:r>
            <a:r>
              <a:rPr kumimoji="0" lang="nl-NL" sz="3200" b="0" i="1" u="none" strike="noStrike" kern="1200" cap="none" spc="0" normalizeH="0" baseline="0" noProof="0" dirty="0" smtClean="0">
                <a:ln>
                  <a:noFill/>
                </a:ln>
                <a:solidFill>
                  <a:schemeClr val="tx1"/>
                </a:solidFill>
                <a:effectLst/>
                <a:uLnTx/>
                <a:uFillTx/>
                <a:latin typeface="+mj-lt"/>
                <a:ea typeface="+mj-ea"/>
                <a:cs typeface="+mj-cs"/>
              </a:rPr>
              <a:t>exclusieve</a:t>
            </a:r>
            <a:r>
              <a:rPr kumimoji="0" lang="nl-NL" sz="3200" b="0" i="0" u="none" strike="noStrike" kern="1200" cap="none" spc="0" normalizeH="0" noProof="0" dirty="0" smtClean="0">
                <a:ln>
                  <a:noFill/>
                </a:ln>
                <a:solidFill>
                  <a:schemeClr val="tx1"/>
                </a:solidFill>
                <a:effectLst/>
                <a:uLnTx/>
                <a:uFillTx/>
                <a:latin typeface="+mj-lt"/>
                <a:ea typeface="+mj-ea"/>
                <a:cs typeface="+mj-cs"/>
              </a:rPr>
              <a:t> </a:t>
            </a:r>
            <a:r>
              <a:rPr kumimoji="0" lang="nl-NL" sz="3200" b="0" i="0" u="none" strike="noStrike" kern="1200" cap="none" spc="0" normalizeH="0" baseline="0" noProof="0" dirty="0" smtClean="0">
                <a:ln>
                  <a:noFill/>
                </a:ln>
                <a:solidFill>
                  <a:schemeClr val="tx1"/>
                </a:solidFill>
                <a:effectLst/>
                <a:uLnTx/>
                <a:uFillTx/>
                <a:latin typeface="+mj-lt"/>
                <a:ea typeface="+mj-ea"/>
                <a:cs typeface="+mj-cs"/>
              </a:rPr>
              <a:t>disjunctie (V)</a:t>
            </a:r>
            <a:endParaRPr kumimoji="0" lang="nl-NL" sz="32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12" name="Table 11"/>
          <p:cNvGraphicFramePr>
            <a:graphicFrameLocks noGrp="1"/>
          </p:cNvGraphicFramePr>
          <p:nvPr/>
        </p:nvGraphicFramePr>
        <p:xfrm>
          <a:off x="1524000" y="1331640"/>
          <a:ext cx="6096000" cy="2397760"/>
        </p:xfrm>
        <a:graphic>
          <a:graphicData uri="http://schemas.openxmlformats.org/drawingml/2006/table">
            <a:tbl>
              <a:tblPr firstRow="1" bandRow="1">
                <a:tableStyleId>{5C22544A-7EE6-4342-B048-85BDC9FD1C3A}</a:tableStyleId>
              </a:tblPr>
              <a:tblGrid>
                <a:gridCol w="2032000"/>
                <a:gridCol w="2032000"/>
                <a:gridCol w="2032000"/>
              </a:tblGrid>
              <a:tr h="513184">
                <a:tc>
                  <a:txBody>
                    <a:bodyPr/>
                    <a:lstStyle/>
                    <a:p>
                      <a:pPr algn="ctr"/>
                      <a:endParaRPr lang="nl-NL" dirty="0" smtClean="0"/>
                    </a:p>
                    <a:p>
                      <a:pPr algn="ctr"/>
                      <a:r>
                        <a:rPr lang="nl-NL" dirty="0" smtClean="0"/>
                        <a:t>P</a:t>
                      </a:r>
                      <a:endParaRPr lang="nl-NL" dirty="0"/>
                    </a:p>
                  </a:txBody>
                  <a:tcPr/>
                </a:tc>
                <a:tc>
                  <a:txBody>
                    <a:bodyPr/>
                    <a:lstStyle/>
                    <a:p>
                      <a:pPr algn="ctr"/>
                      <a:endParaRPr lang="nl-NL" dirty="0" smtClean="0"/>
                    </a:p>
                    <a:p>
                      <a:pPr algn="ctr"/>
                      <a:r>
                        <a:rPr lang="nl-NL" dirty="0" smtClean="0"/>
                        <a:t>Q</a:t>
                      </a:r>
                      <a:endParaRPr lang="nl-NL" dirty="0"/>
                    </a:p>
                  </a:txBody>
                  <a:tcPr/>
                </a:tc>
                <a:tc>
                  <a:txBody>
                    <a:bodyPr/>
                    <a:lstStyle/>
                    <a:p>
                      <a:pPr algn="ctr"/>
                      <a:endParaRPr lang="nl-NL" dirty="0" smtClean="0"/>
                    </a:p>
                    <a:p>
                      <a:pPr algn="ctr"/>
                      <a:r>
                        <a:rPr lang="nl-NL" dirty="0" smtClean="0"/>
                        <a:t>P V Q</a:t>
                      </a:r>
                    </a:p>
                    <a:p>
                      <a:pPr algn="ctr"/>
                      <a:endParaRPr lang="nl-NL" dirty="0"/>
                    </a:p>
                  </a:txBody>
                  <a:tcPr/>
                </a:tc>
              </a:tr>
              <a:tr h="370840">
                <a:tc>
                  <a:txBody>
                    <a:bodyPr/>
                    <a:lstStyle/>
                    <a:p>
                      <a:pPr algn="ctr"/>
                      <a:r>
                        <a:rPr lang="nl-NL" b="1" dirty="0" smtClean="0">
                          <a:solidFill>
                            <a:srgbClr val="C00000"/>
                          </a:solidFill>
                        </a:rPr>
                        <a:t>W</a:t>
                      </a:r>
                      <a:endParaRPr lang="nl-NL" b="1" dirty="0">
                        <a:solidFill>
                          <a:srgbClr val="C00000"/>
                        </a:solidFill>
                      </a:endParaRPr>
                    </a:p>
                  </a:txBody>
                  <a:tcPr/>
                </a:tc>
                <a:tc>
                  <a:txBody>
                    <a:bodyPr/>
                    <a:lstStyle/>
                    <a:p>
                      <a:pPr algn="ctr"/>
                      <a:r>
                        <a:rPr lang="nl-NL" b="1" dirty="0" smtClean="0">
                          <a:solidFill>
                            <a:srgbClr val="C00000"/>
                          </a:solidFill>
                        </a:rPr>
                        <a:t>W</a:t>
                      </a:r>
                      <a:endParaRPr lang="nl-NL" b="1" dirty="0">
                        <a:solidFill>
                          <a:srgbClr val="C00000"/>
                        </a:solidFill>
                      </a:endParaRPr>
                    </a:p>
                  </a:txBody>
                  <a:tcPr/>
                </a:tc>
                <a:tc>
                  <a:txBody>
                    <a:bodyPr/>
                    <a:lstStyle/>
                    <a:p>
                      <a:pPr algn="ctr"/>
                      <a:r>
                        <a:rPr lang="nl-NL" b="1" dirty="0" smtClean="0">
                          <a:solidFill>
                            <a:srgbClr val="C00000"/>
                          </a:solidFill>
                        </a:rPr>
                        <a:t>O</a:t>
                      </a:r>
                      <a:endParaRPr lang="nl-NL" b="1" dirty="0">
                        <a:solidFill>
                          <a:srgbClr val="C00000"/>
                        </a:solidFill>
                      </a:endParaRPr>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cxnSp>
        <p:nvCxnSpPr>
          <p:cNvPr id="9" name="Straight Connector 8"/>
          <p:cNvCxnSpPr/>
          <p:nvPr/>
        </p:nvCxnSpPr>
        <p:spPr>
          <a:xfrm>
            <a:off x="7956376" y="548680"/>
            <a:ext cx="21602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516216" y="1628800"/>
            <a:ext cx="14401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33672" y="188640"/>
            <a:ext cx="86868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l-NL" sz="3200" b="0" i="0" u="none" strike="noStrike" kern="1200" cap="none" spc="0" normalizeH="0" baseline="0" noProof="0" dirty="0" smtClean="0">
                <a:ln>
                  <a:noFill/>
                </a:ln>
                <a:solidFill>
                  <a:schemeClr val="tx1"/>
                </a:solidFill>
                <a:effectLst/>
                <a:uLnTx/>
                <a:uFillTx/>
                <a:latin typeface="+mj-lt"/>
                <a:ea typeface="+mj-ea"/>
                <a:cs typeface="+mj-cs"/>
              </a:rPr>
              <a:t>Met behulp</a:t>
            </a:r>
            <a:r>
              <a:rPr kumimoji="0" lang="nl-NL" sz="3200" b="0" i="0" u="none" strike="noStrike" kern="1200" cap="none" spc="0" normalizeH="0" noProof="0" dirty="0" smtClean="0">
                <a:ln>
                  <a:noFill/>
                </a:ln>
                <a:solidFill>
                  <a:schemeClr val="tx1"/>
                </a:solidFill>
                <a:effectLst/>
                <a:uLnTx/>
                <a:uFillTx/>
                <a:latin typeface="+mj-lt"/>
                <a:ea typeface="+mj-ea"/>
                <a:cs typeface="+mj-cs"/>
              </a:rPr>
              <a:t> van waarheidstafels kunnen we de waarheidsfunctie van allerlei formules bepalen</a:t>
            </a:r>
            <a:r>
              <a:rPr kumimoji="0" lang="nl-NL" sz="3200" b="0" i="0" u="none" strike="noStrike" kern="1200" cap="none" spc="0" normalizeH="0" baseline="0" noProof="0" dirty="0" smtClean="0">
                <a:ln>
                  <a:noFill/>
                </a:ln>
                <a:solidFill>
                  <a:schemeClr val="tx1"/>
                </a:solidFill>
                <a:effectLst/>
                <a:uLnTx/>
                <a:uFillTx/>
                <a:latin typeface="+mj-lt"/>
                <a:ea typeface="+mj-ea"/>
                <a:cs typeface="+mj-cs"/>
              </a:rPr>
              <a:t> </a:t>
            </a:r>
            <a:endParaRPr kumimoji="0" lang="nl-NL" sz="3200" b="0" i="0" u="none" strike="noStrike" kern="1200" cap="none" spc="0" normalizeH="0" baseline="0" noProof="0" dirty="0">
              <a:ln>
                <a:noFill/>
              </a:ln>
              <a:solidFill>
                <a:schemeClr val="tx1"/>
              </a:solidFill>
              <a:effectLst/>
              <a:uLnTx/>
              <a:uFillTx/>
              <a:latin typeface="+mj-lt"/>
              <a:ea typeface="+mj-ea"/>
              <a:cs typeface="+mj-cs"/>
            </a:endParaRPr>
          </a:p>
        </p:txBody>
      </p:sp>
      <p:graphicFrame>
        <p:nvGraphicFramePr>
          <p:cNvPr id="6" name="Table 5"/>
          <p:cNvGraphicFramePr>
            <a:graphicFrameLocks noGrp="1"/>
          </p:cNvGraphicFramePr>
          <p:nvPr/>
        </p:nvGraphicFramePr>
        <p:xfrm>
          <a:off x="1356320" y="2654920"/>
          <a:ext cx="6096000" cy="185420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P V</a:t>
                      </a:r>
                      <a:r>
                        <a:rPr lang="nl-NL" baseline="0" dirty="0" smtClean="0"/>
                        <a:t> Q</a:t>
                      </a:r>
                      <a:endParaRPr lang="nl-NL" dirty="0"/>
                    </a:p>
                  </a:txBody>
                  <a:tcPr/>
                </a:tc>
                <a:tc>
                  <a:txBody>
                    <a:bodyPr/>
                    <a:lstStyle/>
                    <a:p>
                      <a:pPr algn="ctr"/>
                      <a:r>
                        <a:rPr lang="nl-NL" sz="1800" b="1" dirty="0" smtClean="0">
                          <a:solidFill>
                            <a:schemeClr val="bg1"/>
                          </a:solidFill>
                        </a:rPr>
                        <a:t>¬(P</a:t>
                      </a:r>
                      <a:r>
                        <a:rPr lang="nl-NL" sz="1800" b="1" baseline="0" dirty="0" smtClean="0">
                          <a:solidFill>
                            <a:schemeClr val="bg1"/>
                          </a:solidFill>
                        </a:rPr>
                        <a:t> V Q)</a:t>
                      </a:r>
                      <a:endParaRPr lang="nl-NL" b="1" dirty="0">
                        <a:solidFill>
                          <a:schemeClr val="bg1"/>
                        </a:solidFill>
                      </a:endParaRPr>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
        <p:nvSpPr>
          <p:cNvPr id="8" name="TextBox 7"/>
          <p:cNvSpPr txBox="1"/>
          <p:nvPr/>
        </p:nvSpPr>
        <p:spPr>
          <a:xfrm>
            <a:off x="1619672" y="1772816"/>
            <a:ext cx="6192688" cy="461665"/>
          </a:xfrm>
          <a:prstGeom prst="rect">
            <a:avLst/>
          </a:prstGeom>
          <a:noFill/>
        </p:spPr>
        <p:txBody>
          <a:bodyPr wrap="square" rtlCol="0">
            <a:spAutoFit/>
          </a:bodyPr>
          <a:lstStyle/>
          <a:p>
            <a:r>
              <a:rPr lang="nl-NL" sz="2400" dirty="0" smtClean="0"/>
              <a:t>Wat is de waarheidsfunctie van </a:t>
            </a:r>
            <a:r>
              <a:rPr lang="nl-NL" sz="2400" b="1" dirty="0" smtClean="0">
                <a:solidFill>
                  <a:srgbClr val="0070C0"/>
                </a:solidFill>
              </a:rPr>
              <a:t>¬(P V Q)</a:t>
            </a:r>
            <a:r>
              <a:rPr lang="nl-NL" sz="2400" dirty="0" smtClean="0"/>
              <a:t> ?</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33672" y="188640"/>
            <a:ext cx="86868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nl-NL" sz="3200" b="0" i="0" u="none" strike="noStrike" kern="1200" cap="none" spc="0" normalizeH="0" baseline="0" noProof="0" dirty="0" smtClean="0">
                <a:ln>
                  <a:noFill/>
                </a:ln>
                <a:solidFill>
                  <a:schemeClr val="tx1"/>
                </a:solidFill>
                <a:effectLst/>
                <a:uLnTx/>
                <a:uFillTx/>
                <a:latin typeface="+mj-lt"/>
                <a:ea typeface="+mj-ea"/>
                <a:cs typeface="+mj-cs"/>
              </a:rPr>
              <a:t>Met behulp</a:t>
            </a:r>
            <a:r>
              <a:rPr kumimoji="0" lang="nl-NL" sz="3200" b="0" i="0" u="none" strike="noStrike" kern="1200" cap="none" spc="0" normalizeH="0" noProof="0" dirty="0" smtClean="0">
                <a:ln>
                  <a:noFill/>
                </a:ln>
                <a:solidFill>
                  <a:schemeClr val="tx1"/>
                </a:solidFill>
                <a:effectLst/>
                <a:uLnTx/>
                <a:uFillTx/>
                <a:latin typeface="+mj-lt"/>
                <a:ea typeface="+mj-ea"/>
                <a:cs typeface="+mj-cs"/>
              </a:rPr>
              <a:t> van waarheidstafels kunnen we de waarheidsfunctie van allerlei formules bepalen</a:t>
            </a:r>
            <a:r>
              <a:rPr kumimoji="0" lang="nl-NL" sz="3200" b="0" i="0" u="none" strike="noStrike" kern="1200" cap="none" spc="0" normalizeH="0" baseline="0" noProof="0" dirty="0" smtClean="0">
                <a:ln>
                  <a:noFill/>
                </a:ln>
                <a:solidFill>
                  <a:schemeClr val="tx1"/>
                </a:solidFill>
                <a:effectLst/>
                <a:uLnTx/>
                <a:uFillTx/>
                <a:latin typeface="+mj-lt"/>
                <a:ea typeface="+mj-ea"/>
                <a:cs typeface="+mj-cs"/>
              </a:rPr>
              <a:t> </a:t>
            </a:r>
            <a:endParaRPr kumimoji="0" lang="nl-NL" sz="3200" b="0" i="0" u="none" strike="noStrike" kern="1200" cap="none" spc="0" normalizeH="0" baseline="0" noProof="0" dirty="0">
              <a:ln>
                <a:noFill/>
              </a:ln>
              <a:solidFill>
                <a:schemeClr val="tx1"/>
              </a:solidFill>
              <a:effectLst/>
              <a:uLnTx/>
              <a:uFillTx/>
              <a:latin typeface="+mj-lt"/>
              <a:ea typeface="+mj-ea"/>
              <a:cs typeface="+mj-cs"/>
            </a:endParaRPr>
          </a:p>
        </p:txBody>
      </p:sp>
      <p:sp>
        <p:nvSpPr>
          <p:cNvPr id="8" name="TextBox 7"/>
          <p:cNvSpPr txBox="1"/>
          <p:nvPr/>
        </p:nvSpPr>
        <p:spPr>
          <a:xfrm>
            <a:off x="1619672" y="1772816"/>
            <a:ext cx="6192688" cy="461665"/>
          </a:xfrm>
          <a:prstGeom prst="rect">
            <a:avLst/>
          </a:prstGeom>
          <a:noFill/>
        </p:spPr>
        <p:txBody>
          <a:bodyPr wrap="square" rtlCol="0">
            <a:spAutoFit/>
          </a:bodyPr>
          <a:lstStyle/>
          <a:p>
            <a:r>
              <a:rPr lang="nl-NL" sz="2400" dirty="0" smtClean="0"/>
              <a:t>Wat is de waarheidsfunctie van </a:t>
            </a:r>
            <a:r>
              <a:rPr lang="nl-NL" sz="2400" b="1" dirty="0" smtClean="0">
                <a:solidFill>
                  <a:srgbClr val="0070C0"/>
                </a:solidFill>
              </a:rPr>
              <a:t>¬P V (Q ∧ ¬R)</a:t>
            </a:r>
            <a:r>
              <a:rPr lang="nl-NL" sz="2400" b="1" dirty="0" smtClean="0"/>
              <a:t> </a:t>
            </a:r>
            <a:r>
              <a:rPr lang="nl-NL" sz="2400" dirty="0" smtClean="0"/>
              <a:t>?</a:t>
            </a:r>
            <a:endParaRPr lang="nl-NL" sz="2400" dirty="0"/>
          </a:p>
        </p:txBody>
      </p:sp>
      <p:graphicFrame>
        <p:nvGraphicFramePr>
          <p:cNvPr id="7" name="Table 6"/>
          <p:cNvGraphicFramePr>
            <a:graphicFrameLocks noGrp="1"/>
          </p:cNvGraphicFramePr>
          <p:nvPr/>
        </p:nvGraphicFramePr>
        <p:xfrm>
          <a:off x="179512" y="2539712"/>
          <a:ext cx="8820469" cy="3337560"/>
        </p:xfrm>
        <a:graphic>
          <a:graphicData uri="http://schemas.openxmlformats.org/drawingml/2006/table">
            <a:tbl>
              <a:tblPr firstRow="1" bandRow="1">
                <a:tableStyleId>{5C22544A-7EE6-4342-B048-85BDC9FD1C3A}</a:tableStyleId>
              </a:tblPr>
              <a:tblGrid>
                <a:gridCol w="1008112"/>
                <a:gridCol w="1224136"/>
                <a:gridCol w="1152128"/>
                <a:gridCol w="1224136"/>
                <a:gridCol w="1224136"/>
                <a:gridCol w="1224136"/>
                <a:gridCol w="1763685"/>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R</a:t>
                      </a:r>
                      <a:endParaRPr lang="nl-NL" dirty="0"/>
                    </a:p>
                  </a:txBody>
                  <a:tcPr/>
                </a:tc>
                <a:tc>
                  <a:txBody>
                    <a:bodyPr/>
                    <a:lstStyle/>
                    <a:p>
                      <a:pPr algn="ctr"/>
                      <a:r>
                        <a:rPr lang="nl-NL" sz="1800" b="1" dirty="0" smtClean="0">
                          <a:solidFill>
                            <a:schemeClr val="bg1"/>
                          </a:solidFill>
                        </a:rPr>
                        <a:t>¬P</a:t>
                      </a:r>
                      <a:endParaRPr lang="nl-NL" dirty="0"/>
                    </a:p>
                  </a:txBody>
                  <a:tcPr/>
                </a:tc>
                <a:tc>
                  <a:txBody>
                    <a:bodyPr/>
                    <a:lstStyle/>
                    <a:p>
                      <a:pPr algn="ctr"/>
                      <a:r>
                        <a:rPr lang="nl-NL" sz="1800" b="1" dirty="0" smtClean="0">
                          <a:solidFill>
                            <a:schemeClr val="bg1"/>
                          </a:solidFill>
                        </a:rPr>
                        <a:t>¬R</a:t>
                      </a:r>
                      <a:endParaRPr lang="nl-NL"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l-NL" dirty="0" smtClean="0"/>
                        <a:t>Q  </a:t>
                      </a:r>
                      <a:r>
                        <a:rPr lang="nl-NL" sz="1800" b="1" dirty="0" smtClean="0"/>
                        <a:t>∧  </a:t>
                      </a:r>
                      <a:r>
                        <a:rPr lang="nl-NL" sz="1800" b="1" dirty="0" smtClean="0">
                          <a:solidFill>
                            <a:schemeClr val="bg1"/>
                          </a:solidFill>
                        </a:rPr>
                        <a:t>¬R</a:t>
                      </a:r>
                      <a:endParaRPr lang="nl-NL" dirty="0" smtClean="0"/>
                    </a:p>
                  </a:txBody>
                  <a:tcPr/>
                </a:tc>
                <a:tc>
                  <a:txBody>
                    <a:bodyPr/>
                    <a:lstStyle/>
                    <a:p>
                      <a:pPr algn="ctr"/>
                      <a:r>
                        <a:rPr lang="nl-NL" sz="1800" b="1" dirty="0" smtClean="0">
                          <a:solidFill>
                            <a:schemeClr val="bg1"/>
                          </a:solidFill>
                        </a:rPr>
                        <a:t>¬P V (Q ∧ ¬R)</a:t>
                      </a:r>
                      <a:endParaRPr lang="nl-NL" dirty="0">
                        <a:solidFill>
                          <a:schemeClr val="bg1"/>
                        </a:solidFill>
                      </a:endParaRPr>
                    </a:p>
                  </a:txBody>
                  <a:tcPr/>
                </a:tc>
              </a:tr>
              <a:tr h="370840">
                <a:tc>
                  <a:txBody>
                    <a:bodyPr/>
                    <a:lstStyle/>
                    <a:p>
                      <a:pPr algn="ctr"/>
                      <a:r>
                        <a:rPr lang="nl-NL" dirty="0" smtClean="0">
                          <a:solidFill>
                            <a:schemeClr val="tx1"/>
                          </a:solidFill>
                        </a:rPr>
                        <a:t>W</a:t>
                      </a:r>
                      <a:endParaRPr lang="nl-NL" dirty="0">
                        <a:solidFill>
                          <a:schemeClr val="tx1"/>
                        </a:solidFill>
                      </a:endParaRPr>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i="1" dirty="0" smtClean="0"/>
              <a:t>Semantische geldigheid</a:t>
            </a:r>
            <a:r>
              <a:rPr lang="nl-NL" sz="3200" dirty="0" smtClean="0"/>
              <a:t> van redeneringen</a:t>
            </a:r>
            <a:endParaRPr lang="nl-NL" sz="3200" dirty="0"/>
          </a:p>
        </p:txBody>
      </p:sp>
      <p:sp>
        <p:nvSpPr>
          <p:cNvPr id="7" name="Content Placeholder 2"/>
          <p:cNvSpPr txBox="1">
            <a:spLocks/>
          </p:cNvSpPr>
          <p:nvPr/>
        </p:nvSpPr>
        <p:spPr>
          <a:xfrm>
            <a:off x="179512" y="1556792"/>
            <a:ext cx="8784976"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defRPr/>
            </a:pPr>
            <a:r>
              <a:rPr lang="nl-NL" sz="2000" dirty="0" smtClean="0"/>
              <a:t>Een redenering met premissen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dirty="0" smtClean="0"/>
              <a:t>en conclusie </a:t>
            </a:r>
            <a:r>
              <a:rPr lang="el-GR" sz="2000" b="1" i="1" dirty="0" smtClean="0"/>
              <a:t>β</a:t>
            </a:r>
            <a:r>
              <a:rPr lang="nl-NL" sz="2000" b="1" i="1" dirty="0" smtClean="0"/>
              <a:t> </a:t>
            </a:r>
            <a:r>
              <a:rPr lang="nl-NL" sz="2000" dirty="0" smtClean="0"/>
              <a:t>is </a:t>
            </a:r>
            <a:r>
              <a:rPr lang="nl-NL" sz="2000" i="1" dirty="0" smtClean="0"/>
              <a:t>semantisch geldig</a:t>
            </a:r>
            <a:r>
              <a:rPr lang="nl-NL" sz="2000" dirty="0" smtClean="0"/>
              <a:t> dan en slechts dan als voor elke </a:t>
            </a:r>
            <a:r>
              <a:rPr lang="nl-NL" sz="2000" dirty="0" err="1" smtClean="0"/>
              <a:t>waarheidswaardeverdeling</a:t>
            </a:r>
            <a:r>
              <a:rPr lang="nl-NL" sz="2000" dirty="0" smtClean="0"/>
              <a:t> waarvoor    de premissen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a:t>
            </a:r>
            <a:r>
              <a:rPr lang="nl-NL" sz="2000" dirty="0" smtClean="0"/>
              <a:t> waar zijn, ook de conclusie </a:t>
            </a:r>
            <a:r>
              <a:rPr lang="el-GR" sz="2000" b="1" i="1" dirty="0" smtClean="0"/>
              <a:t>β </a:t>
            </a:r>
            <a:r>
              <a:rPr lang="nl-NL" sz="2000" dirty="0" smtClean="0"/>
              <a:t>waar is. Notatie: </a:t>
            </a:r>
          </a:p>
          <a:p>
            <a:pPr marL="342900" lvl="0" indent="-342900">
              <a:spcBef>
                <a:spcPct val="20000"/>
              </a:spcBef>
              <a:buFont typeface="Arial" pitchFamily="34" charset="0"/>
              <a:buChar char="•"/>
              <a:defRPr/>
            </a:pPr>
            <a:endParaRPr lang="nl-NL" sz="800" b="1" i="1" dirty="0" smtClean="0"/>
          </a:p>
          <a:p>
            <a:pPr marL="342900" lvl="0" indent="-342900">
              <a:spcBef>
                <a:spcPct val="20000"/>
              </a:spcBef>
              <a:defRPr/>
            </a:pPr>
            <a:r>
              <a:rPr lang="nl-NL" sz="2000" b="1" i="1" dirty="0" smtClean="0"/>
              <a:t>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dirty="0" smtClean="0"/>
              <a:t>|=   </a:t>
            </a:r>
            <a:r>
              <a:rPr lang="el-GR" sz="2000" b="1" i="1" dirty="0" smtClean="0"/>
              <a:t>β</a:t>
            </a:r>
            <a:r>
              <a:rPr lang="nl-NL" sz="2000" b="1" i="1" dirty="0" smtClean="0"/>
              <a:t> </a:t>
            </a:r>
            <a:endParaRPr lang="nl-NL" sz="2000" dirty="0" smtClean="0"/>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179512" y="3284984"/>
            <a:ext cx="8784976" cy="33123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lang="nl-NL" sz="2000" dirty="0" smtClean="0"/>
              <a:t>	Geldt </a:t>
            </a:r>
            <a:r>
              <a:rPr lang="nl-NL" sz="2000" b="1" dirty="0" smtClean="0">
                <a:solidFill>
                  <a:srgbClr val="0070C0"/>
                </a:solidFill>
              </a:rPr>
              <a:t>P V Q , P V ¬Q  |=   ¬¬P </a:t>
            </a:r>
            <a:r>
              <a:rPr lang="nl-NL" sz="2000" dirty="0" smtClean="0"/>
              <a:t>?</a:t>
            </a:r>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graphicFrame>
        <p:nvGraphicFramePr>
          <p:cNvPr id="10" name="Table 9"/>
          <p:cNvGraphicFramePr>
            <a:graphicFrameLocks noGrp="1"/>
          </p:cNvGraphicFramePr>
          <p:nvPr/>
        </p:nvGraphicFramePr>
        <p:xfrm>
          <a:off x="1187624" y="4077072"/>
          <a:ext cx="6095999" cy="1854200"/>
        </p:xfrm>
        <a:graphic>
          <a:graphicData uri="http://schemas.openxmlformats.org/drawingml/2006/table">
            <a:tbl>
              <a:tblPr firstRow="1" bandRow="1">
                <a:tableStyleId>{5C22544A-7EE6-4342-B048-85BDC9FD1C3A}</a:tableStyleId>
              </a:tblPr>
              <a:tblGrid>
                <a:gridCol w="870857"/>
                <a:gridCol w="870857"/>
                <a:gridCol w="870857"/>
                <a:gridCol w="870857"/>
                <a:gridCol w="870857"/>
                <a:gridCol w="870857"/>
                <a:gridCol w="870857"/>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sz="1800" b="1" dirty="0" smtClean="0">
                          <a:solidFill>
                            <a:schemeClr val="bg1"/>
                          </a:solidFill>
                        </a:rPr>
                        <a:t>¬P</a:t>
                      </a:r>
                      <a:endParaRPr lang="nl-NL" dirty="0"/>
                    </a:p>
                  </a:txBody>
                  <a:tcPr/>
                </a:tc>
                <a:tc>
                  <a:txBody>
                    <a:bodyPr/>
                    <a:lstStyle/>
                    <a:p>
                      <a:pPr algn="ctr"/>
                      <a:r>
                        <a:rPr lang="nl-NL" sz="1800" b="1" dirty="0" smtClean="0">
                          <a:solidFill>
                            <a:schemeClr val="bg1"/>
                          </a:solidFill>
                        </a:rPr>
                        <a:t>¬Q</a:t>
                      </a:r>
                      <a:endParaRPr lang="nl-NL" dirty="0"/>
                    </a:p>
                  </a:txBody>
                  <a:tcPr/>
                </a:tc>
                <a:tc>
                  <a:txBody>
                    <a:bodyPr/>
                    <a:lstStyle/>
                    <a:p>
                      <a:pPr algn="ctr"/>
                      <a:r>
                        <a:rPr lang="nl-NL" dirty="0" smtClean="0"/>
                        <a:t>P </a:t>
                      </a:r>
                      <a:r>
                        <a:rPr lang="nl-NL" sz="1800" b="1" baseline="0" dirty="0" smtClean="0">
                          <a:solidFill>
                            <a:schemeClr val="bg1"/>
                          </a:solidFill>
                        </a:rPr>
                        <a:t>V Q </a:t>
                      </a:r>
                      <a:endParaRPr lang="nl-NL" dirty="0"/>
                    </a:p>
                  </a:txBody>
                  <a:tcPr/>
                </a:tc>
                <a:tc>
                  <a:txBody>
                    <a:bodyPr/>
                    <a:lstStyle/>
                    <a:p>
                      <a:pPr algn="ctr"/>
                      <a:r>
                        <a:rPr lang="nl-NL" dirty="0" smtClean="0"/>
                        <a:t>P V </a:t>
                      </a:r>
                      <a:r>
                        <a:rPr lang="nl-NL" sz="1800" b="1" dirty="0" smtClean="0">
                          <a:solidFill>
                            <a:schemeClr val="bg1"/>
                          </a:solidFill>
                        </a:rPr>
                        <a:t>¬Q</a:t>
                      </a:r>
                      <a:endParaRPr lang="nl-NL" dirty="0"/>
                    </a:p>
                  </a:txBody>
                  <a:tcPr/>
                </a:tc>
                <a:tc>
                  <a:txBody>
                    <a:bodyPr/>
                    <a:lstStyle/>
                    <a:p>
                      <a:pPr algn="ctr"/>
                      <a:r>
                        <a:rPr lang="nl-NL" sz="1800" b="1" dirty="0" smtClean="0">
                          <a:solidFill>
                            <a:schemeClr val="bg1"/>
                          </a:solidFill>
                        </a:rPr>
                        <a:t>¬¬P</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b="0" dirty="0" smtClean="0"/>
                        <a:t>W</a:t>
                      </a:r>
                      <a:endParaRPr lang="nl-NL" b="0" dirty="0"/>
                    </a:p>
                  </a:txBody>
                  <a:tcPr/>
                </a:tc>
                <a:tc>
                  <a:txBody>
                    <a:bodyPr/>
                    <a:lstStyle/>
                    <a:p>
                      <a:pPr algn="ctr"/>
                      <a:r>
                        <a:rPr lang="nl-NL" b="0" dirty="0" smtClean="0"/>
                        <a:t>W</a:t>
                      </a:r>
                      <a:endParaRPr lang="nl-NL" b="0" dirty="0"/>
                    </a:p>
                  </a:txBody>
                  <a:tcPr/>
                </a:tc>
                <a:tc>
                  <a:txBody>
                    <a:bodyPr/>
                    <a:lstStyle/>
                    <a:p>
                      <a:pPr algn="ctr"/>
                      <a:r>
                        <a:rPr lang="nl-NL" b="0" dirty="0" smtClean="0"/>
                        <a:t>W</a:t>
                      </a:r>
                      <a:endParaRPr lang="nl-NL" b="0"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b="0" dirty="0" smtClean="0"/>
                        <a:t>W</a:t>
                      </a:r>
                      <a:endParaRPr lang="nl-NL" b="0" dirty="0"/>
                    </a:p>
                  </a:txBody>
                  <a:tcPr/>
                </a:tc>
                <a:tc>
                  <a:txBody>
                    <a:bodyPr/>
                    <a:lstStyle/>
                    <a:p>
                      <a:pPr algn="ctr"/>
                      <a:r>
                        <a:rPr lang="nl-NL" b="0" dirty="0" smtClean="0"/>
                        <a:t>W</a:t>
                      </a:r>
                      <a:endParaRPr lang="nl-NL" b="0" dirty="0"/>
                    </a:p>
                  </a:txBody>
                  <a:tcPr/>
                </a:tc>
                <a:tc>
                  <a:txBody>
                    <a:bodyPr/>
                    <a:lstStyle/>
                    <a:p>
                      <a:pPr algn="ctr"/>
                      <a:r>
                        <a:rPr lang="nl-NL" b="0" dirty="0" smtClean="0"/>
                        <a:t>W</a:t>
                      </a:r>
                      <a:endParaRPr lang="nl-NL" b="0" dirty="0"/>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2000"/>
                                        <p:tgtEl>
                                          <p:spTgt spid="9">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fade">
                                      <p:cBhvr>
                                        <p:cTn id="10" dur="2000"/>
                                        <p:tgtEl>
                                          <p:spTgt spid="9">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animEffect transition="in" filter="fade">
                                      <p:cBhvr>
                                        <p:cTn id="13" dur="2000"/>
                                        <p:tgtEl>
                                          <p:spTgt spid="9">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i="1" dirty="0" smtClean="0"/>
              <a:t>Semantische geldigheid</a:t>
            </a:r>
            <a:r>
              <a:rPr lang="nl-NL" sz="3200" dirty="0" smtClean="0"/>
              <a:t> van redeneringen</a:t>
            </a:r>
            <a:endParaRPr lang="nl-NL" sz="3200" dirty="0"/>
          </a:p>
        </p:txBody>
      </p:sp>
      <p:sp>
        <p:nvSpPr>
          <p:cNvPr id="7" name="Content Placeholder 2"/>
          <p:cNvSpPr txBox="1">
            <a:spLocks/>
          </p:cNvSpPr>
          <p:nvPr/>
        </p:nvSpPr>
        <p:spPr>
          <a:xfrm>
            <a:off x="179512" y="1556792"/>
            <a:ext cx="8784976"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defRPr/>
            </a:pPr>
            <a:r>
              <a:rPr lang="nl-NL" sz="2000" dirty="0" smtClean="0"/>
              <a:t>Een redenering met premissen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dirty="0" smtClean="0"/>
              <a:t>en conclusie </a:t>
            </a:r>
            <a:r>
              <a:rPr lang="el-GR" sz="2000" b="1" i="1" dirty="0" smtClean="0"/>
              <a:t>β</a:t>
            </a:r>
            <a:r>
              <a:rPr lang="nl-NL" sz="2000" b="1" i="1" dirty="0" smtClean="0"/>
              <a:t> </a:t>
            </a:r>
            <a:r>
              <a:rPr lang="nl-NL" sz="2000" dirty="0" smtClean="0"/>
              <a:t>is </a:t>
            </a:r>
            <a:r>
              <a:rPr lang="nl-NL" sz="2000" i="1" dirty="0" smtClean="0"/>
              <a:t>semantisch geldig</a:t>
            </a:r>
            <a:r>
              <a:rPr lang="nl-NL" sz="2000" dirty="0" smtClean="0"/>
              <a:t> dan en slechts dan als voor elke </a:t>
            </a:r>
            <a:r>
              <a:rPr lang="nl-NL" sz="2000" dirty="0" err="1" smtClean="0"/>
              <a:t>waarheidswaardeverdeling</a:t>
            </a:r>
            <a:r>
              <a:rPr lang="nl-NL" sz="2000" dirty="0" smtClean="0"/>
              <a:t> waarvoor    de premissen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a:t>
            </a:r>
            <a:r>
              <a:rPr lang="nl-NL" sz="2000" dirty="0" smtClean="0"/>
              <a:t> waar zijn, ook de conclusie </a:t>
            </a:r>
            <a:r>
              <a:rPr lang="el-GR" sz="2000" b="1" i="1" dirty="0" smtClean="0"/>
              <a:t>β </a:t>
            </a:r>
            <a:r>
              <a:rPr lang="nl-NL" sz="2000" dirty="0" smtClean="0"/>
              <a:t>waar is. Notatie: </a:t>
            </a:r>
          </a:p>
          <a:p>
            <a:pPr marL="342900" lvl="0" indent="-342900">
              <a:spcBef>
                <a:spcPct val="20000"/>
              </a:spcBef>
              <a:buFont typeface="Arial" pitchFamily="34" charset="0"/>
              <a:buChar char="•"/>
              <a:defRPr/>
            </a:pPr>
            <a:endParaRPr lang="nl-NL" sz="800" b="1" i="1" dirty="0" smtClean="0"/>
          </a:p>
          <a:p>
            <a:pPr marL="342900" lvl="0" indent="-342900">
              <a:spcBef>
                <a:spcPct val="20000"/>
              </a:spcBef>
              <a:defRPr/>
            </a:pPr>
            <a:r>
              <a:rPr lang="nl-NL" sz="2000" b="1" i="1" dirty="0" smtClean="0"/>
              <a:t>	</a:t>
            </a:r>
            <a:r>
              <a:rPr lang="el-GR" sz="2000" b="1" i="1" dirty="0" smtClean="0"/>
              <a:t>α</a:t>
            </a:r>
            <a:r>
              <a:rPr lang="nl-NL" sz="2000" b="1" i="1" baseline="-25000" dirty="0" smtClean="0"/>
              <a:t>1</a:t>
            </a:r>
            <a:r>
              <a:rPr lang="nl-NL" sz="2000" b="1" i="1" dirty="0" smtClean="0"/>
              <a:t> </a:t>
            </a:r>
            <a:r>
              <a:rPr lang="nl-NL" sz="2000" dirty="0" smtClean="0"/>
              <a:t>, </a:t>
            </a:r>
            <a:r>
              <a:rPr lang="el-GR" sz="2000" b="1" i="1" dirty="0" smtClean="0"/>
              <a:t>α</a:t>
            </a:r>
            <a:r>
              <a:rPr lang="nl-NL" sz="2000" b="1" i="1" baseline="-25000" dirty="0" smtClean="0"/>
              <a:t>2 </a:t>
            </a:r>
            <a:r>
              <a:rPr lang="nl-NL" sz="2000" dirty="0" smtClean="0"/>
              <a:t>, </a:t>
            </a:r>
            <a:r>
              <a:rPr lang="el-GR" sz="2000" b="1" i="1" dirty="0" smtClean="0"/>
              <a:t>α</a:t>
            </a:r>
            <a:r>
              <a:rPr lang="nl-NL" sz="2000" b="1" i="1" baseline="-25000" dirty="0" smtClean="0"/>
              <a:t>3</a:t>
            </a:r>
            <a:r>
              <a:rPr lang="nl-NL" sz="2000" b="1" i="1" dirty="0" smtClean="0"/>
              <a:t> </a:t>
            </a:r>
            <a:r>
              <a:rPr lang="nl-NL" sz="2000" dirty="0" smtClean="0"/>
              <a:t>, </a:t>
            </a:r>
            <a:r>
              <a:rPr lang="el-GR" sz="2000" b="1" i="1" dirty="0" smtClean="0"/>
              <a:t>α</a:t>
            </a:r>
            <a:r>
              <a:rPr lang="nl-NL" sz="2000" b="1" i="1" baseline="-25000" dirty="0" smtClean="0"/>
              <a:t>4    </a:t>
            </a:r>
            <a:r>
              <a:rPr lang="nl-NL" sz="2000" dirty="0" smtClean="0"/>
              <a:t>|=   </a:t>
            </a:r>
            <a:r>
              <a:rPr lang="el-GR" sz="2000" b="1" i="1" dirty="0" smtClean="0"/>
              <a:t>β</a:t>
            </a:r>
            <a:r>
              <a:rPr lang="nl-NL" sz="2000" b="1" i="1" dirty="0" smtClean="0"/>
              <a:t> </a:t>
            </a:r>
            <a:endParaRPr lang="nl-NL" sz="2000" dirty="0" smtClean="0"/>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179512" y="3284984"/>
            <a:ext cx="8784976" cy="33123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lang="nl-NL" sz="2000" dirty="0" smtClean="0"/>
              <a:t>	Geldt </a:t>
            </a:r>
            <a:r>
              <a:rPr lang="nl-NL" sz="2000" b="1" dirty="0" smtClean="0">
                <a:solidFill>
                  <a:srgbClr val="0070C0"/>
                </a:solidFill>
              </a:rPr>
              <a:t>P V Q , P V ¬Q  |=   ¬¬P </a:t>
            </a:r>
            <a:r>
              <a:rPr lang="nl-NL" sz="2000" dirty="0" smtClean="0"/>
              <a:t>?</a:t>
            </a:r>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graphicFrame>
        <p:nvGraphicFramePr>
          <p:cNvPr id="10" name="Table 9"/>
          <p:cNvGraphicFramePr>
            <a:graphicFrameLocks noGrp="1"/>
          </p:cNvGraphicFramePr>
          <p:nvPr/>
        </p:nvGraphicFramePr>
        <p:xfrm>
          <a:off x="1187624" y="4077072"/>
          <a:ext cx="6095999" cy="1854200"/>
        </p:xfrm>
        <a:graphic>
          <a:graphicData uri="http://schemas.openxmlformats.org/drawingml/2006/table">
            <a:tbl>
              <a:tblPr firstRow="1" bandRow="1">
                <a:tableStyleId>{5C22544A-7EE6-4342-B048-85BDC9FD1C3A}</a:tableStyleId>
              </a:tblPr>
              <a:tblGrid>
                <a:gridCol w="870857"/>
                <a:gridCol w="870857"/>
                <a:gridCol w="870857"/>
                <a:gridCol w="870857"/>
                <a:gridCol w="870857"/>
                <a:gridCol w="870857"/>
                <a:gridCol w="870857"/>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sz="1800" b="1" dirty="0" smtClean="0">
                          <a:solidFill>
                            <a:schemeClr val="bg1"/>
                          </a:solidFill>
                        </a:rPr>
                        <a:t>¬P</a:t>
                      </a:r>
                      <a:endParaRPr lang="nl-NL" dirty="0"/>
                    </a:p>
                  </a:txBody>
                  <a:tcPr/>
                </a:tc>
                <a:tc>
                  <a:txBody>
                    <a:bodyPr/>
                    <a:lstStyle/>
                    <a:p>
                      <a:pPr algn="ctr"/>
                      <a:r>
                        <a:rPr lang="nl-NL" sz="1800" b="1" dirty="0" smtClean="0">
                          <a:solidFill>
                            <a:schemeClr val="bg1"/>
                          </a:solidFill>
                        </a:rPr>
                        <a:t>¬Q</a:t>
                      </a:r>
                      <a:endParaRPr lang="nl-NL" dirty="0"/>
                    </a:p>
                  </a:txBody>
                  <a:tcPr/>
                </a:tc>
                <a:tc>
                  <a:txBody>
                    <a:bodyPr/>
                    <a:lstStyle/>
                    <a:p>
                      <a:pPr algn="ctr"/>
                      <a:r>
                        <a:rPr lang="nl-NL" dirty="0" smtClean="0"/>
                        <a:t>P </a:t>
                      </a:r>
                      <a:r>
                        <a:rPr lang="nl-NL" sz="1800" b="1" baseline="0" dirty="0" smtClean="0">
                          <a:solidFill>
                            <a:schemeClr val="bg1"/>
                          </a:solidFill>
                        </a:rPr>
                        <a:t>V Q </a:t>
                      </a:r>
                      <a:endParaRPr lang="nl-NL" dirty="0"/>
                    </a:p>
                  </a:txBody>
                  <a:tcPr/>
                </a:tc>
                <a:tc>
                  <a:txBody>
                    <a:bodyPr/>
                    <a:lstStyle/>
                    <a:p>
                      <a:pPr algn="ctr"/>
                      <a:r>
                        <a:rPr lang="nl-NL" dirty="0" smtClean="0"/>
                        <a:t>P V </a:t>
                      </a:r>
                      <a:r>
                        <a:rPr lang="nl-NL" sz="1800" b="1" dirty="0" smtClean="0">
                          <a:solidFill>
                            <a:schemeClr val="bg1"/>
                          </a:solidFill>
                        </a:rPr>
                        <a:t>¬Q</a:t>
                      </a:r>
                      <a:endParaRPr lang="nl-NL" dirty="0"/>
                    </a:p>
                  </a:txBody>
                  <a:tcPr/>
                </a:tc>
                <a:tc>
                  <a:txBody>
                    <a:bodyPr/>
                    <a:lstStyle/>
                    <a:p>
                      <a:pPr algn="ctr"/>
                      <a:r>
                        <a:rPr lang="nl-NL" sz="1800" b="1" dirty="0" smtClean="0">
                          <a:solidFill>
                            <a:schemeClr val="bg1"/>
                          </a:solidFill>
                        </a:rPr>
                        <a:t>¬¬P</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bl>
          </a:graphicData>
        </a:graphic>
      </p:graphicFrame>
      <p:sp>
        <p:nvSpPr>
          <p:cNvPr id="6" name="TextBox 5"/>
          <p:cNvSpPr txBox="1"/>
          <p:nvPr/>
        </p:nvSpPr>
        <p:spPr>
          <a:xfrm>
            <a:off x="7596336" y="4643844"/>
            <a:ext cx="1224136" cy="369332"/>
          </a:xfrm>
          <a:prstGeom prst="rect">
            <a:avLst/>
          </a:prstGeom>
          <a:noFill/>
        </p:spPr>
        <p:txBody>
          <a:bodyPr wrap="square" rtlCol="0">
            <a:spAutoFit/>
          </a:bodyPr>
          <a:lstStyle/>
          <a:p>
            <a:r>
              <a:rPr lang="nl-NL" b="1" dirty="0" smtClean="0">
                <a:solidFill>
                  <a:schemeClr val="accent2">
                    <a:lumMod val="75000"/>
                  </a:schemeClr>
                </a:solidFill>
              </a:rPr>
              <a:t>Ja, geldig!</a:t>
            </a:r>
            <a:endParaRPr lang="nl-NL" b="1"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i="1" dirty="0" smtClean="0"/>
              <a:t>Semantische geldigheid</a:t>
            </a:r>
            <a:r>
              <a:rPr lang="nl-NL" sz="3200" dirty="0" smtClean="0"/>
              <a:t> van redeneringen</a:t>
            </a:r>
            <a:endParaRPr lang="nl-NL" sz="3200" dirty="0"/>
          </a:p>
        </p:txBody>
      </p:sp>
      <p:sp>
        <p:nvSpPr>
          <p:cNvPr id="9" name="Content Placeholder 2"/>
          <p:cNvSpPr txBox="1">
            <a:spLocks/>
          </p:cNvSpPr>
          <p:nvPr/>
        </p:nvSpPr>
        <p:spPr>
          <a:xfrm>
            <a:off x="251520" y="1628800"/>
            <a:ext cx="8784976" cy="33123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lang="nl-NL" sz="2000" dirty="0" smtClean="0"/>
              <a:t>	Geldt </a:t>
            </a:r>
            <a:r>
              <a:rPr lang="nl-NL" sz="2000" dirty="0" smtClean="0">
                <a:solidFill>
                  <a:srgbClr val="0070C0"/>
                </a:solidFill>
              </a:rPr>
              <a:t>(</a:t>
            </a:r>
            <a:r>
              <a:rPr lang="nl-NL" sz="2000" b="1" dirty="0" smtClean="0">
                <a:solidFill>
                  <a:srgbClr val="0070C0"/>
                </a:solidFill>
              </a:rPr>
              <a:t>P ∧ Q) V R  |=  P </a:t>
            </a:r>
            <a:r>
              <a:rPr lang="nl-NL" sz="2000" dirty="0" smtClean="0"/>
              <a:t>?</a:t>
            </a:r>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graphicFrame>
        <p:nvGraphicFramePr>
          <p:cNvPr id="8" name="Table 7"/>
          <p:cNvGraphicFramePr>
            <a:graphicFrameLocks noGrp="1"/>
          </p:cNvGraphicFramePr>
          <p:nvPr/>
        </p:nvGraphicFramePr>
        <p:xfrm>
          <a:off x="683568" y="2564904"/>
          <a:ext cx="7128792" cy="3606800"/>
        </p:xfrm>
        <a:graphic>
          <a:graphicData uri="http://schemas.openxmlformats.org/drawingml/2006/table">
            <a:tbl>
              <a:tblPr firstRow="1" bandRow="1">
                <a:tableStyleId>{5C22544A-7EE6-4342-B048-85BDC9FD1C3A}</a:tableStyleId>
              </a:tblPr>
              <a:tblGrid>
                <a:gridCol w="1188132"/>
                <a:gridCol w="1188132"/>
                <a:gridCol w="1188132"/>
                <a:gridCol w="1188132"/>
                <a:gridCol w="1504967"/>
                <a:gridCol w="871297"/>
              </a:tblGrid>
              <a:tr h="370840">
                <a:tc>
                  <a:txBody>
                    <a:bodyPr/>
                    <a:lstStyle/>
                    <a:p>
                      <a:r>
                        <a:rPr lang="nl-NL" dirty="0" smtClean="0"/>
                        <a:t>P</a:t>
                      </a:r>
                      <a:endParaRPr lang="nl-NL" dirty="0"/>
                    </a:p>
                  </a:txBody>
                  <a:tcPr/>
                </a:tc>
                <a:tc>
                  <a:txBody>
                    <a:bodyPr/>
                    <a:lstStyle/>
                    <a:p>
                      <a:r>
                        <a:rPr lang="nl-NL" dirty="0" smtClean="0"/>
                        <a:t>Q</a:t>
                      </a:r>
                      <a:endParaRPr lang="nl-NL" dirty="0"/>
                    </a:p>
                  </a:txBody>
                  <a:tcPr/>
                </a:tc>
                <a:tc>
                  <a:txBody>
                    <a:bodyPr/>
                    <a:lstStyle/>
                    <a:p>
                      <a:r>
                        <a:rPr lang="nl-NL" dirty="0" smtClean="0"/>
                        <a:t>R</a:t>
                      </a:r>
                      <a:endParaRPr lang="nl-NL" dirty="0"/>
                    </a:p>
                  </a:txBody>
                  <a:tcPr/>
                </a:tc>
                <a:tc>
                  <a:txBody>
                    <a:bodyPr/>
                    <a:lstStyle/>
                    <a:p>
                      <a:r>
                        <a:rPr lang="nl-NL" dirty="0" smtClean="0"/>
                        <a:t>P </a:t>
                      </a:r>
                      <a:r>
                        <a:rPr lang="nl-NL" sz="1800" b="1" dirty="0" smtClean="0">
                          <a:solidFill>
                            <a:schemeClr val="bg1"/>
                          </a:solidFill>
                        </a:rPr>
                        <a:t>∧ Q</a:t>
                      </a:r>
                      <a:endParaRPr lang="nl-NL" dirty="0">
                        <a:solidFill>
                          <a:schemeClr val="bg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smtClean="0"/>
                        <a:t>(P </a:t>
                      </a:r>
                      <a:r>
                        <a:rPr lang="nl-NL" sz="1800" b="1" dirty="0" smtClean="0">
                          <a:solidFill>
                            <a:schemeClr val="bg1"/>
                          </a:solidFill>
                        </a:rPr>
                        <a:t>∧ Q) V R</a:t>
                      </a:r>
                      <a:endParaRPr lang="nl-NL" dirty="0" smtClean="0">
                        <a:solidFill>
                          <a:schemeClr val="bg1"/>
                        </a:solidFill>
                      </a:endParaRPr>
                    </a:p>
                    <a:p>
                      <a:endParaRPr lang="nl-NL" dirty="0"/>
                    </a:p>
                  </a:txBody>
                  <a:tcPr/>
                </a:tc>
                <a:tc>
                  <a:txBody>
                    <a:bodyPr/>
                    <a:lstStyle/>
                    <a:p>
                      <a:r>
                        <a:rPr lang="nl-NL" dirty="0" smtClean="0"/>
                        <a:t>P</a:t>
                      </a:r>
                      <a:endParaRPr lang="nl-NL" dirty="0"/>
                    </a:p>
                  </a:txBody>
                  <a:tcPr/>
                </a:tc>
              </a:tr>
              <a:tr h="370840">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b="0" dirty="0" smtClean="0">
                          <a:solidFill>
                            <a:schemeClr val="tx1"/>
                          </a:solidFill>
                        </a:rPr>
                        <a:t>W</a:t>
                      </a:r>
                      <a:endParaRPr lang="nl-NL" b="0" dirty="0">
                        <a:solidFill>
                          <a:schemeClr val="tx1"/>
                        </a:solidFill>
                      </a:endParaRPr>
                    </a:p>
                  </a:txBody>
                  <a:tcPr/>
                </a:tc>
                <a:tc>
                  <a:txBody>
                    <a:bodyPr/>
                    <a:lstStyle/>
                    <a:p>
                      <a:r>
                        <a:rPr lang="nl-NL" b="0" dirty="0" smtClean="0">
                          <a:solidFill>
                            <a:schemeClr val="tx1"/>
                          </a:solidFill>
                        </a:rPr>
                        <a:t>W</a:t>
                      </a:r>
                      <a:endParaRPr lang="nl-NL" b="0" dirty="0">
                        <a:solidFill>
                          <a:schemeClr val="tx1"/>
                        </a:solidFill>
                      </a:endParaRPr>
                    </a:p>
                  </a:txBody>
                  <a:tcPr/>
                </a:tc>
              </a:tr>
              <a:tr h="370840">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b="0" dirty="0" smtClean="0">
                          <a:solidFill>
                            <a:schemeClr val="tx1"/>
                          </a:solidFill>
                        </a:rPr>
                        <a:t>W</a:t>
                      </a:r>
                      <a:endParaRPr lang="nl-NL" b="0" dirty="0">
                        <a:solidFill>
                          <a:schemeClr val="tx1"/>
                        </a:solidFill>
                      </a:endParaRPr>
                    </a:p>
                  </a:txBody>
                  <a:tcPr/>
                </a:tc>
                <a:tc>
                  <a:txBody>
                    <a:bodyPr/>
                    <a:lstStyle/>
                    <a:p>
                      <a:r>
                        <a:rPr lang="nl-NL" b="0" dirty="0" smtClean="0">
                          <a:solidFill>
                            <a:schemeClr val="tx1"/>
                          </a:solidFill>
                        </a:rPr>
                        <a:t>W</a:t>
                      </a:r>
                      <a:endParaRPr lang="nl-NL" b="0" dirty="0">
                        <a:solidFill>
                          <a:schemeClr val="tx1"/>
                        </a:solidFill>
                      </a:endParaRPr>
                    </a:p>
                  </a:txBody>
                  <a:tcPr/>
                </a:tc>
              </a:tr>
              <a:tr h="370840">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0" dirty="0" smtClean="0">
                          <a:solidFill>
                            <a:schemeClr val="tx1"/>
                          </a:solidFill>
                        </a:rPr>
                        <a:t>W</a:t>
                      </a:r>
                      <a:endParaRPr lang="nl-NL" b="0" dirty="0">
                        <a:solidFill>
                          <a:schemeClr val="tx1"/>
                        </a:solidFill>
                      </a:endParaRPr>
                    </a:p>
                  </a:txBody>
                  <a:tcPr/>
                </a:tc>
                <a:tc>
                  <a:txBody>
                    <a:bodyPr/>
                    <a:lstStyle/>
                    <a:p>
                      <a:r>
                        <a:rPr lang="nl-NL" b="0" dirty="0" smtClean="0">
                          <a:solidFill>
                            <a:schemeClr val="tx1"/>
                          </a:solidFill>
                        </a:rPr>
                        <a:t>W</a:t>
                      </a:r>
                      <a:endParaRPr lang="nl-NL" b="0" dirty="0">
                        <a:solidFill>
                          <a:schemeClr val="tx1"/>
                        </a:solidFill>
                      </a:endParaRPr>
                    </a:p>
                  </a:txBody>
                  <a:tcPr/>
                </a:tc>
              </a:tr>
              <a:tr h="370840">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b="0" dirty="0" smtClean="0">
                          <a:solidFill>
                            <a:schemeClr val="tx1"/>
                          </a:solidFill>
                        </a:rPr>
                        <a:t>O</a:t>
                      </a:r>
                      <a:endParaRPr lang="nl-NL" b="0" dirty="0">
                        <a:solidFill>
                          <a:schemeClr val="tx1"/>
                        </a:solidFill>
                      </a:endParaRPr>
                    </a:p>
                  </a:txBody>
                  <a:tcPr/>
                </a:tc>
                <a:tc>
                  <a:txBody>
                    <a:bodyPr/>
                    <a:lstStyle/>
                    <a:p>
                      <a:r>
                        <a:rPr lang="nl-NL" b="0" dirty="0" smtClean="0">
                          <a:solidFill>
                            <a:schemeClr val="tx1"/>
                          </a:solidFill>
                        </a:rPr>
                        <a:t>W</a:t>
                      </a:r>
                      <a:endParaRPr lang="nl-NL" b="0" dirty="0">
                        <a:solidFill>
                          <a:schemeClr val="tx1"/>
                        </a:solidFill>
                      </a:endParaRPr>
                    </a:p>
                  </a:txBody>
                  <a:tcPr/>
                </a:tc>
              </a:tr>
              <a:tr h="370840">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0" dirty="0" smtClean="0">
                          <a:solidFill>
                            <a:schemeClr val="tx1"/>
                          </a:solidFill>
                        </a:rPr>
                        <a:t>W</a:t>
                      </a:r>
                      <a:endParaRPr lang="nl-NL" b="0" dirty="0">
                        <a:solidFill>
                          <a:schemeClr val="tx1"/>
                        </a:solidFill>
                      </a:endParaRPr>
                    </a:p>
                  </a:txBody>
                  <a:tcPr/>
                </a:tc>
                <a:tc>
                  <a:txBody>
                    <a:bodyPr/>
                    <a:lstStyle/>
                    <a:p>
                      <a:r>
                        <a:rPr lang="nl-NL" b="0" dirty="0" smtClean="0">
                          <a:solidFill>
                            <a:schemeClr val="tx1"/>
                          </a:solidFill>
                        </a:rPr>
                        <a:t>O</a:t>
                      </a:r>
                      <a:endParaRPr lang="nl-NL" b="0" dirty="0">
                        <a:solidFill>
                          <a:schemeClr val="tx1"/>
                        </a:solidFill>
                      </a:endParaRPr>
                    </a:p>
                  </a:txBody>
                  <a:tcPr/>
                </a:tc>
              </a:tr>
              <a:tr h="370840">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b="0" dirty="0" smtClean="0">
                          <a:solidFill>
                            <a:schemeClr val="tx1"/>
                          </a:solidFill>
                        </a:rPr>
                        <a:t>O</a:t>
                      </a:r>
                      <a:endParaRPr lang="nl-NL" b="0" dirty="0">
                        <a:solidFill>
                          <a:schemeClr val="tx1"/>
                        </a:solidFill>
                      </a:endParaRPr>
                    </a:p>
                  </a:txBody>
                  <a:tcPr/>
                </a:tc>
                <a:tc>
                  <a:txBody>
                    <a:bodyPr/>
                    <a:lstStyle/>
                    <a:p>
                      <a:r>
                        <a:rPr lang="nl-NL" b="0" dirty="0" smtClean="0">
                          <a:solidFill>
                            <a:schemeClr val="tx1"/>
                          </a:solidFill>
                        </a:rPr>
                        <a:t>O</a:t>
                      </a:r>
                      <a:endParaRPr lang="nl-NL" b="0" dirty="0">
                        <a:solidFill>
                          <a:schemeClr val="tx1"/>
                        </a:solidFill>
                      </a:endParaRPr>
                    </a:p>
                  </a:txBody>
                  <a:tcPr/>
                </a:tc>
              </a:tr>
              <a:tr h="370840">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0" dirty="0" smtClean="0">
                          <a:solidFill>
                            <a:schemeClr val="tx1"/>
                          </a:solidFill>
                        </a:rPr>
                        <a:t>W</a:t>
                      </a:r>
                      <a:endParaRPr lang="nl-NL" b="0" dirty="0">
                        <a:solidFill>
                          <a:schemeClr val="tx1"/>
                        </a:solidFill>
                      </a:endParaRPr>
                    </a:p>
                  </a:txBody>
                  <a:tcPr/>
                </a:tc>
                <a:tc>
                  <a:txBody>
                    <a:bodyPr/>
                    <a:lstStyle/>
                    <a:p>
                      <a:r>
                        <a:rPr lang="nl-NL" b="0" dirty="0" smtClean="0">
                          <a:solidFill>
                            <a:schemeClr val="tx1"/>
                          </a:solidFill>
                        </a:rPr>
                        <a:t>O</a:t>
                      </a:r>
                      <a:endParaRPr lang="nl-NL" b="0" dirty="0">
                        <a:solidFill>
                          <a:schemeClr val="tx1"/>
                        </a:solidFill>
                      </a:endParaRPr>
                    </a:p>
                  </a:txBody>
                  <a:tcPr/>
                </a:tc>
              </a:tr>
              <a:tr h="370840">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b="0" dirty="0" smtClean="0">
                          <a:solidFill>
                            <a:schemeClr val="tx1"/>
                          </a:solidFill>
                        </a:rPr>
                        <a:t>O</a:t>
                      </a:r>
                      <a:endParaRPr lang="nl-NL" b="0" dirty="0">
                        <a:solidFill>
                          <a:schemeClr val="tx1"/>
                        </a:solidFill>
                      </a:endParaRPr>
                    </a:p>
                  </a:txBody>
                  <a:tcPr/>
                </a:tc>
                <a:tc>
                  <a:txBody>
                    <a:bodyPr/>
                    <a:lstStyle/>
                    <a:p>
                      <a:r>
                        <a:rPr lang="nl-NL" b="0" dirty="0" smtClean="0">
                          <a:solidFill>
                            <a:schemeClr val="tx1"/>
                          </a:solidFill>
                        </a:rPr>
                        <a:t>O</a:t>
                      </a:r>
                      <a:endParaRPr lang="nl-NL" b="0" dirty="0">
                        <a:solidFill>
                          <a:schemeClr val="tx1"/>
                        </a:solidFill>
                      </a:endParaRPr>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i="1" dirty="0" smtClean="0"/>
              <a:t>Semantische geldigheid</a:t>
            </a:r>
            <a:r>
              <a:rPr lang="nl-NL" sz="3200" dirty="0" smtClean="0"/>
              <a:t> van redeneringen</a:t>
            </a:r>
            <a:endParaRPr lang="nl-NL" sz="3200" dirty="0"/>
          </a:p>
        </p:txBody>
      </p:sp>
      <p:sp>
        <p:nvSpPr>
          <p:cNvPr id="9" name="Content Placeholder 2"/>
          <p:cNvSpPr txBox="1">
            <a:spLocks/>
          </p:cNvSpPr>
          <p:nvPr/>
        </p:nvSpPr>
        <p:spPr>
          <a:xfrm>
            <a:off x="251520" y="1628800"/>
            <a:ext cx="8784976" cy="33123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lang="nl-NL" sz="2000" dirty="0" smtClean="0"/>
              <a:t>	Geldt </a:t>
            </a:r>
            <a:r>
              <a:rPr lang="nl-NL" sz="2000" dirty="0" smtClean="0">
                <a:solidFill>
                  <a:srgbClr val="0070C0"/>
                </a:solidFill>
              </a:rPr>
              <a:t>(</a:t>
            </a:r>
            <a:r>
              <a:rPr lang="nl-NL" sz="2000" b="1" dirty="0" smtClean="0">
                <a:solidFill>
                  <a:srgbClr val="0070C0"/>
                </a:solidFill>
              </a:rPr>
              <a:t>P ∧ Q) V R  |=  P </a:t>
            </a:r>
            <a:r>
              <a:rPr lang="nl-NL" sz="2000" dirty="0" smtClean="0"/>
              <a:t>?</a:t>
            </a:r>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graphicFrame>
        <p:nvGraphicFramePr>
          <p:cNvPr id="8" name="Table 7"/>
          <p:cNvGraphicFramePr>
            <a:graphicFrameLocks noGrp="1"/>
          </p:cNvGraphicFramePr>
          <p:nvPr/>
        </p:nvGraphicFramePr>
        <p:xfrm>
          <a:off x="683568" y="2564904"/>
          <a:ext cx="7128792" cy="3606800"/>
        </p:xfrm>
        <a:graphic>
          <a:graphicData uri="http://schemas.openxmlformats.org/drawingml/2006/table">
            <a:tbl>
              <a:tblPr firstRow="1" bandRow="1">
                <a:tableStyleId>{5C22544A-7EE6-4342-B048-85BDC9FD1C3A}</a:tableStyleId>
              </a:tblPr>
              <a:tblGrid>
                <a:gridCol w="1188132"/>
                <a:gridCol w="1188132"/>
                <a:gridCol w="1188132"/>
                <a:gridCol w="1188132"/>
                <a:gridCol w="1504967"/>
                <a:gridCol w="871297"/>
              </a:tblGrid>
              <a:tr h="370840">
                <a:tc>
                  <a:txBody>
                    <a:bodyPr/>
                    <a:lstStyle/>
                    <a:p>
                      <a:r>
                        <a:rPr lang="nl-NL" dirty="0" smtClean="0"/>
                        <a:t>P</a:t>
                      </a:r>
                      <a:endParaRPr lang="nl-NL" dirty="0"/>
                    </a:p>
                  </a:txBody>
                  <a:tcPr/>
                </a:tc>
                <a:tc>
                  <a:txBody>
                    <a:bodyPr/>
                    <a:lstStyle/>
                    <a:p>
                      <a:r>
                        <a:rPr lang="nl-NL" dirty="0" smtClean="0"/>
                        <a:t>Q</a:t>
                      </a:r>
                      <a:endParaRPr lang="nl-NL" dirty="0"/>
                    </a:p>
                  </a:txBody>
                  <a:tcPr/>
                </a:tc>
                <a:tc>
                  <a:txBody>
                    <a:bodyPr/>
                    <a:lstStyle/>
                    <a:p>
                      <a:r>
                        <a:rPr lang="nl-NL" dirty="0" smtClean="0"/>
                        <a:t>R</a:t>
                      </a:r>
                      <a:endParaRPr lang="nl-NL" dirty="0"/>
                    </a:p>
                  </a:txBody>
                  <a:tcPr/>
                </a:tc>
                <a:tc>
                  <a:txBody>
                    <a:bodyPr/>
                    <a:lstStyle/>
                    <a:p>
                      <a:r>
                        <a:rPr lang="nl-NL" dirty="0" smtClean="0"/>
                        <a:t>P </a:t>
                      </a:r>
                      <a:r>
                        <a:rPr lang="nl-NL" sz="1800" b="1" dirty="0" smtClean="0">
                          <a:solidFill>
                            <a:schemeClr val="bg1"/>
                          </a:solidFill>
                        </a:rPr>
                        <a:t>∧ Q</a:t>
                      </a:r>
                      <a:endParaRPr lang="nl-NL" dirty="0">
                        <a:solidFill>
                          <a:schemeClr val="bg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smtClean="0"/>
                        <a:t>(P </a:t>
                      </a:r>
                      <a:r>
                        <a:rPr lang="nl-NL" sz="1800" b="1" dirty="0" smtClean="0">
                          <a:solidFill>
                            <a:schemeClr val="bg1"/>
                          </a:solidFill>
                        </a:rPr>
                        <a:t>∧ Q) V R</a:t>
                      </a:r>
                      <a:endParaRPr lang="nl-NL" dirty="0" smtClean="0">
                        <a:solidFill>
                          <a:schemeClr val="bg1"/>
                        </a:solidFill>
                      </a:endParaRPr>
                    </a:p>
                    <a:p>
                      <a:endParaRPr lang="nl-NL" dirty="0"/>
                    </a:p>
                  </a:txBody>
                  <a:tcPr/>
                </a:tc>
                <a:tc>
                  <a:txBody>
                    <a:bodyPr/>
                    <a:lstStyle/>
                    <a:p>
                      <a:r>
                        <a:rPr lang="nl-NL" dirty="0" smtClean="0"/>
                        <a:t>P</a:t>
                      </a:r>
                      <a:endParaRPr lang="nl-NL" dirty="0"/>
                    </a:p>
                  </a:txBody>
                  <a:tcPr/>
                </a:tc>
              </a:tr>
              <a:tr h="370840">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r>
              <a:tr h="370840">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O</a:t>
                      </a:r>
                      <a:endParaRPr lang="nl-NL" b="1" dirty="0">
                        <a:solidFill>
                          <a:schemeClr val="accent2">
                            <a:lumMod val="75000"/>
                          </a:schemeClr>
                        </a:solidFill>
                      </a:endParaRPr>
                    </a:p>
                  </a:txBody>
                  <a:tcPr/>
                </a:tc>
              </a:tr>
              <a:tr h="370840">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r>
              <a:tr h="370840">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O</a:t>
                      </a:r>
                      <a:endParaRPr lang="nl-NL" b="1" dirty="0">
                        <a:solidFill>
                          <a:schemeClr val="accent2">
                            <a:lumMod val="75000"/>
                          </a:schemeClr>
                        </a:solidFill>
                      </a:endParaRPr>
                    </a:p>
                  </a:txBody>
                  <a:tcPr/>
                </a:tc>
              </a:tr>
              <a:tr h="370840">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r>
            </a:tbl>
          </a:graphicData>
        </a:graphic>
      </p:graphicFrame>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i="1" dirty="0" smtClean="0"/>
              <a:t>Semantische geldigheid</a:t>
            </a:r>
            <a:r>
              <a:rPr lang="nl-NL" sz="3200" dirty="0" smtClean="0"/>
              <a:t> van redeneringen</a:t>
            </a:r>
            <a:endParaRPr lang="nl-NL" sz="3200" dirty="0"/>
          </a:p>
        </p:txBody>
      </p:sp>
      <p:sp>
        <p:nvSpPr>
          <p:cNvPr id="9" name="Content Placeholder 2"/>
          <p:cNvSpPr txBox="1">
            <a:spLocks/>
          </p:cNvSpPr>
          <p:nvPr/>
        </p:nvSpPr>
        <p:spPr>
          <a:xfrm>
            <a:off x="251520" y="1628800"/>
            <a:ext cx="8784976" cy="33123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r>
              <a:rPr lang="nl-NL" sz="2000" dirty="0" smtClean="0"/>
              <a:t>	Geldt </a:t>
            </a:r>
            <a:r>
              <a:rPr lang="nl-NL" sz="2000" dirty="0" smtClean="0">
                <a:solidFill>
                  <a:srgbClr val="0070C0"/>
                </a:solidFill>
              </a:rPr>
              <a:t>(</a:t>
            </a:r>
            <a:r>
              <a:rPr lang="nl-NL" sz="2000" b="1" dirty="0" smtClean="0">
                <a:solidFill>
                  <a:srgbClr val="0070C0"/>
                </a:solidFill>
              </a:rPr>
              <a:t>P ∧ Q) V R  |=  P </a:t>
            </a:r>
            <a:r>
              <a:rPr lang="nl-NL" sz="2000" dirty="0" smtClean="0"/>
              <a:t>?</a:t>
            </a:r>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graphicFrame>
        <p:nvGraphicFramePr>
          <p:cNvPr id="8" name="Table 7"/>
          <p:cNvGraphicFramePr>
            <a:graphicFrameLocks noGrp="1"/>
          </p:cNvGraphicFramePr>
          <p:nvPr/>
        </p:nvGraphicFramePr>
        <p:xfrm>
          <a:off x="683568" y="2564904"/>
          <a:ext cx="7128792" cy="3606800"/>
        </p:xfrm>
        <a:graphic>
          <a:graphicData uri="http://schemas.openxmlformats.org/drawingml/2006/table">
            <a:tbl>
              <a:tblPr firstRow="1" bandRow="1">
                <a:tableStyleId>{5C22544A-7EE6-4342-B048-85BDC9FD1C3A}</a:tableStyleId>
              </a:tblPr>
              <a:tblGrid>
                <a:gridCol w="1188132"/>
                <a:gridCol w="1188132"/>
                <a:gridCol w="1188132"/>
                <a:gridCol w="1188132"/>
                <a:gridCol w="1504967"/>
                <a:gridCol w="871297"/>
              </a:tblGrid>
              <a:tr h="370840">
                <a:tc>
                  <a:txBody>
                    <a:bodyPr/>
                    <a:lstStyle/>
                    <a:p>
                      <a:r>
                        <a:rPr lang="nl-NL" dirty="0" smtClean="0"/>
                        <a:t>P</a:t>
                      </a:r>
                      <a:endParaRPr lang="nl-NL" dirty="0"/>
                    </a:p>
                  </a:txBody>
                  <a:tcPr/>
                </a:tc>
                <a:tc>
                  <a:txBody>
                    <a:bodyPr/>
                    <a:lstStyle/>
                    <a:p>
                      <a:r>
                        <a:rPr lang="nl-NL" dirty="0" smtClean="0"/>
                        <a:t>Q</a:t>
                      </a:r>
                      <a:endParaRPr lang="nl-NL" dirty="0"/>
                    </a:p>
                  </a:txBody>
                  <a:tcPr/>
                </a:tc>
                <a:tc>
                  <a:txBody>
                    <a:bodyPr/>
                    <a:lstStyle/>
                    <a:p>
                      <a:r>
                        <a:rPr lang="nl-NL" dirty="0" smtClean="0"/>
                        <a:t>R</a:t>
                      </a:r>
                      <a:endParaRPr lang="nl-NL" dirty="0"/>
                    </a:p>
                  </a:txBody>
                  <a:tcPr/>
                </a:tc>
                <a:tc>
                  <a:txBody>
                    <a:bodyPr/>
                    <a:lstStyle/>
                    <a:p>
                      <a:r>
                        <a:rPr lang="nl-NL" dirty="0" smtClean="0"/>
                        <a:t>P </a:t>
                      </a:r>
                      <a:r>
                        <a:rPr lang="nl-NL" sz="1800" b="1" dirty="0" smtClean="0">
                          <a:solidFill>
                            <a:schemeClr val="bg1"/>
                          </a:solidFill>
                        </a:rPr>
                        <a:t>∧ Q</a:t>
                      </a:r>
                      <a:endParaRPr lang="nl-NL" dirty="0">
                        <a:solidFill>
                          <a:schemeClr val="bg1"/>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l-NL" dirty="0" smtClean="0"/>
                        <a:t>(P </a:t>
                      </a:r>
                      <a:r>
                        <a:rPr lang="nl-NL" sz="1800" b="1" dirty="0" smtClean="0">
                          <a:solidFill>
                            <a:schemeClr val="bg1"/>
                          </a:solidFill>
                        </a:rPr>
                        <a:t>∧ Q) V R</a:t>
                      </a:r>
                      <a:endParaRPr lang="nl-NL" dirty="0" smtClean="0">
                        <a:solidFill>
                          <a:schemeClr val="bg1"/>
                        </a:solidFill>
                      </a:endParaRPr>
                    </a:p>
                    <a:p>
                      <a:endParaRPr lang="nl-NL" dirty="0"/>
                    </a:p>
                  </a:txBody>
                  <a:tcPr/>
                </a:tc>
                <a:tc>
                  <a:txBody>
                    <a:bodyPr/>
                    <a:lstStyle/>
                    <a:p>
                      <a:r>
                        <a:rPr lang="nl-NL" dirty="0" smtClean="0"/>
                        <a:t>P</a:t>
                      </a:r>
                      <a:endParaRPr lang="nl-NL" dirty="0"/>
                    </a:p>
                  </a:txBody>
                  <a:tcPr/>
                </a:tc>
              </a:tr>
              <a:tr h="370840">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r>
                        <a:rPr lang="nl-NL" b="1" dirty="0" smtClean="0">
                          <a:solidFill>
                            <a:schemeClr val="accent2">
                              <a:lumMod val="75000"/>
                            </a:schemeClr>
                          </a:solidFill>
                        </a:rPr>
                        <a:t>W</a:t>
                      </a:r>
                      <a:endParaRPr lang="nl-NL" b="1" dirty="0">
                        <a:solidFill>
                          <a:schemeClr val="accent2">
                            <a:lumMod val="75000"/>
                          </a:schemeClr>
                        </a:solidFill>
                      </a:endParaRPr>
                    </a:p>
                  </a:txBody>
                  <a:tcPr/>
                </a:tc>
              </a:tr>
              <a:tr h="370840">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r>
              <a:tr h="370840">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1" dirty="0" smtClean="0">
                          <a:solidFill>
                            <a:srgbClr val="FF0000"/>
                          </a:solidFill>
                        </a:rPr>
                        <a:t>W</a:t>
                      </a:r>
                      <a:endParaRPr lang="nl-NL" b="1" dirty="0">
                        <a:solidFill>
                          <a:srgbClr val="FF0000"/>
                        </a:solidFill>
                      </a:endParaRPr>
                    </a:p>
                  </a:txBody>
                  <a:tcPr/>
                </a:tc>
                <a:tc>
                  <a:txBody>
                    <a:bodyPr/>
                    <a:lstStyle/>
                    <a:p>
                      <a:r>
                        <a:rPr lang="nl-NL" b="1" dirty="0" smtClean="0">
                          <a:solidFill>
                            <a:srgbClr val="FF0000"/>
                          </a:solidFill>
                        </a:rPr>
                        <a:t>O</a:t>
                      </a:r>
                      <a:endParaRPr lang="nl-NL" b="1" dirty="0">
                        <a:solidFill>
                          <a:srgbClr val="FF0000"/>
                        </a:solidFill>
                      </a:endParaRPr>
                    </a:p>
                  </a:txBody>
                  <a:tcPr/>
                </a:tc>
              </a:tr>
              <a:tr h="370840">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r>
              <a:tr h="370840">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W</a:t>
                      </a:r>
                      <a:endParaRPr lang="nl-NL" dirty="0"/>
                    </a:p>
                  </a:txBody>
                  <a:tcPr/>
                </a:tc>
                <a:tc>
                  <a:txBody>
                    <a:bodyPr/>
                    <a:lstStyle/>
                    <a:p>
                      <a:r>
                        <a:rPr lang="nl-NL" dirty="0" smtClean="0"/>
                        <a:t>O</a:t>
                      </a:r>
                      <a:endParaRPr lang="nl-NL" dirty="0"/>
                    </a:p>
                  </a:txBody>
                  <a:tcPr/>
                </a:tc>
                <a:tc>
                  <a:txBody>
                    <a:bodyPr/>
                    <a:lstStyle/>
                    <a:p>
                      <a:r>
                        <a:rPr lang="nl-NL" b="1" dirty="0" smtClean="0">
                          <a:solidFill>
                            <a:srgbClr val="FF0000"/>
                          </a:solidFill>
                        </a:rPr>
                        <a:t>W</a:t>
                      </a:r>
                      <a:endParaRPr lang="nl-NL" b="1" dirty="0">
                        <a:solidFill>
                          <a:srgbClr val="FF0000"/>
                        </a:solidFill>
                      </a:endParaRPr>
                    </a:p>
                  </a:txBody>
                  <a:tcPr/>
                </a:tc>
                <a:tc>
                  <a:txBody>
                    <a:bodyPr/>
                    <a:lstStyle/>
                    <a:p>
                      <a:r>
                        <a:rPr lang="nl-NL" b="1" dirty="0" smtClean="0">
                          <a:solidFill>
                            <a:srgbClr val="FF0000"/>
                          </a:solidFill>
                        </a:rPr>
                        <a:t>O</a:t>
                      </a:r>
                      <a:endParaRPr lang="nl-NL" b="1" dirty="0">
                        <a:solidFill>
                          <a:srgbClr val="FF0000"/>
                        </a:solidFill>
                      </a:endParaRPr>
                    </a:p>
                  </a:txBody>
                  <a:tcPr/>
                </a:tc>
              </a:tr>
              <a:tr h="370840">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c>
                  <a:txBody>
                    <a:bodyPr/>
                    <a:lstStyle/>
                    <a:p>
                      <a:r>
                        <a:rPr lang="nl-NL" dirty="0" smtClean="0"/>
                        <a:t>O</a:t>
                      </a:r>
                      <a:endParaRPr lang="nl-NL" dirty="0"/>
                    </a:p>
                  </a:txBody>
                  <a:tcPr/>
                </a:tc>
              </a:tr>
            </a:tbl>
          </a:graphicData>
        </a:graphic>
      </p:graphicFrame>
      <p:sp>
        <p:nvSpPr>
          <p:cNvPr id="5" name="TextBox 4"/>
          <p:cNvSpPr txBox="1"/>
          <p:nvPr/>
        </p:nvSpPr>
        <p:spPr>
          <a:xfrm>
            <a:off x="8028384" y="4654877"/>
            <a:ext cx="1224136" cy="646331"/>
          </a:xfrm>
          <a:prstGeom prst="rect">
            <a:avLst/>
          </a:prstGeom>
          <a:noFill/>
        </p:spPr>
        <p:txBody>
          <a:bodyPr wrap="square" rtlCol="0">
            <a:spAutoFit/>
          </a:bodyPr>
          <a:lstStyle/>
          <a:p>
            <a:r>
              <a:rPr lang="nl-NL" b="1" dirty="0" smtClean="0">
                <a:solidFill>
                  <a:srgbClr val="FF0000"/>
                </a:solidFill>
              </a:rPr>
              <a:t>Nee, niet geldig!</a:t>
            </a:r>
            <a:endParaRPr lang="nl-NL"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8686800" cy="1143000"/>
          </a:xfrm>
        </p:spPr>
        <p:txBody>
          <a:bodyPr>
            <a:normAutofit/>
          </a:bodyPr>
          <a:lstStyle/>
          <a:p>
            <a:r>
              <a:rPr lang="nl-NL" sz="3200" dirty="0" smtClean="0"/>
              <a:t>Hoe ziet de waarheidstafel van                                            de implicatie (→) eruit?</a:t>
            </a:r>
            <a:endParaRPr lang="nl-NL" sz="3200" dirty="0"/>
          </a:p>
        </p:txBody>
      </p:sp>
      <p:sp>
        <p:nvSpPr>
          <p:cNvPr id="7" name="Content Placeholder 2"/>
          <p:cNvSpPr txBox="1">
            <a:spLocks/>
          </p:cNvSpPr>
          <p:nvPr/>
        </p:nvSpPr>
        <p:spPr>
          <a:xfrm>
            <a:off x="179512" y="1556792"/>
            <a:ext cx="8784976"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defRPr/>
            </a:pPr>
            <a:r>
              <a:rPr lang="nl-NL" sz="2000" dirty="0" smtClean="0"/>
              <a:t>Deze waarheidstafel moet in elk geval recht doen aan de semantische geldigheid van de </a:t>
            </a:r>
            <a:r>
              <a:rPr lang="nl-NL" sz="2000" i="1" dirty="0" smtClean="0"/>
              <a:t>modus </a:t>
            </a:r>
            <a:r>
              <a:rPr lang="nl-NL" sz="2000" i="1" dirty="0" err="1" smtClean="0"/>
              <a:t>ponens</a:t>
            </a:r>
            <a:r>
              <a:rPr lang="nl-NL" sz="2000" i="1" dirty="0" smtClean="0"/>
              <a:t> </a:t>
            </a:r>
            <a:r>
              <a:rPr lang="nl-NL" sz="2000" dirty="0" smtClean="0"/>
              <a:t>en </a:t>
            </a:r>
            <a:r>
              <a:rPr lang="nl-NL" sz="2000" i="1" dirty="0" smtClean="0"/>
              <a:t>modus tollens </a:t>
            </a:r>
            <a:r>
              <a:rPr lang="nl-NL" sz="2000" dirty="0" smtClean="0"/>
              <a:t>redeneringen:</a:t>
            </a:r>
          </a:p>
          <a:p>
            <a:pPr marL="342900" lvl="0" indent="-342900">
              <a:spcBef>
                <a:spcPct val="20000"/>
              </a:spcBef>
              <a:buFont typeface="Arial" pitchFamily="34" charset="0"/>
              <a:buChar char="•"/>
              <a:defRPr/>
            </a:pPr>
            <a:endParaRPr lang="nl-NL" sz="800" b="1" i="1" dirty="0" smtClean="0"/>
          </a:p>
          <a:p>
            <a:pPr marL="342900" lvl="0" indent="-342900">
              <a:spcBef>
                <a:spcPct val="20000"/>
              </a:spcBef>
              <a:defRPr/>
            </a:pPr>
            <a:r>
              <a:rPr lang="nl-NL" sz="2000" b="1" i="1" dirty="0" smtClean="0"/>
              <a:t>	</a:t>
            </a:r>
            <a:r>
              <a:rPr lang="el-GR" sz="2000" b="1" i="1" dirty="0" smtClean="0"/>
              <a:t>α</a:t>
            </a:r>
            <a:r>
              <a:rPr lang="nl-NL" sz="2000" b="1" i="1" dirty="0" smtClean="0"/>
              <a:t> </a:t>
            </a:r>
            <a:r>
              <a:rPr lang="nl-NL" sz="2000" b="1" dirty="0" smtClean="0"/>
              <a:t>→ </a:t>
            </a:r>
            <a:r>
              <a:rPr lang="el-GR" sz="2000" b="1" i="1" dirty="0" smtClean="0"/>
              <a:t>β</a:t>
            </a:r>
            <a:r>
              <a:rPr lang="nl-NL" sz="2000" b="1" i="1" dirty="0" smtClean="0"/>
              <a:t> </a:t>
            </a:r>
            <a:r>
              <a:rPr lang="nl-NL" sz="2000" dirty="0" smtClean="0"/>
              <a:t>, </a:t>
            </a:r>
            <a:r>
              <a:rPr lang="el-GR" sz="2000" b="1" i="1" dirty="0" smtClean="0"/>
              <a:t>α</a:t>
            </a:r>
            <a:r>
              <a:rPr lang="nl-NL" sz="2000" b="1" i="1" baseline="-25000" dirty="0" smtClean="0"/>
              <a:t>   </a:t>
            </a:r>
            <a:r>
              <a:rPr lang="nl-NL" sz="2000" dirty="0" smtClean="0"/>
              <a:t>|=  </a:t>
            </a:r>
            <a:r>
              <a:rPr lang="el-GR" sz="2000" b="1" i="1" dirty="0" smtClean="0"/>
              <a:t>β</a:t>
            </a:r>
            <a:r>
              <a:rPr lang="nl-NL" sz="2000" b="1" i="1" dirty="0" smtClean="0"/>
              <a:t>  </a:t>
            </a:r>
            <a:r>
              <a:rPr lang="nl-NL" sz="2000" dirty="0" smtClean="0"/>
              <a:t> (Modus </a:t>
            </a:r>
            <a:r>
              <a:rPr lang="nl-NL" sz="2000" dirty="0" err="1" smtClean="0"/>
              <a:t>ponens</a:t>
            </a:r>
            <a:r>
              <a:rPr lang="nl-NL" sz="2000" dirty="0" smtClean="0"/>
              <a:t>)</a:t>
            </a:r>
          </a:p>
          <a:p>
            <a:pPr marL="342900" lvl="0" indent="-342900">
              <a:spcBef>
                <a:spcPct val="20000"/>
              </a:spcBef>
              <a:defRPr/>
            </a:pPr>
            <a:r>
              <a:rPr lang="nl-NL" sz="2000" b="1" i="1" dirty="0" smtClean="0"/>
              <a:t>      </a:t>
            </a:r>
            <a:r>
              <a:rPr lang="el-GR" sz="2000" b="1" i="1" dirty="0" smtClean="0"/>
              <a:t>α</a:t>
            </a:r>
            <a:r>
              <a:rPr lang="nl-NL" sz="2000" b="1" i="1" dirty="0" smtClean="0"/>
              <a:t> </a:t>
            </a:r>
            <a:r>
              <a:rPr lang="nl-NL" sz="2000" b="1" dirty="0" smtClean="0"/>
              <a:t>→ </a:t>
            </a:r>
            <a:r>
              <a:rPr lang="el-GR" sz="2000" b="1" i="1" dirty="0" smtClean="0"/>
              <a:t>β</a:t>
            </a:r>
            <a:r>
              <a:rPr lang="nl-NL" sz="2000" b="1" i="1" dirty="0" smtClean="0"/>
              <a:t> </a:t>
            </a:r>
            <a:r>
              <a:rPr lang="nl-NL" sz="2000" dirty="0" smtClean="0"/>
              <a:t>, </a:t>
            </a:r>
            <a:r>
              <a:rPr lang="nl-NL" sz="2000" b="1" dirty="0" smtClean="0"/>
              <a:t>¬</a:t>
            </a:r>
            <a:r>
              <a:rPr lang="el-GR" sz="2000" b="1" i="1" dirty="0" smtClean="0"/>
              <a:t>β</a:t>
            </a:r>
            <a:r>
              <a:rPr lang="nl-NL" sz="2000" dirty="0" smtClean="0"/>
              <a:t> |= </a:t>
            </a:r>
            <a:r>
              <a:rPr lang="nl-NL" sz="2000" b="1" dirty="0" smtClean="0"/>
              <a:t>¬</a:t>
            </a:r>
            <a:r>
              <a:rPr lang="el-GR" sz="2000" b="1" i="1" dirty="0" smtClean="0"/>
              <a:t>α</a:t>
            </a:r>
            <a:r>
              <a:rPr lang="nl-NL" sz="2000" dirty="0" smtClean="0"/>
              <a:t>   (Modus tollens)</a:t>
            </a:r>
          </a:p>
          <a:p>
            <a:pPr marL="342900" lvl="0" indent="-342900">
              <a:spcBef>
                <a:spcPct val="20000"/>
              </a:spcBef>
              <a:defRPr/>
            </a:pPr>
            <a:r>
              <a:rPr lang="nl-NL" sz="2000" b="1" i="1" dirty="0" smtClean="0"/>
              <a:t>	</a:t>
            </a:r>
          </a:p>
          <a:p>
            <a:pPr marL="342900" lvl="0" indent="-342900">
              <a:spcBef>
                <a:spcPct val="20000"/>
              </a:spcBef>
              <a:defRPr/>
            </a:pPr>
            <a:r>
              <a:rPr lang="nl-NL" sz="2000" b="1" i="1" dirty="0" smtClean="0"/>
              <a:t>	</a:t>
            </a:r>
            <a:endParaRPr lang="nl-NL" sz="2000" dirty="0" smtClean="0"/>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251520" y="3356992"/>
            <a:ext cx="8784976"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buFont typeface="Arial" pitchFamily="34" charset="0"/>
              <a:buChar char="•"/>
              <a:defRPr/>
            </a:pPr>
            <a:r>
              <a:rPr lang="nl-NL" sz="2000" dirty="0" smtClean="0"/>
              <a:t>Deze waarheidstafel moet bovendien de redeneringen </a:t>
            </a:r>
            <a:r>
              <a:rPr lang="nl-NL" sz="2000" i="1" dirty="0" smtClean="0"/>
              <a:t>ex </a:t>
            </a:r>
            <a:r>
              <a:rPr lang="nl-NL" sz="2000" i="1" dirty="0" err="1" smtClean="0"/>
              <a:t>consequentia</a:t>
            </a:r>
            <a:r>
              <a:rPr lang="nl-NL" sz="2000" i="1" dirty="0" smtClean="0"/>
              <a:t> </a:t>
            </a:r>
            <a:r>
              <a:rPr lang="nl-NL" sz="2000" dirty="0" smtClean="0"/>
              <a:t>(</a:t>
            </a:r>
            <a:r>
              <a:rPr lang="el-GR" sz="2000" b="1" i="1" dirty="0" smtClean="0"/>
              <a:t>α</a:t>
            </a:r>
            <a:r>
              <a:rPr lang="nl-NL" sz="2000" b="1" i="1" dirty="0" smtClean="0"/>
              <a:t> </a:t>
            </a:r>
            <a:r>
              <a:rPr lang="nl-NL" sz="2000" dirty="0" smtClean="0"/>
              <a:t>concluderen uit </a:t>
            </a:r>
            <a:r>
              <a:rPr lang="el-GR" sz="2000" b="1" i="1" dirty="0" smtClean="0"/>
              <a:t>α</a:t>
            </a:r>
            <a:r>
              <a:rPr lang="nl-NL" sz="2000" b="1" i="1" dirty="0" smtClean="0"/>
              <a:t> </a:t>
            </a:r>
            <a:r>
              <a:rPr lang="nl-NL" sz="2000" b="1" dirty="0" smtClean="0"/>
              <a:t>→ </a:t>
            </a:r>
            <a:r>
              <a:rPr lang="el-GR" sz="2000" b="1" i="1" dirty="0" smtClean="0"/>
              <a:t>β</a:t>
            </a:r>
            <a:r>
              <a:rPr lang="nl-NL" sz="2000" b="1" i="1" dirty="0" smtClean="0"/>
              <a:t> </a:t>
            </a:r>
            <a:r>
              <a:rPr lang="nl-NL" sz="2000" dirty="0" smtClean="0"/>
              <a:t>en </a:t>
            </a:r>
            <a:r>
              <a:rPr lang="el-GR" sz="2000" b="1" i="1" dirty="0" smtClean="0"/>
              <a:t>β</a:t>
            </a:r>
            <a:r>
              <a:rPr lang="nl-NL" sz="2000" dirty="0" smtClean="0"/>
              <a:t>) en </a:t>
            </a:r>
            <a:r>
              <a:rPr lang="nl-NL" sz="2000" i="1" dirty="0" smtClean="0"/>
              <a:t>negatie van het antecedent </a:t>
            </a:r>
            <a:r>
              <a:rPr lang="nl-NL" sz="2000" dirty="0" smtClean="0"/>
              <a:t>(</a:t>
            </a:r>
            <a:r>
              <a:rPr lang="nl-NL" sz="2000" b="1" dirty="0" smtClean="0"/>
              <a:t>¬</a:t>
            </a:r>
            <a:r>
              <a:rPr lang="el-GR" sz="2000" b="1" i="1" dirty="0" smtClean="0"/>
              <a:t>β</a:t>
            </a:r>
            <a:r>
              <a:rPr lang="nl-NL" sz="2000" b="1" i="1" dirty="0" smtClean="0"/>
              <a:t> </a:t>
            </a:r>
            <a:r>
              <a:rPr lang="nl-NL" sz="2000" dirty="0" smtClean="0"/>
              <a:t>concluderen      uit</a:t>
            </a:r>
            <a:r>
              <a:rPr lang="nl-NL" sz="2000" b="1" i="1" dirty="0" smtClean="0"/>
              <a:t> </a:t>
            </a:r>
            <a:r>
              <a:rPr lang="el-GR" sz="2000" b="1" i="1" dirty="0" smtClean="0"/>
              <a:t>α</a:t>
            </a:r>
            <a:r>
              <a:rPr lang="nl-NL" sz="2000" b="1" i="1" dirty="0" smtClean="0"/>
              <a:t> </a:t>
            </a:r>
            <a:r>
              <a:rPr lang="nl-NL" sz="2000" b="1" dirty="0" smtClean="0"/>
              <a:t>→ </a:t>
            </a:r>
            <a:r>
              <a:rPr lang="el-GR" sz="2000" b="1" i="1" dirty="0" smtClean="0"/>
              <a:t>β</a:t>
            </a:r>
            <a:r>
              <a:rPr lang="nl-NL" sz="2000" b="1" i="1" dirty="0" smtClean="0"/>
              <a:t> </a:t>
            </a:r>
            <a:r>
              <a:rPr lang="nl-NL" sz="2000" dirty="0" smtClean="0"/>
              <a:t>en</a:t>
            </a:r>
            <a:r>
              <a:rPr lang="nl-NL" sz="2000" b="1" i="1" dirty="0" smtClean="0"/>
              <a:t> </a:t>
            </a:r>
            <a:r>
              <a:rPr lang="nl-NL" sz="2000" b="1" dirty="0" smtClean="0"/>
              <a:t>¬</a:t>
            </a:r>
            <a:r>
              <a:rPr lang="el-GR" sz="2000" b="1" i="1" dirty="0" smtClean="0"/>
              <a:t>α</a:t>
            </a:r>
            <a:r>
              <a:rPr lang="nl-NL" sz="2000" dirty="0" smtClean="0"/>
              <a:t>)</a:t>
            </a:r>
            <a:r>
              <a:rPr lang="nl-NL" sz="2000" b="1" i="1" dirty="0" smtClean="0"/>
              <a:t> </a:t>
            </a:r>
            <a:r>
              <a:rPr lang="nl-NL" sz="2000" dirty="0" smtClean="0"/>
              <a:t>semantisch </a:t>
            </a:r>
            <a:r>
              <a:rPr lang="nl-NL" sz="2000" u="sng" dirty="0" smtClean="0"/>
              <a:t>on</a:t>
            </a:r>
            <a:r>
              <a:rPr lang="nl-NL" sz="2000" dirty="0" smtClean="0"/>
              <a:t>geldig maken.</a:t>
            </a:r>
            <a:r>
              <a:rPr lang="nl-NL" sz="2000" b="1" i="1" dirty="0" smtClean="0"/>
              <a:t>	</a:t>
            </a:r>
          </a:p>
          <a:p>
            <a:pPr marL="342900" lvl="0" indent="-342900">
              <a:spcBef>
                <a:spcPct val="20000"/>
              </a:spcBef>
              <a:defRPr/>
            </a:pPr>
            <a:r>
              <a:rPr lang="nl-NL" sz="2000" b="1" i="1" dirty="0" smtClean="0"/>
              <a:t>	</a:t>
            </a:r>
            <a:endParaRPr lang="nl-NL" sz="2000" dirty="0" smtClean="0"/>
          </a:p>
          <a:p>
            <a:pPr marL="342900" lvl="0" indent="-342900">
              <a:spcBef>
                <a:spcPct val="20000"/>
              </a:spcBef>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2000"/>
                                        <p:tgtEl>
                                          <p:spTgt spid="6">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2000"/>
                                        <p:tgtEl>
                                          <p:spTgt spid="6">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fade">
                                      <p:cBhvr>
                                        <p:cTn id="13" dur="2000"/>
                                        <p:tgtEl>
                                          <p:spTgt spid="6">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5" end="5"/>
                                            </p:txEl>
                                          </p:spTgt>
                                        </p:tgtEl>
                                        <p:attrNameLst>
                                          <p:attrName>style.visibility</p:attrName>
                                        </p:attrNameLst>
                                      </p:cBhvr>
                                      <p:to>
                                        <p:strVal val="visible"/>
                                      </p:to>
                                    </p:set>
                                    <p:animEffect transition="in" filter="fade">
                                      <p:cBhvr>
                                        <p:cTn id="16" dur="20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79512"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4" name="Table 23"/>
          <p:cNvGraphicFramePr>
            <a:graphicFrameLocks noGrp="1"/>
          </p:cNvGraphicFramePr>
          <p:nvPr/>
        </p:nvGraphicFramePr>
        <p:xfrm>
          <a:off x="2483769"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5" name="Table 24"/>
          <p:cNvGraphicFramePr>
            <a:graphicFrameLocks noGrp="1"/>
          </p:cNvGraphicFramePr>
          <p:nvPr/>
        </p:nvGraphicFramePr>
        <p:xfrm>
          <a:off x="4788025"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6" name="Table 25"/>
          <p:cNvGraphicFramePr>
            <a:graphicFrameLocks noGrp="1"/>
          </p:cNvGraphicFramePr>
          <p:nvPr/>
        </p:nvGraphicFramePr>
        <p:xfrm>
          <a:off x="7020272"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9" name="Table 28"/>
          <p:cNvGraphicFramePr>
            <a:graphicFrameLocks noGrp="1"/>
          </p:cNvGraphicFramePr>
          <p:nvPr/>
        </p:nvGraphicFramePr>
        <p:xfrm>
          <a:off x="4788025"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0" name="Table 29"/>
          <p:cNvGraphicFramePr>
            <a:graphicFrameLocks noGrp="1"/>
          </p:cNvGraphicFramePr>
          <p:nvPr/>
        </p:nvGraphicFramePr>
        <p:xfrm>
          <a:off x="702027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1" name="Table 30"/>
          <p:cNvGraphicFramePr>
            <a:graphicFrameLocks noGrp="1"/>
          </p:cNvGraphicFramePr>
          <p:nvPr/>
        </p:nvGraphicFramePr>
        <p:xfrm>
          <a:off x="179513"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2" name="Table 31"/>
          <p:cNvGraphicFramePr>
            <a:graphicFrameLocks noGrp="1"/>
          </p:cNvGraphicFramePr>
          <p:nvPr/>
        </p:nvGraphicFramePr>
        <p:xfrm>
          <a:off x="2483770"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3" name="Table 32"/>
          <p:cNvGraphicFramePr>
            <a:graphicFrameLocks noGrp="1"/>
          </p:cNvGraphicFramePr>
          <p:nvPr/>
        </p:nvGraphicFramePr>
        <p:xfrm>
          <a:off x="4788026"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4" name="Table 33"/>
          <p:cNvGraphicFramePr>
            <a:graphicFrameLocks noGrp="1"/>
          </p:cNvGraphicFramePr>
          <p:nvPr/>
        </p:nvGraphicFramePr>
        <p:xfrm>
          <a:off x="7020273"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5" name="Table 34"/>
          <p:cNvGraphicFramePr>
            <a:graphicFrameLocks noGrp="1"/>
          </p:cNvGraphicFramePr>
          <p:nvPr/>
        </p:nvGraphicFramePr>
        <p:xfrm>
          <a:off x="17951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6" name="Table 35"/>
          <p:cNvGraphicFramePr>
            <a:graphicFrameLocks noGrp="1"/>
          </p:cNvGraphicFramePr>
          <p:nvPr/>
        </p:nvGraphicFramePr>
        <p:xfrm>
          <a:off x="2483769"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7" name="Table 36"/>
          <p:cNvGraphicFramePr>
            <a:graphicFrameLocks noGrp="1"/>
          </p:cNvGraphicFramePr>
          <p:nvPr/>
        </p:nvGraphicFramePr>
        <p:xfrm>
          <a:off x="4788025"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8" name="Table 37"/>
          <p:cNvGraphicFramePr>
            <a:graphicFrameLocks noGrp="1"/>
          </p:cNvGraphicFramePr>
          <p:nvPr/>
        </p:nvGraphicFramePr>
        <p:xfrm>
          <a:off x="702027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79512"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4" name="Table 23"/>
          <p:cNvGraphicFramePr>
            <a:graphicFrameLocks noGrp="1"/>
          </p:cNvGraphicFramePr>
          <p:nvPr/>
        </p:nvGraphicFramePr>
        <p:xfrm>
          <a:off x="2483769"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5" name="Table 24"/>
          <p:cNvGraphicFramePr>
            <a:graphicFrameLocks noGrp="1"/>
          </p:cNvGraphicFramePr>
          <p:nvPr/>
        </p:nvGraphicFramePr>
        <p:xfrm>
          <a:off x="4788025"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6" name="Table 25"/>
          <p:cNvGraphicFramePr>
            <a:graphicFrameLocks noGrp="1"/>
          </p:cNvGraphicFramePr>
          <p:nvPr/>
        </p:nvGraphicFramePr>
        <p:xfrm>
          <a:off x="7020272" y="18864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9" name="Table 28"/>
          <p:cNvGraphicFramePr>
            <a:graphicFrameLocks noGrp="1"/>
          </p:cNvGraphicFramePr>
          <p:nvPr/>
        </p:nvGraphicFramePr>
        <p:xfrm>
          <a:off x="4788025"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0" name="Table 29"/>
          <p:cNvGraphicFramePr>
            <a:graphicFrameLocks noGrp="1"/>
          </p:cNvGraphicFramePr>
          <p:nvPr/>
        </p:nvGraphicFramePr>
        <p:xfrm>
          <a:off x="702027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1" name="Table 30"/>
          <p:cNvGraphicFramePr>
            <a:graphicFrameLocks noGrp="1"/>
          </p:cNvGraphicFramePr>
          <p:nvPr/>
        </p:nvGraphicFramePr>
        <p:xfrm>
          <a:off x="179513"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2" name="Table 31"/>
          <p:cNvGraphicFramePr>
            <a:graphicFrameLocks noGrp="1"/>
          </p:cNvGraphicFramePr>
          <p:nvPr/>
        </p:nvGraphicFramePr>
        <p:xfrm>
          <a:off x="2483770"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3" name="Table 32"/>
          <p:cNvGraphicFramePr>
            <a:graphicFrameLocks noGrp="1"/>
          </p:cNvGraphicFramePr>
          <p:nvPr/>
        </p:nvGraphicFramePr>
        <p:xfrm>
          <a:off x="4788026"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4" name="Table 33"/>
          <p:cNvGraphicFramePr>
            <a:graphicFrameLocks noGrp="1"/>
          </p:cNvGraphicFramePr>
          <p:nvPr/>
        </p:nvGraphicFramePr>
        <p:xfrm>
          <a:off x="7020273" y="3619708"/>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b="1" dirty="0" smtClean="0">
                          <a:solidFill>
                            <a:srgbClr val="FF0000"/>
                          </a:solidFill>
                        </a:rPr>
                        <a:t>W</a:t>
                      </a:r>
                      <a:endParaRPr lang="nl-NL" sz="1100" b="1" dirty="0">
                        <a:solidFill>
                          <a:srgbClr val="FF0000"/>
                        </a:solidFill>
                      </a:endParaRPr>
                    </a:p>
                  </a:txBody>
                  <a:tcPr/>
                </a:tc>
                <a:tc>
                  <a:txBody>
                    <a:bodyPr/>
                    <a:lstStyle/>
                    <a:p>
                      <a:r>
                        <a:rPr lang="nl-NL" sz="1100" b="1" dirty="0" smtClean="0">
                          <a:solidFill>
                            <a:srgbClr val="FF0000"/>
                          </a:solidFill>
                        </a:rPr>
                        <a:t>O</a:t>
                      </a:r>
                      <a:endParaRPr lang="nl-NL" sz="1100" b="1" dirty="0">
                        <a:solidFill>
                          <a:srgbClr val="FF0000"/>
                        </a:solidFill>
                      </a:endParaRPr>
                    </a:p>
                  </a:txBody>
                  <a:tcPr/>
                </a:tc>
                <a:tc>
                  <a:txBody>
                    <a:bodyPr/>
                    <a:lstStyle/>
                    <a:p>
                      <a:r>
                        <a:rPr lang="nl-NL" sz="1100" b="1" dirty="0" smtClean="0">
                          <a:solidFill>
                            <a:srgbClr val="FF0000"/>
                          </a:solidFill>
                        </a:rPr>
                        <a:t>W</a:t>
                      </a:r>
                      <a:endParaRPr lang="nl-NL" sz="1100" b="1" dirty="0">
                        <a:solidFill>
                          <a:srgbClr val="FF0000"/>
                        </a:solidFill>
                      </a:endParaRPr>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5" name="Table 34"/>
          <p:cNvGraphicFramePr>
            <a:graphicFrameLocks noGrp="1"/>
          </p:cNvGraphicFramePr>
          <p:nvPr/>
        </p:nvGraphicFramePr>
        <p:xfrm>
          <a:off x="17951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6" name="Table 35"/>
          <p:cNvGraphicFramePr>
            <a:graphicFrameLocks noGrp="1"/>
          </p:cNvGraphicFramePr>
          <p:nvPr/>
        </p:nvGraphicFramePr>
        <p:xfrm>
          <a:off x="2483769"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7" name="Table 36"/>
          <p:cNvGraphicFramePr>
            <a:graphicFrameLocks noGrp="1"/>
          </p:cNvGraphicFramePr>
          <p:nvPr/>
        </p:nvGraphicFramePr>
        <p:xfrm>
          <a:off x="4788025"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8" name="Table 37"/>
          <p:cNvGraphicFramePr>
            <a:graphicFrameLocks noGrp="1"/>
          </p:cNvGraphicFramePr>
          <p:nvPr/>
        </p:nvGraphicFramePr>
        <p:xfrm>
          <a:off x="702027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9" name="Table 28"/>
          <p:cNvGraphicFramePr>
            <a:graphicFrameLocks noGrp="1"/>
          </p:cNvGraphicFramePr>
          <p:nvPr/>
        </p:nvGraphicFramePr>
        <p:xfrm>
          <a:off x="4788025"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0" name="Table 29"/>
          <p:cNvGraphicFramePr>
            <a:graphicFrameLocks noGrp="1"/>
          </p:cNvGraphicFramePr>
          <p:nvPr/>
        </p:nvGraphicFramePr>
        <p:xfrm>
          <a:off x="702027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5" name="Table 34"/>
          <p:cNvGraphicFramePr>
            <a:graphicFrameLocks noGrp="1"/>
          </p:cNvGraphicFramePr>
          <p:nvPr/>
        </p:nvGraphicFramePr>
        <p:xfrm>
          <a:off x="17951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6" name="Table 35"/>
          <p:cNvGraphicFramePr>
            <a:graphicFrameLocks noGrp="1"/>
          </p:cNvGraphicFramePr>
          <p:nvPr/>
        </p:nvGraphicFramePr>
        <p:xfrm>
          <a:off x="2483769"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7" name="Table 36"/>
          <p:cNvGraphicFramePr>
            <a:graphicFrameLocks noGrp="1"/>
          </p:cNvGraphicFramePr>
          <p:nvPr/>
        </p:nvGraphicFramePr>
        <p:xfrm>
          <a:off x="4788025"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8" name="Table 37"/>
          <p:cNvGraphicFramePr>
            <a:graphicFrameLocks noGrp="1"/>
          </p:cNvGraphicFramePr>
          <p:nvPr/>
        </p:nvGraphicFramePr>
        <p:xfrm>
          <a:off x="702027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9" name="Table 28"/>
          <p:cNvGraphicFramePr>
            <a:graphicFrameLocks noGrp="1"/>
          </p:cNvGraphicFramePr>
          <p:nvPr/>
        </p:nvGraphicFramePr>
        <p:xfrm>
          <a:off x="4788025"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0" name="Table 29"/>
          <p:cNvGraphicFramePr>
            <a:graphicFrameLocks noGrp="1"/>
          </p:cNvGraphicFramePr>
          <p:nvPr/>
        </p:nvGraphicFramePr>
        <p:xfrm>
          <a:off x="702027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5" name="Table 34"/>
          <p:cNvGraphicFramePr>
            <a:graphicFrameLocks noGrp="1"/>
          </p:cNvGraphicFramePr>
          <p:nvPr/>
        </p:nvGraphicFramePr>
        <p:xfrm>
          <a:off x="17951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6" name="Table 35"/>
          <p:cNvGraphicFramePr>
            <a:graphicFrameLocks noGrp="1"/>
          </p:cNvGraphicFramePr>
          <p:nvPr/>
        </p:nvGraphicFramePr>
        <p:xfrm>
          <a:off x="2483769"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37" name="Table 36"/>
          <p:cNvGraphicFramePr>
            <a:graphicFrameLocks noGrp="1"/>
          </p:cNvGraphicFramePr>
          <p:nvPr/>
        </p:nvGraphicFramePr>
        <p:xfrm>
          <a:off x="4788025"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8" name="Table 37"/>
          <p:cNvGraphicFramePr>
            <a:graphicFrameLocks noGrp="1"/>
          </p:cNvGraphicFramePr>
          <p:nvPr/>
        </p:nvGraphicFramePr>
        <p:xfrm>
          <a:off x="7020272" y="5229200"/>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
        <p:nvSpPr>
          <p:cNvPr id="10" name="TextBox 9"/>
          <p:cNvSpPr txBox="1"/>
          <p:nvPr/>
        </p:nvSpPr>
        <p:spPr>
          <a:xfrm>
            <a:off x="1115616" y="3861048"/>
            <a:ext cx="4752528" cy="646331"/>
          </a:xfrm>
          <a:prstGeom prst="rect">
            <a:avLst/>
          </a:prstGeom>
          <a:noFill/>
        </p:spPr>
        <p:txBody>
          <a:bodyPr wrap="square" rtlCol="0">
            <a:spAutoFit/>
          </a:bodyPr>
          <a:lstStyle/>
          <a:p>
            <a:pPr algn="ctr"/>
            <a:r>
              <a:rPr lang="nl-NL" dirty="0" smtClean="0"/>
              <a:t>Alleen de bovenste vier opties garanderen dat </a:t>
            </a:r>
            <a:r>
              <a:rPr lang="nl-NL" i="1" dirty="0" smtClean="0"/>
              <a:t>modus </a:t>
            </a:r>
            <a:r>
              <a:rPr lang="nl-NL" i="1" dirty="0" err="1" smtClean="0"/>
              <a:t>ponens</a:t>
            </a:r>
            <a:r>
              <a:rPr lang="nl-NL" i="1" dirty="0" smtClean="0"/>
              <a:t> </a:t>
            </a:r>
            <a:r>
              <a:rPr lang="nl-NL" dirty="0" smtClean="0"/>
              <a:t>geen loze afleidingsregel 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W</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9" name="Table 28"/>
          <p:cNvGraphicFramePr>
            <a:graphicFrameLocks noGrp="1"/>
          </p:cNvGraphicFramePr>
          <p:nvPr/>
        </p:nvGraphicFramePr>
        <p:xfrm>
          <a:off x="4788025"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0" name="Table 29"/>
          <p:cNvGraphicFramePr>
            <a:graphicFrameLocks noGrp="1"/>
          </p:cNvGraphicFramePr>
          <p:nvPr/>
        </p:nvGraphicFramePr>
        <p:xfrm>
          <a:off x="702027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1" dirty="0" smtClean="0">
                          <a:solidFill>
                            <a:srgbClr val="00B050"/>
                          </a:solidFill>
                        </a:rPr>
                        <a:t>O</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1" dirty="0" smtClean="0">
                          <a:solidFill>
                            <a:srgbClr val="00B050"/>
                          </a:solidFill>
                        </a:rPr>
                        <a:t>O</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graphicFrame>
        <p:nvGraphicFramePr>
          <p:cNvPr id="29" name="Table 28"/>
          <p:cNvGraphicFramePr>
            <a:graphicFrameLocks noGrp="1"/>
          </p:cNvGraphicFramePr>
          <p:nvPr/>
        </p:nvGraphicFramePr>
        <p:xfrm>
          <a:off x="4788025"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30" name="Table 29"/>
          <p:cNvGraphicFramePr>
            <a:graphicFrameLocks noGrp="1"/>
          </p:cNvGraphicFramePr>
          <p:nvPr/>
        </p:nvGraphicFramePr>
        <p:xfrm>
          <a:off x="702027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
        <p:nvSpPr>
          <p:cNvPr id="6" name="TextBox 5"/>
          <p:cNvSpPr txBox="1"/>
          <p:nvPr/>
        </p:nvSpPr>
        <p:spPr>
          <a:xfrm>
            <a:off x="179512" y="3934797"/>
            <a:ext cx="4392488" cy="646331"/>
          </a:xfrm>
          <a:prstGeom prst="rect">
            <a:avLst/>
          </a:prstGeom>
          <a:noFill/>
        </p:spPr>
        <p:txBody>
          <a:bodyPr wrap="square" rtlCol="0">
            <a:spAutoFit/>
          </a:bodyPr>
          <a:lstStyle/>
          <a:p>
            <a:pPr algn="ctr"/>
            <a:r>
              <a:rPr lang="nl-NL" dirty="0" smtClean="0"/>
              <a:t>Alleen de eerste twee opties                            garanderen dat </a:t>
            </a:r>
            <a:r>
              <a:rPr lang="nl-NL" i="1" dirty="0" smtClean="0"/>
              <a:t>ex </a:t>
            </a:r>
            <a:r>
              <a:rPr lang="nl-NL" i="1" dirty="0" err="1" smtClean="0"/>
              <a:t>consequentia</a:t>
            </a:r>
            <a:r>
              <a:rPr lang="nl-NL" i="1" dirty="0" smtClean="0"/>
              <a:t> </a:t>
            </a:r>
            <a:r>
              <a:rPr lang="nl-NL" u="sng" dirty="0" smtClean="0"/>
              <a:t>on</a:t>
            </a:r>
            <a:r>
              <a:rPr lang="nl-NL" dirty="0" smtClean="0"/>
              <a:t>geldig 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W</a:t>
                      </a:r>
                      <a:endParaRPr lang="nl-NL" sz="1100" dirty="0"/>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b="1" dirty="0" smtClean="0">
                          <a:solidFill>
                            <a:srgbClr val="00B050"/>
                          </a:solidFill>
                        </a:rPr>
                        <a:t>O</a:t>
                      </a:r>
                      <a:endParaRPr lang="nl-NL" sz="1100" b="1" dirty="0">
                        <a:solidFill>
                          <a:srgbClr val="00B050"/>
                        </a:solidFill>
                      </a:endParaRPr>
                    </a:p>
                  </a:txBody>
                  <a:tcPr/>
                </a:tc>
                <a:tc>
                  <a:txBody>
                    <a:bodyPr/>
                    <a:lstStyle/>
                    <a:p>
                      <a:r>
                        <a:rPr lang="nl-NL" sz="1100" b="1" dirty="0" smtClean="0">
                          <a:solidFill>
                            <a:srgbClr val="00B050"/>
                          </a:solidFill>
                        </a:rPr>
                        <a:t>O</a:t>
                      </a:r>
                      <a:endParaRPr lang="nl-NL" sz="1100" b="1" dirty="0">
                        <a:solidFill>
                          <a:srgbClr val="00B050"/>
                        </a:solidFill>
                      </a:endParaRPr>
                    </a:p>
                  </a:txBody>
                  <a:tcPr/>
                </a:tc>
                <a:tc>
                  <a:txBody>
                    <a:bodyPr/>
                    <a:lstStyle/>
                    <a:p>
                      <a:r>
                        <a:rPr lang="nl-NL" sz="1100" b="1" dirty="0" smtClean="0">
                          <a:solidFill>
                            <a:srgbClr val="00B050"/>
                          </a:solidFill>
                        </a:rPr>
                        <a:t>W</a:t>
                      </a:r>
                      <a:endParaRPr lang="nl-NL" sz="1100" b="1" dirty="0">
                        <a:solidFill>
                          <a:srgbClr val="00B050"/>
                        </a:solidFill>
                      </a:endParaRPr>
                    </a:p>
                  </a:txBody>
                  <a:tcPr/>
                </a:tc>
              </a:tr>
            </a:tbl>
          </a:graphicData>
        </a:graphic>
      </p:graphicFrame>
      <p:graphicFrame>
        <p:nvGraphicFramePr>
          <p:cNvPr id="28" name="Table 27"/>
          <p:cNvGraphicFramePr>
            <a:graphicFrameLocks noGrp="1"/>
          </p:cNvGraphicFramePr>
          <p:nvPr/>
        </p:nvGraphicFramePr>
        <p:xfrm>
          <a:off x="2483769"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bl>
          </a:graphicData>
        </a:graphic>
      </p:graphicFrame>
      <p:sp>
        <p:nvSpPr>
          <p:cNvPr id="4" name="TextBox 3"/>
          <p:cNvSpPr txBox="1"/>
          <p:nvPr/>
        </p:nvSpPr>
        <p:spPr>
          <a:xfrm>
            <a:off x="1115616" y="3861048"/>
            <a:ext cx="4752528" cy="646331"/>
          </a:xfrm>
          <a:prstGeom prst="rect">
            <a:avLst/>
          </a:prstGeom>
          <a:noFill/>
        </p:spPr>
        <p:txBody>
          <a:bodyPr wrap="square" rtlCol="0">
            <a:spAutoFit/>
          </a:bodyPr>
          <a:lstStyle/>
          <a:p>
            <a:pPr algn="ctr"/>
            <a:r>
              <a:rPr lang="nl-NL" dirty="0" smtClean="0"/>
              <a:t>Alleen de eerste optie garandeert dat </a:t>
            </a:r>
            <a:r>
              <a:rPr lang="nl-NL" i="1" dirty="0" smtClean="0"/>
              <a:t>modus tollens </a:t>
            </a:r>
            <a:r>
              <a:rPr lang="nl-NL" dirty="0" smtClean="0"/>
              <a:t>geen loze afleidingsregel 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179512" y="1916832"/>
          <a:ext cx="1872207" cy="1465476"/>
        </p:xfrm>
        <a:graphic>
          <a:graphicData uri="http://schemas.openxmlformats.org/drawingml/2006/table">
            <a:tbl>
              <a:tblPr firstRow="1" bandRow="1">
                <a:tableStyleId>{5C22544A-7EE6-4342-B048-85BDC9FD1C3A}</a:tableStyleId>
              </a:tblPr>
              <a:tblGrid>
                <a:gridCol w="624069"/>
                <a:gridCol w="624069"/>
                <a:gridCol w="624069"/>
              </a:tblGrid>
              <a:tr h="429156">
                <a:tc>
                  <a:txBody>
                    <a:bodyPr/>
                    <a:lstStyle/>
                    <a:p>
                      <a:r>
                        <a:rPr lang="nl-NL" sz="1100" dirty="0" smtClean="0"/>
                        <a:t>P</a:t>
                      </a:r>
                      <a:endParaRPr lang="nl-NL" sz="1100" dirty="0"/>
                    </a:p>
                  </a:txBody>
                  <a:tcPr/>
                </a:tc>
                <a:tc>
                  <a:txBody>
                    <a:bodyPr/>
                    <a:lstStyle/>
                    <a:p>
                      <a:r>
                        <a:rPr lang="nl-NL" sz="1100" dirty="0" smtClean="0"/>
                        <a:t>Q</a:t>
                      </a:r>
                      <a:endParaRPr lang="nl-NL" sz="1100" dirty="0"/>
                    </a:p>
                  </a:txBody>
                  <a:tcPr/>
                </a:tc>
                <a:tc>
                  <a:txBody>
                    <a:bodyPr/>
                    <a:lstStyle/>
                    <a:p>
                      <a:r>
                        <a:rPr lang="nl-NL" sz="1100" dirty="0" smtClean="0"/>
                        <a:t>P</a:t>
                      </a:r>
                      <a:r>
                        <a:rPr lang="nl-NL" sz="1100" baseline="0" dirty="0" smtClean="0"/>
                        <a:t> </a:t>
                      </a:r>
                      <a:r>
                        <a:rPr lang="nl-NL" sz="1100" b="1" dirty="0" smtClean="0"/>
                        <a:t>→ Q</a:t>
                      </a:r>
                      <a:endParaRPr lang="nl-NL" sz="1100" dirty="0"/>
                    </a:p>
                  </a:txBody>
                  <a:tcPr/>
                </a:tc>
              </a:tr>
              <a:tr h="240892">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dirty="0" smtClean="0"/>
                        <a:t>W</a:t>
                      </a:r>
                      <a:endParaRPr lang="nl-NL" sz="1100" dirty="0"/>
                    </a:p>
                  </a:txBody>
                  <a:tcPr/>
                </a:tc>
                <a:tc>
                  <a:txBody>
                    <a:bodyPr/>
                    <a:lstStyle/>
                    <a:p>
                      <a:r>
                        <a:rPr lang="nl-NL" sz="1100" dirty="0" smtClean="0"/>
                        <a:t>O</a:t>
                      </a:r>
                      <a:endParaRPr lang="nl-NL" sz="1100" dirty="0"/>
                    </a:p>
                  </a:txBody>
                  <a:tcPr/>
                </a:tc>
                <a:tc>
                  <a:txBody>
                    <a:bodyPr/>
                    <a:lstStyle/>
                    <a:p>
                      <a:r>
                        <a:rPr lang="nl-NL" sz="1100" dirty="0" smtClean="0"/>
                        <a:t>O</a:t>
                      </a:r>
                      <a:endParaRPr lang="nl-NL" sz="1100" dirty="0"/>
                    </a:p>
                  </a:txBody>
                  <a:tcPr/>
                </a:tc>
              </a:tr>
              <a:tr h="240892">
                <a:tc>
                  <a:txBody>
                    <a:bodyPr/>
                    <a:lstStyle/>
                    <a:p>
                      <a:r>
                        <a:rPr lang="nl-NL" sz="1100" b="0" dirty="0" smtClean="0">
                          <a:solidFill>
                            <a:schemeClr val="tx1"/>
                          </a:solidFill>
                        </a:rPr>
                        <a:t>O</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c>
                  <a:txBody>
                    <a:bodyPr/>
                    <a:lstStyle/>
                    <a:p>
                      <a:r>
                        <a:rPr lang="nl-NL" sz="1100" b="0" dirty="0" smtClean="0">
                          <a:solidFill>
                            <a:schemeClr val="tx1"/>
                          </a:solidFill>
                        </a:rPr>
                        <a:t>W</a:t>
                      </a:r>
                      <a:endParaRPr lang="nl-NL" sz="1100" b="0" dirty="0">
                        <a:solidFill>
                          <a:schemeClr val="tx1"/>
                        </a:solidFill>
                      </a:endParaRPr>
                    </a:p>
                  </a:txBody>
                  <a:tcPr/>
                </a:tc>
              </a:tr>
              <a:tr h="240892">
                <a:tc>
                  <a:txBody>
                    <a:bodyPr/>
                    <a:lstStyle/>
                    <a:p>
                      <a:r>
                        <a:rPr lang="nl-NL" sz="1100" b="0" dirty="0" smtClean="0">
                          <a:solidFill>
                            <a:srgbClr val="002060"/>
                          </a:solidFill>
                        </a:rPr>
                        <a:t>O</a:t>
                      </a:r>
                      <a:endParaRPr lang="nl-NL" sz="1100" b="0" dirty="0">
                        <a:solidFill>
                          <a:srgbClr val="002060"/>
                        </a:solidFill>
                      </a:endParaRPr>
                    </a:p>
                  </a:txBody>
                  <a:tcPr/>
                </a:tc>
                <a:tc>
                  <a:txBody>
                    <a:bodyPr/>
                    <a:lstStyle/>
                    <a:p>
                      <a:r>
                        <a:rPr lang="nl-NL" sz="1100" b="0" dirty="0" smtClean="0">
                          <a:solidFill>
                            <a:srgbClr val="002060"/>
                          </a:solidFill>
                        </a:rPr>
                        <a:t>O</a:t>
                      </a:r>
                      <a:endParaRPr lang="nl-NL" sz="1100" b="0" dirty="0">
                        <a:solidFill>
                          <a:srgbClr val="002060"/>
                        </a:solidFill>
                      </a:endParaRPr>
                    </a:p>
                  </a:txBody>
                  <a:tcPr/>
                </a:tc>
                <a:tc>
                  <a:txBody>
                    <a:bodyPr/>
                    <a:lstStyle/>
                    <a:p>
                      <a:r>
                        <a:rPr lang="nl-NL" sz="1100" b="0" dirty="0" smtClean="0">
                          <a:solidFill>
                            <a:srgbClr val="002060"/>
                          </a:solidFill>
                        </a:rPr>
                        <a:t>W</a:t>
                      </a:r>
                      <a:endParaRPr lang="nl-NL" sz="1100" b="0" dirty="0">
                        <a:solidFill>
                          <a:srgbClr val="002060"/>
                        </a:solidFill>
                      </a:endParaRPr>
                    </a:p>
                  </a:txBody>
                  <a:tcPr/>
                </a:tc>
              </a:tr>
            </a:tbl>
          </a:graphicData>
        </a:graphic>
      </p:graphicFrame>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827584" y="1916832"/>
          <a:ext cx="6696744" cy="2939512"/>
        </p:xfrm>
        <a:graphic>
          <a:graphicData uri="http://schemas.openxmlformats.org/drawingml/2006/table">
            <a:tbl>
              <a:tblPr firstRow="1" bandRow="1">
                <a:tableStyleId>{5C22544A-7EE6-4342-B048-85BDC9FD1C3A}</a:tableStyleId>
              </a:tblPr>
              <a:tblGrid>
                <a:gridCol w="2232248"/>
                <a:gridCol w="2232248"/>
                <a:gridCol w="2232248"/>
              </a:tblGrid>
              <a:tr h="648072">
                <a:tc>
                  <a:txBody>
                    <a:bodyPr/>
                    <a:lstStyle/>
                    <a:p>
                      <a:pPr algn="ctr"/>
                      <a:r>
                        <a:rPr lang="nl-NL" sz="2800" dirty="0" smtClean="0"/>
                        <a:t>P</a:t>
                      </a:r>
                      <a:endParaRPr lang="nl-NL" sz="2800" dirty="0"/>
                    </a:p>
                  </a:txBody>
                  <a:tcPr/>
                </a:tc>
                <a:tc>
                  <a:txBody>
                    <a:bodyPr/>
                    <a:lstStyle/>
                    <a:p>
                      <a:pPr algn="ctr"/>
                      <a:r>
                        <a:rPr lang="nl-NL" sz="2800" dirty="0" smtClean="0"/>
                        <a:t>Q</a:t>
                      </a:r>
                      <a:endParaRPr lang="nl-NL" sz="2800" dirty="0"/>
                    </a:p>
                  </a:txBody>
                  <a:tcPr/>
                </a:tc>
                <a:tc>
                  <a:txBody>
                    <a:bodyPr/>
                    <a:lstStyle/>
                    <a:p>
                      <a:pPr algn="ctr"/>
                      <a:r>
                        <a:rPr lang="nl-NL" sz="2800" dirty="0" smtClean="0"/>
                        <a:t>P </a:t>
                      </a:r>
                      <a:r>
                        <a:rPr lang="nl-NL" sz="2800" b="1" dirty="0" smtClean="0"/>
                        <a:t>→ Q</a:t>
                      </a:r>
                      <a:endParaRPr lang="nl-NL" sz="2800" dirty="0"/>
                    </a:p>
                  </a:txBody>
                  <a:tcPr/>
                </a:tc>
              </a:tr>
              <a:tr h="572860">
                <a:tc>
                  <a:txBody>
                    <a:bodyPr/>
                    <a:lstStyle/>
                    <a:p>
                      <a:pPr algn="ctr"/>
                      <a:r>
                        <a:rPr lang="nl-NL" sz="2800" b="0" dirty="0" smtClean="0">
                          <a:solidFill>
                            <a:schemeClr val="tx1"/>
                          </a:solidFill>
                        </a:rPr>
                        <a:t>W</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r>
              <a:tr h="572860">
                <a:tc>
                  <a:txBody>
                    <a:bodyPr/>
                    <a:lstStyle/>
                    <a:p>
                      <a:pPr algn="ctr"/>
                      <a:r>
                        <a:rPr lang="nl-NL" sz="2800" dirty="0" smtClean="0"/>
                        <a:t>W</a:t>
                      </a:r>
                      <a:endParaRPr lang="nl-NL" sz="2800" dirty="0"/>
                    </a:p>
                  </a:txBody>
                  <a:tcPr/>
                </a:tc>
                <a:tc>
                  <a:txBody>
                    <a:bodyPr/>
                    <a:lstStyle/>
                    <a:p>
                      <a:pPr algn="ctr"/>
                      <a:r>
                        <a:rPr lang="nl-NL" sz="2800" dirty="0" smtClean="0"/>
                        <a:t>O</a:t>
                      </a:r>
                      <a:endParaRPr lang="nl-NL" sz="2800" dirty="0"/>
                    </a:p>
                  </a:txBody>
                  <a:tcPr/>
                </a:tc>
                <a:tc>
                  <a:txBody>
                    <a:bodyPr/>
                    <a:lstStyle/>
                    <a:p>
                      <a:pPr algn="ctr"/>
                      <a:r>
                        <a:rPr lang="nl-NL" sz="2800" dirty="0" smtClean="0"/>
                        <a:t>O</a:t>
                      </a:r>
                      <a:endParaRPr lang="nl-NL" sz="2800" dirty="0"/>
                    </a:p>
                  </a:txBody>
                  <a:tcPr/>
                </a:tc>
              </a:tr>
              <a:tr h="572860">
                <a:tc>
                  <a:txBody>
                    <a:bodyPr/>
                    <a:lstStyle/>
                    <a:p>
                      <a:pPr algn="ctr"/>
                      <a:r>
                        <a:rPr lang="nl-NL" sz="2800" b="0" dirty="0" smtClean="0">
                          <a:solidFill>
                            <a:schemeClr val="tx1"/>
                          </a:solidFill>
                        </a:rPr>
                        <a:t>O</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r>
              <a:tr h="572860">
                <a:tc>
                  <a:txBody>
                    <a:bodyPr/>
                    <a:lstStyle/>
                    <a:p>
                      <a:pPr algn="ctr"/>
                      <a:r>
                        <a:rPr lang="nl-NL" sz="2800" b="0" dirty="0" smtClean="0">
                          <a:solidFill>
                            <a:srgbClr val="002060"/>
                          </a:solidFill>
                        </a:rPr>
                        <a:t>O</a:t>
                      </a:r>
                      <a:endParaRPr lang="nl-NL" sz="2800" b="0" dirty="0">
                        <a:solidFill>
                          <a:srgbClr val="002060"/>
                        </a:solidFill>
                      </a:endParaRPr>
                    </a:p>
                  </a:txBody>
                  <a:tcPr/>
                </a:tc>
                <a:tc>
                  <a:txBody>
                    <a:bodyPr/>
                    <a:lstStyle/>
                    <a:p>
                      <a:pPr algn="ctr"/>
                      <a:r>
                        <a:rPr lang="nl-NL" sz="2800" b="0" dirty="0" smtClean="0">
                          <a:solidFill>
                            <a:srgbClr val="002060"/>
                          </a:solidFill>
                        </a:rPr>
                        <a:t>O</a:t>
                      </a:r>
                      <a:endParaRPr lang="nl-NL" sz="2800" b="0" dirty="0">
                        <a:solidFill>
                          <a:srgbClr val="002060"/>
                        </a:solidFill>
                      </a:endParaRPr>
                    </a:p>
                  </a:txBody>
                  <a:tcPr/>
                </a:tc>
                <a:tc>
                  <a:txBody>
                    <a:bodyPr/>
                    <a:lstStyle/>
                    <a:p>
                      <a:pPr algn="ctr"/>
                      <a:r>
                        <a:rPr lang="nl-NL" sz="2800" b="0" dirty="0" smtClean="0">
                          <a:solidFill>
                            <a:srgbClr val="002060"/>
                          </a:solidFill>
                        </a:rPr>
                        <a:t>W</a:t>
                      </a:r>
                      <a:endParaRPr lang="nl-NL" sz="2800" b="0" dirty="0">
                        <a:solidFill>
                          <a:srgbClr val="002060"/>
                        </a:solidFill>
                      </a:endParaRPr>
                    </a:p>
                  </a:txBody>
                  <a:tcPr/>
                </a:tc>
              </a:tr>
            </a:tbl>
          </a:graphicData>
        </a:graphic>
      </p:graphicFrame>
      <p:sp>
        <p:nvSpPr>
          <p:cNvPr id="3" name="Title 1"/>
          <p:cNvSpPr>
            <a:spLocks noGrp="1"/>
          </p:cNvSpPr>
          <p:nvPr>
            <p:ph type="title"/>
          </p:nvPr>
        </p:nvSpPr>
        <p:spPr>
          <a:xfrm>
            <a:off x="251520" y="274638"/>
            <a:ext cx="8686800" cy="1143000"/>
          </a:xfrm>
        </p:spPr>
        <p:txBody>
          <a:bodyPr>
            <a:normAutofit/>
          </a:bodyPr>
          <a:lstStyle/>
          <a:p>
            <a:r>
              <a:rPr lang="nl-NL" sz="3200" dirty="0" smtClean="0"/>
              <a:t>De waarheidstafel van de implicatie (→)</a:t>
            </a:r>
            <a:endParaRPr lang="nl-NL" sz="3200" dirty="0"/>
          </a:p>
        </p:txBody>
      </p:sp>
      <p:sp>
        <p:nvSpPr>
          <p:cNvPr id="4" name="TextBox 3"/>
          <p:cNvSpPr txBox="1"/>
          <p:nvPr/>
        </p:nvSpPr>
        <p:spPr>
          <a:xfrm>
            <a:off x="683568" y="5301208"/>
            <a:ext cx="7128792" cy="923330"/>
          </a:xfrm>
          <a:prstGeom prst="rect">
            <a:avLst/>
          </a:prstGeom>
          <a:noFill/>
        </p:spPr>
        <p:txBody>
          <a:bodyPr wrap="square" rtlCol="0">
            <a:spAutoFit/>
          </a:bodyPr>
          <a:lstStyle/>
          <a:p>
            <a:r>
              <a:rPr lang="nl-NL" dirty="0" smtClean="0"/>
              <a:t>Alleen deze waarheidsfunctie resulteert in de semantische geldigheid van </a:t>
            </a:r>
            <a:r>
              <a:rPr lang="nl-NL" i="1" dirty="0" smtClean="0"/>
              <a:t>modus </a:t>
            </a:r>
            <a:r>
              <a:rPr lang="nl-NL" i="1" dirty="0" err="1" smtClean="0"/>
              <a:t>ponens</a:t>
            </a:r>
            <a:r>
              <a:rPr lang="nl-NL" i="1" dirty="0" smtClean="0"/>
              <a:t> </a:t>
            </a:r>
            <a:r>
              <a:rPr lang="nl-NL" dirty="0" smtClean="0"/>
              <a:t>en </a:t>
            </a:r>
            <a:r>
              <a:rPr lang="nl-NL" i="1" dirty="0" smtClean="0"/>
              <a:t>modus tollens</a:t>
            </a:r>
            <a:r>
              <a:rPr lang="nl-NL" dirty="0" smtClean="0"/>
              <a:t>, en in de semantische </a:t>
            </a:r>
            <a:r>
              <a:rPr lang="nl-NL" u="sng" dirty="0" smtClean="0"/>
              <a:t>on</a:t>
            </a:r>
            <a:r>
              <a:rPr lang="nl-NL" dirty="0" smtClean="0"/>
              <a:t>geldigheid van  </a:t>
            </a:r>
            <a:r>
              <a:rPr lang="nl-NL" i="1" dirty="0" smtClean="0"/>
              <a:t>ex </a:t>
            </a:r>
            <a:r>
              <a:rPr lang="nl-NL" i="1" dirty="0" err="1" smtClean="0"/>
              <a:t>consequentia</a:t>
            </a:r>
            <a:r>
              <a:rPr lang="nl-NL" dirty="0" smtClean="0"/>
              <a:t> en </a:t>
            </a:r>
            <a:r>
              <a:rPr lang="nl-NL" i="1" dirty="0" smtClean="0"/>
              <a:t>negatie van het antecedent</a:t>
            </a:r>
            <a:r>
              <a:rPr lang="nl-NL" dirty="0" smtClean="0"/>
              <a:t> (ga voor laatste na!)</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6"/>
          <p:cNvGraphicFramePr>
            <a:graphicFrameLocks noGrp="1"/>
          </p:cNvGraphicFramePr>
          <p:nvPr/>
        </p:nvGraphicFramePr>
        <p:xfrm>
          <a:off x="827584" y="1916832"/>
          <a:ext cx="6696744" cy="2939512"/>
        </p:xfrm>
        <a:graphic>
          <a:graphicData uri="http://schemas.openxmlformats.org/drawingml/2006/table">
            <a:tbl>
              <a:tblPr firstRow="1" bandRow="1">
                <a:tableStyleId>{5C22544A-7EE6-4342-B048-85BDC9FD1C3A}</a:tableStyleId>
              </a:tblPr>
              <a:tblGrid>
                <a:gridCol w="2232248"/>
                <a:gridCol w="2232248"/>
                <a:gridCol w="2232248"/>
              </a:tblGrid>
              <a:tr h="648072">
                <a:tc>
                  <a:txBody>
                    <a:bodyPr/>
                    <a:lstStyle/>
                    <a:p>
                      <a:pPr algn="ctr"/>
                      <a:r>
                        <a:rPr lang="nl-NL" sz="2800" dirty="0" smtClean="0"/>
                        <a:t>P</a:t>
                      </a:r>
                      <a:endParaRPr lang="nl-NL" sz="2800" dirty="0"/>
                    </a:p>
                  </a:txBody>
                  <a:tcPr/>
                </a:tc>
                <a:tc>
                  <a:txBody>
                    <a:bodyPr/>
                    <a:lstStyle/>
                    <a:p>
                      <a:pPr algn="ctr"/>
                      <a:r>
                        <a:rPr lang="nl-NL" sz="2800" dirty="0" smtClean="0"/>
                        <a:t>Q</a:t>
                      </a:r>
                      <a:endParaRPr lang="nl-NL" sz="2800" dirty="0"/>
                    </a:p>
                  </a:txBody>
                  <a:tcPr/>
                </a:tc>
                <a:tc>
                  <a:txBody>
                    <a:bodyPr/>
                    <a:lstStyle/>
                    <a:p>
                      <a:pPr algn="ctr"/>
                      <a:r>
                        <a:rPr lang="nl-NL" sz="2800" dirty="0" smtClean="0"/>
                        <a:t>P </a:t>
                      </a:r>
                      <a:r>
                        <a:rPr lang="nl-NL" sz="2800" b="1" dirty="0" smtClean="0"/>
                        <a:t>→ Q</a:t>
                      </a:r>
                      <a:endParaRPr lang="nl-NL" sz="2800" dirty="0"/>
                    </a:p>
                  </a:txBody>
                  <a:tcPr/>
                </a:tc>
              </a:tr>
              <a:tr h="572860">
                <a:tc>
                  <a:txBody>
                    <a:bodyPr/>
                    <a:lstStyle/>
                    <a:p>
                      <a:pPr algn="ctr"/>
                      <a:r>
                        <a:rPr lang="nl-NL" sz="2800" b="0" dirty="0" smtClean="0">
                          <a:solidFill>
                            <a:schemeClr val="tx1"/>
                          </a:solidFill>
                        </a:rPr>
                        <a:t>W</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r>
              <a:tr h="572860">
                <a:tc>
                  <a:txBody>
                    <a:bodyPr/>
                    <a:lstStyle/>
                    <a:p>
                      <a:pPr algn="ctr"/>
                      <a:r>
                        <a:rPr lang="nl-NL" sz="2800" dirty="0" smtClean="0"/>
                        <a:t>W</a:t>
                      </a:r>
                      <a:endParaRPr lang="nl-NL" sz="2800" dirty="0"/>
                    </a:p>
                  </a:txBody>
                  <a:tcPr/>
                </a:tc>
                <a:tc>
                  <a:txBody>
                    <a:bodyPr/>
                    <a:lstStyle/>
                    <a:p>
                      <a:pPr algn="ctr"/>
                      <a:r>
                        <a:rPr lang="nl-NL" sz="2800" dirty="0" smtClean="0"/>
                        <a:t>O</a:t>
                      </a:r>
                      <a:endParaRPr lang="nl-NL" sz="2800" dirty="0"/>
                    </a:p>
                  </a:txBody>
                  <a:tcPr/>
                </a:tc>
                <a:tc>
                  <a:txBody>
                    <a:bodyPr/>
                    <a:lstStyle/>
                    <a:p>
                      <a:pPr algn="ctr"/>
                      <a:r>
                        <a:rPr lang="nl-NL" sz="2800" dirty="0" smtClean="0"/>
                        <a:t>O</a:t>
                      </a:r>
                      <a:endParaRPr lang="nl-NL" sz="2800" dirty="0"/>
                    </a:p>
                  </a:txBody>
                  <a:tcPr/>
                </a:tc>
              </a:tr>
              <a:tr h="572860">
                <a:tc>
                  <a:txBody>
                    <a:bodyPr/>
                    <a:lstStyle/>
                    <a:p>
                      <a:pPr algn="ctr"/>
                      <a:r>
                        <a:rPr lang="nl-NL" sz="2800" b="0" dirty="0" smtClean="0">
                          <a:solidFill>
                            <a:schemeClr val="tx1"/>
                          </a:solidFill>
                        </a:rPr>
                        <a:t>O</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c>
                  <a:txBody>
                    <a:bodyPr/>
                    <a:lstStyle/>
                    <a:p>
                      <a:pPr algn="ctr"/>
                      <a:r>
                        <a:rPr lang="nl-NL" sz="2800" b="0" dirty="0" smtClean="0">
                          <a:solidFill>
                            <a:schemeClr val="tx1"/>
                          </a:solidFill>
                        </a:rPr>
                        <a:t>W</a:t>
                      </a:r>
                      <a:endParaRPr lang="nl-NL" sz="2800" b="0" dirty="0">
                        <a:solidFill>
                          <a:schemeClr val="tx1"/>
                        </a:solidFill>
                      </a:endParaRPr>
                    </a:p>
                  </a:txBody>
                  <a:tcPr/>
                </a:tc>
              </a:tr>
              <a:tr h="572860">
                <a:tc>
                  <a:txBody>
                    <a:bodyPr/>
                    <a:lstStyle/>
                    <a:p>
                      <a:pPr algn="ctr"/>
                      <a:r>
                        <a:rPr lang="nl-NL" sz="2800" b="0" dirty="0" smtClean="0">
                          <a:solidFill>
                            <a:srgbClr val="002060"/>
                          </a:solidFill>
                        </a:rPr>
                        <a:t>O</a:t>
                      </a:r>
                      <a:endParaRPr lang="nl-NL" sz="2800" b="0" dirty="0">
                        <a:solidFill>
                          <a:srgbClr val="002060"/>
                        </a:solidFill>
                      </a:endParaRPr>
                    </a:p>
                  </a:txBody>
                  <a:tcPr/>
                </a:tc>
                <a:tc>
                  <a:txBody>
                    <a:bodyPr/>
                    <a:lstStyle/>
                    <a:p>
                      <a:pPr algn="ctr"/>
                      <a:r>
                        <a:rPr lang="nl-NL" sz="2800" b="0" dirty="0" smtClean="0">
                          <a:solidFill>
                            <a:srgbClr val="002060"/>
                          </a:solidFill>
                        </a:rPr>
                        <a:t>O</a:t>
                      </a:r>
                      <a:endParaRPr lang="nl-NL" sz="2800" b="0" dirty="0">
                        <a:solidFill>
                          <a:srgbClr val="002060"/>
                        </a:solidFill>
                      </a:endParaRPr>
                    </a:p>
                  </a:txBody>
                  <a:tcPr/>
                </a:tc>
                <a:tc>
                  <a:txBody>
                    <a:bodyPr/>
                    <a:lstStyle/>
                    <a:p>
                      <a:pPr algn="ctr"/>
                      <a:r>
                        <a:rPr lang="nl-NL" sz="2800" b="0" dirty="0" smtClean="0">
                          <a:solidFill>
                            <a:srgbClr val="002060"/>
                          </a:solidFill>
                        </a:rPr>
                        <a:t>W</a:t>
                      </a:r>
                      <a:endParaRPr lang="nl-NL" sz="2800" b="0" dirty="0">
                        <a:solidFill>
                          <a:srgbClr val="002060"/>
                        </a:solidFill>
                      </a:endParaRPr>
                    </a:p>
                  </a:txBody>
                  <a:tcPr/>
                </a:tc>
              </a:tr>
            </a:tbl>
          </a:graphicData>
        </a:graphic>
      </p:graphicFrame>
      <p:sp>
        <p:nvSpPr>
          <p:cNvPr id="3" name="Title 1"/>
          <p:cNvSpPr>
            <a:spLocks noGrp="1"/>
          </p:cNvSpPr>
          <p:nvPr>
            <p:ph type="title"/>
          </p:nvPr>
        </p:nvSpPr>
        <p:spPr>
          <a:xfrm>
            <a:off x="251520" y="274638"/>
            <a:ext cx="8686800" cy="1143000"/>
          </a:xfrm>
        </p:spPr>
        <p:txBody>
          <a:bodyPr>
            <a:normAutofit/>
          </a:bodyPr>
          <a:lstStyle/>
          <a:p>
            <a:r>
              <a:rPr lang="nl-NL" sz="3200" dirty="0" smtClean="0"/>
              <a:t>De waarheidstafel van de </a:t>
            </a:r>
            <a:r>
              <a:rPr lang="nl-NL" sz="3200" i="1" dirty="0" smtClean="0"/>
              <a:t>materiële</a:t>
            </a:r>
            <a:r>
              <a:rPr lang="nl-NL" sz="3200" dirty="0" smtClean="0"/>
              <a:t> implicatie (→)</a:t>
            </a:r>
            <a:endParaRPr lang="nl-NL" sz="3200" dirty="0"/>
          </a:p>
        </p:txBody>
      </p:sp>
      <p:sp>
        <p:nvSpPr>
          <p:cNvPr id="4" name="TextBox 3"/>
          <p:cNvSpPr txBox="1"/>
          <p:nvPr/>
        </p:nvSpPr>
        <p:spPr>
          <a:xfrm>
            <a:off x="683568" y="5301208"/>
            <a:ext cx="7128792" cy="923330"/>
          </a:xfrm>
          <a:prstGeom prst="rect">
            <a:avLst/>
          </a:prstGeom>
          <a:noFill/>
        </p:spPr>
        <p:txBody>
          <a:bodyPr wrap="square" rtlCol="0">
            <a:spAutoFit/>
          </a:bodyPr>
          <a:lstStyle/>
          <a:p>
            <a:r>
              <a:rPr lang="nl-NL" dirty="0" smtClean="0"/>
              <a:t>Alleen deze waarheidsfunctie resulteert in de semantische geldigheid van </a:t>
            </a:r>
            <a:r>
              <a:rPr lang="nl-NL" i="1" dirty="0" smtClean="0"/>
              <a:t>modus </a:t>
            </a:r>
            <a:r>
              <a:rPr lang="nl-NL" i="1" dirty="0" err="1" smtClean="0"/>
              <a:t>ponens</a:t>
            </a:r>
            <a:r>
              <a:rPr lang="nl-NL" i="1" dirty="0" smtClean="0"/>
              <a:t> </a:t>
            </a:r>
            <a:r>
              <a:rPr lang="nl-NL" dirty="0" smtClean="0"/>
              <a:t>en </a:t>
            </a:r>
            <a:r>
              <a:rPr lang="nl-NL" i="1" dirty="0" smtClean="0"/>
              <a:t>modus tollens</a:t>
            </a:r>
            <a:r>
              <a:rPr lang="nl-NL" dirty="0" smtClean="0"/>
              <a:t>, en in de semantische </a:t>
            </a:r>
            <a:r>
              <a:rPr lang="nl-NL" u="sng" dirty="0" smtClean="0"/>
              <a:t>on</a:t>
            </a:r>
            <a:r>
              <a:rPr lang="nl-NL" dirty="0" smtClean="0"/>
              <a:t>geldigheid van  </a:t>
            </a:r>
            <a:r>
              <a:rPr lang="nl-NL" i="1" dirty="0" smtClean="0"/>
              <a:t>ex </a:t>
            </a:r>
            <a:r>
              <a:rPr lang="nl-NL" i="1" dirty="0" err="1" smtClean="0"/>
              <a:t>consequentia</a:t>
            </a:r>
            <a:r>
              <a:rPr lang="nl-NL" dirty="0" smtClean="0"/>
              <a:t> en </a:t>
            </a:r>
            <a:r>
              <a:rPr lang="nl-NL" i="1" dirty="0" smtClean="0"/>
              <a:t>negatie van het antecedent</a:t>
            </a:r>
            <a:r>
              <a:rPr lang="nl-NL" dirty="0" smtClean="0"/>
              <a:t> (ga voor laatste na!)</a:t>
            </a:r>
            <a:endParaRPr lang="nl-NL"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51520" y="274638"/>
            <a:ext cx="8686800" cy="1143000"/>
          </a:xfrm>
        </p:spPr>
        <p:txBody>
          <a:bodyPr>
            <a:normAutofit/>
          </a:bodyPr>
          <a:lstStyle/>
          <a:p>
            <a:r>
              <a:rPr lang="nl-NL" sz="3200" dirty="0" smtClean="0"/>
              <a:t>Waarheidstafel van dubbele implicatie (↔)</a:t>
            </a:r>
            <a:endParaRPr lang="nl-NL" sz="3200" dirty="0"/>
          </a:p>
        </p:txBody>
      </p:sp>
      <p:graphicFrame>
        <p:nvGraphicFramePr>
          <p:cNvPr id="5" name="Table 4"/>
          <p:cNvGraphicFramePr>
            <a:graphicFrameLocks noGrp="1"/>
          </p:cNvGraphicFramePr>
          <p:nvPr/>
        </p:nvGraphicFramePr>
        <p:xfrm>
          <a:off x="179514" y="2889736"/>
          <a:ext cx="8784974" cy="2123440"/>
        </p:xfrm>
        <a:graphic>
          <a:graphicData uri="http://schemas.openxmlformats.org/drawingml/2006/table">
            <a:tbl>
              <a:tblPr firstRow="1" bandRow="1">
                <a:tableStyleId>{5C22544A-7EE6-4342-B048-85BDC9FD1C3A}</a:tableStyleId>
              </a:tblPr>
              <a:tblGrid>
                <a:gridCol w="846791"/>
                <a:gridCol w="1025415"/>
                <a:gridCol w="1224136"/>
                <a:gridCol w="1224136"/>
                <a:gridCol w="2736304"/>
                <a:gridCol w="1728192"/>
              </a:tblGrid>
              <a:tr h="370840">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P </a:t>
                      </a:r>
                      <a:r>
                        <a:rPr lang="nl-NL" sz="1800" b="1" dirty="0" smtClean="0"/>
                        <a:t>→ Q</a:t>
                      </a:r>
                      <a:endParaRPr lang="nl-NL" dirty="0"/>
                    </a:p>
                  </a:txBody>
                  <a:tcPr/>
                </a:tc>
                <a:tc>
                  <a:txBody>
                    <a:bodyPr/>
                    <a:lstStyle/>
                    <a:p>
                      <a:pPr algn="ctr"/>
                      <a:r>
                        <a:rPr lang="nl-NL" dirty="0" smtClean="0"/>
                        <a:t>Q</a:t>
                      </a:r>
                      <a:r>
                        <a:rPr lang="nl-NL" baseline="0" dirty="0" smtClean="0"/>
                        <a:t> </a:t>
                      </a:r>
                      <a:r>
                        <a:rPr lang="nl-NL" sz="1800" b="1" dirty="0" smtClean="0"/>
                        <a:t>→ P</a:t>
                      </a:r>
                      <a:endParaRPr lang="nl-NL"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l-NL" dirty="0" smtClean="0"/>
                        <a:t>(P </a:t>
                      </a:r>
                      <a:r>
                        <a:rPr lang="nl-NL" sz="1800" b="1" dirty="0" smtClean="0"/>
                        <a:t>→ Q) </a:t>
                      </a:r>
                      <a:r>
                        <a:rPr lang="nl-NL" sz="1800" b="1" dirty="0" smtClean="0">
                          <a:solidFill>
                            <a:schemeClr val="bg1"/>
                          </a:solidFill>
                        </a:rPr>
                        <a:t>∧ (Q</a:t>
                      </a:r>
                      <a:r>
                        <a:rPr lang="nl-NL" sz="1800" b="1" dirty="0" smtClean="0"/>
                        <a:t>  → P)</a:t>
                      </a:r>
                      <a:endParaRPr lang="nl-NL" dirty="0" smtClean="0"/>
                    </a:p>
                    <a:p>
                      <a:pPr algn="ctr"/>
                      <a:endParaRPr lang="nl-NL" dirty="0"/>
                    </a:p>
                  </a:txBody>
                  <a:tcPr/>
                </a:tc>
                <a:tc>
                  <a:txBody>
                    <a:bodyPr/>
                    <a:lstStyle/>
                    <a:p>
                      <a:pPr algn="ctr"/>
                      <a:r>
                        <a:rPr lang="nl-NL" dirty="0" smtClean="0"/>
                        <a:t>P </a:t>
                      </a:r>
                      <a:r>
                        <a:rPr lang="nl-NL" sz="1800" dirty="0" smtClean="0"/>
                        <a:t>↔ Q</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370840">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 </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370840">
                <a:tc>
                  <a:txBody>
                    <a:bodyPr/>
                    <a:lstStyle/>
                    <a:p>
                      <a:pPr algn="ctr"/>
                      <a:r>
                        <a:rPr lang="nl-NL" dirty="0" smtClean="0"/>
                        <a:t>O </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bl>
          </a:graphicData>
        </a:graphic>
      </p:graphicFrame>
      <p:sp>
        <p:nvSpPr>
          <p:cNvPr id="6" name="Rectangle 5"/>
          <p:cNvSpPr/>
          <p:nvPr/>
        </p:nvSpPr>
        <p:spPr>
          <a:xfrm>
            <a:off x="1763688" y="1772816"/>
            <a:ext cx="5256584" cy="461665"/>
          </a:xfrm>
          <a:prstGeom prst="rect">
            <a:avLst/>
          </a:prstGeom>
        </p:spPr>
        <p:txBody>
          <a:bodyPr wrap="square">
            <a:spAutoFit/>
          </a:bodyPr>
          <a:lstStyle/>
          <a:p>
            <a:r>
              <a:rPr lang="el-GR" sz="2400" b="1" i="1" dirty="0" smtClean="0"/>
              <a:t>α</a:t>
            </a:r>
            <a:r>
              <a:rPr lang="nl-NL" sz="2400" b="1" dirty="0" smtClean="0"/>
              <a:t> ↔ </a:t>
            </a:r>
            <a:r>
              <a:rPr lang="el-GR" sz="2400" b="1" i="1" dirty="0" smtClean="0"/>
              <a:t>β</a:t>
            </a:r>
            <a:r>
              <a:rPr lang="nl-NL" sz="2400" b="1" dirty="0" smtClean="0"/>
              <a:t>   =</a:t>
            </a:r>
            <a:r>
              <a:rPr lang="nl-NL" sz="2400" b="1" i="1" baseline="-25000" dirty="0" smtClean="0"/>
              <a:t>definitie</a:t>
            </a:r>
            <a:r>
              <a:rPr lang="nl-NL" sz="2400" b="1" dirty="0" smtClean="0"/>
              <a:t>   (</a:t>
            </a:r>
            <a:r>
              <a:rPr lang="el-GR" sz="2400" b="1" i="1" dirty="0" smtClean="0"/>
              <a:t>α</a:t>
            </a:r>
            <a:r>
              <a:rPr lang="nl-NL" sz="2400" b="1" dirty="0" smtClean="0"/>
              <a:t> → </a:t>
            </a:r>
            <a:r>
              <a:rPr lang="el-GR" sz="2400" b="1" i="1" dirty="0" smtClean="0"/>
              <a:t>β</a:t>
            </a:r>
            <a:r>
              <a:rPr lang="nl-NL" sz="2400" b="1" dirty="0" smtClean="0"/>
              <a:t>)  ∧  (</a:t>
            </a:r>
            <a:r>
              <a:rPr lang="el-GR" sz="2400" b="1" i="1" dirty="0" smtClean="0"/>
              <a:t>β</a:t>
            </a:r>
            <a:r>
              <a:rPr lang="nl-NL" sz="2400" b="1" dirty="0" smtClean="0"/>
              <a:t> → </a:t>
            </a:r>
            <a:r>
              <a:rPr lang="el-GR" sz="2400" b="1" i="1" dirty="0" smtClean="0"/>
              <a:t>α</a:t>
            </a:r>
            <a:r>
              <a:rPr lang="nl-NL" sz="2400" b="1" dirty="0" smtClean="0"/>
              <a:t>)</a:t>
            </a:r>
            <a:endParaRPr lang="nl-NL"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51520" y="274638"/>
            <a:ext cx="8686800" cy="1143000"/>
          </a:xfrm>
        </p:spPr>
        <p:txBody>
          <a:bodyPr>
            <a:normAutofit/>
          </a:bodyPr>
          <a:lstStyle/>
          <a:p>
            <a:r>
              <a:rPr lang="nl-NL" sz="3200" dirty="0" smtClean="0"/>
              <a:t>Waarheidstafel van dubbele implicatie (↔)</a:t>
            </a:r>
            <a:endParaRPr lang="nl-NL" sz="3200" dirty="0"/>
          </a:p>
        </p:txBody>
      </p:sp>
      <p:graphicFrame>
        <p:nvGraphicFramePr>
          <p:cNvPr id="5" name="Table 4"/>
          <p:cNvGraphicFramePr>
            <a:graphicFrameLocks noGrp="1"/>
          </p:cNvGraphicFramePr>
          <p:nvPr/>
        </p:nvGraphicFramePr>
        <p:xfrm>
          <a:off x="1619672" y="1628799"/>
          <a:ext cx="5040560" cy="2736305"/>
        </p:xfrm>
        <a:graphic>
          <a:graphicData uri="http://schemas.openxmlformats.org/drawingml/2006/table">
            <a:tbl>
              <a:tblPr firstRow="1" bandRow="1">
                <a:tableStyleId>{5C22544A-7EE6-4342-B048-85BDC9FD1C3A}</a:tableStyleId>
              </a:tblPr>
              <a:tblGrid>
                <a:gridCol w="1185508"/>
                <a:gridCol w="1435582"/>
                <a:gridCol w="2419470"/>
              </a:tblGrid>
              <a:tr h="547261">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P </a:t>
                      </a:r>
                      <a:r>
                        <a:rPr lang="nl-NL" sz="1800" dirty="0" smtClean="0"/>
                        <a:t>↔ Q</a:t>
                      </a:r>
                      <a:endParaRPr lang="nl-NL" dirty="0"/>
                    </a:p>
                  </a:txBody>
                  <a:tcPr/>
                </a:tc>
              </a:tr>
              <a:tr h="547261">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547261">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r h="547261">
                <a:tc>
                  <a:txBody>
                    <a:bodyPr/>
                    <a:lstStyle/>
                    <a:p>
                      <a:pPr algn="ctr"/>
                      <a:r>
                        <a:rPr lang="nl-NL" dirty="0" smtClean="0"/>
                        <a:t>O </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547261">
                <a:tc>
                  <a:txBody>
                    <a:bodyPr/>
                    <a:lstStyle/>
                    <a:p>
                      <a:pPr algn="ctr"/>
                      <a:r>
                        <a:rPr lang="nl-NL" dirty="0" smtClean="0"/>
                        <a:t>O </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51520" y="274638"/>
            <a:ext cx="8686800" cy="1143000"/>
          </a:xfrm>
        </p:spPr>
        <p:txBody>
          <a:bodyPr>
            <a:normAutofit/>
          </a:bodyPr>
          <a:lstStyle/>
          <a:p>
            <a:r>
              <a:rPr lang="nl-NL" sz="3200" dirty="0" smtClean="0"/>
              <a:t>Samengevat: alle waarheidstafels in één oogopslag</a:t>
            </a:r>
            <a:endParaRPr lang="nl-NL" sz="3200" dirty="0"/>
          </a:p>
        </p:txBody>
      </p:sp>
      <p:graphicFrame>
        <p:nvGraphicFramePr>
          <p:cNvPr id="5" name="Table 4"/>
          <p:cNvGraphicFramePr>
            <a:graphicFrameLocks noGrp="1"/>
          </p:cNvGraphicFramePr>
          <p:nvPr/>
        </p:nvGraphicFramePr>
        <p:xfrm>
          <a:off x="539552" y="1628799"/>
          <a:ext cx="7776864" cy="3312370"/>
        </p:xfrm>
        <a:graphic>
          <a:graphicData uri="http://schemas.openxmlformats.org/drawingml/2006/table">
            <a:tbl>
              <a:tblPr firstRow="1" bandRow="1">
                <a:tableStyleId>{5C22544A-7EE6-4342-B048-85BDC9FD1C3A}</a:tableStyleId>
              </a:tblPr>
              <a:tblGrid>
                <a:gridCol w="825018"/>
                <a:gridCol w="831165"/>
                <a:gridCol w="1149169"/>
                <a:gridCol w="1242878"/>
                <a:gridCol w="1242878"/>
                <a:gridCol w="1242878"/>
                <a:gridCol w="1242878"/>
              </a:tblGrid>
              <a:tr h="662474">
                <a:tc>
                  <a:txBody>
                    <a:bodyPr/>
                    <a:lstStyle/>
                    <a:p>
                      <a:pPr algn="ctr"/>
                      <a:r>
                        <a:rPr lang="nl-NL" sz="2400" dirty="0" smtClean="0"/>
                        <a:t>P</a:t>
                      </a:r>
                      <a:endParaRPr lang="nl-NL" sz="2400" dirty="0"/>
                    </a:p>
                  </a:txBody>
                  <a:tcPr/>
                </a:tc>
                <a:tc>
                  <a:txBody>
                    <a:bodyPr/>
                    <a:lstStyle/>
                    <a:p>
                      <a:pPr algn="ctr"/>
                      <a:r>
                        <a:rPr lang="nl-NL" sz="2400" dirty="0" smtClean="0"/>
                        <a:t>Q</a:t>
                      </a:r>
                      <a:endParaRPr lang="nl-NL" sz="2400" dirty="0"/>
                    </a:p>
                  </a:txBody>
                  <a:tcPr/>
                </a:tc>
                <a:tc>
                  <a:txBody>
                    <a:bodyPr/>
                    <a:lstStyle/>
                    <a:p>
                      <a:pPr algn="ctr"/>
                      <a:r>
                        <a:rPr lang="nl-NL" sz="2400" b="1" dirty="0" smtClean="0"/>
                        <a:t>¬P</a:t>
                      </a:r>
                      <a:endParaRPr lang="nl-NL" sz="2400" dirty="0"/>
                    </a:p>
                  </a:txBody>
                  <a:tcPr/>
                </a:tc>
                <a:tc>
                  <a:txBody>
                    <a:bodyPr/>
                    <a:lstStyle/>
                    <a:p>
                      <a:pPr algn="ctr"/>
                      <a:r>
                        <a:rPr lang="nl-NL" sz="2400" dirty="0" smtClean="0"/>
                        <a:t>P V Q</a:t>
                      </a:r>
                      <a:endParaRPr lang="nl-NL" sz="2400" dirty="0"/>
                    </a:p>
                  </a:txBody>
                  <a:tcPr/>
                </a:tc>
                <a:tc>
                  <a:txBody>
                    <a:bodyPr/>
                    <a:lstStyle/>
                    <a:p>
                      <a:pPr algn="ctr"/>
                      <a:r>
                        <a:rPr lang="nl-NL" sz="2400" dirty="0" smtClean="0"/>
                        <a:t>P </a:t>
                      </a:r>
                      <a:r>
                        <a:rPr lang="nl-NL" sz="2400" b="1" dirty="0" smtClean="0">
                          <a:solidFill>
                            <a:schemeClr val="bg1"/>
                          </a:solidFill>
                        </a:rPr>
                        <a:t>∧ Q</a:t>
                      </a:r>
                      <a:r>
                        <a:rPr lang="nl-NL" sz="2400" dirty="0" smtClean="0"/>
                        <a:t> </a:t>
                      </a:r>
                      <a:endParaRPr lang="nl-NL" sz="2400" dirty="0"/>
                    </a:p>
                  </a:txBody>
                  <a:tcPr/>
                </a:tc>
                <a:tc>
                  <a:txBody>
                    <a:bodyPr/>
                    <a:lstStyle/>
                    <a:p>
                      <a:pPr algn="ctr"/>
                      <a:r>
                        <a:rPr lang="nl-NL" sz="2400" dirty="0" smtClean="0"/>
                        <a:t>P </a:t>
                      </a:r>
                      <a:r>
                        <a:rPr lang="nl-NL" sz="2400" b="1" dirty="0" smtClean="0"/>
                        <a:t>→ Q</a:t>
                      </a:r>
                      <a:endParaRPr lang="nl-NL" sz="2400" dirty="0"/>
                    </a:p>
                  </a:txBody>
                  <a:tcPr/>
                </a:tc>
                <a:tc>
                  <a:txBody>
                    <a:bodyPr/>
                    <a:lstStyle/>
                    <a:p>
                      <a:pPr algn="ctr"/>
                      <a:r>
                        <a:rPr lang="nl-NL" sz="2400" dirty="0" smtClean="0"/>
                        <a:t>P ↔ Q</a:t>
                      </a:r>
                      <a:endParaRPr lang="nl-NL" sz="2400" dirty="0"/>
                    </a:p>
                  </a:txBody>
                  <a:tcPr/>
                </a:tc>
              </a:tr>
              <a:tr h="662474">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r>
              <a:tr h="662474">
                <a:tc>
                  <a:txBody>
                    <a:bodyPr/>
                    <a:lstStyle/>
                    <a:p>
                      <a:pPr algn="ctr"/>
                      <a:r>
                        <a:rPr lang="nl-NL" sz="2400" dirty="0" smtClean="0"/>
                        <a:t>W</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O</a:t>
                      </a:r>
                      <a:endParaRPr lang="nl-NL" sz="2400" dirty="0"/>
                    </a:p>
                  </a:txBody>
                  <a:tcPr/>
                </a:tc>
              </a:tr>
              <a:tr h="662474">
                <a:tc>
                  <a:txBody>
                    <a:bodyPr/>
                    <a:lstStyle/>
                    <a:p>
                      <a:pPr algn="ctr"/>
                      <a:r>
                        <a:rPr lang="nl-NL" sz="2400" dirty="0" smtClean="0"/>
                        <a:t>O </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O</a:t>
                      </a:r>
                      <a:endParaRPr lang="nl-NL" sz="2400" dirty="0"/>
                    </a:p>
                  </a:txBody>
                  <a:tcPr/>
                </a:tc>
              </a:tr>
              <a:tr h="662474">
                <a:tc>
                  <a:txBody>
                    <a:bodyPr/>
                    <a:lstStyle/>
                    <a:p>
                      <a:pPr algn="ctr"/>
                      <a:r>
                        <a:rPr lang="nl-NL" sz="2400" dirty="0" smtClean="0"/>
                        <a:t>O </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O</a:t>
                      </a:r>
                      <a:endParaRPr lang="nl-NL" sz="2400" dirty="0"/>
                    </a:p>
                  </a:txBody>
                  <a:tcPr/>
                </a:tc>
                <a:tc>
                  <a:txBody>
                    <a:bodyPr/>
                    <a:lstStyle/>
                    <a:p>
                      <a:pPr algn="ctr"/>
                      <a:r>
                        <a:rPr lang="nl-NL" sz="2400" dirty="0" smtClean="0"/>
                        <a:t>W</a:t>
                      </a:r>
                      <a:endParaRPr lang="nl-NL" sz="2400" dirty="0"/>
                    </a:p>
                  </a:txBody>
                  <a:tcPr/>
                </a:tc>
                <a:tc>
                  <a:txBody>
                    <a:bodyPr/>
                    <a:lstStyle/>
                    <a:p>
                      <a:pPr algn="ctr"/>
                      <a:r>
                        <a:rPr lang="nl-NL" sz="2400" dirty="0" smtClean="0"/>
                        <a:t>W</a:t>
                      </a:r>
                      <a:endParaRPr lang="nl-NL" sz="2400" dirty="0"/>
                    </a:p>
                  </a:txBody>
                  <a:tcPr/>
                </a:tc>
              </a:tr>
            </a:tbl>
          </a:graphicData>
        </a:graphic>
      </p:graphicFrame>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Tautologieën, contradicties en contingenties</a:t>
            </a:r>
            <a:endParaRPr lang="nl-NL" sz="3200" dirty="0"/>
          </a:p>
        </p:txBody>
      </p:sp>
      <p:sp>
        <p:nvSpPr>
          <p:cNvPr id="3" name="Content Placeholder 2"/>
          <p:cNvSpPr>
            <a:spLocks noGrp="1"/>
          </p:cNvSpPr>
          <p:nvPr>
            <p:ph idx="1"/>
          </p:nvPr>
        </p:nvSpPr>
        <p:spPr/>
        <p:txBody>
          <a:bodyPr>
            <a:normAutofit/>
          </a:bodyPr>
          <a:lstStyle/>
          <a:p>
            <a:r>
              <a:rPr lang="nl-NL" sz="2400" dirty="0" smtClean="0"/>
              <a:t>Een </a:t>
            </a:r>
            <a:r>
              <a:rPr lang="nl-NL" sz="2400" b="1" dirty="0" smtClean="0"/>
              <a:t>tautologie</a:t>
            </a:r>
            <a:r>
              <a:rPr lang="nl-NL" sz="2400" dirty="0" smtClean="0"/>
              <a:t> (of logische waarheid) is een propositie </a:t>
            </a:r>
            <a:r>
              <a:rPr lang="nl-NL" sz="2400" b="1" dirty="0" smtClean="0">
                <a:solidFill>
                  <a:srgbClr val="0070C0"/>
                </a:solidFill>
              </a:rPr>
              <a:t>P</a:t>
            </a:r>
            <a:r>
              <a:rPr lang="nl-NL" sz="2400" dirty="0" smtClean="0"/>
              <a:t> die waar is voor elke waarheidsverdeling. Oftewel </a:t>
            </a:r>
            <a:r>
              <a:rPr lang="nl-NL" sz="2400" b="1" dirty="0" smtClean="0">
                <a:solidFill>
                  <a:srgbClr val="0070C0"/>
                </a:solidFill>
              </a:rPr>
              <a:t>|= P</a:t>
            </a:r>
          </a:p>
          <a:p>
            <a:r>
              <a:rPr lang="nl-NL" sz="2400" dirty="0" smtClean="0"/>
              <a:t>Een </a:t>
            </a:r>
            <a:r>
              <a:rPr lang="nl-NL" sz="2400" b="1" dirty="0" smtClean="0"/>
              <a:t>contradictie</a:t>
            </a:r>
            <a:r>
              <a:rPr lang="nl-NL" sz="2400" dirty="0" smtClean="0"/>
              <a:t> (of logische onwaarheid) is een propositie </a:t>
            </a:r>
            <a:r>
              <a:rPr lang="nl-NL" sz="2400" b="1" dirty="0" smtClean="0">
                <a:solidFill>
                  <a:srgbClr val="0070C0"/>
                </a:solidFill>
              </a:rPr>
              <a:t>P</a:t>
            </a:r>
            <a:r>
              <a:rPr lang="nl-NL" sz="2400" dirty="0" smtClean="0"/>
              <a:t> die onwaar is voor elke waarheidsverdeling</a:t>
            </a:r>
          </a:p>
          <a:p>
            <a:r>
              <a:rPr lang="nl-NL" sz="2400" dirty="0" smtClean="0"/>
              <a:t>Een </a:t>
            </a:r>
            <a:r>
              <a:rPr lang="nl-NL" sz="2400" b="1" dirty="0" smtClean="0"/>
              <a:t>contingentie</a:t>
            </a:r>
            <a:r>
              <a:rPr lang="nl-NL" sz="2400" dirty="0" smtClean="0"/>
              <a:t> is een propositie </a:t>
            </a:r>
            <a:r>
              <a:rPr lang="nl-NL" sz="2400" b="1" dirty="0" smtClean="0">
                <a:solidFill>
                  <a:srgbClr val="0070C0"/>
                </a:solidFill>
              </a:rPr>
              <a:t>P</a:t>
            </a:r>
            <a:r>
              <a:rPr lang="nl-NL" sz="2400" dirty="0" smtClean="0"/>
              <a:t> die noch een tautologie, noch een contradictie is.</a:t>
            </a:r>
            <a:endParaRPr lang="nl-NL" sz="2400" dirty="0"/>
          </a:p>
        </p:txBody>
      </p:sp>
      <p:graphicFrame>
        <p:nvGraphicFramePr>
          <p:cNvPr id="4" name="Table 3"/>
          <p:cNvGraphicFramePr>
            <a:graphicFrameLocks noGrp="1"/>
          </p:cNvGraphicFramePr>
          <p:nvPr/>
        </p:nvGraphicFramePr>
        <p:xfrm>
          <a:off x="179512" y="4509120"/>
          <a:ext cx="1750989" cy="1209735"/>
        </p:xfrm>
        <a:graphic>
          <a:graphicData uri="http://schemas.openxmlformats.org/drawingml/2006/table">
            <a:tbl>
              <a:tblPr firstRow="1" bandRow="1">
                <a:tableStyleId>{5C22544A-7EE6-4342-B048-85BDC9FD1C3A}</a:tableStyleId>
              </a:tblPr>
              <a:tblGrid>
                <a:gridCol w="575818"/>
                <a:gridCol w="1175171"/>
              </a:tblGrid>
              <a:tr h="403245">
                <a:tc>
                  <a:txBody>
                    <a:bodyPr/>
                    <a:lstStyle/>
                    <a:p>
                      <a:pPr algn="ctr"/>
                      <a:r>
                        <a:rPr lang="nl-NL" dirty="0" smtClean="0"/>
                        <a:t>P</a:t>
                      </a:r>
                      <a:endParaRPr lang="nl-NL" dirty="0"/>
                    </a:p>
                  </a:txBody>
                  <a:tcPr/>
                </a:tc>
                <a:tc>
                  <a:txBody>
                    <a:bodyPr/>
                    <a:lstStyle/>
                    <a:p>
                      <a:pPr algn="ctr"/>
                      <a:r>
                        <a:rPr lang="nl-NL" dirty="0" smtClean="0"/>
                        <a:t>P </a:t>
                      </a:r>
                      <a:r>
                        <a:rPr lang="nl-NL" sz="1800" dirty="0" smtClean="0"/>
                        <a:t>V </a:t>
                      </a:r>
                      <a:r>
                        <a:rPr lang="nl-NL" sz="1800" b="1" dirty="0" smtClean="0"/>
                        <a:t>¬P</a:t>
                      </a:r>
                      <a:r>
                        <a:rPr lang="nl-NL" sz="1800" baseline="0" dirty="0" smtClean="0"/>
                        <a:t> </a:t>
                      </a:r>
                      <a:endParaRPr lang="nl-NL" dirty="0"/>
                    </a:p>
                  </a:txBody>
                  <a:tcPr/>
                </a:tc>
              </a:tr>
              <a:tr h="403245">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403245">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graphicFrame>
        <p:nvGraphicFramePr>
          <p:cNvPr id="5" name="Table 4"/>
          <p:cNvGraphicFramePr>
            <a:graphicFrameLocks noGrp="1"/>
          </p:cNvGraphicFramePr>
          <p:nvPr/>
        </p:nvGraphicFramePr>
        <p:xfrm>
          <a:off x="2267744" y="4509120"/>
          <a:ext cx="1956989" cy="1209735"/>
        </p:xfrm>
        <a:graphic>
          <a:graphicData uri="http://schemas.openxmlformats.org/drawingml/2006/table">
            <a:tbl>
              <a:tblPr firstRow="1" bandRow="1">
                <a:tableStyleId>{5C22544A-7EE6-4342-B048-85BDC9FD1C3A}</a:tableStyleId>
              </a:tblPr>
              <a:tblGrid>
                <a:gridCol w="643562"/>
                <a:gridCol w="1313427"/>
              </a:tblGrid>
              <a:tr h="403245">
                <a:tc>
                  <a:txBody>
                    <a:bodyPr/>
                    <a:lstStyle/>
                    <a:p>
                      <a:pPr algn="ctr"/>
                      <a:r>
                        <a:rPr lang="nl-NL" dirty="0" smtClean="0"/>
                        <a:t>P</a:t>
                      </a:r>
                      <a:endParaRPr lang="nl-NL" dirty="0"/>
                    </a:p>
                  </a:txBody>
                  <a:tcPr/>
                </a:tc>
                <a:tc>
                  <a:txBody>
                    <a:bodyPr/>
                    <a:lstStyle/>
                    <a:p>
                      <a:pPr algn="ctr"/>
                      <a:r>
                        <a:rPr lang="nl-NL" dirty="0" smtClean="0"/>
                        <a:t>P</a:t>
                      </a:r>
                      <a:r>
                        <a:rPr lang="nl-NL" baseline="0" dirty="0" smtClean="0"/>
                        <a:t>  </a:t>
                      </a:r>
                      <a:r>
                        <a:rPr lang="nl-NL" sz="1800" b="1" dirty="0" smtClean="0">
                          <a:solidFill>
                            <a:schemeClr val="bg1"/>
                          </a:solidFill>
                        </a:rPr>
                        <a:t>∧</a:t>
                      </a:r>
                      <a:r>
                        <a:rPr lang="nl-NL" sz="1800" b="1" dirty="0" smtClean="0"/>
                        <a:t> ¬P</a:t>
                      </a:r>
                      <a:r>
                        <a:rPr lang="nl-NL" sz="1800" baseline="0" dirty="0" smtClean="0"/>
                        <a:t> </a:t>
                      </a:r>
                      <a:endParaRPr lang="nl-NL" dirty="0"/>
                    </a:p>
                  </a:txBody>
                  <a:tcPr/>
                </a:tc>
              </a:tr>
              <a:tr h="403245">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403245">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graphicFrame>
        <p:nvGraphicFramePr>
          <p:cNvPr id="6" name="Table 5"/>
          <p:cNvGraphicFramePr>
            <a:graphicFrameLocks noGrp="1"/>
          </p:cNvGraphicFramePr>
          <p:nvPr/>
        </p:nvGraphicFramePr>
        <p:xfrm>
          <a:off x="6920588" y="4509119"/>
          <a:ext cx="1827876" cy="1209735"/>
        </p:xfrm>
        <a:graphic>
          <a:graphicData uri="http://schemas.openxmlformats.org/drawingml/2006/table">
            <a:tbl>
              <a:tblPr firstRow="1" bandRow="1">
                <a:tableStyleId>{5C22544A-7EE6-4342-B048-85BDC9FD1C3A}</a:tableStyleId>
              </a:tblPr>
              <a:tblGrid>
                <a:gridCol w="601103"/>
                <a:gridCol w="1226773"/>
              </a:tblGrid>
              <a:tr h="403245">
                <a:tc>
                  <a:txBody>
                    <a:bodyPr/>
                    <a:lstStyle/>
                    <a:p>
                      <a:pPr algn="ctr"/>
                      <a:r>
                        <a:rPr lang="nl-NL" dirty="0" smtClean="0"/>
                        <a:t>P</a:t>
                      </a:r>
                      <a:endParaRPr lang="nl-NL" dirty="0"/>
                    </a:p>
                  </a:txBody>
                  <a:tcPr/>
                </a:tc>
                <a:tc>
                  <a:txBody>
                    <a:bodyPr/>
                    <a:lstStyle/>
                    <a:p>
                      <a:pPr algn="ctr"/>
                      <a:r>
                        <a:rPr lang="nl-NL" dirty="0" smtClean="0"/>
                        <a:t>P V P  </a:t>
                      </a:r>
                      <a:endParaRPr lang="nl-NL" dirty="0"/>
                    </a:p>
                  </a:txBody>
                  <a:tcPr/>
                </a:tc>
              </a:tr>
              <a:tr h="403245">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403245">
                <a:tc>
                  <a:txBody>
                    <a:bodyPr/>
                    <a:lstStyle/>
                    <a:p>
                      <a:pPr algn="ctr"/>
                      <a:r>
                        <a:rPr lang="nl-NL" dirty="0" smtClean="0"/>
                        <a:t>O</a:t>
                      </a:r>
                      <a:endParaRPr lang="nl-NL" dirty="0"/>
                    </a:p>
                  </a:txBody>
                  <a:tcPr/>
                </a:tc>
                <a:tc>
                  <a:txBody>
                    <a:bodyPr/>
                    <a:lstStyle/>
                    <a:p>
                      <a:pPr algn="ctr"/>
                      <a:r>
                        <a:rPr lang="nl-NL" dirty="0" smtClean="0"/>
                        <a:t>O</a:t>
                      </a:r>
                      <a:endParaRPr lang="nl-NL" dirty="0"/>
                    </a:p>
                  </a:txBody>
                  <a:tcPr/>
                </a:tc>
              </a:tr>
            </a:tbl>
          </a:graphicData>
        </a:graphic>
      </p:graphicFrame>
      <p:graphicFrame>
        <p:nvGraphicFramePr>
          <p:cNvPr id="7" name="Table 6"/>
          <p:cNvGraphicFramePr>
            <a:graphicFrameLocks noGrp="1"/>
          </p:cNvGraphicFramePr>
          <p:nvPr/>
        </p:nvGraphicFramePr>
        <p:xfrm>
          <a:off x="4572000" y="4509120"/>
          <a:ext cx="1956989" cy="1209735"/>
        </p:xfrm>
        <a:graphic>
          <a:graphicData uri="http://schemas.openxmlformats.org/drawingml/2006/table">
            <a:tbl>
              <a:tblPr firstRow="1" bandRow="1">
                <a:tableStyleId>{5C22544A-7EE6-4342-B048-85BDC9FD1C3A}</a:tableStyleId>
              </a:tblPr>
              <a:tblGrid>
                <a:gridCol w="643562"/>
                <a:gridCol w="1313427"/>
              </a:tblGrid>
              <a:tr h="403245">
                <a:tc>
                  <a:txBody>
                    <a:bodyPr/>
                    <a:lstStyle/>
                    <a:p>
                      <a:pPr algn="ctr"/>
                      <a:r>
                        <a:rPr lang="nl-NL" dirty="0" smtClean="0"/>
                        <a:t>P</a:t>
                      </a:r>
                      <a:endParaRPr lang="nl-NL" dirty="0"/>
                    </a:p>
                  </a:txBody>
                  <a:tcPr/>
                </a:tc>
                <a:tc>
                  <a:txBody>
                    <a:bodyPr/>
                    <a:lstStyle/>
                    <a:p>
                      <a:pPr algn="ctr"/>
                      <a:r>
                        <a:rPr lang="nl-NL" sz="1800" b="1" dirty="0" smtClean="0"/>
                        <a:t>¬</a:t>
                      </a:r>
                      <a:r>
                        <a:rPr lang="nl-NL" dirty="0" smtClean="0"/>
                        <a:t>(P</a:t>
                      </a:r>
                      <a:r>
                        <a:rPr lang="nl-NL" baseline="0" dirty="0" smtClean="0"/>
                        <a:t>  </a:t>
                      </a:r>
                      <a:r>
                        <a:rPr lang="nl-NL" sz="1800" b="1" dirty="0" smtClean="0">
                          <a:solidFill>
                            <a:schemeClr val="bg1"/>
                          </a:solidFill>
                        </a:rPr>
                        <a:t>∧</a:t>
                      </a:r>
                      <a:r>
                        <a:rPr lang="nl-NL" sz="1800" b="1" dirty="0" smtClean="0"/>
                        <a:t> ¬P)</a:t>
                      </a:r>
                      <a:r>
                        <a:rPr lang="nl-NL" sz="1800" baseline="0" dirty="0" smtClean="0"/>
                        <a:t> </a:t>
                      </a:r>
                      <a:endParaRPr lang="nl-NL" dirty="0"/>
                    </a:p>
                  </a:txBody>
                  <a:tcPr/>
                </a:tc>
              </a:tr>
              <a:tr h="403245">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403245">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
        <p:nvSpPr>
          <p:cNvPr id="8" name="TextBox 7"/>
          <p:cNvSpPr txBox="1"/>
          <p:nvPr/>
        </p:nvSpPr>
        <p:spPr>
          <a:xfrm>
            <a:off x="35496" y="5877272"/>
            <a:ext cx="2160240" cy="646331"/>
          </a:xfrm>
          <a:prstGeom prst="rect">
            <a:avLst/>
          </a:prstGeom>
          <a:noFill/>
        </p:spPr>
        <p:txBody>
          <a:bodyPr wrap="square" rtlCol="0">
            <a:spAutoFit/>
          </a:bodyPr>
          <a:lstStyle/>
          <a:p>
            <a:r>
              <a:rPr lang="nl-NL" b="1" i="1" dirty="0" smtClean="0"/>
              <a:t>Tautologie</a:t>
            </a:r>
            <a:r>
              <a:rPr lang="nl-NL" i="1" dirty="0" smtClean="0"/>
              <a:t>: Wet van de uitgesloten derde</a:t>
            </a:r>
            <a:endParaRPr lang="nl-NL" i="1" dirty="0"/>
          </a:p>
        </p:txBody>
      </p:sp>
      <p:sp>
        <p:nvSpPr>
          <p:cNvPr id="9" name="TextBox 8"/>
          <p:cNvSpPr txBox="1"/>
          <p:nvPr/>
        </p:nvSpPr>
        <p:spPr>
          <a:xfrm>
            <a:off x="4499992" y="5879013"/>
            <a:ext cx="2160240" cy="646331"/>
          </a:xfrm>
          <a:prstGeom prst="rect">
            <a:avLst/>
          </a:prstGeom>
          <a:noFill/>
        </p:spPr>
        <p:txBody>
          <a:bodyPr wrap="square" rtlCol="0">
            <a:spAutoFit/>
          </a:bodyPr>
          <a:lstStyle/>
          <a:p>
            <a:r>
              <a:rPr lang="nl-NL" b="1" i="1" dirty="0" smtClean="0"/>
              <a:t>Tautologie</a:t>
            </a:r>
            <a:r>
              <a:rPr lang="nl-NL" i="1" dirty="0" smtClean="0"/>
              <a:t>: Principe van niet-tegenspraak</a:t>
            </a:r>
            <a:endParaRPr lang="nl-NL" i="1" dirty="0"/>
          </a:p>
        </p:txBody>
      </p:sp>
      <p:sp>
        <p:nvSpPr>
          <p:cNvPr id="10" name="TextBox 9"/>
          <p:cNvSpPr txBox="1"/>
          <p:nvPr/>
        </p:nvSpPr>
        <p:spPr>
          <a:xfrm>
            <a:off x="2483768" y="5877272"/>
            <a:ext cx="2160240" cy="646331"/>
          </a:xfrm>
          <a:prstGeom prst="rect">
            <a:avLst/>
          </a:prstGeom>
          <a:noFill/>
        </p:spPr>
        <p:txBody>
          <a:bodyPr wrap="square" rtlCol="0">
            <a:spAutoFit/>
          </a:bodyPr>
          <a:lstStyle/>
          <a:p>
            <a:r>
              <a:rPr lang="nl-NL" b="1" i="1" dirty="0" smtClean="0"/>
              <a:t>Contradictie</a:t>
            </a:r>
            <a:r>
              <a:rPr lang="nl-NL" i="1" dirty="0" smtClean="0"/>
              <a:t>: Tegenspraak</a:t>
            </a:r>
            <a:endParaRPr lang="nl-NL" i="1" dirty="0"/>
          </a:p>
        </p:txBody>
      </p:sp>
      <p:sp>
        <p:nvSpPr>
          <p:cNvPr id="12" name="TextBox 11"/>
          <p:cNvSpPr txBox="1"/>
          <p:nvPr/>
        </p:nvSpPr>
        <p:spPr>
          <a:xfrm>
            <a:off x="6983760" y="5877272"/>
            <a:ext cx="2160240" cy="369332"/>
          </a:xfrm>
          <a:prstGeom prst="rect">
            <a:avLst/>
          </a:prstGeom>
          <a:noFill/>
        </p:spPr>
        <p:txBody>
          <a:bodyPr wrap="square" rtlCol="0">
            <a:spAutoFit/>
          </a:bodyPr>
          <a:lstStyle/>
          <a:p>
            <a:r>
              <a:rPr lang="nl-NL" b="1" i="1" dirty="0" smtClean="0"/>
              <a:t>Contingentie</a:t>
            </a:r>
            <a:endParaRPr lang="nl-NL"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20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20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20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20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Nogmaals: waarheidsfuncties</a:t>
            </a:r>
            <a:endParaRPr lang="nl-NL" sz="3200" dirty="0"/>
          </a:p>
        </p:txBody>
      </p:sp>
      <p:sp>
        <p:nvSpPr>
          <p:cNvPr id="3" name="Content Placeholder 2"/>
          <p:cNvSpPr>
            <a:spLocks noGrp="1"/>
          </p:cNvSpPr>
          <p:nvPr>
            <p:ph idx="1"/>
          </p:nvPr>
        </p:nvSpPr>
        <p:spPr/>
        <p:txBody>
          <a:bodyPr>
            <a:normAutofit/>
          </a:bodyPr>
          <a:lstStyle/>
          <a:p>
            <a:r>
              <a:rPr lang="nl-NL" sz="2400" dirty="0" smtClean="0"/>
              <a:t>We kunnen elke willekeurige waarheidsfunctie representeren door middel van een </a:t>
            </a:r>
            <a:r>
              <a:rPr lang="nl-NL" sz="2400" dirty="0" err="1" smtClean="0"/>
              <a:t>propositionele</a:t>
            </a:r>
            <a:r>
              <a:rPr lang="nl-NL" sz="2400" dirty="0" smtClean="0"/>
              <a:t> formule.  </a:t>
            </a:r>
            <a:endParaRPr lang="nl-NL" sz="2400" dirty="0"/>
          </a:p>
        </p:txBody>
      </p:sp>
      <p:graphicFrame>
        <p:nvGraphicFramePr>
          <p:cNvPr id="13" name="Table 12"/>
          <p:cNvGraphicFramePr>
            <a:graphicFrameLocks noGrp="1"/>
          </p:cNvGraphicFramePr>
          <p:nvPr/>
        </p:nvGraphicFramePr>
        <p:xfrm>
          <a:off x="467544" y="2636912"/>
          <a:ext cx="5040560" cy="2736305"/>
        </p:xfrm>
        <a:graphic>
          <a:graphicData uri="http://schemas.openxmlformats.org/drawingml/2006/table">
            <a:tbl>
              <a:tblPr firstRow="1" bandRow="1">
                <a:tableStyleId>{5C22544A-7EE6-4342-B048-85BDC9FD1C3A}</a:tableStyleId>
              </a:tblPr>
              <a:tblGrid>
                <a:gridCol w="1185508"/>
                <a:gridCol w="1435582"/>
                <a:gridCol w="2419470"/>
              </a:tblGrid>
              <a:tr h="547261">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a:t>
                      </a:r>
                      <a:endParaRPr lang="nl-NL" dirty="0"/>
                    </a:p>
                  </a:txBody>
                  <a:tcPr/>
                </a:tc>
              </a:tr>
              <a:tr h="547261">
                <a:tc>
                  <a:txBody>
                    <a:bodyPr/>
                    <a:lstStyle/>
                    <a:p>
                      <a:pPr algn="ctr"/>
                      <a:r>
                        <a:rPr lang="nl-NL" dirty="0" smtClean="0"/>
                        <a:t>W</a:t>
                      </a:r>
                      <a:endParaRPr lang="nl-NL" dirty="0"/>
                    </a:p>
                  </a:txBody>
                  <a:tcPr/>
                </a:tc>
                <a:tc>
                  <a:txBody>
                    <a:bodyPr/>
                    <a:lstStyle/>
                    <a:p>
                      <a:pPr algn="ctr"/>
                      <a:r>
                        <a:rPr lang="nl-NL" dirty="0" smtClean="0"/>
                        <a:t>W</a:t>
                      </a:r>
                      <a:endParaRPr lang="nl-NL" dirty="0"/>
                    </a:p>
                  </a:txBody>
                  <a:tcPr/>
                </a:tc>
                <a:tc>
                  <a:txBody>
                    <a:bodyPr/>
                    <a:lstStyle/>
                    <a:p>
                      <a:pPr algn="ctr"/>
                      <a:r>
                        <a:rPr lang="nl-NL" dirty="0" smtClean="0"/>
                        <a:t>W</a:t>
                      </a:r>
                      <a:endParaRPr lang="nl-NL" dirty="0"/>
                    </a:p>
                  </a:txBody>
                  <a:tcPr/>
                </a:tc>
              </a:tr>
              <a:tr h="547261">
                <a:tc>
                  <a:txBody>
                    <a:bodyPr/>
                    <a:lstStyle/>
                    <a:p>
                      <a:pPr algn="ctr"/>
                      <a:r>
                        <a:rPr lang="nl-NL" dirty="0" smtClean="0"/>
                        <a:t>W</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r h="547261">
                <a:tc>
                  <a:txBody>
                    <a:bodyPr/>
                    <a:lstStyle/>
                    <a:p>
                      <a:pPr algn="ctr"/>
                      <a:r>
                        <a:rPr lang="nl-NL" dirty="0" smtClean="0"/>
                        <a:t>O </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547261">
                <a:tc>
                  <a:txBody>
                    <a:bodyPr/>
                    <a:lstStyle/>
                    <a:p>
                      <a:pPr algn="ctr"/>
                      <a:r>
                        <a:rPr lang="nl-NL" dirty="0" smtClean="0"/>
                        <a:t>O </a:t>
                      </a:r>
                      <a:endParaRPr lang="nl-NL" dirty="0"/>
                    </a:p>
                  </a:txBody>
                  <a:tcPr/>
                </a:tc>
                <a:tc>
                  <a:txBody>
                    <a:bodyPr/>
                    <a:lstStyle/>
                    <a:p>
                      <a:pPr algn="ctr"/>
                      <a:r>
                        <a:rPr lang="nl-NL" dirty="0" smtClean="0"/>
                        <a:t>O</a:t>
                      </a:r>
                      <a:endParaRPr lang="nl-NL" dirty="0"/>
                    </a:p>
                  </a:txBody>
                  <a:tcPr/>
                </a:tc>
                <a:tc>
                  <a:txBody>
                    <a:bodyPr/>
                    <a:lstStyle/>
                    <a:p>
                      <a:pPr algn="ctr"/>
                      <a:r>
                        <a:rPr lang="nl-NL" dirty="0" smtClean="0"/>
                        <a:t>W</a:t>
                      </a:r>
                      <a:endParaRPr lang="nl-NL" dirty="0"/>
                    </a:p>
                  </a:txBody>
                  <a:tcPr/>
                </a:tc>
              </a:tr>
            </a:tbl>
          </a:graphicData>
        </a:graphic>
      </p:graphicFrame>
      <p:sp>
        <p:nvSpPr>
          <p:cNvPr id="14" name="TextBox 13"/>
          <p:cNvSpPr txBox="1"/>
          <p:nvPr/>
        </p:nvSpPr>
        <p:spPr>
          <a:xfrm>
            <a:off x="5724128" y="2636912"/>
            <a:ext cx="2915816" cy="923330"/>
          </a:xfrm>
          <a:prstGeom prst="rect">
            <a:avLst/>
          </a:prstGeom>
          <a:noFill/>
        </p:spPr>
        <p:txBody>
          <a:bodyPr wrap="square" rtlCol="0">
            <a:spAutoFit/>
          </a:bodyPr>
          <a:lstStyle/>
          <a:p>
            <a:r>
              <a:rPr lang="nl-NL" i="1" dirty="0" smtClean="0"/>
              <a:t>Is er een </a:t>
            </a:r>
            <a:r>
              <a:rPr lang="nl-NL" i="1" dirty="0" err="1" smtClean="0"/>
              <a:t>propositionele</a:t>
            </a:r>
            <a:r>
              <a:rPr lang="nl-NL" i="1" dirty="0" smtClean="0"/>
              <a:t> formule die deze functie              als waarheidsfunctie heeft?</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Nogmaals: waarheidsfuncties</a:t>
            </a:r>
            <a:endParaRPr lang="nl-NL" sz="3200" dirty="0"/>
          </a:p>
        </p:txBody>
      </p:sp>
      <p:sp>
        <p:nvSpPr>
          <p:cNvPr id="3" name="Content Placeholder 2"/>
          <p:cNvSpPr>
            <a:spLocks noGrp="1"/>
          </p:cNvSpPr>
          <p:nvPr>
            <p:ph idx="1"/>
          </p:nvPr>
        </p:nvSpPr>
        <p:spPr/>
        <p:txBody>
          <a:bodyPr>
            <a:normAutofit/>
          </a:bodyPr>
          <a:lstStyle/>
          <a:p>
            <a:r>
              <a:rPr lang="nl-NL" sz="2400" dirty="0" smtClean="0"/>
              <a:t>We kunnen elke willekeurige waarheidsfunctie representeren door middel van een </a:t>
            </a:r>
            <a:r>
              <a:rPr lang="nl-NL" sz="2400" dirty="0" err="1" smtClean="0"/>
              <a:t>propositionele</a:t>
            </a:r>
            <a:r>
              <a:rPr lang="nl-NL" sz="2400" dirty="0" smtClean="0"/>
              <a:t> formule.  </a:t>
            </a:r>
            <a:endParaRPr lang="nl-NL" sz="2400" dirty="0"/>
          </a:p>
        </p:txBody>
      </p:sp>
      <p:graphicFrame>
        <p:nvGraphicFramePr>
          <p:cNvPr id="13" name="Table 12"/>
          <p:cNvGraphicFramePr>
            <a:graphicFrameLocks noGrp="1"/>
          </p:cNvGraphicFramePr>
          <p:nvPr/>
        </p:nvGraphicFramePr>
        <p:xfrm>
          <a:off x="467544" y="2636912"/>
          <a:ext cx="5040560" cy="2736305"/>
        </p:xfrm>
        <a:graphic>
          <a:graphicData uri="http://schemas.openxmlformats.org/drawingml/2006/table">
            <a:tbl>
              <a:tblPr firstRow="1" bandRow="1">
                <a:tableStyleId>{5C22544A-7EE6-4342-B048-85BDC9FD1C3A}</a:tableStyleId>
              </a:tblPr>
              <a:tblGrid>
                <a:gridCol w="1185508"/>
                <a:gridCol w="1435582"/>
                <a:gridCol w="2419470"/>
              </a:tblGrid>
              <a:tr h="547261">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a:t>
                      </a:r>
                      <a:endParaRPr lang="nl-NL" dirty="0"/>
                    </a:p>
                  </a:txBody>
                  <a:tcPr/>
                </a:tc>
              </a:tr>
              <a:tr h="547261">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r>
              <a:tr h="547261">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O</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r>
              <a:tr h="547261">
                <a:tc>
                  <a:txBody>
                    <a:bodyPr/>
                    <a:lstStyle/>
                    <a:p>
                      <a:pPr algn="ctr"/>
                      <a:r>
                        <a:rPr lang="nl-NL" dirty="0" smtClean="0"/>
                        <a:t>O </a:t>
                      </a:r>
                      <a:endParaRPr lang="nl-NL" dirty="0"/>
                    </a:p>
                  </a:txBody>
                  <a:tcPr/>
                </a:tc>
                <a:tc>
                  <a:txBody>
                    <a:bodyPr/>
                    <a:lstStyle/>
                    <a:p>
                      <a:pPr algn="ctr"/>
                      <a:r>
                        <a:rPr lang="nl-NL" dirty="0" smtClean="0"/>
                        <a:t>W</a:t>
                      </a:r>
                      <a:endParaRPr lang="nl-NL" dirty="0"/>
                    </a:p>
                  </a:txBody>
                  <a:tcPr/>
                </a:tc>
                <a:tc>
                  <a:txBody>
                    <a:bodyPr/>
                    <a:lstStyle/>
                    <a:p>
                      <a:pPr algn="ctr"/>
                      <a:r>
                        <a:rPr lang="nl-NL" dirty="0" smtClean="0"/>
                        <a:t>O</a:t>
                      </a:r>
                      <a:endParaRPr lang="nl-NL" dirty="0"/>
                    </a:p>
                  </a:txBody>
                  <a:tcPr/>
                </a:tc>
              </a:tr>
              <a:tr h="547261">
                <a:tc>
                  <a:txBody>
                    <a:bodyPr/>
                    <a:lstStyle/>
                    <a:p>
                      <a:pPr algn="ctr"/>
                      <a:r>
                        <a:rPr lang="nl-NL" b="1" dirty="0" smtClean="0">
                          <a:solidFill>
                            <a:schemeClr val="accent2">
                              <a:lumMod val="75000"/>
                            </a:schemeClr>
                          </a:solidFill>
                        </a:rPr>
                        <a:t>O </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O</a:t>
                      </a:r>
                      <a:endParaRPr lang="nl-NL" b="1" dirty="0">
                        <a:solidFill>
                          <a:schemeClr val="accent2">
                            <a:lumMod val="75000"/>
                          </a:schemeClr>
                        </a:solidFill>
                      </a:endParaRPr>
                    </a:p>
                  </a:txBody>
                  <a:tcPr/>
                </a:tc>
                <a:tc>
                  <a:txBody>
                    <a:bodyPr/>
                    <a:lstStyle/>
                    <a:p>
                      <a:pPr algn="ctr"/>
                      <a:r>
                        <a:rPr lang="nl-NL" b="1" dirty="0" smtClean="0">
                          <a:solidFill>
                            <a:schemeClr val="accent2">
                              <a:lumMod val="75000"/>
                            </a:schemeClr>
                          </a:solidFill>
                        </a:rPr>
                        <a:t>W</a:t>
                      </a:r>
                      <a:endParaRPr lang="nl-NL" b="1" dirty="0">
                        <a:solidFill>
                          <a:schemeClr val="accent2">
                            <a:lumMod val="75000"/>
                          </a:schemeClr>
                        </a:solidFill>
                      </a:endParaRPr>
                    </a:p>
                  </a:txBody>
                  <a:tcPr/>
                </a:tc>
              </a:tr>
            </a:tbl>
          </a:graphicData>
        </a:graphic>
      </p:graphicFrame>
      <p:sp>
        <p:nvSpPr>
          <p:cNvPr id="14" name="TextBox 13"/>
          <p:cNvSpPr txBox="1"/>
          <p:nvPr/>
        </p:nvSpPr>
        <p:spPr>
          <a:xfrm>
            <a:off x="5724128" y="2636912"/>
            <a:ext cx="2915816" cy="923330"/>
          </a:xfrm>
          <a:prstGeom prst="rect">
            <a:avLst/>
          </a:prstGeom>
          <a:noFill/>
        </p:spPr>
        <p:txBody>
          <a:bodyPr wrap="square" rtlCol="0">
            <a:spAutoFit/>
          </a:bodyPr>
          <a:lstStyle/>
          <a:p>
            <a:r>
              <a:rPr lang="nl-NL" i="1" dirty="0" smtClean="0"/>
              <a:t>Is er een </a:t>
            </a:r>
            <a:r>
              <a:rPr lang="nl-NL" i="1" dirty="0" err="1" smtClean="0"/>
              <a:t>propositionele</a:t>
            </a:r>
            <a:r>
              <a:rPr lang="nl-NL" i="1" dirty="0" smtClean="0"/>
              <a:t> formule die deze functie             als waarheidsfunctie heeft?</a:t>
            </a:r>
            <a:endParaRPr lang="nl-NL" i="1" dirty="0"/>
          </a:p>
        </p:txBody>
      </p:sp>
      <p:sp>
        <p:nvSpPr>
          <p:cNvPr id="6" name="TextBox 5"/>
          <p:cNvSpPr txBox="1"/>
          <p:nvPr/>
        </p:nvSpPr>
        <p:spPr>
          <a:xfrm>
            <a:off x="683568" y="5661248"/>
            <a:ext cx="7632848" cy="369332"/>
          </a:xfrm>
          <a:prstGeom prst="rect">
            <a:avLst/>
          </a:prstGeom>
          <a:noFill/>
        </p:spPr>
        <p:txBody>
          <a:bodyPr wrap="square" rtlCol="0">
            <a:spAutoFit/>
          </a:bodyPr>
          <a:lstStyle/>
          <a:p>
            <a:r>
              <a:rPr lang="nl-NL" dirty="0" smtClean="0"/>
              <a:t>Er zijn drie </a:t>
            </a:r>
            <a:r>
              <a:rPr lang="nl-NL" b="1" dirty="0" smtClean="0">
                <a:solidFill>
                  <a:schemeClr val="accent2">
                    <a:lumMod val="75000"/>
                  </a:schemeClr>
                </a:solidFill>
              </a:rPr>
              <a:t>waarheidsgronden</a:t>
            </a:r>
            <a:r>
              <a:rPr lang="nl-NL" dirty="0" smtClean="0"/>
              <a:t>, wat de volgende formule oplevert: </a:t>
            </a:r>
            <a:endParaRPr lang="nl-NL" dirty="0"/>
          </a:p>
        </p:txBody>
      </p:sp>
      <p:sp>
        <p:nvSpPr>
          <p:cNvPr id="7" name="TextBox 6"/>
          <p:cNvSpPr txBox="1"/>
          <p:nvPr/>
        </p:nvSpPr>
        <p:spPr>
          <a:xfrm>
            <a:off x="611560" y="6093296"/>
            <a:ext cx="4824536" cy="461665"/>
          </a:xfrm>
          <a:prstGeom prst="rect">
            <a:avLst/>
          </a:prstGeom>
          <a:noFill/>
        </p:spPr>
        <p:txBody>
          <a:bodyPr wrap="square" rtlCol="0">
            <a:spAutoFit/>
          </a:bodyPr>
          <a:lstStyle/>
          <a:p>
            <a:r>
              <a:rPr lang="nl-NL" sz="2400" b="1" dirty="0" smtClean="0">
                <a:solidFill>
                  <a:srgbClr val="0070C0"/>
                </a:solidFill>
              </a:rPr>
              <a:t>(P ∧ Q) V (P ∧ ¬Q) V (¬P ∧ ¬Q)</a:t>
            </a:r>
            <a:r>
              <a:rPr lang="nl-NL" dirty="0" smtClean="0">
                <a:solidFill>
                  <a:srgbClr val="0070C0"/>
                </a:solidFill>
              </a:rPr>
              <a:t> </a:t>
            </a:r>
            <a:r>
              <a:rPr lang="nl-NL" b="1" dirty="0" smtClean="0">
                <a:solidFill>
                  <a:srgbClr val="0070C0"/>
                </a:solidFill>
              </a:rPr>
              <a:t> </a:t>
            </a:r>
            <a:r>
              <a:rPr lang="nl-NL" dirty="0" smtClean="0">
                <a:solidFill>
                  <a:srgbClr val="0070C0"/>
                </a:solidFill>
              </a:rPr>
              <a:t> </a:t>
            </a:r>
            <a:r>
              <a:rPr lang="nl-NL" b="1" dirty="0" smtClean="0">
                <a:solidFill>
                  <a:srgbClr val="0070C0"/>
                </a:solidFill>
              </a:rPr>
              <a:t> </a:t>
            </a:r>
            <a:endParaRPr lang="nl-NL" dirty="0">
              <a:solidFill>
                <a:srgbClr val="0070C0"/>
              </a:solidFill>
            </a:endParaRPr>
          </a:p>
        </p:txBody>
      </p:sp>
      <p:sp>
        <p:nvSpPr>
          <p:cNvPr id="8" name="TextBox 7"/>
          <p:cNvSpPr txBox="1"/>
          <p:nvPr/>
        </p:nvSpPr>
        <p:spPr>
          <a:xfrm>
            <a:off x="4716016" y="6156012"/>
            <a:ext cx="3384376" cy="369332"/>
          </a:xfrm>
          <a:prstGeom prst="rect">
            <a:avLst/>
          </a:prstGeom>
          <a:noFill/>
        </p:spPr>
        <p:txBody>
          <a:bodyPr wrap="square" rtlCol="0">
            <a:spAutoFit/>
          </a:bodyPr>
          <a:lstStyle/>
          <a:p>
            <a:r>
              <a:rPr lang="nl-NL" i="1" dirty="0" smtClean="0"/>
              <a:t>(</a:t>
            </a:r>
            <a:r>
              <a:rPr lang="nl-NL" i="1" dirty="0" err="1" smtClean="0"/>
              <a:t>Disjunctieve</a:t>
            </a:r>
            <a:r>
              <a:rPr lang="nl-NL" i="1" dirty="0" smtClean="0"/>
              <a:t> normaalvorm)</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2000"/>
                                        <p:tgtEl>
                                          <p:spTgt spid="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fade">
                                      <p:cBhvr>
                                        <p:cTn id="13"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Nogmaals: waarheidsfuncties</a:t>
            </a:r>
            <a:endParaRPr lang="nl-NL" sz="3200" dirty="0"/>
          </a:p>
        </p:txBody>
      </p:sp>
      <p:sp>
        <p:nvSpPr>
          <p:cNvPr id="3" name="Content Placeholder 2"/>
          <p:cNvSpPr>
            <a:spLocks noGrp="1"/>
          </p:cNvSpPr>
          <p:nvPr>
            <p:ph idx="1"/>
          </p:nvPr>
        </p:nvSpPr>
        <p:spPr/>
        <p:txBody>
          <a:bodyPr>
            <a:normAutofit/>
          </a:bodyPr>
          <a:lstStyle/>
          <a:p>
            <a:r>
              <a:rPr lang="nl-NL" sz="2400" dirty="0" smtClean="0"/>
              <a:t>En wat nu als er geen waarheidsgronden zijn?</a:t>
            </a:r>
            <a:endParaRPr lang="nl-NL" sz="2400" dirty="0"/>
          </a:p>
        </p:txBody>
      </p:sp>
      <p:graphicFrame>
        <p:nvGraphicFramePr>
          <p:cNvPr id="13" name="Table 12"/>
          <p:cNvGraphicFramePr>
            <a:graphicFrameLocks noGrp="1"/>
          </p:cNvGraphicFramePr>
          <p:nvPr/>
        </p:nvGraphicFramePr>
        <p:xfrm>
          <a:off x="467544" y="2420888"/>
          <a:ext cx="5040560" cy="2736305"/>
        </p:xfrm>
        <a:graphic>
          <a:graphicData uri="http://schemas.openxmlformats.org/drawingml/2006/table">
            <a:tbl>
              <a:tblPr firstRow="1" bandRow="1">
                <a:tableStyleId>{5C22544A-7EE6-4342-B048-85BDC9FD1C3A}</a:tableStyleId>
              </a:tblPr>
              <a:tblGrid>
                <a:gridCol w="1185508"/>
                <a:gridCol w="1435582"/>
                <a:gridCol w="2419470"/>
              </a:tblGrid>
              <a:tr h="547261">
                <a:tc>
                  <a:txBody>
                    <a:bodyPr/>
                    <a:lstStyle/>
                    <a:p>
                      <a:pPr algn="ctr"/>
                      <a:r>
                        <a:rPr lang="nl-NL" dirty="0" smtClean="0"/>
                        <a:t>P</a:t>
                      </a:r>
                      <a:endParaRPr lang="nl-NL" dirty="0"/>
                    </a:p>
                  </a:txBody>
                  <a:tcPr/>
                </a:tc>
                <a:tc>
                  <a:txBody>
                    <a:bodyPr/>
                    <a:lstStyle/>
                    <a:p>
                      <a:pPr algn="ctr"/>
                      <a:r>
                        <a:rPr lang="nl-NL" dirty="0" smtClean="0"/>
                        <a:t>Q</a:t>
                      </a:r>
                      <a:endParaRPr lang="nl-NL" dirty="0"/>
                    </a:p>
                  </a:txBody>
                  <a:tcPr/>
                </a:tc>
                <a:tc>
                  <a:txBody>
                    <a:bodyPr/>
                    <a:lstStyle/>
                    <a:p>
                      <a:pPr algn="ctr"/>
                      <a:r>
                        <a:rPr lang="nl-NL" dirty="0" smtClean="0"/>
                        <a:t>…</a:t>
                      </a:r>
                      <a:endParaRPr lang="nl-NL" dirty="0"/>
                    </a:p>
                  </a:txBody>
                  <a:tcPr/>
                </a:tc>
              </a:tr>
              <a:tr h="547261">
                <a:tc>
                  <a:txBody>
                    <a:bodyPr/>
                    <a:lstStyle/>
                    <a:p>
                      <a:pPr algn="ctr"/>
                      <a:r>
                        <a:rPr lang="nl-NL" b="0" dirty="0" smtClean="0">
                          <a:solidFill>
                            <a:schemeClr val="tx1"/>
                          </a:solidFill>
                        </a:rPr>
                        <a:t>W</a:t>
                      </a:r>
                      <a:endParaRPr lang="nl-NL" b="0" dirty="0">
                        <a:solidFill>
                          <a:schemeClr val="tx1"/>
                        </a:solidFill>
                      </a:endParaRPr>
                    </a:p>
                  </a:txBody>
                  <a:tcPr/>
                </a:tc>
                <a:tc>
                  <a:txBody>
                    <a:bodyPr/>
                    <a:lstStyle/>
                    <a:p>
                      <a:pPr algn="ctr"/>
                      <a:r>
                        <a:rPr lang="nl-NL" b="0" dirty="0" smtClean="0">
                          <a:solidFill>
                            <a:schemeClr val="tx1"/>
                          </a:solidFill>
                        </a:rPr>
                        <a:t>W</a:t>
                      </a:r>
                      <a:endParaRPr lang="nl-NL" b="0" dirty="0">
                        <a:solidFill>
                          <a:schemeClr val="tx1"/>
                        </a:solidFill>
                      </a:endParaRPr>
                    </a:p>
                  </a:txBody>
                  <a:tcPr/>
                </a:tc>
                <a:tc>
                  <a:txBody>
                    <a:bodyPr/>
                    <a:lstStyle/>
                    <a:p>
                      <a:pPr algn="ctr"/>
                      <a:r>
                        <a:rPr lang="nl-NL" b="0" dirty="0" smtClean="0">
                          <a:solidFill>
                            <a:schemeClr val="tx1"/>
                          </a:solidFill>
                        </a:rPr>
                        <a:t>O</a:t>
                      </a:r>
                      <a:endParaRPr lang="nl-NL" b="0" dirty="0">
                        <a:solidFill>
                          <a:schemeClr val="tx1"/>
                        </a:solidFill>
                      </a:endParaRPr>
                    </a:p>
                  </a:txBody>
                  <a:tcPr/>
                </a:tc>
              </a:tr>
              <a:tr h="547261">
                <a:tc>
                  <a:txBody>
                    <a:bodyPr/>
                    <a:lstStyle/>
                    <a:p>
                      <a:pPr algn="ctr"/>
                      <a:r>
                        <a:rPr lang="nl-NL" b="0" dirty="0" smtClean="0">
                          <a:solidFill>
                            <a:schemeClr val="tx1"/>
                          </a:solidFill>
                        </a:rPr>
                        <a:t>W</a:t>
                      </a:r>
                      <a:endParaRPr lang="nl-NL" b="0" dirty="0">
                        <a:solidFill>
                          <a:schemeClr val="tx1"/>
                        </a:solidFill>
                      </a:endParaRPr>
                    </a:p>
                  </a:txBody>
                  <a:tcPr/>
                </a:tc>
                <a:tc>
                  <a:txBody>
                    <a:bodyPr/>
                    <a:lstStyle/>
                    <a:p>
                      <a:pPr algn="ctr"/>
                      <a:r>
                        <a:rPr lang="nl-NL" b="0" dirty="0" smtClean="0">
                          <a:solidFill>
                            <a:schemeClr val="tx1"/>
                          </a:solidFill>
                        </a:rPr>
                        <a:t>O</a:t>
                      </a:r>
                      <a:endParaRPr lang="nl-NL" b="0" dirty="0">
                        <a:solidFill>
                          <a:schemeClr val="tx1"/>
                        </a:solidFill>
                      </a:endParaRPr>
                    </a:p>
                  </a:txBody>
                  <a:tcPr/>
                </a:tc>
                <a:tc>
                  <a:txBody>
                    <a:bodyPr/>
                    <a:lstStyle/>
                    <a:p>
                      <a:pPr algn="ctr"/>
                      <a:r>
                        <a:rPr lang="nl-NL" b="0" dirty="0" smtClean="0">
                          <a:solidFill>
                            <a:schemeClr val="tx1"/>
                          </a:solidFill>
                        </a:rPr>
                        <a:t>O</a:t>
                      </a:r>
                      <a:endParaRPr lang="nl-NL" b="0" dirty="0">
                        <a:solidFill>
                          <a:schemeClr val="tx1"/>
                        </a:solidFill>
                      </a:endParaRPr>
                    </a:p>
                  </a:txBody>
                  <a:tcPr/>
                </a:tc>
              </a:tr>
              <a:tr h="547261">
                <a:tc>
                  <a:txBody>
                    <a:bodyPr/>
                    <a:lstStyle/>
                    <a:p>
                      <a:pPr algn="ctr"/>
                      <a:r>
                        <a:rPr lang="nl-NL" b="0" dirty="0" smtClean="0">
                          <a:solidFill>
                            <a:schemeClr val="tx1"/>
                          </a:solidFill>
                        </a:rPr>
                        <a:t>O </a:t>
                      </a:r>
                      <a:endParaRPr lang="nl-NL" b="0" dirty="0">
                        <a:solidFill>
                          <a:schemeClr val="tx1"/>
                        </a:solidFill>
                      </a:endParaRPr>
                    </a:p>
                  </a:txBody>
                  <a:tcPr/>
                </a:tc>
                <a:tc>
                  <a:txBody>
                    <a:bodyPr/>
                    <a:lstStyle/>
                    <a:p>
                      <a:pPr algn="ctr"/>
                      <a:r>
                        <a:rPr lang="nl-NL" b="0" dirty="0" smtClean="0">
                          <a:solidFill>
                            <a:schemeClr val="tx1"/>
                          </a:solidFill>
                        </a:rPr>
                        <a:t>W</a:t>
                      </a:r>
                      <a:endParaRPr lang="nl-NL" b="0" dirty="0">
                        <a:solidFill>
                          <a:schemeClr val="tx1"/>
                        </a:solidFill>
                      </a:endParaRPr>
                    </a:p>
                  </a:txBody>
                  <a:tcPr/>
                </a:tc>
                <a:tc>
                  <a:txBody>
                    <a:bodyPr/>
                    <a:lstStyle/>
                    <a:p>
                      <a:pPr algn="ctr"/>
                      <a:r>
                        <a:rPr lang="nl-NL" b="0" dirty="0" smtClean="0">
                          <a:solidFill>
                            <a:schemeClr val="tx1"/>
                          </a:solidFill>
                        </a:rPr>
                        <a:t>O</a:t>
                      </a:r>
                      <a:endParaRPr lang="nl-NL" b="0" dirty="0">
                        <a:solidFill>
                          <a:schemeClr val="tx1"/>
                        </a:solidFill>
                      </a:endParaRPr>
                    </a:p>
                  </a:txBody>
                  <a:tcPr/>
                </a:tc>
              </a:tr>
              <a:tr h="547261">
                <a:tc>
                  <a:txBody>
                    <a:bodyPr/>
                    <a:lstStyle/>
                    <a:p>
                      <a:pPr algn="ctr"/>
                      <a:r>
                        <a:rPr lang="nl-NL" b="0" dirty="0" smtClean="0">
                          <a:solidFill>
                            <a:schemeClr val="tx1"/>
                          </a:solidFill>
                        </a:rPr>
                        <a:t>O </a:t>
                      </a:r>
                      <a:endParaRPr lang="nl-NL" b="0" dirty="0">
                        <a:solidFill>
                          <a:schemeClr val="tx1"/>
                        </a:solidFill>
                      </a:endParaRPr>
                    </a:p>
                  </a:txBody>
                  <a:tcPr/>
                </a:tc>
                <a:tc>
                  <a:txBody>
                    <a:bodyPr/>
                    <a:lstStyle/>
                    <a:p>
                      <a:pPr algn="ctr"/>
                      <a:r>
                        <a:rPr lang="nl-NL" b="0" dirty="0" smtClean="0">
                          <a:solidFill>
                            <a:schemeClr val="tx1"/>
                          </a:solidFill>
                        </a:rPr>
                        <a:t>O</a:t>
                      </a:r>
                      <a:endParaRPr lang="nl-NL" b="0" dirty="0">
                        <a:solidFill>
                          <a:schemeClr val="tx1"/>
                        </a:solidFill>
                      </a:endParaRPr>
                    </a:p>
                  </a:txBody>
                  <a:tcPr/>
                </a:tc>
                <a:tc>
                  <a:txBody>
                    <a:bodyPr/>
                    <a:lstStyle/>
                    <a:p>
                      <a:pPr algn="ctr"/>
                      <a:r>
                        <a:rPr lang="nl-NL" b="0" dirty="0" smtClean="0">
                          <a:solidFill>
                            <a:schemeClr val="tx1"/>
                          </a:solidFill>
                        </a:rPr>
                        <a:t>O</a:t>
                      </a:r>
                      <a:endParaRPr lang="nl-NL" b="0" dirty="0">
                        <a:solidFill>
                          <a:schemeClr val="tx1"/>
                        </a:solidFill>
                      </a:endParaRPr>
                    </a:p>
                  </a:txBody>
                  <a:tcPr/>
                </a:tc>
              </a:tr>
            </a:tbl>
          </a:graphicData>
        </a:graphic>
      </p:graphicFrame>
      <p:sp>
        <p:nvSpPr>
          <p:cNvPr id="6" name="TextBox 5"/>
          <p:cNvSpPr txBox="1"/>
          <p:nvPr/>
        </p:nvSpPr>
        <p:spPr>
          <a:xfrm>
            <a:off x="755576" y="5517232"/>
            <a:ext cx="6696744" cy="646331"/>
          </a:xfrm>
          <a:prstGeom prst="rect">
            <a:avLst/>
          </a:prstGeom>
          <a:noFill/>
        </p:spPr>
        <p:txBody>
          <a:bodyPr wrap="square" rtlCol="0">
            <a:spAutoFit/>
          </a:bodyPr>
          <a:lstStyle/>
          <a:p>
            <a:r>
              <a:rPr lang="nl-NL" dirty="0" smtClean="0"/>
              <a:t>Deze waarheidsfunctie kan bijvoorbeeld gerepresenteerd worden                                           door deze formule in </a:t>
            </a:r>
            <a:r>
              <a:rPr lang="nl-NL" dirty="0" err="1" smtClean="0"/>
              <a:t>disjunctieve</a:t>
            </a:r>
            <a:r>
              <a:rPr lang="nl-NL" dirty="0" smtClean="0"/>
              <a:t> normaalvorm:</a:t>
            </a:r>
            <a:endParaRPr lang="nl-NL" dirty="0"/>
          </a:p>
        </p:txBody>
      </p:sp>
      <p:sp>
        <p:nvSpPr>
          <p:cNvPr id="7" name="TextBox 6"/>
          <p:cNvSpPr txBox="1"/>
          <p:nvPr/>
        </p:nvSpPr>
        <p:spPr>
          <a:xfrm>
            <a:off x="755576" y="6133946"/>
            <a:ext cx="4824536" cy="461665"/>
          </a:xfrm>
          <a:prstGeom prst="rect">
            <a:avLst/>
          </a:prstGeom>
          <a:noFill/>
        </p:spPr>
        <p:txBody>
          <a:bodyPr wrap="square" rtlCol="0">
            <a:spAutoFit/>
          </a:bodyPr>
          <a:lstStyle/>
          <a:p>
            <a:r>
              <a:rPr lang="nl-NL" sz="2400" b="1" dirty="0" smtClean="0">
                <a:solidFill>
                  <a:srgbClr val="0070C0"/>
                </a:solidFill>
              </a:rPr>
              <a:t>(P ∧ ¬P) V (Q ∧ ¬Q)</a:t>
            </a:r>
            <a:endParaRPr lang="nl-NL"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propositielogica is </a:t>
            </a:r>
            <a:r>
              <a:rPr lang="nl-NL" sz="3600" i="1" dirty="0" smtClean="0"/>
              <a:t>volledig</a:t>
            </a:r>
            <a:r>
              <a:rPr lang="nl-NL" sz="3600" dirty="0" smtClean="0"/>
              <a:t> en </a:t>
            </a:r>
            <a:r>
              <a:rPr lang="nl-NL" sz="3600" i="1" dirty="0" smtClean="0"/>
              <a:t>correct</a:t>
            </a:r>
            <a:endParaRPr lang="nl-NL" sz="3600" i="1" dirty="0"/>
          </a:p>
        </p:txBody>
      </p:sp>
      <p:sp>
        <p:nvSpPr>
          <p:cNvPr id="3" name="Content Placeholder 2"/>
          <p:cNvSpPr>
            <a:spLocks noGrp="1"/>
          </p:cNvSpPr>
          <p:nvPr>
            <p:ph idx="1"/>
          </p:nvPr>
        </p:nvSpPr>
        <p:spPr>
          <a:xfrm>
            <a:off x="457200" y="1988840"/>
            <a:ext cx="8229600" cy="1972816"/>
          </a:xfrm>
        </p:spPr>
        <p:txBody>
          <a:bodyPr>
            <a:normAutofit fontScale="92500" lnSpcReduction="10000"/>
          </a:bodyPr>
          <a:lstStyle/>
          <a:p>
            <a:pPr>
              <a:buNone/>
            </a:pPr>
            <a:r>
              <a:rPr lang="nl-NL" sz="2400" dirty="0" smtClean="0"/>
              <a:t>	</a:t>
            </a:r>
            <a:r>
              <a:rPr lang="nl-NL" sz="2400" b="1" dirty="0" smtClean="0"/>
              <a:t>Volledigheidsstelling</a:t>
            </a:r>
          </a:p>
          <a:p>
            <a:pPr>
              <a:buNone/>
            </a:pPr>
            <a:r>
              <a:rPr lang="nl-NL" sz="2400" dirty="0" smtClean="0"/>
              <a:t>	Elke redenering in de propositielogica die semantisch geldig is, is ook syntactisch afleidbaar in het systeem van natuurlijke deductie.</a:t>
            </a:r>
          </a:p>
          <a:p>
            <a:pPr>
              <a:buNone/>
            </a:pPr>
            <a:endParaRPr lang="nl-NL" sz="800" dirty="0" smtClean="0"/>
          </a:p>
          <a:p>
            <a:pPr>
              <a:buNone/>
            </a:pPr>
            <a:r>
              <a:rPr lang="nl-NL" sz="2400" dirty="0" smtClean="0"/>
              <a:t>      </a:t>
            </a:r>
            <a:r>
              <a:rPr lang="nl-NL" sz="2400" i="1" dirty="0" smtClean="0"/>
              <a:t>Als</a:t>
            </a:r>
            <a:r>
              <a:rPr lang="nl-NL" sz="2400"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a:t>
            </a:r>
            <a:r>
              <a:rPr lang="nl-NL" sz="2400" dirty="0" smtClean="0"/>
              <a:t>  </a:t>
            </a:r>
            <a:r>
              <a:rPr lang="el-GR" sz="2400" b="1" i="1" dirty="0" smtClean="0"/>
              <a:t>β</a:t>
            </a:r>
            <a:r>
              <a:rPr lang="nl-NL" sz="2400" b="1" i="1" dirty="0" smtClean="0"/>
              <a:t>    </a:t>
            </a:r>
            <a:r>
              <a:rPr lang="nl-NL" sz="2400" i="1" dirty="0" smtClean="0"/>
              <a:t>Dan</a:t>
            </a:r>
            <a:r>
              <a:rPr lang="nl-NL" sz="2400" b="1" i="1"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Ⱶ</a:t>
            </a:r>
            <a:r>
              <a:rPr lang="nl-NL" sz="2400" dirty="0" smtClean="0"/>
              <a:t>   </a:t>
            </a:r>
            <a:r>
              <a:rPr lang="el-GR" sz="2400" b="1" i="1" dirty="0" smtClean="0"/>
              <a:t>β</a:t>
            </a:r>
            <a:endParaRPr lang="nl-NL" sz="2400" dirty="0" smtClean="0"/>
          </a:p>
          <a:p>
            <a:pPr>
              <a:buNone/>
            </a:pPr>
            <a:r>
              <a:rPr lang="nl-NL" sz="2400" dirty="0" smtClean="0"/>
              <a:t>	</a:t>
            </a:r>
          </a:p>
          <a:p>
            <a:pPr>
              <a:buNone/>
            </a:pPr>
            <a:endParaRPr lang="nl-NL" sz="2400" dirty="0"/>
          </a:p>
        </p:txBody>
      </p:sp>
      <p:sp>
        <p:nvSpPr>
          <p:cNvPr id="5" name="Content Placeholder 2"/>
          <p:cNvSpPr txBox="1">
            <a:spLocks/>
          </p:cNvSpPr>
          <p:nvPr/>
        </p:nvSpPr>
        <p:spPr>
          <a:xfrm>
            <a:off x="446856" y="3976464"/>
            <a:ext cx="8229600" cy="1972816"/>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Correctheidsstelling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Elke redenering in de propositielogica die syntactisch</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afleidbaar is in het systeem van natuurlijke deductie,</a:t>
            </a:r>
            <a:r>
              <a:rPr kumimoji="0" lang="nl-NL" sz="2400" b="0" i="0" u="none" strike="noStrike" kern="1200" cap="none" spc="0" normalizeH="0" noProof="0" dirty="0" smtClean="0">
                <a:ln>
                  <a:noFill/>
                </a:ln>
                <a:solidFill>
                  <a:schemeClr val="tx1"/>
                </a:solidFill>
                <a:effectLst/>
                <a:uLnTx/>
                <a:uFillTx/>
                <a:latin typeface="+mn-lt"/>
                <a:ea typeface="+mn-ea"/>
                <a:cs typeface="+mn-cs"/>
              </a:rPr>
              <a:t> is ook semantisch geldig</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Als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dirty="0" smtClean="0"/>
              <a:t>Ⱶ</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Dan</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noProof="0" dirty="0" smtClean="0"/>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323528" y="6093296"/>
            <a:ext cx="8640960" cy="400110"/>
          </a:xfrm>
          <a:prstGeom prst="rect">
            <a:avLst/>
          </a:prstGeom>
          <a:noFill/>
        </p:spPr>
        <p:txBody>
          <a:bodyPr wrap="square" rtlCol="0">
            <a:spAutoFit/>
          </a:bodyPr>
          <a:lstStyle/>
          <a:p>
            <a:r>
              <a:rPr lang="nl-NL" sz="2000" i="1" dirty="0" smtClean="0"/>
              <a:t>Uit de correctheidsstelling volgt dat de propositielogica consistent is. Waarom?</a:t>
            </a:r>
            <a:endParaRPr lang="nl-NL" sz="20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2000"/>
                                        <p:tgtEl>
                                          <p:spTgt spid="5">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20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propositielogica is </a:t>
            </a:r>
            <a:r>
              <a:rPr lang="nl-NL" sz="3600" i="1" dirty="0" smtClean="0"/>
              <a:t>beslisbaar</a:t>
            </a:r>
            <a:endParaRPr lang="nl-NL" sz="3600" i="1" dirty="0"/>
          </a:p>
        </p:txBody>
      </p:sp>
      <p:sp>
        <p:nvSpPr>
          <p:cNvPr id="3" name="Content Placeholder 2"/>
          <p:cNvSpPr>
            <a:spLocks noGrp="1"/>
          </p:cNvSpPr>
          <p:nvPr>
            <p:ph idx="1"/>
          </p:nvPr>
        </p:nvSpPr>
        <p:spPr>
          <a:xfrm>
            <a:off x="457200" y="1988840"/>
            <a:ext cx="8229600" cy="1972816"/>
          </a:xfrm>
        </p:spPr>
        <p:txBody>
          <a:bodyPr>
            <a:normAutofit/>
          </a:bodyPr>
          <a:lstStyle/>
          <a:p>
            <a:pPr>
              <a:buNone/>
            </a:pPr>
            <a:r>
              <a:rPr lang="nl-NL" sz="2200" dirty="0" smtClean="0"/>
              <a:t>	</a:t>
            </a:r>
            <a:r>
              <a:rPr lang="nl-NL" sz="2200" b="1" dirty="0" err="1" smtClean="0"/>
              <a:t>Beslisbaarheidsstelling</a:t>
            </a:r>
            <a:endParaRPr lang="nl-NL" sz="2200" b="1" dirty="0" smtClean="0"/>
          </a:p>
          <a:p>
            <a:pPr>
              <a:buNone/>
            </a:pPr>
            <a:r>
              <a:rPr lang="nl-NL" sz="2200" dirty="0" smtClean="0"/>
              <a:t>	Voor de propositielogica bestaat er een algemene mechanisch toepasbare procedure (algoritme) die in eindig veel stappen uitsluitsel geeft over de vraag of een bepaalde redenering                     geldig is of niet. </a:t>
            </a:r>
            <a:endParaRPr lang="nl-NL" sz="2200" dirty="0"/>
          </a:p>
        </p:txBody>
      </p:sp>
      <p:sp>
        <p:nvSpPr>
          <p:cNvPr id="7" name="TextBox 6"/>
          <p:cNvSpPr txBox="1"/>
          <p:nvPr/>
        </p:nvSpPr>
        <p:spPr>
          <a:xfrm>
            <a:off x="1115616" y="4357553"/>
            <a:ext cx="6480720" cy="1015663"/>
          </a:xfrm>
          <a:prstGeom prst="rect">
            <a:avLst/>
          </a:prstGeom>
          <a:noFill/>
        </p:spPr>
        <p:txBody>
          <a:bodyPr wrap="square" rtlCol="0">
            <a:spAutoFit/>
          </a:bodyPr>
          <a:lstStyle/>
          <a:p>
            <a:r>
              <a:rPr lang="nl-NL" sz="2000" dirty="0" smtClean="0"/>
              <a:t>Inderdaad: de methode van </a:t>
            </a:r>
            <a:r>
              <a:rPr lang="nl-NL" sz="2000" i="1" dirty="0" smtClean="0"/>
              <a:t>de waarheidstafels </a:t>
            </a:r>
            <a:r>
              <a:rPr lang="nl-NL" sz="2000" dirty="0" smtClean="0"/>
              <a:t>voor het verifiëren van semantische (en volgens de </a:t>
            </a:r>
            <a:r>
              <a:rPr lang="nl-NL" sz="2000" dirty="0" err="1" smtClean="0"/>
              <a:t>volledigheids-stelling</a:t>
            </a:r>
            <a:r>
              <a:rPr lang="nl-NL" sz="2000" dirty="0" smtClean="0"/>
              <a:t> dus ook syntactische) geldigheid</a:t>
            </a:r>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a:t>
            </a:r>
            <a:r>
              <a:rPr lang="nl-NL" sz="3600" dirty="0" err="1" smtClean="0"/>
              <a:t>intuïtionistische</a:t>
            </a:r>
            <a:r>
              <a:rPr lang="nl-NL" sz="3600" dirty="0" smtClean="0"/>
              <a:t> logica</a:t>
            </a:r>
            <a:endParaRPr lang="nl-NL" sz="3600" i="1" dirty="0"/>
          </a:p>
        </p:txBody>
      </p:sp>
      <p:sp>
        <p:nvSpPr>
          <p:cNvPr id="3" name="Content Placeholder 2"/>
          <p:cNvSpPr>
            <a:spLocks noGrp="1"/>
          </p:cNvSpPr>
          <p:nvPr>
            <p:ph idx="1"/>
          </p:nvPr>
        </p:nvSpPr>
        <p:spPr>
          <a:xfrm>
            <a:off x="457200" y="1556792"/>
            <a:ext cx="8686800" cy="1152128"/>
          </a:xfrm>
        </p:spPr>
        <p:txBody>
          <a:bodyPr>
            <a:normAutofit/>
          </a:bodyPr>
          <a:lstStyle/>
          <a:p>
            <a:r>
              <a:rPr lang="nl-NL" sz="2200" dirty="0" smtClean="0"/>
              <a:t>In de klassieke logica is </a:t>
            </a:r>
            <a:r>
              <a:rPr lang="nl-NL" sz="2200" i="1" dirty="0" smtClean="0"/>
              <a:t>de wet van de uitgesloten derde</a:t>
            </a:r>
            <a:r>
              <a:rPr lang="nl-NL" sz="2200" dirty="0" smtClean="0"/>
              <a:t> (</a:t>
            </a:r>
            <a:r>
              <a:rPr lang="el-GR" sz="2000" b="1" i="1" dirty="0" smtClean="0"/>
              <a:t>α</a:t>
            </a:r>
            <a:r>
              <a:rPr lang="nl-NL" sz="2000" b="1" i="1" dirty="0" smtClean="0"/>
              <a:t> </a:t>
            </a:r>
            <a:r>
              <a:rPr lang="nl-NL" sz="2000" b="1" dirty="0" smtClean="0"/>
              <a:t>V ¬</a:t>
            </a:r>
            <a:r>
              <a:rPr lang="el-GR" sz="2000" b="1" i="1" dirty="0" smtClean="0"/>
              <a:t>α</a:t>
            </a:r>
            <a:r>
              <a:rPr lang="nl-NL" sz="2000" dirty="0" smtClean="0"/>
              <a:t>) een logische waarheid. Zij kan volgens de volledigheidsstelling dus ook afgeleid worden in het systeem van natuurlijke deductie (gebruikmakend van </a:t>
            </a:r>
            <a:r>
              <a:rPr lang="nl-NL" sz="2000" b="1" dirty="0" err="1" smtClean="0"/>
              <a:t>Elim</a:t>
            </a:r>
            <a:r>
              <a:rPr lang="nl-NL" sz="2000" b="1" dirty="0" smtClean="0"/>
              <a:t>¬¬</a:t>
            </a:r>
            <a:r>
              <a:rPr lang="nl-NL" sz="2000" dirty="0" smtClean="0"/>
              <a:t>):</a:t>
            </a:r>
          </a:p>
          <a:p>
            <a:endParaRPr lang="nl-NL" sz="2000" dirty="0" smtClean="0"/>
          </a:p>
          <a:p>
            <a:endParaRPr lang="nl-NL" sz="2200" dirty="0"/>
          </a:p>
        </p:txBody>
      </p:sp>
      <p:sp>
        <p:nvSpPr>
          <p:cNvPr id="6" name="Content Placeholder 2"/>
          <p:cNvSpPr txBox="1">
            <a:spLocks/>
          </p:cNvSpPr>
          <p:nvPr/>
        </p:nvSpPr>
        <p:spPr>
          <a:xfrm>
            <a:off x="395536" y="2852936"/>
            <a:ext cx="8363272" cy="2016224"/>
          </a:xfrm>
          <a:prstGeom prst="rect">
            <a:avLst/>
          </a:prstGeom>
        </p:spPr>
        <p:txBody>
          <a:bodyPr vert="horz" lIns="91440" tIns="45720" rIns="91440" bIns="45720" rtlCol="0">
            <a:normAutofit/>
          </a:bodyPr>
          <a:lstStyle/>
          <a:p>
            <a:pPr marL="457200" lvl="0" indent="-457200">
              <a:spcBef>
                <a:spcPct val="20000"/>
              </a:spcBef>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1.   </a:t>
            </a:r>
            <a:r>
              <a:rPr lang="nl-NL" sz="2200" b="1" dirty="0" smtClean="0"/>
              <a:t>¬(</a:t>
            </a:r>
            <a:r>
              <a:rPr lang="el-GR" sz="2200" b="1" i="1" dirty="0" smtClean="0"/>
              <a:t>α</a:t>
            </a:r>
            <a:r>
              <a:rPr lang="nl-NL" sz="2200" b="1" i="1" dirty="0" smtClean="0"/>
              <a:t> </a:t>
            </a:r>
            <a:r>
              <a:rPr lang="nl-NL" sz="2200" b="1" dirty="0" smtClean="0"/>
              <a:t>V ¬</a:t>
            </a:r>
            <a:r>
              <a:rPr lang="el-GR" sz="2200" b="1" i="1" dirty="0" smtClean="0"/>
              <a:t>α</a:t>
            </a:r>
            <a:r>
              <a:rPr lang="nl-NL" sz="2200" b="1" dirty="0" smtClean="0"/>
              <a:t>)</a:t>
            </a:r>
            <a:r>
              <a:rPr lang="nl-NL" sz="2200" dirty="0" smtClean="0"/>
              <a:t>        </a:t>
            </a:r>
            <a:r>
              <a:rPr lang="nl-NL" sz="2200" b="1" dirty="0" err="1" smtClean="0"/>
              <a:t>Ass</a:t>
            </a:r>
            <a:r>
              <a:rPr lang="nl-NL" sz="2200" b="1" dirty="0" smtClean="0"/>
              <a:t>.</a:t>
            </a:r>
          </a:p>
          <a:p>
            <a:pPr marL="457200" lvl="0" indent="-457200">
              <a:spcBef>
                <a:spcPct val="20000"/>
              </a:spcBef>
            </a:pPr>
            <a:r>
              <a:rPr lang="nl-NL" sz="2200" dirty="0" smtClean="0"/>
              <a:t>2.   </a:t>
            </a:r>
            <a:r>
              <a:rPr lang="nl-NL" sz="2200" b="1" dirty="0" smtClean="0"/>
              <a:t>¬</a:t>
            </a:r>
            <a:r>
              <a:rPr lang="el-GR" sz="2200" b="1" i="1" dirty="0" smtClean="0"/>
              <a:t>α</a:t>
            </a:r>
            <a:r>
              <a:rPr lang="nl-NL" sz="2200" b="1" i="1" dirty="0" smtClean="0"/>
              <a:t> </a:t>
            </a:r>
            <a:r>
              <a:rPr lang="nl-NL" sz="2200" b="1" dirty="0" smtClean="0"/>
              <a:t>∧</a:t>
            </a:r>
            <a:r>
              <a:rPr lang="nl-NL" sz="2200" b="1" dirty="0" smtClean="0">
                <a:solidFill>
                  <a:srgbClr val="0070C0"/>
                </a:solidFill>
              </a:rPr>
              <a:t> </a:t>
            </a:r>
            <a:r>
              <a:rPr lang="nl-NL" sz="2200" b="1" dirty="0" smtClean="0"/>
              <a:t>¬¬</a:t>
            </a:r>
            <a:r>
              <a:rPr lang="el-GR" sz="2200" b="1" i="1" dirty="0" smtClean="0"/>
              <a:t>α</a:t>
            </a:r>
            <a:r>
              <a:rPr lang="nl-NL" sz="2200" b="1" dirty="0" smtClean="0">
                <a:solidFill>
                  <a:srgbClr val="0070C0"/>
                </a:solidFill>
              </a:rPr>
              <a:t> 	  </a:t>
            </a:r>
            <a:r>
              <a:rPr lang="nl-NL" sz="2200" b="1" dirty="0" smtClean="0"/>
              <a:t>De wet van de Morgan:  </a:t>
            </a:r>
            <a:r>
              <a:rPr lang="nl-NL" sz="2200" b="1" dirty="0" smtClean="0">
                <a:solidFill>
                  <a:srgbClr val="0070C0"/>
                </a:solidFill>
              </a:rPr>
              <a:t>¬(P V Q) </a:t>
            </a:r>
            <a:r>
              <a:rPr lang="nl-NL" sz="2000" b="1" dirty="0" smtClean="0">
                <a:solidFill>
                  <a:srgbClr val="0070C0"/>
                </a:solidFill>
              </a:rPr>
              <a:t>→ </a:t>
            </a:r>
            <a:r>
              <a:rPr lang="nl-NL" sz="2200" b="1" dirty="0" smtClean="0">
                <a:solidFill>
                  <a:srgbClr val="0070C0"/>
                </a:solidFill>
              </a:rPr>
              <a:t>¬P ∧ ¬Q</a:t>
            </a:r>
          </a:p>
          <a:p>
            <a:pPr marL="457200" lvl="0" indent="-457200">
              <a:spcBef>
                <a:spcPct val="20000"/>
              </a:spcBef>
            </a:pPr>
            <a:r>
              <a:rPr lang="nl-NL" sz="2200" dirty="0" smtClean="0"/>
              <a:t>3.   </a:t>
            </a:r>
            <a:r>
              <a:rPr lang="nl-NL" sz="2200" b="1" dirty="0" smtClean="0"/>
              <a:t>¬¬(</a:t>
            </a:r>
            <a:r>
              <a:rPr lang="el-GR" sz="2200" b="1" i="1" dirty="0" smtClean="0"/>
              <a:t>α</a:t>
            </a:r>
            <a:r>
              <a:rPr lang="nl-NL" sz="2200" b="1" i="1" dirty="0" smtClean="0"/>
              <a:t> </a:t>
            </a:r>
            <a:r>
              <a:rPr lang="nl-NL" sz="2200" b="1" dirty="0" smtClean="0"/>
              <a:t>V ¬</a:t>
            </a:r>
            <a:r>
              <a:rPr lang="el-GR" sz="2200" b="1" i="1" dirty="0" smtClean="0"/>
              <a:t>α</a:t>
            </a:r>
            <a:r>
              <a:rPr lang="nl-NL" sz="2200" b="1" dirty="0" smtClean="0"/>
              <a:t>)      I¬(1,2)</a:t>
            </a:r>
          </a:p>
          <a:p>
            <a:pPr marL="457200" lvl="0" indent="-457200">
              <a:spcBef>
                <a:spcPct val="20000"/>
              </a:spcBef>
            </a:pPr>
            <a:r>
              <a:rPr lang="nl-NL" sz="2200" noProof="0" dirty="0" smtClean="0"/>
              <a:t>4.   </a:t>
            </a:r>
            <a:r>
              <a:rPr lang="el-GR" sz="2200" b="1" i="1" dirty="0" smtClean="0"/>
              <a:t>α</a:t>
            </a:r>
            <a:r>
              <a:rPr lang="nl-NL" sz="2200" b="1" i="1" dirty="0" smtClean="0"/>
              <a:t> </a:t>
            </a:r>
            <a:r>
              <a:rPr lang="nl-NL" sz="2200" b="1" dirty="0" smtClean="0"/>
              <a:t>V ¬</a:t>
            </a:r>
            <a:r>
              <a:rPr lang="el-GR" sz="2200" b="1" i="1" dirty="0" smtClean="0"/>
              <a:t>α</a:t>
            </a:r>
            <a:r>
              <a:rPr lang="nl-NL" sz="2200" b="1" i="1" dirty="0" smtClean="0"/>
              <a:t>	  </a:t>
            </a:r>
            <a:r>
              <a:rPr lang="nl-NL" sz="2200" b="1" dirty="0" err="1" smtClean="0"/>
              <a:t>Elim</a:t>
            </a:r>
            <a:r>
              <a:rPr lang="nl-NL" sz="2200" b="1" dirty="0" smtClean="0"/>
              <a:t>¬¬(3)</a:t>
            </a:r>
            <a:endParaRPr kumimoji="0" lang="nl-NL" sz="2200" b="1" i="0" u="none" strike="noStrike" kern="1200" cap="none" spc="0" normalizeH="0" baseline="0" noProof="0" dirty="0">
              <a:ln>
                <a:noFill/>
              </a:ln>
              <a:solidFill>
                <a:schemeClr val="tx1"/>
              </a:solidFill>
              <a:effectLst/>
              <a:uLnTx/>
              <a:uFillTx/>
              <a:latin typeface="+mn-lt"/>
              <a:ea typeface="+mn-ea"/>
              <a:cs typeface="+mn-cs"/>
            </a:endParaRPr>
          </a:p>
        </p:txBody>
      </p:sp>
      <p:cxnSp>
        <p:nvCxnSpPr>
          <p:cNvPr id="10" name="Straight Connector 9"/>
          <p:cNvCxnSpPr/>
          <p:nvPr/>
        </p:nvCxnSpPr>
        <p:spPr>
          <a:xfrm flipH="1">
            <a:off x="395536" y="2852936"/>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395536" y="2858160"/>
            <a:ext cx="0" cy="8588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395536" y="3717032"/>
            <a:ext cx="21602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a:t>
            </a:r>
            <a:r>
              <a:rPr lang="nl-NL" sz="3600" dirty="0" err="1" smtClean="0"/>
              <a:t>intuïtionistische</a:t>
            </a:r>
            <a:r>
              <a:rPr lang="nl-NL" sz="3600" dirty="0" smtClean="0"/>
              <a:t> logica</a:t>
            </a:r>
            <a:endParaRPr lang="nl-NL" sz="3600" i="1" dirty="0"/>
          </a:p>
        </p:txBody>
      </p:sp>
      <p:sp>
        <p:nvSpPr>
          <p:cNvPr id="3" name="Content Placeholder 2"/>
          <p:cNvSpPr>
            <a:spLocks noGrp="1"/>
          </p:cNvSpPr>
          <p:nvPr>
            <p:ph idx="1"/>
          </p:nvPr>
        </p:nvSpPr>
        <p:spPr>
          <a:xfrm>
            <a:off x="457200" y="1412776"/>
            <a:ext cx="8686800" cy="1152128"/>
          </a:xfrm>
        </p:spPr>
        <p:txBody>
          <a:bodyPr>
            <a:normAutofit/>
          </a:bodyPr>
          <a:lstStyle/>
          <a:p>
            <a:r>
              <a:rPr lang="nl-NL" sz="2000" dirty="0" smtClean="0"/>
              <a:t>Omgekeerd kan </a:t>
            </a:r>
            <a:r>
              <a:rPr lang="nl-NL" sz="2000" b="1" dirty="0" err="1" smtClean="0"/>
              <a:t>Elim</a:t>
            </a:r>
            <a:r>
              <a:rPr lang="nl-NL" sz="2000" b="1" dirty="0" smtClean="0"/>
              <a:t>¬¬ </a:t>
            </a:r>
            <a:r>
              <a:rPr lang="nl-NL" sz="2000" dirty="0" smtClean="0"/>
              <a:t>(de regel voor de eliminatie van de dubbele negatie) ook afgeleid worden uit </a:t>
            </a:r>
            <a:r>
              <a:rPr lang="nl-NL" sz="2000" i="1" dirty="0" smtClean="0"/>
              <a:t>de wet van de uitgesloten derde</a:t>
            </a:r>
            <a:r>
              <a:rPr lang="nl-NL" sz="2000" dirty="0" smtClean="0"/>
              <a:t>. </a:t>
            </a:r>
            <a:r>
              <a:rPr lang="nl-NL" sz="2000" b="1" dirty="0" err="1" smtClean="0"/>
              <a:t>Elim</a:t>
            </a:r>
            <a:r>
              <a:rPr lang="nl-NL" sz="2000" b="1" dirty="0" smtClean="0"/>
              <a:t>¬¬ </a:t>
            </a:r>
            <a:r>
              <a:rPr lang="nl-NL" sz="2000" dirty="0" smtClean="0"/>
              <a:t>en </a:t>
            </a:r>
            <a:r>
              <a:rPr lang="nl-NL" sz="2000" i="1" dirty="0" smtClean="0"/>
              <a:t>de wet   van de uitgesloten derde</a:t>
            </a:r>
            <a:r>
              <a:rPr lang="nl-NL" sz="2000" dirty="0" smtClean="0"/>
              <a:t> zijn dus logisch equivalent.</a:t>
            </a:r>
            <a:endParaRPr lang="nl-NL" sz="1800" dirty="0" smtClean="0"/>
          </a:p>
          <a:p>
            <a:endParaRPr lang="nl-NL" sz="800" dirty="0" smtClean="0"/>
          </a:p>
          <a:p>
            <a:endParaRPr lang="nl-NL" sz="2200" dirty="0"/>
          </a:p>
        </p:txBody>
      </p:sp>
      <p:sp>
        <p:nvSpPr>
          <p:cNvPr id="6" name="Content Placeholder 2"/>
          <p:cNvSpPr txBox="1">
            <a:spLocks/>
          </p:cNvSpPr>
          <p:nvPr/>
        </p:nvSpPr>
        <p:spPr>
          <a:xfrm>
            <a:off x="745232" y="2636912"/>
            <a:ext cx="8363272" cy="3672408"/>
          </a:xfrm>
          <a:prstGeom prst="rect">
            <a:avLst/>
          </a:prstGeom>
        </p:spPr>
        <p:txBody>
          <a:bodyPr vert="horz" lIns="91440" tIns="45720" rIns="91440" bIns="45720" rtlCol="0">
            <a:normAutofit fontScale="92500" lnSpcReduction="10000"/>
          </a:bodyPr>
          <a:lstStyle/>
          <a:p>
            <a:pPr marL="457200" lvl="0" indent="-457200">
              <a:spcBef>
                <a:spcPct val="20000"/>
              </a:spcBef>
            </a:pPr>
            <a:r>
              <a:rPr kumimoji="0" lang="nl-NL" sz="2200" b="0" i="0" u="none" strike="noStrike" kern="1200" cap="none" spc="0" normalizeH="0" baseline="0" noProof="0" dirty="0" smtClean="0">
                <a:ln>
                  <a:noFill/>
                </a:ln>
                <a:solidFill>
                  <a:schemeClr val="tx1"/>
                </a:solidFill>
                <a:effectLst/>
                <a:uLnTx/>
                <a:uFillTx/>
                <a:latin typeface="+mn-lt"/>
                <a:ea typeface="+mn-ea"/>
                <a:cs typeface="+mn-cs"/>
              </a:rPr>
              <a:t>1.  </a:t>
            </a:r>
            <a:r>
              <a:rPr lang="nl-NL" sz="2200" b="1" dirty="0" smtClean="0"/>
              <a:t>¬¬</a:t>
            </a:r>
            <a:r>
              <a:rPr lang="el-GR" sz="2200" b="1" i="1" dirty="0" smtClean="0"/>
              <a:t>α</a:t>
            </a:r>
            <a:r>
              <a:rPr lang="nl-NL" sz="2200" b="1" i="1" dirty="0" smtClean="0"/>
              <a:t>		</a:t>
            </a:r>
            <a:r>
              <a:rPr lang="nl-NL" sz="2200" dirty="0" smtClean="0"/>
              <a:t>  </a:t>
            </a:r>
            <a:r>
              <a:rPr lang="nl-NL" sz="2200" b="1" dirty="0" smtClean="0"/>
              <a:t>Prem.</a:t>
            </a:r>
          </a:p>
          <a:p>
            <a:pPr marL="457200" lvl="0" indent="-457200">
              <a:spcBef>
                <a:spcPct val="20000"/>
              </a:spcBef>
            </a:pPr>
            <a:r>
              <a:rPr lang="nl-NL" sz="2200" dirty="0" smtClean="0"/>
              <a:t>2. </a:t>
            </a:r>
            <a:r>
              <a:rPr lang="nl-NL" sz="2200" b="1" dirty="0" smtClean="0"/>
              <a:t>¬</a:t>
            </a:r>
            <a:r>
              <a:rPr lang="el-GR" sz="2200" b="1" i="1" dirty="0" smtClean="0"/>
              <a:t>α</a:t>
            </a:r>
            <a:r>
              <a:rPr lang="nl-NL" sz="2200" b="1" i="1" dirty="0" smtClean="0"/>
              <a:t> </a:t>
            </a:r>
            <a:r>
              <a:rPr lang="nl-NL" sz="2200" b="1" dirty="0" smtClean="0"/>
              <a:t>V </a:t>
            </a:r>
            <a:r>
              <a:rPr lang="el-GR" sz="2200" b="1" i="1" dirty="0" smtClean="0"/>
              <a:t>α</a:t>
            </a:r>
            <a:r>
              <a:rPr lang="nl-NL" sz="2200" b="1" i="1" dirty="0" smtClean="0"/>
              <a:t>	  </a:t>
            </a:r>
            <a:r>
              <a:rPr lang="nl-NL" sz="2200" b="1" dirty="0" smtClean="0"/>
              <a:t>Wet van de uitgesloten derde</a:t>
            </a:r>
            <a:r>
              <a:rPr lang="nl-NL" sz="2200" dirty="0" smtClean="0"/>
              <a:t> </a:t>
            </a:r>
          </a:p>
          <a:p>
            <a:pPr marL="457200" lvl="0" indent="-457200">
              <a:spcBef>
                <a:spcPct val="20000"/>
              </a:spcBef>
            </a:pPr>
            <a:r>
              <a:rPr lang="nl-NL" sz="2200" dirty="0" smtClean="0"/>
              <a:t>3. </a:t>
            </a:r>
            <a:r>
              <a:rPr lang="nl-NL" sz="2200" b="1" dirty="0" smtClean="0"/>
              <a:t>¬</a:t>
            </a:r>
            <a:r>
              <a:rPr lang="el-GR" sz="2200" b="1" i="1" dirty="0" smtClean="0"/>
              <a:t>α</a:t>
            </a:r>
            <a:r>
              <a:rPr lang="nl-NL" sz="2200" b="1" i="1" dirty="0" smtClean="0"/>
              <a:t> 	</a:t>
            </a:r>
            <a:r>
              <a:rPr lang="nl-NL" sz="2200" b="1" dirty="0" smtClean="0">
                <a:solidFill>
                  <a:srgbClr val="0070C0"/>
                </a:solidFill>
              </a:rPr>
              <a:t>	  </a:t>
            </a:r>
            <a:r>
              <a:rPr lang="nl-NL" sz="2200" b="1" dirty="0" err="1" smtClean="0"/>
              <a:t>Ass</a:t>
            </a:r>
            <a:r>
              <a:rPr lang="nl-NL" sz="2200" b="1" dirty="0" smtClean="0"/>
              <a:t>.</a:t>
            </a:r>
            <a:endParaRPr lang="nl-NL" sz="2200" dirty="0" smtClean="0"/>
          </a:p>
          <a:p>
            <a:pPr marL="457200" lvl="0" indent="-457200">
              <a:spcBef>
                <a:spcPct val="20000"/>
              </a:spcBef>
            </a:pPr>
            <a:r>
              <a:rPr lang="nl-NL" sz="2200" dirty="0" smtClean="0"/>
              <a:t>4.  </a:t>
            </a:r>
            <a:r>
              <a:rPr lang="el-GR" sz="2200" b="1" i="1" dirty="0" smtClean="0"/>
              <a:t>α</a:t>
            </a:r>
            <a:r>
              <a:rPr lang="nl-NL" sz="2200" b="1" i="1" dirty="0" smtClean="0"/>
              <a:t>		                  </a:t>
            </a:r>
            <a:r>
              <a:rPr lang="nl-NL" sz="2200" b="1" dirty="0" smtClean="0"/>
              <a:t>G¬(1,3) </a:t>
            </a:r>
            <a:endParaRPr lang="nl-NL" sz="2200" dirty="0" smtClean="0"/>
          </a:p>
          <a:p>
            <a:pPr marL="457200" lvl="0" indent="-457200">
              <a:spcBef>
                <a:spcPct val="20000"/>
              </a:spcBef>
            </a:pPr>
            <a:r>
              <a:rPr lang="nl-NL" sz="2200" dirty="0" smtClean="0"/>
              <a:t>5</a:t>
            </a:r>
            <a:r>
              <a:rPr lang="nl-NL" sz="2200" noProof="0" dirty="0" smtClean="0"/>
              <a:t>. </a:t>
            </a:r>
            <a:r>
              <a:rPr lang="nl-NL" sz="2200" b="1" dirty="0" smtClean="0"/>
              <a:t>¬</a:t>
            </a:r>
            <a:r>
              <a:rPr lang="el-GR" sz="2200" b="1" i="1" dirty="0" smtClean="0"/>
              <a:t>α</a:t>
            </a:r>
            <a:r>
              <a:rPr lang="nl-NL" sz="2200" b="1" i="1" dirty="0" smtClean="0"/>
              <a:t> </a:t>
            </a:r>
            <a:r>
              <a:rPr lang="nl-NL" sz="2000" b="1" dirty="0" smtClean="0"/>
              <a:t>→ </a:t>
            </a:r>
            <a:r>
              <a:rPr lang="el-GR" sz="2200" b="1" i="1" dirty="0" smtClean="0"/>
              <a:t>α</a:t>
            </a:r>
            <a:r>
              <a:rPr lang="nl-NL" sz="2000" b="1" i="1" dirty="0" smtClean="0"/>
              <a:t>	</a:t>
            </a:r>
            <a:r>
              <a:rPr lang="nl-NL" sz="2200" b="1" dirty="0" smtClean="0"/>
              <a:t>  I→(3,4)</a:t>
            </a:r>
            <a:endParaRPr lang="nl-NL" sz="2200" b="1" i="1" dirty="0" smtClean="0"/>
          </a:p>
          <a:p>
            <a:pPr marL="457200" lvl="0" indent="-457200">
              <a:spcBef>
                <a:spcPct val="20000"/>
              </a:spcBef>
            </a:pPr>
            <a:r>
              <a:rPr lang="nl-NL" sz="2200" dirty="0" smtClean="0"/>
              <a:t>6.</a:t>
            </a:r>
            <a:r>
              <a:rPr lang="nl-NL" sz="2000" dirty="0" smtClean="0"/>
              <a:t> </a:t>
            </a:r>
            <a:r>
              <a:rPr lang="el-GR" sz="2200" b="1" i="1" dirty="0" smtClean="0"/>
              <a:t>α</a:t>
            </a:r>
            <a:r>
              <a:rPr lang="el-GR" sz="2000" b="1" i="1" dirty="0" smtClean="0"/>
              <a:t> </a:t>
            </a:r>
            <a:r>
              <a:rPr lang="nl-NL" sz="2200" b="1" i="1" dirty="0" smtClean="0"/>
              <a:t>		   	 </a:t>
            </a:r>
            <a:r>
              <a:rPr lang="nl-NL" sz="2200" b="1" dirty="0" err="1" smtClean="0"/>
              <a:t>Ass</a:t>
            </a:r>
            <a:r>
              <a:rPr lang="nl-NL" sz="2200" b="1" dirty="0" smtClean="0"/>
              <a:t>.</a:t>
            </a:r>
            <a:r>
              <a:rPr lang="nl-NL" sz="2200" b="1" i="1" dirty="0" smtClean="0"/>
              <a:t>	</a:t>
            </a:r>
          </a:p>
          <a:p>
            <a:pPr marL="457200" lvl="0" indent="-457200">
              <a:spcBef>
                <a:spcPct val="20000"/>
              </a:spcBef>
            </a:pPr>
            <a:r>
              <a:rPr lang="nl-NL" sz="2200" dirty="0" smtClean="0"/>
              <a:t>7.</a:t>
            </a:r>
            <a:r>
              <a:rPr lang="nl-NL" sz="2000" dirty="0" smtClean="0"/>
              <a:t> </a:t>
            </a:r>
            <a:r>
              <a:rPr lang="el-GR" sz="2200" b="1" i="1" dirty="0" smtClean="0"/>
              <a:t>α</a:t>
            </a:r>
            <a:r>
              <a:rPr lang="el-GR" sz="2000" b="1" i="1" dirty="0" smtClean="0"/>
              <a:t> </a:t>
            </a:r>
            <a:r>
              <a:rPr lang="nl-NL" sz="2200" b="1" i="1" dirty="0" smtClean="0"/>
              <a:t>		 	 </a:t>
            </a:r>
            <a:r>
              <a:rPr lang="nl-NL" sz="2200" b="1" dirty="0" err="1" smtClean="0"/>
              <a:t>Herh</a:t>
            </a:r>
            <a:r>
              <a:rPr lang="nl-NL" sz="2200" b="1" dirty="0" smtClean="0"/>
              <a:t>.(6)</a:t>
            </a:r>
          </a:p>
          <a:p>
            <a:pPr marL="457200" lvl="0" indent="-457200">
              <a:spcBef>
                <a:spcPct val="20000"/>
              </a:spcBef>
            </a:pPr>
            <a:r>
              <a:rPr lang="nl-NL" sz="2200" dirty="0" smtClean="0"/>
              <a:t>8.</a:t>
            </a:r>
            <a:r>
              <a:rPr kumimoji="0" lang="nl-NL" sz="2200" b="1" i="0" u="none" strike="noStrike" kern="1200" cap="none" spc="0" normalizeH="0" baseline="0" noProof="0" dirty="0" smtClean="0">
                <a:ln>
                  <a:noFill/>
                </a:ln>
                <a:solidFill>
                  <a:schemeClr val="tx1"/>
                </a:solidFill>
                <a:effectLst/>
                <a:uLnTx/>
                <a:uFillTx/>
                <a:latin typeface="+mn-lt"/>
                <a:ea typeface="+mn-ea"/>
                <a:cs typeface="+mn-cs"/>
              </a:rPr>
              <a:t> </a:t>
            </a:r>
            <a:r>
              <a:rPr lang="el-GR" sz="2400" b="1" i="1" dirty="0" smtClean="0"/>
              <a:t>α</a:t>
            </a:r>
            <a:r>
              <a:rPr lang="nl-NL" sz="2400" b="1" i="1" dirty="0" smtClean="0"/>
              <a:t> </a:t>
            </a:r>
            <a:r>
              <a:rPr lang="nl-NL" sz="2400" b="1" dirty="0" smtClean="0"/>
              <a:t>→ </a:t>
            </a:r>
            <a:r>
              <a:rPr lang="el-GR" sz="2400" b="1" i="1" dirty="0" smtClean="0"/>
              <a:t>α</a:t>
            </a:r>
            <a:r>
              <a:rPr lang="nl-NL" sz="2400" b="1" i="1" dirty="0" smtClean="0"/>
              <a:t>	 </a:t>
            </a:r>
            <a:r>
              <a:rPr lang="nl-NL" sz="2200" b="1" dirty="0" smtClean="0"/>
              <a:t>I→(6,7)</a:t>
            </a:r>
          </a:p>
          <a:p>
            <a:pPr marL="457200" lvl="0" indent="-457200">
              <a:spcBef>
                <a:spcPct val="20000"/>
              </a:spcBef>
            </a:pPr>
            <a:r>
              <a:rPr lang="nl-NL" sz="2200" dirty="0" smtClean="0"/>
              <a:t>9.</a:t>
            </a:r>
            <a:r>
              <a:rPr lang="nl-NL" sz="2400" dirty="0" smtClean="0"/>
              <a:t> </a:t>
            </a:r>
            <a:r>
              <a:rPr lang="el-GR" sz="2400" b="1" i="1" dirty="0" smtClean="0"/>
              <a:t>α </a:t>
            </a:r>
            <a:r>
              <a:rPr lang="nl-NL" sz="2400" b="1" i="1" dirty="0" smtClean="0"/>
              <a:t>	  	</a:t>
            </a:r>
            <a:r>
              <a:rPr lang="nl-NL" sz="2200" b="1" dirty="0" smtClean="0"/>
              <a:t>GV(2,5,8)</a:t>
            </a:r>
            <a:endParaRPr lang="nl-NL" sz="2200" dirty="0" smtClean="0"/>
          </a:p>
          <a:p>
            <a:pPr marL="457200" lvl="0" indent="-457200">
              <a:spcBef>
                <a:spcPct val="20000"/>
              </a:spcBef>
            </a:pPr>
            <a:r>
              <a:rPr lang="nl-NL" sz="2400" b="1" dirty="0" smtClean="0"/>
              <a:t> </a:t>
            </a:r>
            <a:endParaRPr kumimoji="0" lang="nl-NL" sz="2200" b="1" i="0" u="none" strike="noStrike" kern="1200" cap="none" spc="0" normalizeH="0" baseline="0" noProof="0" dirty="0">
              <a:ln>
                <a:noFill/>
              </a:ln>
              <a:solidFill>
                <a:schemeClr val="tx1"/>
              </a:solidFill>
              <a:effectLst/>
              <a:uLnTx/>
              <a:uFillTx/>
              <a:latin typeface="+mn-lt"/>
              <a:ea typeface="+mn-ea"/>
              <a:cs typeface="+mn-cs"/>
            </a:endParaRPr>
          </a:p>
        </p:txBody>
      </p:sp>
      <p:cxnSp>
        <p:nvCxnSpPr>
          <p:cNvPr id="10" name="Straight Connector 9"/>
          <p:cNvCxnSpPr/>
          <p:nvPr/>
        </p:nvCxnSpPr>
        <p:spPr>
          <a:xfrm flipH="1">
            <a:off x="673224" y="3356992"/>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83568" y="3356992"/>
            <a:ext cx="0"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673224" y="3933056"/>
            <a:ext cx="1800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673224" y="4365104"/>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673224" y="4365104"/>
            <a:ext cx="10344" cy="5760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673224" y="4941168"/>
            <a:ext cx="1800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p:cNvSpPr txBox="1">
            <a:spLocks/>
          </p:cNvSpPr>
          <p:nvPr/>
        </p:nvSpPr>
        <p:spPr>
          <a:xfrm>
            <a:off x="457200" y="5949280"/>
            <a:ext cx="8363272" cy="1152128"/>
          </a:xfrm>
          <a:prstGeom prst="rect">
            <a:avLst/>
          </a:prstGeom>
        </p:spPr>
        <p:txBody>
          <a:bodyPr vert="horz" lIns="91440" tIns="45720" rIns="91440" bIns="45720" rtlCol="0">
            <a:normAutofit/>
          </a:bodyPr>
          <a:lstStyle/>
          <a:p>
            <a:pPr marL="342900" lvl="0" indent="-342900">
              <a:spcBef>
                <a:spcPct val="20000"/>
              </a:spcBef>
              <a:buFont typeface="Arial" pitchFamily="34" charset="0"/>
              <a:buChar cha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de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intuïtionistische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logica is </a:t>
            </a:r>
            <a:r>
              <a:rPr kumimoji="0" lang="nl-NL" sz="2000" b="1" i="0" u="none" strike="noStrike" kern="1200" cap="none" spc="0" normalizeH="0" baseline="0" noProof="0" dirty="0" err="1" smtClean="0">
                <a:ln>
                  <a:noFill/>
                </a:ln>
                <a:solidFill>
                  <a:schemeClr val="tx1"/>
                </a:solidFill>
                <a:effectLst/>
                <a:uLnTx/>
                <a:uFillTx/>
                <a:latin typeface="+mn-lt"/>
                <a:ea typeface="+mn-ea"/>
                <a:cs typeface="+mn-cs"/>
              </a:rPr>
              <a:t>Elim</a:t>
            </a:r>
            <a:r>
              <a:rPr lang="nl-NL" sz="2000" b="1" dirty="0" smtClean="0"/>
              <a:t>¬¬ </a:t>
            </a:r>
            <a:r>
              <a:rPr lang="nl-NL" sz="2000" dirty="0" smtClean="0"/>
              <a:t>en dus ook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de wet van de uitgesloten derde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V </a:t>
            </a:r>
            <a:r>
              <a:rPr kumimoji="0" lang="nl-NL" sz="2000" b="1" i="0" u="none" strike="noStrike" kern="1200" cap="none" spc="0" normalizeH="0" baseline="0" noProof="0" dirty="0" smtClean="0">
                <a:ln>
                  <a:noFill/>
                </a:ln>
                <a:effectLst/>
                <a:uLnTx/>
                <a:uFillTx/>
                <a:latin typeface="+mn-lt"/>
                <a:ea typeface="+mn-ea"/>
                <a:cs typeface="+mn-cs"/>
              </a:rPr>
              <a:t>¬</a:t>
            </a:r>
            <a:r>
              <a:rPr kumimoji="0" lang="el-GR" sz="20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niet geldig.</a:t>
            </a:r>
          </a:p>
          <a:p>
            <a:pPr marL="342900" lvl="0" indent="-342900">
              <a:spcBef>
                <a:spcPct val="20000"/>
              </a:spcBef>
            </a:pPr>
            <a:endParaRPr kumimoji="0" lang="nl-NL"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20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200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0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0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20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
                                            <p:txEl>
                                              <p:pRg st="0" end="0"/>
                                            </p:txEl>
                                          </p:spTgt>
                                        </p:tgtEl>
                                        <p:attrNameLst>
                                          <p:attrName>style.visibility</p:attrName>
                                        </p:attrNameLst>
                                      </p:cBhvr>
                                      <p:to>
                                        <p:strVal val="visible"/>
                                      </p:to>
                                    </p:set>
                                    <p:animEffect transition="in" filter="fade">
                                      <p:cBhvr>
                                        <p:cTn id="30" dur="20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4" grpId="0" build="allAtOnce"/>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Nogmaals: </a:t>
            </a:r>
            <a:r>
              <a:rPr lang="nl-NL" sz="3600" dirty="0" err="1" smtClean="0"/>
              <a:t>intuïtionistische</a:t>
            </a:r>
            <a:r>
              <a:rPr lang="nl-NL" sz="3600" dirty="0" smtClean="0"/>
              <a:t> logica</a:t>
            </a:r>
            <a:endParaRPr lang="nl-NL" sz="3600" i="1" dirty="0"/>
          </a:p>
        </p:txBody>
      </p:sp>
      <p:sp>
        <p:nvSpPr>
          <p:cNvPr id="3" name="Content Placeholder 2"/>
          <p:cNvSpPr>
            <a:spLocks noGrp="1"/>
          </p:cNvSpPr>
          <p:nvPr>
            <p:ph idx="1"/>
          </p:nvPr>
        </p:nvSpPr>
        <p:spPr>
          <a:xfrm>
            <a:off x="457200" y="1556792"/>
            <a:ext cx="8363272" cy="1152128"/>
          </a:xfrm>
        </p:spPr>
        <p:txBody>
          <a:bodyPr>
            <a:normAutofit/>
          </a:bodyPr>
          <a:lstStyle/>
          <a:p>
            <a:r>
              <a:rPr lang="nl-NL" sz="2000" dirty="0" smtClean="0"/>
              <a:t>Zoals we zagen interpreteert het twintigste </a:t>
            </a:r>
            <a:r>
              <a:rPr lang="nl-NL" sz="2000" dirty="0" err="1" smtClean="0"/>
              <a:t>eeuwse</a:t>
            </a:r>
            <a:r>
              <a:rPr lang="nl-NL" sz="2000" dirty="0" smtClean="0"/>
              <a:t> </a:t>
            </a:r>
            <a:r>
              <a:rPr lang="nl-NL" sz="2000" dirty="0" err="1" smtClean="0"/>
              <a:t>intuïtionisme</a:t>
            </a:r>
            <a:r>
              <a:rPr lang="nl-NL" sz="2000" dirty="0" smtClean="0"/>
              <a:t> </a:t>
            </a:r>
            <a:r>
              <a:rPr lang="nl-NL" sz="2000" b="1" dirty="0" smtClean="0"/>
              <a:t>P</a:t>
            </a:r>
            <a:r>
              <a:rPr lang="nl-NL" sz="2000" dirty="0" smtClean="0"/>
              <a:t> als “P is bewezen” en </a:t>
            </a:r>
            <a:r>
              <a:rPr lang="nl-NL" sz="2000" b="1" dirty="0" smtClean="0"/>
              <a:t>¬P </a:t>
            </a:r>
            <a:r>
              <a:rPr lang="nl-NL" sz="2000" dirty="0" smtClean="0"/>
              <a:t>als “Het is bewezen dat P niet bewijsbaar is”. </a:t>
            </a:r>
          </a:p>
          <a:p>
            <a:pPr>
              <a:buNone/>
            </a:pPr>
            <a:endParaRPr lang="nl-NL" sz="2000" dirty="0" smtClean="0"/>
          </a:p>
          <a:p>
            <a:endParaRPr lang="nl-NL" sz="2000" dirty="0" smtClean="0"/>
          </a:p>
          <a:p>
            <a:endParaRPr lang="nl-NL" sz="2200" dirty="0"/>
          </a:p>
        </p:txBody>
      </p:sp>
      <p:sp>
        <p:nvSpPr>
          <p:cNvPr id="9" name="Content Placeholder 2"/>
          <p:cNvSpPr txBox="1">
            <a:spLocks/>
          </p:cNvSpPr>
          <p:nvPr/>
        </p:nvSpPr>
        <p:spPr>
          <a:xfrm>
            <a:off x="457200" y="2420888"/>
            <a:ext cx="8686800" cy="1152128"/>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Maar dan is </a:t>
            </a:r>
            <a:r>
              <a:rPr lang="nl-NL" sz="2000" i="1" dirty="0" smtClean="0"/>
              <a:t>de wet van de uitgesloten derde </a:t>
            </a:r>
            <a:r>
              <a:rPr lang="nl-NL" sz="2000" dirty="0" smtClean="0"/>
              <a:t>inderdaad niet geldig in de </a:t>
            </a:r>
            <a:r>
              <a:rPr lang="nl-NL" sz="2000" dirty="0" err="1" smtClean="0"/>
              <a:t>intuïtionistische</a:t>
            </a:r>
            <a:r>
              <a:rPr lang="nl-NL" sz="2000" dirty="0" smtClean="0"/>
              <a:t> logica. </a:t>
            </a:r>
            <a:r>
              <a:rPr kumimoji="0" lang="nl-NL" sz="2000" b="1" i="0" u="none" strike="noStrike" kern="1200" cap="none" spc="0" normalizeH="0" baseline="0" noProof="0" dirty="0" smtClean="0">
                <a:ln>
                  <a:noFill/>
                </a:ln>
                <a:solidFill>
                  <a:schemeClr val="tx1"/>
                </a:solidFill>
                <a:effectLst/>
                <a:uLnTx/>
                <a:uFillTx/>
                <a:latin typeface="+mn-lt"/>
                <a:ea typeface="+mn-ea"/>
                <a:cs typeface="+mn-cs"/>
              </a:rPr>
              <a:t>P V </a:t>
            </a:r>
            <a:r>
              <a:rPr lang="nl-NL" sz="2000" b="1" dirty="0" smtClean="0"/>
              <a:t>¬P </a:t>
            </a:r>
            <a:r>
              <a:rPr kumimoji="0" lang="nl-NL" sz="2000" b="1" i="0" u="none" strike="noStrike" kern="1200" cap="none" spc="0" normalizeH="0" noProof="0" dirty="0" smtClean="0">
                <a:ln>
                  <a:noFill/>
                </a:ln>
                <a:solidFill>
                  <a:schemeClr val="tx1"/>
                </a:solidFill>
                <a:effectLst/>
                <a:uLnTx/>
                <a:uFillTx/>
                <a:latin typeface="+mn-lt"/>
                <a:ea typeface="+mn-ea"/>
                <a:cs typeface="+mn-cs"/>
              </a:rPr>
              <a:t> </a:t>
            </a:r>
            <a:r>
              <a:rPr lang="nl-NL" sz="2000" dirty="0" smtClean="0"/>
              <a:t>wil immers zeggen dat er een bewijs is voor </a:t>
            </a:r>
            <a:r>
              <a:rPr lang="nl-NL" sz="2000" b="1" dirty="0" smtClean="0"/>
              <a:t>P</a:t>
            </a:r>
            <a:r>
              <a:rPr lang="nl-NL" sz="2000" dirty="0" smtClean="0"/>
              <a:t>   of dat het is bewezen dat P niet bewijsbaar is. Er zijn echter formules </a:t>
            </a:r>
            <a:r>
              <a:rPr lang="nl-NL" sz="2000" b="1" dirty="0" smtClean="0"/>
              <a:t>P</a:t>
            </a:r>
            <a:r>
              <a:rPr lang="nl-NL" sz="2000" dirty="0" smtClean="0"/>
              <a:t> waarvoor geen van beiden het geval is. Neem </a:t>
            </a:r>
            <a:r>
              <a:rPr lang="nl-NL" sz="2000" b="1" dirty="0" smtClean="0"/>
              <a:t>P</a:t>
            </a:r>
            <a:r>
              <a:rPr lang="nl-NL" sz="2000" dirty="0" smtClean="0"/>
              <a:t>: “Het aantal atomen is even”. </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95536" y="3861048"/>
            <a:ext cx="8686800" cy="1656184"/>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klassieke logica wordt in tegenstelling</a:t>
            </a:r>
            <a:r>
              <a:rPr kumimoji="0" lang="nl-NL" sz="2000" b="0" i="0" u="none" strike="noStrike" kern="1200" cap="none" spc="0" normalizeH="0" noProof="0" dirty="0" smtClean="0">
                <a:ln>
                  <a:noFill/>
                </a:ln>
                <a:solidFill>
                  <a:schemeClr val="tx1"/>
                </a:solidFill>
                <a:effectLst/>
                <a:uLnTx/>
                <a:uFillTx/>
                <a:latin typeface="+mn-lt"/>
                <a:ea typeface="+mn-ea"/>
                <a:cs typeface="+mn-cs"/>
              </a:rPr>
              <a:t> tot de </a:t>
            </a:r>
            <a:r>
              <a:rPr kumimoji="0" lang="nl-NL" sz="2000" b="0" i="0" u="none" strike="noStrike" kern="1200" cap="none" spc="0" normalizeH="0" noProof="0" dirty="0" err="1" smtClean="0">
                <a:ln>
                  <a:noFill/>
                </a:ln>
                <a:solidFill>
                  <a:schemeClr val="tx1"/>
                </a:solidFill>
                <a:effectLst/>
                <a:uLnTx/>
                <a:uFillTx/>
                <a:latin typeface="+mn-lt"/>
                <a:ea typeface="+mn-ea"/>
                <a:cs typeface="+mn-cs"/>
              </a:rPr>
              <a:t>intuïtionistische</a:t>
            </a:r>
            <a:r>
              <a:rPr kumimoji="0" lang="nl-NL" sz="2000" b="0" i="0" u="none" strike="noStrike" kern="1200" cap="none" spc="0" normalizeH="0" noProof="0" dirty="0" smtClean="0">
                <a:ln>
                  <a:noFill/>
                </a:ln>
                <a:solidFill>
                  <a:schemeClr val="tx1"/>
                </a:solidFill>
                <a:effectLst/>
                <a:uLnTx/>
                <a:uFillTx/>
                <a:latin typeface="+mn-lt"/>
                <a:ea typeface="+mn-ea"/>
                <a:cs typeface="+mn-cs"/>
              </a:rPr>
              <a:t> logica vaak verbonden met het </a:t>
            </a:r>
            <a:r>
              <a:rPr kumimoji="0" lang="nl-NL" sz="2000" b="0" i="1" u="none" strike="noStrike" kern="1200" cap="none" spc="0" normalizeH="0" noProof="0" dirty="0" smtClean="0">
                <a:ln>
                  <a:noFill/>
                </a:ln>
                <a:solidFill>
                  <a:schemeClr val="tx1"/>
                </a:solidFill>
                <a:effectLst/>
                <a:uLnTx/>
                <a:uFillTx/>
                <a:latin typeface="+mn-lt"/>
                <a:ea typeface="+mn-ea"/>
                <a:cs typeface="+mn-cs"/>
              </a:rPr>
              <a:t>realisme</a:t>
            </a:r>
            <a:r>
              <a:rPr kumimoji="0" lang="nl-NL" sz="2000" b="0" i="0" u="none" strike="noStrike" kern="1200" cap="none" spc="0" normalizeH="0" noProof="0" dirty="0" smtClean="0">
                <a:ln>
                  <a:noFill/>
                </a:ln>
                <a:solidFill>
                  <a:schemeClr val="tx1"/>
                </a:solidFill>
                <a:effectLst/>
                <a:uLnTx/>
                <a:uFillTx/>
                <a:latin typeface="+mn-lt"/>
                <a:ea typeface="+mn-ea"/>
                <a:cs typeface="+mn-cs"/>
              </a:rPr>
              <a:t> (de gedachte dat er een werkelijkheid bestaat   die onafhankelijk is van ons denken, en dat een propositie waar is indien deze correspondeert met de werkelijkheid). Realisme lijkt inderdaad </a:t>
            </a:r>
            <a:r>
              <a:rPr kumimoji="0" lang="nl-NL" sz="2000" b="0" i="1" u="none" strike="noStrike" kern="1200" cap="none" spc="0" normalizeH="0" noProof="0" dirty="0" err="1" smtClean="0">
                <a:ln>
                  <a:noFill/>
                </a:ln>
                <a:solidFill>
                  <a:schemeClr val="tx1"/>
                </a:solidFill>
                <a:effectLst/>
                <a:uLnTx/>
                <a:uFillTx/>
                <a:latin typeface="+mn-lt"/>
                <a:ea typeface="+mn-ea"/>
                <a:cs typeface="+mn-cs"/>
              </a:rPr>
              <a:t>bivalentie</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0" i="1" u="none" strike="noStrike" kern="1200" cap="none" spc="0" normalizeH="0" noProof="0" dirty="0" smtClean="0">
                <a:ln>
                  <a:noFill/>
                </a:ln>
                <a:solidFill>
                  <a:schemeClr val="tx1"/>
                </a:solidFill>
                <a:effectLst/>
                <a:uLnTx/>
                <a:uFillTx/>
                <a:latin typeface="+mn-lt"/>
                <a:ea typeface="+mn-ea"/>
                <a:cs typeface="+mn-cs"/>
              </a:rPr>
              <a:t>de wet van de uitgesloten derde</a:t>
            </a:r>
            <a:r>
              <a:rPr kumimoji="0" lang="nl-NL" sz="2000" b="0" i="0" u="none" strike="noStrike" kern="1200" cap="none" spc="0" normalizeH="0" noProof="0" dirty="0" smtClean="0">
                <a:ln>
                  <a:noFill/>
                </a:ln>
                <a:solidFill>
                  <a:schemeClr val="tx1"/>
                </a:solidFill>
                <a:effectLst/>
                <a:uLnTx/>
                <a:uFillTx/>
                <a:latin typeface="+mn-lt"/>
                <a:ea typeface="+mn-ea"/>
                <a:cs typeface="+mn-cs"/>
              </a:rPr>
              <a:t> te impliceren. Waarom?</a:t>
            </a:r>
          </a:p>
          <a:p>
            <a:pPr marL="342900" lvl="0" indent="-342900">
              <a:spcBef>
                <a:spcPct val="20000"/>
              </a:spcBef>
              <a:buFont typeface="Arial" pitchFamily="34" charset="0"/>
              <a:buChar char="•"/>
            </a:pPr>
            <a:endParaRPr lang="nl-NL" sz="800" baseline="0" dirty="0" smtClean="0"/>
          </a:p>
        </p:txBody>
      </p:sp>
      <p:sp>
        <p:nvSpPr>
          <p:cNvPr id="6" name="Content Placeholder 2"/>
          <p:cNvSpPr txBox="1">
            <a:spLocks/>
          </p:cNvSpPr>
          <p:nvPr/>
        </p:nvSpPr>
        <p:spPr>
          <a:xfrm>
            <a:off x="395536" y="5400600"/>
            <a:ext cx="8686800" cy="2996952"/>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endParaRPr lang="nl-NL" sz="800" baseline="0" dirty="0" smtClean="0"/>
          </a:p>
          <a:p>
            <a:pPr marL="342900" lvl="0" indent="-342900">
              <a:spcBef>
                <a:spcPct val="20000"/>
              </a:spcBef>
              <a:buFont typeface="Arial" pitchFamily="34" charset="0"/>
              <a:buChar char="•"/>
            </a:pPr>
            <a:r>
              <a:rPr lang="nl-NL" sz="2000" noProof="0" dirty="0" smtClean="0"/>
              <a:t>De </a:t>
            </a:r>
            <a:r>
              <a:rPr lang="nl-NL" sz="2000" noProof="0" dirty="0" err="1" smtClean="0"/>
              <a:t>intuïtionistische</a:t>
            </a:r>
            <a:r>
              <a:rPr lang="nl-NL" sz="2000" noProof="0" dirty="0" smtClean="0"/>
              <a:t> logica wordt daarentegen eerder verbonden met </a:t>
            </a:r>
            <a:r>
              <a:rPr lang="nl-NL" sz="2000" i="1" noProof="0" dirty="0" smtClean="0"/>
              <a:t>idealisme</a:t>
            </a:r>
            <a:r>
              <a:rPr lang="nl-NL" sz="2000" noProof="0" dirty="0" smtClean="0"/>
              <a:t> (de </a:t>
            </a:r>
            <a:r>
              <a:rPr lang="nl-NL" sz="2000" noProof="0" dirty="0" err="1" smtClean="0"/>
              <a:t>Kantiaanse</a:t>
            </a:r>
            <a:r>
              <a:rPr lang="nl-NL" sz="2000" noProof="0" dirty="0" smtClean="0"/>
              <a:t> gedachte dat de wereld waarop onze proposities betrekking hebben een mentale constructie is). Waarom?</a:t>
            </a: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20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20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3" grpId="0" build="allAtOnce"/>
      <p:bldP spid="6" grpId="0" build="allAtOnce"/>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Meerwaardige logica’s</a:t>
            </a:r>
            <a:endParaRPr lang="nl-NL" sz="3600" i="1" dirty="0"/>
          </a:p>
        </p:txBody>
      </p:sp>
      <p:sp>
        <p:nvSpPr>
          <p:cNvPr id="3" name="Content Placeholder 2"/>
          <p:cNvSpPr>
            <a:spLocks noGrp="1"/>
          </p:cNvSpPr>
          <p:nvPr>
            <p:ph idx="1"/>
          </p:nvPr>
        </p:nvSpPr>
        <p:spPr>
          <a:xfrm>
            <a:off x="457200" y="1268760"/>
            <a:ext cx="8507288" cy="1152128"/>
          </a:xfrm>
        </p:spPr>
        <p:txBody>
          <a:bodyPr>
            <a:noAutofit/>
          </a:bodyPr>
          <a:lstStyle/>
          <a:p>
            <a:r>
              <a:rPr lang="nl-NL" sz="2000" dirty="0" smtClean="0"/>
              <a:t>Neem de propositie “Nederland zal in 2014 de kwartfinale van het WK bereiken”. Deze is op dit moment niet waar en niet onwaar. De </a:t>
            </a:r>
            <a:r>
              <a:rPr lang="nl-NL" sz="2000" dirty="0" err="1" smtClean="0"/>
              <a:t>waarheids-waarde</a:t>
            </a:r>
            <a:r>
              <a:rPr lang="nl-NL" sz="2000" dirty="0" smtClean="0"/>
              <a:t> van deze propositie moet dus een derde waarde hebben, verschillend van ‘waar’ (1) en ‘onwaar’ (0). We kunnen deze waarde aanduiden als ‘mogelijk’ (½).  We krijgen dan een </a:t>
            </a:r>
            <a:r>
              <a:rPr lang="nl-NL" sz="2000" u="sng" dirty="0" smtClean="0"/>
              <a:t>driewaardige logica</a:t>
            </a:r>
            <a:r>
              <a:rPr lang="nl-NL" sz="2000" dirty="0" smtClean="0"/>
              <a:t>.  </a:t>
            </a:r>
          </a:p>
          <a:p>
            <a:pPr>
              <a:buNone/>
            </a:pPr>
            <a:endParaRPr lang="nl-NL" sz="2000" dirty="0" smtClean="0"/>
          </a:p>
          <a:p>
            <a:endParaRPr lang="nl-NL" sz="2000" dirty="0" smtClean="0"/>
          </a:p>
          <a:p>
            <a:endParaRPr lang="nl-NL" sz="2400" dirty="0"/>
          </a:p>
        </p:txBody>
      </p:sp>
      <p:graphicFrame>
        <p:nvGraphicFramePr>
          <p:cNvPr id="6" name="Table 5"/>
          <p:cNvGraphicFramePr>
            <a:graphicFrameLocks noGrp="1"/>
          </p:cNvGraphicFramePr>
          <p:nvPr/>
        </p:nvGraphicFramePr>
        <p:xfrm>
          <a:off x="1356320" y="3032968"/>
          <a:ext cx="6096000" cy="3708400"/>
        </p:xfrm>
        <a:graphic>
          <a:graphicData uri="http://schemas.openxmlformats.org/drawingml/2006/table">
            <a:tbl>
              <a:tblPr firstRow="1" bandRow="1">
                <a:tableStyleId>{5C22544A-7EE6-4342-B048-85BDC9FD1C3A}</a:tableStyleId>
              </a:tblPr>
              <a:tblGrid>
                <a:gridCol w="1524000"/>
                <a:gridCol w="1524000"/>
                <a:gridCol w="1524000"/>
                <a:gridCol w="1524000"/>
              </a:tblGrid>
              <a:tr h="370840">
                <a:tc>
                  <a:txBody>
                    <a:bodyPr/>
                    <a:lstStyle/>
                    <a:p>
                      <a:r>
                        <a:rPr lang="nl-NL" sz="1800" dirty="0" smtClean="0"/>
                        <a:t>P</a:t>
                      </a:r>
                      <a:endParaRPr lang="nl-NL" sz="1800" dirty="0"/>
                    </a:p>
                  </a:txBody>
                  <a:tcPr/>
                </a:tc>
                <a:tc>
                  <a:txBody>
                    <a:bodyPr/>
                    <a:lstStyle/>
                    <a:p>
                      <a:r>
                        <a:rPr lang="nl-NL" sz="1800" dirty="0" smtClean="0"/>
                        <a:t>Q</a:t>
                      </a:r>
                      <a:endParaRPr lang="nl-NL" sz="1800" dirty="0"/>
                    </a:p>
                  </a:txBody>
                  <a:tcPr/>
                </a:tc>
                <a:tc>
                  <a:txBody>
                    <a:bodyPr/>
                    <a:lstStyle/>
                    <a:p>
                      <a:r>
                        <a:rPr lang="nl-NL" sz="1800" dirty="0" smtClean="0"/>
                        <a:t>P V Q</a:t>
                      </a:r>
                      <a:endParaRPr lang="nl-NL" sz="1800" dirty="0"/>
                    </a:p>
                  </a:txBody>
                  <a:tcPr/>
                </a:tc>
                <a:tc>
                  <a:txBody>
                    <a:bodyPr/>
                    <a:lstStyle/>
                    <a:p>
                      <a:r>
                        <a:rPr lang="nl-NL" sz="1800" dirty="0" smtClean="0"/>
                        <a:t>P </a:t>
                      </a:r>
                      <a:r>
                        <a:rPr lang="nl-NL" sz="1800" b="1" dirty="0" smtClean="0">
                          <a:solidFill>
                            <a:schemeClr val="bg1"/>
                          </a:solidFill>
                        </a:rPr>
                        <a:t>∧ Q</a:t>
                      </a:r>
                      <a:endParaRPr lang="nl-NL" sz="1800" dirty="0">
                        <a:solidFill>
                          <a:schemeClr val="bg1"/>
                        </a:solidFill>
                      </a:endParaRPr>
                    </a:p>
                  </a:txBody>
                  <a:tcPr/>
                </a:tc>
              </a:tr>
              <a:tr h="370840">
                <a:tc>
                  <a:txBody>
                    <a:bodyPr/>
                    <a:lstStyle/>
                    <a:p>
                      <a:r>
                        <a:rPr lang="nl-NL" sz="1800" dirty="0" smtClean="0"/>
                        <a:t>1</a:t>
                      </a:r>
                      <a:endParaRPr lang="nl-NL" sz="1800" dirty="0"/>
                    </a:p>
                  </a:txBody>
                  <a:tcPr/>
                </a:tc>
                <a:tc>
                  <a:txBody>
                    <a:bodyPr/>
                    <a:lstStyle/>
                    <a:p>
                      <a:r>
                        <a:rPr lang="nl-NL" sz="1800" dirty="0" smtClean="0"/>
                        <a:t>1</a:t>
                      </a:r>
                      <a:endParaRPr lang="nl-NL" sz="1800" dirty="0"/>
                    </a:p>
                  </a:txBody>
                  <a:tcPr/>
                </a:tc>
                <a:tc>
                  <a:txBody>
                    <a:bodyPr/>
                    <a:lstStyle/>
                    <a:p>
                      <a:r>
                        <a:rPr lang="nl-NL" sz="1800" dirty="0" smtClean="0"/>
                        <a:t>1</a:t>
                      </a:r>
                      <a:endParaRPr lang="nl-NL" sz="1800" dirty="0"/>
                    </a:p>
                  </a:txBody>
                  <a:tcPr/>
                </a:tc>
                <a:tc>
                  <a:txBody>
                    <a:bodyPr/>
                    <a:lstStyle/>
                    <a:p>
                      <a:r>
                        <a:rPr lang="nl-NL" sz="1800" dirty="0" smtClean="0"/>
                        <a:t>1</a:t>
                      </a:r>
                      <a:endParaRPr lang="nl-NL" sz="1800" dirty="0"/>
                    </a:p>
                  </a:txBody>
                  <a:tcPr/>
                </a:tc>
              </a:tr>
              <a:tr h="370840">
                <a:tc>
                  <a:txBody>
                    <a:bodyPr/>
                    <a:lstStyle/>
                    <a:p>
                      <a:r>
                        <a:rPr lang="nl-NL" sz="1800" dirty="0" smtClean="0"/>
                        <a:t>1</a:t>
                      </a:r>
                      <a:endParaRPr lang="nl-NL" sz="1800" dirty="0"/>
                    </a:p>
                  </a:txBody>
                  <a:tcPr/>
                </a:tc>
                <a:tc>
                  <a:txBody>
                    <a:bodyPr/>
                    <a:lstStyle/>
                    <a:p>
                      <a:r>
                        <a:rPr lang="nl-NL" sz="1800" dirty="0" smtClean="0"/>
                        <a:t>½</a:t>
                      </a:r>
                      <a:endParaRPr lang="nl-NL" sz="1800" dirty="0"/>
                    </a:p>
                  </a:txBody>
                  <a:tcPr/>
                </a:tc>
                <a:tc>
                  <a:txBody>
                    <a:bodyPr/>
                    <a:lstStyle/>
                    <a:p>
                      <a:r>
                        <a:rPr lang="nl-NL" sz="1800" dirty="0" smtClean="0"/>
                        <a:t>1</a:t>
                      </a:r>
                      <a:endParaRPr lang="nl-NL" sz="1800" dirty="0"/>
                    </a:p>
                  </a:txBody>
                  <a:tcPr/>
                </a:tc>
                <a:tc>
                  <a:txBody>
                    <a:bodyPr/>
                    <a:lstStyle/>
                    <a:p>
                      <a:r>
                        <a:rPr lang="nl-NL" sz="1800" dirty="0" smtClean="0"/>
                        <a:t>½</a:t>
                      </a:r>
                      <a:endParaRPr lang="nl-NL" sz="1800" dirty="0"/>
                    </a:p>
                  </a:txBody>
                  <a:tcPr/>
                </a:tc>
              </a:tr>
              <a:tr h="370840">
                <a:tc>
                  <a:txBody>
                    <a:bodyPr/>
                    <a:lstStyle/>
                    <a:p>
                      <a:r>
                        <a:rPr lang="nl-NL" sz="1800" dirty="0" smtClean="0"/>
                        <a:t>1</a:t>
                      </a:r>
                      <a:endParaRPr lang="nl-NL" sz="1800" dirty="0"/>
                    </a:p>
                  </a:txBody>
                  <a:tcPr/>
                </a:tc>
                <a:tc>
                  <a:txBody>
                    <a:bodyPr/>
                    <a:lstStyle/>
                    <a:p>
                      <a:r>
                        <a:rPr lang="nl-NL" sz="1800" dirty="0" smtClean="0"/>
                        <a:t>0</a:t>
                      </a:r>
                      <a:endParaRPr lang="nl-NL" sz="1800" dirty="0"/>
                    </a:p>
                  </a:txBody>
                  <a:tcPr/>
                </a:tc>
                <a:tc>
                  <a:txBody>
                    <a:bodyPr/>
                    <a:lstStyle/>
                    <a:p>
                      <a:r>
                        <a:rPr lang="nl-NL" sz="1800" dirty="0" smtClean="0"/>
                        <a:t>1</a:t>
                      </a:r>
                      <a:endParaRPr lang="nl-NL" sz="1800" dirty="0"/>
                    </a:p>
                  </a:txBody>
                  <a:tcPr/>
                </a:tc>
                <a:tc>
                  <a:txBody>
                    <a:bodyPr/>
                    <a:lstStyle/>
                    <a:p>
                      <a:r>
                        <a:rPr lang="nl-NL" sz="1800" dirty="0" smtClean="0"/>
                        <a:t>0</a:t>
                      </a:r>
                      <a:endParaRPr lang="nl-NL" sz="1800" dirty="0"/>
                    </a:p>
                  </a:txBody>
                  <a:tcPr/>
                </a:tc>
              </a:tr>
              <a:tr h="370840">
                <a:tc>
                  <a:txBody>
                    <a:bodyPr/>
                    <a:lstStyle/>
                    <a:p>
                      <a:r>
                        <a:rPr lang="nl-NL" sz="1800" dirty="0" smtClean="0"/>
                        <a:t>½</a:t>
                      </a:r>
                      <a:endParaRPr lang="nl-NL" sz="1800" dirty="0"/>
                    </a:p>
                  </a:txBody>
                  <a:tcPr/>
                </a:tc>
                <a:tc>
                  <a:txBody>
                    <a:bodyPr/>
                    <a:lstStyle/>
                    <a:p>
                      <a:r>
                        <a:rPr lang="nl-NL" sz="1800" dirty="0" smtClean="0"/>
                        <a:t>1</a:t>
                      </a:r>
                      <a:endParaRPr lang="nl-NL" sz="1800" dirty="0"/>
                    </a:p>
                  </a:txBody>
                  <a:tcPr/>
                </a:tc>
                <a:tc>
                  <a:txBody>
                    <a:bodyPr/>
                    <a:lstStyle/>
                    <a:p>
                      <a:r>
                        <a:rPr lang="nl-NL" sz="1800" dirty="0" smtClean="0"/>
                        <a:t>1</a:t>
                      </a:r>
                      <a:endParaRPr lang="nl-NL" sz="1800" dirty="0"/>
                    </a:p>
                  </a:txBody>
                  <a:tcPr/>
                </a:tc>
                <a:tc>
                  <a:txBody>
                    <a:bodyPr/>
                    <a:lstStyle/>
                    <a:p>
                      <a:r>
                        <a:rPr lang="nl-NL" sz="1800" dirty="0" smtClean="0"/>
                        <a:t>½</a:t>
                      </a:r>
                      <a:endParaRPr lang="nl-NL" sz="1800" dirty="0"/>
                    </a:p>
                  </a:txBody>
                  <a:tcPr/>
                </a:tc>
              </a:tr>
              <a:tr h="370840">
                <a:tc>
                  <a:txBody>
                    <a:bodyPr/>
                    <a:lstStyle/>
                    <a:p>
                      <a:r>
                        <a:rPr lang="nl-NL" sz="1800" dirty="0" smtClean="0"/>
                        <a:t>½</a:t>
                      </a:r>
                      <a:endParaRPr lang="nl-NL" sz="1800" dirty="0"/>
                    </a:p>
                  </a:txBody>
                  <a:tcPr/>
                </a:tc>
                <a:tc>
                  <a:txBody>
                    <a:bodyPr/>
                    <a:lstStyle/>
                    <a:p>
                      <a:r>
                        <a:rPr lang="nl-NL" sz="1800" dirty="0" smtClean="0"/>
                        <a:t>½</a:t>
                      </a:r>
                      <a:endParaRPr lang="nl-NL" sz="1800" dirty="0"/>
                    </a:p>
                  </a:txBody>
                  <a:tcPr/>
                </a:tc>
                <a:tc>
                  <a:txBody>
                    <a:bodyPr/>
                    <a:lstStyle/>
                    <a:p>
                      <a:r>
                        <a:rPr lang="nl-NL" sz="1800" dirty="0" smtClean="0"/>
                        <a:t>½</a:t>
                      </a:r>
                      <a:endParaRPr lang="nl-NL" sz="1800" dirty="0"/>
                    </a:p>
                  </a:txBody>
                  <a:tcPr/>
                </a:tc>
                <a:tc>
                  <a:txBody>
                    <a:bodyPr/>
                    <a:lstStyle/>
                    <a:p>
                      <a:r>
                        <a:rPr lang="nl-NL" sz="1800" dirty="0" smtClean="0"/>
                        <a:t>½</a:t>
                      </a:r>
                      <a:endParaRPr lang="nl-NL" sz="1800" dirty="0"/>
                    </a:p>
                  </a:txBody>
                  <a:tcPr/>
                </a:tc>
              </a:tr>
              <a:tr h="370840">
                <a:tc>
                  <a:txBody>
                    <a:bodyPr/>
                    <a:lstStyle/>
                    <a:p>
                      <a:r>
                        <a:rPr lang="nl-NL" sz="1800" dirty="0" smtClean="0"/>
                        <a:t>½</a:t>
                      </a:r>
                      <a:endParaRPr lang="nl-NL" sz="1800" dirty="0"/>
                    </a:p>
                  </a:txBody>
                  <a:tcPr/>
                </a:tc>
                <a:tc>
                  <a:txBody>
                    <a:bodyPr/>
                    <a:lstStyle/>
                    <a:p>
                      <a:r>
                        <a:rPr lang="nl-NL" sz="1800" dirty="0" smtClean="0"/>
                        <a:t>0</a:t>
                      </a:r>
                      <a:endParaRPr lang="nl-NL" sz="1800" dirty="0"/>
                    </a:p>
                  </a:txBody>
                  <a:tcPr/>
                </a:tc>
                <a:tc>
                  <a:txBody>
                    <a:bodyPr/>
                    <a:lstStyle/>
                    <a:p>
                      <a:r>
                        <a:rPr lang="nl-NL" sz="1800" dirty="0" smtClean="0"/>
                        <a:t>½</a:t>
                      </a:r>
                      <a:endParaRPr lang="nl-NL" sz="1800" dirty="0"/>
                    </a:p>
                  </a:txBody>
                  <a:tcPr/>
                </a:tc>
                <a:tc>
                  <a:txBody>
                    <a:bodyPr/>
                    <a:lstStyle/>
                    <a:p>
                      <a:r>
                        <a:rPr lang="nl-NL" sz="1800" dirty="0" smtClean="0"/>
                        <a:t>0</a:t>
                      </a:r>
                      <a:endParaRPr lang="nl-NL" sz="1800" dirty="0"/>
                    </a:p>
                  </a:txBody>
                  <a:tcPr/>
                </a:tc>
              </a:tr>
              <a:tr h="370840">
                <a:tc>
                  <a:txBody>
                    <a:bodyPr/>
                    <a:lstStyle/>
                    <a:p>
                      <a:r>
                        <a:rPr lang="nl-NL" sz="1800" dirty="0" smtClean="0"/>
                        <a:t>0</a:t>
                      </a:r>
                      <a:endParaRPr lang="nl-NL" sz="1800" dirty="0"/>
                    </a:p>
                  </a:txBody>
                  <a:tcPr/>
                </a:tc>
                <a:tc>
                  <a:txBody>
                    <a:bodyPr/>
                    <a:lstStyle/>
                    <a:p>
                      <a:r>
                        <a:rPr lang="nl-NL" sz="1800" dirty="0" smtClean="0"/>
                        <a:t>1</a:t>
                      </a:r>
                      <a:endParaRPr lang="nl-NL" sz="1800" dirty="0"/>
                    </a:p>
                  </a:txBody>
                  <a:tcPr/>
                </a:tc>
                <a:tc>
                  <a:txBody>
                    <a:bodyPr/>
                    <a:lstStyle/>
                    <a:p>
                      <a:r>
                        <a:rPr lang="nl-NL" sz="1800" dirty="0" smtClean="0"/>
                        <a:t>1</a:t>
                      </a:r>
                      <a:endParaRPr lang="nl-NL" sz="1800" dirty="0"/>
                    </a:p>
                  </a:txBody>
                  <a:tcPr/>
                </a:tc>
                <a:tc>
                  <a:txBody>
                    <a:bodyPr/>
                    <a:lstStyle/>
                    <a:p>
                      <a:r>
                        <a:rPr lang="nl-NL" sz="1800" dirty="0" smtClean="0"/>
                        <a:t>0</a:t>
                      </a:r>
                      <a:endParaRPr lang="nl-NL" sz="1800" dirty="0"/>
                    </a:p>
                  </a:txBody>
                  <a:tcPr/>
                </a:tc>
              </a:tr>
              <a:tr h="370840">
                <a:tc>
                  <a:txBody>
                    <a:bodyPr/>
                    <a:lstStyle/>
                    <a:p>
                      <a:r>
                        <a:rPr lang="nl-NL" sz="1800" dirty="0" smtClean="0"/>
                        <a:t>0</a:t>
                      </a:r>
                      <a:endParaRPr lang="nl-NL" sz="1800" dirty="0"/>
                    </a:p>
                  </a:txBody>
                  <a:tcPr/>
                </a:tc>
                <a:tc>
                  <a:txBody>
                    <a:bodyPr/>
                    <a:lstStyle/>
                    <a:p>
                      <a:r>
                        <a:rPr lang="nl-NL" sz="1800" dirty="0" smtClean="0"/>
                        <a:t>½</a:t>
                      </a:r>
                      <a:endParaRPr lang="nl-NL" sz="1800" dirty="0"/>
                    </a:p>
                  </a:txBody>
                  <a:tcPr/>
                </a:tc>
                <a:tc>
                  <a:txBody>
                    <a:bodyPr/>
                    <a:lstStyle/>
                    <a:p>
                      <a:r>
                        <a:rPr lang="nl-NL" sz="1800" dirty="0" smtClean="0"/>
                        <a:t>½</a:t>
                      </a:r>
                      <a:endParaRPr lang="nl-NL" sz="1800" dirty="0"/>
                    </a:p>
                  </a:txBody>
                  <a:tcPr/>
                </a:tc>
                <a:tc>
                  <a:txBody>
                    <a:bodyPr/>
                    <a:lstStyle/>
                    <a:p>
                      <a:r>
                        <a:rPr lang="nl-NL" sz="1800" dirty="0" smtClean="0"/>
                        <a:t>0</a:t>
                      </a:r>
                      <a:endParaRPr lang="nl-NL" sz="1800" dirty="0"/>
                    </a:p>
                  </a:txBody>
                  <a:tcPr/>
                </a:tc>
              </a:tr>
              <a:tr h="370840">
                <a:tc>
                  <a:txBody>
                    <a:bodyPr/>
                    <a:lstStyle/>
                    <a:p>
                      <a:r>
                        <a:rPr lang="nl-NL" sz="1800" dirty="0" smtClean="0"/>
                        <a:t>0</a:t>
                      </a:r>
                      <a:endParaRPr lang="nl-NL" sz="1800" dirty="0"/>
                    </a:p>
                  </a:txBody>
                  <a:tcPr/>
                </a:tc>
                <a:tc>
                  <a:txBody>
                    <a:bodyPr/>
                    <a:lstStyle/>
                    <a:p>
                      <a:r>
                        <a:rPr lang="nl-NL" sz="1800" dirty="0" smtClean="0"/>
                        <a:t>0</a:t>
                      </a:r>
                      <a:endParaRPr lang="nl-NL" sz="1800" dirty="0"/>
                    </a:p>
                  </a:txBody>
                  <a:tcPr/>
                </a:tc>
                <a:tc>
                  <a:txBody>
                    <a:bodyPr/>
                    <a:lstStyle/>
                    <a:p>
                      <a:r>
                        <a:rPr lang="nl-NL" sz="1800" dirty="0" smtClean="0"/>
                        <a:t>0</a:t>
                      </a:r>
                      <a:endParaRPr lang="nl-NL" sz="1800" dirty="0"/>
                    </a:p>
                  </a:txBody>
                  <a:tcPr/>
                </a:tc>
                <a:tc>
                  <a:txBody>
                    <a:bodyPr/>
                    <a:lstStyle/>
                    <a:p>
                      <a:r>
                        <a:rPr lang="nl-NL" sz="1800" dirty="0" smtClean="0"/>
                        <a:t>0</a:t>
                      </a:r>
                      <a:endParaRPr lang="nl-NL" sz="1800" dirty="0"/>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Grenzen van de propositielogica</a:t>
            </a:r>
            <a:endParaRPr lang="nl-NL" sz="3600" i="1" dirty="0"/>
          </a:p>
        </p:txBody>
      </p:sp>
      <p:sp>
        <p:nvSpPr>
          <p:cNvPr id="3" name="Content Placeholder 2"/>
          <p:cNvSpPr>
            <a:spLocks noGrp="1"/>
          </p:cNvSpPr>
          <p:nvPr>
            <p:ph idx="1"/>
          </p:nvPr>
        </p:nvSpPr>
        <p:spPr>
          <a:xfrm>
            <a:off x="457200" y="1556792"/>
            <a:ext cx="8363272" cy="1152128"/>
          </a:xfrm>
        </p:spPr>
        <p:txBody>
          <a:bodyPr>
            <a:normAutofit/>
          </a:bodyPr>
          <a:lstStyle/>
          <a:p>
            <a:r>
              <a:rPr lang="nl-NL" sz="2000" dirty="0" smtClean="0"/>
              <a:t>De propositielogica kan onmogelijk recht doen aan de veelvormigheid van de natuurlijke taal. Dit geldt zelfs voor veel taalfragmenten die </a:t>
            </a:r>
            <a:r>
              <a:rPr lang="nl-NL" sz="2000" i="1" dirty="0" smtClean="0"/>
              <a:t>op het eerste gezicht</a:t>
            </a:r>
            <a:r>
              <a:rPr lang="nl-NL" sz="2000" dirty="0" smtClean="0"/>
              <a:t> geschikt lijken voor een </a:t>
            </a:r>
            <a:r>
              <a:rPr lang="nl-NL" sz="2000" dirty="0" err="1" smtClean="0"/>
              <a:t>propositioneel-logische</a:t>
            </a:r>
            <a:r>
              <a:rPr lang="nl-NL" sz="2000" dirty="0" smtClean="0"/>
              <a:t> benadering.</a:t>
            </a:r>
          </a:p>
          <a:p>
            <a:pPr>
              <a:buNone/>
            </a:pPr>
            <a:endParaRPr lang="nl-NL" sz="2000" dirty="0" smtClean="0"/>
          </a:p>
          <a:p>
            <a:endParaRPr lang="nl-NL" sz="2000" dirty="0" smtClean="0"/>
          </a:p>
          <a:p>
            <a:endParaRPr lang="nl-NL" sz="2200" dirty="0"/>
          </a:p>
        </p:txBody>
      </p:sp>
      <p:sp>
        <p:nvSpPr>
          <p:cNvPr id="4" name="Content Placeholder 2"/>
          <p:cNvSpPr txBox="1">
            <a:spLocks/>
          </p:cNvSpPr>
          <p:nvPr/>
        </p:nvSpPr>
        <p:spPr>
          <a:xfrm>
            <a:off x="457200" y="2780928"/>
            <a:ext cx="2314600" cy="720080"/>
          </a:xfrm>
          <a:prstGeom prst="rect">
            <a:avLst/>
          </a:prstGeom>
        </p:spPr>
        <p:txBody>
          <a:bodyPr vert="horz" lIns="91440" tIns="45720" rIns="91440" bIns="45720" rtlCol="0">
            <a:noAutofit/>
          </a:bodyPr>
          <a:lstStyle/>
          <a:p>
            <a:pPr marL="342900" indent="-342900" algn="just">
              <a:spcBef>
                <a:spcPct val="20000"/>
              </a:spcBef>
            </a:pPr>
            <a:r>
              <a:rPr lang="nl-NL" sz="1600" dirty="0" smtClean="0">
                <a:solidFill>
                  <a:srgbClr val="0070C0"/>
                </a:solidFill>
              </a:rPr>
              <a:t>Jan kreeg een boterham       </a:t>
            </a:r>
          </a:p>
          <a:p>
            <a:pPr marL="342900" indent="-342900" algn="just">
              <a:spcBef>
                <a:spcPct val="20000"/>
              </a:spcBef>
            </a:pPr>
            <a:r>
              <a:rPr lang="nl-NL" sz="1600" dirty="0" smtClean="0">
                <a:solidFill>
                  <a:srgbClr val="0070C0"/>
                </a:solidFill>
              </a:rPr>
              <a:t>en ging naar huis</a:t>
            </a:r>
            <a:r>
              <a:rPr lang="nl-NL" sz="1600" dirty="0" smtClean="0"/>
              <a:t>			</a:t>
            </a:r>
            <a:endParaRPr lang="nl-NL" sz="1600" b="1" dirty="0" smtClean="0"/>
          </a:p>
          <a:p>
            <a:pPr marL="342900" indent="-342900" algn="just">
              <a:spcBef>
                <a:spcPct val="20000"/>
              </a:spcBef>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0" i="0" u="none" strike="noStrike" kern="1200" cap="none" spc="0" normalizeH="0" baseline="0" noProof="0" dirty="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2843808" y="2780928"/>
            <a:ext cx="2890664" cy="720080"/>
          </a:xfrm>
          <a:prstGeom prst="rect">
            <a:avLst/>
          </a:prstGeom>
        </p:spPr>
        <p:txBody>
          <a:bodyPr vert="horz" lIns="91440" tIns="45720" rIns="91440" bIns="45720" rtlCol="0">
            <a:noAutofit/>
          </a:bodyPr>
          <a:lstStyle/>
          <a:p>
            <a:pPr marL="342900" indent="-342900">
              <a:spcBef>
                <a:spcPct val="20000"/>
              </a:spcBef>
            </a:pPr>
            <a:r>
              <a:rPr lang="nl-NL" sz="1600" b="1" dirty="0" smtClean="0"/>
              <a:t>P</a:t>
            </a:r>
            <a:r>
              <a:rPr lang="nl-NL" sz="1600" dirty="0" smtClean="0"/>
              <a:t>: Jan kreeg een boterham</a:t>
            </a:r>
          </a:p>
          <a:p>
            <a:pPr marL="342900" indent="-342900">
              <a:spcBef>
                <a:spcPct val="20000"/>
              </a:spcBef>
            </a:pPr>
            <a:r>
              <a:rPr lang="nl-NL" sz="1600" b="1" dirty="0" smtClean="0"/>
              <a:t>Q</a:t>
            </a:r>
            <a:r>
              <a:rPr lang="nl-NL" sz="1600" dirty="0" smtClean="0"/>
              <a:t>: Jan ging naar huis</a:t>
            </a:r>
          </a:p>
          <a:p>
            <a:pPr marL="342900" indent="-342900" algn="just">
              <a:spcBef>
                <a:spcPct val="20000"/>
              </a:spcBef>
            </a:pPr>
            <a:r>
              <a:rPr lang="nl-NL" sz="1600" dirty="0" smtClean="0"/>
              <a:t>		</a:t>
            </a:r>
            <a:endParaRPr lang="nl-NL" sz="1600" b="1" dirty="0" smtClean="0"/>
          </a:p>
          <a:p>
            <a:pPr marL="342900" indent="-342900" algn="just">
              <a:spcBef>
                <a:spcPct val="20000"/>
              </a:spcBef>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0" i="0" u="none" strike="noStrike" kern="1200" cap="none" spc="0" normalizeH="0" baseline="0" noProof="0" dirty="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5569768" y="2780928"/>
            <a:ext cx="2890664" cy="720080"/>
          </a:xfrm>
          <a:prstGeom prst="rect">
            <a:avLst/>
          </a:prstGeom>
        </p:spPr>
        <p:txBody>
          <a:bodyPr vert="horz" lIns="91440" tIns="45720" rIns="91440" bIns="45720" rtlCol="0">
            <a:noAutofit/>
          </a:bodyPr>
          <a:lstStyle/>
          <a:p>
            <a:pPr marL="342900" indent="-342900" algn="just">
              <a:spcBef>
                <a:spcPct val="20000"/>
              </a:spcBef>
            </a:pPr>
            <a:r>
              <a:rPr lang="nl-NL" sz="2000" b="1" dirty="0" smtClean="0"/>
              <a:t>P ∧ Q</a:t>
            </a:r>
            <a:r>
              <a:rPr lang="nl-NL" sz="2000" dirty="0" smtClean="0"/>
              <a:t> 		</a:t>
            </a:r>
            <a:endParaRPr lang="nl-NL" sz="2000" b="1" dirty="0" smtClean="0"/>
          </a:p>
          <a:p>
            <a:pPr marL="342900" indent="-342900" algn="just">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457200" y="3501008"/>
            <a:ext cx="2314600" cy="720080"/>
          </a:xfrm>
          <a:prstGeom prst="rect">
            <a:avLst/>
          </a:prstGeom>
        </p:spPr>
        <p:txBody>
          <a:bodyPr vert="horz" lIns="91440" tIns="45720" rIns="91440" bIns="45720" rtlCol="0">
            <a:noAutofit/>
          </a:bodyPr>
          <a:lstStyle/>
          <a:p>
            <a:pPr marL="342900" indent="-342900">
              <a:spcBef>
                <a:spcPct val="20000"/>
              </a:spcBef>
            </a:pPr>
            <a:r>
              <a:rPr lang="nl-NL" sz="1600" dirty="0" smtClean="0">
                <a:solidFill>
                  <a:srgbClr val="0070C0"/>
                </a:solidFill>
              </a:rPr>
              <a:t>Jan ging naar huis</a:t>
            </a:r>
          </a:p>
          <a:p>
            <a:pPr marL="342900" indent="-342900">
              <a:spcBef>
                <a:spcPct val="20000"/>
              </a:spcBef>
            </a:pPr>
            <a:r>
              <a:rPr lang="nl-NL" sz="1600" dirty="0" smtClean="0">
                <a:solidFill>
                  <a:srgbClr val="0070C0"/>
                </a:solidFill>
              </a:rPr>
              <a:t>en kreeg een boterham</a:t>
            </a:r>
            <a:r>
              <a:rPr lang="nl-NL" sz="1600" dirty="0" smtClean="0"/>
              <a:t>			</a:t>
            </a:r>
            <a:endParaRPr lang="nl-NL" sz="1600" b="1" dirty="0" smtClean="0"/>
          </a:p>
          <a:p>
            <a:pPr marL="342900" indent="-342900" algn="just">
              <a:spcBef>
                <a:spcPct val="20000"/>
              </a:spcBef>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0" i="0" u="none" strike="noStrike" kern="1200" cap="none" spc="0" normalizeH="0" baseline="0" noProof="0" dirty="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2843808" y="3501008"/>
            <a:ext cx="2890664" cy="720080"/>
          </a:xfrm>
          <a:prstGeom prst="rect">
            <a:avLst/>
          </a:prstGeom>
        </p:spPr>
        <p:txBody>
          <a:bodyPr vert="horz" lIns="91440" tIns="45720" rIns="91440" bIns="45720" rtlCol="0">
            <a:noAutofit/>
          </a:bodyPr>
          <a:lstStyle/>
          <a:p>
            <a:pPr marL="342900" indent="-342900">
              <a:spcBef>
                <a:spcPct val="20000"/>
              </a:spcBef>
            </a:pPr>
            <a:r>
              <a:rPr lang="nl-NL" sz="1600" b="1" dirty="0" smtClean="0"/>
              <a:t>P</a:t>
            </a:r>
            <a:r>
              <a:rPr lang="nl-NL" sz="1600" dirty="0" smtClean="0"/>
              <a:t>: Jan kreeg een boterham</a:t>
            </a:r>
          </a:p>
          <a:p>
            <a:pPr marL="342900" indent="-342900">
              <a:spcBef>
                <a:spcPct val="20000"/>
              </a:spcBef>
            </a:pPr>
            <a:r>
              <a:rPr lang="nl-NL" sz="1600" b="1" dirty="0" smtClean="0"/>
              <a:t>Q</a:t>
            </a:r>
            <a:r>
              <a:rPr lang="nl-NL" sz="1600" dirty="0" smtClean="0"/>
              <a:t>: Jan ging naar huis</a:t>
            </a:r>
          </a:p>
          <a:p>
            <a:pPr marL="342900" indent="-342900" algn="just">
              <a:spcBef>
                <a:spcPct val="20000"/>
              </a:spcBef>
            </a:pPr>
            <a:r>
              <a:rPr lang="nl-NL" sz="1600" dirty="0" smtClean="0"/>
              <a:t>		</a:t>
            </a:r>
            <a:endParaRPr lang="nl-NL" sz="1600" b="1" dirty="0" smtClean="0"/>
          </a:p>
          <a:p>
            <a:pPr marL="342900" indent="-342900" algn="just">
              <a:spcBef>
                <a:spcPct val="20000"/>
              </a:spcBef>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5569768" y="3501008"/>
            <a:ext cx="2890664" cy="720080"/>
          </a:xfrm>
          <a:prstGeom prst="rect">
            <a:avLst/>
          </a:prstGeom>
        </p:spPr>
        <p:txBody>
          <a:bodyPr vert="horz" lIns="91440" tIns="45720" rIns="91440" bIns="45720" rtlCol="0">
            <a:noAutofit/>
          </a:bodyPr>
          <a:lstStyle/>
          <a:p>
            <a:pPr marL="342900" indent="-342900" algn="just">
              <a:spcBef>
                <a:spcPct val="20000"/>
              </a:spcBef>
            </a:pPr>
            <a:r>
              <a:rPr lang="nl-NL" sz="2000" b="1" dirty="0" smtClean="0"/>
              <a:t>Q ∧ P</a:t>
            </a:r>
            <a:r>
              <a:rPr lang="nl-NL" sz="2000" dirty="0" smtClean="0"/>
              <a:t> 		</a:t>
            </a:r>
            <a:endParaRPr lang="nl-NL" sz="2000" b="1" dirty="0" smtClean="0"/>
          </a:p>
          <a:p>
            <a:pPr marL="342900" indent="-342900" algn="just">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6937920" y="2996952"/>
            <a:ext cx="2890664" cy="720080"/>
          </a:xfrm>
          <a:prstGeom prst="rect">
            <a:avLst/>
          </a:prstGeom>
        </p:spPr>
        <p:txBody>
          <a:bodyPr vert="horz" lIns="91440" tIns="45720" rIns="91440" bIns="45720" rtlCol="0">
            <a:noAutofit/>
          </a:bodyPr>
          <a:lstStyle/>
          <a:p>
            <a:pPr marL="342900" indent="-342900" algn="just">
              <a:spcBef>
                <a:spcPct val="20000"/>
              </a:spcBef>
            </a:pPr>
            <a:r>
              <a:rPr lang="nl-NL" sz="2000" i="1" dirty="0" smtClean="0">
                <a:solidFill>
                  <a:schemeClr val="accent2">
                    <a:lumMod val="75000"/>
                  </a:schemeClr>
                </a:solidFill>
              </a:rPr>
              <a:t>Echter….</a:t>
            </a:r>
          </a:p>
          <a:p>
            <a:pPr marL="342900" indent="-342900" algn="just">
              <a:spcBef>
                <a:spcPct val="20000"/>
              </a:spcBef>
            </a:pPr>
            <a:r>
              <a:rPr lang="nl-NL" sz="2000" b="1" dirty="0" smtClean="0"/>
              <a:t>P ∧ Q ↔ Q ∧ P</a:t>
            </a:r>
            <a:r>
              <a:rPr lang="nl-NL" sz="2000" dirty="0" smtClean="0"/>
              <a:t> 		</a:t>
            </a:r>
            <a:endParaRPr lang="nl-NL" sz="2000" b="1" dirty="0" smtClean="0"/>
          </a:p>
          <a:p>
            <a:pPr marL="342900" indent="-342900" algn="just">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5496" y="4509120"/>
            <a:ext cx="3024336" cy="720080"/>
          </a:xfrm>
          <a:prstGeom prst="rect">
            <a:avLst/>
          </a:prstGeom>
        </p:spPr>
        <p:txBody>
          <a:bodyPr vert="horz" lIns="91440" tIns="45720" rIns="91440" bIns="45720" rtlCol="0">
            <a:noAutofit/>
          </a:bodyPr>
          <a:lstStyle/>
          <a:p>
            <a:pPr marL="342900" indent="-342900">
              <a:spcBef>
                <a:spcPct val="20000"/>
              </a:spcBef>
            </a:pPr>
            <a:r>
              <a:rPr lang="nl-NL" sz="1600" dirty="0" smtClean="0"/>
              <a:t>        </a:t>
            </a:r>
            <a:r>
              <a:rPr lang="nl-NL" sz="1600" dirty="0" smtClean="0">
                <a:solidFill>
                  <a:srgbClr val="0070C0"/>
                </a:solidFill>
              </a:rPr>
              <a:t>Als je een muntje in de automaat gooit en op de rode knop drukt, dan krijg je koffie</a:t>
            </a:r>
            <a:endParaRPr lang="nl-NL" sz="1600" b="1" dirty="0" smtClean="0">
              <a:solidFill>
                <a:srgbClr val="0070C0"/>
              </a:solidFill>
            </a:endParaRPr>
          </a:p>
          <a:p>
            <a:pPr marL="342900" indent="-342900">
              <a:spcBef>
                <a:spcPct val="20000"/>
              </a:spcBef>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059832" y="4509120"/>
            <a:ext cx="3024336" cy="720080"/>
          </a:xfrm>
          <a:prstGeom prst="rect">
            <a:avLst/>
          </a:prstGeom>
        </p:spPr>
        <p:txBody>
          <a:bodyPr vert="horz" lIns="91440" tIns="45720" rIns="91440" bIns="45720" rtlCol="0">
            <a:noAutofit/>
          </a:bodyPr>
          <a:lstStyle/>
          <a:p>
            <a:pPr marL="342900" indent="-342900">
              <a:spcBef>
                <a:spcPct val="20000"/>
              </a:spcBef>
            </a:pPr>
            <a:r>
              <a:rPr lang="nl-NL" sz="1600" b="1" dirty="0" smtClean="0"/>
              <a:t>P</a:t>
            </a:r>
            <a:r>
              <a:rPr lang="nl-NL" sz="1600" dirty="0" smtClean="0"/>
              <a:t>: Je gooit muntje in automaat</a:t>
            </a:r>
          </a:p>
          <a:p>
            <a:pPr marL="342900" indent="-342900">
              <a:spcBef>
                <a:spcPct val="20000"/>
              </a:spcBef>
            </a:pPr>
            <a:r>
              <a:rPr lang="nl-NL" sz="1600" b="1" dirty="0" smtClean="0"/>
              <a:t>Q</a:t>
            </a:r>
            <a:r>
              <a:rPr lang="nl-NL" sz="1600" dirty="0" smtClean="0"/>
              <a:t>:</a:t>
            </a:r>
            <a:r>
              <a:rPr lang="nl-NL" sz="1600" b="1" dirty="0" smtClean="0"/>
              <a:t> </a:t>
            </a:r>
            <a:r>
              <a:rPr lang="nl-NL" sz="1600" dirty="0" smtClean="0"/>
              <a:t>Je drukt op rode knop</a:t>
            </a:r>
          </a:p>
          <a:p>
            <a:pPr marL="342900" indent="-342900">
              <a:spcBef>
                <a:spcPct val="20000"/>
              </a:spcBef>
            </a:pPr>
            <a:r>
              <a:rPr lang="nl-NL" sz="1600" b="1" dirty="0" smtClean="0"/>
              <a:t>R</a:t>
            </a:r>
            <a:r>
              <a:rPr lang="nl-NL" sz="1600" dirty="0" smtClean="0"/>
              <a:t>: Je krijgt koffie</a:t>
            </a:r>
          </a:p>
          <a:p>
            <a:pPr marL="342900" indent="-342900">
              <a:spcBef>
                <a:spcPct val="20000"/>
              </a:spcBef>
            </a:pPr>
            <a:endParaRPr kumimoji="0" lang="nl-NL" sz="16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0" i="0" u="none" strike="noStrike" kern="1200" cap="none" spc="0" normalizeH="0" baseline="0" noProof="0" dirty="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5436096" y="5589240"/>
            <a:ext cx="4608512" cy="720080"/>
          </a:xfrm>
          <a:prstGeom prst="rect">
            <a:avLst/>
          </a:prstGeom>
        </p:spPr>
        <p:txBody>
          <a:bodyPr vert="horz" lIns="91440" tIns="45720" rIns="91440" bIns="45720" rtlCol="0">
            <a:noAutofit/>
          </a:bodyPr>
          <a:lstStyle/>
          <a:p>
            <a:pPr marL="342900" indent="-342900" algn="just">
              <a:spcBef>
                <a:spcPct val="20000"/>
              </a:spcBef>
            </a:pPr>
            <a:r>
              <a:rPr lang="nl-NL" sz="2000" i="1" dirty="0" smtClean="0">
                <a:solidFill>
                  <a:schemeClr val="accent2">
                    <a:lumMod val="75000"/>
                  </a:schemeClr>
                </a:solidFill>
              </a:rPr>
              <a:t>Echter….</a:t>
            </a:r>
          </a:p>
          <a:p>
            <a:pPr marL="342900" indent="-342900" algn="just">
              <a:spcBef>
                <a:spcPct val="20000"/>
              </a:spcBef>
            </a:pPr>
            <a:r>
              <a:rPr lang="nl-NL" sz="2000" b="1" dirty="0" smtClean="0"/>
              <a:t>(P ∧ Q) → R   Ⱶ  (P→R) V (Q→R)     </a:t>
            </a:r>
            <a:r>
              <a:rPr lang="nl-NL" sz="2000" dirty="0" smtClean="0"/>
              <a:t> 		</a:t>
            </a:r>
            <a:endParaRPr lang="nl-NL" sz="2000" b="1" dirty="0" smtClean="0"/>
          </a:p>
          <a:p>
            <a:pPr marL="342900" indent="-342900" algn="just">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6084168" y="4725144"/>
            <a:ext cx="2890664" cy="720080"/>
          </a:xfrm>
          <a:prstGeom prst="rect">
            <a:avLst/>
          </a:prstGeom>
        </p:spPr>
        <p:txBody>
          <a:bodyPr vert="horz" lIns="91440" tIns="45720" rIns="91440" bIns="45720" rtlCol="0">
            <a:noAutofit/>
          </a:bodyPr>
          <a:lstStyle/>
          <a:p>
            <a:pPr marL="342900" indent="-342900" algn="just">
              <a:spcBef>
                <a:spcPct val="20000"/>
              </a:spcBef>
            </a:pPr>
            <a:r>
              <a:rPr lang="nl-NL" sz="2000" b="1" dirty="0" smtClean="0"/>
              <a:t>(P ∧ Q) → R </a:t>
            </a:r>
            <a:r>
              <a:rPr lang="nl-NL" sz="2000" dirty="0" smtClean="0"/>
              <a:t> 		</a:t>
            </a:r>
            <a:endParaRPr lang="nl-NL" sz="2000" b="1" dirty="0" smtClean="0"/>
          </a:p>
          <a:p>
            <a:pPr marL="342900" indent="-342900" algn="just">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2000"/>
                                        <p:tgtEl>
                                          <p:spTgt spid="5">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fade">
                                      <p:cBhvr>
                                        <p:cTn id="16" dur="2000"/>
                                        <p:tgtEl>
                                          <p:spTgt spid="5">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Effect transition="in" filter="fade">
                                      <p:cBhvr>
                                        <p:cTn id="19" dur="2000"/>
                                        <p:tgtEl>
                                          <p:spTgt spid="5">
                                            <p:txEl>
                                              <p:pRg st="2" end="2"/>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20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2000"/>
                                        <p:tgtEl>
                                          <p:spTgt spid="8">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1" end="1"/>
                                            </p:txEl>
                                          </p:spTgt>
                                        </p:tgtEl>
                                        <p:attrNameLst>
                                          <p:attrName>style.visibility</p:attrName>
                                        </p:attrNameLst>
                                      </p:cBhvr>
                                      <p:to>
                                        <p:strVal val="visible"/>
                                      </p:to>
                                    </p:set>
                                    <p:animEffect transition="in" filter="fade">
                                      <p:cBhvr>
                                        <p:cTn id="30" dur="2000"/>
                                        <p:tgtEl>
                                          <p:spTgt spid="8">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xEl>
                                              <p:pRg st="0" end="0"/>
                                            </p:txEl>
                                          </p:spTgt>
                                        </p:tgtEl>
                                        <p:attrNameLst>
                                          <p:attrName>style.visibility</p:attrName>
                                        </p:attrNameLst>
                                      </p:cBhvr>
                                      <p:to>
                                        <p:strVal val="visible"/>
                                      </p:to>
                                    </p:set>
                                    <p:animEffect transition="in" filter="fade">
                                      <p:cBhvr>
                                        <p:cTn id="33" dur="2000"/>
                                        <p:tgtEl>
                                          <p:spTgt spid="9">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xEl>
                                              <p:pRg st="1" end="1"/>
                                            </p:txEl>
                                          </p:spTgt>
                                        </p:tgtEl>
                                        <p:attrNameLst>
                                          <p:attrName>style.visibility</p:attrName>
                                        </p:attrNameLst>
                                      </p:cBhvr>
                                      <p:to>
                                        <p:strVal val="visible"/>
                                      </p:to>
                                    </p:set>
                                    <p:animEffect transition="in" filter="fade">
                                      <p:cBhvr>
                                        <p:cTn id="36" dur="2000"/>
                                        <p:tgtEl>
                                          <p:spTgt spid="9">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animEffect transition="in" filter="fade">
                                      <p:cBhvr>
                                        <p:cTn id="39" dur="2000"/>
                                        <p:tgtEl>
                                          <p:spTgt spid="9">
                                            <p:txEl>
                                              <p:pRg st="2" end="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fade">
                                      <p:cBhvr>
                                        <p:cTn id="42" dur="2000"/>
                                        <p:tgtEl>
                                          <p:spTgt spid="1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xEl>
                                              <p:pRg st="0" end="0"/>
                                            </p:txEl>
                                          </p:spTgt>
                                        </p:tgtEl>
                                        <p:attrNameLst>
                                          <p:attrName>style.visibility</p:attrName>
                                        </p:attrNameLst>
                                      </p:cBhvr>
                                      <p:to>
                                        <p:strVal val="visible"/>
                                      </p:to>
                                    </p:set>
                                    <p:animEffect transition="in" filter="fade">
                                      <p:cBhvr>
                                        <p:cTn id="47" dur="2000"/>
                                        <p:tgtEl>
                                          <p:spTgt spid="11">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
                                            <p:txEl>
                                              <p:pRg st="1" end="1"/>
                                            </p:txEl>
                                          </p:spTgt>
                                        </p:tgtEl>
                                        <p:attrNameLst>
                                          <p:attrName>style.visibility</p:attrName>
                                        </p:attrNameLst>
                                      </p:cBhvr>
                                      <p:to>
                                        <p:strVal val="visible"/>
                                      </p:to>
                                    </p:set>
                                    <p:animEffect transition="in" filter="fade">
                                      <p:cBhvr>
                                        <p:cTn id="50" dur="2000"/>
                                        <p:tgtEl>
                                          <p:spTgt spid="11">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Effect transition="in" filter="fade">
                                      <p:cBhvr>
                                        <p:cTn id="55" dur="2000"/>
                                        <p:tgtEl>
                                          <p:spTgt spid="12">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3">
                                            <p:txEl>
                                              <p:pRg st="0" end="0"/>
                                            </p:txEl>
                                          </p:spTgt>
                                        </p:tgtEl>
                                        <p:attrNameLst>
                                          <p:attrName>style.visibility</p:attrName>
                                        </p:attrNameLst>
                                      </p:cBhvr>
                                      <p:to>
                                        <p:strVal val="visible"/>
                                      </p:to>
                                    </p:set>
                                    <p:animEffect transition="in" filter="fade">
                                      <p:cBhvr>
                                        <p:cTn id="58" dur="2000"/>
                                        <p:tgtEl>
                                          <p:spTgt spid="13">
                                            <p:txEl>
                                              <p:pRg st="0" end="0"/>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3">
                                            <p:txEl>
                                              <p:pRg st="1" end="1"/>
                                            </p:txEl>
                                          </p:spTgt>
                                        </p:tgtEl>
                                        <p:attrNameLst>
                                          <p:attrName>style.visibility</p:attrName>
                                        </p:attrNameLst>
                                      </p:cBhvr>
                                      <p:to>
                                        <p:strVal val="visible"/>
                                      </p:to>
                                    </p:set>
                                    <p:animEffect transition="in" filter="fade">
                                      <p:cBhvr>
                                        <p:cTn id="61" dur="2000"/>
                                        <p:tgtEl>
                                          <p:spTgt spid="13">
                                            <p:txEl>
                                              <p:pRg st="1" end="1"/>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3">
                                            <p:txEl>
                                              <p:pRg st="2" end="2"/>
                                            </p:txEl>
                                          </p:spTgt>
                                        </p:tgtEl>
                                        <p:attrNameLst>
                                          <p:attrName>style.visibility</p:attrName>
                                        </p:attrNameLst>
                                      </p:cBhvr>
                                      <p:to>
                                        <p:strVal val="visible"/>
                                      </p:to>
                                    </p:set>
                                    <p:animEffect transition="in" filter="fade">
                                      <p:cBhvr>
                                        <p:cTn id="64" dur="2000"/>
                                        <p:tgtEl>
                                          <p:spTgt spid="13">
                                            <p:txEl>
                                              <p:pRg st="2" end="2"/>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2000"/>
                                        <p:tgtEl>
                                          <p:spTgt spid="15">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4">
                                            <p:txEl>
                                              <p:pRg st="0" end="0"/>
                                            </p:txEl>
                                          </p:spTgt>
                                        </p:tgtEl>
                                        <p:attrNameLst>
                                          <p:attrName>style.visibility</p:attrName>
                                        </p:attrNameLst>
                                      </p:cBhvr>
                                      <p:to>
                                        <p:strVal val="visible"/>
                                      </p:to>
                                    </p:set>
                                    <p:animEffect transition="in" filter="fade">
                                      <p:cBhvr>
                                        <p:cTn id="72" dur="2000"/>
                                        <p:tgtEl>
                                          <p:spTgt spid="14">
                                            <p:txEl>
                                              <p:pRg st="0" end="0"/>
                                            </p:txEl>
                                          </p:spTgt>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4">
                                            <p:txEl>
                                              <p:pRg st="1" end="1"/>
                                            </p:txEl>
                                          </p:spTgt>
                                        </p:tgtEl>
                                        <p:attrNameLst>
                                          <p:attrName>style.visibility</p:attrName>
                                        </p:attrNameLst>
                                      </p:cBhvr>
                                      <p:to>
                                        <p:strVal val="visible"/>
                                      </p:to>
                                    </p:set>
                                    <p:animEffect transition="in" filter="fade">
                                      <p:cBhvr>
                                        <p:cTn id="75" dur="20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Grenzen van de propositielogica</a:t>
            </a:r>
            <a:endParaRPr lang="nl-NL" sz="3600" i="1" dirty="0"/>
          </a:p>
        </p:txBody>
      </p:sp>
      <p:sp>
        <p:nvSpPr>
          <p:cNvPr id="17" name="TextBox 16"/>
          <p:cNvSpPr txBox="1"/>
          <p:nvPr/>
        </p:nvSpPr>
        <p:spPr>
          <a:xfrm>
            <a:off x="251520" y="1559689"/>
            <a:ext cx="8784976" cy="4893647"/>
          </a:xfrm>
          <a:prstGeom prst="rect">
            <a:avLst/>
          </a:prstGeom>
          <a:noFill/>
        </p:spPr>
        <p:txBody>
          <a:bodyPr wrap="square" rtlCol="0">
            <a:spAutoFit/>
          </a:bodyPr>
          <a:lstStyle/>
          <a:p>
            <a:pPr marL="342900" indent="-342900">
              <a:buAutoNum type="arabicPeriod"/>
            </a:pPr>
            <a:r>
              <a:rPr lang="nl-NL" sz="2400" b="1" dirty="0" smtClean="0">
                <a:solidFill>
                  <a:srgbClr val="0070C0"/>
                </a:solidFill>
              </a:rPr>
              <a:t>(P ∧ Q) → R                         </a:t>
            </a:r>
            <a:r>
              <a:rPr lang="nl-NL" sz="2400" b="1" dirty="0" smtClean="0"/>
              <a:t>Prem.</a:t>
            </a:r>
          </a:p>
          <a:p>
            <a:pPr marL="342900" indent="-342900">
              <a:buAutoNum type="arabicPeriod"/>
            </a:pPr>
            <a:r>
              <a:rPr lang="nl-NL" sz="2400" b="1" dirty="0" smtClean="0">
                <a:solidFill>
                  <a:srgbClr val="0070C0"/>
                </a:solidFill>
              </a:rPr>
              <a:t>¬(P ∧ Q) V R	           </a:t>
            </a:r>
            <a:r>
              <a:rPr lang="nl-NL" sz="2400" b="1" dirty="0" smtClean="0"/>
              <a:t>Wegens: A → B  Ⱶ   ¬A V B </a:t>
            </a:r>
            <a:r>
              <a:rPr lang="nl-NL" sz="2400" b="1" dirty="0" smtClean="0">
                <a:solidFill>
                  <a:srgbClr val="0070C0"/>
                </a:solidFill>
              </a:rPr>
              <a:t>	</a:t>
            </a:r>
            <a:endParaRPr lang="nl-NL" sz="2400" b="1" dirty="0" smtClean="0"/>
          </a:p>
          <a:p>
            <a:pPr marL="342900" indent="-342900">
              <a:buAutoNum type="arabicPeriod"/>
            </a:pPr>
            <a:r>
              <a:rPr lang="nl-NL" sz="2400" b="1" dirty="0" smtClean="0">
                <a:solidFill>
                  <a:srgbClr val="0070C0"/>
                </a:solidFill>
              </a:rPr>
              <a:t>¬((P→R) V (Q→R))             </a:t>
            </a:r>
            <a:r>
              <a:rPr lang="nl-NL" sz="2400" b="1" dirty="0" err="1" smtClean="0"/>
              <a:t>Ass</a:t>
            </a:r>
            <a:r>
              <a:rPr lang="nl-NL" sz="2400" b="1" dirty="0" smtClean="0"/>
              <a:t>.</a:t>
            </a:r>
            <a:r>
              <a:rPr lang="nl-NL" sz="2400" b="1" dirty="0" smtClean="0">
                <a:solidFill>
                  <a:srgbClr val="0070C0"/>
                </a:solidFill>
              </a:rPr>
              <a:t>         </a:t>
            </a:r>
          </a:p>
          <a:p>
            <a:pPr marL="342900" indent="-342900">
              <a:buAutoNum type="arabicPeriod"/>
            </a:pPr>
            <a:r>
              <a:rPr lang="nl-NL" sz="2400" b="1" dirty="0" smtClean="0">
                <a:solidFill>
                  <a:srgbClr val="0070C0"/>
                </a:solidFill>
              </a:rPr>
              <a:t>¬(P→R) ∧ ¬(Q→R)	            </a:t>
            </a:r>
            <a:r>
              <a:rPr lang="nl-NL" sz="2400" b="1" dirty="0" smtClean="0"/>
              <a:t>Wegens de Morgan:  ¬(A v B)  Ⱶ  ¬A ∧ ¬B</a:t>
            </a:r>
          </a:p>
          <a:p>
            <a:pPr marL="342900" indent="-342900">
              <a:buFontTx/>
              <a:buAutoNum type="arabicPeriod"/>
            </a:pPr>
            <a:r>
              <a:rPr lang="nl-NL" sz="2400" b="1" dirty="0" smtClean="0">
                <a:solidFill>
                  <a:srgbClr val="0070C0"/>
                </a:solidFill>
              </a:rPr>
              <a:t>¬(¬P V R) ∧ ¬(¬Q V R)          </a:t>
            </a:r>
            <a:r>
              <a:rPr lang="nl-NL" sz="2400" b="1" dirty="0" smtClean="0"/>
              <a:t>Wegens: A → B  Ⱶ   ¬A V B</a:t>
            </a:r>
          </a:p>
          <a:p>
            <a:pPr marL="342900" indent="-342900">
              <a:buFontTx/>
              <a:buAutoNum type="arabicPeriod"/>
            </a:pPr>
            <a:r>
              <a:rPr lang="nl-NL" sz="2400" b="1" dirty="0" smtClean="0">
                <a:solidFill>
                  <a:srgbClr val="0070C0"/>
                </a:solidFill>
              </a:rPr>
              <a:t> (¬¬P ∧ ¬R) ∧ (¬¬Q ∧ ¬R)     </a:t>
            </a:r>
            <a:r>
              <a:rPr lang="nl-NL" sz="2400" b="1" dirty="0" smtClean="0"/>
              <a:t>Wegens de Morgan</a:t>
            </a:r>
            <a:endParaRPr lang="nl-NL" sz="2400" b="1" baseline="-25000" dirty="0" smtClean="0"/>
          </a:p>
          <a:p>
            <a:pPr marL="342900" indent="-342900">
              <a:buFontTx/>
              <a:buAutoNum type="arabicPeriod"/>
            </a:pPr>
            <a:r>
              <a:rPr lang="nl-NL" sz="2400" b="1" dirty="0" smtClean="0">
                <a:solidFill>
                  <a:srgbClr val="0070C0"/>
                </a:solidFill>
              </a:rPr>
              <a:t>P ∧ Q ∧ ¬R 			 </a:t>
            </a:r>
            <a:r>
              <a:rPr lang="nl-NL" sz="2400" b="1" dirty="0" smtClean="0"/>
              <a:t>Wegens </a:t>
            </a:r>
            <a:r>
              <a:rPr lang="nl-NL" sz="2400" b="1" dirty="0" err="1" smtClean="0"/>
              <a:t>Elim</a:t>
            </a:r>
            <a:r>
              <a:rPr lang="nl-NL" sz="2400" b="1" dirty="0" smtClean="0"/>
              <a:t>¬¬ en A ∧ A Ⱶ A</a:t>
            </a:r>
          </a:p>
          <a:p>
            <a:pPr marL="342900" indent="-342900">
              <a:buFontTx/>
              <a:buAutoNum type="arabicPeriod"/>
            </a:pPr>
            <a:r>
              <a:rPr lang="nl-NL" sz="2400" b="1" dirty="0" smtClean="0">
                <a:solidFill>
                  <a:srgbClr val="0070C0"/>
                </a:solidFill>
              </a:rPr>
              <a:t>¬R 		  		 </a:t>
            </a:r>
            <a:r>
              <a:rPr lang="nl-NL" sz="2400" b="1" dirty="0" smtClean="0"/>
              <a:t>G∧(7)</a:t>
            </a:r>
          </a:p>
          <a:p>
            <a:pPr marL="342900" indent="-342900">
              <a:buFontTx/>
              <a:buAutoNum type="arabicPeriod"/>
            </a:pPr>
            <a:r>
              <a:rPr lang="nl-NL" sz="2400" b="1" dirty="0" smtClean="0">
                <a:solidFill>
                  <a:srgbClr val="0070C0"/>
                </a:solidFill>
              </a:rPr>
              <a:t>¬(P ∧ Q)			 </a:t>
            </a:r>
            <a:r>
              <a:rPr lang="nl-NL" sz="2400" b="1" dirty="0" err="1" smtClean="0"/>
              <a:t>Disjunctief</a:t>
            </a:r>
            <a:r>
              <a:rPr lang="nl-NL" sz="2400" b="1" smtClean="0"/>
              <a:t> syllogisme(2,8)</a:t>
            </a:r>
            <a:endParaRPr lang="nl-NL" sz="2400" b="1" dirty="0" smtClean="0"/>
          </a:p>
          <a:p>
            <a:pPr marL="342900" indent="-342900">
              <a:buFontTx/>
              <a:buAutoNum type="arabicPeriod"/>
            </a:pPr>
            <a:r>
              <a:rPr lang="nl-NL" sz="2400" b="1" dirty="0" smtClean="0">
                <a:solidFill>
                  <a:srgbClr val="0070C0"/>
                </a:solidFill>
              </a:rPr>
              <a:t> P ∧ Q			 </a:t>
            </a:r>
            <a:r>
              <a:rPr lang="nl-NL" sz="2400" b="1" dirty="0" smtClean="0"/>
              <a:t>G∧(7)</a:t>
            </a:r>
            <a:endParaRPr lang="nl-NL" sz="2400" b="1" dirty="0" smtClean="0">
              <a:solidFill>
                <a:srgbClr val="0070C0"/>
              </a:solidFill>
            </a:endParaRPr>
          </a:p>
          <a:p>
            <a:pPr marL="342900" indent="-342900">
              <a:buFontTx/>
              <a:buAutoNum type="arabicPeriod"/>
            </a:pPr>
            <a:r>
              <a:rPr lang="nl-NL" sz="2400" b="1" dirty="0" smtClean="0">
                <a:solidFill>
                  <a:srgbClr val="0070C0"/>
                </a:solidFill>
              </a:rPr>
              <a:t>¬(P ∧ Q) ∧ (P ∧ Q)	              </a:t>
            </a:r>
            <a:r>
              <a:rPr lang="nl-NL" sz="2400" b="1" dirty="0" smtClean="0"/>
              <a:t> I∧(9,10)</a:t>
            </a:r>
          </a:p>
          <a:p>
            <a:pPr marL="342900" indent="-342900">
              <a:buFontTx/>
              <a:buAutoNum type="arabicPeriod"/>
            </a:pPr>
            <a:r>
              <a:rPr lang="nl-NL" sz="2400" b="1" dirty="0" smtClean="0">
                <a:solidFill>
                  <a:srgbClr val="0070C0"/>
                </a:solidFill>
              </a:rPr>
              <a:t> ¬¬((P→R) V (Q→R))             </a:t>
            </a:r>
            <a:r>
              <a:rPr lang="nl-NL" sz="2400" b="1" dirty="0" smtClean="0"/>
              <a:t>I¬(3,11)</a:t>
            </a:r>
          </a:p>
          <a:p>
            <a:pPr marL="342900" indent="-342900">
              <a:buFontTx/>
              <a:buAutoNum type="arabicPeriod"/>
            </a:pPr>
            <a:r>
              <a:rPr lang="nl-NL" sz="2400" b="1" dirty="0" smtClean="0">
                <a:solidFill>
                  <a:srgbClr val="0070C0"/>
                </a:solidFill>
              </a:rPr>
              <a:t> (P→R) V (Q→R)		  </a:t>
            </a:r>
            <a:r>
              <a:rPr lang="nl-NL" sz="2400" b="1" dirty="0" err="1" smtClean="0"/>
              <a:t>Elim</a:t>
            </a:r>
            <a:r>
              <a:rPr lang="nl-NL" sz="2400" b="1" dirty="0" smtClean="0"/>
              <a:t>¬¬</a:t>
            </a:r>
          </a:p>
        </p:txBody>
      </p:sp>
      <p:cxnSp>
        <p:nvCxnSpPr>
          <p:cNvPr id="18" name="Straight Connector 17"/>
          <p:cNvCxnSpPr/>
          <p:nvPr/>
        </p:nvCxnSpPr>
        <p:spPr>
          <a:xfrm flipH="1">
            <a:off x="251520" y="2348880"/>
            <a:ext cx="72008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51520" y="2354104"/>
            <a:ext cx="0" cy="330714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251520" y="5661248"/>
            <a:ext cx="338437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Grenzen van de propositielogica</a:t>
            </a:r>
            <a:endParaRPr lang="nl-NL" sz="3600" i="1" dirty="0"/>
          </a:p>
        </p:txBody>
      </p:sp>
      <p:sp>
        <p:nvSpPr>
          <p:cNvPr id="3" name="Content Placeholder 2"/>
          <p:cNvSpPr>
            <a:spLocks noGrp="1"/>
          </p:cNvSpPr>
          <p:nvPr>
            <p:ph idx="1"/>
          </p:nvPr>
        </p:nvSpPr>
        <p:spPr>
          <a:xfrm>
            <a:off x="457200" y="1556792"/>
            <a:ext cx="8363272" cy="1152128"/>
          </a:xfrm>
        </p:spPr>
        <p:txBody>
          <a:bodyPr>
            <a:normAutofit/>
          </a:bodyPr>
          <a:lstStyle/>
          <a:p>
            <a:r>
              <a:rPr lang="nl-NL" sz="2000" dirty="0" smtClean="0"/>
              <a:t>Daarnaast zijn er veel logische redeneringen in de natuurlijke taal die überhaupt niet vanuit de propositielogica geanalyseerd kunnen worden.</a:t>
            </a:r>
          </a:p>
          <a:p>
            <a:pPr>
              <a:buNone/>
            </a:pPr>
            <a:endParaRPr lang="nl-NL" sz="2000" dirty="0" smtClean="0"/>
          </a:p>
          <a:p>
            <a:endParaRPr lang="nl-NL" sz="2000" dirty="0" smtClean="0"/>
          </a:p>
          <a:p>
            <a:endParaRPr lang="nl-NL" sz="2200" dirty="0"/>
          </a:p>
        </p:txBody>
      </p:sp>
      <p:sp>
        <p:nvSpPr>
          <p:cNvPr id="4" name="Content Placeholder 2"/>
          <p:cNvSpPr txBox="1">
            <a:spLocks/>
          </p:cNvSpPr>
          <p:nvPr/>
        </p:nvSpPr>
        <p:spPr>
          <a:xfrm>
            <a:off x="457200" y="2780928"/>
            <a:ext cx="2962672" cy="720080"/>
          </a:xfrm>
          <a:prstGeom prst="rect">
            <a:avLst/>
          </a:prstGeom>
        </p:spPr>
        <p:txBody>
          <a:bodyPr vert="horz" lIns="91440" tIns="45720" rIns="91440" bIns="45720" rtlCol="0">
            <a:noAutofit/>
          </a:bodyPr>
          <a:lstStyle/>
          <a:p>
            <a:pPr marL="342900" indent="-342900" algn="just">
              <a:spcBef>
                <a:spcPct val="20000"/>
              </a:spcBef>
            </a:pPr>
            <a:r>
              <a:rPr lang="nl-NL" dirty="0" smtClean="0">
                <a:solidFill>
                  <a:srgbClr val="0070C0"/>
                </a:solidFill>
              </a:rPr>
              <a:t>Een koe is een herbivoor</a:t>
            </a:r>
          </a:p>
          <a:p>
            <a:pPr marL="342900" indent="-342900" algn="just">
              <a:spcBef>
                <a:spcPct val="20000"/>
              </a:spcBef>
            </a:pPr>
            <a:r>
              <a:rPr lang="nl-NL" dirty="0" smtClean="0">
                <a:solidFill>
                  <a:srgbClr val="0070C0"/>
                </a:solidFill>
              </a:rPr>
              <a:t>Geen herbivoor eet vlees</a:t>
            </a:r>
          </a:p>
          <a:p>
            <a:pPr marL="342900" indent="-342900" algn="just">
              <a:spcBef>
                <a:spcPct val="20000"/>
              </a:spcBef>
            </a:pPr>
            <a:r>
              <a:rPr lang="nl-NL" dirty="0" smtClean="0">
                <a:solidFill>
                  <a:srgbClr val="0070C0"/>
                </a:solidFill>
              </a:rPr>
              <a:t>Dus: Een koe eet geen vlees</a:t>
            </a:r>
            <a:r>
              <a:rPr lang="nl-NL" dirty="0" smtClean="0"/>
              <a:t>		</a:t>
            </a:r>
            <a:endParaRPr lang="nl-NL" b="1" dirty="0" smtClean="0"/>
          </a:p>
          <a:p>
            <a:pPr marL="342900" indent="-342900" algn="just">
              <a:spcBef>
                <a:spcPct val="20000"/>
              </a:spcBef>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3481536" y="2780928"/>
            <a:ext cx="3034680" cy="1080120"/>
          </a:xfrm>
          <a:prstGeom prst="rect">
            <a:avLst/>
          </a:prstGeom>
        </p:spPr>
        <p:txBody>
          <a:bodyPr vert="horz" lIns="91440" tIns="45720" rIns="91440" bIns="45720" rtlCol="0">
            <a:noAutofit/>
          </a:bodyPr>
          <a:lstStyle/>
          <a:p>
            <a:pPr marL="342900" indent="-342900" algn="just">
              <a:spcBef>
                <a:spcPct val="20000"/>
              </a:spcBef>
            </a:pPr>
            <a:r>
              <a:rPr lang="nl-NL" b="1" dirty="0" smtClean="0"/>
              <a:t>P</a:t>
            </a:r>
            <a:r>
              <a:rPr lang="nl-NL" dirty="0" smtClean="0"/>
              <a:t>: Een koe is een herbivoor</a:t>
            </a:r>
          </a:p>
          <a:p>
            <a:pPr marL="342900" indent="-342900" algn="just">
              <a:spcBef>
                <a:spcPct val="20000"/>
              </a:spcBef>
            </a:pPr>
            <a:r>
              <a:rPr lang="nl-NL" b="1" dirty="0" smtClean="0"/>
              <a:t>Q</a:t>
            </a:r>
            <a:r>
              <a:rPr lang="nl-NL" dirty="0" smtClean="0"/>
              <a:t>: Geen herbivoor eet vlees</a:t>
            </a:r>
          </a:p>
          <a:p>
            <a:pPr marL="342900" indent="-342900" algn="just">
              <a:spcBef>
                <a:spcPct val="20000"/>
              </a:spcBef>
            </a:pPr>
            <a:r>
              <a:rPr lang="nl-NL" b="1" dirty="0" smtClean="0"/>
              <a:t>R</a:t>
            </a:r>
            <a:r>
              <a:rPr lang="nl-NL" dirty="0" smtClean="0"/>
              <a:t>: Een koe eet geen vlees		</a:t>
            </a:r>
            <a:endParaRPr lang="nl-NL" b="1" dirty="0" smtClean="0"/>
          </a:p>
          <a:p>
            <a:pPr marL="342900" indent="-342900" algn="just">
              <a:spcBef>
                <a:spcPct val="20000"/>
              </a:spcBef>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7" name="Content Placeholder 2"/>
          <p:cNvSpPr txBox="1">
            <a:spLocks/>
          </p:cNvSpPr>
          <p:nvPr/>
        </p:nvSpPr>
        <p:spPr>
          <a:xfrm>
            <a:off x="6793904" y="2780928"/>
            <a:ext cx="2170584" cy="1008112"/>
          </a:xfrm>
          <a:prstGeom prst="rect">
            <a:avLst/>
          </a:prstGeom>
        </p:spPr>
        <p:txBody>
          <a:bodyPr vert="horz" lIns="91440" tIns="45720" rIns="91440" bIns="45720" rtlCol="0">
            <a:noAutofit/>
          </a:bodyPr>
          <a:lstStyle/>
          <a:p>
            <a:pPr marL="342900" indent="-342900" algn="just">
              <a:spcBef>
                <a:spcPct val="20000"/>
              </a:spcBef>
            </a:pPr>
            <a:r>
              <a:rPr lang="nl-NL" b="1" dirty="0" smtClean="0"/>
              <a:t>P</a:t>
            </a:r>
          </a:p>
          <a:p>
            <a:pPr marL="342900" indent="-342900" algn="just">
              <a:spcBef>
                <a:spcPct val="20000"/>
              </a:spcBef>
            </a:pPr>
            <a:r>
              <a:rPr lang="nl-NL" b="1" dirty="0" smtClean="0"/>
              <a:t>Q</a:t>
            </a:r>
          </a:p>
          <a:p>
            <a:pPr marL="342900" indent="-342900" algn="just">
              <a:spcBef>
                <a:spcPct val="20000"/>
              </a:spcBef>
            </a:pPr>
            <a:r>
              <a:rPr lang="nl-NL" dirty="0" smtClean="0"/>
              <a:t>Dus: </a:t>
            </a:r>
            <a:r>
              <a:rPr lang="nl-NL" b="1" dirty="0" smtClean="0"/>
              <a:t>R</a:t>
            </a:r>
            <a:r>
              <a:rPr lang="nl-NL" dirty="0" smtClean="0"/>
              <a:t>		</a:t>
            </a:r>
            <a:endParaRPr lang="nl-NL" b="1" dirty="0" smtClean="0"/>
          </a:p>
          <a:p>
            <a:pPr marL="342900" indent="-342900" algn="just">
              <a:spcBef>
                <a:spcPct val="20000"/>
              </a:spcBef>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8" name="TextBox 17"/>
          <p:cNvSpPr txBox="1"/>
          <p:nvPr/>
        </p:nvSpPr>
        <p:spPr>
          <a:xfrm>
            <a:off x="7020272" y="3861048"/>
            <a:ext cx="1872208" cy="369332"/>
          </a:xfrm>
          <a:prstGeom prst="rect">
            <a:avLst/>
          </a:prstGeom>
          <a:noFill/>
        </p:spPr>
        <p:txBody>
          <a:bodyPr wrap="square" rtlCol="0">
            <a:spAutoFit/>
          </a:bodyPr>
          <a:lstStyle/>
          <a:p>
            <a:r>
              <a:rPr lang="nl-NL" b="1" i="1" dirty="0" smtClean="0">
                <a:solidFill>
                  <a:schemeClr val="accent2">
                    <a:lumMod val="75000"/>
                  </a:schemeClr>
                </a:solidFill>
              </a:rPr>
              <a:t>Ongeldig….</a:t>
            </a:r>
            <a:endParaRPr lang="nl-NL" b="1" i="1" dirty="0">
              <a:solidFill>
                <a:schemeClr val="accent2">
                  <a:lumMod val="75000"/>
                </a:schemeClr>
              </a:solidFill>
            </a:endParaRPr>
          </a:p>
        </p:txBody>
      </p:sp>
      <p:sp>
        <p:nvSpPr>
          <p:cNvPr id="19" name="Content Placeholder 2"/>
          <p:cNvSpPr txBox="1">
            <a:spLocks/>
          </p:cNvSpPr>
          <p:nvPr/>
        </p:nvSpPr>
        <p:spPr>
          <a:xfrm>
            <a:off x="385192" y="5445224"/>
            <a:ext cx="8363272" cy="115212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Binnen 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smtClean="0">
                <a:ln>
                  <a:noFill/>
                </a:ln>
                <a:solidFill>
                  <a:schemeClr val="tx1"/>
                </a:solidFill>
                <a:effectLst/>
                <a:uLnTx/>
                <a:uFillTx/>
                <a:latin typeface="+mn-lt"/>
                <a:ea typeface="+mn-ea"/>
                <a:cs typeface="+mn-cs"/>
              </a:rPr>
              <a:t>termenlogica</a:t>
            </a:r>
            <a:r>
              <a:rPr kumimoji="0" lang="nl-NL" sz="2000" b="0" i="0" u="none" strike="noStrike" kern="1200" cap="none" spc="0" normalizeH="0" noProof="0" dirty="0" smtClean="0">
                <a:ln>
                  <a:noFill/>
                </a:ln>
                <a:solidFill>
                  <a:schemeClr val="tx1"/>
                </a:solidFill>
                <a:effectLst/>
                <a:uLnTx/>
                <a:uFillTx/>
                <a:latin typeface="+mn-lt"/>
                <a:ea typeface="+mn-ea"/>
                <a:cs typeface="+mn-cs"/>
              </a:rPr>
              <a:t> is het wel mogelijk om dit soort redeneringen te analyseren.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20" name="Content Placeholder 2"/>
          <p:cNvSpPr txBox="1">
            <a:spLocks/>
          </p:cNvSpPr>
          <p:nvPr/>
        </p:nvSpPr>
        <p:spPr>
          <a:xfrm>
            <a:off x="467544" y="4149080"/>
            <a:ext cx="5184576" cy="1224136"/>
          </a:xfrm>
          <a:prstGeom prst="rect">
            <a:avLst/>
          </a:prstGeom>
        </p:spPr>
        <p:txBody>
          <a:bodyPr vert="horz" lIns="91440" tIns="45720" rIns="91440" bIns="45720" rtlCol="0">
            <a:noAutofit/>
          </a:bodyPr>
          <a:lstStyle/>
          <a:p>
            <a:pPr marL="342900" indent="-342900" algn="just">
              <a:spcBef>
                <a:spcPct val="20000"/>
              </a:spcBef>
            </a:pPr>
            <a:r>
              <a:rPr lang="nl-NL" dirty="0" smtClean="0">
                <a:solidFill>
                  <a:srgbClr val="0070C0"/>
                </a:solidFill>
              </a:rPr>
              <a:t>Alle ellipsen zijn </a:t>
            </a:r>
            <a:r>
              <a:rPr lang="nl-NL" dirty="0" err="1" smtClean="0">
                <a:solidFill>
                  <a:srgbClr val="0070C0"/>
                </a:solidFill>
              </a:rPr>
              <a:t>geometische</a:t>
            </a:r>
            <a:r>
              <a:rPr lang="nl-NL" dirty="0" smtClean="0">
                <a:solidFill>
                  <a:srgbClr val="0070C0"/>
                </a:solidFill>
              </a:rPr>
              <a:t> figuren</a:t>
            </a:r>
          </a:p>
          <a:p>
            <a:pPr marL="342900" indent="-342900" algn="just">
              <a:spcBef>
                <a:spcPct val="20000"/>
              </a:spcBef>
            </a:pPr>
            <a:r>
              <a:rPr lang="nl-NL" dirty="0" smtClean="0">
                <a:solidFill>
                  <a:srgbClr val="0070C0"/>
                </a:solidFill>
              </a:rPr>
              <a:t>Alle </a:t>
            </a:r>
            <a:r>
              <a:rPr lang="nl-NL" dirty="0" err="1" smtClean="0">
                <a:solidFill>
                  <a:srgbClr val="0070C0"/>
                </a:solidFill>
              </a:rPr>
              <a:t>geometische</a:t>
            </a:r>
            <a:r>
              <a:rPr lang="nl-NL" dirty="0" smtClean="0">
                <a:solidFill>
                  <a:srgbClr val="0070C0"/>
                </a:solidFill>
              </a:rPr>
              <a:t> figuren zijn wiskundige objecten</a:t>
            </a:r>
          </a:p>
          <a:p>
            <a:pPr marL="342900" indent="-342900" algn="just">
              <a:spcBef>
                <a:spcPct val="20000"/>
              </a:spcBef>
            </a:pPr>
            <a:r>
              <a:rPr lang="nl-NL" dirty="0" smtClean="0">
                <a:solidFill>
                  <a:srgbClr val="0070C0"/>
                </a:solidFill>
              </a:rPr>
              <a:t>Dus: Alle ellipsen zijn wiskundige objecten</a:t>
            </a:r>
            <a:endParaRPr lang="nl-NL" b="1" dirty="0" smtClean="0"/>
          </a:p>
          <a:p>
            <a:pPr marL="342900" indent="-342900" algn="just">
              <a:spcBef>
                <a:spcPct val="20000"/>
              </a:spcBef>
            </a:pP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2000"/>
                                        <p:tgtEl>
                                          <p:spTgt spid="1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2000"/>
                                        <p:tgtEl>
                                          <p:spTgt spid="1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7">
                                            <p:txEl>
                                              <p:pRg st="0" end="0"/>
                                            </p:txEl>
                                          </p:spTgt>
                                        </p:tgtEl>
                                        <p:attrNameLst>
                                          <p:attrName>style.visibility</p:attrName>
                                        </p:attrNameLst>
                                      </p:cBhvr>
                                      <p:to>
                                        <p:strVal val="visible"/>
                                      </p:to>
                                    </p:set>
                                    <p:animEffect transition="in" filter="fade">
                                      <p:cBhvr>
                                        <p:cTn id="16" dur="2000"/>
                                        <p:tgtEl>
                                          <p:spTgt spid="17">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xEl>
                                              <p:pRg st="1" end="1"/>
                                            </p:txEl>
                                          </p:spTgt>
                                        </p:tgtEl>
                                        <p:attrNameLst>
                                          <p:attrName>style.visibility</p:attrName>
                                        </p:attrNameLst>
                                      </p:cBhvr>
                                      <p:to>
                                        <p:strVal val="visible"/>
                                      </p:to>
                                    </p:set>
                                    <p:animEffect transition="in" filter="fade">
                                      <p:cBhvr>
                                        <p:cTn id="19" dur="2000"/>
                                        <p:tgtEl>
                                          <p:spTgt spid="17">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xEl>
                                              <p:pRg st="2" end="2"/>
                                            </p:txEl>
                                          </p:spTgt>
                                        </p:tgtEl>
                                        <p:attrNameLst>
                                          <p:attrName>style.visibility</p:attrName>
                                        </p:attrNameLst>
                                      </p:cBhvr>
                                      <p:to>
                                        <p:strVal val="visible"/>
                                      </p:to>
                                    </p:set>
                                    <p:animEffect transition="in" filter="fade">
                                      <p:cBhvr>
                                        <p:cTn id="22" dur="2000"/>
                                        <p:tgtEl>
                                          <p:spTgt spid="1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fade">
                                      <p:cBhvr>
                                        <p:cTn id="27" dur="2000"/>
                                        <p:tgtEl>
                                          <p:spTgt spid="1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0">
                                            <p:txEl>
                                              <p:pRg st="0" end="0"/>
                                            </p:txEl>
                                          </p:spTgt>
                                        </p:tgtEl>
                                        <p:attrNameLst>
                                          <p:attrName>style.visibility</p:attrName>
                                        </p:attrNameLst>
                                      </p:cBhvr>
                                      <p:to>
                                        <p:strVal val="visible"/>
                                      </p:to>
                                    </p:set>
                                    <p:animEffect transition="in" filter="fade">
                                      <p:cBhvr>
                                        <p:cTn id="32" dur="2000"/>
                                        <p:tgtEl>
                                          <p:spTgt spid="20">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xEl>
                                              <p:pRg st="1" end="1"/>
                                            </p:txEl>
                                          </p:spTgt>
                                        </p:tgtEl>
                                        <p:attrNameLst>
                                          <p:attrName>style.visibility</p:attrName>
                                        </p:attrNameLst>
                                      </p:cBhvr>
                                      <p:to>
                                        <p:strVal val="visible"/>
                                      </p:to>
                                    </p:set>
                                    <p:animEffect transition="in" filter="fade">
                                      <p:cBhvr>
                                        <p:cTn id="35" dur="2000"/>
                                        <p:tgtEl>
                                          <p:spTgt spid="20">
                                            <p:txEl>
                                              <p:pRg st="1" end="1"/>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xEl>
                                              <p:pRg st="2" end="2"/>
                                            </p:txEl>
                                          </p:spTgt>
                                        </p:tgtEl>
                                        <p:attrNameLst>
                                          <p:attrName>style.visibility</p:attrName>
                                        </p:attrNameLst>
                                      </p:cBhvr>
                                      <p:to>
                                        <p:strVal val="visible"/>
                                      </p:to>
                                    </p:set>
                                    <p:animEffect transition="in" filter="fade">
                                      <p:cBhvr>
                                        <p:cTn id="38" dur="2000"/>
                                        <p:tgtEl>
                                          <p:spTgt spid="20">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
                                            <p:txEl>
                                              <p:pRg st="0" end="0"/>
                                            </p:txEl>
                                          </p:spTgt>
                                        </p:tgtEl>
                                        <p:attrNameLst>
                                          <p:attrName>style.visibility</p:attrName>
                                        </p:attrNameLst>
                                      </p:cBhvr>
                                      <p:to>
                                        <p:strVal val="visible"/>
                                      </p:to>
                                    </p:set>
                                    <p:animEffect transition="in" filter="fade">
                                      <p:cBhvr>
                                        <p:cTn id="43" dur="20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P spid="17" grpId="0" build="allAtOnce"/>
      <p:bldP spid="18" grpId="0" build="allAtOnce"/>
      <p:bldP spid="19" grpId="0" build="allAtOnce"/>
      <p:bldP spid="20" grpId="0" build="allAtOnce"/>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a:t>
            </a:r>
            <a:r>
              <a:rPr lang="nl-NL" sz="3600" dirty="0" err="1" smtClean="0"/>
              <a:t>syllogistiek</a:t>
            </a:r>
            <a:endParaRPr lang="nl-NL" sz="3600" dirty="0"/>
          </a:p>
        </p:txBody>
      </p:sp>
      <p:sp>
        <p:nvSpPr>
          <p:cNvPr id="3" name="Content Placeholder 2"/>
          <p:cNvSpPr>
            <a:spLocks noGrp="1"/>
          </p:cNvSpPr>
          <p:nvPr>
            <p:ph idx="1"/>
          </p:nvPr>
        </p:nvSpPr>
        <p:spPr>
          <a:xfrm>
            <a:off x="457200" y="1600201"/>
            <a:ext cx="8686800" cy="1108720"/>
          </a:xfrm>
        </p:spPr>
        <p:txBody>
          <a:bodyPr>
            <a:noAutofit/>
          </a:bodyPr>
          <a:lstStyle/>
          <a:p>
            <a:r>
              <a:rPr lang="nl-NL" sz="2000" dirty="0" smtClean="0"/>
              <a:t>De </a:t>
            </a:r>
            <a:r>
              <a:rPr lang="nl-NL" sz="2000" i="1" dirty="0" smtClean="0"/>
              <a:t>termen- of </a:t>
            </a:r>
            <a:r>
              <a:rPr lang="nl-NL" sz="2000" i="1" dirty="0" err="1" smtClean="0"/>
              <a:t>begipslogica</a:t>
            </a:r>
            <a:r>
              <a:rPr lang="nl-NL" sz="2000" dirty="0" smtClean="0"/>
              <a:t> is de meest stabiele kern van de traditionele oftewel </a:t>
            </a:r>
            <a:r>
              <a:rPr lang="nl-NL" sz="2000" dirty="0" err="1" smtClean="0"/>
              <a:t>pre-fregeaanse</a:t>
            </a:r>
            <a:r>
              <a:rPr lang="nl-NL" sz="2000" dirty="0" smtClean="0"/>
              <a:t> logica. Ze wordt ook wel </a:t>
            </a:r>
            <a:r>
              <a:rPr lang="nl-NL" sz="2000" i="1" dirty="0" err="1" smtClean="0"/>
              <a:t>syllogismeleer</a:t>
            </a:r>
            <a:r>
              <a:rPr lang="nl-NL" sz="2000" dirty="0" smtClean="0"/>
              <a:t> of </a:t>
            </a:r>
            <a:r>
              <a:rPr lang="nl-NL" sz="2000" i="1" dirty="0" err="1" smtClean="0"/>
              <a:t>syllogistiek</a:t>
            </a:r>
            <a:r>
              <a:rPr lang="nl-NL" sz="2000" dirty="0" smtClean="0"/>
              <a:t>   genoemd. We treffen we haar in bijna afgeronde vorm aan bij Aristoteles.</a:t>
            </a:r>
          </a:p>
          <a:p>
            <a:endParaRPr lang="nl-NL" sz="2000" dirty="0" smtClean="0"/>
          </a:p>
          <a:p>
            <a:endParaRPr lang="nl-NL" sz="2000" dirty="0" smtClean="0"/>
          </a:p>
        </p:txBody>
      </p:sp>
      <p:sp>
        <p:nvSpPr>
          <p:cNvPr id="6" name="Content Placeholder 2"/>
          <p:cNvSpPr txBox="1">
            <a:spLocks/>
          </p:cNvSpPr>
          <p:nvPr/>
        </p:nvSpPr>
        <p:spPr>
          <a:xfrm>
            <a:off x="457200" y="2752328"/>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termenlogica is meer dan 2000 jaar lang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bepa</a:t>
            </a:r>
            <a:r>
              <a:rPr lang="nl-NL" sz="2000" dirty="0" err="1" smtClean="0"/>
              <a:t>lend</a:t>
            </a:r>
            <a:r>
              <a:rPr lang="nl-NL" sz="2000" dirty="0" smtClean="0"/>
              <a:t> geweest. Zo schreef Kant in 1787: “Sinds Aristoteles heeft [de </a:t>
            </a:r>
            <a:r>
              <a:rPr lang="nl-NL" sz="2000" dirty="0" err="1" smtClean="0"/>
              <a:t>syllogistiek</a:t>
            </a:r>
            <a:r>
              <a:rPr lang="nl-NL" sz="2000" dirty="0" smtClean="0"/>
              <a:t>] nooit een stap terug hoeven doen. Ook opmerkelijk is dat [de </a:t>
            </a:r>
            <a:r>
              <a:rPr lang="nl-NL" sz="2000" dirty="0" err="1" smtClean="0"/>
              <a:t>syllogistiek</a:t>
            </a:r>
            <a:r>
              <a:rPr lang="nl-NL" sz="2000" dirty="0" smtClean="0"/>
              <a:t>] tot op heden geen stap voorwaarts heeft kunnen doen. Het heeft er alle schijn van dat ze afgesloten en volledig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57200" y="448052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syllogistiek</a:t>
            </a:r>
            <a:r>
              <a:rPr kumimoji="0" lang="nl-NL" sz="2000" b="0" i="0" u="none" strike="noStrike" kern="1200" cap="none" spc="0" normalizeH="0" noProof="0" dirty="0" smtClean="0">
                <a:ln>
                  <a:noFill/>
                </a:ln>
                <a:solidFill>
                  <a:schemeClr val="tx1"/>
                </a:solidFill>
                <a:effectLst/>
                <a:uLnTx/>
                <a:uFillTx/>
                <a:latin typeface="+mn-lt"/>
                <a:ea typeface="+mn-ea"/>
                <a:cs typeface="+mn-cs"/>
              </a:rPr>
              <a:t> heeft diepe sporen nagelaten in de geschiedenis van de westerse wijsbegeerte. Scholastici goten hun betogen in syllogismen. Ook inhoudelijk is de metafysica en kennisleer diepgaand beïnvloed door de </a:t>
            </a:r>
            <a:r>
              <a:rPr kumimoji="0" lang="nl-NL" sz="2000" b="0" i="0" u="none" strike="noStrike" kern="1200" cap="none" spc="0" normalizeH="0" noProof="0" dirty="0" err="1" smtClean="0">
                <a:ln>
                  <a:noFill/>
                </a:ln>
                <a:solidFill>
                  <a:schemeClr val="tx1"/>
                </a:solidFill>
                <a:effectLst/>
                <a:uLnTx/>
                <a:uFillTx/>
                <a:latin typeface="+mn-lt"/>
                <a:ea typeface="+mn-ea"/>
                <a:cs typeface="+mn-cs"/>
              </a:rPr>
              <a:t>syllogistiek</a:t>
            </a:r>
            <a:r>
              <a:rPr kumimoji="0" lang="nl-NL" sz="2000" b="0" i="0" u="none" strike="noStrike" kern="1200" cap="none" spc="0" normalizeH="0" noProof="0" dirty="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auto’s zijn wit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a:t>
            </a:r>
            <a:r>
              <a:rPr lang="nl-NL" sz="2000" b="1" dirty="0" smtClean="0"/>
              <a:t>auto’s</a:t>
            </a:r>
            <a:r>
              <a:rPr lang="nl-NL" sz="2000" dirty="0" smtClean="0"/>
              <a:t> zijn wit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a:t>
            </a:r>
            <a:r>
              <a:rPr lang="nl-NL" sz="2000" b="1" dirty="0" smtClean="0"/>
              <a:t>auto’s</a:t>
            </a:r>
            <a:r>
              <a:rPr lang="nl-NL" sz="2000" dirty="0" smtClean="0"/>
              <a:t> zijn wit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TextBox 4"/>
          <p:cNvSpPr txBox="1"/>
          <p:nvPr/>
        </p:nvSpPr>
        <p:spPr>
          <a:xfrm>
            <a:off x="4355976" y="4005064"/>
            <a:ext cx="2304256" cy="369332"/>
          </a:xfrm>
          <a:prstGeom prst="rect">
            <a:avLst/>
          </a:prstGeom>
          <a:noFill/>
        </p:spPr>
        <p:txBody>
          <a:bodyPr wrap="square" rtlCol="0">
            <a:spAutoFit/>
          </a:bodyPr>
          <a:lstStyle/>
          <a:p>
            <a:r>
              <a:rPr lang="nl-NL" b="1" i="1" dirty="0" smtClean="0"/>
              <a:t>subject</a:t>
            </a:r>
            <a:endParaRPr lang="nl-NL" b="1" i="1" dirty="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a:t>
            </a:r>
            <a:r>
              <a:rPr lang="nl-NL" sz="2000" b="1" dirty="0" smtClean="0"/>
              <a:t>auto’s</a:t>
            </a:r>
            <a:r>
              <a:rPr lang="nl-NL" sz="2000" dirty="0" smtClean="0"/>
              <a:t> zijn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TextBox 4"/>
          <p:cNvSpPr txBox="1"/>
          <p:nvPr/>
        </p:nvSpPr>
        <p:spPr>
          <a:xfrm>
            <a:off x="4355976" y="4005064"/>
            <a:ext cx="2304256" cy="369332"/>
          </a:xfrm>
          <a:prstGeom prst="rect">
            <a:avLst/>
          </a:prstGeom>
          <a:noFill/>
        </p:spPr>
        <p:txBody>
          <a:bodyPr wrap="square" rtlCol="0">
            <a:spAutoFit/>
          </a:bodyPr>
          <a:lstStyle/>
          <a:p>
            <a:r>
              <a:rPr lang="nl-NL" b="1" i="1" dirty="0" smtClean="0"/>
              <a:t>subject</a:t>
            </a:r>
            <a:endParaRPr lang="nl-NL" b="1" i="1" dirty="0"/>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a:t>
            </a:r>
            <a:r>
              <a:rPr lang="nl-NL" sz="2000" b="1" dirty="0" smtClean="0"/>
              <a:t>auto’s</a:t>
            </a:r>
            <a:r>
              <a:rPr lang="nl-NL" sz="2000" dirty="0" smtClean="0"/>
              <a:t> zijn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TextBox 4"/>
          <p:cNvSpPr txBox="1"/>
          <p:nvPr/>
        </p:nvSpPr>
        <p:spPr>
          <a:xfrm>
            <a:off x="4355976"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6" name="TextBox 5"/>
          <p:cNvSpPr txBox="1"/>
          <p:nvPr/>
        </p:nvSpPr>
        <p:spPr>
          <a:xfrm>
            <a:off x="4355976"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a:t>
            </a:r>
            <a:r>
              <a:rPr lang="nl-NL" sz="2000" dirty="0" smtClean="0"/>
              <a:t> </a:t>
            </a:r>
            <a:r>
              <a:rPr lang="nl-NL" sz="2000" b="1" dirty="0" smtClean="0"/>
              <a:t>auto’s</a:t>
            </a:r>
            <a:r>
              <a:rPr lang="nl-NL" sz="2000" dirty="0" smtClean="0"/>
              <a:t> </a:t>
            </a:r>
            <a:r>
              <a:rPr lang="nl-NL" sz="2000" b="1" dirty="0" smtClean="0">
                <a:solidFill>
                  <a:srgbClr val="00B050"/>
                </a:solidFill>
              </a:rPr>
              <a:t>zijn</a:t>
            </a:r>
            <a:r>
              <a:rPr lang="nl-NL" sz="2000" dirty="0" smtClean="0"/>
              <a:t>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TextBox 4"/>
          <p:cNvSpPr txBox="1"/>
          <p:nvPr/>
        </p:nvSpPr>
        <p:spPr>
          <a:xfrm>
            <a:off x="4355976"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6" name="TextBox 5"/>
          <p:cNvSpPr txBox="1"/>
          <p:nvPr/>
        </p:nvSpPr>
        <p:spPr>
          <a:xfrm>
            <a:off x="4355976"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a:t>
            </a:r>
            <a:r>
              <a:rPr lang="nl-NL" sz="2000" dirty="0" smtClean="0"/>
              <a:t> </a:t>
            </a:r>
            <a:r>
              <a:rPr lang="nl-NL" sz="2000" b="1" dirty="0" smtClean="0"/>
              <a:t>auto’s</a:t>
            </a:r>
            <a:r>
              <a:rPr lang="nl-NL" sz="2000" dirty="0" smtClean="0"/>
              <a:t> </a:t>
            </a:r>
            <a:r>
              <a:rPr lang="nl-NL" sz="2000" b="1" dirty="0" smtClean="0">
                <a:solidFill>
                  <a:srgbClr val="00B050"/>
                </a:solidFill>
              </a:rPr>
              <a:t>zijn</a:t>
            </a:r>
            <a:r>
              <a:rPr lang="nl-NL" sz="2000" dirty="0" smtClean="0"/>
              <a:t>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TextBox 4"/>
          <p:cNvSpPr txBox="1"/>
          <p:nvPr/>
        </p:nvSpPr>
        <p:spPr>
          <a:xfrm>
            <a:off x="4355976"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6" name="TextBox 5"/>
          <p:cNvSpPr txBox="1"/>
          <p:nvPr/>
        </p:nvSpPr>
        <p:spPr>
          <a:xfrm>
            <a:off x="4355976"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
        <p:nvSpPr>
          <p:cNvPr id="7" name="TextBox 6"/>
          <p:cNvSpPr txBox="1"/>
          <p:nvPr/>
        </p:nvSpPr>
        <p:spPr>
          <a:xfrm>
            <a:off x="4355976" y="4725144"/>
            <a:ext cx="2304256" cy="369332"/>
          </a:xfrm>
          <a:prstGeom prst="rect">
            <a:avLst/>
          </a:prstGeom>
          <a:noFill/>
        </p:spPr>
        <p:txBody>
          <a:bodyPr wrap="square" rtlCol="0">
            <a:spAutoFit/>
          </a:bodyPr>
          <a:lstStyle/>
          <a:p>
            <a:r>
              <a:rPr lang="nl-NL" b="1" i="1" dirty="0" err="1" smtClean="0">
                <a:solidFill>
                  <a:srgbClr val="00B050"/>
                </a:solidFill>
              </a:rPr>
              <a:t>copula</a:t>
            </a:r>
            <a:endParaRPr lang="nl-NL" b="1" i="1" dirty="0">
              <a:solidFill>
                <a:srgbClr val="00B050"/>
              </a:solidFill>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 </a:t>
            </a:r>
            <a:r>
              <a:rPr lang="nl-NL" sz="2000" b="1" dirty="0" smtClean="0"/>
              <a:t>auto’s</a:t>
            </a:r>
            <a:r>
              <a:rPr lang="nl-NL" sz="2000" dirty="0" smtClean="0"/>
              <a:t> </a:t>
            </a:r>
            <a:r>
              <a:rPr lang="nl-NL" sz="2000" b="1" dirty="0" smtClean="0">
                <a:solidFill>
                  <a:srgbClr val="00B050"/>
                </a:solidFill>
              </a:rPr>
              <a:t>zijn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149080"/>
            <a:ext cx="548295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Alle </a:t>
            </a:r>
            <a:r>
              <a:rPr lang="nl-NL" sz="2000" dirty="0" err="1" smtClean="0"/>
              <a:t>kamerleden</a:t>
            </a:r>
            <a:r>
              <a:rPr lang="nl-NL" sz="2000" dirty="0" smtClean="0"/>
              <a:t> zijn democratisch gekozen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57200" y="4753744"/>
            <a:ext cx="51949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Geen schaap is een dier met vijf poten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467544" y="5373216"/>
            <a:ext cx="583264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insecten zijn niet in staat in zee te leven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6228184"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13" name="TextBox 12"/>
          <p:cNvSpPr txBox="1"/>
          <p:nvPr/>
        </p:nvSpPr>
        <p:spPr>
          <a:xfrm>
            <a:off x="6228184"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
        <p:nvSpPr>
          <p:cNvPr id="14" name="TextBox 13"/>
          <p:cNvSpPr txBox="1"/>
          <p:nvPr/>
        </p:nvSpPr>
        <p:spPr>
          <a:xfrm>
            <a:off x="6228184" y="4725144"/>
            <a:ext cx="2304256" cy="369332"/>
          </a:xfrm>
          <a:prstGeom prst="rect">
            <a:avLst/>
          </a:prstGeom>
          <a:noFill/>
        </p:spPr>
        <p:txBody>
          <a:bodyPr wrap="square" rtlCol="0">
            <a:spAutoFit/>
          </a:bodyPr>
          <a:lstStyle/>
          <a:p>
            <a:r>
              <a:rPr lang="nl-NL" b="1" i="1" dirty="0" err="1" smtClean="0">
                <a:solidFill>
                  <a:srgbClr val="00B050"/>
                </a:solidFill>
              </a:rPr>
              <a:t>copula</a:t>
            </a:r>
            <a:endParaRPr lang="nl-NL" b="1" i="1" dirty="0">
              <a:solidFill>
                <a:srgbClr val="00B050"/>
              </a:solidFill>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 </a:t>
            </a:r>
            <a:r>
              <a:rPr lang="nl-NL" sz="2000" b="1" dirty="0" smtClean="0"/>
              <a:t>auto’s</a:t>
            </a:r>
            <a:r>
              <a:rPr lang="nl-NL" sz="2000" dirty="0" smtClean="0"/>
              <a:t> </a:t>
            </a:r>
            <a:r>
              <a:rPr lang="nl-NL" sz="2000" b="1" dirty="0" smtClean="0">
                <a:solidFill>
                  <a:srgbClr val="00B050"/>
                </a:solidFill>
              </a:rPr>
              <a:t>zijn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149080"/>
            <a:ext cx="548295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Alle</a:t>
            </a:r>
            <a:r>
              <a:rPr lang="nl-NL" sz="2000" dirty="0" smtClean="0"/>
              <a:t> </a:t>
            </a:r>
            <a:r>
              <a:rPr lang="nl-NL" sz="2000" b="1" dirty="0" err="1" smtClean="0"/>
              <a:t>kamerleden</a:t>
            </a:r>
            <a:r>
              <a:rPr lang="nl-NL" sz="2000" dirty="0" smtClean="0"/>
              <a:t> </a:t>
            </a:r>
            <a:r>
              <a:rPr lang="nl-NL" sz="2000" b="1" dirty="0" smtClean="0">
                <a:solidFill>
                  <a:srgbClr val="00B050"/>
                </a:solidFill>
              </a:rPr>
              <a:t>zijn</a:t>
            </a:r>
            <a:r>
              <a:rPr lang="nl-NL" sz="2000" dirty="0" smtClean="0"/>
              <a:t> </a:t>
            </a:r>
            <a:r>
              <a:rPr lang="nl-NL" sz="2000" b="1" dirty="0" smtClean="0">
                <a:solidFill>
                  <a:schemeClr val="accent6">
                    <a:lumMod val="75000"/>
                  </a:schemeClr>
                </a:solidFill>
              </a:rPr>
              <a:t>democratisch gekozen</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57200" y="4753744"/>
            <a:ext cx="51949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Geen schaap is een dier met vijf poten</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12" name="Content Placeholder 2"/>
          <p:cNvSpPr txBox="1">
            <a:spLocks/>
          </p:cNvSpPr>
          <p:nvPr/>
        </p:nvSpPr>
        <p:spPr>
          <a:xfrm>
            <a:off x="467544" y="5373216"/>
            <a:ext cx="583264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insecten zijn niet in staat in zee te leven</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8" name="TextBox 7"/>
          <p:cNvSpPr txBox="1"/>
          <p:nvPr/>
        </p:nvSpPr>
        <p:spPr>
          <a:xfrm>
            <a:off x="6228184"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13" name="TextBox 12"/>
          <p:cNvSpPr txBox="1"/>
          <p:nvPr/>
        </p:nvSpPr>
        <p:spPr>
          <a:xfrm>
            <a:off x="6228184"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
        <p:nvSpPr>
          <p:cNvPr id="14" name="TextBox 13"/>
          <p:cNvSpPr txBox="1"/>
          <p:nvPr/>
        </p:nvSpPr>
        <p:spPr>
          <a:xfrm>
            <a:off x="6228184" y="4725144"/>
            <a:ext cx="2304256" cy="369332"/>
          </a:xfrm>
          <a:prstGeom prst="rect">
            <a:avLst/>
          </a:prstGeom>
          <a:noFill/>
        </p:spPr>
        <p:txBody>
          <a:bodyPr wrap="square" rtlCol="0">
            <a:spAutoFit/>
          </a:bodyPr>
          <a:lstStyle/>
          <a:p>
            <a:r>
              <a:rPr lang="nl-NL" b="1" i="1" dirty="0" err="1" smtClean="0">
                <a:solidFill>
                  <a:srgbClr val="00B050"/>
                </a:solidFill>
              </a:rPr>
              <a:t>copula</a:t>
            </a:r>
            <a:endParaRPr lang="nl-NL" b="1" i="1" dirty="0">
              <a:solidFill>
                <a:srgbClr val="00B050"/>
              </a:solidFill>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 </a:t>
            </a:r>
            <a:r>
              <a:rPr lang="nl-NL" sz="2000" b="1" dirty="0" smtClean="0"/>
              <a:t>auto’s</a:t>
            </a:r>
            <a:r>
              <a:rPr lang="nl-NL" sz="2000" dirty="0" smtClean="0"/>
              <a:t> </a:t>
            </a:r>
            <a:r>
              <a:rPr lang="nl-NL" sz="2000" b="1" dirty="0" smtClean="0">
                <a:solidFill>
                  <a:srgbClr val="00B050"/>
                </a:solidFill>
              </a:rPr>
              <a:t>zijn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149080"/>
            <a:ext cx="548295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Alle</a:t>
            </a:r>
            <a:r>
              <a:rPr lang="nl-NL" sz="2000" dirty="0" smtClean="0"/>
              <a:t> </a:t>
            </a:r>
            <a:r>
              <a:rPr lang="nl-NL" sz="2000" b="1" dirty="0" err="1" smtClean="0"/>
              <a:t>kamerleden</a:t>
            </a:r>
            <a:r>
              <a:rPr lang="nl-NL" sz="2000" dirty="0" smtClean="0"/>
              <a:t> </a:t>
            </a:r>
            <a:r>
              <a:rPr lang="nl-NL" sz="2000" b="1" dirty="0" smtClean="0">
                <a:solidFill>
                  <a:srgbClr val="00B050"/>
                </a:solidFill>
              </a:rPr>
              <a:t>zijn</a:t>
            </a:r>
            <a:r>
              <a:rPr lang="nl-NL" sz="2000" dirty="0" smtClean="0"/>
              <a:t> </a:t>
            </a:r>
            <a:r>
              <a:rPr lang="nl-NL" sz="2000" b="1" dirty="0" smtClean="0">
                <a:solidFill>
                  <a:schemeClr val="accent6">
                    <a:lumMod val="75000"/>
                  </a:schemeClr>
                </a:solidFill>
              </a:rPr>
              <a:t>democratisch gekozen</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57200" y="4753744"/>
            <a:ext cx="51949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Geen</a:t>
            </a:r>
            <a:r>
              <a:rPr lang="nl-NL" sz="2000" dirty="0" smtClean="0"/>
              <a:t> </a:t>
            </a:r>
            <a:r>
              <a:rPr lang="nl-NL" sz="2000" b="1" dirty="0" smtClean="0"/>
              <a:t>schaap</a:t>
            </a:r>
            <a:r>
              <a:rPr lang="nl-NL" sz="2000" dirty="0" smtClean="0"/>
              <a:t> </a:t>
            </a:r>
            <a:r>
              <a:rPr lang="nl-NL" sz="2000" b="1" dirty="0" smtClean="0">
                <a:solidFill>
                  <a:srgbClr val="00B050"/>
                </a:solidFill>
              </a:rPr>
              <a:t>is</a:t>
            </a:r>
            <a:r>
              <a:rPr lang="nl-NL" sz="2000" dirty="0" smtClean="0"/>
              <a:t> </a:t>
            </a:r>
            <a:r>
              <a:rPr lang="nl-NL" sz="2000" b="1" dirty="0" smtClean="0">
                <a:solidFill>
                  <a:schemeClr val="accent6">
                    <a:lumMod val="75000"/>
                  </a:schemeClr>
                </a:solidFill>
              </a:rPr>
              <a:t>een</a:t>
            </a:r>
            <a:r>
              <a:rPr lang="nl-NL" sz="2000" dirty="0" smtClean="0"/>
              <a:t> </a:t>
            </a:r>
            <a:r>
              <a:rPr lang="nl-NL" sz="2000" b="1" dirty="0" smtClean="0">
                <a:solidFill>
                  <a:schemeClr val="accent6">
                    <a:lumMod val="75000"/>
                  </a:schemeClr>
                </a:solidFill>
              </a:rPr>
              <a:t>dier met vijf poten</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467544" y="5373216"/>
            <a:ext cx="568863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Sommige insecten zijn niet in staat in zee te leven</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8" name="TextBox 7"/>
          <p:cNvSpPr txBox="1"/>
          <p:nvPr/>
        </p:nvSpPr>
        <p:spPr>
          <a:xfrm>
            <a:off x="6228184"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13" name="TextBox 12"/>
          <p:cNvSpPr txBox="1"/>
          <p:nvPr/>
        </p:nvSpPr>
        <p:spPr>
          <a:xfrm>
            <a:off x="6228184"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
        <p:nvSpPr>
          <p:cNvPr id="14" name="TextBox 13"/>
          <p:cNvSpPr txBox="1"/>
          <p:nvPr/>
        </p:nvSpPr>
        <p:spPr>
          <a:xfrm>
            <a:off x="6228184" y="4725144"/>
            <a:ext cx="2304256" cy="369332"/>
          </a:xfrm>
          <a:prstGeom prst="rect">
            <a:avLst/>
          </a:prstGeom>
          <a:noFill/>
        </p:spPr>
        <p:txBody>
          <a:bodyPr wrap="square" rtlCol="0">
            <a:spAutoFit/>
          </a:bodyPr>
          <a:lstStyle/>
          <a:p>
            <a:r>
              <a:rPr lang="nl-NL" b="1" i="1" dirty="0" err="1" smtClean="0">
                <a:solidFill>
                  <a:srgbClr val="00B050"/>
                </a:solidFill>
              </a:rPr>
              <a:t>copula</a:t>
            </a:r>
            <a:endParaRPr lang="nl-NL" b="1" i="1" dirty="0">
              <a:solidFill>
                <a:srgbClr val="00B050"/>
              </a:solidFill>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Subject-predikaat</a:t>
            </a:r>
            <a:r>
              <a:rPr lang="nl-NL" sz="3600" dirty="0" smtClean="0"/>
              <a:t> oordelen</a:t>
            </a:r>
            <a:endParaRPr lang="nl-NL" sz="3600" dirty="0"/>
          </a:p>
        </p:txBody>
      </p:sp>
      <p:sp>
        <p:nvSpPr>
          <p:cNvPr id="3" name="Content Placeholder 2"/>
          <p:cNvSpPr>
            <a:spLocks noGrp="1"/>
          </p:cNvSpPr>
          <p:nvPr>
            <p:ph idx="1"/>
          </p:nvPr>
        </p:nvSpPr>
        <p:spPr>
          <a:xfrm>
            <a:off x="457200" y="1600201"/>
            <a:ext cx="8363272" cy="1108720"/>
          </a:xfrm>
        </p:spPr>
        <p:txBody>
          <a:bodyPr>
            <a:noAutofit/>
          </a:bodyPr>
          <a:lstStyle/>
          <a:p>
            <a:r>
              <a:rPr lang="nl-NL" sz="2000" dirty="0" smtClean="0"/>
              <a:t>Een </a:t>
            </a:r>
            <a:r>
              <a:rPr lang="nl-NL" sz="2000" b="1" dirty="0" smtClean="0">
                <a:solidFill>
                  <a:schemeClr val="accent1"/>
                </a:solidFill>
              </a:rPr>
              <a:t>oordeel</a:t>
            </a:r>
            <a:r>
              <a:rPr lang="nl-NL" sz="2000" dirty="0" smtClean="0"/>
              <a:t> bestaat uit twee </a:t>
            </a:r>
            <a:r>
              <a:rPr lang="nl-NL" sz="2000" b="1" dirty="0" smtClean="0">
                <a:solidFill>
                  <a:schemeClr val="accent1"/>
                </a:solidFill>
              </a:rPr>
              <a:t>termen</a:t>
            </a:r>
            <a:r>
              <a:rPr lang="nl-NL" sz="2000" dirty="0" smtClean="0"/>
              <a:t> (begrippen) en een </a:t>
            </a:r>
            <a:r>
              <a:rPr lang="nl-NL" sz="2000" b="1" dirty="0" err="1" smtClean="0">
                <a:solidFill>
                  <a:schemeClr val="accent1"/>
                </a:solidFill>
              </a:rPr>
              <a:t>copula</a:t>
            </a:r>
            <a:r>
              <a:rPr lang="nl-NL" sz="2000" dirty="0" smtClean="0"/>
              <a:t> (de verbindende expressie). De twee termen worden respectievelijk </a:t>
            </a:r>
            <a:r>
              <a:rPr lang="nl-NL" sz="2000" b="1" dirty="0" smtClean="0">
                <a:solidFill>
                  <a:schemeClr val="accent1"/>
                </a:solidFill>
              </a:rPr>
              <a:t>subject</a:t>
            </a:r>
            <a:r>
              <a:rPr lang="nl-NL" sz="2000" dirty="0" smtClean="0"/>
              <a:t> (</a:t>
            </a:r>
            <a:r>
              <a:rPr lang="nl-NL" sz="2000" dirty="0" err="1" smtClean="0"/>
              <a:t>subject-term</a:t>
            </a:r>
            <a:r>
              <a:rPr lang="nl-NL" sz="2000" dirty="0" smtClean="0"/>
              <a:t>) en </a:t>
            </a:r>
            <a:r>
              <a:rPr lang="nl-NL" sz="2000" b="1" dirty="0" err="1" smtClean="0">
                <a:solidFill>
                  <a:schemeClr val="accent1"/>
                </a:solidFill>
              </a:rPr>
              <a:t>predikaat</a:t>
            </a:r>
            <a:r>
              <a:rPr lang="nl-NL" sz="2000" dirty="0" smtClean="0"/>
              <a:t> (</a:t>
            </a:r>
            <a:r>
              <a:rPr lang="nl-NL" sz="2000" dirty="0" err="1" smtClean="0"/>
              <a:t>predikaat-term</a:t>
            </a:r>
            <a:r>
              <a:rPr lang="nl-NL" sz="2000" dirty="0" smtClean="0"/>
              <a:t>) genoemd. Het subject is de               term waarover iets wordt gezegd. Het </a:t>
            </a:r>
            <a:r>
              <a:rPr lang="nl-NL" sz="2000" dirty="0" err="1" smtClean="0"/>
              <a:t>predikaat</a:t>
            </a:r>
            <a:r>
              <a:rPr lang="nl-NL" sz="2000" dirty="0" smtClean="0"/>
              <a:t> is dat wat erover wordt gezegd.</a:t>
            </a:r>
          </a:p>
          <a:p>
            <a:endParaRPr lang="nl-NL" sz="2000" dirty="0" smtClean="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 </a:t>
            </a:r>
            <a:r>
              <a:rPr lang="nl-NL" sz="2000" b="1" dirty="0" smtClean="0"/>
              <a:t>auto’s</a:t>
            </a:r>
            <a:r>
              <a:rPr lang="nl-NL" sz="2000" dirty="0" smtClean="0"/>
              <a:t> </a:t>
            </a:r>
            <a:r>
              <a:rPr lang="nl-NL" sz="2000" b="1" dirty="0" smtClean="0">
                <a:solidFill>
                  <a:srgbClr val="00B050"/>
                </a:solidFill>
              </a:rPr>
              <a:t>zijn </a:t>
            </a:r>
            <a:r>
              <a:rPr lang="nl-NL" sz="2000" b="1" dirty="0" smtClean="0">
                <a:solidFill>
                  <a:schemeClr val="accent6">
                    <a:lumMod val="75000"/>
                  </a:schemeClr>
                </a:solidFill>
              </a:rPr>
              <a:t>wit</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149080"/>
            <a:ext cx="548295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Alle</a:t>
            </a:r>
            <a:r>
              <a:rPr lang="nl-NL" sz="2000" dirty="0" smtClean="0"/>
              <a:t> </a:t>
            </a:r>
            <a:r>
              <a:rPr lang="nl-NL" sz="2000" b="1" dirty="0" err="1" smtClean="0"/>
              <a:t>kamerleden</a:t>
            </a:r>
            <a:r>
              <a:rPr lang="nl-NL" sz="2000" dirty="0" smtClean="0"/>
              <a:t> </a:t>
            </a:r>
            <a:r>
              <a:rPr lang="nl-NL" sz="2000" b="1" dirty="0" smtClean="0">
                <a:solidFill>
                  <a:srgbClr val="00B050"/>
                </a:solidFill>
              </a:rPr>
              <a:t>zijn</a:t>
            </a:r>
            <a:r>
              <a:rPr lang="nl-NL" sz="2000" dirty="0" smtClean="0"/>
              <a:t> </a:t>
            </a:r>
            <a:r>
              <a:rPr lang="nl-NL" sz="2000" b="1" dirty="0" smtClean="0">
                <a:solidFill>
                  <a:schemeClr val="accent6">
                    <a:lumMod val="75000"/>
                  </a:schemeClr>
                </a:solidFill>
              </a:rPr>
              <a:t>democratisch gekozen</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57200" y="4753744"/>
            <a:ext cx="51949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Geen</a:t>
            </a:r>
            <a:r>
              <a:rPr lang="nl-NL" sz="2000" dirty="0" smtClean="0"/>
              <a:t> </a:t>
            </a:r>
            <a:r>
              <a:rPr lang="nl-NL" sz="2000" b="1" dirty="0" smtClean="0"/>
              <a:t>schaap</a:t>
            </a:r>
            <a:r>
              <a:rPr lang="nl-NL" sz="2000" dirty="0" smtClean="0"/>
              <a:t> </a:t>
            </a:r>
            <a:r>
              <a:rPr lang="nl-NL" sz="2000" b="1" dirty="0" smtClean="0">
                <a:solidFill>
                  <a:srgbClr val="00B050"/>
                </a:solidFill>
              </a:rPr>
              <a:t>is</a:t>
            </a:r>
            <a:r>
              <a:rPr lang="nl-NL" sz="2000" dirty="0" smtClean="0"/>
              <a:t> </a:t>
            </a:r>
            <a:r>
              <a:rPr lang="nl-NL" sz="2000" b="1" dirty="0" smtClean="0">
                <a:solidFill>
                  <a:schemeClr val="accent6">
                    <a:lumMod val="75000"/>
                  </a:schemeClr>
                </a:solidFill>
              </a:rPr>
              <a:t>een</a:t>
            </a:r>
            <a:r>
              <a:rPr lang="nl-NL" sz="2000" dirty="0" smtClean="0"/>
              <a:t> </a:t>
            </a:r>
            <a:r>
              <a:rPr lang="nl-NL" sz="2000" b="1" dirty="0" smtClean="0">
                <a:solidFill>
                  <a:schemeClr val="accent6">
                    <a:lumMod val="75000"/>
                  </a:schemeClr>
                </a:solidFill>
              </a:rPr>
              <a:t>dier met vijf poten</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467544" y="5373216"/>
            <a:ext cx="59046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a:t>
            </a:r>
            <a:r>
              <a:rPr lang="nl-NL" sz="2000" dirty="0" smtClean="0"/>
              <a:t> </a:t>
            </a:r>
            <a:r>
              <a:rPr lang="nl-NL" sz="2000" b="1" dirty="0" smtClean="0"/>
              <a:t>insecten</a:t>
            </a:r>
            <a:r>
              <a:rPr lang="nl-NL" sz="2000" dirty="0" smtClean="0"/>
              <a:t> </a:t>
            </a:r>
            <a:r>
              <a:rPr lang="nl-NL" sz="2000" b="1" dirty="0" smtClean="0">
                <a:solidFill>
                  <a:srgbClr val="00B050"/>
                </a:solidFill>
              </a:rPr>
              <a:t>zijn niet</a:t>
            </a:r>
            <a:r>
              <a:rPr lang="nl-NL" sz="2000" dirty="0" smtClean="0"/>
              <a:t> </a:t>
            </a:r>
            <a:r>
              <a:rPr lang="nl-NL" sz="2000" b="1" dirty="0" smtClean="0">
                <a:solidFill>
                  <a:schemeClr val="accent6">
                    <a:lumMod val="75000"/>
                  </a:schemeClr>
                </a:solidFill>
              </a:rPr>
              <a:t>in staat in zee te leven</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6228184"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13" name="TextBox 12"/>
          <p:cNvSpPr txBox="1"/>
          <p:nvPr/>
        </p:nvSpPr>
        <p:spPr>
          <a:xfrm>
            <a:off x="6228184"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
        <p:nvSpPr>
          <p:cNvPr id="14" name="TextBox 13"/>
          <p:cNvSpPr txBox="1"/>
          <p:nvPr/>
        </p:nvSpPr>
        <p:spPr>
          <a:xfrm>
            <a:off x="6228184" y="4725144"/>
            <a:ext cx="2304256" cy="369332"/>
          </a:xfrm>
          <a:prstGeom prst="rect">
            <a:avLst/>
          </a:prstGeom>
          <a:noFill/>
        </p:spPr>
        <p:txBody>
          <a:bodyPr wrap="square" rtlCol="0">
            <a:spAutoFit/>
          </a:bodyPr>
          <a:lstStyle/>
          <a:p>
            <a:r>
              <a:rPr lang="nl-NL" b="1" i="1" dirty="0" err="1" smtClean="0">
                <a:solidFill>
                  <a:srgbClr val="00B050"/>
                </a:solidFill>
              </a:rPr>
              <a:t>copula</a:t>
            </a:r>
            <a:endParaRPr lang="nl-NL" b="1" i="1" dirty="0">
              <a:solidFill>
                <a:srgbClr val="00B050"/>
              </a:solidFill>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Vier oordeelsvormen</a:t>
            </a:r>
            <a:endParaRPr lang="nl-NL" sz="3600" dirty="0"/>
          </a:p>
        </p:txBody>
      </p:sp>
      <p:sp>
        <p:nvSpPr>
          <p:cNvPr id="9" name="Content Placeholder 2"/>
          <p:cNvSpPr txBox="1">
            <a:spLocks/>
          </p:cNvSpPr>
          <p:nvPr/>
        </p:nvSpPr>
        <p:spPr>
          <a:xfrm>
            <a:off x="457200" y="3573016"/>
            <a:ext cx="325070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 </a:t>
            </a:r>
            <a:r>
              <a:rPr lang="nl-NL" sz="2000" b="1" dirty="0" smtClean="0"/>
              <a:t>S</a:t>
            </a:r>
            <a:r>
              <a:rPr lang="nl-NL" sz="2000" dirty="0" smtClean="0"/>
              <a:t> </a:t>
            </a:r>
            <a:r>
              <a:rPr lang="nl-NL" sz="2000" b="1" dirty="0" smtClean="0">
                <a:solidFill>
                  <a:srgbClr val="00B050"/>
                </a:solidFill>
              </a:rPr>
              <a:t>zijn </a:t>
            </a:r>
            <a:r>
              <a:rPr lang="nl-NL" sz="2000" b="1" dirty="0" smtClean="0">
                <a:solidFill>
                  <a:schemeClr val="accent6">
                    <a:lumMod val="75000"/>
                  </a:schemeClr>
                </a:solidFill>
              </a:rPr>
              <a:t>P</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149080"/>
            <a:ext cx="548295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Alle</a:t>
            </a:r>
            <a:r>
              <a:rPr lang="nl-NL" sz="2000" dirty="0" smtClean="0"/>
              <a:t> </a:t>
            </a:r>
            <a:r>
              <a:rPr lang="nl-NL" sz="2000" b="1" dirty="0" smtClean="0"/>
              <a:t>S </a:t>
            </a:r>
            <a:r>
              <a:rPr lang="nl-NL" sz="2000" b="1" dirty="0" smtClean="0">
                <a:solidFill>
                  <a:srgbClr val="00B050"/>
                </a:solidFill>
              </a:rPr>
              <a:t>zijn </a:t>
            </a:r>
            <a:r>
              <a:rPr lang="nl-NL" sz="2000" b="1" dirty="0" smtClean="0">
                <a:solidFill>
                  <a:schemeClr val="accent6">
                    <a:lumMod val="75000"/>
                  </a:schemeClr>
                </a:solidFill>
              </a:rPr>
              <a:t>P</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57200" y="4753744"/>
            <a:ext cx="51949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Geen</a:t>
            </a:r>
            <a:r>
              <a:rPr lang="nl-NL" sz="2000" dirty="0" smtClean="0"/>
              <a:t> </a:t>
            </a:r>
            <a:r>
              <a:rPr lang="nl-NL" sz="2000" b="1" dirty="0" smtClean="0"/>
              <a:t>S</a:t>
            </a:r>
            <a:r>
              <a:rPr lang="nl-NL" sz="2000" dirty="0" smtClean="0"/>
              <a:t> </a:t>
            </a:r>
            <a:r>
              <a:rPr lang="nl-NL" sz="2000" b="1" dirty="0" smtClean="0">
                <a:solidFill>
                  <a:srgbClr val="00B050"/>
                </a:solidFill>
              </a:rPr>
              <a:t>is</a:t>
            </a:r>
            <a:r>
              <a:rPr lang="nl-NL" sz="2000" dirty="0" smtClean="0"/>
              <a:t> </a:t>
            </a:r>
            <a:r>
              <a:rPr lang="nl-NL" sz="2000" b="1" dirty="0" smtClean="0">
                <a:solidFill>
                  <a:schemeClr val="accent6">
                    <a:lumMod val="75000"/>
                  </a:schemeClr>
                </a:solidFill>
              </a:rPr>
              <a:t>P</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467544" y="5373216"/>
            <a:ext cx="52565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dirty="0" smtClean="0">
                <a:solidFill>
                  <a:srgbClr val="00B050"/>
                </a:solidFill>
              </a:rPr>
              <a:t>Sommige</a:t>
            </a:r>
            <a:r>
              <a:rPr lang="nl-NL" sz="2000" dirty="0" smtClean="0"/>
              <a:t> </a:t>
            </a:r>
            <a:r>
              <a:rPr lang="nl-NL" sz="2000" b="1" dirty="0" smtClean="0"/>
              <a:t>S</a:t>
            </a:r>
            <a:r>
              <a:rPr lang="nl-NL" sz="2000" dirty="0" smtClean="0"/>
              <a:t> </a:t>
            </a:r>
            <a:r>
              <a:rPr lang="nl-NL" sz="2000" b="1" dirty="0" smtClean="0">
                <a:solidFill>
                  <a:srgbClr val="00B050"/>
                </a:solidFill>
              </a:rPr>
              <a:t>zijn niet</a:t>
            </a:r>
            <a:r>
              <a:rPr lang="nl-NL" sz="2000" dirty="0" smtClean="0"/>
              <a:t> </a:t>
            </a:r>
            <a:r>
              <a:rPr lang="nl-NL" sz="2000" b="1" dirty="0" smtClean="0">
                <a:solidFill>
                  <a:schemeClr val="accent6">
                    <a:lumMod val="75000"/>
                  </a:schemeClr>
                </a:solidFill>
              </a:rPr>
              <a:t>P</a:t>
            </a:r>
            <a:endParaRPr kumimoji="0" lang="nl-NL" sz="2000" b="1" i="0" u="none" strike="noStrike" kern="1200" cap="none" spc="0" normalizeH="0" baseline="0" noProof="0" dirty="0" smtClean="0">
              <a:ln>
                <a:noFill/>
              </a:ln>
              <a:solidFill>
                <a:schemeClr val="accent6">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6228184" y="4005064"/>
            <a:ext cx="2304256" cy="369332"/>
          </a:xfrm>
          <a:prstGeom prst="rect">
            <a:avLst/>
          </a:prstGeom>
          <a:noFill/>
        </p:spPr>
        <p:txBody>
          <a:bodyPr wrap="square" rtlCol="0">
            <a:spAutoFit/>
          </a:bodyPr>
          <a:lstStyle/>
          <a:p>
            <a:r>
              <a:rPr lang="nl-NL" b="1" i="1" dirty="0" smtClean="0"/>
              <a:t>subject</a:t>
            </a:r>
            <a:endParaRPr lang="nl-NL" b="1" i="1" dirty="0"/>
          </a:p>
        </p:txBody>
      </p:sp>
      <p:sp>
        <p:nvSpPr>
          <p:cNvPr id="13" name="TextBox 12"/>
          <p:cNvSpPr txBox="1"/>
          <p:nvPr/>
        </p:nvSpPr>
        <p:spPr>
          <a:xfrm>
            <a:off x="6228184" y="4355812"/>
            <a:ext cx="2304256" cy="369332"/>
          </a:xfrm>
          <a:prstGeom prst="rect">
            <a:avLst/>
          </a:prstGeom>
          <a:noFill/>
        </p:spPr>
        <p:txBody>
          <a:bodyPr wrap="square" rtlCol="0">
            <a:spAutoFit/>
          </a:bodyPr>
          <a:lstStyle/>
          <a:p>
            <a:r>
              <a:rPr lang="nl-NL" b="1" i="1" dirty="0" err="1" smtClean="0">
                <a:solidFill>
                  <a:schemeClr val="accent6">
                    <a:lumMod val="75000"/>
                  </a:schemeClr>
                </a:solidFill>
              </a:rPr>
              <a:t>predikaat</a:t>
            </a:r>
            <a:endParaRPr lang="nl-NL" b="1" i="1" dirty="0">
              <a:solidFill>
                <a:schemeClr val="accent6">
                  <a:lumMod val="75000"/>
                </a:schemeClr>
              </a:solidFill>
            </a:endParaRPr>
          </a:p>
        </p:txBody>
      </p:sp>
      <p:sp>
        <p:nvSpPr>
          <p:cNvPr id="14" name="TextBox 13"/>
          <p:cNvSpPr txBox="1"/>
          <p:nvPr/>
        </p:nvSpPr>
        <p:spPr>
          <a:xfrm>
            <a:off x="6228184" y="4725144"/>
            <a:ext cx="2304256" cy="369332"/>
          </a:xfrm>
          <a:prstGeom prst="rect">
            <a:avLst/>
          </a:prstGeom>
          <a:noFill/>
        </p:spPr>
        <p:txBody>
          <a:bodyPr wrap="square" rtlCol="0">
            <a:spAutoFit/>
          </a:bodyPr>
          <a:lstStyle/>
          <a:p>
            <a:r>
              <a:rPr lang="nl-NL" b="1" i="1" dirty="0" err="1" smtClean="0">
                <a:solidFill>
                  <a:srgbClr val="00B050"/>
                </a:solidFill>
              </a:rPr>
              <a:t>copula</a:t>
            </a:r>
            <a:endParaRPr lang="nl-NL" b="1" i="1" dirty="0">
              <a:solidFill>
                <a:srgbClr val="00B050"/>
              </a:solidFill>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Vier oordeelsvormen</a:t>
            </a:r>
            <a:endParaRPr lang="nl-NL" sz="3600" dirty="0"/>
          </a:p>
        </p:txBody>
      </p:sp>
      <p:graphicFrame>
        <p:nvGraphicFramePr>
          <p:cNvPr id="4" name="Content Placeholder 3"/>
          <p:cNvGraphicFramePr>
            <a:graphicFrameLocks noGrp="1"/>
          </p:cNvGraphicFramePr>
          <p:nvPr>
            <p:ph idx="1"/>
          </p:nvPr>
        </p:nvGraphicFramePr>
        <p:xfrm>
          <a:off x="457200" y="1600200"/>
          <a:ext cx="8229599" cy="1849120"/>
        </p:xfrm>
        <a:graphic>
          <a:graphicData uri="http://schemas.openxmlformats.org/drawingml/2006/table">
            <a:tbl>
              <a:tblPr firstRow="1" bandRow="1">
                <a:tableStyleId>{5C22544A-7EE6-4342-B048-85BDC9FD1C3A}</a:tableStyleId>
              </a:tblPr>
              <a:tblGrid>
                <a:gridCol w="2602632"/>
                <a:gridCol w="1656184"/>
                <a:gridCol w="1556318"/>
                <a:gridCol w="2414465"/>
              </a:tblGrid>
              <a:tr h="370840">
                <a:tc>
                  <a:txBody>
                    <a:bodyPr/>
                    <a:lstStyle/>
                    <a:p>
                      <a:pPr algn="ctr"/>
                      <a:r>
                        <a:rPr lang="nl-NL" dirty="0" smtClean="0"/>
                        <a:t>Oordeelsvorm</a:t>
                      </a:r>
                      <a:endParaRPr lang="nl-NL" dirty="0"/>
                    </a:p>
                  </a:txBody>
                  <a:tcPr/>
                </a:tc>
                <a:tc>
                  <a:txBody>
                    <a:bodyPr/>
                    <a:lstStyle/>
                    <a:p>
                      <a:pPr algn="ctr"/>
                      <a:r>
                        <a:rPr lang="nl-NL" dirty="0" smtClean="0"/>
                        <a:t>Kwaliteit</a:t>
                      </a:r>
                      <a:endParaRPr lang="nl-NL" dirty="0"/>
                    </a:p>
                  </a:txBody>
                  <a:tcPr/>
                </a:tc>
                <a:tc>
                  <a:txBody>
                    <a:bodyPr/>
                    <a:lstStyle/>
                    <a:p>
                      <a:pPr algn="ctr"/>
                      <a:r>
                        <a:rPr lang="nl-NL" dirty="0" smtClean="0"/>
                        <a:t>Kwantiteit</a:t>
                      </a:r>
                      <a:endParaRPr lang="nl-NL" dirty="0"/>
                    </a:p>
                  </a:txBody>
                  <a:tcPr/>
                </a:tc>
                <a:tc>
                  <a:txBody>
                    <a:bodyPr/>
                    <a:lstStyle/>
                    <a:p>
                      <a:pPr algn="ctr"/>
                      <a:r>
                        <a:rPr lang="nl-NL" dirty="0" smtClean="0"/>
                        <a:t>Formulevorm</a:t>
                      </a:r>
                      <a:endParaRPr lang="nl-NL" dirty="0"/>
                    </a:p>
                  </a:txBody>
                  <a:tcPr/>
                </a:tc>
              </a:tr>
              <a:tr h="370840">
                <a:tc>
                  <a:txBody>
                    <a:bodyPr/>
                    <a:lstStyle/>
                    <a:p>
                      <a:pPr algn="ctr"/>
                      <a:r>
                        <a:rPr lang="nl-NL" dirty="0" smtClean="0"/>
                        <a:t>Alle </a:t>
                      </a:r>
                      <a:r>
                        <a:rPr lang="nl-NL" i="1" dirty="0" smtClean="0"/>
                        <a:t>S</a:t>
                      </a:r>
                      <a:r>
                        <a:rPr lang="nl-NL" dirty="0" smtClean="0"/>
                        <a:t> zijn </a:t>
                      </a:r>
                      <a:r>
                        <a:rPr lang="nl-NL" i="1" dirty="0" smtClean="0"/>
                        <a:t>P (‘Elke</a:t>
                      </a:r>
                      <a:r>
                        <a:rPr lang="nl-NL" i="1" baseline="0" dirty="0" smtClean="0"/>
                        <a:t> S is P’)</a:t>
                      </a:r>
                      <a:endParaRPr lang="nl-NL" i="1" dirty="0"/>
                    </a:p>
                  </a:txBody>
                  <a:tcPr/>
                </a:tc>
                <a:tc>
                  <a:txBody>
                    <a:bodyPr/>
                    <a:lstStyle/>
                    <a:p>
                      <a:pPr algn="ctr"/>
                      <a:r>
                        <a:rPr lang="nl-NL" dirty="0" smtClean="0"/>
                        <a:t>Affirmatief</a:t>
                      </a:r>
                      <a:endParaRPr lang="nl-NL" dirty="0"/>
                    </a:p>
                  </a:txBody>
                  <a:tcPr/>
                </a:tc>
                <a:tc>
                  <a:txBody>
                    <a:bodyPr/>
                    <a:lstStyle/>
                    <a:p>
                      <a:pPr algn="ctr"/>
                      <a:r>
                        <a:rPr lang="nl-NL" dirty="0" smtClean="0"/>
                        <a:t>Universeel</a:t>
                      </a:r>
                      <a:endParaRPr lang="nl-NL" dirty="0"/>
                    </a:p>
                  </a:txBody>
                  <a:tcPr/>
                </a:tc>
                <a:tc>
                  <a:txBody>
                    <a:bodyPr/>
                    <a:lstStyle/>
                    <a:p>
                      <a:pPr algn="ctr"/>
                      <a:r>
                        <a:rPr lang="nl-NL" i="1" dirty="0" err="1" smtClean="0"/>
                        <a:t>S</a:t>
                      </a:r>
                      <a:r>
                        <a:rPr lang="nl-NL" b="0" i="1" dirty="0" err="1" smtClean="0"/>
                        <a:t>aP</a:t>
                      </a:r>
                      <a:endParaRPr lang="nl-NL" i="1" dirty="0"/>
                    </a:p>
                  </a:txBody>
                  <a:tcPr/>
                </a:tc>
              </a:tr>
              <a:tr h="370840">
                <a:tc>
                  <a:txBody>
                    <a:bodyPr/>
                    <a:lstStyle/>
                    <a:p>
                      <a:pPr algn="ctr"/>
                      <a:r>
                        <a:rPr lang="nl-NL" dirty="0" smtClean="0"/>
                        <a:t>Sommige</a:t>
                      </a:r>
                      <a:r>
                        <a:rPr lang="nl-NL" i="1" dirty="0" smtClean="0"/>
                        <a:t> S</a:t>
                      </a:r>
                      <a:r>
                        <a:rPr lang="nl-NL" dirty="0" smtClean="0"/>
                        <a:t> zijn </a:t>
                      </a:r>
                      <a:r>
                        <a:rPr lang="nl-NL" i="1" dirty="0" smtClean="0"/>
                        <a:t>P</a:t>
                      </a:r>
                      <a:endParaRPr lang="nl-NL" i="1" dirty="0"/>
                    </a:p>
                  </a:txBody>
                  <a:tcPr/>
                </a:tc>
                <a:tc>
                  <a:txBody>
                    <a:bodyPr/>
                    <a:lstStyle/>
                    <a:p>
                      <a:pPr algn="ctr"/>
                      <a:r>
                        <a:rPr lang="nl-NL" dirty="0" smtClean="0"/>
                        <a:t>Affirmatief</a:t>
                      </a:r>
                      <a:endParaRPr lang="nl-NL" dirty="0"/>
                    </a:p>
                  </a:txBody>
                  <a:tcPr/>
                </a:tc>
                <a:tc>
                  <a:txBody>
                    <a:bodyPr/>
                    <a:lstStyle/>
                    <a:p>
                      <a:pPr algn="ctr"/>
                      <a:r>
                        <a:rPr lang="nl-NL" dirty="0" smtClean="0"/>
                        <a:t>Particulier</a:t>
                      </a:r>
                      <a:endParaRPr lang="nl-NL" dirty="0"/>
                    </a:p>
                  </a:txBody>
                  <a:tcPr/>
                </a:tc>
                <a:tc>
                  <a:txBody>
                    <a:bodyPr/>
                    <a:lstStyle/>
                    <a:p>
                      <a:pPr algn="ctr"/>
                      <a:r>
                        <a:rPr lang="nl-NL" i="1" dirty="0" err="1" smtClean="0"/>
                        <a:t>SiP</a:t>
                      </a:r>
                      <a:endParaRPr lang="nl-NL" i="1" dirty="0"/>
                    </a:p>
                  </a:txBody>
                  <a:tcPr/>
                </a:tc>
              </a:tr>
              <a:tr h="356240">
                <a:tc>
                  <a:txBody>
                    <a:bodyPr/>
                    <a:lstStyle/>
                    <a:p>
                      <a:pPr algn="ctr"/>
                      <a:r>
                        <a:rPr lang="nl-NL" dirty="0" smtClean="0"/>
                        <a:t>Geen </a:t>
                      </a:r>
                      <a:r>
                        <a:rPr lang="nl-NL" i="1" dirty="0" smtClean="0"/>
                        <a:t>S</a:t>
                      </a:r>
                      <a:r>
                        <a:rPr lang="nl-NL" dirty="0" smtClean="0"/>
                        <a:t> is </a:t>
                      </a:r>
                      <a:r>
                        <a:rPr lang="nl-NL" i="1" dirty="0" smtClean="0"/>
                        <a:t>P</a:t>
                      </a:r>
                      <a:endParaRPr lang="nl-NL" i="1" dirty="0"/>
                    </a:p>
                  </a:txBody>
                  <a:tcPr/>
                </a:tc>
                <a:tc>
                  <a:txBody>
                    <a:bodyPr/>
                    <a:lstStyle/>
                    <a:p>
                      <a:pPr algn="ctr"/>
                      <a:r>
                        <a:rPr lang="nl-NL" dirty="0" smtClean="0"/>
                        <a:t>Negatief</a:t>
                      </a:r>
                      <a:endParaRPr lang="nl-NL" dirty="0"/>
                    </a:p>
                  </a:txBody>
                  <a:tcPr/>
                </a:tc>
                <a:tc>
                  <a:txBody>
                    <a:bodyPr/>
                    <a:lstStyle/>
                    <a:p>
                      <a:pPr algn="ctr"/>
                      <a:r>
                        <a:rPr lang="nl-NL" dirty="0" smtClean="0"/>
                        <a:t>Universeel</a:t>
                      </a:r>
                      <a:endParaRPr lang="nl-NL" dirty="0"/>
                    </a:p>
                  </a:txBody>
                  <a:tcPr/>
                </a:tc>
                <a:tc>
                  <a:txBody>
                    <a:bodyPr/>
                    <a:lstStyle/>
                    <a:p>
                      <a:pPr algn="ctr"/>
                      <a:r>
                        <a:rPr lang="nl-NL" i="1" dirty="0" err="1" smtClean="0"/>
                        <a:t>SeP</a:t>
                      </a:r>
                      <a:endParaRPr lang="nl-NL" i="1" dirty="0"/>
                    </a:p>
                  </a:txBody>
                  <a:tcPr/>
                </a:tc>
              </a:tr>
              <a:tr h="370840">
                <a:tc>
                  <a:txBody>
                    <a:bodyPr/>
                    <a:lstStyle/>
                    <a:p>
                      <a:pPr algn="ctr"/>
                      <a:r>
                        <a:rPr lang="nl-NL" dirty="0" smtClean="0"/>
                        <a:t>Sommige </a:t>
                      </a:r>
                      <a:r>
                        <a:rPr lang="nl-NL" i="1" dirty="0" smtClean="0"/>
                        <a:t>S </a:t>
                      </a:r>
                      <a:r>
                        <a:rPr lang="nl-NL" dirty="0" smtClean="0"/>
                        <a:t>zijn</a:t>
                      </a:r>
                      <a:r>
                        <a:rPr lang="nl-NL" baseline="0" dirty="0" smtClean="0"/>
                        <a:t> niet </a:t>
                      </a:r>
                      <a:r>
                        <a:rPr lang="nl-NL" i="1" baseline="0" dirty="0" smtClean="0"/>
                        <a:t>P</a:t>
                      </a:r>
                      <a:endParaRPr lang="nl-NL" i="1" dirty="0"/>
                    </a:p>
                  </a:txBody>
                  <a:tcPr/>
                </a:tc>
                <a:tc>
                  <a:txBody>
                    <a:bodyPr/>
                    <a:lstStyle/>
                    <a:p>
                      <a:pPr algn="ctr"/>
                      <a:r>
                        <a:rPr lang="nl-NL" dirty="0" smtClean="0"/>
                        <a:t>Negatief</a:t>
                      </a:r>
                      <a:endParaRPr lang="nl-NL" dirty="0"/>
                    </a:p>
                  </a:txBody>
                  <a:tcPr/>
                </a:tc>
                <a:tc>
                  <a:txBody>
                    <a:bodyPr/>
                    <a:lstStyle/>
                    <a:p>
                      <a:pPr algn="ctr"/>
                      <a:r>
                        <a:rPr lang="nl-NL" dirty="0" smtClean="0"/>
                        <a:t>Particulier</a:t>
                      </a:r>
                      <a:endParaRPr lang="nl-NL" dirty="0"/>
                    </a:p>
                  </a:txBody>
                  <a:tcPr/>
                </a:tc>
                <a:tc>
                  <a:txBody>
                    <a:bodyPr/>
                    <a:lstStyle/>
                    <a:p>
                      <a:pPr algn="ctr"/>
                      <a:r>
                        <a:rPr lang="nl-NL" i="1" dirty="0" err="1" smtClean="0"/>
                        <a:t>SoP</a:t>
                      </a:r>
                      <a:endParaRPr lang="nl-NL" i="1" dirty="0"/>
                    </a:p>
                  </a:txBody>
                  <a:tcPr/>
                </a:tc>
              </a:tr>
            </a:tbl>
          </a:graphicData>
        </a:graphic>
      </p:graphicFrame>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Vier oordeelsvormen</a:t>
            </a:r>
            <a:endParaRPr lang="nl-NL" sz="3600" dirty="0"/>
          </a:p>
        </p:txBody>
      </p:sp>
      <p:graphicFrame>
        <p:nvGraphicFramePr>
          <p:cNvPr id="4" name="Content Placeholder 3"/>
          <p:cNvGraphicFramePr>
            <a:graphicFrameLocks noGrp="1"/>
          </p:cNvGraphicFramePr>
          <p:nvPr>
            <p:ph idx="1"/>
          </p:nvPr>
        </p:nvGraphicFramePr>
        <p:xfrm>
          <a:off x="457200" y="1600200"/>
          <a:ext cx="8229599" cy="1849120"/>
        </p:xfrm>
        <a:graphic>
          <a:graphicData uri="http://schemas.openxmlformats.org/drawingml/2006/table">
            <a:tbl>
              <a:tblPr firstRow="1" bandRow="1">
                <a:tableStyleId>{5C22544A-7EE6-4342-B048-85BDC9FD1C3A}</a:tableStyleId>
              </a:tblPr>
              <a:tblGrid>
                <a:gridCol w="2602632"/>
                <a:gridCol w="1656184"/>
                <a:gridCol w="1556318"/>
                <a:gridCol w="2414465"/>
              </a:tblGrid>
              <a:tr h="370840">
                <a:tc>
                  <a:txBody>
                    <a:bodyPr/>
                    <a:lstStyle/>
                    <a:p>
                      <a:pPr algn="ctr"/>
                      <a:r>
                        <a:rPr lang="nl-NL" dirty="0" smtClean="0"/>
                        <a:t>Oordeelsvorm</a:t>
                      </a:r>
                      <a:endParaRPr lang="nl-NL" dirty="0"/>
                    </a:p>
                  </a:txBody>
                  <a:tcPr/>
                </a:tc>
                <a:tc>
                  <a:txBody>
                    <a:bodyPr/>
                    <a:lstStyle/>
                    <a:p>
                      <a:pPr algn="ctr"/>
                      <a:r>
                        <a:rPr lang="nl-NL" dirty="0" smtClean="0"/>
                        <a:t>Kwaliteit</a:t>
                      </a:r>
                      <a:endParaRPr lang="nl-NL" dirty="0"/>
                    </a:p>
                  </a:txBody>
                  <a:tcPr/>
                </a:tc>
                <a:tc>
                  <a:txBody>
                    <a:bodyPr/>
                    <a:lstStyle/>
                    <a:p>
                      <a:pPr algn="ctr"/>
                      <a:r>
                        <a:rPr lang="nl-NL" dirty="0" smtClean="0"/>
                        <a:t>Kwantiteit</a:t>
                      </a:r>
                      <a:endParaRPr lang="nl-NL" dirty="0"/>
                    </a:p>
                  </a:txBody>
                  <a:tcPr/>
                </a:tc>
                <a:tc>
                  <a:txBody>
                    <a:bodyPr/>
                    <a:lstStyle/>
                    <a:p>
                      <a:pPr algn="ctr"/>
                      <a:r>
                        <a:rPr lang="nl-NL" dirty="0" smtClean="0"/>
                        <a:t>Formulevorm</a:t>
                      </a:r>
                      <a:endParaRPr lang="nl-NL" dirty="0"/>
                    </a:p>
                  </a:txBody>
                  <a:tcPr/>
                </a:tc>
              </a:tr>
              <a:tr h="370840">
                <a:tc>
                  <a:txBody>
                    <a:bodyPr/>
                    <a:lstStyle/>
                    <a:p>
                      <a:pPr algn="ctr"/>
                      <a:r>
                        <a:rPr lang="nl-NL" dirty="0" smtClean="0"/>
                        <a:t>Alle </a:t>
                      </a:r>
                      <a:r>
                        <a:rPr lang="nl-NL" i="1" dirty="0" smtClean="0"/>
                        <a:t>S</a:t>
                      </a:r>
                      <a:r>
                        <a:rPr lang="nl-NL" dirty="0" smtClean="0"/>
                        <a:t> zijn </a:t>
                      </a:r>
                      <a:r>
                        <a:rPr lang="nl-NL" i="1" dirty="0" smtClean="0"/>
                        <a:t>P</a:t>
                      </a:r>
                      <a:endParaRPr lang="nl-NL" i="1" dirty="0"/>
                    </a:p>
                  </a:txBody>
                  <a:tcPr/>
                </a:tc>
                <a:tc>
                  <a:txBody>
                    <a:bodyPr/>
                    <a:lstStyle/>
                    <a:p>
                      <a:pPr algn="ctr"/>
                      <a:r>
                        <a:rPr lang="nl-NL" dirty="0" smtClean="0"/>
                        <a:t>Affirmatief</a:t>
                      </a:r>
                      <a:endParaRPr lang="nl-NL" dirty="0"/>
                    </a:p>
                  </a:txBody>
                  <a:tcPr/>
                </a:tc>
                <a:tc>
                  <a:txBody>
                    <a:bodyPr/>
                    <a:lstStyle/>
                    <a:p>
                      <a:pPr algn="ctr"/>
                      <a:r>
                        <a:rPr lang="nl-NL" dirty="0" smtClean="0"/>
                        <a:t>Universeel</a:t>
                      </a:r>
                      <a:endParaRPr lang="nl-NL" dirty="0"/>
                    </a:p>
                  </a:txBody>
                  <a:tcPr/>
                </a:tc>
                <a:tc>
                  <a:txBody>
                    <a:bodyPr/>
                    <a:lstStyle/>
                    <a:p>
                      <a:pPr algn="ctr"/>
                      <a:r>
                        <a:rPr lang="nl-NL" i="1" dirty="0" err="1" smtClean="0"/>
                        <a:t>S</a:t>
                      </a:r>
                      <a:r>
                        <a:rPr lang="nl-NL" b="1" i="1" dirty="0" err="1" smtClean="0"/>
                        <a:t>a</a:t>
                      </a:r>
                      <a:r>
                        <a:rPr lang="nl-NL" i="1" dirty="0" err="1" smtClean="0"/>
                        <a:t>P</a:t>
                      </a:r>
                      <a:endParaRPr lang="nl-NL" i="1" dirty="0"/>
                    </a:p>
                  </a:txBody>
                  <a:tcPr/>
                </a:tc>
              </a:tr>
              <a:tr h="370840">
                <a:tc>
                  <a:txBody>
                    <a:bodyPr/>
                    <a:lstStyle/>
                    <a:p>
                      <a:pPr algn="ctr"/>
                      <a:r>
                        <a:rPr lang="nl-NL" dirty="0" smtClean="0"/>
                        <a:t>Sommige</a:t>
                      </a:r>
                      <a:r>
                        <a:rPr lang="nl-NL" i="1" dirty="0" smtClean="0"/>
                        <a:t> S</a:t>
                      </a:r>
                      <a:r>
                        <a:rPr lang="nl-NL" dirty="0" smtClean="0"/>
                        <a:t> zijn </a:t>
                      </a:r>
                      <a:r>
                        <a:rPr lang="nl-NL" i="1" dirty="0" smtClean="0"/>
                        <a:t>P</a:t>
                      </a:r>
                      <a:endParaRPr lang="nl-NL" i="1" dirty="0"/>
                    </a:p>
                  </a:txBody>
                  <a:tcPr/>
                </a:tc>
                <a:tc>
                  <a:txBody>
                    <a:bodyPr/>
                    <a:lstStyle/>
                    <a:p>
                      <a:pPr algn="ctr"/>
                      <a:r>
                        <a:rPr lang="nl-NL" dirty="0" smtClean="0"/>
                        <a:t>Affirmatief</a:t>
                      </a:r>
                      <a:endParaRPr lang="nl-NL" dirty="0"/>
                    </a:p>
                  </a:txBody>
                  <a:tcPr/>
                </a:tc>
                <a:tc>
                  <a:txBody>
                    <a:bodyPr/>
                    <a:lstStyle/>
                    <a:p>
                      <a:pPr algn="ctr"/>
                      <a:r>
                        <a:rPr lang="nl-NL" dirty="0" smtClean="0"/>
                        <a:t>Particulier</a:t>
                      </a:r>
                      <a:endParaRPr lang="nl-NL" dirty="0"/>
                    </a:p>
                  </a:txBody>
                  <a:tcPr/>
                </a:tc>
                <a:tc>
                  <a:txBody>
                    <a:bodyPr/>
                    <a:lstStyle/>
                    <a:p>
                      <a:pPr algn="ctr"/>
                      <a:r>
                        <a:rPr lang="nl-NL" i="1" dirty="0" err="1" smtClean="0"/>
                        <a:t>S</a:t>
                      </a:r>
                      <a:r>
                        <a:rPr lang="nl-NL" b="1" i="1" dirty="0" err="1" smtClean="0"/>
                        <a:t>i</a:t>
                      </a:r>
                      <a:r>
                        <a:rPr lang="nl-NL" i="1" dirty="0" err="1" smtClean="0"/>
                        <a:t>P</a:t>
                      </a:r>
                      <a:endParaRPr lang="nl-NL" i="1" dirty="0"/>
                    </a:p>
                  </a:txBody>
                  <a:tcPr/>
                </a:tc>
              </a:tr>
              <a:tr h="356240">
                <a:tc>
                  <a:txBody>
                    <a:bodyPr/>
                    <a:lstStyle/>
                    <a:p>
                      <a:pPr algn="ctr"/>
                      <a:r>
                        <a:rPr lang="nl-NL" dirty="0" smtClean="0"/>
                        <a:t>Geen </a:t>
                      </a:r>
                      <a:r>
                        <a:rPr lang="nl-NL" i="1" dirty="0" smtClean="0"/>
                        <a:t>S</a:t>
                      </a:r>
                      <a:r>
                        <a:rPr lang="nl-NL" dirty="0" smtClean="0"/>
                        <a:t> is </a:t>
                      </a:r>
                      <a:r>
                        <a:rPr lang="nl-NL" i="1" dirty="0" smtClean="0"/>
                        <a:t>P</a:t>
                      </a:r>
                      <a:endParaRPr lang="nl-NL" i="1" dirty="0"/>
                    </a:p>
                  </a:txBody>
                  <a:tcPr/>
                </a:tc>
                <a:tc>
                  <a:txBody>
                    <a:bodyPr/>
                    <a:lstStyle/>
                    <a:p>
                      <a:pPr algn="ctr"/>
                      <a:r>
                        <a:rPr lang="nl-NL" dirty="0" smtClean="0"/>
                        <a:t>Negatief</a:t>
                      </a:r>
                      <a:endParaRPr lang="nl-NL" dirty="0"/>
                    </a:p>
                  </a:txBody>
                  <a:tcPr/>
                </a:tc>
                <a:tc>
                  <a:txBody>
                    <a:bodyPr/>
                    <a:lstStyle/>
                    <a:p>
                      <a:pPr algn="ctr"/>
                      <a:r>
                        <a:rPr lang="nl-NL" dirty="0" smtClean="0"/>
                        <a:t>Universeel</a:t>
                      </a:r>
                      <a:endParaRPr lang="nl-NL" dirty="0"/>
                    </a:p>
                  </a:txBody>
                  <a:tcPr/>
                </a:tc>
                <a:tc>
                  <a:txBody>
                    <a:bodyPr/>
                    <a:lstStyle/>
                    <a:p>
                      <a:pPr algn="ctr"/>
                      <a:r>
                        <a:rPr lang="nl-NL" i="1" dirty="0" err="1" smtClean="0"/>
                        <a:t>SeP</a:t>
                      </a:r>
                      <a:endParaRPr lang="nl-NL" i="1" dirty="0"/>
                    </a:p>
                  </a:txBody>
                  <a:tcPr/>
                </a:tc>
              </a:tr>
              <a:tr h="370840">
                <a:tc>
                  <a:txBody>
                    <a:bodyPr/>
                    <a:lstStyle/>
                    <a:p>
                      <a:pPr algn="ctr"/>
                      <a:r>
                        <a:rPr lang="nl-NL" dirty="0" smtClean="0"/>
                        <a:t>Sommige </a:t>
                      </a:r>
                      <a:r>
                        <a:rPr lang="nl-NL" i="1" dirty="0" smtClean="0"/>
                        <a:t>S </a:t>
                      </a:r>
                      <a:r>
                        <a:rPr lang="nl-NL" dirty="0" smtClean="0"/>
                        <a:t>zijn</a:t>
                      </a:r>
                      <a:r>
                        <a:rPr lang="nl-NL" baseline="0" dirty="0" smtClean="0"/>
                        <a:t> niet </a:t>
                      </a:r>
                      <a:r>
                        <a:rPr lang="nl-NL" i="1" baseline="0" dirty="0" smtClean="0"/>
                        <a:t>P</a:t>
                      </a:r>
                      <a:endParaRPr lang="nl-NL" i="1" dirty="0"/>
                    </a:p>
                  </a:txBody>
                  <a:tcPr/>
                </a:tc>
                <a:tc>
                  <a:txBody>
                    <a:bodyPr/>
                    <a:lstStyle/>
                    <a:p>
                      <a:pPr algn="ctr"/>
                      <a:r>
                        <a:rPr lang="nl-NL" dirty="0" smtClean="0"/>
                        <a:t>Negatief</a:t>
                      </a:r>
                      <a:endParaRPr lang="nl-NL" dirty="0"/>
                    </a:p>
                  </a:txBody>
                  <a:tcPr/>
                </a:tc>
                <a:tc>
                  <a:txBody>
                    <a:bodyPr/>
                    <a:lstStyle/>
                    <a:p>
                      <a:pPr algn="ctr"/>
                      <a:r>
                        <a:rPr lang="nl-NL" dirty="0" smtClean="0"/>
                        <a:t>Particulier</a:t>
                      </a:r>
                      <a:endParaRPr lang="nl-NL" dirty="0"/>
                    </a:p>
                  </a:txBody>
                  <a:tcPr/>
                </a:tc>
                <a:tc>
                  <a:txBody>
                    <a:bodyPr/>
                    <a:lstStyle/>
                    <a:p>
                      <a:pPr algn="ctr"/>
                      <a:r>
                        <a:rPr lang="nl-NL" i="1" dirty="0" err="1" smtClean="0"/>
                        <a:t>SoP</a:t>
                      </a:r>
                      <a:endParaRPr lang="nl-NL" i="1" dirty="0"/>
                    </a:p>
                  </a:txBody>
                  <a:tcPr/>
                </a:tc>
              </a:tr>
            </a:tbl>
          </a:graphicData>
        </a:graphic>
      </p:graphicFrame>
      <p:sp>
        <p:nvSpPr>
          <p:cNvPr id="5" name="TextBox 4"/>
          <p:cNvSpPr txBox="1"/>
          <p:nvPr/>
        </p:nvSpPr>
        <p:spPr>
          <a:xfrm>
            <a:off x="1043608" y="4221088"/>
            <a:ext cx="2232248" cy="369332"/>
          </a:xfrm>
          <a:prstGeom prst="rect">
            <a:avLst/>
          </a:prstGeom>
          <a:noFill/>
        </p:spPr>
        <p:txBody>
          <a:bodyPr wrap="square" rtlCol="0">
            <a:spAutoFit/>
          </a:bodyPr>
          <a:lstStyle/>
          <a:p>
            <a:r>
              <a:rPr lang="nl-NL" b="1" i="1" dirty="0" err="1" smtClean="0"/>
              <a:t>A</a:t>
            </a:r>
            <a:r>
              <a:rPr lang="nl-NL" i="1" dirty="0" err="1" smtClean="0"/>
              <a:t>ff</a:t>
            </a:r>
            <a:r>
              <a:rPr lang="nl-NL" b="1" i="1" dirty="0" err="1" smtClean="0"/>
              <a:t>i</a:t>
            </a:r>
            <a:r>
              <a:rPr lang="nl-NL" i="1" dirty="0" err="1" smtClean="0"/>
              <a:t>rmo</a:t>
            </a:r>
            <a:r>
              <a:rPr lang="nl-NL" i="1" dirty="0" smtClean="0"/>
              <a:t> (Ik bevestig)</a:t>
            </a:r>
            <a:endParaRPr lang="nl-NL" i="1" dirty="0"/>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Vier oordeelsvormen</a:t>
            </a:r>
            <a:endParaRPr lang="nl-NL" sz="3600" dirty="0"/>
          </a:p>
        </p:txBody>
      </p:sp>
      <p:graphicFrame>
        <p:nvGraphicFramePr>
          <p:cNvPr id="4" name="Content Placeholder 3"/>
          <p:cNvGraphicFramePr>
            <a:graphicFrameLocks noGrp="1"/>
          </p:cNvGraphicFramePr>
          <p:nvPr>
            <p:ph idx="1"/>
          </p:nvPr>
        </p:nvGraphicFramePr>
        <p:xfrm>
          <a:off x="457200" y="1600200"/>
          <a:ext cx="8229599" cy="1844040"/>
        </p:xfrm>
        <a:graphic>
          <a:graphicData uri="http://schemas.openxmlformats.org/drawingml/2006/table">
            <a:tbl>
              <a:tblPr firstRow="1" bandRow="1">
                <a:tableStyleId>{5C22544A-7EE6-4342-B048-85BDC9FD1C3A}</a:tableStyleId>
              </a:tblPr>
              <a:tblGrid>
                <a:gridCol w="2602632"/>
                <a:gridCol w="1656184"/>
                <a:gridCol w="1556318"/>
                <a:gridCol w="2414465"/>
              </a:tblGrid>
              <a:tr h="370840">
                <a:tc>
                  <a:txBody>
                    <a:bodyPr/>
                    <a:lstStyle/>
                    <a:p>
                      <a:pPr algn="ctr"/>
                      <a:r>
                        <a:rPr lang="nl-NL" dirty="0" smtClean="0"/>
                        <a:t>Oordeelsvorm</a:t>
                      </a:r>
                      <a:endParaRPr lang="nl-NL" dirty="0"/>
                    </a:p>
                  </a:txBody>
                  <a:tcPr/>
                </a:tc>
                <a:tc>
                  <a:txBody>
                    <a:bodyPr/>
                    <a:lstStyle/>
                    <a:p>
                      <a:pPr algn="ctr"/>
                      <a:r>
                        <a:rPr lang="nl-NL" dirty="0" smtClean="0"/>
                        <a:t>Kwaliteit</a:t>
                      </a:r>
                      <a:endParaRPr lang="nl-NL" dirty="0"/>
                    </a:p>
                  </a:txBody>
                  <a:tcPr/>
                </a:tc>
                <a:tc>
                  <a:txBody>
                    <a:bodyPr/>
                    <a:lstStyle/>
                    <a:p>
                      <a:pPr algn="ctr"/>
                      <a:r>
                        <a:rPr lang="nl-NL" dirty="0" smtClean="0"/>
                        <a:t>Kwantiteit</a:t>
                      </a:r>
                      <a:endParaRPr lang="nl-NL" dirty="0"/>
                    </a:p>
                  </a:txBody>
                  <a:tcPr/>
                </a:tc>
                <a:tc>
                  <a:txBody>
                    <a:bodyPr/>
                    <a:lstStyle/>
                    <a:p>
                      <a:pPr algn="ctr"/>
                      <a:r>
                        <a:rPr lang="nl-NL" dirty="0" smtClean="0"/>
                        <a:t>Formulevorm</a:t>
                      </a:r>
                      <a:endParaRPr lang="nl-NL" dirty="0"/>
                    </a:p>
                  </a:txBody>
                  <a:tcPr/>
                </a:tc>
              </a:tr>
              <a:tr h="305832">
                <a:tc>
                  <a:txBody>
                    <a:bodyPr/>
                    <a:lstStyle/>
                    <a:p>
                      <a:pPr algn="ctr"/>
                      <a:r>
                        <a:rPr lang="nl-NL" dirty="0" smtClean="0"/>
                        <a:t>Alle </a:t>
                      </a:r>
                      <a:r>
                        <a:rPr lang="nl-NL" i="1" dirty="0" smtClean="0"/>
                        <a:t>S</a:t>
                      </a:r>
                      <a:r>
                        <a:rPr lang="nl-NL" dirty="0" smtClean="0"/>
                        <a:t> zijn </a:t>
                      </a:r>
                      <a:r>
                        <a:rPr lang="nl-NL" i="1" dirty="0" smtClean="0"/>
                        <a:t>P</a:t>
                      </a:r>
                      <a:endParaRPr lang="nl-NL" i="1" dirty="0"/>
                    </a:p>
                  </a:txBody>
                  <a:tcPr/>
                </a:tc>
                <a:tc>
                  <a:txBody>
                    <a:bodyPr/>
                    <a:lstStyle/>
                    <a:p>
                      <a:pPr algn="ctr"/>
                      <a:r>
                        <a:rPr lang="nl-NL" dirty="0" smtClean="0"/>
                        <a:t>Affirmatief</a:t>
                      </a:r>
                      <a:endParaRPr lang="nl-NL" dirty="0"/>
                    </a:p>
                  </a:txBody>
                  <a:tcPr/>
                </a:tc>
                <a:tc>
                  <a:txBody>
                    <a:bodyPr/>
                    <a:lstStyle/>
                    <a:p>
                      <a:pPr algn="ctr"/>
                      <a:r>
                        <a:rPr lang="nl-NL" dirty="0" smtClean="0"/>
                        <a:t>Universeel</a:t>
                      </a:r>
                      <a:endParaRPr lang="nl-NL" dirty="0"/>
                    </a:p>
                  </a:txBody>
                  <a:tcPr/>
                </a:tc>
                <a:tc>
                  <a:txBody>
                    <a:bodyPr/>
                    <a:lstStyle/>
                    <a:p>
                      <a:pPr algn="ctr"/>
                      <a:r>
                        <a:rPr lang="nl-NL" i="1" dirty="0" err="1" smtClean="0"/>
                        <a:t>S</a:t>
                      </a:r>
                      <a:r>
                        <a:rPr lang="nl-NL" b="0" i="1" dirty="0" err="1" smtClean="0"/>
                        <a:t>a</a:t>
                      </a:r>
                      <a:r>
                        <a:rPr lang="nl-NL" i="1" dirty="0" err="1" smtClean="0"/>
                        <a:t>P</a:t>
                      </a:r>
                      <a:endParaRPr lang="nl-NL" i="1" dirty="0"/>
                    </a:p>
                  </a:txBody>
                  <a:tcPr/>
                </a:tc>
              </a:tr>
              <a:tr h="370840">
                <a:tc>
                  <a:txBody>
                    <a:bodyPr/>
                    <a:lstStyle/>
                    <a:p>
                      <a:pPr algn="ctr"/>
                      <a:r>
                        <a:rPr lang="nl-NL" dirty="0" smtClean="0"/>
                        <a:t>Sommige</a:t>
                      </a:r>
                      <a:r>
                        <a:rPr lang="nl-NL" i="1" dirty="0" smtClean="0"/>
                        <a:t> S</a:t>
                      </a:r>
                      <a:r>
                        <a:rPr lang="nl-NL" dirty="0" smtClean="0"/>
                        <a:t> zijn </a:t>
                      </a:r>
                      <a:r>
                        <a:rPr lang="nl-NL" i="1" dirty="0" smtClean="0"/>
                        <a:t>P</a:t>
                      </a:r>
                      <a:endParaRPr lang="nl-NL" i="1" dirty="0"/>
                    </a:p>
                  </a:txBody>
                  <a:tcPr/>
                </a:tc>
                <a:tc>
                  <a:txBody>
                    <a:bodyPr/>
                    <a:lstStyle/>
                    <a:p>
                      <a:pPr algn="ctr"/>
                      <a:r>
                        <a:rPr lang="nl-NL" dirty="0" smtClean="0"/>
                        <a:t>Affirmatief</a:t>
                      </a:r>
                      <a:endParaRPr lang="nl-NL" dirty="0"/>
                    </a:p>
                  </a:txBody>
                  <a:tcPr/>
                </a:tc>
                <a:tc>
                  <a:txBody>
                    <a:bodyPr/>
                    <a:lstStyle/>
                    <a:p>
                      <a:pPr algn="ctr"/>
                      <a:r>
                        <a:rPr lang="nl-NL" dirty="0" smtClean="0"/>
                        <a:t>Particulier</a:t>
                      </a:r>
                      <a:endParaRPr lang="nl-NL" dirty="0"/>
                    </a:p>
                  </a:txBody>
                  <a:tcPr/>
                </a:tc>
                <a:tc>
                  <a:txBody>
                    <a:bodyPr/>
                    <a:lstStyle/>
                    <a:p>
                      <a:pPr algn="ctr"/>
                      <a:r>
                        <a:rPr lang="nl-NL" i="1" dirty="0" err="1" smtClean="0"/>
                        <a:t>S</a:t>
                      </a:r>
                      <a:r>
                        <a:rPr lang="nl-NL" b="0" i="1" dirty="0" err="1" smtClean="0"/>
                        <a:t>i</a:t>
                      </a:r>
                      <a:r>
                        <a:rPr lang="nl-NL" i="1" dirty="0" err="1" smtClean="0"/>
                        <a:t>P</a:t>
                      </a:r>
                      <a:endParaRPr lang="nl-NL" i="1" dirty="0"/>
                    </a:p>
                  </a:txBody>
                  <a:tcPr/>
                </a:tc>
              </a:tr>
              <a:tr h="356240">
                <a:tc>
                  <a:txBody>
                    <a:bodyPr/>
                    <a:lstStyle/>
                    <a:p>
                      <a:pPr algn="ctr"/>
                      <a:r>
                        <a:rPr lang="nl-NL" dirty="0" smtClean="0"/>
                        <a:t>Geen </a:t>
                      </a:r>
                      <a:r>
                        <a:rPr lang="nl-NL" i="1" dirty="0" smtClean="0"/>
                        <a:t>S</a:t>
                      </a:r>
                      <a:r>
                        <a:rPr lang="nl-NL" dirty="0" smtClean="0"/>
                        <a:t> is </a:t>
                      </a:r>
                      <a:r>
                        <a:rPr lang="nl-NL" i="1" dirty="0" smtClean="0"/>
                        <a:t>P</a:t>
                      </a:r>
                      <a:endParaRPr lang="nl-NL" i="1" dirty="0"/>
                    </a:p>
                  </a:txBody>
                  <a:tcPr/>
                </a:tc>
                <a:tc>
                  <a:txBody>
                    <a:bodyPr/>
                    <a:lstStyle/>
                    <a:p>
                      <a:pPr algn="ctr"/>
                      <a:r>
                        <a:rPr lang="nl-NL" dirty="0" smtClean="0"/>
                        <a:t>Negatief</a:t>
                      </a:r>
                      <a:endParaRPr lang="nl-NL" dirty="0"/>
                    </a:p>
                  </a:txBody>
                  <a:tcPr/>
                </a:tc>
                <a:tc>
                  <a:txBody>
                    <a:bodyPr/>
                    <a:lstStyle/>
                    <a:p>
                      <a:pPr algn="ctr"/>
                      <a:r>
                        <a:rPr lang="nl-NL" dirty="0" smtClean="0"/>
                        <a:t>Universeel</a:t>
                      </a:r>
                      <a:endParaRPr lang="nl-NL" dirty="0"/>
                    </a:p>
                  </a:txBody>
                  <a:tcPr/>
                </a:tc>
                <a:tc>
                  <a:txBody>
                    <a:bodyPr/>
                    <a:lstStyle/>
                    <a:p>
                      <a:pPr algn="ctr"/>
                      <a:r>
                        <a:rPr lang="nl-NL" i="1" dirty="0" err="1" smtClean="0"/>
                        <a:t>S</a:t>
                      </a:r>
                      <a:r>
                        <a:rPr lang="nl-NL" b="1" i="1" dirty="0" err="1" smtClean="0"/>
                        <a:t>e</a:t>
                      </a:r>
                      <a:r>
                        <a:rPr lang="nl-NL" i="1" dirty="0" err="1" smtClean="0"/>
                        <a:t>P</a:t>
                      </a:r>
                      <a:endParaRPr lang="nl-NL" i="1" dirty="0"/>
                    </a:p>
                  </a:txBody>
                  <a:tcPr/>
                </a:tc>
              </a:tr>
              <a:tr h="370840">
                <a:tc>
                  <a:txBody>
                    <a:bodyPr/>
                    <a:lstStyle/>
                    <a:p>
                      <a:pPr algn="ctr"/>
                      <a:r>
                        <a:rPr lang="nl-NL" dirty="0" smtClean="0"/>
                        <a:t>Sommige </a:t>
                      </a:r>
                      <a:r>
                        <a:rPr lang="nl-NL" i="1" dirty="0" smtClean="0"/>
                        <a:t>S </a:t>
                      </a:r>
                      <a:r>
                        <a:rPr lang="nl-NL" dirty="0" smtClean="0"/>
                        <a:t>zijn</a:t>
                      </a:r>
                      <a:r>
                        <a:rPr lang="nl-NL" baseline="0" dirty="0" smtClean="0"/>
                        <a:t> niet </a:t>
                      </a:r>
                      <a:r>
                        <a:rPr lang="nl-NL" i="1" baseline="0" dirty="0" smtClean="0"/>
                        <a:t>P</a:t>
                      </a:r>
                      <a:endParaRPr lang="nl-NL" i="1" dirty="0"/>
                    </a:p>
                  </a:txBody>
                  <a:tcPr/>
                </a:tc>
                <a:tc>
                  <a:txBody>
                    <a:bodyPr/>
                    <a:lstStyle/>
                    <a:p>
                      <a:pPr algn="ctr"/>
                      <a:r>
                        <a:rPr lang="nl-NL" dirty="0" smtClean="0"/>
                        <a:t>Negatief</a:t>
                      </a:r>
                      <a:endParaRPr lang="nl-NL" dirty="0"/>
                    </a:p>
                  </a:txBody>
                  <a:tcPr/>
                </a:tc>
                <a:tc>
                  <a:txBody>
                    <a:bodyPr/>
                    <a:lstStyle/>
                    <a:p>
                      <a:pPr algn="ctr"/>
                      <a:r>
                        <a:rPr lang="nl-NL" dirty="0" smtClean="0"/>
                        <a:t>Particulier</a:t>
                      </a:r>
                      <a:endParaRPr lang="nl-NL" dirty="0"/>
                    </a:p>
                  </a:txBody>
                  <a:tcPr/>
                </a:tc>
                <a:tc>
                  <a:txBody>
                    <a:bodyPr/>
                    <a:lstStyle/>
                    <a:p>
                      <a:pPr algn="ctr"/>
                      <a:r>
                        <a:rPr lang="nl-NL" i="1" dirty="0" err="1" smtClean="0"/>
                        <a:t>S</a:t>
                      </a:r>
                      <a:r>
                        <a:rPr lang="nl-NL" b="1" i="1" dirty="0" err="1" smtClean="0"/>
                        <a:t>o</a:t>
                      </a:r>
                      <a:r>
                        <a:rPr lang="nl-NL" i="1" dirty="0" err="1" smtClean="0"/>
                        <a:t>P</a:t>
                      </a:r>
                      <a:endParaRPr lang="nl-NL" i="1" dirty="0"/>
                    </a:p>
                  </a:txBody>
                  <a:tcPr/>
                </a:tc>
              </a:tr>
            </a:tbl>
          </a:graphicData>
        </a:graphic>
      </p:graphicFrame>
      <p:sp>
        <p:nvSpPr>
          <p:cNvPr id="5" name="TextBox 4"/>
          <p:cNvSpPr txBox="1"/>
          <p:nvPr/>
        </p:nvSpPr>
        <p:spPr>
          <a:xfrm>
            <a:off x="1043608" y="4221088"/>
            <a:ext cx="2232248" cy="369332"/>
          </a:xfrm>
          <a:prstGeom prst="rect">
            <a:avLst/>
          </a:prstGeom>
          <a:noFill/>
        </p:spPr>
        <p:txBody>
          <a:bodyPr wrap="square" rtlCol="0">
            <a:spAutoFit/>
          </a:bodyPr>
          <a:lstStyle/>
          <a:p>
            <a:r>
              <a:rPr lang="nl-NL" i="1" dirty="0" err="1" smtClean="0"/>
              <a:t>N</a:t>
            </a:r>
            <a:r>
              <a:rPr lang="nl-NL" b="1" i="1" dirty="0" err="1" smtClean="0"/>
              <a:t>e</a:t>
            </a:r>
            <a:r>
              <a:rPr lang="nl-NL" i="1" dirty="0" err="1" smtClean="0"/>
              <a:t>g</a:t>
            </a:r>
            <a:r>
              <a:rPr lang="nl-NL" b="1" i="1" dirty="0" err="1" smtClean="0"/>
              <a:t>o</a:t>
            </a:r>
            <a:r>
              <a:rPr lang="nl-NL" i="1" dirty="0" smtClean="0"/>
              <a:t> (Ik ontken)</a:t>
            </a:r>
            <a:endParaRPr lang="nl-NL" i="1" dirty="0"/>
          </a:p>
        </p:txBody>
      </p:sp>
      <p:sp>
        <p:nvSpPr>
          <p:cNvPr id="6" name="TextBox 5"/>
          <p:cNvSpPr txBox="1"/>
          <p:nvPr/>
        </p:nvSpPr>
        <p:spPr>
          <a:xfrm>
            <a:off x="1043608" y="5085184"/>
            <a:ext cx="5976664" cy="369332"/>
          </a:xfrm>
          <a:prstGeom prst="rect">
            <a:avLst/>
          </a:prstGeom>
          <a:noFill/>
        </p:spPr>
        <p:txBody>
          <a:bodyPr wrap="square" rtlCol="0">
            <a:spAutoFit/>
          </a:bodyPr>
          <a:lstStyle/>
          <a:p>
            <a:r>
              <a:rPr lang="nl-NL" b="1" dirty="0" smtClean="0"/>
              <a:t>A, I, E, O oordelen</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Negatie van oordeelsvormen</a:t>
            </a:r>
            <a:endParaRPr lang="nl-NL" sz="3600" dirty="0"/>
          </a:p>
        </p:txBody>
      </p:sp>
      <p:sp>
        <p:nvSpPr>
          <p:cNvPr id="10" name="Content Placeholder 2"/>
          <p:cNvSpPr txBox="1">
            <a:spLocks/>
          </p:cNvSpPr>
          <p:nvPr/>
        </p:nvSpPr>
        <p:spPr>
          <a:xfrm>
            <a:off x="35496" y="1556792"/>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   Alle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15" name="Content Placeholder 2"/>
          <p:cNvSpPr txBox="1">
            <a:spLocks/>
          </p:cNvSpPr>
          <p:nvPr/>
        </p:nvSpPr>
        <p:spPr>
          <a:xfrm>
            <a:off x="35496" y="2320280"/>
            <a:ext cx="26746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(I)   Sommige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16" name="Content Placeholder 2"/>
          <p:cNvSpPr txBox="1">
            <a:spLocks/>
          </p:cNvSpPr>
          <p:nvPr/>
        </p:nvSpPr>
        <p:spPr>
          <a:xfrm>
            <a:off x="35496" y="3140968"/>
            <a:ext cx="21602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(E)   Geen S is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17" name="Content Placeholder 2"/>
          <p:cNvSpPr txBox="1">
            <a:spLocks/>
          </p:cNvSpPr>
          <p:nvPr/>
        </p:nvSpPr>
        <p:spPr>
          <a:xfrm>
            <a:off x="35496" y="3976464"/>
            <a:ext cx="34563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(O)   Sommige S zijn niet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18" name="Right Arrow 17"/>
          <p:cNvSpPr/>
          <p:nvPr/>
        </p:nvSpPr>
        <p:spPr>
          <a:xfrm>
            <a:off x="3635896" y="1556792"/>
            <a:ext cx="1584176"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dirty="0" smtClean="0"/>
              <a:t>negatie</a:t>
            </a:r>
            <a:endParaRPr lang="nl-NL" sz="1600" dirty="0"/>
          </a:p>
        </p:txBody>
      </p:sp>
      <p:sp>
        <p:nvSpPr>
          <p:cNvPr id="22" name="Right Arrow 21"/>
          <p:cNvSpPr/>
          <p:nvPr/>
        </p:nvSpPr>
        <p:spPr>
          <a:xfrm>
            <a:off x="3635896" y="2348880"/>
            <a:ext cx="1584176"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dirty="0" smtClean="0"/>
              <a:t>negatie</a:t>
            </a:r>
            <a:endParaRPr lang="nl-NL" sz="1600" dirty="0"/>
          </a:p>
        </p:txBody>
      </p:sp>
      <p:sp>
        <p:nvSpPr>
          <p:cNvPr id="23" name="Right Arrow 22"/>
          <p:cNvSpPr/>
          <p:nvPr/>
        </p:nvSpPr>
        <p:spPr>
          <a:xfrm>
            <a:off x="3635896" y="3140968"/>
            <a:ext cx="1584176"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dirty="0" smtClean="0"/>
              <a:t>negatie</a:t>
            </a:r>
            <a:endParaRPr lang="nl-NL" sz="1600" dirty="0"/>
          </a:p>
        </p:txBody>
      </p:sp>
      <p:sp>
        <p:nvSpPr>
          <p:cNvPr id="24" name="Right Arrow 23"/>
          <p:cNvSpPr/>
          <p:nvPr/>
        </p:nvSpPr>
        <p:spPr>
          <a:xfrm>
            <a:off x="3635896" y="4005064"/>
            <a:ext cx="1584176"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600" dirty="0" smtClean="0"/>
              <a:t>negatie</a:t>
            </a:r>
            <a:endParaRPr lang="nl-NL" sz="1600" dirty="0"/>
          </a:p>
        </p:txBody>
      </p:sp>
      <p:sp>
        <p:nvSpPr>
          <p:cNvPr id="25" name="Content Placeholder 2"/>
          <p:cNvSpPr txBox="1">
            <a:spLocks/>
          </p:cNvSpPr>
          <p:nvPr/>
        </p:nvSpPr>
        <p:spPr>
          <a:xfrm>
            <a:off x="5220072" y="1484784"/>
            <a:ext cx="34563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(O)   Sommige S zijn niet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26" name="Content Placeholder 2"/>
          <p:cNvSpPr txBox="1">
            <a:spLocks/>
          </p:cNvSpPr>
          <p:nvPr/>
        </p:nvSpPr>
        <p:spPr>
          <a:xfrm>
            <a:off x="5220072" y="393305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   Alle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27" name="Content Placeholder 2"/>
          <p:cNvSpPr txBox="1">
            <a:spLocks/>
          </p:cNvSpPr>
          <p:nvPr/>
        </p:nvSpPr>
        <p:spPr>
          <a:xfrm>
            <a:off x="5220072" y="2276872"/>
            <a:ext cx="21602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(E)   Geen S is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28" name="TextBox 27"/>
          <p:cNvSpPr txBox="1"/>
          <p:nvPr/>
        </p:nvSpPr>
        <p:spPr>
          <a:xfrm>
            <a:off x="611560" y="2627620"/>
            <a:ext cx="3024336" cy="369332"/>
          </a:xfrm>
          <a:prstGeom prst="rect">
            <a:avLst/>
          </a:prstGeom>
          <a:noFill/>
        </p:spPr>
        <p:txBody>
          <a:bodyPr wrap="square" rtlCol="0">
            <a:spAutoFit/>
          </a:bodyPr>
          <a:lstStyle/>
          <a:p>
            <a:r>
              <a:rPr lang="nl-NL" i="1" dirty="0" smtClean="0"/>
              <a:t>Er is er tenminste één</a:t>
            </a:r>
            <a:endParaRPr lang="nl-NL" i="1" dirty="0"/>
          </a:p>
        </p:txBody>
      </p:sp>
      <p:sp>
        <p:nvSpPr>
          <p:cNvPr id="29" name="Content Placeholder 2"/>
          <p:cNvSpPr txBox="1">
            <a:spLocks/>
          </p:cNvSpPr>
          <p:nvPr/>
        </p:nvSpPr>
        <p:spPr>
          <a:xfrm>
            <a:off x="5220072" y="3112368"/>
            <a:ext cx="26746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(I)   Sommige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30" name="TextBox 29"/>
          <p:cNvSpPr txBox="1"/>
          <p:nvPr/>
        </p:nvSpPr>
        <p:spPr>
          <a:xfrm>
            <a:off x="827584" y="5807005"/>
            <a:ext cx="7488832" cy="646331"/>
          </a:xfrm>
          <a:prstGeom prst="rect">
            <a:avLst/>
          </a:prstGeom>
          <a:noFill/>
        </p:spPr>
        <p:txBody>
          <a:bodyPr wrap="square" rtlCol="0">
            <a:spAutoFit/>
          </a:bodyPr>
          <a:lstStyle/>
          <a:p>
            <a:r>
              <a:rPr lang="nl-NL" b="1" dirty="0" smtClean="0"/>
              <a:t>E</a:t>
            </a:r>
            <a:r>
              <a:rPr lang="nl-NL" dirty="0" smtClean="0"/>
              <a:t> en </a:t>
            </a:r>
            <a:r>
              <a:rPr lang="nl-NL" b="1" dirty="0" smtClean="0"/>
              <a:t>I</a:t>
            </a:r>
            <a:r>
              <a:rPr lang="nl-NL" dirty="0" smtClean="0"/>
              <a:t> oordelen met dezelfde subject en </a:t>
            </a:r>
            <a:r>
              <a:rPr lang="nl-NL" dirty="0" err="1" smtClean="0"/>
              <a:t>predikaat</a:t>
            </a:r>
            <a:r>
              <a:rPr lang="nl-NL" dirty="0" smtClean="0"/>
              <a:t> term zijn contradictoir. </a:t>
            </a:r>
          </a:p>
          <a:p>
            <a:r>
              <a:rPr lang="nl-NL" b="1" dirty="0" smtClean="0"/>
              <a:t>A</a:t>
            </a:r>
            <a:r>
              <a:rPr lang="nl-NL" dirty="0" smtClean="0"/>
              <a:t> en </a:t>
            </a:r>
            <a:r>
              <a:rPr lang="nl-NL" b="1" dirty="0" smtClean="0"/>
              <a:t>O</a:t>
            </a:r>
            <a:r>
              <a:rPr lang="nl-NL" dirty="0" smtClean="0"/>
              <a:t> oordelen met dezelfde subject en </a:t>
            </a:r>
            <a:r>
              <a:rPr lang="nl-NL" dirty="0" err="1" smtClean="0"/>
              <a:t>predikaat</a:t>
            </a:r>
            <a:r>
              <a:rPr lang="nl-NL" dirty="0" smtClean="0"/>
              <a:t> term zijn contradictoir.  </a:t>
            </a:r>
            <a:endParaRPr lang="nl-NL" dirty="0"/>
          </a:p>
        </p:txBody>
      </p:sp>
      <p:sp>
        <p:nvSpPr>
          <p:cNvPr id="31" name="TextBox 30"/>
          <p:cNvSpPr txBox="1"/>
          <p:nvPr/>
        </p:nvSpPr>
        <p:spPr>
          <a:xfrm>
            <a:off x="611560" y="4665910"/>
            <a:ext cx="7920880" cy="923330"/>
          </a:xfrm>
          <a:prstGeom prst="rect">
            <a:avLst/>
          </a:prstGeom>
          <a:noFill/>
        </p:spPr>
        <p:txBody>
          <a:bodyPr wrap="square" rtlCol="0">
            <a:spAutoFit/>
          </a:bodyPr>
          <a:lstStyle/>
          <a:p>
            <a:r>
              <a:rPr lang="nl-NL" dirty="0" smtClean="0"/>
              <a:t>Twee oordelen zijn </a:t>
            </a:r>
            <a:r>
              <a:rPr lang="nl-NL" b="1" dirty="0" smtClean="0"/>
              <a:t>contradictoir</a:t>
            </a:r>
            <a:r>
              <a:rPr lang="nl-NL" dirty="0" smtClean="0"/>
              <a:t> indien ze </a:t>
            </a:r>
            <a:r>
              <a:rPr lang="nl-NL" i="1" dirty="0" smtClean="0"/>
              <a:t>niet allebei tegelijkertijd waar </a:t>
            </a:r>
            <a:r>
              <a:rPr lang="nl-NL" dirty="0" smtClean="0"/>
              <a:t>en bovendien </a:t>
            </a:r>
            <a:r>
              <a:rPr lang="nl-NL" i="1" dirty="0" smtClean="0"/>
              <a:t>niet allebei tegelijkertijd onwaar</a:t>
            </a:r>
            <a:r>
              <a:rPr lang="nl-NL" dirty="0" smtClean="0"/>
              <a:t> kunnen zijn. Kortom, als het ene oordeel waar is, dan moet het andere onwaar zijn </a:t>
            </a:r>
            <a:r>
              <a:rPr lang="nl-NL" u="sng" dirty="0" smtClean="0"/>
              <a:t>en omgekeerd </a:t>
            </a:r>
            <a:endParaRPr lang="nl-NL" u="sn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bg/>
                                          </p:spTgt>
                                        </p:tgtEl>
                                        <p:attrNameLst>
                                          <p:attrName>style.visibility</p:attrName>
                                        </p:attrNameLst>
                                      </p:cBhvr>
                                      <p:to>
                                        <p:strVal val="visible"/>
                                      </p:to>
                                    </p:set>
                                    <p:animEffect transition="in" filter="fade">
                                      <p:cBhvr>
                                        <p:cTn id="7" dur="2000"/>
                                        <p:tgtEl>
                                          <p:spTgt spid="18">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2000"/>
                                        <p:tgtEl>
                                          <p:spTgt spid="18">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xEl>
                                              <p:pRg st="0" end="0"/>
                                            </p:txEl>
                                          </p:spTgt>
                                        </p:tgtEl>
                                        <p:attrNameLst>
                                          <p:attrName>style.visibility</p:attrName>
                                        </p:attrNameLst>
                                      </p:cBhvr>
                                      <p:to>
                                        <p:strVal val="visible"/>
                                      </p:to>
                                    </p:set>
                                    <p:animEffect transition="in" filter="fade">
                                      <p:cBhvr>
                                        <p:cTn id="13" dur="2000"/>
                                        <p:tgtEl>
                                          <p:spTgt spid="2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bg/>
                                          </p:spTgt>
                                        </p:tgtEl>
                                        <p:attrNameLst>
                                          <p:attrName>style.visibility</p:attrName>
                                        </p:attrNameLst>
                                      </p:cBhvr>
                                      <p:to>
                                        <p:strVal val="visible"/>
                                      </p:to>
                                    </p:set>
                                    <p:animEffect transition="in" filter="fade">
                                      <p:cBhvr>
                                        <p:cTn id="18" dur="2000"/>
                                        <p:tgtEl>
                                          <p:spTgt spid="22">
                                            <p:bg/>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fade">
                                      <p:cBhvr>
                                        <p:cTn id="21" dur="2000"/>
                                        <p:tgtEl>
                                          <p:spTgt spid="22">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xEl>
                                              <p:pRg st="0" end="0"/>
                                            </p:txEl>
                                          </p:spTgt>
                                        </p:tgtEl>
                                        <p:attrNameLst>
                                          <p:attrName>style.visibility</p:attrName>
                                        </p:attrNameLst>
                                      </p:cBhvr>
                                      <p:to>
                                        <p:strVal val="visible"/>
                                      </p:to>
                                    </p:set>
                                    <p:animEffect transition="in" filter="fade">
                                      <p:cBhvr>
                                        <p:cTn id="24" dur="2000"/>
                                        <p:tgtEl>
                                          <p:spTgt spid="2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8">
                                            <p:txEl>
                                              <p:pRg st="0" end="0"/>
                                            </p:txEl>
                                          </p:spTgt>
                                        </p:tgtEl>
                                        <p:attrNameLst>
                                          <p:attrName>style.visibility</p:attrName>
                                        </p:attrNameLst>
                                      </p:cBhvr>
                                      <p:to>
                                        <p:strVal val="visible"/>
                                      </p:to>
                                    </p:set>
                                    <p:animEffect transition="in" filter="fade">
                                      <p:cBhvr>
                                        <p:cTn id="29" dur="2000"/>
                                        <p:tgtEl>
                                          <p:spTgt spid="28">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bg/>
                                          </p:spTgt>
                                        </p:tgtEl>
                                        <p:attrNameLst>
                                          <p:attrName>style.visibility</p:attrName>
                                        </p:attrNameLst>
                                      </p:cBhvr>
                                      <p:to>
                                        <p:strVal val="visible"/>
                                      </p:to>
                                    </p:set>
                                    <p:animEffect transition="in" filter="fade">
                                      <p:cBhvr>
                                        <p:cTn id="34" dur="2000"/>
                                        <p:tgtEl>
                                          <p:spTgt spid="23">
                                            <p:bg/>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3">
                                            <p:txEl>
                                              <p:pRg st="0" end="0"/>
                                            </p:txEl>
                                          </p:spTgt>
                                        </p:tgtEl>
                                        <p:attrNameLst>
                                          <p:attrName>style.visibility</p:attrName>
                                        </p:attrNameLst>
                                      </p:cBhvr>
                                      <p:to>
                                        <p:strVal val="visible"/>
                                      </p:to>
                                    </p:set>
                                    <p:animEffect transition="in" filter="fade">
                                      <p:cBhvr>
                                        <p:cTn id="37" dur="2000"/>
                                        <p:tgtEl>
                                          <p:spTgt spid="23">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9">
                                            <p:txEl>
                                              <p:pRg st="0" end="0"/>
                                            </p:txEl>
                                          </p:spTgt>
                                        </p:tgtEl>
                                        <p:attrNameLst>
                                          <p:attrName>style.visibility</p:attrName>
                                        </p:attrNameLst>
                                      </p:cBhvr>
                                      <p:to>
                                        <p:strVal val="visible"/>
                                      </p:to>
                                    </p:set>
                                    <p:animEffect transition="in" filter="fade">
                                      <p:cBhvr>
                                        <p:cTn id="40" dur="2000"/>
                                        <p:tgtEl>
                                          <p:spTgt spid="29">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bg/>
                                          </p:spTgt>
                                        </p:tgtEl>
                                        <p:attrNameLst>
                                          <p:attrName>style.visibility</p:attrName>
                                        </p:attrNameLst>
                                      </p:cBhvr>
                                      <p:to>
                                        <p:strVal val="visible"/>
                                      </p:to>
                                    </p:set>
                                    <p:animEffect transition="in" filter="fade">
                                      <p:cBhvr>
                                        <p:cTn id="45" dur="2000"/>
                                        <p:tgtEl>
                                          <p:spTgt spid="24">
                                            <p:bg/>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4">
                                            <p:txEl>
                                              <p:pRg st="0" end="0"/>
                                            </p:txEl>
                                          </p:spTgt>
                                        </p:tgtEl>
                                        <p:attrNameLst>
                                          <p:attrName>style.visibility</p:attrName>
                                        </p:attrNameLst>
                                      </p:cBhvr>
                                      <p:to>
                                        <p:strVal val="visible"/>
                                      </p:to>
                                    </p:set>
                                    <p:animEffect transition="in" filter="fade">
                                      <p:cBhvr>
                                        <p:cTn id="48" dur="2000"/>
                                        <p:tgtEl>
                                          <p:spTgt spid="24">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xEl>
                                              <p:pRg st="0" end="0"/>
                                            </p:txEl>
                                          </p:spTgt>
                                        </p:tgtEl>
                                        <p:attrNameLst>
                                          <p:attrName>style.visibility</p:attrName>
                                        </p:attrNameLst>
                                      </p:cBhvr>
                                      <p:to>
                                        <p:strVal val="visible"/>
                                      </p:to>
                                    </p:set>
                                    <p:animEffect transition="in" filter="fade">
                                      <p:cBhvr>
                                        <p:cTn id="51" dur="2000"/>
                                        <p:tgtEl>
                                          <p:spTgt spid="2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1">
                                            <p:txEl>
                                              <p:pRg st="0" end="0"/>
                                            </p:txEl>
                                          </p:spTgt>
                                        </p:tgtEl>
                                        <p:attrNameLst>
                                          <p:attrName>style.visibility</p:attrName>
                                        </p:attrNameLst>
                                      </p:cBhvr>
                                      <p:to>
                                        <p:strVal val="visible"/>
                                      </p:to>
                                    </p:set>
                                    <p:animEffect transition="in" filter="fade">
                                      <p:cBhvr>
                                        <p:cTn id="56" dur="2000"/>
                                        <p:tgtEl>
                                          <p:spTgt spid="31">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0">
                                            <p:txEl>
                                              <p:pRg st="0" end="0"/>
                                            </p:txEl>
                                          </p:spTgt>
                                        </p:tgtEl>
                                        <p:attrNameLst>
                                          <p:attrName>style.visibility</p:attrName>
                                        </p:attrNameLst>
                                      </p:cBhvr>
                                      <p:to>
                                        <p:strVal val="visible"/>
                                      </p:to>
                                    </p:set>
                                    <p:animEffect transition="in" filter="fade">
                                      <p:cBhvr>
                                        <p:cTn id="61" dur="2000"/>
                                        <p:tgtEl>
                                          <p:spTgt spid="30">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xEl>
                                              <p:pRg st="1" end="1"/>
                                            </p:txEl>
                                          </p:spTgt>
                                        </p:tgtEl>
                                        <p:attrNameLst>
                                          <p:attrName>style.visibility</p:attrName>
                                        </p:attrNameLst>
                                      </p:cBhvr>
                                      <p:to>
                                        <p:strVal val="visible"/>
                                      </p:to>
                                    </p:set>
                                    <p:animEffect transition="in" filter="fade">
                                      <p:cBhvr>
                                        <p:cTn id="64" dur="2000"/>
                                        <p:tgtEl>
                                          <p:spTgt spid="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animBg="1"/>
      <p:bldP spid="22" grpId="0" build="allAtOnce" animBg="1"/>
      <p:bldP spid="23" grpId="0" build="allAtOnce" animBg="1"/>
      <p:bldP spid="24" grpId="0" build="allAtOnce" animBg="1"/>
      <p:bldP spid="25" grpId="0" build="allAtOnce"/>
      <p:bldP spid="26" grpId="0" build="allAtOnce"/>
      <p:bldP spid="27" grpId="0" build="allAtOnce"/>
      <p:bldP spid="28" grpId="0" build="allAtOnce"/>
      <p:bldP spid="29" grpId="0" build="allAtOnce"/>
      <p:bldP spid="30" grpId="0" build="allAtOnce"/>
      <p:bldP spid="31" grpId="0" build="allAtOnce"/>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Oppositievierkant</a:t>
            </a:r>
            <a:endParaRPr lang="nl-NL" sz="3600" dirty="0"/>
          </a:p>
        </p:txBody>
      </p:sp>
      <p:sp>
        <p:nvSpPr>
          <p:cNvPr id="4" name="Content Placeholder 2"/>
          <p:cNvSpPr txBox="1">
            <a:spLocks/>
          </p:cNvSpPr>
          <p:nvPr/>
        </p:nvSpPr>
        <p:spPr>
          <a:xfrm>
            <a:off x="827584" y="167220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   Alle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5" name="Content Placeholder 2"/>
          <p:cNvSpPr txBox="1">
            <a:spLocks/>
          </p:cNvSpPr>
          <p:nvPr/>
        </p:nvSpPr>
        <p:spPr>
          <a:xfrm>
            <a:off x="0" y="4264496"/>
            <a:ext cx="26746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(I)   Sommige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6" name="Content Placeholder 2"/>
          <p:cNvSpPr txBox="1">
            <a:spLocks/>
          </p:cNvSpPr>
          <p:nvPr/>
        </p:nvSpPr>
        <p:spPr>
          <a:xfrm>
            <a:off x="4860032" y="1628800"/>
            <a:ext cx="21602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(E)   Geen S is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7" name="Content Placeholder 2"/>
          <p:cNvSpPr txBox="1">
            <a:spLocks/>
          </p:cNvSpPr>
          <p:nvPr/>
        </p:nvSpPr>
        <p:spPr>
          <a:xfrm>
            <a:off x="5220072" y="4192488"/>
            <a:ext cx="34563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(O)   Sommige S zijn niet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cxnSp>
        <p:nvCxnSpPr>
          <p:cNvPr id="13" name="Straight Connector 12"/>
          <p:cNvCxnSpPr/>
          <p:nvPr/>
        </p:nvCxnSpPr>
        <p:spPr>
          <a:xfrm>
            <a:off x="5940152" y="2204864"/>
            <a:ext cx="936104" cy="18722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19672" y="4077072"/>
            <a:ext cx="52565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619672" y="2204864"/>
            <a:ext cx="648072" cy="18722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267744" y="2204864"/>
            <a:ext cx="367240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1619672" y="2204864"/>
            <a:ext cx="4320480" cy="18722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267744" y="2204864"/>
            <a:ext cx="4608512" cy="187220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491880" y="3203684"/>
            <a:ext cx="2376264" cy="369332"/>
          </a:xfrm>
          <a:prstGeom prst="rect">
            <a:avLst/>
          </a:prstGeom>
          <a:noFill/>
        </p:spPr>
        <p:txBody>
          <a:bodyPr wrap="square" rtlCol="0">
            <a:spAutoFit/>
          </a:bodyPr>
          <a:lstStyle/>
          <a:p>
            <a:r>
              <a:rPr lang="nl-NL" i="1" dirty="0" smtClean="0"/>
              <a:t>contradictoir</a:t>
            </a:r>
            <a:endParaRPr lang="nl-NL" i="1" dirty="0"/>
          </a:p>
        </p:txBody>
      </p:sp>
      <p:sp>
        <p:nvSpPr>
          <p:cNvPr id="30" name="TextBox 29"/>
          <p:cNvSpPr txBox="1"/>
          <p:nvPr/>
        </p:nvSpPr>
        <p:spPr>
          <a:xfrm>
            <a:off x="3635896" y="1772816"/>
            <a:ext cx="936104" cy="369332"/>
          </a:xfrm>
          <a:prstGeom prst="rect">
            <a:avLst/>
          </a:prstGeom>
          <a:noFill/>
        </p:spPr>
        <p:txBody>
          <a:bodyPr wrap="square" rtlCol="0">
            <a:spAutoFit/>
          </a:bodyPr>
          <a:lstStyle/>
          <a:p>
            <a:r>
              <a:rPr lang="nl-NL" i="1" dirty="0" smtClean="0"/>
              <a:t>contrair</a:t>
            </a:r>
            <a:endParaRPr lang="nl-NL" i="1" dirty="0"/>
          </a:p>
        </p:txBody>
      </p:sp>
      <p:sp>
        <p:nvSpPr>
          <p:cNvPr id="31" name="TextBox 30"/>
          <p:cNvSpPr txBox="1"/>
          <p:nvPr/>
        </p:nvSpPr>
        <p:spPr>
          <a:xfrm>
            <a:off x="3419872" y="4077072"/>
            <a:ext cx="1368152" cy="369332"/>
          </a:xfrm>
          <a:prstGeom prst="rect">
            <a:avLst/>
          </a:prstGeom>
          <a:noFill/>
        </p:spPr>
        <p:txBody>
          <a:bodyPr wrap="square" rtlCol="0">
            <a:spAutoFit/>
          </a:bodyPr>
          <a:lstStyle/>
          <a:p>
            <a:r>
              <a:rPr lang="nl-NL" i="1" dirty="0" smtClean="0"/>
              <a:t>subcontrair</a:t>
            </a:r>
            <a:endParaRPr lang="nl-NL" i="1" dirty="0"/>
          </a:p>
        </p:txBody>
      </p:sp>
      <p:sp>
        <p:nvSpPr>
          <p:cNvPr id="32" name="TextBox 31"/>
          <p:cNvSpPr txBox="1"/>
          <p:nvPr/>
        </p:nvSpPr>
        <p:spPr>
          <a:xfrm>
            <a:off x="611560" y="5097958"/>
            <a:ext cx="7920880" cy="646331"/>
          </a:xfrm>
          <a:prstGeom prst="rect">
            <a:avLst/>
          </a:prstGeom>
          <a:noFill/>
        </p:spPr>
        <p:txBody>
          <a:bodyPr wrap="square" rtlCol="0">
            <a:spAutoFit/>
          </a:bodyPr>
          <a:lstStyle/>
          <a:p>
            <a:r>
              <a:rPr lang="nl-NL" dirty="0" smtClean="0"/>
              <a:t>Twee oordelen zijn </a:t>
            </a:r>
            <a:r>
              <a:rPr lang="nl-NL" b="1" dirty="0" smtClean="0"/>
              <a:t>contrair </a:t>
            </a:r>
            <a:r>
              <a:rPr lang="nl-NL" dirty="0" smtClean="0"/>
              <a:t>indien ze </a:t>
            </a:r>
            <a:r>
              <a:rPr lang="nl-NL" i="1" dirty="0" smtClean="0"/>
              <a:t>niet allebei tegelijkertijd waar </a:t>
            </a:r>
            <a:r>
              <a:rPr lang="nl-NL" dirty="0" smtClean="0"/>
              <a:t>kunnen zijn. Kortom, als het ene oordeel waar is, dan moet het andere onwaar zijn</a:t>
            </a:r>
            <a:endParaRPr lang="nl-NL" dirty="0"/>
          </a:p>
        </p:txBody>
      </p:sp>
      <p:sp>
        <p:nvSpPr>
          <p:cNvPr id="33" name="TextBox 32"/>
          <p:cNvSpPr txBox="1"/>
          <p:nvPr/>
        </p:nvSpPr>
        <p:spPr>
          <a:xfrm>
            <a:off x="611560" y="5879013"/>
            <a:ext cx="7920880" cy="646331"/>
          </a:xfrm>
          <a:prstGeom prst="rect">
            <a:avLst/>
          </a:prstGeom>
          <a:noFill/>
        </p:spPr>
        <p:txBody>
          <a:bodyPr wrap="square" rtlCol="0">
            <a:spAutoFit/>
          </a:bodyPr>
          <a:lstStyle/>
          <a:p>
            <a:r>
              <a:rPr lang="nl-NL" dirty="0" smtClean="0"/>
              <a:t>Twee oordelen zijn </a:t>
            </a:r>
            <a:r>
              <a:rPr lang="nl-NL" b="1" dirty="0" smtClean="0"/>
              <a:t>subcontrair </a:t>
            </a:r>
            <a:r>
              <a:rPr lang="nl-NL" dirty="0" smtClean="0"/>
              <a:t>indien ze </a:t>
            </a:r>
            <a:r>
              <a:rPr lang="nl-NL" i="1" dirty="0" smtClean="0"/>
              <a:t>niet allebei tegelijkertijd onwaar </a:t>
            </a:r>
            <a:r>
              <a:rPr lang="nl-NL" dirty="0" smtClean="0"/>
              <a:t>kunnen zijn. Kortom, als het ene oordeel onwaar is, dan moet het andere waar zijn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fade">
                                      <p:cBhvr>
                                        <p:cTn id="12" dur="2000"/>
                                        <p:tgtEl>
                                          <p:spTgt spid="3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xEl>
                                              <p:pRg st="0" end="0"/>
                                            </p:txEl>
                                          </p:spTgt>
                                        </p:tgtEl>
                                        <p:attrNameLst>
                                          <p:attrName>style.visibility</p:attrName>
                                        </p:attrNameLst>
                                      </p:cBhvr>
                                      <p:to>
                                        <p:strVal val="visible"/>
                                      </p:to>
                                    </p:set>
                                    <p:animEffect transition="in" filter="fade">
                                      <p:cBhvr>
                                        <p:cTn id="17" dur="2000"/>
                                        <p:tgtEl>
                                          <p:spTgt spid="3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2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xEl>
                                              <p:pRg st="0" end="0"/>
                                            </p:txEl>
                                          </p:spTgt>
                                        </p:tgtEl>
                                        <p:attrNameLst>
                                          <p:attrName>style.visibility</p:attrName>
                                        </p:attrNameLst>
                                      </p:cBhvr>
                                      <p:to>
                                        <p:strVal val="visible"/>
                                      </p:to>
                                    </p:set>
                                    <p:animEffect transition="in" filter="fade">
                                      <p:cBhvr>
                                        <p:cTn id="27" dur="2000"/>
                                        <p:tgtEl>
                                          <p:spTgt spid="3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
                                            <p:txEl>
                                              <p:pRg st="0" end="0"/>
                                            </p:txEl>
                                          </p:spTgt>
                                        </p:tgtEl>
                                        <p:attrNameLst>
                                          <p:attrName>style.visibility</p:attrName>
                                        </p:attrNameLst>
                                      </p:cBhvr>
                                      <p:to>
                                        <p:strVal val="visible"/>
                                      </p:to>
                                    </p:set>
                                    <p:animEffect transition="in" filter="fade">
                                      <p:cBhvr>
                                        <p:cTn id="32" dur="2000"/>
                                        <p:tgtEl>
                                          <p:spTgt spid="3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20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p:bldP spid="31" grpId="0" build="allAtOnce"/>
      <p:bldP spid="32" grpId="0" build="allAtOnce"/>
      <p:bldP spid="33" grpId="0" build="allAtOnce"/>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Oppositievierkant</a:t>
            </a:r>
            <a:endParaRPr lang="nl-NL" sz="3600" dirty="0"/>
          </a:p>
        </p:txBody>
      </p:sp>
      <p:sp>
        <p:nvSpPr>
          <p:cNvPr id="4" name="Content Placeholder 2"/>
          <p:cNvSpPr txBox="1">
            <a:spLocks/>
          </p:cNvSpPr>
          <p:nvPr/>
        </p:nvSpPr>
        <p:spPr>
          <a:xfrm>
            <a:off x="827584" y="167220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   Alle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5" name="Content Placeholder 2"/>
          <p:cNvSpPr txBox="1">
            <a:spLocks/>
          </p:cNvSpPr>
          <p:nvPr/>
        </p:nvSpPr>
        <p:spPr>
          <a:xfrm>
            <a:off x="0" y="4264496"/>
            <a:ext cx="26746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(I)   Sommige S zijn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6" name="Content Placeholder 2"/>
          <p:cNvSpPr txBox="1">
            <a:spLocks/>
          </p:cNvSpPr>
          <p:nvPr/>
        </p:nvSpPr>
        <p:spPr>
          <a:xfrm>
            <a:off x="4860032" y="1628800"/>
            <a:ext cx="21602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(E)   Geen S is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sp>
        <p:nvSpPr>
          <p:cNvPr id="7" name="Content Placeholder 2"/>
          <p:cNvSpPr txBox="1">
            <a:spLocks/>
          </p:cNvSpPr>
          <p:nvPr/>
        </p:nvSpPr>
        <p:spPr>
          <a:xfrm>
            <a:off x="5220072" y="4192488"/>
            <a:ext cx="34563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(O)   Sommige S zijn niet P</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i="0" u="none" strike="noStrike" kern="1200" cap="none" spc="0" normalizeH="0" baseline="0" noProof="0" dirty="0" smtClean="0">
              <a:ln>
                <a:noFill/>
              </a:ln>
              <a:effectLst/>
              <a:uLnTx/>
              <a:uFillTx/>
              <a:latin typeface="+mn-lt"/>
              <a:ea typeface="+mn-ea"/>
              <a:cs typeface="+mn-cs"/>
            </a:endParaRPr>
          </a:p>
        </p:txBody>
      </p:sp>
      <p:cxnSp>
        <p:nvCxnSpPr>
          <p:cNvPr id="13" name="Straight Connector 12"/>
          <p:cNvCxnSpPr/>
          <p:nvPr/>
        </p:nvCxnSpPr>
        <p:spPr>
          <a:xfrm>
            <a:off x="5940152" y="2204864"/>
            <a:ext cx="936104" cy="18722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619672" y="4077072"/>
            <a:ext cx="5256584"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1619672" y="2204864"/>
            <a:ext cx="648072" cy="18722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267744" y="2204864"/>
            <a:ext cx="367240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1619672" y="2204864"/>
            <a:ext cx="4320480" cy="187220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2267744" y="2204864"/>
            <a:ext cx="4608512" cy="187220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491880" y="3203684"/>
            <a:ext cx="2376264" cy="369332"/>
          </a:xfrm>
          <a:prstGeom prst="rect">
            <a:avLst/>
          </a:prstGeom>
          <a:noFill/>
        </p:spPr>
        <p:txBody>
          <a:bodyPr wrap="square" rtlCol="0">
            <a:spAutoFit/>
          </a:bodyPr>
          <a:lstStyle/>
          <a:p>
            <a:r>
              <a:rPr lang="nl-NL" i="1" dirty="0" smtClean="0"/>
              <a:t>contradictoir</a:t>
            </a:r>
            <a:endParaRPr lang="nl-NL" i="1" dirty="0"/>
          </a:p>
        </p:txBody>
      </p:sp>
      <p:sp>
        <p:nvSpPr>
          <p:cNvPr id="30" name="TextBox 29"/>
          <p:cNvSpPr txBox="1"/>
          <p:nvPr/>
        </p:nvSpPr>
        <p:spPr>
          <a:xfrm>
            <a:off x="3635896" y="1772816"/>
            <a:ext cx="936104" cy="369332"/>
          </a:xfrm>
          <a:prstGeom prst="rect">
            <a:avLst/>
          </a:prstGeom>
          <a:noFill/>
        </p:spPr>
        <p:txBody>
          <a:bodyPr wrap="square" rtlCol="0">
            <a:spAutoFit/>
          </a:bodyPr>
          <a:lstStyle/>
          <a:p>
            <a:r>
              <a:rPr lang="nl-NL" i="1" dirty="0" smtClean="0"/>
              <a:t>contrair</a:t>
            </a:r>
            <a:endParaRPr lang="nl-NL" i="1" dirty="0"/>
          </a:p>
        </p:txBody>
      </p:sp>
      <p:sp>
        <p:nvSpPr>
          <p:cNvPr id="31" name="TextBox 30"/>
          <p:cNvSpPr txBox="1"/>
          <p:nvPr/>
        </p:nvSpPr>
        <p:spPr>
          <a:xfrm>
            <a:off x="3419872" y="4077072"/>
            <a:ext cx="1368152" cy="369332"/>
          </a:xfrm>
          <a:prstGeom prst="rect">
            <a:avLst/>
          </a:prstGeom>
          <a:noFill/>
        </p:spPr>
        <p:txBody>
          <a:bodyPr wrap="square" rtlCol="0">
            <a:spAutoFit/>
          </a:bodyPr>
          <a:lstStyle/>
          <a:p>
            <a:r>
              <a:rPr lang="nl-NL" i="1" dirty="0" smtClean="0"/>
              <a:t>subcontrair</a:t>
            </a:r>
            <a:endParaRPr lang="nl-NL" i="1" dirty="0"/>
          </a:p>
        </p:txBody>
      </p:sp>
      <p:sp>
        <p:nvSpPr>
          <p:cNvPr id="32" name="TextBox 31"/>
          <p:cNvSpPr txBox="1"/>
          <p:nvPr/>
        </p:nvSpPr>
        <p:spPr>
          <a:xfrm>
            <a:off x="539552" y="4941168"/>
            <a:ext cx="8136904" cy="923330"/>
          </a:xfrm>
          <a:prstGeom prst="rect">
            <a:avLst/>
          </a:prstGeom>
          <a:noFill/>
        </p:spPr>
        <p:txBody>
          <a:bodyPr wrap="square" rtlCol="0">
            <a:spAutoFit/>
          </a:bodyPr>
          <a:lstStyle/>
          <a:p>
            <a:r>
              <a:rPr lang="nl-NL" dirty="0" smtClean="0"/>
              <a:t>Oordeel 1 is </a:t>
            </a:r>
            <a:r>
              <a:rPr lang="nl-NL" b="1" dirty="0" smtClean="0"/>
              <a:t>subaltern</a:t>
            </a:r>
            <a:r>
              <a:rPr lang="nl-NL" dirty="0" smtClean="0"/>
              <a:t> aan oordeel 2 indien de waarheid van oordeel 2 de waarheid van oordeel 1 impliceert. De onwaarheid van oordeel 1 impliceert dan uiteraard                ook de onwaarheid van oordeel 2. </a:t>
            </a:r>
            <a:endParaRPr lang="nl-NL" dirty="0"/>
          </a:p>
        </p:txBody>
      </p:sp>
      <p:sp>
        <p:nvSpPr>
          <p:cNvPr id="18" name="TextBox 17"/>
          <p:cNvSpPr txBox="1"/>
          <p:nvPr/>
        </p:nvSpPr>
        <p:spPr>
          <a:xfrm>
            <a:off x="899592" y="2771636"/>
            <a:ext cx="1224136" cy="369332"/>
          </a:xfrm>
          <a:prstGeom prst="rect">
            <a:avLst/>
          </a:prstGeom>
          <a:noFill/>
        </p:spPr>
        <p:txBody>
          <a:bodyPr wrap="square" rtlCol="0">
            <a:spAutoFit/>
          </a:bodyPr>
          <a:lstStyle/>
          <a:p>
            <a:r>
              <a:rPr lang="nl-NL" i="1" dirty="0" smtClean="0"/>
              <a:t>subaltern</a:t>
            </a:r>
            <a:endParaRPr lang="nl-NL" i="1" dirty="0"/>
          </a:p>
        </p:txBody>
      </p:sp>
      <p:sp>
        <p:nvSpPr>
          <p:cNvPr id="20" name="TextBox 19"/>
          <p:cNvSpPr txBox="1"/>
          <p:nvPr/>
        </p:nvSpPr>
        <p:spPr>
          <a:xfrm>
            <a:off x="6372200" y="2708920"/>
            <a:ext cx="1224136" cy="369332"/>
          </a:xfrm>
          <a:prstGeom prst="rect">
            <a:avLst/>
          </a:prstGeom>
          <a:noFill/>
        </p:spPr>
        <p:txBody>
          <a:bodyPr wrap="square" rtlCol="0">
            <a:spAutoFit/>
          </a:bodyPr>
          <a:lstStyle/>
          <a:p>
            <a:r>
              <a:rPr lang="nl-NL" i="1" dirty="0" smtClean="0"/>
              <a:t>subaltern</a:t>
            </a:r>
            <a:endParaRPr lang="nl-NL" i="1" dirty="0"/>
          </a:p>
        </p:txBody>
      </p:sp>
      <p:sp>
        <p:nvSpPr>
          <p:cNvPr id="22" name="TextBox 21"/>
          <p:cNvSpPr txBox="1"/>
          <p:nvPr/>
        </p:nvSpPr>
        <p:spPr>
          <a:xfrm>
            <a:off x="539552" y="6023029"/>
            <a:ext cx="7488832" cy="646331"/>
          </a:xfrm>
          <a:prstGeom prst="rect">
            <a:avLst/>
          </a:prstGeom>
          <a:noFill/>
        </p:spPr>
        <p:txBody>
          <a:bodyPr wrap="square" rtlCol="0">
            <a:spAutoFit/>
          </a:bodyPr>
          <a:lstStyle/>
          <a:p>
            <a:r>
              <a:rPr lang="nl-NL" b="1" dirty="0" smtClean="0"/>
              <a:t>I</a:t>
            </a:r>
            <a:r>
              <a:rPr lang="nl-NL" dirty="0" smtClean="0"/>
              <a:t> oordelen zijn subaltern aan de overeenkomstige </a:t>
            </a:r>
            <a:r>
              <a:rPr lang="nl-NL" b="1" dirty="0" smtClean="0"/>
              <a:t>A</a:t>
            </a:r>
            <a:r>
              <a:rPr lang="nl-NL" dirty="0" smtClean="0"/>
              <a:t> oordelen.</a:t>
            </a:r>
          </a:p>
          <a:p>
            <a:r>
              <a:rPr lang="nl-NL" b="1" dirty="0" smtClean="0"/>
              <a:t>O</a:t>
            </a:r>
            <a:r>
              <a:rPr lang="nl-NL" dirty="0" smtClean="0"/>
              <a:t> oordelen zijn subaltern aan de overeenkomstige </a:t>
            </a:r>
            <a:r>
              <a:rPr lang="nl-NL" b="1" dirty="0" smtClean="0"/>
              <a:t>E</a:t>
            </a:r>
            <a:r>
              <a:rPr lang="nl-NL" dirty="0" smtClean="0"/>
              <a:t> oordelen.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20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2000"/>
                                        <p:tgtEl>
                                          <p:spTgt spid="2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2">
                                            <p:txEl>
                                              <p:pRg st="1" end="1"/>
                                            </p:txEl>
                                          </p:spTgt>
                                        </p:tgtEl>
                                        <p:attrNameLst>
                                          <p:attrName>style.visibility</p:attrName>
                                        </p:attrNameLst>
                                      </p:cBhvr>
                                      <p:to>
                                        <p:strVal val="visible"/>
                                      </p:to>
                                    </p:set>
                                    <p:animEffect transition="in" filter="fade">
                                      <p:cBhvr>
                                        <p:cTn id="15" dur="20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allAtOnce"/>
      <p:bldP spid="22" grpId="0" build="allAtOnce"/>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4" name="Content Placeholder 2"/>
          <p:cNvSpPr txBox="1">
            <a:spLocks/>
          </p:cNvSpPr>
          <p:nvPr/>
        </p:nvSpPr>
        <p:spPr>
          <a:xfrm>
            <a:off x="-324544" y="177281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(A)   Alle S zijn P</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5" name="Content Placeholder 2"/>
          <p:cNvSpPr txBox="1">
            <a:spLocks/>
          </p:cNvSpPr>
          <p:nvPr/>
        </p:nvSpPr>
        <p:spPr>
          <a:xfrm>
            <a:off x="3851920" y="1772816"/>
            <a:ext cx="26746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(I)   Sommige S zijn P</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6" name="Content Placeholder 2"/>
          <p:cNvSpPr txBox="1">
            <a:spLocks/>
          </p:cNvSpPr>
          <p:nvPr/>
        </p:nvSpPr>
        <p:spPr>
          <a:xfrm>
            <a:off x="1907704" y="1412776"/>
            <a:ext cx="21602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(E)   Geen S is P</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7" name="Content Placeholder 2"/>
          <p:cNvSpPr txBox="1">
            <a:spLocks/>
          </p:cNvSpPr>
          <p:nvPr/>
        </p:nvSpPr>
        <p:spPr>
          <a:xfrm>
            <a:off x="6156176" y="1441376"/>
            <a:ext cx="34563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(O)   Sommige S zijn niet P                                        </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23" name="TextBox 22"/>
          <p:cNvSpPr txBox="1"/>
          <p:nvPr/>
        </p:nvSpPr>
        <p:spPr>
          <a:xfrm>
            <a:off x="755576" y="2420888"/>
            <a:ext cx="1728192" cy="400110"/>
          </a:xfrm>
          <a:prstGeom prst="rect">
            <a:avLst/>
          </a:prstGeom>
          <a:noFill/>
        </p:spPr>
        <p:txBody>
          <a:bodyPr wrap="square" rtlCol="0">
            <a:spAutoFit/>
          </a:bodyPr>
          <a:lstStyle/>
          <a:p>
            <a:r>
              <a:rPr lang="nl-NL" sz="2000" b="1" i="1" dirty="0" err="1" smtClean="0"/>
              <a:t>SaP</a:t>
            </a:r>
            <a:endParaRPr lang="nl-NL" sz="2000" b="1" i="1" dirty="0"/>
          </a:p>
        </p:txBody>
      </p:sp>
      <p:cxnSp>
        <p:nvCxnSpPr>
          <p:cNvPr id="26" name="Straight Connector 25"/>
          <p:cNvCxnSpPr/>
          <p:nvPr/>
        </p:nvCxnSpPr>
        <p:spPr>
          <a:xfrm>
            <a:off x="1043608" y="2820998"/>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32352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04360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5496" y="3829110"/>
            <a:ext cx="648072" cy="369332"/>
          </a:xfrm>
          <a:prstGeom prst="rect">
            <a:avLst/>
          </a:prstGeom>
          <a:noFill/>
        </p:spPr>
        <p:txBody>
          <a:bodyPr wrap="square" rtlCol="0">
            <a:spAutoFit/>
          </a:bodyPr>
          <a:lstStyle/>
          <a:p>
            <a:r>
              <a:rPr lang="nl-NL" b="1" i="1" dirty="0" smtClean="0"/>
              <a:t>S</a:t>
            </a:r>
            <a:endParaRPr lang="nl-NL" b="1" i="1" dirty="0"/>
          </a:p>
        </p:txBody>
      </p:sp>
      <p:sp>
        <p:nvSpPr>
          <p:cNvPr id="39" name="TextBox 38"/>
          <p:cNvSpPr txBox="1"/>
          <p:nvPr/>
        </p:nvSpPr>
        <p:spPr>
          <a:xfrm>
            <a:off x="899592" y="3819818"/>
            <a:ext cx="648072" cy="369332"/>
          </a:xfrm>
          <a:prstGeom prst="rect">
            <a:avLst/>
          </a:prstGeom>
          <a:noFill/>
        </p:spPr>
        <p:txBody>
          <a:bodyPr wrap="square" rtlCol="0">
            <a:spAutoFit/>
          </a:bodyPr>
          <a:lstStyle/>
          <a:p>
            <a:r>
              <a:rPr lang="nl-NL" b="1" i="1" dirty="0" smtClean="0"/>
              <a:t>a</a:t>
            </a:r>
            <a:endParaRPr lang="nl-NL" b="1" i="1" dirty="0"/>
          </a:p>
        </p:txBody>
      </p:sp>
      <p:sp>
        <p:nvSpPr>
          <p:cNvPr id="40" name="TextBox 39"/>
          <p:cNvSpPr txBox="1"/>
          <p:nvPr/>
        </p:nvSpPr>
        <p:spPr>
          <a:xfrm>
            <a:off x="1691680" y="3829110"/>
            <a:ext cx="648072" cy="369332"/>
          </a:xfrm>
          <a:prstGeom prst="rect">
            <a:avLst/>
          </a:prstGeom>
          <a:noFill/>
        </p:spPr>
        <p:txBody>
          <a:bodyPr wrap="square" rtlCol="0">
            <a:spAutoFit/>
          </a:bodyPr>
          <a:lstStyle/>
          <a:p>
            <a:r>
              <a:rPr lang="nl-NL" b="1" i="1" dirty="0" smtClean="0"/>
              <a:t>P</a:t>
            </a:r>
            <a:endParaRPr lang="nl-NL" b="1" i="1" dirty="0"/>
          </a:p>
        </p:txBody>
      </p:sp>
      <p:sp>
        <p:nvSpPr>
          <p:cNvPr id="41" name="TextBox 40"/>
          <p:cNvSpPr txBox="1"/>
          <p:nvPr/>
        </p:nvSpPr>
        <p:spPr>
          <a:xfrm>
            <a:off x="2915816" y="1844824"/>
            <a:ext cx="1728192" cy="400110"/>
          </a:xfrm>
          <a:prstGeom prst="rect">
            <a:avLst/>
          </a:prstGeom>
          <a:noFill/>
        </p:spPr>
        <p:txBody>
          <a:bodyPr wrap="square" rtlCol="0">
            <a:spAutoFit/>
          </a:bodyPr>
          <a:lstStyle/>
          <a:p>
            <a:r>
              <a:rPr lang="nl-NL" sz="2000" b="1" i="1" dirty="0" err="1" smtClean="0"/>
              <a:t>SeP</a:t>
            </a:r>
            <a:endParaRPr lang="nl-NL" sz="2000" b="1" i="1" dirty="0"/>
          </a:p>
        </p:txBody>
      </p:sp>
      <p:cxnSp>
        <p:nvCxnSpPr>
          <p:cNvPr id="42" name="Straight Connector 41"/>
          <p:cNvCxnSpPr/>
          <p:nvPr/>
        </p:nvCxnSpPr>
        <p:spPr>
          <a:xfrm>
            <a:off x="3203848" y="2244934"/>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2483768" y="2244934"/>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3203848" y="2244934"/>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267744" y="3253046"/>
            <a:ext cx="288032" cy="369332"/>
          </a:xfrm>
          <a:prstGeom prst="rect">
            <a:avLst/>
          </a:prstGeom>
          <a:noFill/>
        </p:spPr>
        <p:txBody>
          <a:bodyPr wrap="square" rtlCol="0">
            <a:spAutoFit/>
          </a:bodyPr>
          <a:lstStyle/>
          <a:p>
            <a:r>
              <a:rPr lang="nl-NL" b="1" i="1" dirty="0" smtClean="0"/>
              <a:t>S</a:t>
            </a:r>
            <a:endParaRPr lang="nl-NL" b="1" i="1" dirty="0"/>
          </a:p>
        </p:txBody>
      </p:sp>
      <p:sp>
        <p:nvSpPr>
          <p:cNvPr id="46" name="TextBox 45"/>
          <p:cNvSpPr txBox="1"/>
          <p:nvPr/>
        </p:nvSpPr>
        <p:spPr>
          <a:xfrm>
            <a:off x="3059832" y="3243754"/>
            <a:ext cx="648072" cy="369332"/>
          </a:xfrm>
          <a:prstGeom prst="rect">
            <a:avLst/>
          </a:prstGeom>
          <a:noFill/>
        </p:spPr>
        <p:txBody>
          <a:bodyPr wrap="square" rtlCol="0">
            <a:spAutoFit/>
          </a:bodyPr>
          <a:lstStyle/>
          <a:p>
            <a:r>
              <a:rPr lang="nl-NL" b="1" i="1" dirty="0" smtClean="0"/>
              <a:t>e</a:t>
            </a:r>
            <a:endParaRPr lang="nl-NL" b="1" i="1" dirty="0"/>
          </a:p>
        </p:txBody>
      </p:sp>
      <p:sp>
        <p:nvSpPr>
          <p:cNvPr id="47" name="TextBox 46"/>
          <p:cNvSpPr txBox="1"/>
          <p:nvPr/>
        </p:nvSpPr>
        <p:spPr>
          <a:xfrm>
            <a:off x="3851920" y="3253046"/>
            <a:ext cx="648072" cy="369332"/>
          </a:xfrm>
          <a:prstGeom prst="rect">
            <a:avLst/>
          </a:prstGeom>
          <a:noFill/>
        </p:spPr>
        <p:txBody>
          <a:bodyPr wrap="square" rtlCol="0">
            <a:spAutoFit/>
          </a:bodyPr>
          <a:lstStyle/>
          <a:p>
            <a:r>
              <a:rPr lang="nl-NL" b="1" i="1" dirty="0" smtClean="0"/>
              <a:t>P</a:t>
            </a:r>
            <a:endParaRPr lang="nl-NL" b="1" i="1" dirty="0"/>
          </a:p>
        </p:txBody>
      </p:sp>
      <p:sp>
        <p:nvSpPr>
          <p:cNvPr id="48" name="TextBox 47"/>
          <p:cNvSpPr txBox="1"/>
          <p:nvPr/>
        </p:nvSpPr>
        <p:spPr>
          <a:xfrm>
            <a:off x="5436096" y="2460958"/>
            <a:ext cx="1728192" cy="400110"/>
          </a:xfrm>
          <a:prstGeom prst="rect">
            <a:avLst/>
          </a:prstGeom>
          <a:noFill/>
        </p:spPr>
        <p:txBody>
          <a:bodyPr wrap="square" rtlCol="0">
            <a:spAutoFit/>
          </a:bodyPr>
          <a:lstStyle/>
          <a:p>
            <a:r>
              <a:rPr lang="nl-NL" sz="2000" b="1" i="1" dirty="0" err="1" smtClean="0"/>
              <a:t>SiP</a:t>
            </a:r>
            <a:endParaRPr lang="nl-NL" sz="2000" b="1" i="1" dirty="0"/>
          </a:p>
        </p:txBody>
      </p:sp>
      <p:cxnSp>
        <p:nvCxnSpPr>
          <p:cNvPr id="49" name="Straight Connector 48"/>
          <p:cNvCxnSpPr/>
          <p:nvPr/>
        </p:nvCxnSpPr>
        <p:spPr>
          <a:xfrm>
            <a:off x="5724128" y="2820998"/>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500404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572412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716016" y="3829110"/>
            <a:ext cx="648072" cy="369332"/>
          </a:xfrm>
          <a:prstGeom prst="rect">
            <a:avLst/>
          </a:prstGeom>
          <a:noFill/>
        </p:spPr>
        <p:txBody>
          <a:bodyPr wrap="square" rtlCol="0">
            <a:spAutoFit/>
          </a:bodyPr>
          <a:lstStyle/>
          <a:p>
            <a:r>
              <a:rPr lang="nl-NL" b="1" i="1" dirty="0" smtClean="0"/>
              <a:t>S</a:t>
            </a:r>
            <a:endParaRPr lang="nl-NL" b="1" i="1" dirty="0"/>
          </a:p>
        </p:txBody>
      </p:sp>
      <p:sp>
        <p:nvSpPr>
          <p:cNvPr id="53" name="TextBox 52"/>
          <p:cNvSpPr txBox="1"/>
          <p:nvPr/>
        </p:nvSpPr>
        <p:spPr>
          <a:xfrm>
            <a:off x="5580112" y="3819818"/>
            <a:ext cx="648072" cy="369332"/>
          </a:xfrm>
          <a:prstGeom prst="rect">
            <a:avLst/>
          </a:prstGeom>
          <a:noFill/>
        </p:spPr>
        <p:txBody>
          <a:bodyPr wrap="square" rtlCol="0">
            <a:spAutoFit/>
          </a:bodyPr>
          <a:lstStyle/>
          <a:p>
            <a:r>
              <a:rPr lang="nl-NL" b="1" i="1" dirty="0" smtClean="0"/>
              <a:t>i</a:t>
            </a:r>
            <a:endParaRPr lang="nl-NL" b="1" i="1" dirty="0"/>
          </a:p>
        </p:txBody>
      </p:sp>
      <p:sp>
        <p:nvSpPr>
          <p:cNvPr id="54" name="TextBox 53"/>
          <p:cNvSpPr txBox="1"/>
          <p:nvPr/>
        </p:nvSpPr>
        <p:spPr>
          <a:xfrm>
            <a:off x="6372200" y="3829110"/>
            <a:ext cx="648072" cy="369332"/>
          </a:xfrm>
          <a:prstGeom prst="rect">
            <a:avLst/>
          </a:prstGeom>
          <a:noFill/>
        </p:spPr>
        <p:txBody>
          <a:bodyPr wrap="square" rtlCol="0">
            <a:spAutoFit/>
          </a:bodyPr>
          <a:lstStyle/>
          <a:p>
            <a:r>
              <a:rPr lang="nl-NL" b="1" i="1" dirty="0" smtClean="0"/>
              <a:t>P</a:t>
            </a:r>
            <a:endParaRPr lang="nl-NL" b="1" i="1" dirty="0"/>
          </a:p>
        </p:txBody>
      </p:sp>
      <p:sp>
        <p:nvSpPr>
          <p:cNvPr id="55" name="TextBox 54"/>
          <p:cNvSpPr txBox="1"/>
          <p:nvPr/>
        </p:nvSpPr>
        <p:spPr>
          <a:xfrm>
            <a:off x="7524328" y="1916832"/>
            <a:ext cx="1728192" cy="400110"/>
          </a:xfrm>
          <a:prstGeom prst="rect">
            <a:avLst/>
          </a:prstGeom>
          <a:noFill/>
        </p:spPr>
        <p:txBody>
          <a:bodyPr wrap="square" rtlCol="0">
            <a:spAutoFit/>
          </a:bodyPr>
          <a:lstStyle/>
          <a:p>
            <a:r>
              <a:rPr lang="nl-NL" sz="2000" b="1" i="1" dirty="0" err="1" smtClean="0"/>
              <a:t>SoP</a:t>
            </a:r>
            <a:endParaRPr lang="nl-NL" sz="2000" b="1" i="1" dirty="0"/>
          </a:p>
        </p:txBody>
      </p:sp>
      <p:cxnSp>
        <p:nvCxnSpPr>
          <p:cNvPr id="56" name="Straight Connector 55"/>
          <p:cNvCxnSpPr/>
          <p:nvPr/>
        </p:nvCxnSpPr>
        <p:spPr>
          <a:xfrm>
            <a:off x="7812360" y="2267580"/>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7092280" y="2267580"/>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7812360" y="2267580"/>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804248" y="3275692"/>
            <a:ext cx="648072" cy="369332"/>
          </a:xfrm>
          <a:prstGeom prst="rect">
            <a:avLst/>
          </a:prstGeom>
          <a:noFill/>
        </p:spPr>
        <p:txBody>
          <a:bodyPr wrap="square" rtlCol="0">
            <a:spAutoFit/>
          </a:bodyPr>
          <a:lstStyle/>
          <a:p>
            <a:r>
              <a:rPr lang="nl-NL" b="1" i="1" dirty="0" smtClean="0"/>
              <a:t>S</a:t>
            </a:r>
            <a:endParaRPr lang="nl-NL" b="1" i="1" dirty="0"/>
          </a:p>
        </p:txBody>
      </p:sp>
      <p:sp>
        <p:nvSpPr>
          <p:cNvPr id="60" name="TextBox 59"/>
          <p:cNvSpPr txBox="1"/>
          <p:nvPr/>
        </p:nvSpPr>
        <p:spPr>
          <a:xfrm>
            <a:off x="7668344" y="3266400"/>
            <a:ext cx="648072" cy="369332"/>
          </a:xfrm>
          <a:prstGeom prst="rect">
            <a:avLst/>
          </a:prstGeom>
          <a:noFill/>
        </p:spPr>
        <p:txBody>
          <a:bodyPr wrap="square" rtlCol="0">
            <a:spAutoFit/>
          </a:bodyPr>
          <a:lstStyle/>
          <a:p>
            <a:r>
              <a:rPr lang="nl-NL" b="1" i="1" dirty="0" smtClean="0"/>
              <a:t>o</a:t>
            </a:r>
            <a:endParaRPr lang="nl-NL" b="1" i="1" dirty="0"/>
          </a:p>
        </p:txBody>
      </p:sp>
      <p:sp>
        <p:nvSpPr>
          <p:cNvPr id="61" name="TextBox 60"/>
          <p:cNvSpPr txBox="1"/>
          <p:nvPr/>
        </p:nvSpPr>
        <p:spPr>
          <a:xfrm>
            <a:off x="8460432" y="3275692"/>
            <a:ext cx="648072" cy="369332"/>
          </a:xfrm>
          <a:prstGeom prst="rect">
            <a:avLst/>
          </a:prstGeom>
          <a:noFill/>
        </p:spPr>
        <p:txBody>
          <a:bodyPr wrap="square" rtlCol="0">
            <a:spAutoFit/>
          </a:bodyPr>
          <a:lstStyle/>
          <a:p>
            <a:r>
              <a:rPr lang="nl-NL" b="1" i="1" dirty="0" smtClean="0"/>
              <a:t>P</a:t>
            </a:r>
            <a:endParaRPr lang="nl-NL" b="1" i="1" dirty="0"/>
          </a:p>
        </p:txBody>
      </p:sp>
      <p:sp>
        <p:nvSpPr>
          <p:cNvPr id="62" name="TextBox 61"/>
          <p:cNvSpPr txBox="1"/>
          <p:nvPr/>
        </p:nvSpPr>
        <p:spPr>
          <a:xfrm>
            <a:off x="323528" y="5013176"/>
            <a:ext cx="4752528" cy="646331"/>
          </a:xfrm>
          <a:prstGeom prst="rect">
            <a:avLst/>
          </a:prstGeom>
          <a:noFill/>
        </p:spPr>
        <p:txBody>
          <a:bodyPr wrap="square" rtlCol="0">
            <a:spAutoFit/>
          </a:bodyPr>
          <a:lstStyle/>
          <a:p>
            <a:r>
              <a:rPr lang="nl-NL" i="1" dirty="0" smtClean="0"/>
              <a:t>Geen serieuze presidentskandidaat is tegen het terugdringen van kernwapens</a:t>
            </a:r>
            <a:endParaRPr lang="nl-NL" i="1" dirty="0"/>
          </a:p>
        </p:txBody>
      </p:sp>
      <p:sp>
        <p:nvSpPr>
          <p:cNvPr id="63" name="TextBox 62"/>
          <p:cNvSpPr txBox="1"/>
          <p:nvPr/>
        </p:nvSpPr>
        <p:spPr>
          <a:xfrm>
            <a:off x="5364088" y="4725144"/>
            <a:ext cx="3312368" cy="1477328"/>
          </a:xfrm>
          <a:prstGeom prst="rect">
            <a:avLst/>
          </a:prstGeom>
          <a:noFill/>
        </p:spPr>
        <p:txBody>
          <a:bodyPr wrap="square" rtlCol="0">
            <a:spAutoFit/>
          </a:bodyPr>
          <a:lstStyle/>
          <a:p>
            <a:r>
              <a:rPr lang="nl-NL" b="1" i="1" dirty="0" smtClean="0"/>
              <a:t>S</a:t>
            </a:r>
            <a:r>
              <a:rPr lang="nl-NL" dirty="0" smtClean="0"/>
              <a:t> = Serieuze presidentskandidaat</a:t>
            </a:r>
          </a:p>
          <a:p>
            <a:r>
              <a:rPr lang="nl-NL" b="1" i="1" dirty="0" smtClean="0"/>
              <a:t>P</a:t>
            </a:r>
            <a:r>
              <a:rPr lang="nl-NL" dirty="0" smtClean="0"/>
              <a:t> = tegen het terugdringen van kernwapens</a:t>
            </a:r>
          </a:p>
          <a:p>
            <a:r>
              <a:rPr lang="nl-NL" dirty="0" err="1" smtClean="0"/>
              <a:t>Copula</a:t>
            </a:r>
            <a:r>
              <a:rPr lang="nl-NL" dirty="0" smtClean="0"/>
              <a:t> = </a:t>
            </a:r>
            <a:r>
              <a:rPr lang="nl-NL" b="1" i="1" dirty="0" smtClean="0"/>
              <a:t>e</a:t>
            </a:r>
          </a:p>
          <a:p>
            <a:r>
              <a:rPr lang="nl-NL" dirty="0" smtClean="0"/>
              <a:t>Oordeel = </a:t>
            </a:r>
            <a:r>
              <a:rPr lang="nl-NL" b="1" i="1" dirty="0" err="1" smtClean="0"/>
              <a:t>SeP</a:t>
            </a:r>
            <a:endParaRPr lang="nl-NL" b="1"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fade">
                                      <p:cBhvr>
                                        <p:cTn id="7" dur="2000"/>
                                        <p:tgtEl>
                                          <p:spTgt spid="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xEl>
                                              <p:pRg st="0" end="0"/>
                                            </p:txEl>
                                          </p:spTgt>
                                        </p:tgtEl>
                                        <p:attrNameLst>
                                          <p:attrName>style.visibility</p:attrName>
                                        </p:attrNameLst>
                                      </p:cBhvr>
                                      <p:to>
                                        <p:strVal val="visible"/>
                                      </p:to>
                                    </p:set>
                                    <p:animEffect transition="in" filter="fade">
                                      <p:cBhvr>
                                        <p:cTn id="12" dur="2000"/>
                                        <p:tgtEl>
                                          <p:spTgt spid="6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3">
                                            <p:txEl>
                                              <p:pRg st="1" end="1"/>
                                            </p:txEl>
                                          </p:spTgt>
                                        </p:tgtEl>
                                        <p:attrNameLst>
                                          <p:attrName>style.visibility</p:attrName>
                                        </p:attrNameLst>
                                      </p:cBhvr>
                                      <p:to>
                                        <p:strVal val="visible"/>
                                      </p:to>
                                    </p:set>
                                    <p:animEffect transition="in" filter="fade">
                                      <p:cBhvr>
                                        <p:cTn id="15" dur="2000"/>
                                        <p:tgtEl>
                                          <p:spTgt spid="6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3">
                                            <p:txEl>
                                              <p:pRg st="2" end="2"/>
                                            </p:txEl>
                                          </p:spTgt>
                                        </p:tgtEl>
                                        <p:attrNameLst>
                                          <p:attrName>style.visibility</p:attrName>
                                        </p:attrNameLst>
                                      </p:cBhvr>
                                      <p:to>
                                        <p:strVal val="visible"/>
                                      </p:to>
                                    </p:set>
                                    <p:animEffect transition="in" filter="fade">
                                      <p:cBhvr>
                                        <p:cTn id="18" dur="2000"/>
                                        <p:tgtEl>
                                          <p:spTgt spid="6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3">
                                            <p:txEl>
                                              <p:pRg st="3" end="3"/>
                                            </p:txEl>
                                          </p:spTgt>
                                        </p:tgtEl>
                                        <p:attrNameLst>
                                          <p:attrName>style.visibility</p:attrName>
                                        </p:attrNameLst>
                                      </p:cBhvr>
                                      <p:to>
                                        <p:strVal val="visible"/>
                                      </p:to>
                                    </p:set>
                                    <p:animEffect transition="in" filter="fade">
                                      <p:cBhvr>
                                        <p:cTn id="21" dur="2000"/>
                                        <p:tgtEl>
                                          <p:spTgt spid="6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allAtOnce"/>
      <p:bldP spid="63" grpId="0" build="allAtOnce"/>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4" name="Content Placeholder 2"/>
          <p:cNvSpPr txBox="1">
            <a:spLocks/>
          </p:cNvSpPr>
          <p:nvPr/>
        </p:nvSpPr>
        <p:spPr>
          <a:xfrm>
            <a:off x="-324544" y="177281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(A)   Alle S zijn P</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5" name="Content Placeholder 2"/>
          <p:cNvSpPr txBox="1">
            <a:spLocks/>
          </p:cNvSpPr>
          <p:nvPr/>
        </p:nvSpPr>
        <p:spPr>
          <a:xfrm>
            <a:off x="3851920" y="1772816"/>
            <a:ext cx="26746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(I)   Sommige S zijn P</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6" name="Content Placeholder 2"/>
          <p:cNvSpPr txBox="1">
            <a:spLocks/>
          </p:cNvSpPr>
          <p:nvPr/>
        </p:nvSpPr>
        <p:spPr>
          <a:xfrm>
            <a:off x="1907704" y="1412776"/>
            <a:ext cx="216024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b="1" dirty="0" smtClean="0">
                <a:solidFill>
                  <a:srgbClr val="00B050"/>
                </a:solidFill>
              </a:rPr>
              <a:t>	(E)   Geen S is P</a:t>
            </a:r>
            <a:endParaRPr kumimoji="0" lang="nl-NL" b="1" i="0" u="none" strike="noStrike" kern="1200" cap="none" spc="0" normalizeH="0" baseline="0" noProof="0" dirty="0" smtClean="0">
              <a:ln>
                <a:noFill/>
              </a:ln>
              <a:solidFill>
                <a:srgbClr val="00B05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b="1" i="0" u="none" strike="noStrike" kern="1200" cap="none" spc="0" normalizeH="0" baseline="0" noProof="0" dirty="0" smtClean="0">
              <a:ln>
                <a:noFill/>
              </a:ln>
              <a:solidFill>
                <a:srgbClr val="00B050"/>
              </a:solidFill>
              <a:effectLst/>
              <a:uLnTx/>
              <a:uFillTx/>
              <a:latin typeface="+mn-lt"/>
              <a:ea typeface="+mn-ea"/>
              <a:cs typeface="+mn-cs"/>
            </a:endParaRPr>
          </a:p>
        </p:txBody>
      </p:sp>
      <p:sp>
        <p:nvSpPr>
          <p:cNvPr id="7" name="Content Placeholder 2"/>
          <p:cNvSpPr txBox="1">
            <a:spLocks/>
          </p:cNvSpPr>
          <p:nvPr/>
        </p:nvSpPr>
        <p:spPr>
          <a:xfrm>
            <a:off x="6156176" y="1441376"/>
            <a:ext cx="3456384"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(O)   Sommige S zijn niet P                                        </a:t>
            </a:r>
            <a:endParaRPr kumimoji="0" lang="nl-NL"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i="0" u="none" strike="noStrike" kern="1200" cap="none" spc="0" normalizeH="0" baseline="0" noProof="0" dirty="0" smtClean="0">
              <a:ln>
                <a:noFill/>
              </a:ln>
              <a:effectLst/>
              <a:uLnTx/>
              <a:uFillTx/>
              <a:latin typeface="+mn-lt"/>
              <a:ea typeface="+mn-ea"/>
              <a:cs typeface="+mn-cs"/>
            </a:endParaRPr>
          </a:p>
        </p:txBody>
      </p:sp>
      <p:sp>
        <p:nvSpPr>
          <p:cNvPr id="23" name="TextBox 22"/>
          <p:cNvSpPr txBox="1"/>
          <p:nvPr/>
        </p:nvSpPr>
        <p:spPr>
          <a:xfrm>
            <a:off x="755576" y="2420888"/>
            <a:ext cx="1728192" cy="400110"/>
          </a:xfrm>
          <a:prstGeom prst="rect">
            <a:avLst/>
          </a:prstGeom>
          <a:noFill/>
        </p:spPr>
        <p:txBody>
          <a:bodyPr wrap="square" rtlCol="0">
            <a:spAutoFit/>
          </a:bodyPr>
          <a:lstStyle/>
          <a:p>
            <a:r>
              <a:rPr lang="nl-NL" sz="2000" b="1" i="1" dirty="0" err="1" smtClean="0"/>
              <a:t>SaP</a:t>
            </a:r>
            <a:endParaRPr lang="nl-NL" sz="2000" b="1" i="1" dirty="0"/>
          </a:p>
        </p:txBody>
      </p:sp>
      <p:cxnSp>
        <p:nvCxnSpPr>
          <p:cNvPr id="26" name="Straight Connector 25"/>
          <p:cNvCxnSpPr/>
          <p:nvPr/>
        </p:nvCxnSpPr>
        <p:spPr>
          <a:xfrm>
            <a:off x="1043608" y="2820998"/>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32352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04360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5496" y="3829110"/>
            <a:ext cx="648072" cy="369332"/>
          </a:xfrm>
          <a:prstGeom prst="rect">
            <a:avLst/>
          </a:prstGeom>
          <a:noFill/>
        </p:spPr>
        <p:txBody>
          <a:bodyPr wrap="square" rtlCol="0">
            <a:spAutoFit/>
          </a:bodyPr>
          <a:lstStyle/>
          <a:p>
            <a:r>
              <a:rPr lang="nl-NL" b="1" i="1" dirty="0" smtClean="0"/>
              <a:t>S</a:t>
            </a:r>
            <a:endParaRPr lang="nl-NL" b="1" i="1" dirty="0"/>
          </a:p>
        </p:txBody>
      </p:sp>
      <p:sp>
        <p:nvSpPr>
          <p:cNvPr id="39" name="TextBox 38"/>
          <p:cNvSpPr txBox="1"/>
          <p:nvPr/>
        </p:nvSpPr>
        <p:spPr>
          <a:xfrm>
            <a:off x="899592" y="3819818"/>
            <a:ext cx="648072" cy="369332"/>
          </a:xfrm>
          <a:prstGeom prst="rect">
            <a:avLst/>
          </a:prstGeom>
          <a:noFill/>
        </p:spPr>
        <p:txBody>
          <a:bodyPr wrap="square" rtlCol="0">
            <a:spAutoFit/>
          </a:bodyPr>
          <a:lstStyle/>
          <a:p>
            <a:r>
              <a:rPr lang="nl-NL" b="1" i="1" dirty="0" smtClean="0"/>
              <a:t>a</a:t>
            </a:r>
            <a:endParaRPr lang="nl-NL" b="1" i="1" dirty="0"/>
          </a:p>
        </p:txBody>
      </p:sp>
      <p:sp>
        <p:nvSpPr>
          <p:cNvPr id="40" name="TextBox 39"/>
          <p:cNvSpPr txBox="1"/>
          <p:nvPr/>
        </p:nvSpPr>
        <p:spPr>
          <a:xfrm>
            <a:off x="1691680" y="3829110"/>
            <a:ext cx="648072" cy="369332"/>
          </a:xfrm>
          <a:prstGeom prst="rect">
            <a:avLst/>
          </a:prstGeom>
          <a:noFill/>
        </p:spPr>
        <p:txBody>
          <a:bodyPr wrap="square" rtlCol="0">
            <a:spAutoFit/>
          </a:bodyPr>
          <a:lstStyle/>
          <a:p>
            <a:r>
              <a:rPr lang="nl-NL" b="1" i="1" dirty="0" smtClean="0"/>
              <a:t>P</a:t>
            </a:r>
            <a:endParaRPr lang="nl-NL" b="1" i="1" dirty="0"/>
          </a:p>
        </p:txBody>
      </p:sp>
      <p:sp>
        <p:nvSpPr>
          <p:cNvPr id="41" name="TextBox 40"/>
          <p:cNvSpPr txBox="1"/>
          <p:nvPr/>
        </p:nvSpPr>
        <p:spPr>
          <a:xfrm>
            <a:off x="2915816" y="1844824"/>
            <a:ext cx="1728192" cy="400110"/>
          </a:xfrm>
          <a:prstGeom prst="rect">
            <a:avLst/>
          </a:prstGeom>
          <a:noFill/>
        </p:spPr>
        <p:txBody>
          <a:bodyPr wrap="square" rtlCol="0">
            <a:spAutoFit/>
          </a:bodyPr>
          <a:lstStyle/>
          <a:p>
            <a:r>
              <a:rPr lang="nl-NL" sz="2000" b="1" i="1" dirty="0" err="1" smtClean="0">
                <a:solidFill>
                  <a:srgbClr val="00B050"/>
                </a:solidFill>
              </a:rPr>
              <a:t>SeP</a:t>
            </a:r>
            <a:endParaRPr lang="nl-NL" sz="2000" b="1" i="1" dirty="0">
              <a:solidFill>
                <a:srgbClr val="00B050"/>
              </a:solidFill>
            </a:endParaRPr>
          </a:p>
        </p:txBody>
      </p:sp>
      <p:cxnSp>
        <p:nvCxnSpPr>
          <p:cNvPr id="42" name="Straight Connector 41"/>
          <p:cNvCxnSpPr/>
          <p:nvPr/>
        </p:nvCxnSpPr>
        <p:spPr>
          <a:xfrm>
            <a:off x="3203848" y="2244934"/>
            <a:ext cx="0" cy="100811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flipH="1">
            <a:off x="2483768" y="2244934"/>
            <a:ext cx="720080" cy="100811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3203848" y="2244934"/>
            <a:ext cx="720080" cy="100811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267744" y="3253046"/>
            <a:ext cx="288032" cy="369332"/>
          </a:xfrm>
          <a:prstGeom prst="rect">
            <a:avLst/>
          </a:prstGeom>
          <a:noFill/>
        </p:spPr>
        <p:txBody>
          <a:bodyPr wrap="square" rtlCol="0">
            <a:spAutoFit/>
          </a:bodyPr>
          <a:lstStyle/>
          <a:p>
            <a:r>
              <a:rPr lang="nl-NL" b="1" i="1" dirty="0" smtClean="0">
                <a:solidFill>
                  <a:srgbClr val="00B050"/>
                </a:solidFill>
              </a:rPr>
              <a:t>S</a:t>
            </a:r>
            <a:endParaRPr lang="nl-NL" b="1" i="1" dirty="0">
              <a:solidFill>
                <a:srgbClr val="00B050"/>
              </a:solidFill>
            </a:endParaRPr>
          </a:p>
        </p:txBody>
      </p:sp>
      <p:sp>
        <p:nvSpPr>
          <p:cNvPr id="46" name="TextBox 45"/>
          <p:cNvSpPr txBox="1"/>
          <p:nvPr/>
        </p:nvSpPr>
        <p:spPr>
          <a:xfrm>
            <a:off x="3059832" y="3243754"/>
            <a:ext cx="648072" cy="369332"/>
          </a:xfrm>
          <a:prstGeom prst="rect">
            <a:avLst/>
          </a:prstGeom>
          <a:noFill/>
        </p:spPr>
        <p:txBody>
          <a:bodyPr wrap="square" rtlCol="0">
            <a:spAutoFit/>
          </a:bodyPr>
          <a:lstStyle/>
          <a:p>
            <a:r>
              <a:rPr lang="nl-NL" b="1" i="1" dirty="0" smtClean="0">
                <a:solidFill>
                  <a:srgbClr val="00B050"/>
                </a:solidFill>
              </a:rPr>
              <a:t>e</a:t>
            </a:r>
            <a:endParaRPr lang="nl-NL" b="1" i="1" dirty="0">
              <a:solidFill>
                <a:srgbClr val="00B050"/>
              </a:solidFill>
            </a:endParaRPr>
          </a:p>
        </p:txBody>
      </p:sp>
      <p:sp>
        <p:nvSpPr>
          <p:cNvPr id="47" name="TextBox 46"/>
          <p:cNvSpPr txBox="1"/>
          <p:nvPr/>
        </p:nvSpPr>
        <p:spPr>
          <a:xfrm>
            <a:off x="3851920" y="3253046"/>
            <a:ext cx="648072" cy="369332"/>
          </a:xfrm>
          <a:prstGeom prst="rect">
            <a:avLst/>
          </a:prstGeom>
          <a:noFill/>
        </p:spPr>
        <p:txBody>
          <a:bodyPr wrap="square" rtlCol="0">
            <a:spAutoFit/>
          </a:bodyPr>
          <a:lstStyle/>
          <a:p>
            <a:r>
              <a:rPr lang="nl-NL" b="1" i="1" dirty="0" smtClean="0">
                <a:solidFill>
                  <a:srgbClr val="00B050"/>
                </a:solidFill>
              </a:rPr>
              <a:t>P</a:t>
            </a:r>
            <a:endParaRPr lang="nl-NL" b="1" i="1" dirty="0">
              <a:solidFill>
                <a:srgbClr val="00B050"/>
              </a:solidFill>
            </a:endParaRPr>
          </a:p>
        </p:txBody>
      </p:sp>
      <p:sp>
        <p:nvSpPr>
          <p:cNvPr id="48" name="TextBox 47"/>
          <p:cNvSpPr txBox="1"/>
          <p:nvPr/>
        </p:nvSpPr>
        <p:spPr>
          <a:xfrm>
            <a:off x="5436096" y="2460958"/>
            <a:ext cx="1728192" cy="400110"/>
          </a:xfrm>
          <a:prstGeom prst="rect">
            <a:avLst/>
          </a:prstGeom>
          <a:noFill/>
        </p:spPr>
        <p:txBody>
          <a:bodyPr wrap="square" rtlCol="0">
            <a:spAutoFit/>
          </a:bodyPr>
          <a:lstStyle/>
          <a:p>
            <a:r>
              <a:rPr lang="nl-NL" sz="2000" b="1" i="1" dirty="0" err="1" smtClean="0"/>
              <a:t>SiP</a:t>
            </a:r>
            <a:endParaRPr lang="nl-NL" sz="2000" b="1" i="1" dirty="0"/>
          </a:p>
        </p:txBody>
      </p:sp>
      <p:cxnSp>
        <p:nvCxnSpPr>
          <p:cNvPr id="49" name="Straight Connector 48"/>
          <p:cNvCxnSpPr/>
          <p:nvPr/>
        </p:nvCxnSpPr>
        <p:spPr>
          <a:xfrm>
            <a:off x="5724128" y="2820998"/>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H="1">
            <a:off x="500404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5724128" y="2820998"/>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716016" y="3829110"/>
            <a:ext cx="648072" cy="369332"/>
          </a:xfrm>
          <a:prstGeom prst="rect">
            <a:avLst/>
          </a:prstGeom>
          <a:noFill/>
        </p:spPr>
        <p:txBody>
          <a:bodyPr wrap="square" rtlCol="0">
            <a:spAutoFit/>
          </a:bodyPr>
          <a:lstStyle/>
          <a:p>
            <a:r>
              <a:rPr lang="nl-NL" b="1" i="1" dirty="0" smtClean="0"/>
              <a:t>S</a:t>
            </a:r>
            <a:endParaRPr lang="nl-NL" b="1" i="1" dirty="0"/>
          </a:p>
        </p:txBody>
      </p:sp>
      <p:sp>
        <p:nvSpPr>
          <p:cNvPr id="53" name="TextBox 52"/>
          <p:cNvSpPr txBox="1"/>
          <p:nvPr/>
        </p:nvSpPr>
        <p:spPr>
          <a:xfrm>
            <a:off x="5580112" y="3819818"/>
            <a:ext cx="648072" cy="369332"/>
          </a:xfrm>
          <a:prstGeom prst="rect">
            <a:avLst/>
          </a:prstGeom>
          <a:noFill/>
        </p:spPr>
        <p:txBody>
          <a:bodyPr wrap="square" rtlCol="0">
            <a:spAutoFit/>
          </a:bodyPr>
          <a:lstStyle/>
          <a:p>
            <a:r>
              <a:rPr lang="nl-NL" b="1" i="1" dirty="0" smtClean="0"/>
              <a:t>i</a:t>
            </a:r>
            <a:endParaRPr lang="nl-NL" b="1" i="1" dirty="0"/>
          </a:p>
        </p:txBody>
      </p:sp>
      <p:sp>
        <p:nvSpPr>
          <p:cNvPr id="54" name="TextBox 53"/>
          <p:cNvSpPr txBox="1"/>
          <p:nvPr/>
        </p:nvSpPr>
        <p:spPr>
          <a:xfrm>
            <a:off x="6372200" y="3829110"/>
            <a:ext cx="648072" cy="369332"/>
          </a:xfrm>
          <a:prstGeom prst="rect">
            <a:avLst/>
          </a:prstGeom>
          <a:noFill/>
        </p:spPr>
        <p:txBody>
          <a:bodyPr wrap="square" rtlCol="0">
            <a:spAutoFit/>
          </a:bodyPr>
          <a:lstStyle/>
          <a:p>
            <a:r>
              <a:rPr lang="nl-NL" b="1" i="1" dirty="0" smtClean="0"/>
              <a:t>P</a:t>
            </a:r>
            <a:endParaRPr lang="nl-NL" b="1" i="1" dirty="0"/>
          </a:p>
        </p:txBody>
      </p:sp>
      <p:sp>
        <p:nvSpPr>
          <p:cNvPr id="55" name="TextBox 54"/>
          <p:cNvSpPr txBox="1"/>
          <p:nvPr/>
        </p:nvSpPr>
        <p:spPr>
          <a:xfrm>
            <a:off x="7524328" y="1916832"/>
            <a:ext cx="1728192" cy="400110"/>
          </a:xfrm>
          <a:prstGeom prst="rect">
            <a:avLst/>
          </a:prstGeom>
          <a:noFill/>
        </p:spPr>
        <p:txBody>
          <a:bodyPr wrap="square" rtlCol="0">
            <a:spAutoFit/>
          </a:bodyPr>
          <a:lstStyle/>
          <a:p>
            <a:r>
              <a:rPr lang="nl-NL" sz="2000" b="1" i="1" dirty="0" err="1" smtClean="0"/>
              <a:t>SoP</a:t>
            </a:r>
            <a:endParaRPr lang="nl-NL" sz="2000" b="1" i="1" dirty="0"/>
          </a:p>
        </p:txBody>
      </p:sp>
      <p:cxnSp>
        <p:nvCxnSpPr>
          <p:cNvPr id="56" name="Straight Connector 55"/>
          <p:cNvCxnSpPr/>
          <p:nvPr/>
        </p:nvCxnSpPr>
        <p:spPr>
          <a:xfrm>
            <a:off x="7812360" y="2267580"/>
            <a:ext cx="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7092280" y="2267580"/>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7812360" y="2267580"/>
            <a:ext cx="720080" cy="100811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6804248" y="3275692"/>
            <a:ext cx="648072" cy="369332"/>
          </a:xfrm>
          <a:prstGeom prst="rect">
            <a:avLst/>
          </a:prstGeom>
          <a:noFill/>
        </p:spPr>
        <p:txBody>
          <a:bodyPr wrap="square" rtlCol="0">
            <a:spAutoFit/>
          </a:bodyPr>
          <a:lstStyle/>
          <a:p>
            <a:r>
              <a:rPr lang="nl-NL" b="1" i="1" dirty="0" smtClean="0"/>
              <a:t>S</a:t>
            </a:r>
            <a:endParaRPr lang="nl-NL" b="1" i="1" dirty="0"/>
          </a:p>
        </p:txBody>
      </p:sp>
      <p:sp>
        <p:nvSpPr>
          <p:cNvPr id="60" name="TextBox 59"/>
          <p:cNvSpPr txBox="1"/>
          <p:nvPr/>
        </p:nvSpPr>
        <p:spPr>
          <a:xfrm>
            <a:off x="7668344" y="3266400"/>
            <a:ext cx="648072" cy="369332"/>
          </a:xfrm>
          <a:prstGeom prst="rect">
            <a:avLst/>
          </a:prstGeom>
          <a:noFill/>
        </p:spPr>
        <p:txBody>
          <a:bodyPr wrap="square" rtlCol="0">
            <a:spAutoFit/>
          </a:bodyPr>
          <a:lstStyle/>
          <a:p>
            <a:r>
              <a:rPr lang="nl-NL" b="1" i="1" dirty="0" smtClean="0"/>
              <a:t>o</a:t>
            </a:r>
            <a:endParaRPr lang="nl-NL" b="1" i="1" dirty="0"/>
          </a:p>
        </p:txBody>
      </p:sp>
      <p:sp>
        <p:nvSpPr>
          <p:cNvPr id="61" name="TextBox 60"/>
          <p:cNvSpPr txBox="1"/>
          <p:nvPr/>
        </p:nvSpPr>
        <p:spPr>
          <a:xfrm>
            <a:off x="8460432" y="3275692"/>
            <a:ext cx="648072" cy="369332"/>
          </a:xfrm>
          <a:prstGeom prst="rect">
            <a:avLst/>
          </a:prstGeom>
          <a:noFill/>
        </p:spPr>
        <p:txBody>
          <a:bodyPr wrap="square" rtlCol="0">
            <a:spAutoFit/>
          </a:bodyPr>
          <a:lstStyle/>
          <a:p>
            <a:r>
              <a:rPr lang="nl-NL" b="1" i="1" dirty="0" smtClean="0"/>
              <a:t>P</a:t>
            </a:r>
            <a:endParaRPr lang="nl-NL" b="1" i="1" dirty="0"/>
          </a:p>
        </p:txBody>
      </p:sp>
      <p:sp>
        <p:nvSpPr>
          <p:cNvPr id="62" name="TextBox 61"/>
          <p:cNvSpPr txBox="1"/>
          <p:nvPr/>
        </p:nvSpPr>
        <p:spPr>
          <a:xfrm>
            <a:off x="323528" y="5013176"/>
            <a:ext cx="4752528" cy="646331"/>
          </a:xfrm>
          <a:prstGeom prst="rect">
            <a:avLst/>
          </a:prstGeom>
          <a:noFill/>
        </p:spPr>
        <p:txBody>
          <a:bodyPr wrap="square" rtlCol="0">
            <a:spAutoFit/>
          </a:bodyPr>
          <a:lstStyle/>
          <a:p>
            <a:r>
              <a:rPr lang="nl-NL" i="1" dirty="0" smtClean="0"/>
              <a:t>Geen serieuze presidentskandidaat is tegen het terugdringen van kernwapens</a:t>
            </a:r>
            <a:endParaRPr lang="nl-NL" i="1" dirty="0"/>
          </a:p>
        </p:txBody>
      </p:sp>
      <p:sp>
        <p:nvSpPr>
          <p:cNvPr id="63" name="TextBox 62"/>
          <p:cNvSpPr txBox="1"/>
          <p:nvPr/>
        </p:nvSpPr>
        <p:spPr>
          <a:xfrm>
            <a:off x="5364088" y="4725144"/>
            <a:ext cx="3312368" cy="1477328"/>
          </a:xfrm>
          <a:prstGeom prst="rect">
            <a:avLst/>
          </a:prstGeom>
          <a:noFill/>
        </p:spPr>
        <p:txBody>
          <a:bodyPr wrap="square" rtlCol="0">
            <a:spAutoFit/>
          </a:bodyPr>
          <a:lstStyle/>
          <a:p>
            <a:r>
              <a:rPr lang="nl-NL" b="1" i="1" dirty="0" smtClean="0"/>
              <a:t>S</a:t>
            </a:r>
            <a:r>
              <a:rPr lang="nl-NL" dirty="0" smtClean="0"/>
              <a:t> = Serieuze presidentskandidaat</a:t>
            </a:r>
          </a:p>
          <a:p>
            <a:r>
              <a:rPr lang="nl-NL" b="1" i="1" dirty="0" smtClean="0"/>
              <a:t>P</a:t>
            </a:r>
            <a:r>
              <a:rPr lang="nl-NL" dirty="0" smtClean="0"/>
              <a:t> = tegen het terugdringen van kernwapens</a:t>
            </a:r>
          </a:p>
          <a:p>
            <a:r>
              <a:rPr lang="nl-NL" dirty="0" err="1" smtClean="0"/>
              <a:t>Copula</a:t>
            </a:r>
            <a:r>
              <a:rPr lang="nl-NL" dirty="0" smtClean="0"/>
              <a:t> = </a:t>
            </a:r>
            <a:r>
              <a:rPr lang="nl-NL" b="1" i="1" dirty="0" smtClean="0"/>
              <a:t>e</a:t>
            </a:r>
          </a:p>
          <a:p>
            <a:r>
              <a:rPr lang="nl-NL" dirty="0" smtClean="0"/>
              <a:t>Oordeel = </a:t>
            </a:r>
            <a:r>
              <a:rPr lang="nl-NL" b="1" i="1" dirty="0" err="1" smtClean="0"/>
              <a:t>SeP</a:t>
            </a:r>
            <a:endParaRPr lang="nl-NL" b="1" i="1" dirty="0" smtClean="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Onmiddellijke afleidingsregels</a:t>
            </a:r>
            <a:endParaRPr lang="nl-NL" sz="3600" dirty="0"/>
          </a:p>
        </p:txBody>
      </p:sp>
      <p:sp>
        <p:nvSpPr>
          <p:cNvPr id="10" name="Content Placeholder 2"/>
          <p:cNvSpPr txBox="1">
            <a:spLocks/>
          </p:cNvSpPr>
          <p:nvPr/>
        </p:nvSpPr>
        <p:spPr>
          <a:xfrm>
            <a:off x="1619672" y="275232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SaP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9" name="Content Placeholder 2"/>
          <p:cNvSpPr>
            <a:spLocks noGrp="1"/>
          </p:cNvSpPr>
          <p:nvPr>
            <p:ph idx="1"/>
          </p:nvPr>
        </p:nvSpPr>
        <p:spPr>
          <a:xfrm>
            <a:off x="457200" y="1384177"/>
            <a:ext cx="8686800" cy="1108720"/>
          </a:xfrm>
        </p:spPr>
        <p:txBody>
          <a:bodyPr>
            <a:noAutofit/>
          </a:bodyPr>
          <a:lstStyle/>
          <a:p>
            <a:r>
              <a:rPr lang="nl-NL" sz="2000" i="1" dirty="0" smtClean="0"/>
              <a:t>Onmiddellijke</a:t>
            </a:r>
            <a:r>
              <a:rPr lang="nl-NL" sz="2000" dirty="0" smtClean="0"/>
              <a:t> afleidingsregels zijn afleidingsregels waarin uit één premisse tot een conclusie besloten wordt. Afleidingsregels met twee premissen worden </a:t>
            </a:r>
            <a:r>
              <a:rPr lang="nl-NL" sz="2000" i="1" dirty="0" smtClean="0"/>
              <a:t>middellijke</a:t>
            </a:r>
            <a:r>
              <a:rPr lang="nl-NL" sz="2000" dirty="0" smtClean="0"/>
              <a:t> afleidingsregels genoemd.</a:t>
            </a:r>
          </a:p>
        </p:txBody>
      </p:sp>
      <p:cxnSp>
        <p:nvCxnSpPr>
          <p:cNvPr id="21" name="Straight Arrow Connector 20"/>
          <p:cNvCxnSpPr/>
          <p:nvPr/>
        </p:nvCxnSpPr>
        <p:spPr>
          <a:xfrm>
            <a:off x="2843808" y="2996952"/>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Content Placeholder 2"/>
          <p:cNvSpPr txBox="1">
            <a:spLocks/>
          </p:cNvSpPr>
          <p:nvPr/>
        </p:nvSpPr>
        <p:spPr>
          <a:xfrm>
            <a:off x="4067944" y="275232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SiP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33" name="Content Placeholder 2"/>
          <p:cNvSpPr txBox="1">
            <a:spLocks/>
          </p:cNvSpPr>
          <p:nvPr/>
        </p:nvSpPr>
        <p:spPr>
          <a:xfrm>
            <a:off x="1619672" y="3356992"/>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34" name="Straight Arrow Connector 33"/>
          <p:cNvCxnSpPr/>
          <p:nvPr/>
        </p:nvCxnSpPr>
        <p:spPr>
          <a:xfrm>
            <a:off x="2843808" y="3601616"/>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Content Placeholder 2"/>
          <p:cNvSpPr txBox="1">
            <a:spLocks/>
          </p:cNvSpPr>
          <p:nvPr/>
        </p:nvSpPr>
        <p:spPr>
          <a:xfrm>
            <a:off x="4067944" y="3356992"/>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SoP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36" name="TextBox 35"/>
          <p:cNvSpPr txBox="1"/>
          <p:nvPr/>
        </p:nvSpPr>
        <p:spPr>
          <a:xfrm>
            <a:off x="6084168" y="2924944"/>
            <a:ext cx="2088232" cy="646331"/>
          </a:xfrm>
          <a:prstGeom prst="rect">
            <a:avLst/>
          </a:prstGeom>
          <a:noFill/>
        </p:spPr>
        <p:txBody>
          <a:bodyPr wrap="square" rtlCol="0">
            <a:spAutoFit/>
          </a:bodyPr>
          <a:lstStyle/>
          <a:p>
            <a:r>
              <a:rPr lang="nl-NL" i="1" dirty="0" smtClean="0"/>
              <a:t>Op grond van subalternatie</a:t>
            </a:r>
            <a:endParaRPr lang="nl-NL" i="1" dirty="0"/>
          </a:p>
        </p:txBody>
      </p:sp>
      <p:sp>
        <p:nvSpPr>
          <p:cNvPr id="37" name="Content Placeholder 2"/>
          <p:cNvSpPr txBox="1">
            <a:spLocks/>
          </p:cNvSpPr>
          <p:nvPr/>
        </p:nvSpPr>
        <p:spPr>
          <a:xfrm>
            <a:off x="467544" y="4048472"/>
            <a:ext cx="8686800" cy="1036712"/>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noProof="0" dirty="0" smtClean="0"/>
              <a:t>Oordelen kunnen </a:t>
            </a:r>
            <a:r>
              <a:rPr lang="nl-NL" sz="2000" i="1" noProof="0" dirty="0" smtClean="0"/>
              <a:t>geconverteerd</a:t>
            </a:r>
            <a:r>
              <a:rPr lang="nl-NL" sz="2000" noProof="0" dirty="0" smtClean="0"/>
              <a:t> worden. De </a:t>
            </a:r>
            <a:r>
              <a:rPr lang="nl-NL" sz="2000" i="1" noProof="0" dirty="0" smtClean="0"/>
              <a:t>conversie </a:t>
            </a:r>
            <a:r>
              <a:rPr lang="nl-NL" sz="2000" noProof="0" dirty="0" smtClean="0"/>
              <a:t>van </a:t>
            </a:r>
            <a:r>
              <a:rPr lang="nl-NL" sz="2000" b="1" i="1" noProof="0" dirty="0" err="1" smtClean="0"/>
              <a:t>SaP</a:t>
            </a:r>
            <a:r>
              <a:rPr lang="nl-NL" sz="2000" noProof="0" dirty="0" smtClean="0"/>
              <a:t> is </a:t>
            </a:r>
            <a:r>
              <a:rPr lang="nl-NL" sz="2000" b="1" i="1" noProof="0" dirty="0" err="1" smtClean="0"/>
              <a:t>PaS</a:t>
            </a:r>
            <a:r>
              <a:rPr lang="nl-NL" sz="2000" noProof="0" dirty="0" smtClean="0"/>
              <a:t>, de conversie van </a:t>
            </a:r>
            <a:r>
              <a:rPr lang="nl-NL" sz="2000" b="1" i="1" noProof="0" dirty="0" err="1" smtClean="0"/>
              <a:t>SeP</a:t>
            </a:r>
            <a:r>
              <a:rPr lang="nl-NL" sz="2000" noProof="0" dirty="0" smtClean="0"/>
              <a:t> is </a:t>
            </a:r>
            <a:r>
              <a:rPr lang="nl-NL" sz="2000" b="1" i="1" noProof="0" dirty="0" err="1" smtClean="0"/>
              <a:t>PeS</a:t>
            </a:r>
            <a:r>
              <a:rPr lang="nl-NL" sz="2000" noProof="0" dirty="0" smtClean="0"/>
              <a:t>, de conversie van </a:t>
            </a:r>
            <a:r>
              <a:rPr lang="nl-NL" sz="2000" b="1" i="1" noProof="0" dirty="0" err="1" smtClean="0"/>
              <a:t>SiP</a:t>
            </a:r>
            <a:r>
              <a:rPr lang="nl-NL" sz="2000" noProof="0" dirty="0" smtClean="0"/>
              <a:t> is </a:t>
            </a:r>
            <a:r>
              <a:rPr lang="nl-NL" sz="2000" b="1" i="1" noProof="0" dirty="0" err="1" smtClean="0"/>
              <a:t>PiS</a:t>
            </a:r>
            <a:r>
              <a:rPr lang="nl-NL" sz="2000" noProof="0" dirty="0" smtClean="0"/>
              <a:t> en de conversie van                           </a:t>
            </a:r>
            <a:r>
              <a:rPr lang="nl-NL" sz="2000" b="1" i="1" noProof="0" dirty="0" err="1" smtClean="0"/>
              <a:t>SoP</a:t>
            </a:r>
            <a:r>
              <a:rPr lang="nl-NL" sz="2000" noProof="0" dirty="0" smtClean="0"/>
              <a:t> is </a:t>
            </a:r>
            <a:r>
              <a:rPr lang="nl-NL" sz="2000" b="1" i="1" noProof="0" dirty="0" err="1" smtClean="0"/>
              <a:t>PoS</a:t>
            </a:r>
            <a:r>
              <a:rPr lang="nl-NL" sz="2000" noProof="0" dirty="0" smtClean="0"/>
              <a:t>. </a:t>
            </a:r>
            <a:endParaRPr lang="nl-NL" sz="2000" dirty="0" smtClean="0"/>
          </a:p>
        </p:txBody>
      </p:sp>
      <p:sp>
        <p:nvSpPr>
          <p:cNvPr id="39" name="Content Placeholder 2"/>
          <p:cNvSpPr txBox="1">
            <a:spLocks/>
          </p:cNvSpPr>
          <p:nvPr/>
        </p:nvSpPr>
        <p:spPr>
          <a:xfrm>
            <a:off x="323528" y="5301208"/>
            <a:ext cx="8686800" cy="1036712"/>
          </a:xfrm>
          <a:prstGeom prst="rect">
            <a:avLst/>
          </a:prstGeom>
        </p:spPr>
        <p:txBody>
          <a:bodyPr vert="horz" lIns="91440" tIns="45720" rIns="91440" bIns="45720" rtlCol="0">
            <a:noAutofit/>
          </a:bodyPr>
          <a:lstStyle/>
          <a:p>
            <a:pPr marL="342900" lvl="0" indent="-342900">
              <a:spcBef>
                <a:spcPct val="20000"/>
              </a:spcBef>
              <a:defRPr/>
            </a:pPr>
            <a:r>
              <a:rPr lang="nl-NL" noProof="0" dirty="0" smtClean="0"/>
              <a:t>	De conversie</a:t>
            </a:r>
            <a:r>
              <a:rPr lang="nl-NL" i="1" noProof="0" dirty="0" smtClean="0"/>
              <a:t> </a:t>
            </a:r>
            <a:r>
              <a:rPr lang="nl-NL" noProof="0" dirty="0" smtClean="0"/>
              <a:t>van een waar </a:t>
            </a:r>
            <a:r>
              <a:rPr lang="nl-NL" b="1" i="1" noProof="0" dirty="0" err="1" smtClean="0"/>
              <a:t>SaP</a:t>
            </a:r>
            <a:r>
              <a:rPr lang="nl-NL" noProof="0" dirty="0" smtClean="0"/>
              <a:t> oordeel levert niet altijd een waar oordeel op.</a:t>
            </a:r>
          </a:p>
          <a:p>
            <a:pPr marL="342900" lvl="0" indent="-342900">
              <a:spcBef>
                <a:spcPct val="20000"/>
              </a:spcBef>
              <a:defRPr/>
            </a:pPr>
            <a:r>
              <a:rPr lang="nl-NL" dirty="0" smtClean="0"/>
              <a:t>	De conversie van een waar </a:t>
            </a:r>
            <a:r>
              <a:rPr lang="nl-NL" b="1" i="1" dirty="0" err="1" smtClean="0"/>
              <a:t>SeP</a:t>
            </a:r>
            <a:r>
              <a:rPr lang="nl-NL" dirty="0" smtClean="0"/>
              <a:t> oordeel levert altijd een waar oordeel op.</a:t>
            </a:r>
          </a:p>
          <a:p>
            <a:pPr marL="342900" lvl="0" indent="-342900">
              <a:spcBef>
                <a:spcPct val="20000"/>
              </a:spcBef>
              <a:defRPr/>
            </a:pPr>
            <a:r>
              <a:rPr lang="nl-NL" dirty="0" smtClean="0"/>
              <a:t>	De conversie van een waar </a:t>
            </a:r>
            <a:r>
              <a:rPr lang="nl-NL" b="1" i="1" dirty="0" err="1" smtClean="0"/>
              <a:t>SiP</a:t>
            </a:r>
            <a:r>
              <a:rPr lang="nl-NL" dirty="0" smtClean="0"/>
              <a:t> oordeel levert altijd een waar oordeel op.</a:t>
            </a:r>
          </a:p>
          <a:p>
            <a:pPr marL="342900" lvl="0" indent="-342900">
              <a:spcBef>
                <a:spcPct val="20000"/>
              </a:spcBef>
              <a:defRPr/>
            </a:pPr>
            <a:r>
              <a:rPr lang="nl-NL" dirty="0" smtClean="0"/>
              <a:t>	De conversie van een waar </a:t>
            </a:r>
            <a:r>
              <a:rPr lang="nl-NL" b="1" i="1" dirty="0" err="1" smtClean="0"/>
              <a:t>SoP</a:t>
            </a:r>
            <a:r>
              <a:rPr lang="nl-NL" dirty="0" smtClean="0"/>
              <a:t> oordeel levert niet altijd een waar oordeel op.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0"/>
                                        <p:tgtEl>
                                          <p:spTgt spid="3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2000"/>
                                        <p:tgtEl>
                                          <p:spTgt spid="33"/>
                                        </p:tgtEl>
                                      </p:cBhvr>
                                    </p:animEffect>
                                  </p:childTnLst>
                                </p:cTn>
                              </p:par>
                              <p:par>
                                <p:cTn id="17" presetID="10"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2000"/>
                                        <p:tgtEl>
                                          <p:spTgt spid="3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20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xEl>
                                              <p:pRg st="0" end="0"/>
                                            </p:txEl>
                                          </p:spTgt>
                                        </p:tgtEl>
                                        <p:attrNameLst>
                                          <p:attrName>style.visibility</p:attrName>
                                        </p:attrNameLst>
                                      </p:cBhvr>
                                      <p:to>
                                        <p:strVal val="visible"/>
                                      </p:to>
                                    </p:set>
                                    <p:animEffect transition="in" filter="fade">
                                      <p:cBhvr>
                                        <p:cTn id="27" dur="2000"/>
                                        <p:tgtEl>
                                          <p:spTgt spid="3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
                                            <p:txEl>
                                              <p:pRg st="0" end="0"/>
                                            </p:txEl>
                                          </p:spTgt>
                                        </p:tgtEl>
                                        <p:attrNameLst>
                                          <p:attrName>style.visibility</p:attrName>
                                        </p:attrNameLst>
                                      </p:cBhvr>
                                      <p:to>
                                        <p:strVal val="visible"/>
                                      </p:to>
                                    </p:set>
                                    <p:animEffect transition="in" filter="fade">
                                      <p:cBhvr>
                                        <p:cTn id="32" dur="2000"/>
                                        <p:tgtEl>
                                          <p:spTgt spid="3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9">
                                            <p:txEl>
                                              <p:pRg st="0" end="0"/>
                                            </p:txEl>
                                          </p:spTgt>
                                        </p:tgtEl>
                                        <p:attrNameLst>
                                          <p:attrName>style.visibility</p:attrName>
                                        </p:attrNameLst>
                                      </p:cBhvr>
                                      <p:to>
                                        <p:strVal val="visible"/>
                                      </p:to>
                                    </p:set>
                                    <p:animEffect transition="in" filter="fade">
                                      <p:cBhvr>
                                        <p:cTn id="37" dur="2000"/>
                                        <p:tgtEl>
                                          <p:spTgt spid="39">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xEl>
                                              <p:pRg st="1" end="1"/>
                                            </p:txEl>
                                          </p:spTgt>
                                        </p:tgtEl>
                                        <p:attrNameLst>
                                          <p:attrName>style.visibility</p:attrName>
                                        </p:attrNameLst>
                                      </p:cBhvr>
                                      <p:to>
                                        <p:strVal val="visible"/>
                                      </p:to>
                                    </p:set>
                                    <p:animEffect transition="in" filter="fade">
                                      <p:cBhvr>
                                        <p:cTn id="40" dur="2000"/>
                                        <p:tgtEl>
                                          <p:spTgt spid="39">
                                            <p:txEl>
                                              <p:pRg st="1" end="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xEl>
                                              <p:pRg st="2" end="2"/>
                                            </p:txEl>
                                          </p:spTgt>
                                        </p:tgtEl>
                                        <p:attrNameLst>
                                          <p:attrName>style.visibility</p:attrName>
                                        </p:attrNameLst>
                                      </p:cBhvr>
                                      <p:to>
                                        <p:strVal val="visible"/>
                                      </p:to>
                                    </p:set>
                                    <p:animEffect transition="in" filter="fade">
                                      <p:cBhvr>
                                        <p:cTn id="43" dur="2000"/>
                                        <p:tgtEl>
                                          <p:spTgt spid="39">
                                            <p:txEl>
                                              <p:pRg st="2" end="2"/>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xEl>
                                              <p:pRg st="3" end="3"/>
                                            </p:txEl>
                                          </p:spTgt>
                                        </p:tgtEl>
                                        <p:attrNameLst>
                                          <p:attrName>style.visibility</p:attrName>
                                        </p:attrNameLst>
                                      </p:cBhvr>
                                      <p:to>
                                        <p:strVal val="visible"/>
                                      </p:to>
                                    </p:set>
                                    <p:animEffect transition="in" filter="fade">
                                      <p:cBhvr>
                                        <p:cTn id="46" dur="2000"/>
                                        <p:tgtEl>
                                          <p:spTgt spid="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2" grpId="0"/>
      <p:bldP spid="33" grpId="0"/>
      <p:bldP spid="35" grpId="0"/>
      <p:bldP spid="36" grpId="0" build="allAtOnce"/>
      <p:bldP spid="37" grpId="0" build="allAtOnce"/>
      <p:bldP spid="39" grpId="0" build="allAtOnce"/>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Onmiddellijke afleidingsregels</a:t>
            </a:r>
            <a:endParaRPr lang="nl-NL" sz="3600" dirty="0"/>
          </a:p>
        </p:txBody>
      </p:sp>
      <p:sp>
        <p:nvSpPr>
          <p:cNvPr id="10" name="Content Placeholder 2"/>
          <p:cNvSpPr txBox="1">
            <a:spLocks/>
          </p:cNvSpPr>
          <p:nvPr/>
        </p:nvSpPr>
        <p:spPr>
          <a:xfrm>
            <a:off x="1619672" y="1988840"/>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9" name="Content Placeholder 2"/>
          <p:cNvSpPr>
            <a:spLocks noGrp="1"/>
          </p:cNvSpPr>
          <p:nvPr>
            <p:ph idx="1"/>
          </p:nvPr>
        </p:nvSpPr>
        <p:spPr>
          <a:xfrm>
            <a:off x="457200" y="1384177"/>
            <a:ext cx="8686800" cy="532655"/>
          </a:xfrm>
        </p:spPr>
        <p:txBody>
          <a:bodyPr>
            <a:noAutofit/>
          </a:bodyPr>
          <a:lstStyle/>
          <a:p>
            <a:r>
              <a:rPr lang="nl-NL" sz="2000" dirty="0" smtClean="0"/>
              <a:t>Er zijn dus maar twee geldige conversieregels:</a:t>
            </a:r>
          </a:p>
        </p:txBody>
      </p:sp>
      <p:cxnSp>
        <p:nvCxnSpPr>
          <p:cNvPr id="21" name="Straight Arrow Connector 20"/>
          <p:cNvCxnSpPr/>
          <p:nvPr/>
        </p:nvCxnSpPr>
        <p:spPr>
          <a:xfrm>
            <a:off x="2843808" y="2233464"/>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Content Placeholder 2"/>
          <p:cNvSpPr txBox="1">
            <a:spLocks/>
          </p:cNvSpPr>
          <p:nvPr/>
        </p:nvSpPr>
        <p:spPr>
          <a:xfrm>
            <a:off x="4067944" y="1988840"/>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PeS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33" name="Content Placeholder 2"/>
          <p:cNvSpPr txBox="1">
            <a:spLocks/>
          </p:cNvSpPr>
          <p:nvPr/>
        </p:nvSpPr>
        <p:spPr>
          <a:xfrm>
            <a:off x="1619672" y="2593504"/>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SiP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34" name="Straight Arrow Connector 33"/>
          <p:cNvCxnSpPr/>
          <p:nvPr/>
        </p:nvCxnSpPr>
        <p:spPr>
          <a:xfrm>
            <a:off x="2843808" y="283812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Content Placeholder 2"/>
          <p:cNvSpPr txBox="1">
            <a:spLocks/>
          </p:cNvSpPr>
          <p:nvPr/>
        </p:nvSpPr>
        <p:spPr>
          <a:xfrm>
            <a:off x="4067944" y="2593504"/>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PiS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3" name="Content Placeholder 2"/>
          <p:cNvSpPr txBox="1">
            <a:spLocks/>
          </p:cNvSpPr>
          <p:nvPr/>
        </p:nvSpPr>
        <p:spPr>
          <a:xfrm>
            <a:off x="421704" y="3256385"/>
            <a:ext cx="8686800"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subalternatie- en conversieregels kunnen gecombineerd worden:</a:t>
            </a:r>
          </a:p>
        </p:txBody>
      </p:sp>
      <p:sp>
        <p:nvSpPr>
          <p:cNvPr id="14" name="Content Placeholder 2"/>
          <p:cNvSpPr txBox="1">
            <a:spLocks/>
          </p:cNvSpPr>
          <p:nvPr/>
        </p:nvSpPr>
        <p:spPr>
          <a:xfrm>
            <a:off x="539552" y="393305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SaP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15" name="Straight Arrow Connector 14"/>
          <p:cNvCxnSpPr/>
          <p:nvPr/>
        </p:nvCxnSpPr>
        <p:spPr>
          <a:xfrm>
            <a:off x="1763688" y="417768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Content Placeholder 2"/>
          <p:cNvSpPr txBox="1">
            <a:spLocks/>
          </p:cNvSpPr>
          <p:nvPr/>
        </p:nvSpPr>
        <p:spPr>
          <a:xfrm>
            <a:off x="2987824" y="3933056"/>
            <a:ext cx="10801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SiP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7" name="Content Placeholder 2"/>
          <p:cNvSpPr txBox="1">
            <a:spLocks/>
          </p:cNvSpPr>
          <p:nvPr/>
        </p:nvSpPr>
        <p:spPr>
          <a:xfrm>
            <a:off x="539552" y="4537720"/>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18" name="Straight Arrow Connector 17"/>
          <p:cNvCxnSpPr/>
          <p:nvPr/>
        </p:nvCxnSpPr>
        <p:spPr>
          <a:xfrm>
            <a:off x="1763688" y="4782344"/>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Content Placeholder 2"/>
          <p:cNvSpPr txBox="1">
            <a:spLocks/>
          </p:cNvSpPr>
          <p:nvPr/>
        </p:nvSpPr>
        <p:spPr>
          <a:xfrm>
            <a:off x="2987824" y="4537720"/>
            <a:ext cx="115212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PeS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22" name="Straight Arrow Connector 21"/>
          <p:cNvCxnSpPr/>
          <p:nvPr/>
        </p:nvCxnSpPr>
        <p:spPr>
          <a:xfrm>
            <a:off x="4283968" y="41924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4283968" y="4797152"/>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Content Placeholder 2"/>
          <p:cNvSpPr txBox="1">
            <a:spLocks/>
          </p:cNvSpPr>
          <p:nvPr/>
        </p:nvSpPr>
        <p:spPr>
          <a:xfrm>
            <a:off x="5508104" y="3947864"/>
            <a:ext cx="10801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PiS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25" name="Content Placeholder 2"/>
          <p:cNvSpPr txBox="1">
            <a:spLocks/>
          </p:cNvSpPr>
          <p:nvPr/>
        </p:nvSpPr>
        <p:spPr>
          <a:xfrm>
            <a:off x="5508104" y="4552528"/>
            <a:ext cx="115212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PoS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26" name="TextBox 25"/>
          <p:cNvSpPr txBox="1"/>
          <p:nvPr/>
        </p:nvSpPr>
        <p:spPr>
          <a:xfrm>
            <a:off x="1619672" y="3789040"/>
            <a:ext cx="1512168" cy="369332"/>
          </a:xfrm>
          <a:prstGeom prst="rect">
            <a:avLst/>
          </a:prstGeom>
          <a:noFill/>
        </p:spPr>
        <p:txBody>
          <a:bodyPr wrap="square" rtlCol="0">
            <a:spAutoFit/>
          </a:bodyPr>
          <a:lstStyle/>
          <a:p>
            <a:r>
              <a:rPr lang="nl-NL" i="1" dirty="0" smtClean="0"/>
              <a:t>subalternatie</a:t>
            </a:r>
            <a:endParaRPr lang="nl-NL" i="1" dirty="0"/>
          </a:p>
        </p:txBody>
      </p:sp>
      <p:sp>
        <p:nvSpPr>
          <p:cNvPr id="27" name="TextBox 26"/>
          <p:cNvSpPr txBox="1"/>
          <p:nvPr/>
        </p:nvSpPr>
        <p:spPr>
          <a:xfrm>
            <a:off x="4139952" y="4427820"/>
            <a:ext cx="1512168" cy="369332"/>
          </a:xfrm>
          <a:prstGeom prst="rect">
            <a:avLst/>
          </a:prstGeom>
          <a:noFill/>
        </p:spPr>
        <p:txBody>
          <a:bodyPr wrap="square" rtlCol="0">
            <a:spAutoFit/>
          </a:bodyPr>
          <a:lstStyle/>
          <a:p>
            <a:r>
              <a:rPr lang="nl-NL" i="1" dirty="0" smtClean="0"/>
              <a:t>subalternatie</a:t>
            </a:r>
            <a:endParaRPr lang="nl-NL" i="1" dirty="0"/>
          </a:p>
        </p:txBody>
      </p:sp>
      <p:sp>
        <p:nvSpPr>
          <p:cNvPr id="28" name="TextBox 27"/>
          <p:cNvSpPr txBox="1"/>
          <p:nvPr/>
        </p:nvSpPr>
        <p:spPr>
          <a:xfrm>
            <a:off x="4283968" y="3789040"/>
            <a:ext cx="1224136" cy="369332"/>
          </a:xfrm>
          <a:prstGeom prst="rect">
            <a:avLst/>
          </a:prstGeom>
          <a:noFill/>
        </p:spPr>
        <p:txBody>
          <a:bodyPr wrap="square" rtlCol="0">
            <a:spAutoFit/>
          </a:bodyPr>
          <a:lstStyle/>
          <a:p>
            <a:r>
              <a:rPr lang="nl-NL" i="1" dirty="0" smtClean="0"/>
              <a:t>conversie</a:t>
            </a:r>
            <a:endParaRPr lang="nl-NL" i="1" dirty="0"/>
          </a:p>
        </p:txBody>
      </p:sp>
      <p:sp>
        <p:nvSpPr>
          <p:cNvPr id="29" name="TextBox 28"/>
          <p:cNvSpPr txBox="1"/>
          <p:nvPr/>
        </p:nvSpPr>
        <p:spPr>
          <a:xfrm>
            <a:off x="1763688" y="4365104"/>
            <a:ext cx="1224136" cy="369332"/>
          </a:xfrm>
          <a:prstGeom prst="rect">
            <a:avLst/>
          </a:prstGeom>
          <a:noFill/>
        </p:spPr>
        <p:txBody>
          <a:bodyPr wrap="square" rtlCol="0">
            <a:spAutoFit/>
          </a:bodyPr>
          <a:lstStyle/>
          <a:p>
            <a:r>
              <a:rPr lang="nl-NL" i="1" dirty="0" smtClean="0"/>
              <a:t>conversie</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20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20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20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200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000"/>
                                        <p:tgtEl>
                                          <p:spTgt spid="22"/>
                                        </p:tgtEl>
                                      </p:cBhvr>
                                    </p:animEffect>
                                  </p:childTnLst>
                                </p:cTn>
                              </p:par>
                              <p:par>
                                <p:cTn id="29"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0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2000"/>
                                        <p:tgtEl>
                                          <p:spTgt spid="2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2000"/>
                                        <p:tgtEl>
                                          <p:spTgt spid="2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2000"/>
                                        <p:tgtEl>
                                          <p:spTgt spid="2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2000"/>
                                        <p:tgtEl>
                                          <p:spTgt spid="2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2000"/>
                                        <p:tgtEl>
                                          <p:spTgt spid="2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p:bldP spid="20" grpId="0"/>
      <p:bldP spid="24" grpId="0"/>
      <p:bldP spid="25" grpId="0"/>
      <p:bldP spid="26" grpId="0"/>
      <p:bldP spid="27" grpId="0"/>
      <p:bldP spid="28" grpId="0"/>
      <p:bldP spid="29"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Onmiddellijke afleidingsregels</a:t>
            </a:r>
            <a:endParaRPr lang="nl-NL" sz="3600" dirty="0"/>
          </a:p>
        </p:txBody>
      </p:sp>
      <p:sp>
        <p:nvSpPr>
          <p:cNvPr id="13" name="Content Placeholder 2"/>
          <p:cNvSpPr txBox="1">
            <a:spLocks/>
          </p:cNvSpPr>
          <p:nvPr/>
        </p:nvSpPr>
        <p:spPr>
          <a:xfrm>
            <a:off x="421704" y="3256385"/>
            <a:ext cx="8686800"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Dit</a:t>
            </a:r>
            <a:r>
              <a:rPr kumimoji="0" lang="nl-NL" sz="2000" b="0" i="0" u="none" strike="noStrike" kern="1200" cap="none" spc="0" normalizeH="0" noProof="0" dirty="0" smtClean="0">
                <a:ln>
                  <a:noFill/>
                </a:ln>
                <a:solidFill>
                  <a:schemeClr val="tx1"/>
                </a:solidFill>
                <a:effectLst/>
                <a:uLnTx/>
                <a:uFillTx/>
                <a:latin typeface="+mn-lt"/>
                <a:ea typeface="+mn-ea"/>
                <a:cs typeface="+mn-cs"/>
              </a:rPr>
              <a:t> levert twee aanvullende regels op, genoemd </a:t>
            </a:r>
            <a:r>
              <a:rPr kumimoji="0" lang="nl-NL" sz="2000" b="0" i="1" u="none" strike="noStrike" kern="1200" cap="none" spc="0" normalizeH="0" noProof="0" dirty="0" smtClean="0">
                <a:ln>
                  <a:noFill/>
                </a:ln>
                <a:solidFill>
                  <a:schemeClr val="tx1"/>
                </a:solidFill>
                <a:effectLst/>
                <a:uLnTx/>
                <a:uFillTx/>
                <a:latin typeface="+mn-lt"/>
                <a:ea typeface="+mn-ea"/>
                <a:cs typeface="+mn-cs"/>
              </a:rPr>
              <a:t>conversie per </a:t>
            </a:r>
            <a:r>
              <a:rPr kumimoji="0" lang="nl-NL" sz="2000" b="0" i="1" u="none" strike="noStrike" kern="1200" cap="none" spc="0" normalizeH="0" noProof="0" dirty="0" err="1" smtClean="0">
                <a:ln>
                  <a:noFill/>
                </a:ln>
                <a:solidFill>
                  <a:schemeClr val="tx1"/>
                </a:solidFill>
                <a:effectLst/>
                <a:uLnTx/>
                <a:uFillTx/>
                <a:latin typeface="+mn-lt"/>
                <a:ea typeface="+mn-ea"/>
                <a:cs typeface="+mn-cs"/>
              </a:rPr>
              <a:t>accidens</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Content Placeholder 2"/>
          <p:cNvSpPr txBox="1">
            <a:spLocks/>
          </p:cNvSpPr>
          <p:nvPr/>
        </p:nvSpPr>
        <p:spPr>
          <a:xfrm>
            <a:off x="683568" y="393305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SaP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36" name="Straight Arrow Connector 35"/>
          <p:cNvCxnSpPr/>
          <p:nvPr/>
        </p:nvCxnSpPr>
        <p:spPr>
          <a:xfrm>
            <a:off x="1907704" y="417768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Content Placeholder 2"/>
          <p:cNvSpPr txBox="1">
            <a:spLocks/>
          </p:cNvSpPr>
          <p:nvPr/>
        </p:nvSpPr>
        <p:spPr>
          <a:xfrm>
            <a:off x="3131840" y="3933056"/>
            <a:ext cx="10801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PiS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38" name="Content Placeholder 2"/>
          <p:cNvSpPr txBox="1">
            <a:spLocks/>
          </p:cNvSpPr>
          <p:nvPr/>
        </p:nvSpPr>
        <p:spPr>
          <a:xfrm>
            <a:off x="683568" y="4537720"/>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39" name="Straight Arrow Connector 38"/>
          <p:cNvCxnSpPr/>
          <p:nvPr/>
        </p:nvCxnSpPr>
        <p:spPr>
          <a:xfrm>
            <a:off x="1907704" y="4782344"/>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Content Placeholder 2"/>
          <p:cNvSpPr txBox="1">
            <a:spLocks/>
          </p:cNvSpPr>
          <p:nvPr/>
        </p:nvSpPr>
        <p:spPr>
          <a:xfrm>
            <a:off x="3131840" y="4537720"/>
            <a:ext cx="115212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PoS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Onmiddellijke afleidingsregels op een rij</a:t>
            </a:r>
            <a:endParaRPr lang="nl-NL" sz="3600" dirty="0"/>
          </a:p>
        </p:txBody>
      </p:sp>
      <p:sp>
        <p:nvSpPr>
          <p:cNvPr id="6" name="Content Placeholder 2"/>
          <p:cNvSpPr txBox="1">
            <a:spLocks/>
          </p:cNvSpPr>
          <p:nvPr/>
        </p:nvSpPr>
        <p:spPr>
          <a:xfrm>
            <a:off x="611560" y="170080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SaP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7" name="Straight Arrow Connector 6"/>
          <p:cNvCxnSpPr/>
          <p:nvPr/>
        </p:nvCxnSpPr>
        <p:spPr>
          <a:xfrm>
            <a:off x="1835696" y="1945432"/>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3059832" y="1700808"/>
            <a:ext cx="1008112"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SiP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9" name="Content Placeholder 2"/>
          <p:cNvSpPr txBox="1">
            <a:spLocks/>
          </p:cNvSpPr>
          <p:nvPr/>
        </p:nvSpPr>
        <p:spPr>
          <a:xfrm>
            <a:off x="611560" y="2305472"/>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10" name="Straight Arrow Connector 9"/>
          <p:cNvCxnSpPr/>
          <p:nvPr/>
        </p:nvCxnSpPr>
        <p:spPr>
          <a:xfrm>
            <a:off x="1835696" y="2550096"/>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Content Placeholder 2"/>
          <p:cNvSpPr txBox="1">
            <a:spLocks/>
          </p:cNvSpPr>
          <p:nvPr/>
        </p:nvSpPr>
        <p:spPr>
          <a:xfrm>
            <a:off x="3059832" y="2305472"/>
            <a:ext cx="10801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SoP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2" name="TextBox 11"/>
          <p:cNvSpPr txBox="1"/>
          <p:nvPr/>
        </p:nvSpPr>
        <p:spPr>
          <a:xfrm>
            <a:off x="5148064" y="1873424"/>
            <a:ext cx="2520280" cy="369332"/>
          </a:xfrm>
          <a:prstGeom prst="rect">
            <a:avLst/>
          </a:prstGeom>
          <a:noFill/>
        </p:spPr>
        <p:txBody>
          <a:bodyPr wrap="square" rtlCol="0">
            <a:spAutoFit/>
          </a:bodyPr>
          <a:lstStyle/>
          <a:p>
            <a:r>
              <a:rPr lang="nl-NL" b="1" i="1" dirty="0" smtClean="0"/>
              <a:t>Subalternatie</a:t>
            </a:r>
            <a:endParaRPr lang="nl-NL" b="1" i="1" dirty="0"/>
          </a:p>
        </p:txBody>
      </p:sp>
      <p:sp>
        <p:nvSpPr>
          <p:cNvPr id="13" name="Content Placeholder 2"/>
          <p:cNvSpPr txBox="1">
            <a:spLocks/>
          </p:cNvSpPr>
          <p:nvPr/>
        </p:nvSpPr>
        <p:spPr>
          <a:xfrm>
            <a:off x="611560" y="3227784"/>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14" name="Straight Arrow Connector 13"/>
          <p:cNvCxnSpPr/>
          <p:nvPr/>
        </p:nvCxnSpPr>
        <p:spPr>
          <a:xfrm>
            <a:off x="1835696" y="347240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Content Placeholder 2"/>
          <p:cNvSpPr txBox="1">
            <a:spLocks/>
          </p:cNvSpPr>
          <p:nvPr/>
        </p:nvSpPr>
        <p:spPr>
          <a:xfrm>
            <a:off x="3059832" y="3227784"/>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PeS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6" name="Content Placeholder 2"/>
          <p:cNvSpPr txBox="1">
            <a:spLocks/>
          </p:cNvSpPr>
          <p:nvPr/>
        </p:nvSpPr>
        <p:spPr>
          <a:xfrm>
            <a:off x="611560" y="383244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SiP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17" name="Straight Arrow Connector 16"/>
          <p:cNvCxnSpPr/>
          <p:nvPr/>
        </p:nvCxnSpPr>
        <p:spPr>
          <a:xfrm>
            <a:off x="1835696" y="4077072"/>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Content Placeholder 2"/>
          <p:cNvSpPr txBox="1">
            <a:spLocks/>
          </p:cNvSpPr>
          <p:nvPr/>
        </p:nvSpPr>
        <p:spPr>
          <a:xfrm>
            <a:off x="3059832" y="3832448"/>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PiS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19" name="TextBox 18"/>
          <p:cNvSpPr txBox="1"/>
          <p:nvPr/>
        </p:nvSpPr>
        <p:spPr>
          <a:xfrm>
            <a:off x="5148064" y="3284984"/>
            <a:ext cx="2088232" cy="369332"/>
          </a:xfrm>
          <a:prstGeom prst="rect">
            <a:avLst/>
          </a:prstGeom>
          <a:noFill/>
        </p:spPr>
        <p:txBody>
          <a:bodyPr wrap="square" rtlCol="0">
            <a:spAutoFit/>
          </a:bodyPr>
          <a:lstStyle/>
          <a:p>
            <a:r>
              <a:rPr lang="nl-NL" b="1" i="1" dirty="0" smtClean="0"/>
              <a:t>Conversie  </a:t>
            </a:r>
            <a:endParaRPr lang="nl-NL" b="1" i="1" dirty="0"/>
          </a:p>
        </p:txBody>
      </p:sp>
      <p:sp>
        <p:nvSpPr>
          <p:cNvPr id="20" name="Content Placeholder 2"/>
          <p:cNvSpPr txBox="1">
            <a:spLocks/>
          </p:cNvSpPr>
          <p:nvPr/>
        </p:nvSpPr>
        <p:spPr>
          <a:xfrm>
            <a:off x="611560" y="4797152"/>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SaP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21" name="Straight Arrow Connector 20"/>
          <p:cNvCxnSpPr/>
          <p:nvPr/>
        </p:nvCxnSpPr>
        <p:spPr>
          <a:xfrm>
            <a:off x="1835696" y="5041776"/>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Content Placeholder 2"/>
          <p:cNvSpPr txBox="1">
            <a:spLocks/>
          </p:cNvSpPr>
          <p:nvPr/>
        </p:nvSpPr>
        <p:spPr>
          <a:xfrm>
            <a:off x="3059832" y="4797152"/>
            <a:ext cx="108012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PiS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23" name="Content Placeholder 2"/>
          <p:cNvSpPr txBox="1">
            <a:spLocks/>
          </p:cNvSpPr>
          <p:nvPr/>
        </p:nvSpPr>
        <p:spPr>
          <a:xfrm>
            <a:off x="611560" y="540181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SeP</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24" name="Straight Arrow Connector 23"/>
          <p:cNvCxnSpPr/>
          <p:nvPr/>
        </p:nvCxnSpPr>
        <p:spPr>
          <a:xfrm>
            <a:off x="1835696" y="564644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Content Placeholder 2"/>
          <p:cNvSpPr txBox="1">
            <a:spLocks/>
          </p:cNvSpPr>
          <p:nvPr/>
        </p:nvSpPr>
        <p:spPr>
          <a:xfrm>
            <a:off x="3059832" y="5401816"/>
            <a:ext cx="115212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a:t>
            </a:r>
            <a:r>
              <a:rPr lang="nl-NL" sz="2400" i="1" dirty="0" err="1" smtClean="0"/>
              <a:t>PoS</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27" name="TextBox 26"/>
          <p:cNvSpPr txBox="1"/>
          <p:nvPr/>
        </p:nvSpPr>
        <p:spPr>
          <a:xfrm>
            <a:off x="5148064" y="4998368"/>
            <a:ext cx="2520280" cy="369332"/>
          </a:xfrm>
          <a:prstGeom prst="rect">
            <a:avLst/>
          </a:prstGeom>
          <a:noFill/>
        </p:spPr>
        <p:txBody>
          <a:bodyPr wrap="square" rtlCol="0">
            <a:spAutoFit/>
          </a:bodyPr>
          <a:lstStyle/>
          <a:p>
            <a:r>
              <a:rPr lang="nl-NL" b="1" i="1" dirty="0" smtClean="0"/>
              <a:t>Conversie per </a:t>
            </a:r>
            <a:r>
              <a:rPr lang="nl-NL" b="1" i="1" dirty="0" err="1" smtClean="0"/>
              <a:t>accidens</a:t>
            </a:r>
            <a:endParaRPr lang="nl-NL" b="1" i="1" dirty="0"/>
          </a:p>
        </p:txBody>
      </p:sp>
      <p:sp>
        <p:nvSpPr>
          <p:cNvPr id="26" name="Content Placeholder 2"/>
          <p:cNvSpPr txBox="1">
            <a:spLocks/>
          </p:cNvSpPr>
          <p:nvPr/>
        </p:nvSpPr>
        <p:spPr>
          <a:xfrm>
            <a:off x="611560" y="6064696"/>
            <a:ext cx="2304256"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X</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cxnSp>
        <p:nvCxnSpPr>
          <p:cNvPr id="28" name="Straight Arrow Connector 27"/>
          <p:cNvCxnSpPr/>
          <p:nvPr/>
        </p:nvCxnSpPr>
        <p:spPr>
          <a:xfrm>
            <a:off x="1835696" y="630932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9" name="Content Placeholder 2"/>
          <p:cNvSpPr txBox="1">
            <a:spLocks/>
          </p:cNvSpPr>
          <p:nvPr/>
        </p:nvSpPr>
        <p:spPr>
          <a:xfrm>
            <a:off x="3059832" y="6064696"/>
            <a:ext cx="1152128"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i="1" dirty="0" smtClean="0"/>
              <a:t>	X</a:t>
            </a:r>
            <a:endParaRPr kumimoji="0" lang="nl-NL" sz="24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400" i="1" u="none" strike="noStrike" kern="1200" cap="none" spc="0" normalizeH="0" baseline="0" noProof="0" dirty="0" smtClean="0">
              <a:ln>
                <a:noFill/>
              </a:ln>
              <a:effectLst/>
              <a:uLnTx/>
              <a:uFillTx/>
              <a:latin typeface="+mn-lt"/>
              <a:ea typeface="+mn-ea"/>
              <a:cs typeface="+mn-cs"/>
            </a:endParaRPr>
          </a:p>
        </p:txBody>
      </p:sp>
      <p:sp>
        <p:nvSpPr>
          <p:cNvPr id="30" name="TextBox 29"/>
          <p:cNvSpPr txBox="1"/>
          <p:nvPr/>
        </p:nvSpPr>
        <p:spPr>
          <a:xfrm>
            <a:off x="5148064" y="6084004"/>
            <a:ext cx="2520280" cy="369332"/>
          </a:xfrm>
          <a:prstGeom prst="rect">
            <a:avLst/>
          </a:prstGeom>
          <a:noFill/>
        </p:spPr>
        <p:txBody>
          <a:bodyPr wrap="square" rtlCol="0">
            <a:spAutoFit/>
          </a:bodyPr>
          <a:lstStyle/>
          <a:p>
            <a:r>
              <a:rPr lang="nl-NL" b="1" i="1" dirty="0" smtClean="0"/>
              <a:t>Herhaling</a:t>
            </a:r>
            <a:endParaRPr lang="nl-NL"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0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20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20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2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0"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 (middellijke afleidingsregels)</a:t>
            </a:r>
            <a:endParaRPr lang="nl-NL" sz="3600" dirty="0"/>
          </a:p>
        </p:txBody>
      </p:sp>
      <p:sp>
        <p:nvSpPr>
          <p:cNvPr id="13" name="Content Placeholder 2"/>
          <p:cNvSpPr txBox="1">
            <a:spLocks/>
          </p:cNvSpPr>
          <p:nvPr/>
        </p:nvSpPr>
        <p:spPr>
          <a:xfrm>
            <a:off x="421704" y="5229200"/>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Sa</a:t>
            </a:r>
            <a:r>
              <a:rPr kumimoji="0" lang="nl-NL" sz="2000" b="0" i="1" u="none" strike="noStrike" kern="1200" cap="none" spc="0" normalizeH="0" noProof="0" dirty="0" err="1" smtClean="0">
                <a:ln>
                  <a:noFill/>
                </a:ln>
                <a:solidFill>
                  <a:schemeClr val="tx1"/>
                </a:solidFill>
                <a:effectLst/>
                <a:uLnTx/>
                <a:uFillTx/>
                <a:latin typeface="+mn-lt"/>
                <a:ea typeface="+mn-ea"/>
                <a:cs typeface="+mn-cs"/>
              </a:rPr>
              <a:t>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10" name="Content Placeholder 2"/>
          <p:cNvSpPr>
            <a:spLocks noGrp="1"/>
          </p:cNvSpPr>
          <p:nvPr>
            <p:ph idx="1"/>
          </p:nvPr>
        </p:nvSpPr>
        <p:spPr>
          <a:xfrm>
            <a:off x="251520" y="1456184"/>
            <a:ext cx="8686800" cy="1108720"/>
          </a:xfrm>
        </p:spPr>
        <p:txBody>
          <a:bodyPr>
            <a:noAutofit/>
          </a:bodyPr>
          <a:lstStyle/>
          <a:p>
            <a:pPr marL="514350" indent="-514350">
              <a:buFont typeface="+mj-lt"/>
              <a:buAutoNum type="romanUcPeriod"/>
            </a:pPr>
            <a:r>
              <a:rPr lang="nl-NL" sz="2000" dirty="0" smtClean="0"/>
              <a:t>Een syllogisme bestaat uit drie oordelen: twee premissen en één conclusie</a:t>
            </a:r>
          </a:p>
          <a:p>
            <a:pPr marL="514350" indent="-514350">
              <a:buFont typeface="+mj-lt"/>
              <a:buAutoNum type="romanUcPeriod"/>
            </a:pPr>
            <a:r>
              <a:rPr lang="nl-NL" sz="2000" dirty="0" smtClean="0"/>
              <a:t>Ieder oordeel is een A, E, I of O oordeel</a:t>
            </a:r>
          </a:p>
          <a:p>
            <a:pPr marL="514350" indent="-514350">
              <a:buFont typeface="+mj-lt"/>
              <a:buAutoNum type="romanUcPeriod"/>
            </a:pPr>
            <a:r>
              <a:rPr lang="nl-NL" sz="2000" dirty="0" smtClean="0"/>
              <a:t>In een syllogisme treden drie termen op die elk in twee oordelen voorkomen</a:t>
            </a:r>
          </a:p>
        </p:txBody>
      </p:sp>
      <p:sp>
        <p:nvSpPr>
          <p:cNvPr id="14" name="Content Placeholder 2"/>
          <p:cNvSpPr txBox="1">
            <a:spLocks/>
          </p:cNvSpPr>
          <p:nvPr/>
        </p:nvSpPr>
        <p:spPr>
          <a:xfrm>
            <a:off x="2365920" y="325638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Alle A zijn</a:t>
            </a:r>
            <a:r>
              <a:rPr kumimoji="0" lang="nl-NL" sz="2000" b="0" i="1" u="none" strike="noStrike" kern="1200" cap="none" spc="0" normalizeH="0" noProof="0" dirty="0" smtClean="0">
                <a:ln>
                  <a:noFill/>
                </a:ln>
                <a:solidFill>
                  <a:schemeClr val="tx1"/>
                </a:solidFill>
                <a:effectLst/>
                <a:uLnTx/>
                <a:uFillTx/>
                <a:latin typeface="+mn-lt"/>
                <a:ea typeface="+mn-ea"/>
                <a:cs typeface="+mn-cs"/>
              </a:rPr>
              <a:t> B</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Alle A zijn C</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Alle B zijn C</a:t>
            </a:r>
          </a:p>
        </p:txBody>
      </p:sp>
      <p:cxnSp>
        <p:nvCxnSpPr>
          <p:cNvPr id="15" name="Straight Connector 14"/>
          <p:cNvCxnSpPr/>
          <p:nvPr/>
        </p:nvCxnSpPr>
        <p:spPr>
          <a:xfrm>
            <a:off x="2339752" y="4005064"/>
            <a:ext cx="144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txBox="1">
            <a:spLocks/>
          </p:cNvSpPr>
          <p:nvPr/>
        </p:nvSpPr>
        <p:spPr>
          <a:xfrm>
            <a:off x="4310136" y="325638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Alle X zijn</a:t>
            </a:r>
            <a:r>
              <a:rPr kumimoji="0" lang="nl-NL" sz="2000" b="0" i="1" u="none" strike="noStrike" kern="1200" cap="none" spc="0" normalizeH="0" noProof="0" dirty="0" smtClean="0">
                <a:ln>
                  <a:noFill/>
                </a:ln>
                <a:solidFill>
                  <a:schemeClr val="tx1"/>
                </a:solidFill>
                <a:effectLst/>
                <a:uLnTx/>
                <a:uFillTx/>
                <a:latin typeface="+mn-lt"/>
                <a:ea typeface="+mn-ea"/>
                <a:cs typeface="+mn-cs"/>
              </a:rPr>
              <a:t> Z</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Geen Z is Y</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Geen X is Y</a:t>
            </a:r>
          </a:p>
        </p:txBody>
      </p:sp>
      <p:cxnSp>
        <p:nvCxnSpPr>
          <p:cNvPr id="17" name="Straight Connector 16"/>
          <p:cNvCxnSpPr/>
          <p:nvPr/>
        </p:nvCxnSpPr>
        <p:spPr>
          <a:xfrm>
            <a:off x="4283968" y="4005064"/>
            <a:ext cx="144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Content Placeholder 2"/>
          <p:cNvSpPr txBox="1">
            <a:spLocks/>
          </p:cNvSpPr>
          <p:nvPr/>
        </p:nvSpPr>
        <p:spPr>
          <a:xfrm>
            <a:off x="6254352" y="3256385"/>
            <a:ext cx="242210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Sommige S zijn P</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Alle P zijn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Sommige S zijn M</a:t>
            </a:r>
          </a:p>
        </p:txBody>
      </p:sp>
      <p:cxnSp>
        <p:nvCxnSpPr>
          <p:cNvPr id="19" name="Straight Connector 18"/>
          <p:cNvCxnSpPr/>
          <p:nvPr/>
        </p:nvCxnSpPr>
        <p:spPr>
          <a:xfrm>
            <a:off x="6372200" y="4005064"/>
            <a:ext cx="144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395536" y="4653136"/>
            <a:ext cx="1584176" cy="369332"/>
          </a:xfrm>
          <a:prstGeom prst="rect">
            <a:avLst/>
          </a:prstGeom>
          <a:noFill/>
        </p:spPr>
        <p:txBody>
          <a:bodyPr wrap="square" rtlCol="0">
            <a:spAutoFit/>
          </a:bodyPr>
          <a:lstStyle/>
          <a:p>
            <a:r>
              <a:rPr lang="nl-NL" dirty="0" smtClean="0"/>
              <a:t>Geldig</a:t>
            </a:r>
            <a:endParaRPr lang="nl-NL" dirty="0"/>
          </a:p>
        </p:txBody>
      </p:sp>
      <p:sp>
        <p:nvSpPr>
          <p:cNvPr id="21" name="TextBox 20"/>
          <p:cNvSpPr txBox="1"/>
          <p:nvPr/>
        </p:nvSpPr>
        <p:spPr>
          <a:xfrm>
            <a:off x="2411760" y="4653136"/>
            <a:ext cx="1584176" cy="369332"/>
          </a:xfrm>
          <a:prstGeom prst="rect">
            <a:avLst/>
          </a:prstGeom>
          <a:noFill/>
        </p:spPr>
        <p:txBody>
          <a:bodyPr wrap="square" rtlCol="0">
            <a:spAutoFit/>
          </a:bodyPr>
          <a:lstStyle/>
          <a:p>
            <a:r>
              <a:rPr lang="nl-NL" dirty="0" smtClean="0"/>
              <a:t>Ongeldig</a:t>
            </a:r>
            <a:endParaRPr lang="nl-NL" dirty="0"/>
          </a:p>
        </p:txBody>
      </p:sp>
      <p:sp>
        <p:nvSpPr>
          <p:cNvPr id="22" name="TextBox 21"/>
          <p:cNvSpPr txBox="1"/>
          <p:nvPr/>
        </p:nvSpPr>
        <p:spPr>
          <a:xfrm>
            <a:off x="4283968" y="4643844"/>
            <a:ext cx="1584176" cy="369332"/>
          </a:xfrm>
          <a:prstGeom prst="rect">
            <a:avLst/>
          </a:prstGeom>
          <a:noFill/>
        </p:spPr>
        <p:txBody>
          <a:bodyPr wrap="square" rtlCol="0">
            <a:spAutoFit/>
          </a:bodyPr>
          <a:lstStyle/>
          <a:p>
            <a:r>
              <a:rPr lang="nl-NL" dirty="0" smtClean="0"/>
              <a:t>Geldig</a:t>
            </a:r>
            <a:endParaRPr lang="nl-NL" dirty="0"/>
          </a:p>
        </p:txBody>
      </p:sp>
      <p:sp>
        <p:nvSpPr>
          <p:cNvPr id="23" name="TextBox 22"/>
          <p:cNvSpPr txBox="1"/>
          <p:nvPr/>
        </p:nvSpPr>
        <p:spPr>
          <a:xfrm>
            <a:off x="6300192" y="4653136"/>
            <a:ext cx="1584176" cy="369332"/>
          </a:xfrm>
          <a:prstGeom prst="rect">
            <a:avLst/>
          </a:prstGeom>
          <a:noFill/>
        </p:spPr>
        <p:txBody>
          <a:bodyPr wrap="square" rtlCol="0">
            <a:spAutoFit/>
          </a:bodyPr>
          <a:lstStyle/>
          <a:p>
            <a:r>
              <a:rPr lang="nl-NL" dirty="0" smtClean="0"/>
              <a:t>Geldig</a:t>
            </a:r>
            <a:endParaRPr lang="nl-NL" dirty="0"/>
          </a:p>
        </p:txBody>
      </p:sp>
      <p:grpSp>
        <p:nvGrpSpPr>
          <p:cNvPr id="3" name="Group 33"/>
          <p:cNvGrpSpPr/>
          <p:nvPr/>
        </p:nvGrpSpPr>
        <p:grpSpPr>
          <a:xfrm>
            <a:off x="395536" y="3256385"/>
            <a:ext cx="1728192" cy="1180727"/>
            <a:chOff x="395536" y="3256385"/>
            <a:chExt cx="1728192" cy="1180727"/>
          </a:xfrm>
        </p:grpSpPr>
        <p:cxnSp>
          <p:nvCxnSpPr>
            <p:cNvPr id="12" name="Straight Connector 11"/>
            <p:cNvCxnSpPr/>
            <p:nvPr/>
          </p:nvCxnSpPr>
          <p:spPr>
            <a:xfrm>
              <a:off x="395536" y="4005064"/>
              <a:ext cx="1440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Content Placeholder 2"/>
            <p:cNvSpPr txBox="1">
              <a:spLocks/>
            </p:cNvSpPr>
            <p:nvPr/>
          </p:nvSpPr>
          <p:spPr>
            <a:xfrm>
              <a:off x="421704" y="325638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Alle S zijn</a:t>
              </a:r>
              <a:r>
                <a:rPr kumimoji="0" lang="nl-NL" sz="2000" b="0" i="1" u="none" strike="noStrike" kern="1200" cap="none" spc="0" normalizeH="0" noProof="0" dirty="0" smtClean="0">
                  <a:ln>
                    <a:noFill/>
                  </a:ln>
                  <a:solidFill>
                    <a:schemeClr val="tx1"/>
                  </a:solidFill>
                  <a:effectLst/>
                  <a:uLnTx/>
                  <a:uFillTx/>
                  <a:latin typeface="+mn-lt"/>
                  <a:ea typeface="+mn-ea"/>
                  <a:cs typeface="+mn-cs"/>
                </a:rPr>
                <a:t> 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Alle M zijn P</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Alle S zijn P</a:t>
              </a:r>
            </a:p>
          </p:txBody>
        </p:sp>
      </p:grpSp>
      <p:sp>
        <p:nvSpPr>
          <p:cNvPr id="25" name="Content Placeholder 2"/>
          <p:cNvSpPr txBox="1">
            <a:spLocks/>
          </p:cNvSpPr>
          <p:nvPr/>
        </p:nvSpPr>
        <p:spPr>
          <a:xfrm>
            <a:off x="2365920" y="5229200"/>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A</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a</a:t>
            </a:r>
            <a:r>
              <a:rPr lang="nl-NL" sz="2000" i="1" noProof="0" dirty="0" err="1" smtClean="0"/>
              <a:t>B</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AaC</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BaC</a:t>
            </a:r>
            <a:endParaRPr lang="nl-NL" sz="2000" i="1" dirty="0" smtClean="0"/>
          </a:p>
        </p:txBody>
      </p:sp>
      <p:sp>
        <p:nvSpPr>
          <p:cNvPr id="26" name="Content Placeholder 2"/>
          <p:cNvSpPr txBox="1">
            <a:spLocks/>
          </p:cNvSpPr>
          <p:nvPr/>
        </p:nvSpPr>
        <p:spPr>
          <a:xfrm>
            <a:off x="4310136" y="5229200"/>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noProof="0" dirty="0" err="1" smtClean="0"/>
              <a:t>X</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a</a:t>
            </a:r>
            <a:r>
              <a:rPr lang="nl-NL" sz="2000" i="1" dirty="0" smtClean="0"/>
              <a:t>Z</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ZeY</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XeY</a:t>
            </a:r>
            <a:endParaRPr lang="nl-NL" sz="2000" i="1" dirty="0" smtClean="0"/>
          </a:p>
        </p:txBody>
      </p:sp>
      <p:sp>
        <p:nvSpPr>
          <p:cNvPr id="27" name="Content Placeholder 2"/>
          <p:cNvSpPr txBox="1">
            <a:spLocks/>
          </p:cNvSpPr>
          <p:nvPr/>
        </p:nvSpPr>
        <p:spPr>
          <a:xfrm>
            <a:off x="6326360" y="5229200"/>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p:txBody>
      </p:sp>
      <p:cxnSp>
        <p:nvCxnSpPr>
          <p:cNvPr id="28" name="Straight Connector 27"/>
          <p:cNvCxnSpPr/>
          <p:nvPr/>
        </p:nvCxnSpPr>
        <p:spPr>
          <a:xfrm>
            <a:off x="467544" y="6021288"/>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411760" y="6021288"/>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4355976" y="6021288"/>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372200" y="6021288"/>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000"/>
                                        <p:tgtEl>
                                          <p:spTgt spid="2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200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20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animEffect transition="in" filter="fade">
                                      <p:cBhvr>
                                        <p:cTn id="25" dur="2000"/>
                                        <p:tgtEl>
                                          <p:spTgt spid="2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200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20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Effect transition="in" filter="fade">
                                      <p:cBhvr>
                                        <p:cTn id="38" dur="2000"/>
                                        <p:tgtEl>
                                          <p:spTgt spid="2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000"/>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2000"/>
                                        <p:tgtEl>
                                          <p:spTgt spid="1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3">
                                            <p:txEl>
                                              <p:pRg st="0" end="0"/>
                                            </p:txEl>
                                          </p:spTgt>
                                        </p:tgtEl>
                                        <p:attrNameLst>
                                          <p:attrName>style.visibility</p:attrName>
                                        </p:attrNameLst>
                                      </p:cBhvr>
                                      <p:to>
                                        <p:strVal val="visible"/>
                                      </p:to>
                                    </p:set>
                                    <p:animEffect transition="in" filter="fade">
                                      <p:cBhvr>
                                        <p:cTn id="51" dur="2000"/>
                                        <p:tgtEl>
                                          <p:spTgt spid="2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2000"/>
                                        <p:tgtEl>
                                          <p:spTgt spid="1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2000"/>
                                        <p:tgtEl>
                                          <p:spTgt spid="2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2000"/>
                                        <p:tgtEl>
                                          <p:spTgt spid="26"/>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2000"/>
                                        <p:tgtEl>
                                          <p:spTgt spid="27"/>
                                        </p:tgtEl>
                                      </p:cBhvr>
                                    </p:animEffect>
                                  </p:childTnLst>
                                </p:cTn>
                              </p:par>
                              <p:par>
                                <p:cTn id="66" presetID="10" presetClass="entr" presetSubtype="0" fill="hold" nodeType="with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fade">
                                      <p:cBhvr>
                                        <p:cTn id="68" dur="2000"/>
                                        <p:tgtEl>
                                          <p:spTgt spid="28"/>
                                        </p:tgtEl>
                                      </p:cBhvr>
                                    </p:animEffect>
                                  </p:childTnLst>
                                </p:cTn>
                              </p:par>
                              <p:par>
                                <p:cTn id="69" presetID="10" presetClass="entr" presetSubtype="0" fill="hold" nodeType="withEffect">
                                  <p:stCondLst>
                                    <p:cond delay="0"/>
                                  </p:stCondLst>
                                  <p:childTnLst>
                                    <p:set>
                                      <p:cBhvr>
                                        <p:cTn id="70" dur="1" fill="hold">
                                          <p:stCondLst>
                                            <p:cond delay="0"/>
                                          </p:stCondLst>
                                        </p:cTn>
                                        <p:tgtEl>
                                          <p:spTgt spid="30"/>
                                        </p:tgtEl>
                                        <p:attrNameLst>
                                          <p:attrName>style.visibility</p:attrName>
                                        </p:attrNameLst>
                                      </p:cBhvr>
                                      <p:to>
                                        <p:strVal val="visible"/>
                                      </p:to>
                                    </p:set>
                                    <p:animEffect transition="in" filter="fade">
                                      <p:cBhvr>
                                        <p:cTn id="71" dur="2000"/>
                                        <p:tgtEl>
                                          <p:spTgt spid="30"/>
                                        </p:tgtEl>
                                      </p:cBhvr>
                                    </p:animEffect>
                                  </p:childTnLst>
                                </p:cTn>
                              </p:par>
                              <p:par>
                                <p:cTn id="72" presetID="10" presetClass="entr" presetSubtype="0" fill="hold"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2000"/>
                                        <p:tgtEl>
                                          <p:spTgt spid="32"/>
                                        </p:tgtEl>
                                      </p:cBhvr>
                                    </p:animEffect>
                                  </p:childTnLst>
                                </p:cTn>
                              </p:par>
                              <p:par>
                                <p:cTn id="75" presetID="10" presetClass="entr" presetSubtype="0"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animEffect transition="in" filter="fade">
                                      <p:cBhvr>
                                        <p:cTn id="7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8" grpId="0"/>
      <p:bldP spid="20" grpId="0" build="allAtOnce"/>
      <p:bldP spid="21" grpId="0" build="allAtOnce"/>
      <p:bldP spid="22" grpId="0" build="allAtOnce"/>
      <p:bldP spid="23" grpId="0" build="allAtOnce"/>
      <p:bldP spid="25" grpId="0"/>
      <p:bldP spid="26" grpId="0"/>
      <p:bldP spid="27"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dirty="0" smtClean="0"/>
              <a:t>Hoeveel verschillende syllogismen zijn er eigenlijk?</a:t>
            </a:r>
          </a:p>
          <a:p>
            <a:r>
              <a:rPr lang="nl-NL" sz="2000" dirty="0" smtClean="0"/>
              <a:t>Hoe kunnen we systematisch geldige van ongeldige syllogismen onderscheiden? </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noProof="0" dirty="0" smtClean="0"/>
              <a:t>M</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noProof="0" dirty="0" smtClean="0"/>
              <a:t>M</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t>S</a:t>
            </a:r>
            <a:r>
              <a:rPr lang="nl-NL" sz="2000" i="1" dirty="0" err="1" smtClean="0"/>
              <a:t>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t>S</a:t>
            </a:r>
            <a:r>
              <a:rPr lang="nl-NL" sz="2000" i="1" dirty="0" err="1" smtClean="0"/>
              <a:t>aP</a:t>
            </a:r>
            <a:endParaRPr lang="nl-NL" sz="2000" i="1" dirty="0" smtClean="0"/>
          </a:p>
        </p:txBody>
      </p:sp>
      <p:sp>
        <p:nvSpPr>
          <p:cNvPr id="6" name="TextBox 5"/>
          <p:cNvSpPr txBox="1"/>
          <p:nvPr/>
        </p:nvSpPr>
        <p:spPr>
          <a:xfrm>
            <a:off x="3707904" y="2708920"/>
            <a:ext cx="4320480" cy="369332"/>
          </a:xfrm>
          <a:prstGeom prst="rect">
            <a:avLst/>
          </a:prstGeom>
          <a:noFill/>
        </p:spPr>
        <p:txBody>
          <a:bodyPr wrap="square" rtlCol="0">
            <a:spAutoFit/>
          </a:bodyPr>
          <a:lstStyle/>
          <a:p>
            <a:r>
              <a:rPr lang="nl-NL" b="1" dirty="0" smtClean="0"/>
              <a:t>S</a:t>
            </a:r>
            <a:r>
              <a:rPr lang="nl-NL" dirty="0" smtClean="0"/>
              <a:t> is de </a:t>
            </a:r>
            <a:r>
              <a:rPr lang="nl-NL" i="1" dirty="0" smtClean="0"/>
              <a:t>subjectterm</a:t>
            </a:r>
            <a:r>
              <a:rPr lang="nl-NL" dirty="0" smtClean="0"/>
              <a:t> van de conclusie</a:t>
            </a:r>
            <a:endParaRPr lang="nl-NL"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noProof="0" dirty="0" err="1" smtClean="0"/>
              <a:t>M</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a</a:t>
            </a:r>
            <a:r>
              <a:rPr lang="nl-NL" sz="2000" b="1" i="1" noProof="0" dirty="0" err="1" smtClean="0"/>
              <a:t>P</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a:t>
            </a:r>
            <a:r>
              <a:rPr lang="nl-NL" sz="2000" b="1" i="1" dirty="0" err="1" smtClean="0"/>
              <a:t>P</a:t>
            </a:r>
            <a:endParaRPr lang="nl-NL" sz="2000" b="1" i="1" dirty="0" smtClean="0"/>
          </a:p>
        </p:txBody>
      </p:sp>
      <p:sp>
        <p:nvSpPr>
          <p:cNvPr id="6" name="TextBox 5"/>
          <p:cNvSpPr txBox="1"/>
          <p:nvPr/>
        </p:nvSpPr>
        <p:spPr>
          <a:xfrm>
            <a:off x="3707904" y="2708920"/>
            <a:ext cx="4320480" cy="369332"/>
          </a:xfrm>
          <a:prstGeom prst="rect">
            <a:avLst/>
          </a:prstGeom>
          <a:noFill/>
        </p:spPr>
        <p:txBody>
          <a:bodyPr wrap="square" rtlCol="0">
            <a:spAutoFit/>
          </a:bodyPr>
          <a:lstStyle/>
          <a:p>
            <a:r>
              <a:rPr lang="nl-NL" b="1" dirty="0" smtClean="0"/>
              <a:t>S</a:t>
            </a:r>
            <a:r>
              <a:rPr lang="nl-NL" dirty="0" smtClean="0"/>
              <a:t> is de </a:t>
            </a:r>
            <a:r>
              <a:rPr lang="nl-NL" i="1" dirty="0" smtClean="0"/>
              <a:t>subjectterm</a:t>
            </a:r>
            <a:r>
              <a:rPr lang="nl-NL" dirty="0" smtClean="0"/>
              <a:t> van de conclusie</a:t>
            </a:r>
            <a:endParaRPr lang="nl-NL" dirty="0"/>
          </a:p>
        </p:txBody>
      </p:sp>
      <p:sp>
        <p:nvSpPr>
          <p:cNvPr id="7" name="TextBox 6"/>
          <p:cNvSpPr txBox="1"/>
          <p:nvPr/>
        </p:nvSpPr>
        <p:spPr>
          <a:xfrm>
            <a:off x="3707904" y="3059668"/>
            <a:ext cx="4320480" cy="369332"/>
          </a:xfrm>
          <a:prstGeom prst="rect">
            <a:avLst/>
          </a:prstGeom>
          <a:noFill/>
        </p:spPr>
        <p:txBody>
          <a:bodyPr wrap="square" rtlCol="0">
            <a:spAutoFit/>
          </a:bodyPr>
          <a:lstStyle/>
          <a:p>
            <a:r>
              <a:rPr lang="nl-NL" b="1" dirty="0" smtClean="0"/>
              <a:t>P</a:t>
            </a:r>
            <a:r>
              <a:rPr lang="nl-NL" dirty="0" smtClean="0"/>
              <a:t> is de </a:t>
            </a:r>
            <a:r>
              <a:rPr lang="nl-NL" i="1" dirty="0" err="1" smtClean="0"/>
              <a:t>predikaatterm</a:t>
            </a:r>
            <a:r>
              <a:rPr lang="nl-NL" dirty="0" smtClean="0"/>
              <a:t> van de conclusie</a:t>
            </a:r>
            <a:endParaRPr lang="nl-NL"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a</a:t>
            </a:r>
            <a:r>
              <a:rPr lang="nl-NL" sz="2000" i="1" dirty="0" smtClean="0"/>
              <a:t>P</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a:t>
            </a:r>
            <a:r>
              <a:rPr lang="nl-NL" sz="2000" b="1" i="1" dirty="0" err="1" smtClean="0"/>
              <a:t>M</a:t>
            </a:r>
            <a:endParaRPr lang="nl-NL" sz="2000" b="1"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6" name="TextBox 5"/>
          <p:cNvSpPr txBox="1"/>
          <p:nvPr/>
        </p:nvSpPr>
        <p:spPr>
          <a:xfrm>
            <a:off x="3707904" y="2708920"/>
            <a:ext cx="4320480" cy="369332"/>
          </a:xfrm>
          <a:prstGeom prst="rect">
            <a:avLst/>
          </a:prstGeom>
          <a:noFill/>
        </p:spPr>
        <p:txBody>
          <a:bodyPr wrap="square" rtlCol="0">
            <a:spAutoFit/>
          </a:bodyPr>
          <a:lstStyle/>
          <a:p>
            <a:r>
              <a:rPr lang="nl-NL" b="1" dirty="0" smtClean="0"/>
              <a:t>S</a:t>
            </a:r>
            <a:r>
              <a:rPr lang="nl-NL" dirty="0" smtClean="0"/>
              <a:t> is de </a:t>
            </a:r>
            <a:r>
              <a:rPr lang="nl-NL" i="1" dirty="0" smtClean="0"/>
              <a:t>subjectterm</a:t>
            </a:r>
            <a:r>
              <a:rPr lang="nl-NL" dirty="0" smtClean="0"/>
              <a:t> van de conclusie</a:t>
            </a:r>
            <a:endParaRPr lang="nl-NL" dirty="0"/>
          </a:p>
        </p:txBody>
      </p:sp>
      <p:sp>
        <p:nvSpPr>
          <p:cNvPr id="7" name="TextBox 6"/>
          <p:cNvSpPr txBox="1"/>
          <p:nvPr/>
        </p:nvSpPr>
        <p:spPr>
          <a:xfrm>
            <a:off x="3707904" y="3059668"/>
            <a:ext cx="4320480" cy="369332"/>
          </a:xfrm>
          <a:prstGeom prst="rect">
            <a:avLst/>
          </a:prstGeom>
          <a:noFill/>
        </p:spPr>
        <p:txBody>
          <a:bodyPr wrap="square" rtlCol="0">
            <a:spAutoFit/>
          </a:bodyPr>
          <a:lstStyle/>
          <a:p>
            <a:r>
              <a:rPr lang="nl-NL" b="1" dirty="0" smtClean="0"/>
              <a:t>P</a:t>
            </a:r>
            <a:r>
              <a:rPr lang="nl-NL" dirty="0" smtClean="0"/>
              <a:t> is de </a:t>
            </a:r>
            <a:r>
              <a:rPr lang="nl-NL" i="1" dirty="0" err="1" smtClean="0"/>
              <a:t>predikaatterm</a:t>
            </a:r>
            <a:r>
              <a:rPr lang="nl-NL" dirty="0" smtClean="0"/>
              <a:t> van de conclusie</a:t>
            </a:r>
            <a:endParaRPr lang="nl-NL"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07904" y="3429000"/>
            <a:ext cx="4320480" cy="646331"/>
          </a:xfrm>
          <a:prstGeom prst="rect">
            <a:avLst/>
          </a:prstGeom>
          <a:noFill/>
        </p:spPr>
        <p:txBody>
          <a:bodyPr wrap="square" rtlCol="0">
            <a:spAutoFit/>
          </a:bodyPr>
          <a:lstStyle/>
          <a:p>
            <a:r>
              <a:rPr lang="nl-NL" b="1" dirty="0" smtClean="0"/>
              <a:t>M</a:t>
            </a:r>
            <a:r>
              <a:rPr lang="nl-NL" dirty="0" smtClean="0"/>
              <a:t> is de </a:t>
            </a:r>
            <a:r>
              <a:rPr lang="nl-NL" i="1" dirty="0" smtClean="0"/>
              <a:t>middenterm</a:t>
            </a:r>
            <a:r>
              <a:rPr lang="nl-NL" dirty="0" smtClean="0"/>
              <a:t> (de term die niet in de conclusie van het syllogisme optreedt)</a:t>
            </a:r>
            <a:endParaRPr lang="nl-NL"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t>SaM</a:t>
            </a:r>
            <a:endParaRPr lang="nl-NL" sz="2000" b="1"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6" name="TextBox 5"/>
          <p:cNvSpPr txBox="1"/>
          <p:nvPr/>
        </p:nvSpPr>
        <p:spPr>
          <a:xfrm>
            <a:off x="3707904" y="2708920"/>
            <a:ext cx="4320480" cy="369332"/>
          </a:xfrm>
          <a:prstGeom prst="rect">
            <a:avLst/>
          </a:prstGeom>
          <a:noFill/>
        </p:spPr>
        <p:txBody>
          <a:bodyPr wrap="square" rtlCol="0">
            <a:spAutoFit/>
          </a:bodyPr>
          <a:lstStyle/>
          <a:p>
            <a:r>
              <a:rPr lang="nl-NL" b="1" dirty="0" smtClean="0"/>
              <a:t>S</a:t>
            </a:r>
            <a:r>
              <a:rPr lang="nl-NL" dirty="0" smtClean="0"/>
              <a:t> is de </a:t>
            </a:r>
            <a:r>
              <a:rPr lang="nl-NL" i="1" dirty="0" smtClean="0"/>
              <a:t>subjectterm</a:t>
            </a:r>
            <a:r>
              <a:rPr lang="nl-NL" dirty="0" smtClean="0"/>
              <a:t> van de conclusie</a:t>
            </a:r>
            <a:endParaRPr lang="nl-NL" dirty="0"/>
          </a:p>
        </p:txBody>
      </p:sp>
      <p:sp>
        <p:nvSpPr>
          <p:cNvPr id="7" name="TextBox 6"/>
          <p:cNvSpPr txBox="1"/>
          <p:nvPr/>
        </p:nvSpPr>
        <p:spPr>
          <a:xfrm>
            <a:off x="3707904" y="3059668"/>
            <a:ext cx="4320480" cy="369332"/>
          </a:xfrm>
          <a:prstGeom prst="rect">
            <a:avLst/>
          </a:prstGeom>
          <a:noFill/>
        </p:spPr>
        <p:txBody>
          <a:bodyPr wrap="square" rtlCol="0">
            <a:spAutoFit/>
          </a:bodyPr>
          <a:lstStyle/>
          <a:p>
            <a:r>
              <a:rPr lang="nl-NL" b="1" dirty="0" smtClean="0"/>
              <a:t>P</a:t>
            </a:r>
            <a:r>
              <a:rPr lang="nl-NL" dirty="0" smtClean="0"/>
              <a:t> is de </a:t>
            </a:r>
            <a:r>
              <a:rPr lang="nl-NL" i="1" dirty="0" err="1" smtClean="0"/>
              <a:t>predikaatterm</a:t>
            </a:r>
            <a:r>
              <a:rPr lang="nl-NL" dirty="0" smtClean="0"/>
              <a:t> van de conclusie</a:t>
            </a:r>
            <a:endParaRPr lang="nl-NL"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07904" y="3429000"/>
            <a:ext cx="4320480" cy="646331"/>
          </a:xfrm>
          <a:prstGeom prst="rect">
            <a:avLst/>
          </a:prstGeom>
          <a:noFill/>
        </p:spPr>
        <p:txBody>
          <a:bodyPr wrap="square" rtlCol="0">
            <a:spAutoFit/>
          </a:bodyPr>
          <a:lstStyle/>
          <a:p>
            <a:r>
              <a:rPr lang="nl-NL" b="1" dirty="0" smtClean="0"/>
              <a:t>M</a:t>
            </a:r>
            <a:r>
              <a:rPr lang="nl-NL" dirty="0" smtClean="0"/>
              <a:t> is de </a:t>
            </a:r>
            <a:r>
              <a:rPr lang="nl-NL" i="1" dirty="0" smtClean="0"/>
              <a:t>middenterm</a:t>
            </a:r>
            <a:r>
              <a:rPr lang="nl-NL" dirty="0" smtClean="0"/>
              <a:t> (de term die niet in de conclusie van het syllogisme optreedt)</a:t>
            </a:r>
            <a:endParaRPr lang="nl-NL" dirty="0"/>
          </a:p>
        </p:txBody>
      </p:sp>
      <p:sp>
        <p:nvSpPr>
          <p:cNvPr id="10" name="TextBox 9"/>
          <p:cNvSpPr txBox="1"/>
          <p:nvPr/>
        </p:nvSpPr>
        <p:spPr>
          <a:xfrm>
            <a:off x="3707904" y="4077072"/>
            <a:ext cx="5112568" cy="646331"/>
          </a:xfrm>
          <a:prstGeom prst="rect">
            <a:avLst/>
          </a:prstGeom>
          <a:noFill/>
        </p:spPr>
        <p:txBody>
          <a:bodyPr wrap="square" rtlCol="0">
            <a:spAutoFit/>
          </a:bodyPr>
          <a:lstStyle/>
          <a:p>
            <a:r>
              <a:rPr lang="nl-NL" b="1" i="1" dirty="0" err="1" smtClean="0"/>
              <a:t>SaM</a:t>
            </a:r>
            <a:r>
              <a:rPr lang="nl-NL" dirty="0" smtClean="0"/>
              <a:t> is de </a:t>
            </a:r>
            <a:r>
              <a:rPr lang="nl-NL" i="1" dirty="0" smtClean="0"/>
              <a:t>minor</a:t>
            </a:r>
            <a:r>
              <a:rPr lang="nl-NL" dirty="0" smtClean="0"/>
              <a:t> (de premisse waarin de subject term optreedt)</a:t>
            </a:r>
            <a:endParaRPr lang="nl-NL"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1" i="1" u="none" strike="noStrike" kern="1200" cap="none" spc="0" normalizeH="0" noProof="0" dirty="0" err="1" smtClean="0">
                <a:ln>
                  <a:noFill/>
                </a:ln>
                <a:solidFill>
                  <a:schemeClr val="tx1"/>
                </a:solidFill>
                <a:effectLst/>
                <a:uLnTx/>
                <a:uFillTx/>
                <a:latin typeface="+mn-lt"/>
                <a:ea typeface="+mn-ea"/>
                <a:cs typeface="+mn-cs"/>
              </a:rPr>
              <a:t>MaP</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6" name="TextBox 5"/>
          <p:cNvSpPr txBox="1"/>
          <p:nvPr/>
        </p:nvSpPr>
        <p:spPr>
          <a:xfrm>
            <a:off x="3707904" y="2708920"/>
            <a:ext cx="4320480" cy="369332"/>
          </a:xfrm>
          <a:prstGeom prst="rect">
            <a:avLst/>
          </a:prstGeom>
          <a:noFill/>
        </p:spPr>
        <p:txBody>
          <a:bodyPr wrap="square" rtlCol="0">
            <a:spAutoFit/>
          </a:bodyPr>
          <a:lstStyle/>
          <a:p>
            <a:r>
              <a:rPr lang="nl-NL" b="1" dirty="0" smtClean="0"/>
              <a:t>S</a:t>
            </a:r>
            <a:r>
              <a:rPr lang="nl-NL" dirty="0" smtClean="0"/>
              <a:t> is de </a:t>
            </a:r>
            <a:r>
              <a:rPr lang="nl-NL" i="1" dirty="0" smtClean="0"/>
              <a:t>subjectterm</a:t>
            </a:r>
            <a:r>
              <a:rPr lang="nl-NL" dirty="0" smtClean="0"/>
              <a:t> van de conclusie</a:t>
            </a:r>
            <a:endParaRPr lang="nl-NL" dirty="0"/>
          </a:p>
        </p:txBody>
      </p:sp>
      <p:sp>
        <p:nvSpPr>
          <p:cNvPr id="7" name="TextBox 6"/>
          <p:cNvSpPr txBox="1"/>
          <p:nvPr/>
        </p:nvSpPr>
        <p:spPr>
          <a:xfrm>
            <a:off x="3707904" y="3059668"/>
            <a:ext cx="4320480" cy="369332"/>
          </a:xfrm>
          <a:prstGeom prst="rect">
            <a:avLst/>
          </a:prstGeom>
          <a:noFill/>
        </p:spPr>
        <p:txBody>
          <a:bodyPr wrap="square" rtlCol="0">
            <a:spAutoFit/>
          </a:bodyPr>
          <a:lstStyle/>
          <a:p>
            <a:r>
              <a:rPr lang="nl-NL" b="1" dirty="0" smtClean="0"/>
              <a:t>P</a:t>
            </a:r>
            <a:r>
              <a:rPr lang="nl-NL" dirty="0" smtClean="0"/>
              <a:t> is de </a:t>
            </a:r>
            <a:r>
              <a:rPr lang="nl-NL" i="1" dirty="0" err="1" smtClean="0"/>
              <a:t>predikaatterm</a:t>
            </a:r>
            <a:r>
              <a:rPr lang="nl-NL" dirty="0" smtClean="0"/>
              <a:t> van de conclusie</a:t>
            </a:r>
            <a:endParaRPr lang="nl-NL"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07904" y="3429000"/>
            <a:ext cx="4320480" cy="646331"/>
          </a:xfrm>
          <a:prstGeom prst="rect">
            <a:avLst/>
          </a:prstGeom>
          <a:noFill/>
        </p:spPr>
        <p:txBody>
          <a:bodyPr wrap="square" rtlCol="0">
            <a:spAutoFit/>
          </a:bodyPr>
          <a:lstStyle/>
          <a:p>
            <a:r>
              <a:rPr lang="nl-NL" b="1" dirty="0" smtClean="0"/>
              <a:t>M</a:t>
            </a:r>
            <a:r>
              <a:rPr lang="nl-NL" dirty="0" smtClean="0"/>
              <a:t> is de </a:t>
            </a:r>
            <a:r>
              <a:rPr lang="nl-NL" i="1" dirty="0" smtClean="0"/>
              <a:t>middenterm</a:t>
            </a:r>
            <a:r>
              <a:rPr lang="nl-NL" dirty="0" smtClean="0"/>
              <a:t> (de term die niet in de conclusie van het syllogisme optreedt)</a:t>
            </a:r>
            <a:endParaRPr lang="nl-NL" dirty="0"/>
          </a:p>
        </p:txBody>
      </p:sp>
      <p:sp>
        <p:nvSpPr>
          <p:cNvPr id="10" name="TextBox 9"/>
          <p:cNvSpPr txBox="1"/>
          <p:nvPr/>
        </p:nvSpPr>
        <p:spPr>
          <a:xfrm>
            <a:off x="3707904" y="4077072"/>
            <a:ext cx="5112568" cy="646331"/>
          </a:xfrm>
          <a:prstGeom prst="rect">
            <a:avLst/>
          </a:prstGeom>
          <a:noFill/>
        </p:spPr>
        <p:txBody>
          <a:bodyPr wrap="square" rtlCol="0">
            <a:spAutoFit/>
          </a:bodyPr>
          <a:lstStyle/>
          <a:p>
            <a:r>
              <a:rPr lang="nl-NL" b="1" i="1" dirty="0" err="1" smtClean="0"/>
              <a:t>SaM</a:t>
            </a:r>
            <a:r>
              <a:rPr lang="nl-NL" dirty="0" smtClean="0"/>
              <a:t> is de </a:t>
            </a:r>
            <a:r>
              <a:rPr lang="nl-NL" i="1" dirty="0" smtClean="0"/>
              <a:t>minor</a:t>
            </a:r>
            <a:r>
              <a:rPr lang="nl-NL" dirty="0" smtClean="0"/>
              <a:t> (de premisse waarin de subject term optreedt)</a:t>
            </a:r>
            <a:endParaRPr lang="nl-NL" dirty="0"/>
          </a:p>
        </p:txBody>
      </p:sp>
      <p:sp>
        <p:nvSpPr>
          <p:cNvPr id="11" name="TextBox 10"/>
          <p:cNvSpPr txBox="1"/>
          <p:nvPr/>
        </p:nvSpPr>
        <p:spPr>
          <a:xfrm>
            <a:off x="3707904" y="4726885"/>
            <a:ext cx="5112568" cy="646331"/>
          </a:xfrm>
          <a:prstGeom prst="rect">
            <a:avLst/>
          </a:prstGeom>
          <a:noFill/>
        </p:spPr>
        <p:txBody>
          <a:bodyPr wrap="square" rtlCol="0">
            <a:spAutoFit/>
          </a:bodyPr>
          <a:lstStyle/>
          <a:p>
            <a:r>
              <a:rPr lang="nl-NL" b="1" i="1" dirty="0" err="1" smtClean="0"/>
              <a:t>MaP</a:t>
            </a:r>
            <a:r>
              <a:rPr lang="nl-NL" dirty="0" smtClean="0"/>
              <a:t> is de </a:t>
            </a:r>
            <a:r>
              <a:rPr lang="nl-NL" i="1" dirty="0" smtClean="0"/>
              <a:t>major</a:t>
            </a:r>
            <a:r>
              <a:rPr lang="nl-NL" dirty="0" smtClean="0"/>
              <a:t> (de premisse waarin de </a:t>
            </a:r>
            <a:r>
              <a:rPr lang="nl-NL" dirty="0" err="1" smtClean="0"/>
              <a:t>predikaat</a:t>
            </a:r>
            <a:r>
              <a:rPr lang="nl-NL" dirty="0" smtClean="0"/>
              <a:t> term optreedt)</a:t>
            </a:r>
            <a:endParaRPr lang="nl-NL"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Syllogismen</a:t>
            </a:r>
            <a:endParaRPr lang="nl-NL" sz="3600" dirty="0"/>
          </a:p>
        </p:txBody>
      </p:sp>
      <p:sp>
        <p:nvSpPr>
          <p:cNvPr id="19" name="Content Placeholder 2"/>
          <p:cNvSpPr>
            <a:spLocks noGrp="1"/>
          </p:cNvSpPr>
          <p:nvPr>
            <p:ph idx="1"/>
          </p:nvPr>
        </p:nvSpPr>
        <p:spPr>
          <a:xfrm>
            <a:off x="251520" y="1384177"/>
            <a:ext cx="8939336" cy="1108720"/>
          </a:xfrm>
        </p:spPr>
        <p:txBody>
          <a:bodyPr>
            <a:noAutofit/>
          </a:bodyPr>
          <a:lstStyle/>
          <a:p>
            <a:r>
              <a:rPr lang="nl-NL" sz="2000" b="1" dirty="0" smtClean="0"/>
              <a:t>Hoeveel verschillende syllogismen zijn er eigenlijk?</a:t>
            </a:r>
          </a:p>
          <a:p>
            <a:r>
              <a:rPr lang="nl-NL" sz="2000" dirty="0" smtClean="0"/>
              <a:t>Hoe kunnen we systematisch geldige van ongeldige syllogismen onderscheiden? </a:t>
            </a:r>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noProof="0" dirty="0" smtClean="0"/>
              <a:t>M</a:t>
            </a:r>
            <a:r>
              <a:rPr kumimoji="0" lang="nl-NL" sz="2000" b="1" i="1" u="none" strike="noStrike" kern="1200" cap="none" spc="0" normalizeH="0" baseline="0" noProof="0" dirty="0" smtClean="0">
                <a:ln>
                  <a:noFill/>
                </a:ln>
                <a:solidFill>
                  <a:schemeClr val="tx1"/>
                </a:solidFill>
                <a:effectLst/>
                <a:uLnTx/>
                <a:uFillTx/>
                <a:latin typeface="+mn-lt"/>
                <a:ea typeface="+mn-ea"/>
                <a:cs typeface="+mn-cs"/>
              </a:rPr>
              <a:t>a</a:t>
            </a:r>
            <a:r>
              <a:rPr lang="nl-NL" sz="2000" b="1" i="1" dirty="0" smtClean="0"/>
              <a:t>P</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t>SaM</a:t>
            </a:r>
            <a:endParaRPr lang="nl-NL" sz="2000" b="1"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6" name="TextBox 5"/>
          <p:cNvSpPr txBox="1"/>
          <p:nvPr/>
        </p:nvSpPr>
        <p:spPr>
          <a:xfrm>
            <a:off x="3707904" y="2708920"/>
            <a:ext cx="4320480" cy="369332"/>
          </a:xfrm>
          <a:prstGeom prst="rect">
            <a:avLst/>
          </a:prstGeom>
          <a:noFill/>
        </p:spPr>
        <p:txBody>
          <a:bodyPr wrap="square" rtlCol="0">
            <a:spAutoFit/>
          </a:bodyPr>
          <a:lstStyle/>
          <a:p>
            <a:r>
              <a:rPr lang="nl-NL" b="1" dirty="0" smtClean="0"/>
              <a:t>S</a:t>
            </a:r>
            <a:r>
              <a:rPr lang="nl-NL" dirty="0" smtClean="0"/>
              <a:t> is de </a:t>
            </a:r>
            <a:r>
              <a:rPr lang="nl-NL" i="1" dirty="0" smtClean="0"/>
              <a:t>subjectterm</a:t>
            </a:r>
            <a:r>
              <a:rPr lang="nl-NL" dirty="0" smtClean="0"/>
              <a:t> van de conclusie</a:t>
            </a:r>
            <a:endParaRPr lang="nl-NL" dirty="0"/>
          </a:p>
        </p:txBody>
      </p:sp>
      <p:sp>
        <p:nvSpPr>
          <p:cNvPr id="7" name="TextBox 6"/>
          <p:cNvSpPr txBox="1"/>
          <p:nvPr/>
        </p:nvSpPr>
        <p:spPr>
          <a:xfrm>
            <a:off x="3707904" y="3059668"/>
            <a:ext cx="4320480" cy="369332"/>
          </a:xfrm>
          <a:prstGeom prst="rect">
            <a:avLst/>
          </a:prstGeom>
          <a:noFill/>
        </p:spPr>
        <p:txBody>
          <a:bodyPr wrap="square" rtlCol="0">
            <a:spAutoFit/>
          </a:bodyPr>
          <a:lstStyle/>
          <a:p>
            <a:r>
              <a:rPr lang="nl-NL" b="1" dirty="0" smtClean="0"/>
              <a:t>P</a:t>
            </a:r>
            <a:r>
              <a:rPr lang="nl-NL" dirty="0" smtClean="0"/>
              <a:t> is de </a:t>
            </a:r>
            <a:r>
              <a:rPr lang="nl-NL" i="1" dirty="0" err="1" smtClean="0"/>
              <a:t>predikaatterm</a:t>
            </a:r>
            <a:r>
              <a:rPr lang="nl-NL" dirty="0" smtClean="0"/>
              <a:t> van de conclusie</a:t>
            </a:r>
            <a:endParaRPr lang="nl-NL"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707904" y="3429000"/>
            <a:ext cx="4320480" cy="646331"/>
          </a:xfrm>
          <a:prstGeom prst="rect">
            <a:avLst/>
          </a:prstGeom>
          <a:noFill/>
        </p:spPr>
        <p:txBody>
          <a:bodyPr wrap="square" rtlCol="0">
            <a:spAutoFit/>
          </a:bodyPr>
          <a:lstStyle/>
          <a:p>
            <a:r>
              <a:rPr lang="nl-NL" b="1" dirty="0" smtClean="0"/>
              <a:t>M</a:t>
            </a:r>
            <a:r>
              <a:rPr lang="nl-NL" dirty="0" smtClean="0"/>
              <a:t> is de </a:t>
            </a:r>
            <a:r>
              <a:rPr lang="nl-NL" i="1" dirty="0" smtClean="0"/>
              <a:t>middenterm</a:t>
            </a:r>
            <a:r>
              <a:rPr lang="nl-NL" dirty="0" smtClean="0"/>
              <a:t> (de term die niet in de conclusie van het syllogisme optreedt)</a:t>
            </a:r>
            <a:endParaRPr lang="nl-NL" dirty="0"/>
          </a:p>
        </p:txBody>
      </p:sp>
      <p:sp>
        <p:nvSpPr>
          <p:cNvPr id="10" name="TextBox 9"/>
          <p:cNvSpPr txBox="1"/>
          <p:nvPr/>
        </p:nvSpPr>
        <p:spPr>
          <a:xfrm>
            <a:off x="3707904" y="4077072"/>
            <a:ext cx="5112568" cy="646331"/>
          </a:xfrm>
          <a:prstGeom prst="rect">
            <a:avLst/>
          </a:prstGeom>
          <a:noFill/>
        </p:spPr>
        <p:txBody>
          <a:bodyPr wrap="square" rtlCol="0">
            <a:spAutoFit/>
          </a:bodyPr>
          <a:lstStyle/>
          <a:p>
            <a:r>
              <a:rPr lang="nl-NL" b="1" i="1" dirty="0" err="1" smtClean="0"/>
              <a:t>SaM</a:t>
            </a:r>
            <a:r>
              <a:rPr lang="nl-NL" dirty="0" smtClean="0"/>
              <a:t> is de </a:t>
            </a:r>
            <a:r>
              <a:rPr lang="nl-NL" i="1" dirty="0" smtClean="0"/>
              <a:t>minor</a:t>
            </a:r>
            <a:r>
              <a:rPr lang="nl-NL" dirty="0" smtClean="0"/>
              <a:t> (de premisse waarin de subject term optreedt)</a:t>
            </a:r>
            <a:endParaRPr lang="nl-NL" dirty="0"/>
          </a:p>
        </p:txBody>
      </p:sp>
      <p:sp>
        <p:nvSpPr>
          <p:cNvPr id="11" name="TextBox 10"/>
          <p:cNvSpPr txBox="1"/>
          <p:nvPr/>
        </p:nvSpPr>
        <p:spPr>
          <a:xfrm>
            <a:off x="3707904" y="4726885"/>
            <a:ext cx="5112568" cy="646331"/>
          </a:xfrm>
          <a:prstGeom prst="rect">
            <a:avLst/>
          </a:prstGeom>
          <a:noFill/>
        </p:spPr>
        <p:txBody>
          <a:bodyPr wrap="square" rtlCol="0">
            <a:spAutoFit/>
          </a:bodyPr>
          <a:lstStyle/>
          <a:p>
            <a:r>
              <a:rPr lang="nl-NL" b="1" i="1" dirty="0" err="1" smtClean="0"/>
              <a:t>MaP</a:t>
            </a:r>
            <a:r>
              <a:rPr lang="nl-NL" dirty="0" smtClean="0"/>
              <a:t> is de </a:t>
            </a:r>
            <a:r>
              <a:rPr lang="nl-NL" i="1" dirty="0" smtClean="0"/>
              <a:t>major</a:t>
            </a:r>
            <a:r>
              <a:rPr lang="nl-NL" dirty="0" smtClean="0"/>
              <a:t> (de premisse waarin de </a:t>
            </a:r>
            <a:r>
              <a:rPr lang="nl-NL" dirty="0" err="1" smtClean="0"/>
              <a:t>predikaat</a:t>
            </a:r>
            <a:r>
              <a:rPr lang="nl-NL" dirty="0" smtClean="0"/>
              <a:t> term optreedt)</a:t>
            </a:r>
            <a:endParaRPr lang="nl-NL" dirty="0"/>
          </a:p>
        </p:txBody>
      </p:sp>
      <p:sp>
        <p:nvSpPr>
          <p:cNvPr id="12" name="TextBox 11"/>
          <p:cNvSpPr txBox="1"/>
          <p:nvPr/>
        </p:nvSpPr>
        <p:spPr>
          <a:xfrm>
            <a:off x="3707904" y="5374957"/>
            <a:ext cx="5112568" cy="369332"/>
          </a:xfrm>
          <a:prstGeom prst="rect">
            <a:avLst/>
          </a:prstGeom>
          <a:noFill/>
        </p:spPr>
        <p:txBody>
          <a:bodyPr wrap="square" rtlCol="0">
            <a:spAutoFit/>
          </a:bodyPr>
          <a:lstStyle/>
          <a:p>
            <a:r>
              <a:rPr lang="nl-NL" dirty="0" smtClean="0"/>
              <a:t>De </a:t>
            </a:r>
            <a:r>
              <a:rPr lang="nl-NL" i="1" dirty="0" smtClean="0"/>
              <a:t>major</a:t>
            </a:r>
            <a:r>
              <a:rPr lang="nl-NL" dirty="0" smtClean="0"/>
              <a:t> wordt altijd genoteerd </a:t>
            </a:r>
            <a:r>
              <a:rPr lang="nl-NL" u="sng" dirty="0" smtClean="0"/>
              <a:t>boven</a:t>
            </a:r>
            <a:r>
              <a:rPr lang="nl-NL" dirty="0" smtClean="0"/>
              <a:t> de </a:t>
            </a:r>
            <a:r>
              <a:rPr lang="nl-NL" i="1" dirty="0" smtClean="0"/>
              <a:t>minor</a:t>
            </a:r>
            <a:endParaRPr lang="nl-NL" i="1"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5" name="Content Placeholder 2"/>
          <p:cNvSpPr txBox="1">
            <a:spLocks/>
          </p:cNvSpPr>
          <p:nvPr/>
        </p:nvSpPr>
        <p:spPr>
          <a:xfrm>
            <a:off x="971600" y="2780928"/>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a</a:t>
            </a:r>
            <a:r>
              <a:rPr lang="nl-NL" sz="2000" i="1" noProof="0" dirty="0" err="1" smtClean="0"/>
              <a:t>P</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6" name="TextBox 5"/>
          <p:cNvSpPr txBox="1"/>
          <p:nvPr/>
        </p:nvSpPr>
        <p:spPr>
          <a:xfrm>
            <a:off x="3707904" y="2708920"/>
            <a:ext cx="4320480" cy="646331"/>
          </a:xfrm>
          <a:prstGeom prst="rect">
            <a:avLst/>
          </a:prstGeom>
          <a:noFill/>
        </p:spPr>
        <p:txBody>
          <a:bodyPr wrap="square" rtlCol="0">
            <a:spAutoFit/>
          </a:bodyPr>
          <a:lstStyle/>
          <a:p>
            <a:r>
              <a:rPr lang="nl-NL" dirty="0" smtClean="0"/>
              <a:t>Iedere redeneervorm heeft een </a:t>
            </a:r>
            <a:r>
              <a:rPr lang="nl-NL" i="1" dirty="0" smtClean="0"/>
              <a:t>modus</a:t>
            </a:r>
            <a:r>
              <a:rPr lang="nl-NL" dirty="0" smtClean="0"/>
              <a:t>. De modus van de redenering hiernaast is </a:t>
            </a:r>
            <a:r>
              <a:rPr lang="nl-NL" b="1" dirty="0" smtClean="0"/>
              <a:t>AAA</a:t>
            </a:r>
            <a:endParaRPr lang="nl-NL" b="1" dirty="0"/>
          </a:p>
        </p:txBody>
      </p:sp>
      <p:cxnSp>
        <p:nvCxnSpPr>
          <p:cNvPr id="8" name="Straight Connector 7"/>
          <p:cNvCxnSpPr/>
          <p:nvPr/>
        </p:nvCxnSpPr>
        <p:spPr>
          <a:xfrm>
            <a:off x="971600" y="3573016"/>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707904" y="3419708"/>
            <a:ext cx="4608512" cy="369332"/>
          </a:xfrm>
          <a:prstGeom prst="rect">
            <a:avLst/>
          </a:prstGeom>
          <a:noFill/>
        </p:spPr>
        <p:txBody>
          <a:bodyPr wrap="square" rtlCol="0">
            <a:spAutoFit/>
          </a:bodyPr>
          <a:lstStyle/>
          <a:p>
            <a:r>
              <a:rPr lang="nl-NL" dirty="0" smtClean="0"/>
              <a:t>Er zijn in totaal 4 x 4 x 4 = 64 modi. Waarom?</a:t>
            </a:r>
            <a:endParaRPr lang="nl-NL" dirty="0"/>
          </a:p>
        </p:txBody>
      </p:sp>
      <p:sp>
        <p:nvSpPr>
          <p:cNvPr id="14" name="Content Placeholder 2"/>
          <p:cNvSpPr txBox="1">
            <a:spLocks/>
          </p:cNvSpPr>
          <p:nvPr/>
        </p:nvSpPr>
        <p:spPr>
          <a:xfrm>
            <a:off x="971600" y="436510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5" name="Content Placeholder 2"/>
          <p:cNvSpPr txBox="1">
            <a:spLocks/>
          </p:cNvSpPr>
          <p:nvPr/>
        </p:nvSpPr>
        <p:spPr>
          <a:xfrm>
            <a:off x="3707904" y="429309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Modus = </a:t>
            </a:r>
            <a:r>
              <a:rPr lang="nl-NL" sz="2000" b="1" dirty="0" smtClean="0"/>
              <a:t>IAI</a:t>
            </a:r>
          </a:p>
        </p:txBody>
      </p:sp>
      <p:cxnSp>
        <p:nvCxnSpPr>
          <p:cNvPr id="16" name="Straight Connector 15"/>
          <p:cNvCxnSpPr/>
          <p:nvPr/>
        </p:nvCxnSpPr>
        <p:spPr>
          <a:xfrm>
            <a:off x="971600" y="5157192"/>
            <a:ext cx="5760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0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2000"/>
                                        <p:tgtEl>
                                          <p:spTgt spid="1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fade">
                                      <p:cBhvr>
                                        <p:cTn id="20"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P spid="14" grpId="0"/>
      <p:bldP spid="15" grpId="0" build="allAtOnce"/>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19" name="Content Placeholder 2"/>
          <p:cNvSpPr>
            <a:spLocks noGrp="1"/>
          </p:cNvSpPr>
          <p:nvPr>
            <p:ph idx="1"/>
          </p:nvPr>
        </p:nvSpPr>
        <p:spPr>
          <a:xfrm>
            <a:off x="457200" y="1384177"/>
            <a:ext cx="8686800" cy="1108720"/>
          </a:xfrm>
        </p:spPr>
        <p:txBody>
          <a:bodyPr>
            <a:noAutofit/>
          </a:bodyPr>
          <a:lstStyle/>
          <a:p>
            <a:r>
              <a:rPr lang="nl-NL" sz="2000" dirty="0" smtClean="0"/>
              <a:t>Bij ieder syllogisme hoort precies één modus. Maar </a:t>
            </a:r>
            <a:r>
              <a:rPr lang="nl-NL" sz="2000" u="sng" dirty="0" smtClean="0"/>
              <a:t>verschillende</a:t>
            </a:r>
            <a:r>
              <a:rPr lang="nl-NL" sz="2000" dirty="0" smtClean="0"/>
              <a:t>                  syllogismen kunnen </a:t>
            </a:r>
            <a:r>
              <a:rPr lang="nl-NL" sz="2000" u="sng" dirty="0" smtClean="0"/>
              <a:t>dezelfde</a:t>
            </a:r>
            <a:r>
              <a:rPr lang="nl-NL" sz="2000" dirty="0" smtClean="0"/>
              <a:t> modus hebben.</a:t>
            </a:r>
          </a:p>
        </p:txBody>
      </p:sp>
      <p:sp>
        <p:nvSpPr>
          <p:cNvPr id="15" name="Content Placeholder 2"/>
          <p:cNvSpPr txBox="1">
            <a:spLocks/>
          </p:cNvSpPr>
          <p:nvPr/>
        </p:nvSpPr>
        <p:spPr>
          <a:xfrm>
            <a:off x="781744"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6" name="Content Placeholder 2"/>
          <p:cNvSpPr txBox="1">
            <a:spLocks/>
          </p:cNvSpPr>
          <p:nvPr/>
        </p:nvSpPr>
        <p:spPr>
          <a:xfrm>
            <a:off x="2699792"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PiM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7" name="Content Placeholder 2"/>
          <p:cNvSpPr txBox="1">
            <a:spLocks/>
          </p:cNvSpPr>
          <p:nvPr/>
        </p:nvSpPr>
        <p:spPr>
          <a:xfrm>
            <a:off x="4670176"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8" name="Content Placeholder 2"/>
          <p:cNvSpPr txBox="1">
            <a:spLocks/>
          </p:cNvSpPr>
          <p:nvPr/>
        </p:nvSpPr>
        <p:spPr>
          <a:xfrm>
            <a:off x="6542384" y="250770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PiM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20" name="Content Placeholder 2"/>
          <p:cNvSpPr txBox="1">
            <a:spLocks/>
          </p:cNvSpPr>
          <p:nvPr/>
        </p:nvSpPr>
        <p:spPr>
          <a:xfrm>
            <a:off x="421704" y="4120481"/>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Modus = </a:t>
            </a:r>
            <a:r>
              <a:rPr lang="nl-NL" sz="2000" b="1" dirty="0" smtClean="0"/>
              <a:t>IAI</a:t>
            </a:r>
          </a:p>
        </p:txBody>
      </p:sp>
      <p:sp>
        <p:nvSpPr>
          <p:cNvPr id="22" name="Content Placeholder 2"/>
          <p:cNvSpPr txBox="1">
            <a:spLocks/>
          </p:cNvSpPr>
          <p:nvPr/>
        </p:nvSpPr>
        <p:spPr>
          <a:xfrm>
            <a:off x="2339752" y="4077072"/>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Modus = </a:t>
            </a:r>
            <a:r>
              <a:rPr lang="nl-NL" sz="2000" b="1" dirty="0" smtClean="0"/>
              <a:t>IAI</a:t>
            </a:r>
          </a:p>
        </p:txBody>
      </p:sp>
      <p:sp>
        <p:nvSpPr>
          <p:cNvPr id="23" name="Content Placeholder 2"/>
          <p:cNvSpPr txBox="1">
            <a:spLocks/>
          </p:cNvSpPr>
          <p:nvPr/>
        </p:nvSpPr>
        <p:spPr>
          <a:xfrm>
            <a:off x="4310136" y="4077072"/>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Modus = </a:t>
            </a:r>
            <a:r>
              <a:rPr lang="nl-NL" sz="2000" b="1" dirty="0" smtClean="0"/>
              <a:t>IAI</a:t>
            </a:r>
          </a:p>
        </p:txBody>
      </p:sp>
      <p:sp>
        <p:nvSpPr>
          <p:cNvPr id="24" name="Content Placeholder 2"/>
          <p:cNvSpPr txBox="1">
            <a:spLocks/>
          </p:cNvSpPr>
          <p:nvPr/>
        </p:nvSpPr>
        <p:spPr>
          <a:xfrm>
            <a:off x="6156176" y="4077072"/>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Modus = </a:t>
            </a:r>
            <a:r>
              <a:rPr lang="nl-NL" sz="2000" b="1" dirty="0" smtClean="0"/>
              <a:t>IAI</a:t>
            </a:r>
          </a:p>
        </p:txBody>
      </p:sp>
      <p:sp>
        <p:nvSpPr>
          <p:cNvPr id="27" name="TextBox 26"/>
          <p:cNvSpPr txBox="1"/>
          <p:nvPr/>
        </p:nvSpPr>
        <p:spPr>
          <a:xfrm>
            <a:off x="899592" y="5445224"/>
            <a:ext cx="6696744" cy="369332"/>
          </a:xfrm>
          <a:prstGeom prst="rect">
            <a:avLst/>
          </a:prstGeom>
          <a:noFill/>
        </p:spPr>
        <p:txBody>
          <a:bodyPr wrap="square" rtlCol="0">
            <a:spAutoFit/>
          </a:bodyPr>
          <a:lstStyle/>
          <a:p>
            <a:r>
              <a:rPr lang="nl-NL" i="1" dirty="0" smtClean="0"/>
              <a:t>Merk op: Vanaf nu wordt de dwarsligger niet meer expliciet vermeld</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fade">
                                      <p:cBhvr>
                                        <p:cTn id="10" dur="2000"/>
                                        <p:tgtEl>
                                          <p:spTgt spid="1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Effect transition="in" filter="fade">
                                      <p:cBhvr>
                                        <p:cTn id="13" dur="2000"/>
                                        <p:tgtEl>
                                          <p:spTgt spid="1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xEl>
                                              <p:pRg st="0" end="0"/>
                                            </p:txEl>
                                          </p:spTgt>
                                        </p:tgtEl>
                                        <p:attrNameLst>
                                          <p:attrName>style.visibility</p:attrName>
                                        </p:attrNameLst>
                                      </p:cBhvr>
                                      <p:to>
                                        <p:strVal val="visible"/>
                                      </p:to>
                                    </p:set>
                                    <p:animEffect transition="in" filter="fade">
                                      <p:cBhvr>
                                        <p:cTn id="16" dur="2000"/>
                                        <p:tgtEl>
                                          <p:spTgt spid="16">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xEl>
                                              <p:pRg st="1" end="1"/>
                                            </p:txEl>
                                          </p:spTgt>
                                        </p:tgtEl>
                                        <p:attrNameLst>
                                          <p:attrName>style.visibility</p:attrName>
                                        </p:attrNameLst>
                                      </p:cBhvr>
                                      <p:to>
                                        <p:strVal val="visible"/>
                                      </p:to>
                                    </p:set>
                                    <p:animEffect transition="in" filter="fade">
                                      <p:cBhvr>
                                        <p:cTn id="19" dur="2000"/>
                                        <p:tgtEl>
                                          <p:spTgt spid="16">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fade">
                                      <p:cBhvr>
                                        <p:cTn id="22" dur="2000"/>
                                        <p:tgtEl>
                                          <p:spTgt spid="16">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animEffect transition="in" filter="fade">
                                      <p:cBhvr>
                                        <p:cTn id="25" dur="2000"/>
                                        <p:tgtEl>
                                          <p:spTgt spid="17">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xEl>
                                              <p:pRg st="1" end="1"/>
                                            </p:txEl>
                                          </p:spTgt>
                                        </p:tgtEl>
                                        <p:attrNameLst>
                                          <p:attrName>style.visibility</p:attrName>
                                        </p:attrNameLst>
                                      </p:cBhvr>
                                      <p:to>
                                        <p:strVal val="visible"/>
                                      </p:to>
                                    </p:set>
                                    <p:animEffect transition="in" filter="fade">
                                      <p:cBhvr>
                                        <p:cTn id="28" dur="2000"/>
                                        <p:tgtEl>
                                          <p:spTgt spid="17">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xEl>
                                              <p:pRg st="2" end="2"/>
                                            </p:txEl>
                                          </p:spTgt>
                                        </p:tgtEl>
                                        <p:attrNameLst>
                                          <p:attrName>style.visibility</p:attrName>
                                        </p:attrNameLst>
                                      </p:cBhvr>
                                      <p:to>
                                        <p:strVal val="visible"/>
                                      </p:to>
                                    </p:set>
                                    <p:animEffect transition="in" filter="fade">
                                      <p:cBhvr>
                                        <p:cTn id="31" dur="2000"/>
                                        <p:tgtEl>
                                          <p:spTgt spid="17">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xEl>
                                              <p:pRg st="0" end="0"/>
                                            </p:txEl>
                                          </p:spTgt>
                                        </p:tgtEl>
                                        <p:attrNameLst>
                                          <p:attrName>style.visibility</p:attrName>
                                        </p:attrNameLst>
                                      </p:cBhvr>
                                      <p:to>
                                        <p:strVal val="visible"/>
                                      </p:to>
                                    </p:set>
                                    <p:animEffect transition="in" filter="fade">
                                      <p:cBhvr>
                                        <p:cTn id="34" dur="2000"/>
                                        <p:tgtEl>
                                          <p:spTgt spid="18">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xEl>
                                              <p:pRg st="1" end="1"/>
                                            </p:txEl>
                                          </p:spTgt>
                                        </p:tgtEl>
                                        <p:attrNameLst>
                                          <p:attrName>style.visibility</p:attrName>
                                        </p:attrNameLst>
                                      </p:cBhvr>
                                      <p:to>
                                        <p:strVal val="visible"/>
                                      </p:to>
                                    </p:set>
                                    <p:animEffect transition="in" filter="fade">
                                      <p:cBhvr>
                                        <p:cTn id="37" dur="2000"/>
                                        <p:tgtEl>
                                          <p:spTgt spid="18">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xEl>
                                              <p:pRg st="2" end="2"/>
                                            </p:txEl>
                                          </p:spTgt>
                                        </p:tgtEl>
                                        <p:attrNameLst>
                                          <p:attrName>style.visibility</p:attrName>
                                        </p:attrNameLst>
                                      </p:cBhvr>
                                      <p:to>
                                        <p:strVal val="visible"/>
                                      </p:to>
                                    </p:set>
                                    <p:animEffect transition="in" filter="fade">
                                      <p:cBhvr>
                                        <p:cTn id="40" dur="2000"/>
                                        <p:tgtEl>
                                          <p:spTgt spid="18">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xEl>
                                              <p:pRg st="0" end="0"/>
                                            </p:txEl>
                                          </p:spTgt>
                                        </p:tgtEl>
                                        <p:attrNameLst>
                                          <p:attrName>style.visibility</p:attrName>
                                        </p:attrNameLst>
                                      </p:cBhvr>
                                      <p:to>
                                        <p:strVal val="visible"/>
                                      </p:to>
                                    </p:set>
                                    <p:animEffect transition="in" filter="fade">
                                      <p:cBhvr>
                                        <p:cTn id="45" dur="2000"/>
                                        <p:tgtEl>
                                          <p:spTgt spid="20">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xEl>
                                              <p:pRg st="0" end="0"/>
                                            </p:txEl>
                                          </p:spTgt>
                                        </p:tgtEl>
                                        <p:attrNameLst>
                                          <p:attrName>style.visibility</p:attrName>
                                        </p:attrNameLst>
                                      </p:cBhvr>
                                      <p:to>
                                        <p:strVal val="visible"/>
                                      </p:to>
                                    </p:set>
                                    <p:animEffect transition="in" filter="fade">
                                      <p:cBhvr>
                                        <p:cTn id="48" dur="2000"/>
                                        <p:tgtEl>
                                          <p:spTgt spid="22">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xEl>
                                              <p:pRg st="0" end="0"/>
                                            </p:txEl>
                                          </p:spTgt>
                                        </p:tgtEl>
                                        <p:attrNameLst>
                                          <p:attrName>style.visibility</p:attrName>
                                        </p:attrNameLst>
                                      </p:cBhvr>
                                      <p:to>
                                        <p:strVal val="visible"/>
                                      </p:to>
                                    </p:set>
                                    <p:animEffect transition="in" filter="fade">
                                      <p:cBhvr>
                                        <p:cTn id="51" dur="2000"/>
                                        <p:tgtEl>
                                          <p:spTgt spid="23">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Effect transition="in" filter="fade">
                                      <p:cBhvr>
                                        <p:cTn id="54" dur="2000"/>
                                        <p:tgtEl>
                                          <p:spTgt spid="24">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7">
                                            <p:txEl>
                                              <p:pRg st="0" end="0"/>
                                            </p:txEl>
                                          </p:spTgt>
                                        </p:tgtEl>
                                        <p:attrNameLst>
                                          <p:attrName>style.visibility</p:attrName>
                                        </p:attrNameLst>
                                      </p:cBhvr>
                                      <p:to>
                                        <p:strVal val="visible"/>
                                      </p:to>
                                    </p:set>
                                    <p:animEffect transition="in" filter="fade">
                                      <p:cBhvr>
                                        <p:cTn id="59" dur="20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P spid="16" grpId="0" build="allAtOnce"/>
      <p:bldP spid="17" grpId="0" build="allAtOnce"/>
      <p:bldP spid="18" grpId="0" build="allAtOnce"/>
      <p:bldP spid="20" grpId="0" build="allAtOnce"/>
      <p:bldP spid="22" grpId="0" build="allAtOnce"/>
      <p:bldP spid="23" grpId="0" build="allAtOnce"/>
      <p:bldP spid="24" grpId="0" build="allAtOnce"/>
      <p:bldP spid="27" grpId="0" build="allAtOnce"/>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15" name="Content Placeholder 2"/>
          <p:cNvSpPr txBox="1">
            <a:spLocks/>
          </p:cNvSpPr>
          <p:nvPr/>
        </p:nvSpPr>
        <p:spPr>
          <a:xfrm>
            <a:off x="781744"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--P</a:t>
            </a:r>
          </a:p>
        </p:txBody>
      </p:sp>
      <p:sp>
        <p:nvSpPr>
          <p:cNvPr id="16" name="Content Placeholder 2"/>
          <p:cNvSpPr txBox="1">
            <a:spLocks/>
          </p:cNvSpPr>
          <p:nvPr/>
        </p:nvSpPr>
        <p:spPr>
          <a:xfrm>
            <a:off x="2699792"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7" name="Content Placeholder 2"/>
          <p:cNvSpPr txBox="1">
            <a:spLocks/>
          </p:cNvSpPr>
          <p:nvPr/>
        </p:nvSpPr>
        <p:spPr>
          <a:xfrm>
            <a:off x="4670176"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8" name="Content Placeholder 2"/>
          <p:cNvSpPr txBox="1">
            <a:spLocks/>
          </p:cNvSpPr>
          <p:nvPr/>
        </p:nvSpPr>
        <p:spPr>
          <a:xfrm>
            <a:off x="6542384" y="250770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25" name="Content Placeholder 2"/>
          <p:cNvSpPr txBox="1">
            <a:spLocks/>
          </p:cNvSpPr>
          <p:nvPr/>
        </p:nvSpPr>
        <p:spPr>
          <a:xfrm>
            <a:off x="467544" y="1456184"/>
            <a:ext cx="8686800"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V</a:t>
            </a:r>
            <a:r>
              <a:rPr kumimoji="0" lang="nl-NL" sz="2000" b="0" i="0" u="none" strike="noStrike" kern="1200" cap="none" spc="0" normalizeH="0" noProof="0" dirty="0" smtClean="0">
                <a:ln>
                  <a:noFill/>
                </a:ln>
                <a:solidFill>
                  <a:schemeClr val="tx1"/>
                </a:solidFill>
                <a:effectLst/>
                <a:uLnTx/>
                <a:uFillTx/>
                <a:latin typeface="+mn-lt"/>
                <a:ea typeface="+mn-ea"/>
                <a:cs typeface="+mn-cs"/>
              </a:rPr>
              <a:t>oor iedere modus zijn er precies </a:t>
            </a:r>
            <a:r>
              <a:rPr kumimoji="0" lang="nl-NL" sz="2000" b="0" i="0" u="sng" strike="noStrike" kern="1200" cap="none" spc="0" normalizeH="0" noProof="0" dirty="0" smtClean="0">
                <a:ln>
                  <a:noFill/>
                </a:ln>
                <a:solidFill>
                  <a:schemeClr val="tx1"/>
                </a:solidFill>
                <a:effectLst/>
                <a:uLnTx/>
                <a:uFillTx/>
                <a:latin typeface="+mn-lt"/>
                <a:ea typeface="+mn-ea"/>
                <a:cs typeface="+mn-cs"/>
              </a:rPr>
              <a:t>vier</a:t>
            </a:r>
            <a:r>
              <a:rPr kumimoji="0" lang="nl-NL" sz="2000" b="0" i="0" u="none" strike="noStrike" kern="1200" cap="none" spc="0" normalizeH="0" noProof="0" dirty="0" smtClean="0">
                <a:ln>
                  <a:noFill/>
                </a:ln>
                <a:solidFill>
                  <a:schemeClr val="tx1"/>
                </a:solidFill>
                <a:effectLst/>
                <a:uLnTx/>
                <a:uFillTx/>
                <a:latin typeface="+mn-lt"/>
                <a:ea typeface="+mn-ea"/>
                <a:cs typeface="+mn-cs"/>
              </a:rPr>
              <a:t> mogelijke syllogismen.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15" name="Content Placeholder 2"/>
          <p:cNvSpPr txBox="1">
            <a:spLocks/>
          </p:cNvSpPr>
          <p:nvPr/>
        </p:nvSpPr>
        <p:spPr>
          <a:xfrm>
            <a:off x="781744"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--P</a:t>
            </a:r>
          </a:p>
        </p:txBody>
      </p:sp>
      <p:sp>
        <p:nvSpPr>
          <p:cNvPr id="16" name="Content Placeholder 2"/>
          <p:cNvSpPr txBox="1">
            <a:spLocks/>
          </p:cNvSpPr>
          <p:nvPr/>
        </p:nvSpPr>
        <p:spPr>
          <a:xfrm>
            <a:off x="2699792"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a:t>
            </a:r>
            <a:r>
              <a:rPr lang="nl-NL" sz="2000" b="1" i="1" dirty="0" smtClean="0"/>
              <a:t>M</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7" name="Content Placeholder 2"/>
          <p:cNvSpPr txBox="1">
            <a:spLocks/>
          </p:cNvSpPr>
          <p:nvPr/>
        </p:nvSpPr>
        <p:spPr>
          <a:xfrm>
            <a:off x="4670176"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8" name="Content Placeholder 2"/>
          <p:cNvSpPr txBox="1">
            <a:spLocks/>
          </p:cNvSpPr>
          <p:nvPr/>
        </p:nvSpPr>
        <p:spPr>
          <a:xfrm>
            <a:off x="6542384" y="250770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a:t>
            </a:r>
            <a:r>
              <a:rPr lang="nl-NL" sz="2000" b="1" i="1" dirty="0" smtClean="0"/>
              <a:t>M</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23" name="Content Placeholder 2"/>
          <p:cNvSpPr txBox="1">
            <a:spLocks/>
          </p:cNvSpPr>
          <p:nvPr/>
        </p:nvSpPr>
        <p:spPr>
          <a:xfrm>
            <a:off x="467544" y="1456184"/>
            <a:ext cx="8686800"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V</a:t>
            </a:r>
            <a:r>
              <a:rPr kumimoji="0" lang="nl-NL" sz="2000" b="0" i="0" u="none" strike="noStrike" kern="1200" cap="none" spc="0" normalizeH="0" noProof="0" dirty="0" smtClean="0">
                <a:ln>
                  <a:noFill/>
                </a:ln>
                <a:solidFill>
                  <a:schemeClr val="tx1"/>
                </a:solidFill>
                <a:effectLst/>
                <a:uLnTx/>
                <a:uFillTx/>
                <a:latin typeface="+mn-lt"/>
                <a:ea typeface="+mn-ea"/>
                <a:cs typeface="+mn-cs"/>
              </a:rPr>
              <a:t>oor iedere modus zijn er precies </a:t>
            </a:r>
            <a:r>
              <a:rPr kumimoji="0" lang="nl-NL" sz="2000" b="0" i="0" u="sng" strike="noStrike" kern="1200" cap="none" spc="0" normalizeH="0" noProof="0" dirty="0" smtClean="0">
                <a:ln>
                  <a:noFill/>
                </a:ln>
                <a:solidFill>
                  <a:schemeClr val="tx1"/>
                </a:solidFill>
                <a:effectLst/>
                <a:uLnTx/>
                <a:uFillTx/>
                <a:latin typeface="+mn-lt"/>
                <a:ea typeface="+mn-ea"/>
                <a:cs typeface="+mn-cs"/>
              </a:rPr>
              <a:t>vier</a:t>
            </a:r>
            <a:r>
              <a:rPr kumimoji="0" lang="nl-NL" sz="2000" b="0" i="0" u="none" strike="noStrike" kern="1200" cap="none" spc="0" normalizeH="0" noProof="0" dirty="0" smtClean="0">
                <a:ln>
                  <a:noFill/>
                </a:ln>
                <a:solidFill>
                  <a:schemeClr val="tx1"/>
                </a:solidFill>
                <a:effectLst/>
                <a:uLnTx/>
                <a:uFillTx/>
                <a:latin typeface="+mn-lt"/>
                <a:ea typeface="+mn-ea"/>
                <a:cs typeface="+mn-cs"/>
              </a:rPr>
              <a:t> mogelijke syllogismen.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15" name="Content Placeholder 2"/>
          <p:cNvSpPr txBox="1">
            <a:spLocks/>
          </p:cNvSpPr>
          <p:nvPr/>
        </p:nvSpPr>
        <p:spPr>
          <a:xfrm>
            <a:off x="781744"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--P</a:t>
            </a:r>
          </a:p>
        </p:txBody>
      </p:sp>
      <p:sp>
        <p:nvSpPr>
          <p:cNvPr id="16" name="Content Placeholder 2"/>
          <p:cNvSpPr txBox="1">
            <a:spLocks/>
          </p:cNvSpPr>
          <p:nvPr/>
        </p:nvSpPr>
        <p:spPr>
          <a:xfrm>
            <a:off x="2699792"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a:t>
            </a:r>
            <a:r>
              <a:rPr lang="nl-NL" sz="2000" b="1" i="1" dirty="0" smtClean="0"/>
              <a:t>M</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7" name="Content Placeholder 2"/>
          <p:cNvSpPr txBox="1">
            <a:spLocks/>
          </p:cNvSpPr>
          <p:nvPr/>
        </p:nvSpPr>
        <p:spPr>
          <a:xfrm>
            <a:off x="4670176"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8" name="Content Placeholder 2"/>
          <p:cNvSpPr txBox="1">
            <a:spLocks/>
          </p:cNvSpPr>
          <p:nvPr/>
        </p:nvSpPr>
        <p:spPr>
          <a:xfrm>
            <a:off x="6542384" y="250770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a:t>
            </a:r>
            <a:r>
              <a:rPr lang="nl-NL" sz="2000" b="1" i="1" dirty="0" smtClean="0"/>
              <a:t>M</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smtClean="0"/>
              <a:t>M</a:t>
            </a:r>
            <a:r>
              <a:rPr lang="nl-NL" sz="2000" i="1" dirty="0" smtClean="0"/>
              <a:t>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8" name="TextBox 7"/>
          <p:cNvSpPr txBox="1"/>
          <p:nvPr/>
        </p:nvSpPr>
        <p:spPr>
          <a:xfrm>
            <a:off x="467544" y="3861048"/>
            <a:ext cx="1656184" cy="369332"/>
          </a:xfrm>
          <a:prstGeom prst="rect">
            <a:avLst/>
          </a:prstGeom>
          <a:noFill/>
        </p:spPr>
        <p:txBody>
          <a:bodyPr wrap="square" rtlCol="0">
            <a:spAutoFit/>
          </a:bodyPr>
          <a:lstStyle/>
          <a:p>
            <a:r>
              <a:rPr lang="nl-NL" dirty="0" smtClean="0"/>
              <a:t>Eerste figuur</a:t>
            </a:r>
            <a:endParaRPr lang="nl-NL" dirty="0"/>
          </a:p>
        </p:txBody>
      </p:sp>
      <p:sp>
        <p:nvSpPr>
          <p:cNvPr id="9" name="TextBox 8"/>
          <p:cNvSpPr txBox="1"/>
          <p:nvPr/>
        </p:nvSpPr>
        <p:spPr>
          <a:xfrm>
            <a:off x="2411760" y="3861048"/>
            <a:ext cx="1656184" cy="369332"/>
          </a:xfrm>
          <a:prstGeom prst="rect">
            <a:avLst/>
          </a:prstGeom>
          <a:noFill/>
        </p:spPr>
        <p:txBody>
          <a:bodyPr wrap="square" rtlCol="0">
            <a:spAutoFit/>
          </a:bodyPr>
          <a:lstStyle/>
          <a:p>
            <a:r>
              <a:rPr lang="nl-NL" dirty="0" smtClean="0"/>
              <a:t>Tweede figuur</a:t>
            </a:r>
            <a:endParaRPr lang="nl-NL" dirty="0"/>
          </a:p>
        </p:txBody>
      </p:sp>
      <p:sp>
        <p:nvSpPr>
          <p:cNvPr id="10" name="TextBox 9"/>
          <p:cNvSpPr txBox="1"/>
          <p:nvPr/>
        </p:nvSpPr>
        <p:spPr>
          <a:xfrm>
            <a:off x="4427984" y="3861048"/>
            <a:ext cx="1656184" cy="369332"/>
          </a:xfrm>
          <a:prstGeom prst="rect">
            <a:avLst/>
          </a:prstGeom>
          <a:noFill/>
        </p:spPr>
        <p:txBody>
          <a:bodyPr wrap="square" rtlCol="0">
            <a:spAutoFit/>
          </a:bodyPr>
          <a:lstStyle/>
          <a:p>
            <a:r>
              <a:rPr lang="nl-NL" dirty="0" smtClean="0"/>
              <a:t>Derde figuur</a:t>
            </a:r>
            <a:endParaRPr lang="nl-NL" dirty="0"/>
          </a:p>
        </p:txBody>
      </p:sp>
      <p:sp>
        <p:nvSpPr>
          <p:cNvPr id="11" name="TextBox 10"/>
          <p:cNvSpPr txBox="1"/>
          <p:nvPr/>
        </p:nvSpPr>
        <p:spPr>
          <a:xfrm>
            <a:off x="6444208" y="3861048"/>
            <a:ext cx="1656184" cy="369332"/>
          </a:xfrm>
          <a:prstGeom prst="rect">
            <a:avLst/>
          </a:prstGeom>
          <a:noFill/>
        </p:spPr>
        <p:txBody>
          <a:bodyPr wrap="square" rtlCol="0">
            <a:spAutoFit/>
          </a:bodyPr>
          <a:lstStyle/>
          <a:p>
            <a:r>
              <a:rPr lang="nl-NL" dirty="0" smtClean="0"/>
              <a:t>Vierde figuur</a:t>
            </a:r>
            <a:endParaRPr lang="nl-NL" dirty="0"/>
          </a:p>
        </p:txBody>
      </p:sp>
      <p:sp>
        <p:nvSpPr>
          <p:cNvPr id="13" name="Content Placeholder 2"/>
          <p:cNvSpPr txBox="1">
            <a:spLocks/>
          </p:cNvSpPr>
          <p:nvPr/>
        </p:nvSpPr>
        <p:spPr>
          <a:xfrm>
            <a:off x="467544" y="1456184"/>
            <a:ext cx="8686800"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V</a:t>
            </a:r>
            <a:r>
              <a:rPr kumimoji="0" lang="nl-NL" sz="2000" b="0" i="0" u="none" strike="noStrike" kern="1200" cap="none" spc="0" normalizeH="0" noProof="0" dirty="0" smtClean="0">
                <a:ln>
                  <a:noFill/>
                </a:ln>
                <a:solidFill>
                  <a:schemeClr val="tx1"/>
                </a:solidFill>
                <a:effectLst/>
                <a:uLnTx/>
                <a:uFillTx/>
                <a:latin typeface="+mn-lt"/>
                <a:ea typeface="+mn-ea"/>
                <a:cs typeface="+mn-cs"/>
              </a:rPr>
              <a:t>oor iedere modus zijn er precies </a:t>
            </a:r>
            <a:r>
              <a:rPr kumimoji="0" lang="nl-NL" sz="2000" b="0" i="0" u="sng" strike="noStrike" kern="1200" cap="none" spc="0" normalizeH="0" noProof="0" dirty="0" smtClean="0">
                <a:ln>
                  <a:noFill/>
                </a:ln>
                <a:solidFill>
                  <a:schemeClr val="tx1"/>
                </a:solidFill>
                <a:effectLst/>
                <a:uLnTx/>
                <a:uFillTx/>
                <a:latin typeface="+mn-lt"/>
                <a:ea typeface="+mn-ea"/>
                <a:cs typeface="+mn-cs"/>
              </a:rPr>
              <a:t>vier</a:t>
            </a:r>
            <a:r>
              <a:rPr kumimoji="0" lang="nl-NL" sz="2000" b="0" i="0" u="none" strike="noStrike" kern="1200" cap="none" spc="0" normalizeH="0" noProof="0" dirty="0" smtClean="0">
                <a:ln>
                  <a:noFill/>
                </a:ln>
                <a:solidFill>
                  <a:schemeClr val="tx1"/>
                </a:solidFill>
                <a:effectLst/>
                <a:uLnTx/>
                <a:uFillTx/>
                <a:latin typeface="+mn-lt"/>
                <a:ea typeface="+mn-ea"/>
                <a:cs typeface="+mn-cs"/>
              </a:rPr>
              <a:t> mogelijke syllogismen.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15" name="Content Placeholder 2"/>
          <p:cNvSpPr txBox="1">
            <a:spLocks/>
          </p:cNvSpPr>
          <p:nvPr/>
        </p:nvSpPr>
        <p:spPr>
          <a:xfrm>
            <a:off x="781744"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--P</a:t>
            </a:r>
          </a:p>
        </p:txBody>
      </p:sp>
      <p:sp>
        <p:nvSpPr>
          <p:cNvPr id="16" name="Content Placeholder 2"/>
          <p:cNvSpPr txBox="1">
            <a:spLocks/>
          </p:cNvSpPr>
          <p:nvPr/>
        </p:nvSpPr>
        <p:spPr>
          <a:xfrm>
            <a:off x="2699792"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7" name="Content Placeholder 2"/>
          <p:cNvSpPr txBox="1">
            <a:spLocks/>
          </p:cNvSpPr>
          <p:nvPr/>
        </p:nvSpPr>
        <p:spPr>
          <a:xfrm>
            <a:off x="4670176"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8" name="Content Placeholder 2"/>
          <p:cNvSpPr txBox="1">
            <a:spLocks/>
          </p:cNvSpPr>
          <p:nvPr/>
        </p:nvSpPr>
        <p:spPr>
          <a:xfrm>
            <a:off x="6542384" y="250770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P -- 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M -- S</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S -- P</a:t>
            </a:r>
          </a:p>
        </p:txBody>
      </p:sp>
      <p:sp>
        <p:nvSpPr>
          <p:cNvPr id="14" name="TextBox 13"/>
          <p:cNvSpPr txBox="1"/>
          <p:nvPr/>
        </p:nvSpPr>
        <p:spPr>
          <a:xfrm>
            <a:off x="467544" y="3861048"/>
            <a:ext cx="1656184" cy="369332"/>
          </a:xfrm>
          <a:prstGeom prst="rect">
            <a:avLst/>
          </a:prstGeom>
          <a:noFill/>
        </p:spPr>
        <p:txBody>
          <a:bodyPr wrap="square" rtlCol="0">
            <a:spAutoFit/>
          </a:bodyPr>
          <a:lstStyle/>
          <a:p>
            <a:r>
              <a:rPr lang="nl-NL" dirty="0" smtClean="0"/>
              <a:t>Eerste figuur</a:t>
            </a:r>
            <a:endParaRPr lang="nl-NL" dirty="0"/>
          </a:p>
        </p:txBody>
      </p:sp>
      <p:sp>
        <p:nvSpPr>
          <p:cNvPr id="21" name="TextBox 20"/>
          <p:cNvSpPr txBox="1"/>
          <p:nvPr/>
        </p:nvSpPr>
        <p:spPr>
          <a:xfrm>
            <a:off x="2411760" y="3861048"/>
            <a:ext cx="1656184" cy="369332"/>
          </a:xfrm>
          <a:prstGeom prst="rect">
            <a:avLst/>
          </a:prstGeom>
          <a:noFill/>
        </p:spPr>
        <p:txBody>
          <a:bodyPr wrap="square" rtlCol="0">
            <a:spAutoFit/>
          </a:bodyPr>
          <a:lstStyle/>
          <a:p>
            <a:r>
              <a:rPr lang="nl-NL" dirty="0" smtClean="0"/>
              <a:t>Tweede figuur</a:t>
            </a:r>
            <a:endParaRPr lang="nl-NL" dirty="0"/>
          </a:p>
        </p:txBody>
      </p:sp>
      <p:sp>
        <p:nvSpPr>
          <p:cNvPr id="26" name="TextBox 25"/>
          <p:cNvSpPr txBox="1"/>
          <p:nvPr/>
        </p:nvSpPr>
        <p:spPr>
          <a:xfrm>
            <a:off x="4427984" y="3861048"/>
            <a:ext cx="1656184" cy="369332"/>
          </a:xfrm>
          <a:prstGeom prst="rect">
            <a:avLst/>
          </a:prstGeom>
          <a:noFill/>
        </p:spPr>
        <p:txBody>
          <a:bodyPr wrap="square" rtlCol="0">
            <a:spAutoFit/>
          </a:bodyPr>
          <a:lstStyle/>
          <a:p>
            <a:r>
              <a:rPr lang="nl-NL" dirty="0" smtClean="0"/>
              <a:t>Derde figuur</a:t>
            </a:r>
            <a:endParaRPr lang="nl-NL" dirty="0"/>
          </a:p>
        </p:txBody>
      </p:sp>
      <p:sp>
        <p:nvSpPr>
          <p:cNvPr id="27" name="TextBox 26"/>
          <p:cNvSpPr txBox="1"/>
          <p:nvPr/>
        </p:nvSpPr>
        <p:spPr>
          <a:xfrm>
            <a:off x="6444208" y="3861048"/>
            <a:ext cx="1656184" cy="369332"/>
          </a:xfrm>
          <a:prstGeom prst="rect">
            <a:avLst/>
          </a:prstGeom>
          <a:noFill/>
        </p:spPr>
        <p:txBody>
          <a:bodyPr wrap="square" rtlCol="0">
            <a:spAutoFit/>
          </a:bodyPr>
          <a:lstStyle/>
          <a:p>
            <a:r>
              <a:rPr lang="nl-NL" dirty="0" smtClean="0"/>
              <a:t>Vierde figuur</a:t>
            </a:r>
            <a:endParaRPr lang="nl-NL" dirty="0"/>
          </a:p>
        </p:txBody>
      </p:sp>
      <p:sp>
        <p:nvSpPr>
          <p:cNvPr id="12" name="Content Placeholder 2"/>
          <p:cNvSpPr txBox="1">
            <a:spLocks/>
          </p:cNvSpPr>
          <p:nvPr/>
        </p:nvSpPr>
        <p:spPr>
          <a:xfrm>
            <a:off x="539552" y="4984576"/>
            <a:ext cx="8686800" cy="4606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Elk</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syllogisme</a:t>
            </a:r>
            <a:r>
              <a:rPr kumimoji="0" lang="nl-NL" sz="2000" b="0" i="0" u="none" strike="noStrike" kern="1200" cap="none" spc="0" normalizeH="0" noProof="0" dirty="0" smtClean="0">
                <a:ln>
                  <a:noFill/>
                </a:ln>
                <a:solidFill>
                  <a:schemeClr val="tx1"/>
                </a:solidFill>
                <a:effectLst/>
                <a:uLnTx/>
                <a:uFillTx/>
                <a:latin typeface="+mn-lt"/>
                <a:ea typeface="+mn-ea"/>
                <a:cs typeface="+mn-cs"/>
              </a:rPr>
              <a:t> wordt </a:t>
            </a:r>
            <a:r>
              <a:rPr lang="nl-NL" sz="2000" dirty="0" smtClean="0"/>
              <a:t>uniek </a:t>
            </a:r>
            <a:r>
              <a:rPr kumimoji="0" lang="nl-NL" sz="2000" b="0" i="0" u="none" strike="noStrike" kern="1200" cap="none" spc="0" normalizeH="0" noProof="0" dirty="0" smtClean="0">
                <a:ln>
                  <a:noFill/>
                </a:ln>
                <a:solidFill>
                  <a:schemeClr val="tx1"/>
                </a:solidFill>
                <a:effectLst/>
                <a:uLnTx/>
                <a:uFillTx/>
                <a:latin typeface="+mn-lt"/>
                <a:ea typeface="+mn-ea"/>
                <a:cs typeface="+mn-cs"/>
              </a:rPr>
              <a:t>bepaald door de </a:t>
            </a:r>
            <a:r>
              <a:rPr kumimoji="0" lang="nl-NL" sz="2000" b="0" i="1" u="none" strike="noStrike" kern="1200" cap="none" spc="0" normalizeH="0" noProof="0" dirty="0" smtClean="0">
                <a:ln>
                  <a:noFill/>
                </a:ln>
                <a:solidFill>
                  <a:schemeClr val="tx1"/>
                </a:solidFill>
                <a:effectLst/>
                <a:uLnTx/>
                <a:uFillTx/>
                <a:latin typeface="+mn-lt"/>
                <a:ea typeface="+mn-ea"/>
                <a:cs typeface="+mn-cs"/>
              </a:rPr>
              <a:t>modus</a:t>
            </a:r>
            <a:r>
              <a:rPr kumimoji="0" lang="nl-NL" sz="2000" b="0" i="0" u="none" strike="noStrike" kern="1200" cap="none" spc="0" normalizeH="0" noProof="0" dirty="0" smtClean="0">
                <a:ln>
                  <a:noFill/>
                </a:ln>
                <a:solidFill>
                  <a:schemeClr val="tx1"/>
                </a:solidFill>
                <a:effectLst/>
                <a:uLnTx/>
                <a:uFillTx/>
                <a:latin typeface="+mn-lt"/>
                <a:ea typeface="+mn-ea"/>
                <a:cs typeface="+mn-cs"/>
              </a:rPr>
              <a:t> samen met de                     </a:t>
            </a:r>
            <a:r>
              <a:rPr kumimoji="0" lang="nl-NL" sz="2000" b="0" i="1" u="none" strike="noStrike" kern="1200" cap="none" spc="0" normalizeH="0" noProof="0" dirty="0" smtClean="0">
                <a:ln>
                  <a:noFill/>
                </a:ln>
                <a:solidFill>
                  <a:schemeClr val="tx1"/>
                </a:solidFill>
                <a:effectLst/>
                <a:uLnTx/>
                <a:uFillTx/>
                <a:latin typeface="+mn-lt"/>
                <a:ea typeface="+mn-ea"/>
                <a:cs typeface="+mn-cs"/>
              </a:rPr>
              <a:t>figuur</a:t>
            </a:r>
            <a:r>
              <a:rPr kumimoji="0" lang="nl-NL" sz="2000" b="0" i="0" u="none" strike="noStrike" kern="1200" cap="none" spc="0" normalizeH="0" noProof="0" dirty="0" smtClean="0">
                <a:ln>
                  <a:noFill/>
                </a:ln>
                <a:solidFill>
                  <a:schemeClr val="tx1"/>
                </a:solidFill>
                <a:effectLst/>
                <a:uLnTx/>
                <a:uFillTx/>
                <a:latin typeface="+mn-lt"/>
                <a:ea typeface="+mn-ea"/>
                <a:cs typeface="+mn-cs"/>
              </a:rPr>
              <a:t> van het syllogisme. Er zijn in totaal dus 64 x 4 = </a:t>
            </a:r>
            <a:r>
              <a:rPr kumimoji="0" lang="nl-NL" sz="2000" b="1" i="0" u="none" strike="noStrike" kern="1200" cap="none" spc="0" normalizeH="0" noProof="0" dirty="0" smtClean="0">
                <a:ln>
                  <a:noFill/>
                </a:ln>
                <a:solidFill>
                  <a:schemeClr val="tx1"/>
                </a:solidFill>
                <a:effectLst/>
                <a:uLnTx/>
                <a:uFillTx/>
                <a:latin typeface="+mn-lt"/>
                <a:ea typeface="+mn-ea"/>
                <a:cs typeface="+mn-cs"/>
              </a:rPr>
              <a:t>256</a:t>
            </a:r>
            <a:r>
              <a:rPr kumimoji="0" lang="nl-NL" sz="2000" b="0" i="0" u="none" strike="noStrike" kern="1200" cap="none" spc="0" normalizeH="0" noProof="0" dirty="0" smtClean="0">
                <a:ln>
                  <a:noFill/>
                </a:ln>
                <a:solidFill>
                  <a:schemeClr val="tx1"/>
                </a:solidFill>
                <a:effectLst/>
                <a:uLnTx/>
                <a:uFillTx/>
                <a:latin typeface="+mn-lt"/>
                <a:ea typeface="+mn-ea"/>
                <a:cs typeface="+mn-cs"/>
              </a:rPr>
              <a:t>                           verschillende syllogismen.  </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noProof="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9" name="Content Placeholder 2"/>
          <p:cNvSpPr txBox="1">
            <a:spLocks/>
          </p:cNvSpPr>
          <p:nvPr/>
        </p:nvSpPr>
        <p:spPr>
          <a:xfrm>
            <a:off x="467544" y="1456184"/>
            <a:ext cx="8686800"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V</a:t>
            </a:r>
            <a:r>
              <a:rPr kumimoji="0" lang="nl-NL" sz="2000" b="0" i="0" u="none" strike="noStrike" kern="1200" cap="none" spc="0" normalizeH="0" noProof="0" dirty="0" smtClean="0">
                <a:ln>
                  <a:noFill/>
                </a:ln>
                <a:solidFill>
                  <a:schemeClr val="tx1"/>
                </a:solidFill>
                <a:effectLst/>
                <a:uLnTx/>
                <a:uFillTx/>
                <a:latin typeface="+mn-lt"/>
                <a:ea typeface="+mn-ea"/>
                <a:cs typeface="+mn-cs"/>
              </a:rPr>
              <a:t>oor iedere modus zijn er precies </a:t>
            </a:r>
            <a:r>
              <a:rPr kumimoji="0" lang="nl-NL" sz="2000" b="0" i="0" u="sng" strike="noStrike" kern="1200" cap="none" spc="0" normalizeH="0" noProof="0" dirty="0" smtClean="0">
                <a:ln>
                  <a:noFill/>
                </a:ln>
                <a:solidFill>
                  <a:schemeClr val="tx1"/>
                </a:solidFill>
                <a:effectLst/>
                <a:uLnTx/>
                <a:uFillTx/>
                <a:latin typeface="+mn-lt"/>
                <a:ea typeface="+mn-ea"/>
                <a:cs typeface="+mn-cs"/>
              </a:rPr>
              <a:t>vier</a:t>
            </a:r>
            <a:r>
              <a:rPr kumimoji="0" lang="nl-NL" sz="2000" b="0" i="0" u="none" strike="noStrike" kern="1200" cap="none" spc="0" normalizeH="0" noProof="0" dirty="0" smtClean="0">
                <a:ln>
                  <a:noFill/>
                </a:ln>
                <a:solidFill>
                  <a:schemeClr val="tx1"/>
                </a:solidFill>
                <a:effectLst/>
                <a:uLnTx/>
                <a:uFillTx/>
                <a:latin typeface="+mn-lt"/>
                <a:ea typeface="+mn-ea"/>
                <a:cs typeface="+mn-cs"/>
              </a:rPr>
              <a:t> mogelijke syllogismen.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Hoeveel verschillende syllogismen zijn er?</a:t>
            </a:r>
            <a:endParaRPr lang="nl-NL" sz="3600" dirty="0"/>
          </a:p>
        </p:txBody>
      </p:sp>
      <p:sp>
        <p:nvSpPr>
          <p:cNvPr id="19" name="Content Placeholder 2"/>
          <p:cNvSpPr>
            <a:spLocks noGrp="1"/>
          </p:cNvSpPr>
          <p:nvPr>
            <p:ph idx="1"/>
          </p:nvPr>
        </p:nvSpPr>
        <p:spPr>
          <a:xfrm>
            <a:off x="467544" y="1384177"/>
            <a:ext cx="8686800" cy="1108720"/>
          </a:xfrm>
        </p:spPr>
        <p:txBody>
          <a:bodyPr>
            <a:noAutofit/>
          </a:bodyPr>
          <a:lstStyle/>
          <a:p>
            <a:pPr>
              <a:buNone/>
            </a:pPr>
            <a:r>
              <a:rPr lang="nl-NL" sz="2000" dirty="0" smtClean="0"/>
              <a:t>De 256 verschillende syllogismen worden als volgt genoteerd: </a:t>
            </a:r>
            <a:r>
              <a:rPr lang="nl-NL" sz="2000" i="1" dirty="0" smtClean="0"/>
              <a:t>[modus]-[figuur]</a:t>
            </a:r>
          </a:p>
        </p:txBody>
      </p:sp>
      <p:sp>
        <p:nvSpPr>
          <p:cNvPr id="15" name="Content Placeholder 2"/>
          <p:cNvSpPr txBox="1">
            <a:spLocks/>
          </p:cNvSpPr>
          <p:nvPr/>
        </p:nvSpPr>
        <p:spPr>
          <a:xfrm>
            <a:off x="781744"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6" name="Content Placeholder 2"/>
          <p:cNvSpPr txBox="1">
            <a:spLocks/>
          </p:cNvSpPr>
          <p:nvPr/>
        </p:nvSpPr>
        <p:spPr>
          <a:xfrm>
            <a:off x="2411760"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PiM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7" name="Content Placeholder 2"/>
          <p:cNvSpPr txBox="1">
            <a:spLocks/>
          </p:cNvSpPr>
          <p:nvPr/>
        </p:nvSpPr>
        <p:spPr>
          <a:xfrm>
            <a:off x="4355976" y="253630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8" name="Content Placeholder 2"/>
          <p:cNvSpPr txBox="1">
            <a:spLocks/>
          </p:cNvSpPr>
          <p:nvPr/>
        </p:nvSpPr>
        <p:spPr>
          <a:xfrm>
            <a:off x="6156176" y="250770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PiM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20" name="Content Placeholder 2"/>
          <p:cNvSpPr txBox="1">
            <a:spLocks/>
          </p:cNvSpPr>
          <p:nvPr/>
        </p:nvSpPr>
        <p:spPr>
          <a:xfrm>
            <a:off x="421704" y="4120481"/>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      IAI-1</a:t>
            </a:r>
          </a:p>
        </p:txBody>
      </p:sp>
      <p:sp>
        <p:nvSpPr>
          <p:cNvPr id="22" name="Content Placeholder 2"/>
          <p:cNvSpPr txBox="1">
            <a:spLocks/>
          </p:cNvSpPr>
          <p:nvPr/>
        </p:nvSpPr>
        <p:spPr>
          <a:xfrm>
            <a:off x="2339752" y="4077072"/>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IAI-2</a:t>
            </a:r>
          </a:p>
        </p:txBody>
      </p:sp>
      <p:sp>
        <p:nvSpPr>
          <p:cNvPr id="23" name="Content Placeholder 2"/>
          <p:cNvSpPr txBox="1">
            <a:spLocks/>
          </p:cNvSpPr>
          <p:nvPr/>
        </p:nvSpPr>
        <p:spPr>
          <a:xfrm>
            <a:off x="4310136" y="4077072"/>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IAI-3</a:t>
            </a:r>
          </a:p>
        </p:txBody>
      </p:sp>
      <p:sp>
        <p:nvSpPr>
          <p:cNvPr id="24" name="Content Placeholder 2"/>
          <p:cNvSpPr txBox="1">
            <a:spLocks/>
          </p:cNvSpPr>
          <p:nvPr/>
        </p:nvSpPr>
        <p:spPr>
          <a:xfrm>
            <a:off x="6156176" y="4077072"/>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IAI-4</a:t>
            </a:r>
          </a:p>
        </p:txBody>
      </p:sp>
      <p:sp>
        <p:nvSpPr>
          <p:cNvPr id="13" name="Content Placeholder 2"/>
          <p:cNvSpPr txBox="1">
            <a:spLocks/>
          </p:cNvSpPr>
          <p:nvPr/>
        </p:nvSpPr>
        <p:spPr>
          <a:xfrm>
            <a:off x="755576" y="501317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i="1" u="none" strike="noStrike" kern="1200" cap="none" spc="0" normalizeH="0" noProof="0" dirty="0" err="1" smtClean="0">
                <a:ln>
                  <a:noFill/>
                </a:ln>
                <a:solidFill>
                  <a:schemeClr val="tx1"/>
                </a:solidFill>
                <a:effectLst/>
                <a:uLnTx/>
                <a:uFillTx/>
                <a:latin typeface="+mn-lt"/>
                <a:ea typeface="+mn-ea"/>
                <a:cs typeface="+mn-cs"/>
              </a:rPr>
              <a:t>MaP</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14" name="Content Placeholder 2"/>
          <p:cNvSpPr txBox="1">
            <a:spLocks/>
          </p:cNvSpPr>
          <p:nvPr/>
        </p:nvSpPr>
        <p:spPr>
          <a:xfrm>
            <a:off x="1861864" y="577666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AAA-1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fade">
                                      <p:cBhvr>
                                        <p:cTn id="10" dur="2000"/>
                                        <p:tgtEl>
                                          <p:spTgt spid="1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Effect transition="in" filter="fade">
                                      <p:cBhvr>
                                        <p:cTn id="13" dur="2000"/>
                                        <p:tgtEl>
                                          <p:spTgt spid="1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xEl>
                                              <p:pRg st="0" end="0"/>
                                            </p:txEl>
                                          </p:spTgt>
                                        </p:tgtEl>
                                        <p:attrNameLst>
                                          <p:attrName>style.visibility</p:attrName>
                                        </p:attrNameLst>
                                      </p:cBhvr>
                                      <p:to>
                                        <p:strVal val="visible"/>
                                      </p:to>
                                    </p:set>
                                    <p:animEffect transition="in" filter="fade">
                                      <p:cBhvr>
                                        <p:cTn id="16" dur="2000"/>
                                        <p:tgtEl>
                                          <p:spTgt spid="16">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xEl>
                                              <p:pRg st="1" end="1"/>
                                            </p:txEl>
                                          </p:spTgt>
                                        </p:tgtEl>
                                        <p:attrNameLst>
                                          <p:attrName>style.visibility</p:attrName>
                                        </p:attrNameLst>
                                      </p:cBhvr>
                                      <p:to>
                                        <p:strVal val="visible"/>
                                      </p:to>
                                    </p:set>
                                    <p:animEffect transition="in" filter="fade">
                                      <p:cBhvr>
                                        <p:cTn id="19" dur="2000"/>
                                        <p:tgtEl>
                                          <p:spTgt spid="16">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xEl>
                                              <p:pRg st="2" end="2"/>
                                            </p:txEl>
                                          </p:spTgt>
                                        </p:tgtEl>
                                        <p:attrNameLst>
                                          <p:attrName>style.visibility</p:attrName>
                                        </p:attrNameLst>
                                      </p:cBhvr>
                                      <p:to>
                                        <p:strVal val="visible"/>
                                      </p:to>
                                    </p:set>
                                    <p:animEffect transition="in" filter="fade">
                                      <p:cBhvr>
                                        <p:cTn id="22" dur="2000"/>
                                        <p:tgtEl>
                                          <p:spTgt spid="16">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xEl>
                                              <p:pRg st="0" end="0"/>
                                            </p:txEl>
                                          </p:spTgt>
                                        </p:tgtEl>
                                        <p:attrNameLst>
                                          <p:attrName>style.visibility</p:attrName>
                                        </p:attrNameLst>
                                      </p:cBhvr>
                                      <p:to>
                                        <p:strVal val="visible"/>
                                      </p:to>
                                    </p:set>
                                    <p:animEffect transition="in" filter="fade">
                                      <p:cBhvr>
                                        <p:cTn id="25" dur="2000"/>
                                        <p:tgtEl>
                                          <p:spTgt spid="17">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xEl>
                                              <p:pRg st="1" end="1"/>
                                            </p:txEl>
                                          </p:spTgt>
                                        </p:tgtEl>
                                        <p:attrNameLst>
                                          <p:attrName>style.visibility</p:attrName>
                                        </p:attrNameLst>
                                      </p:cBhvr>
                                      <p:to>
                                        <p:strVal val="visible"/>
                                      </p:to>
                                    </p:set>
                                    <p:animEffect transition="in" filter="fade">
                                      <p:cBhvr>
                                        <p:cTn id="28" dur="2000"/>
                                        <p:tgtEl>
                                          <p:spTgt spid="17">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xEl>
                                              <p:pRg st="2" end="2"/>
                                            </p:txEl>
                                          </p:spTgt>
                                        </p:tgtEl>
                                        <p:attrNameLst>
                                          <p:attrName>style.visibility</p:attrName>
                                        </p:attrNameLst>
                                      </p:cBhvr>
                                      <p:to>
                                        <p:strVal val="visible"/>
                                      </p:to>
                                    </p:set>
                                    <p:animEffect transition="in" filter="fade">
                                      <p:cBhvr>
                                        <p:cTn id="31" dur="2000"/>
                                        <p:tgtEl>
                                          <p:spTgt spid="17">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xEl>
                                              <p:pRg st="0" end="0"/>
                                            </p:txEl>
                                          </p:spTgt>
                                        </p:tgtEl>
                                        <p:attrNameLst>
                                          <p:attrName>style.visibility</p:attrName>
                                        </p:attrNameLst>
                                      </p:cBhvr>
                                      <p:to>
                                        <p:strVal val="visible"/>
                                      </p:to>
                                    </p:set>
                                    <p:animEffect transition="in" filter="fade">
                                      <p:cBhvr>
                                        <p:cTn id="34" dur="2000"/>
                                        <p:tgtEl>
                                          <p:spTgt spid="18">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xEl>
                                              <p:pRg st="1" end="1"/>
                                            </p:txEl>
                                          </p:spTgt>
                                        </p:tgtEl>
                                        <p:attrNameLst>
                                          <p:attrName>style.visibility</p:attrName>
                                        </p:attrNameLst>
                                      </p:cBhvr>
                                      <p:to>
                                        <p:strVal val="visible"/>
                                      </p:to>
                                    </p:set>
                                    <p:animEffect transition="in" filter="fade">
                                      <p:cBhvr>
                                        <p:cTn id="37" dur="2000"/>
                                        <p:tgtEl>
                                          <p:spTgt spid="18">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xEl>
                                              <p:pRg st="2" end="2"/>
                                            </p:txEl>
                                          </p:spTgt>
                                        </p:tgtEl>
                                        <p:attrNameLst>
                                          <p:attrName>style.visibility</p:attrName>
                                        </p:attrNameLst>
                                      </p:cBhvr>
                                      <p:to>
                                        <p:strVal val="visible"/>
                                      </p:to>
                                    </p:set>
                                    <p:animEffect transition="in" filter="fade">
                                      <p:cBhvr>
                                        <p:cTn id="40" dur="2000"/>
                                        <p:tgtEl>
                                          <p:spTgt spid="18">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xEl>
                                              <p:pRg st="0" end="0"/>
                                            </p:txEl>
                                          </p:spTgt>
                                        </p:tgtEl>
                                        <p:attrNameLst>
                                          <p:attrName>style.visibility</p:attrName>
                                        </p:attrNameLst>
                                      </p:cBhvr>
                                      <p:to>
                                        <p:strVal val="visible"/>
                                      </p:to>
                                    </p:set>
                                    <p:animEffect transition="in" filter="fade">
                                      <p:cBhvr>
                                        <p:cTn id="45" dur="2000"/>
                                        <p:tgtEl>
                                          <p:spTgt spid="20">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2">
                                            <p:txEl>
                                              <p:pRg st="0" end="0"/>
                                            </p:txEl>
                                          </p:spTgt>
                                        </p:tgtEl>
                                        <p:attrNameLst>
                                          <p:attrName>style.visibility</p:attrName>
                                        </p:attrNameLst>
                                      </p:cBhvr>
                                      <p:to>
                                        <p:strVal val="visible"/>
                                      </p:to>
                                    </p:set>
                                    <p:animEffect transition="in" filter="fade">
                                      <p:cBhvr>
                                        <p:cTn id="48" dur="2000"/>
                                        <p:tgtEl>
                                          <p:spTgt spid="22">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3">
                                            <p:txEl>
                                              <p:pRg st="0" end="0"/>
                                            </p:txEl>
                                          </p:spTgt>
                                        </p:tgtEl>
                                        <p:attrNameLst>
                                          <p:attrName>style.visibility</p:attrName>
                                        </p:attrNameLst>
                                      </p:cBhvr>
                                      <p:to>
                                        <p:strVal val="visible"/>
                                      </p:to>
                                    </p:set>
                                    <p:animEffect transition="in" filter="fade">
                                      <p:cBhvr>
                                        <p:cTn id="51" dur="2000"/>
                                        <p:tgtEl>
                                          <p:spTgt spid="23">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xEl>
                                              <p:pRg st="0" end="0"/>
                                            </p:txEl>
                                          </p:spTgt>
                                        </p:tgtEl>
                                        <p:attrNameLst>
                                          <p:attrName>style.visibility</p:attrName>
                                        </p:attrNameLst>
                                      </p:cBhvr>
                                      <p:to>
                                        <p:strVal val="visible"/>
                                      </p:to>
                                    </p:set>
                                    <p:animEffect transition="in" filter="fade">
                                      <p:cBhvr>
                                        <p:cTn id="54" dur="2000"/>
                                        <p:tgtEl>
                                          <p:spTgt spid="24">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3">
                                            <p:txEl>
                                              <p:pRg st="0" end="0"/>
                                            </p:txEl>
                                          </p:spTgt>
                                        </p:tgtEl>
                                        <p:attrNameLst>
                                          <p:attrName>style.visibility</p:attrName>
                                        </p:attrNameLst>
                                      </p:cBhvr>
                                      <p:to>
                                        <p:strVal val="visible"/>
                                      </p:to>
                                    </p:set>
                                    <p:animEffect transition="in" filter="fade">
                                      <p:cBhvr>
                                        <p:cTn id="59" dur="2000"/>
                                        <p:tgtEl>
                                          <p:spTgt spid="13">
                                            <p:txEl>
                                              <p:pRg st="0" end="0"/>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3">
                                            <p:txEl>
                                              <p:pRg st="1" end="1"/>
                                            </p:txEl>
                                          </p:spTgt>
                                        </p:tgtEl>
                                        <p:attrNameLst>
                                          <p:attrName>style.visibility</p:attrName>
                                        </p:attrNameLst>
                                      </p:cBhvr>
                                      <p:to>
                                        <p:strVal val="visible"/>
                                      </p:to>
                                    </p:set>
                                    <p:animEffect transition="in" filter="fade">
                                      <p:cBhvr>
                                        <p:cTn id="62" dur="2000"/>
                                        <p:tgtEl>
                                          <p:spTgt spid="13">
                                            <p:txEl>
                                              <p:pRg st="1" end="1"/>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3">
                                            <p:txEl>
                                              <p:pRg st="2" end="2"/>
                                            </p:txEl>
                                          </p:spTgt>
                                        </p:tgtEl>
                                        <p:attrNameLst>
                                          <p:attrName>style.visibility</p:attrName>
                                        </p:attrNameLst>
                                      </p:cBhvr>
                                      <p:to>
                                        <p:strVal val="visible"/>
                                      </p:to>
                                    </p:set>
                                    <p:animEffect transition="in" filter="fade">
                                      <p:cBhvr>
                                        <p:cTn id="65" dur="2000"/>
                                        <p:tgtEl>
                                          <p:spTgt spid="13">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xEl>
                                              <p:pRg st="0" end="0"/>
                                            </p:txEl>
                                          </p:spTgt>
                                        </p:tgtEl>
                                        <p:attrNameLst>
                                          <p:attrName>style.visibility</p:attrName>
                                        </p:attrNameLst>
                                      </p:cBhvr>
                                      <p:to>
                                        <p:strVal val="visible"/>
                                      </p:to>
                                    </p:set>
                                    <p:animEffect transition="in" filter="fade">
                                      <p:cBhvr>
                                        <p:cTn id="70"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P spid="16" grpId="0" build="allAtOnce"/>
      <p:bldP spid="17" grpId="0" build="allAtOnce"/>
      <p:bldP spid="18" grpId="0" build="allAtOnce"/>
      <p:bldP spid="20" grpId="0" build="allAtOnce"/>
      <p:bldP spid="22" grpId="0" build="allAtOnce"/>
      <p:bldP spid="23" grpId="0" build="allAtOnce"/>
      <p:bldP spid="24" grpId="0" build="allAtOnce"/>
      <p:bldP spid="13" grpId="0" build="allAtOnce"/>
      <p:bldP spid="14" grpId="0" build="allAtOnce"/>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Terug naar de twee vragen…</a:t>
            </a:r>
            <a:endParaRPr lang="nl-NL" sz="3600" dirty="0"/>
          </a:p>
        </p:txBody>
      </p:sp>
      <p:sp>
        <p:nvSpPr>
          <p:cNvPr id="19" name="Content Placeholder 2"/>
          <p:cNvSpPr>
            <a:spLocks noGrp="1"/>
          </p:cNvSpPr>
          <p:nvPr>
            <p:ph idx="1"/>
          </p:nvPr>
        </p:nvSpPr>
        <p:spPr>
          <a:xfrm>
            <a:off x="107504" y="1384177"/>
            <a:ext cx="9361040" cy="1108720"/>
          </a:xfrm>
        </p:spPr>
        <p:txBody>
          <a:bodyPr>
            <a:noAutofit/>
          </a:bodyPr>
          <a:lstStyle/>
          <a:p>
            <a:r>
              <a:rPr lang="nl-NL" sz="2000" dirty="0" smtClean="0"/>
              <a:t>Hoeveel verschillende syllogismen zijn er eigenlijk?</a:t>
            </a:r>
          </a:p>
          <a:p>
            <a:r>
              <a:rPr lang="nl-NL" sz="2000" dirty="0" smtClean="0"/>
              <a:t>Hoe kunnen we systematisch geldige van ongeldige syllogismen onderscheiden? </a:t>
            </a:r>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Geldige en ongeldige syllogismen</a:t>
            </a:r>
            <a:endParaRPr lang="nl-NL" sz="3600" dirty="0"/>
          </a:p>
        </p:txBody>
      </p:sp>
      <p:sp>
        <p:nvSpPr>
          <p:cNvPr id="19" name="Content Placeholder 2"/>
          <p:cNvSpPr>
            <a:spLocks noGrp="1"/>
          </p:cNvSpPr>
          <p:nvPr>
            <p:ph idx="1"/>
          </p:nvPr>
        </p:nvSpPr>
        <p:spPr>
          <a:xfrm>
            <a:off x="107504" y="1384177"/>
            <a:ext cx="9361040" cy="1108720"/>
          </a:xfrm>
        </p:spPr>
        <p:txBody>
          <a:bodyPr>
            <a:noAutofit/>
          </a:bodyPr>
          <a:lstStyle/>
          <a:p>
            <a:r>
              <a:rPr lang="nl-NL" sz="2000" dirty="0" smtClean="0"/>
              <a:t>Hoeveel verschillende syllogismen zijn er eigenlijk?</a:t>
            </a:r>
          </a:p>
          <a:p>
            <a:r>
              <a:rPr lang="nl-NL" sz="2000" b="1" dirty="0" smtClean="0"/>
              <a:t>Hoe kunnen we systematisch geldige van ongeldige syllogismen onderscheiden? </a:t>
            </a:r>
          </a:p>
        </p:txBody>
      </p:sp>
      <p:sp>
        <p:nvSpPr>
          <p:cNvPr id="4" name="Content Placeholder 2"/>
          <p:cNvSpPr txBox="1">
            <a:spLocks/>
          </p:cNvSpPr>
          <p:nvPr/>
        </p:nvSpPr>
        <p:spPr>
          <a:xfrm>
            <a:off x="107504" y="2348880"/>
            <a:ext cx="8784976"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We zagen dat er 256 verschillende syllogistische redeneervormen zijn. Het overgrote  gedeelte hiervan is niet geldig. Aristoteles merkt er in zijn boek </a:t>
            </a:r>
            <a:r>
              <a:rPr lang="nl-NL" sz="2000" i="1" noProof="0" dirty="0" err="1" smtClean="0"/>
              <a:t>Analytica</a:t>
            </a:r>
            <a:r>
              <a:rPr lang="nl-NL" sz="2000" i="1" noProof="0" dirty="0" smtClean="0"/>
              <a:t> </a:t>
            </a:r>
            <a:r>
              <a:rPr lang="nl-NL" sz="2000" i="1" noProof="0" dirty="0" err="1" smtClean="0"/>
              <a:t>Priora</a:t>
            </a:r>
            <a:r>
              <a:rPr lang="nl-NL" sz="2000" noProof="0" dirty="0" smtClean="0"/>
              <a:t> slechts 24 als geldig aan. </a:t>
            </a:r>
            <a:endParaRPr kumimoji="0" lang="nl-NL" sz="200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 name="Content Placeholder 2"/>
          <p:cNvSpPr txBox="1">
            <a:spLocks/>
          </p:cNvSpPr>
          <p:nvPr/>
        </p:nvSpPr>
        <p:spPr>
          <a:xfrm>
            <a:off x="107504" y="3573016"/>
            <a:ext cx="9036496"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Om de geldige vormen te ontdekken zouden we in theorie alle 256 vormen één voor één kunnen nalopen. We kunnen echter ook een aantal syllogismen als </a:t>
            </a:r>
            <a:r>
              <a:rPr lang="nl-NL" sz="2000" i="1" dirty="0" smtClean="0"/>
              <a:t>evident geldig </a:t>
            </a:r>
            <a:r>
              <a:rPr lang="nl-NL" sz="2000" dirty="0" smtClean="0"/>
              <a:t>aanmerken en hieruit de overige geldige vormen afleiden.</a:t>
            </a:r>
          </a:p>
        </p:txBody>
      </p:sp>
      <p:sp>
        <p:nvSpPr>
          <p:cNvPr id="6" name="Content Placeholder 2"/>
          <p:cNvSpPr txBox="1">
            <a:spLocks/>
          </p:cNvSpPr>
          <p:nvPr/>
        </p:nvSpPr>
        <p:spPr>
          <a:xfrm>
            <a:off x="107504" y="4725144"/>
            <a:ext cx="8784976"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Aristoteles meende dat er </a:t>
            </a:r>
            <a:r>
              <a:rPr lang="nl-NL" sz="2000" u="sng" noProof="0" dirty="0" smtClean="0"/>
              <a:t>vier</a:t>
            </a:r>
            <a:r>
              <a:rPr lang="nl-NL" sz="2000" noProof="0" dirty="0" smtClean="0"/>
              <a:t> </a:t>
            </a:r>
            <a:r>
              <a:rPr lang="nl-NL" sz="2000" noProof="0" dirty="0" err="1" smtClean="0"/>
              <a:t>eerste-figuur</a:t>
            </a:r>
            <a:r>
              <a:rPr lang="nl-NL" sz="2000" dirty="0" smtClean="0"/>
              <a:t>-</a:t>
            </a:r>
            <a:r>
              <a:rPr lang="nl-NL" sz="2000" noProof="0" dirty="0" smtClean="0"/>
              <a:t>syllogismen evident geldig zijn. </a:t>
            </a:r>
            <a:r>
              <a:rPr lang="nl-NL" sz="2000" dirty="0" smtClean="0"/>
              <a:t>Deze vier syllogismen noemde hij </a:t>
            </a:r>
            <a:r>
              <a:rPr lang="nl-NL" sz="2000" i="1" dirty="0" smtClean="0"/>
              <a:t>perfecte syllogismen</a:t>
            </a:r>
            <a:r>
              <a:rPr lang="nl-NL" sz="2000" dirty="0" smtClean="0"/>
              <a:t>.</a:t>
            </a:r>
            <a:endParaRPr kumimoji="0" lang="nl-NL" sz="200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20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vier perfecte syllogismen</a:t>
            </a:r>
            <a:endParaRPr lang="nl-NL" sz="3600" dirty="0"/>
          </a:p>
        </p:txBody>
      </p:sp>
      <p:sp>
        <p:nvSpPr>
          <p:cNvPr id="19" name="Content Placeholder 2"/>
          <p:cNvSpPr>
            <a:spLocks noGrp="1"/>
          </p:cNvSpPr>
          <p:nvPr>
            <p:ph idx="1"/>
          </p:nvPr>
        </p:nvSpPr>
        <p:spPr>
          <a:xfrm>
            <a:off x="457200" y="1384177"/>
            <a:ext cx="8686800" cy="1108720"/>
          </a:xfrm>
        </p:spPr>
        <p:txBody>
          <a:bodyPr>
            <a:noAutofit/>
          </a:bodyPr>
          <a:lstStyle/>
          <a:p>
            <a:r>
              <a:rPr lang="nl-NL" sz="2000" dirty="0" smtClean="0"/>
              <a:t>De vier </a:t>
            </a:r>
            <a:r>
              <a:rPr lang="nl-NL" sz="2000" i="1" dirty="0" smtClean="0"/>
              <a:t>perfecte syllogismen </a:t>
            </a:r>
            <a:r>
              <a:rPr lang="nl-NL" sz="2000" dirty="0" smtClean="0"/>
              <a:t>zijn hieronder weergegeven.</a:t>
            </a:r>
          </a:p>
        </p:txBody>
      </p:sp>
      <p:sp>
        <p:nvSpPr>
          <p:cNvPr id="15" name="Content Placeholder 2"/>
          <p:cNvSpPr txBox="1">
            <a:spLocks/>
          </p:cNvSpPr>
          <p:nvPr/>
        </p:nvSpPr>
        <p:spPr>
          <a:xfrm>
            <a:off x="781744" y="216145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16" name="Content Placeholder 2"/>
          <p:cNvSpPr txBox="1">
            <a:spLocks/>
          </p:cNvSpPr>
          <p:nvPr/>
        </p:nvSpPr>
        <p:spPr>
          <a:xfrm>
            <a:off x="2699792" y="216145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p:txBody>
      </p:sp>
      <p:sp>
        <p:nvSpPr>
          <p:cNvPr id="17" name="Content Placeholder 2"/>
          <p:cNvSpPr txBox="1">
            <a:spLocks/>
          </p:cNvSpPr>
          <p:nvPr/>
        </p:nvSpPr>
        <p:spPr>
          <a:xfrm>
            <a:off x="4670176" y="216145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8" name="Content Placeholder 2"/>
          <p:cNvSpPr txBox="1">
            <a:spLocks/>
          </p:cNvSpPr>
          <p:nvPr/>
        </p:nvSpPr>
        <p:spPr>
          <a:xfrm>
            <a:off x="6542384" y="213285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20" name="Content Placeholder 2"/>
          <p:cNvSpPr txBox="1">
            <a:spLocks/>
          </p:cNvSpPr>
          <p:nvPr/>
        </p:nvSpPr>
        <p:spPr>
          <a:xfrm>
            <a:off x="539552" y="3573017"/>
            <a:ext cx="115212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AAA-1</a:t>
            </a:r>
          </a:p>
        </p:txBody>
      </p:sp>
      <p:sp>
        <p:nvSpPr>
          <p:cNvPr id="22" name="Content Placeholder 2"/>
          <p:cNvSpPr txBox="1">
            <a:spLocks/>
          </p:cNvSpPr>
          <p:nvPr/>
        </p:nvSpPr>
        <p:spPr>
          <a:xfrm>
            <a:off x="2555776" y="3573017"/>
            <a:ext cx="79208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EAE-1</a:t>
            </a:r>
          </a:p>
        </p:txBody>
      </p:sp>
      <p:sp>
        <p:nvSpPr>
          <p:cNvPr id="23" name="Content Placeholder 2"/>
          <p:cNvSpPr txBox="1">
            <a:spLocks/>
          </p:cNvSpPr>
          <p:nvPr/>
        </p:nvSpPr>
        <p:spPr>
          <a:xfrm>
            <a:off x="4572000" y="3573017"/>
            <a:ext cx="864096"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AII-1</a:t>
            </a:r>
          </a:p>
        </p:txBody>
      </p:sp>
      <p:sp>
        <p:nvSpPr>
          <p:cNvPr id="24" name="Content Placeholder 2"/>
          <p:cNvSpPr txBox="1">
            <a:spLocks/>
          </p:cNvSpPr>
          <p:nvPr/>
        </p:nvSpPr>
        <p:spPr>
          <a:xfrm>
            <a:off x="6372200" y="3573017"/>
            <a:ext cx="936104"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EIO-1</a:t>
            </a:r>
          </a:p>
        </p:txBody>
      </p:sp>
      <p:sp>
        <p:nvSpPr>
          <p:cNvPr id="14" name="TextBox 13"/>
          <p:cNvSpPr txBox="1"/>
          <p:nvPr/>
        </p:nvSpPr>
        <p:spPr>
          <a:xfrm>
            <a:off x="467544" y="4302388"/>
            <a:ext cx="1584176" cy="369332"/>
          </a:xfrm>
          <a:prstGeom prst="rect">
            <a:avLst/>
          </a:prstGeom>
          <a:noFill/>
        </p:spPr>
        <p:txBody>
          <a:bodyPr wrap="square" rtlCol="0">
            <a:spAutoFit/>
          </a:bodyPr>
          <a:lstStyle/>
          <a:p>
            <a:r>
              <a:rPr lang="nl-NL" b="1" i="1" dirty="0" smtClean="0"/>
              <a:t>Barbara</a:t>
            </a:r>
            <a:endParaRPr lang="nl-NL" b="1" i="1" dirty="0"/>
          </a:p>
        </p:txBody>
      </p:sp>
      <p:sp>
        <p:nvSpPr>
          <p:cNvPr id="21" name="TextBox 20"/>
          <p:cNvSpPr txBox="1"/>
          <p:nvPr/>
        </p:nvSpPr>
        <p:spPr>
          <a:xfrm>
            <a:off x="2483768" y="4302388"/>
            <a:ext cx="1584176" cy="369332"/>
          </a:xfrm>
          <a:prstGeom prst="rect">
            <a:avLst/>
          </a:prstGeom>
          <a:noFill/>
        </p:spPr>
        <p:txBody>
          <a:bodyPr wrap="square" rtlCol="0">
            <a:spAutoFit/>
          </a:bodyPr>
          <a:lstStyle/>
          <a:p>
            <a:r>
              <a:rPr lang="nl-NL" b="1" i="1" dirty="0" err="1" smtClean="0"/>
              <a:t>Celarent</a:t>
            </a:r>
            <a:endParaRPr lang="nl-NL" b="1" i="1" dirty="0"/>
          </a:p>
        </p:txBody>
      </p:sp>
      <p:sp>
        <p:nvSpPr>
          <p:cNvPr id="25" name="TextBox 24"/>
          <p:cNvSpPr txBox="1"/>
          <p:nvPr/>
        </p:nvSpPr>
        <p:spPr>
          <a:xfrm>
            <a:off x="4572000" y="4293096"/>
            <a:ext cx="1584176" cy="369332"/>
          </a:xfrm>
          <a:prstGeom prst="rect">
            <a:avLst/>
          </a:prstGeom>
          <a:noFill/>
        </p:spPr>
        <p:txBody>
          <a:bodyPr wrap="square" rtlCol="0">
            <a:spAutoFit/>
          </a:bodyPr>
          <a:lstStyle/>
          <a:p>
            <a:r>
              <a:rPr lang="nl-NL" b="1" i="1" dirty="0" err="1" smtClean="0"/>
              <a:t>Darii</a:t>
            </a:r>
            <a:endParaRPr lang="nl-NL" b="1" i="1" dirty="0"/>
          </a:p>
        </p:txBody>
      </p:sp>
      <p:sp>
        <p:nvSpPr>
          <p:cNvPr id="26" name="TextBox 25"/>
          <p:cNvSpPr txBox="1"/>
          <p:nvPr/>
        </p:nvSpPr>
        <p:spPr>
          <a:xfrm>
            <a:off x="6372200" y="4302388"/>
            <a:ext cx="792088" cy="369332"/>
          </a:xfrm>
          <a:prstGeom prst="rect">
            <a:avLst/>
          </a:prstGeom>
          <a:noFill/>
        </p:spPr>
        <p:txBody>
          <a:bodyPr wrap="square" rtlCol="0">
            <a:spAutoFit/>
          </a:bodyPr>
          <a:lstStyle/>
          <a:p>
            <a:r>
              <a:rPr lang="nl-NL" b="1" i="1" dirty="0" err="1" smtClean="0"/>
              <a:t>Ferio</a:t>
            </a:r>
            <a:endParaRPr lang="nl-NL"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20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
                                            <p:txEl>
                                              <p:pRg st="0" end="0"/>
                                            </p:txEl>
                                          </p:spTgt>
                                        </p:tgtEl>
                                        <p:attrNameLst>
                                          <p:attrName>style.visibility</p:attrName>
                                        </p:attrNameLst>
                                      </p:cBhvr>
                                      <p:to>
                                        <p:strVal val="visible"/>
                                      </p:to>
                                    </p:set>
                                    <p:animEffect transition="in" filter="fade">
                                      <p:cBhvr>
                                        <p:cTn id="10" dur="2000"/>
                                        <p:tgtEl>
                                          <p:spTgt spid="2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xEl>
                                              <p:pRg st="0" end="0"/>
                                            </p:txEl>
                                          </p:spTgt>
                                        </p:tgtEl>
                                        <p:attrNameLst>
                                          <p:attrName>style.visibility</p:attrName>
                                        </p:attrNameLst>
                                      </p:cBhvr>
                                      <p:to>
                                        <p:strVal val="visible"/>
                                      </p:to>
                                    </p:set>
                                    <p:animEffect transition="in" filter="fade">
                                      <p:cBhvr>
                                        <p:cTn id="13" dur="2000"/>
                                        <p:tgtEl>
                                          <p:spTgt spid="23">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xEl>
                                              <p:pRg st="0" end="0"/>
                                            </p:txEl>
                                          </p:spTgt>
                                        </p:tgtEl>
                                        <p:attrNameLst>
                                          <p:attrName>style.visibility</p:attrName>
                                        </p:attrNameLst>
                                      </p:cBhvr>
                                      <p:to>
                                        <p:strVal val="visible"/>
                                      </p:to>
                                    </p:set>
                                    <p:animEffect transition="in" filter="fade">
                                      <p:cBhvr>
                                        <p:cTn id="16" dur="2000"/>
                                        <p:tgtEl>
                                          <p:spTgt spid="24">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visible"/>
                                      </p:to>
                                    </p:set>
                                    <p:animEffect transition="in" filter="fade">
                                      <p:cBhvr>
                                        <p:cTn id="21" dur="2000"/>
                                        <p:tgtEl>
                                          <p:spTgt spid="14">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xEl>
                                              <p:pRg st="0" end="0"/>
                                            </p:txEl>
                                          </p:spTgt>
                                        </p:tgtEl>
                                        <p:attrNameLst>
                                          <p:attrName>style.visibility</p:attrName>
                                        </p:attrNameLst>
                                      </p:cBhvr>
                                      <p:to>
                                        <p:strVal val="visible"/>
                                      </p:to>
                                    </p:set>
                                    <p:animEffect transition="in" filter="fade">
                                      <p:cBhvr>
                                        <p:cTn id="24" dur="2000"/>
                                        <p:tgtEl>
                                          <p:spTgt spid="21">
                                            <p:txEl>
                                              <p:pRg st="0" end="0"/>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2000"/>
                                        <p:tgtEl>
                                          <p:spTgt spid="25">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xEl>
                                              <p:pRg st="0" end="0"/>
                                            </p:txEl>
                                          </p:spTgt>
                                        </p:tgtEl>
                                        <p:attrNameLst>
                                          <p:attrName>style.visibility</p:attrName>
                                        </p:attrNameLst>
                                      </p:cBhvr>
                                      <p:to>
                                        <p:strVal val="visible"/>
                                      </p:to>
                                    </p:set>
                                    <p:animEffect transition="in" filter="fade">
                                      <p:cBhvr>
                                        <p:cTn id="30" dur="20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allAtOnce"/>
      <p:bldP spid="22" grpId="0" build="allAtOnce"/>
      <p:bldP spid="23" grpId="0" build="allAtOnce"/>
      <p:bldP spid="24" grpId="0" build="allAtOnce"/>
      <p:bldP spid="14" grpId="0" build="allAtOnce"/>
      <p:bldP spid="21" grpId="0" build="allAtOnce"/>
      <p:bldP spid="25" grpId="0" build="allAtOnce"/>
      <p:bldP spid="26" grpId="0" build="allAtOnce"/>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vier perfecte syllogismen</a:t>
            </a:r>
            <a:endParaRPr lang="nl-NL" sz="3600" dirty="0"/>
          </a:p>
        </p:txBody>
      </p:sp>
      <p:sp>
        <p:nvSpPr>
          <p:cNvPr id="19" name="Content Placeholder 2"/>
          <p:cNvSpPr>
            <a:spLocks noGrp="1"/>
          </p:cNvSpPr>
          <p:nvPr>
            <p:ph idx="1"/>
          </p:nvPr>
        </p:nvSpPr>
        <p:spPr>
          <a:xfrm>
            <a:off x="457200" y="1384177"/>
            <a:ext cx="8686800" cy="1108720"/>
          </a:xfrm>
        </p:spPr>
        <p:txBody>
          <a:bodyPr>
            <a:noAutofit/>
          </a:bodyPr>
          <a:lstStyle/>
          <a:p>
            <a:r>
              <a:rPr lang="nl-NL" sz="2000" dirty="0" smtClean="0"/>
              <a:t>De vier </a:t>
            </a:r>
            <a:r>
              <a:rPr lang="nl-NL" sz="2000" i="1" dirty="0" smtClean="0"/>
              <a:t>perfecte syllogismen </a:t>
            </a:r>
            <a:r>
              <a:rPr lang="nl-NL" sz="2000" dirty="0" smtClean="0"/>
              <a:t>zijn hieronder weergegeven</a:t>
            </a:r>
          </a:p>
        </p:txBody>
      </p:sp>
      <p:sp>
        <p:nvSpPr>
          <p:cNvPr id="15" name="Content Placeholder 2"/>
          <p:cNvSpPr txBox="1">
            <a:spLocks/>
          </p:cNvSpPr>
          <p:nvPr/>
        </p:nvSpPr>
        <p:spPr>
          <a:xfrm>
            <a:off x="781744" y="216145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p:txBody>
      </p:sp>
      <p:sp>
        <p:nvSpPr>
          <p:cNvPr id="16" name="Content Placeholder 2"/>
          <p:cNvSpPr txBox="1">
            <a:spLocks/>
          </p:cNvSpPr>
          <p:nvPr/>
        </p:nvSpPr>
        <p:spPr>
          <a:xfrm>
            <a:off x="2699792" y="216145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p:txBody>
      </p:sp>
      <p:sp>
        <p:nvSpPr>
          <p:cNvPr id="17" name="Content Placeholder 2"/>
          <p:cNvSpPr txBox="1">
            <a:spLocks/>
          </p:cNvSpPr>
          <p:nvPr/>
        </p:nvSpPr>
        <p:spPr>
          <a:xfrm>
            <a:off x="4670176" y="2161455"/>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18" name="Content Placeholder 2"/>
          <p:cNvSpPr txBox="1">
            <a:spLocks/>
          </p:cNvSpPr>
          <p:nvPr/>
        </p:nvSpPr>
        <p:spPr>
          <a:xfrm>
            <a:off x="6542384" y="2132856"/>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20" name="Content Placeholder 2"/>
          <p:cNvSpPr txBox="1">
            <a:spLocks/>
          </p:cNvSpPr>
          <p:nvPr/>
        </p:nvSpPr>
        <p:spPr>
          <a:xfrm>
            <a:off x="539552" y="3573017"/>
            <a:ext cx="115212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solidFill>
                  <a:srgbClr val="0070C0"/>
                </a:solidFill>
              </a:rPr>
              <a:t>AAA</a:t>
            </a:r>
            <a:r>
              <a:rPr lang="nl-NL" sz="2000" b="1" dirty="0" smtClean="0"/>
              <a:t>-1</a:t>
            </a:r>
          </a:p>
        </p:txBody>
      </p:sp>
      <p:sp>
        <p:nvSpPr>
          <p:cNvPr id="22" name="Content Placeholder 2"/>
          <p:cNvSpPr txBox="1">
            <a:spLocks/>
          </p:cNvSpPr>
          <p:nvPr/>
        </p:nvSpPr>
        <p:spPr>
          <a:xfrm>
            <a:off x="2555776" y="3573017"/>
            <a:ext cx="79208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solidFill>
                  <a:srgbClr val="0070C0"/>
                </a:solidFill>
              </a:rPr>
              <a:t>EAE</a:t>
            </a:r>
            <a:r>
              <a:rPr lang="nl-NL" sz="2000" b="1" dirty="0" smtClean="0"/>
              <a:t>-1</a:t>
            </a:r>
          </a:p>
        </p:txBody>
      </p:sp>
      <p:sp>
        <p:nvSpPr>
          <p:cNvPr id="23" name="Content Placeholder 2"/>
          <p:cNvSpPr txBox="1">
            <a:spLocks/>
          </p:cNvSpPr>
          <p:nvPr/>
        </p:nvSpPr>
        <p:spPr>
          <a:xfrm>
            <a:off x="4572000" y="3573017"/>
            <a:ext cx="864096"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solidFill>
                  <a:srgbClr val="0070C0"/>
                </a:solidFill>
              </a:rPr>
              <a:t>AII</a:t>
            </a:r>
            <a:r>
              <a:rPr lang="nl-NL" sz="2000" b="1" dirty="0" smtClean="0"/>
              <a:t>-1</a:t>
            </a:r>
          </a:p>
        </p:txBody>
      </p:sp>
      <p:sp>
        <p:nvSpPr>
          <p:cNvPr id="24" name="Content Placeholder 2"/>
          <p:cNvSpPr txBox="1">
            <a:spLocks/>
          </p:cNvSpPr>
          <p:nvPr/>
        </p:nvSpPr>
        <p:spPr>
          <a:xfrm>
            <a:off x="6372200" y="3573017"/>
            <a:ext cx="936104"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solidFill>
                  <a:srgbClr val="0070C0"/>
                </a:solidFill>
              </a:rPr>
              <a:t>EIO</a:t>
            </a:r>
            <a:r>
              <a:rPr lang="nl-NL" sz="2000" b="1" dirty="0" smtClean="0"/>
              <a:t>-1</a:t>
            </a:r>
          </a:p>
        </p:txBody>
      </p:sp>
      <p:sp>
        <p:nvSpPr>
          <p:cNvPr id="14" name="TextBox 13"/>
          <p:cNvSpPr txBox="1"/>
          <p:nvPr/>
        </p:nvSpPr>
        <p:spPr>
          <a:xfrm>
            <a:off x="467544" y="4302388"/>
            <a:ext cx="1584176" cy="369332"/>
          </a:xfrm>
          <a:prstGeom prst="rect">
            <a:avLst/>
          </a:prstGeom>
          <a:noFill/>
        </p:spPr>
        <p:txBody>
          <a:bodyPr wrap="square" rtlCol="0">
            <a:spAutoFit/>
          </a:bodyPr>
          <a:lstStyle/>
          <a:p>
            <a:r>
              <a:rPr lang="nl-NL" b="1" i="1" dirty="0" smtClean="0"/>
              <a:t>B</a:t>
            </a:r>
            <a:r>
              <a:rPr lang="nl-NL" b="1" i="1" dirty="0" smtClean="0">
                <a:solidFill>
                  <a:srgbClr val="0070C0"/>
                </a:solidFill>
              </a:rPr>
              <a:t>a</a:t>
            </a:r>
            <a:r>
              <a:rPr lang="nl-NL" b="1" i="1" dirty="0" smtClean="0"/>
              <a:t>rb</a:t>
            </a:r>
            <a:r>
              <a:rPr lang="nl-NL" b="1" i="1" dirty="0" smtClean="0">
                <a:solidFill>
                  <a:srgbClr val="0070C0"/>
                </a:solidFill>
              </a:rPr>
              <a:t>a</a:t>
            </a:r>
            <a:r>
              <a:rPr lang="nl-NL" b="1" i="1" dirty="0" smtClean="0"/>
              <a:t>r</a:t>
            </a:r>
            <a:r>
              <a:rPr lang="nl-NL" b="1" i="1" dirty="0" smtClean="0">
                <a:solidFill>
                  <a:srgbClr val="0070C0"/>
                </a:solidFill>
              </a:rPr>
              <a:t>a</a:t>
            </a:r>
            <a:endParaRPr lang="nl-NL" b="1" i="1" dirty="0">
              <a:solidFill>
                <a:srgbClr val="0070C0"/>
              </a:solidFill>
            </a:endParaRPr>
          </a:p>
        </p:txBody>
      </p:sp>
      <p:sp>
        <p:nvSpPr>
          <p:cNvPr id="21" name="TextBox 20"/>
          <p:cNvSpPr txBox="1"/>
          <p:nvPr/>
        </p:nvSpPr>
        <p:spPr>
          <a:xfrm>
            <a:off x="2483768" y="4302388"/>
            <a:ext cx="1584176" cy="369332"/>
          </a:xfrm>
          <a:prstGeom prst="rect">
            <a:avLst/>
          </a:prstGeom>
          <a:noFill/>
        </p:spPr>
        <p:txBody>
          <a:bodyPr wrap="square" rtlCol="0">
            <a:spAutoFit/>
          </a:bodyPr>
          <a:lstStyle/>
          <a:p>
            <a:r>
              <a:rPr lang="nl-NL" b="1" i="1" dirty="0" err="1" smtClean="0"/>
              <a:t>C</a:t>
            </a:r>
            <a:r>
              <a:rPr lang="nl-NL" b="1" i="1" dirty="0" err="1" smtClean="0">
                <a:solidFill>
                  <a:srgbClr val="0070C0"/>
                </a:solidFill>
              </a:rPr>
              <a:t>e</a:t>
            </a:r>
            <a:r>
              <a:rPr lang="nl-NL" b="1" i="1" dirty="0" err="1" smtClean="0"/>
              <a:t>l</a:t>
            </a:r>
            <a:r>
              <a:rPr lang="nl-NL" b="1" i="1" dirty="0" err="1" smtClean="0">
                <a:solidFill>
                  <a:srgbClr val="0070C0"/>
                </a:solidFill>
              </a:rPr>
              <a:t>a</a:t>
            </a:r>
            <a:r>
              <a:rPr lang="nl-NL" b="1" i="1" dirty="0" err="1" smtClean="0"/>
              <a:t>r</a:t>
            </a:r>
            <a:r>
              <a:rPr lang="nl-NL" b="1" i="1" dirty="0" err="1" smtClean="0">
                <a:solidFill>
                  <a:srgbClr val="0070C0"/>
                </a:solidFill>
              </a:rPr>
              <a:t>e</a:t>
            </a:r>
            <a:r>
              <a:rPr lang="nl-NL" b="1" i="1" dirty="0" err="1" smtClean="0"/>
              <a:t>nt</a:t>
            </a:r>
            <a:endParaRPr lang="nl-NL" b="1" i="1" dirty="0"/>
          </a:p>
        </p:txBody>
      </p:sp>
      <p:sp>
        <p:nvSpPr>
          <p:cNvPr id="25" name="TextBox 24"/>
          <p:cNvSpPr txBox="1"/>
          <p:nvPr/>
        </p:nvSpPr>
        <p:spPr>
          <a:xfrm>
            <a:off x="4572000" y="4293096"/>
            <a:ext cx="1584176" cy="369332"/>
          </a:xfrm>
          <a:prstGeom prst="rect">
            <a:avLst/>
          </a:prstGeom>
          <a:noFill/>
        </p:spPr>
        <p:txBody>
          <a:bodyPr wrap="square" rtlCol="0">
            <a:spAutoFit/>
          </a:bodyPr>
          <a:lstStyle/>
          <a:p>
            <a:r>
              <a:rPr lang="nl-NL" b="1" i="1" dirty="0" err="1" smtClean="0"/>
              <a:t>D</a:t>
            </a:r>
            <a:r>
              <a:rPr lang="nl-NL" b="1" i="1" dirty="0" err="1" smtClean="0">
                <a:solidFill>
                  <a:srgbClr val="0070C0"/>
                </a:solidFill>
              </a:rPr>
              <a:t>a</a:t>
            </a:r>
            <a:r>
              <a:rPr lang="nl-NL" b="1" i="1" dirty="0" err="1" smtClean="0"/>
              <a:t>r</a:t>
            </a:r>
            <a:r>
              <a:rPr lang="nl-NL" b="1" i="1" dirty="0" err="1" smtClean="0">
                <a:solidFill>
                  <a:srgbClr val="0070C0"/>
                </a:solidFill>
              </a:rPr>
              <a:t>ii</a:t>
            </a:r>
            <a:endParaRPr lang="nl-NL" b="1" i="1" dirty="0">
              <a:solidFill>
                <a:srgbClr val="0070C0"/>
              </a:solidFill>
            </a:endParaRPr>
          </a:p>
        </p:txBody>
      </p:sp>
      <p:sp>
        <p:nvSpPr>
          <p:cNvPr id="26" name="TextBox 25"/>
          <p:cNvSpPr txBox="1"/>
          <p:nvPr/>
        </p:nvSpPr>
        <p:spPr>
          <a:xfrm>
            <a:off x="6372200" y="4302388"/>
            <a:ext cx="792088" cy="369332"/>
          </a:xfrm>
          <a:prstGeom prst="rect">
            <a:avLst/>
          </a:prstGeom>
          <a:noFill/>
        </p:spPr>
        <p:txBody>
          <a:bodyPr wrap="square" rtlCol="0">
            <a:spAutoFit/>
          </a:bodyPr>
          <a:lstStyle/>
          <a:p>
            <a:r>
              <a:rPr lang="nl-NL" b="1" i="1" dirty="0" err="1" smtClean="0"/>
              <a:t>F</a:t>
            </a:r>
            <a:r>
              <a:rPr lang="nl-NL" b="1" i="1" dirty="0" err="1" smtClean="0">
                <a:solidFill>
                  <a:srgbClr val="0070C0"/>
                </a:solidFill>
              </a:rPr>
              <a:t>e</a:t>
            </a:r>
            <a:r>
              <a:rPr lang="nl-NL" b="1" i="1" dirty="0" err="1" smtClean="0"/>
              <a:t>r</a:t>
            </a:r>
            <a:r>
              <a:rPr lang="nl-NL" b="1" i="1" dirty="0" err="1" smtClean="0">
                <a:solidFill>
                  <a:srgbClr val="0070C0"/>
                </a:solidFill>
              </a:rPr>
              <a:t>io</a:t>
            </a:r>
            <a:endParaRPr lang="nl-NL" b="1" i="1" dirty="0">
              <a:solidFill>
                <a:srgbClr val="0070C0"/>
              </a:solidFill>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vier perfecte syllogismen</a:t>
            </a:r>
            <a:endParaRPr lang="nl-NL" sz="3600" dirty="0"/>
          </a:p>
        </p:txBody>
      </p:sp>
      <p:sp>
        <p:nvSpPr>
          <p:cNvPr id="19" name="Content Placeholder 2"/>
          <p:cNvSpPr>
            <a:spLocks noGrp="1"/>
          </p:cNvSpPr>
          <p:nvPr>
            <p:ph idx="1"/>
          </p:nvPr>
        </p:nvSpPr>
        <p:spPr>
          <a:xfrm>
            <a:off x="313184" y="1384177"/>
            <a:ext cx="8939336" cy="1108720"/>
          </a:xfrm>
        </p:spPr>
        <p:txBody>
          <a:bodyPr>
            <a:noAutofit/>
          </a:bodyPr>
          <a:lstStyle/>
          <a:p>
            <a:r>
              <a:rPr lang="nl-NL" sz="2000" dirty="0" smtClean="0"/>
              <a:t>Uit </a:t>
            </a:r>
            <a:r>
              <a:rPr lang="nl-NL" sz="2000" i="1" dirty="0" smtClean="0"/>
              <a:t>Barbara</a:t>
            </a:r>
            <a:r>
              <a:rPr lang="nl-NL" sz="2000" dirty="0" smtClean="0"/>
              <a:t>, </a:t>
            </a:r>
            <a:r>
              <a:rPr lang="nl-NL" sz="2000" i="1" dirty="0" err="1" smtClean="0"/>
              <a:t>Celarent</a:t>
            </a:r>
            <a:r>
              <a:rPr lang="nl-NL" sz="2000" dirty="0" smtClean="0"/>
              <a:t>, </a:t>
            </a:r>
            <a:r>
              <a:rPr lang="nl-NL" sz="2000" i="1" dirty="0" err="1" smtClean="0"/>
              <a:t>Darii</a:t>
            </a:r>
            <a:r>
              <a:rPr lang="nl-NL" sz="2000" dirty="0" smtClean="0"/>
              <a:t> en </a:t>
            </a:r>
            <a:r>
              <a:rPr lang="nl-NL" sz="2000" i="1" dirty="0" err="1" smtClean="0"/>
              <a:t>Ferio</a:t>
            </a:r>
            <a:r>
              <a:rPr lang="nl-NL" sz="2000" dirty="0" smtClean="0"/>
              <a:t> kunnen 15 geldige syllogismen worden afgeleid (zoals straks geïllustreerd wordt). In de Middeleeuwen moesten studenten naast de 4 perfecte syllogismen ook deze 15 uit hun hoofd leren.        Het gaat om onderstaande vormen</a:t>
            </a:r>
          </a:p>
          <a:p>
            <a:endParaRPr lang="nl-NL" sz="2000" dirty="0" smtClean="0"/>
          </a:p>
          <a:p>
            <a:pPr>
              <a:buNone/>
            </a:pPr>
            <a:r>
              <a:rPr lang="nl-NL" sz="2000" dirty="0" smtClean="0"/>
              <a:t>	Tweede figuur: </a:t>
            </a:r>
            <a:r>
              <a:rPr lang="nl-NL" sz="2000" i="1" dirty="0" err="1" smtClean="0"/>
              <a:t>Cesare</a:t>
            </a:r>
            <a:r>
              <a:rPr lang="nl-NL" sz="2000" dirty="0" smtClean="0"/>
              <a:t>, </a:t>
            </a:r>
            <a:r>
              <a:rPr lang="nl-NL" sz="2000" i="1" dirty="0" err="1" smtClean="0"/>
              <a:t>Camestres</a:t>
            </a:r>
            <a:r>
              <a:rPr lang="nl-NL" sz="2000" dirty="0" smtClean="0"/>
              <a:t>, </a:t>
            </a:r>
            <a:r>
              <a:rPr lang="nl-NL" sz="2000" i="1" dirty="0" err="1" smtClean="0"/>
              <a:t>Festino</a:t>
            </a:r>
            <a:r>
              <a:rPr lang="nl-NL" sz="2000" dirty="0" smtClean="0"/>
              <a:t>, </a:t>
            </a:r>
            <a:r>
              <a:rPr lang="nl-NL" sz="2000" i="1" dirty="0" err="1" smtClean="0"/>
              <a:t>Baroco</a:t>
            </a:r>
            <a:endParaRPr lang="nl-NL" sz="2000" i="1" dirty="0" smtClean="0"/>
          </a:p>
          <a:p>
            <a:pPr>
              <a:buNone/>
            </a:pPr>
            <a:r>
              <a:rPr lang="nl-NL" sz="2000" dirty="0" smtClean="0"/>
              <a:t>	Derde figuur: </a:t>
            </a:r>
            <a:r>
              <a:rPr lang="nl-NL" sz="2000" i="1" dirty="0" err="1" smtClean="0"/>
              <a:t>Darapti</a:t>
            </a:r>
            <a:r>
              <a:rPr lang="nl-NL" sz="2000" dirty="0" smtClean="0"/>
              <a:t>,</a:t>
            </a:r>
            <a:r>
              <a:rPr lang="nl-NL" sz="2000" i="1" dirty="0" smtClean="0"/>
              <a:t> </a:t>
            </a:r>
            <a:r>
              <a:rPr lang="nl-NL" sz="2000" i="1" dirty="0" err="1" smtClean="0"/>
              <a:t>Disamis</a:t>
            </a:r>
            <a:r>
              <a:rPr lang="nl-NL" sz="2000" dirty="0" smtClean="0"/>
              <a:t>,</a:t>
            </a:r>
            <a:r>
              <a:rPr lang="nl-NL" sz="2000" i="1" dirty="0" smtClean="0"/>
              <a:t> </a:t>
            </a:r>
            <a:r>
              <a:rPr lang="nl-NL" sz="2000" i="1" dirty="0" err="1" smtClean="0"/>
              <a:t>Datisi</a:t>
            </a:r>
            <a:r>
              <a:rPr lang="nl-NL" sz="2000" dirty="0" smtClean="0"/>
              <a:t>,</a:t>
            </a:r>
            <a:r>
              <a:rPr lang="nl-NL" sz="2000" i="1" dirty="0" smtClean="0"/>
              <a:t> </a:t>
            </a:r>
            <a:r>
              <a:rPr lang="nl-NL" sz="2000" i="1" dirty="0" err="1" smtClean="0"/>
              <a:t>Felapton</a:t>
            </a:r>
            <a:r>
              <a:rPr lang="nl-NL" sz="2000" dirty="0" smtClean="0"/>
              <a:t>,</a:t>
            </a:r>
            <a:r>
              <a:rPr lang="nl-NL" sz="2000" i="1" dirty="0" smtClean="0"/>
              <a:t> </a:t>
            </a:r>
            <a:r>
              <a:rPr lang="nl-NL" sz="2000" i="1" dirty="0" err="1" smtClean="0"/>
              <a:t>Bocardo</a:t>
            </a:r>
            <a:r>
              <a:rPr lang="nl-NL" sz="2000" dirty="0" smtClean="0"/>
              <a:t>,</a:t>
            </a:r>
            <a:r>
              <a:rPr lang="nl-NL" sz="2000" i="1" dirty="0" smtClean="0"/>
              <a:t> </a:t>
            </a:r>
            <a:r>
              <a:rPr lang="nl-NL" sz="2000" i="1" dirty="0" err="1" smtClean="0"/>
              <a:t>Ferison</a:t>
            </a:r>
            <a:endParaRPr lang="nl-NL" sz="2000" i="1" dirty="0" smtClean="0"/>
          </a:p>
          <a:p>
            <a:pPr>
              <a:buNone/>
            </a:pPr>
            <a:r>
              <a:rPr lang="nl-NL" sz="2000" dirty="0" smtClean="0"/>
              <a:t>	Vierde figuur:  </a:t>
            </a:r>
            <a:r>
              <a:rPr lang="nl-NL" sz="2000" i="1" dirty="0" err="1" smtClean="0"/>
              <a:t>Bramantip</a:t>
            </a:r>
            <a:r>
              <a:rPr lang="nl-NL" sz="2000" dirty="0" smtClean="0"/>
              <a:t>,</a:t>
            </a:r>
            <a:r>
              <a:rPr lang="nl-NL" sz="2000" i="1" dirty="0" smtClean="0"/>
              <a:t> </a:t>
            </a:r>
            <a:r>
              <a:rPr lang="nl-NL" sz="2000" i="1" dirty="0" err="1" smtClean="0"/>
              <a:t>Camenes</a:t>
            </a:r>
            <a:r>
              <a:rPr lang="nl-NL" sz="2000" dirty="0" smtClean="0"/>
              <a:t>,</a:t>
            </a:r>
            <a:r>
              <a:rPr lang="nl-NL" sz="2000" i="1" dirty="0" smtClean="0"/>
              <a:t> </a:t>
            </a:r>
            <a:r>
              <a:rPr lang="nl-NL" sz="2000" i="1" dirty="0" err="1" smtClean="0"/>
              <a:t>Dimaris</a:t>
            </a:r>
            <a:r>
              <a:rPr lang="nl-NL" sz="2000" dirty="0" smtClean="0"/>
              <a:t>,</a:t>
            </a:r>
            <a:r>
              <a:rPr lang="nl-NL" sz="2000" i="1" dirty="0" smtClean="0"/>
              <a:t> </a:t>
            </a:r>
            <a:r>
              <a:rPr lang="nl-NL" sz="2000" i="1" dirty="0" err="1" smtClean="0"/>
              <a:t>Fesapo</a:t>
            </a:r>
            <a:r>
              <a:rPr lang="nl-NL" sz="2000" dirty="0" smtClean="0"/>
              <a:t>,</a:t>
            </a:r>
            <a:r>
              <a:rPr lang="nl-NL" sz="2000" i="1" dirty="0" smtClean="0"/>
              <a:t> </a:t>
            </a:r>
            <a:r>
              <a:rPr lang="nl-NL" sz="2000" i="1" dirty="0" err="1" smtClean="0"/>
              <a:t>Fresison</a:t>
            </a:r>
            <a:r>
              <a:rPr lang="nl-NL" sz="2000" i="1" dirty="0" smtClean="0"/>
              <a:t> </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vier perfecte syllogismen</a:t>
            </a:r>
            <a:endParaRPr lang="nl-NL" sz="3600" dirty="0"/>
          </a:p>
        </p:txBody>
      </p:sp>
      <p:sp>
        <p:nvSpPr>
          <p:cNvPr id="19" name="Content Placeholder 2"/>
          <p:cNvSpPr>
            <a:spLocks noGrp="1"/>
          </p:cNvSpPr>
          <p:nvPr>
            <p:ph idx="1"/>
          </p:nvPr>
        </p:nvSpPr>
        <p:spPr>
          <a:xfrm>
            <a:off x="313184" y="1384177"/>
            <a:ext cx="8939336" cy="1108720"/>
          </a:xfrm>
        </p:spPr>
        <p:txBody>
          <a:bodyPr>
            <a:noAutofit/>
          </a:bodyPr>
          <a:lstStyle/>
          <a:p>
            <a:r>
              <a:rPr lang="nl-NL" sz="2000" dirty="0" smtClean="0"/>
              <a:t>Uit </a:t>
            </a:r>
            <a:r>
              <a:rPr lang="nl-NL" sz="2000" i="1" dirty="0" smtClean="0"/>
              <a:t>Barbara</a:t>
            </a:r>
            <a:r>
              <a:rPr lang="nl-NL" sz="2000" dirty="0" smtClean="0"/>
              <a:t>, </a:t>
            </a:r>
            <a:r>
              <a:rPr lang="nl-NL" sz="2000" i="1" dirty="0" err="1" smtClean="0"/>
              <a:t>Celarent</a:t>
            </a:r>
            <a:r>
              <a:rPr lang="nl-NL" sz="2000" dirty="0" smtClean="0"/>
              <a:t>, </a:t>
            </a:r>
            <a:r>
              <a:rPr lang="nl-NL" sz="2000" i="1" dirty="0" err="1" smtClean="0"/>
              <a:t>Darii</a:t>
            </a:r>
            <a:r>
              <a:rPr lang="nl-NL" sz="2000" dirty="0" smtClean="0"/>
              <a:t> en </a:t>
            </a:r>
            <a:r>
              <a:rPr lang="nl-NL" sz="2000" i="1" dirty="0" err="1" smtClean="0"/>
              <a:t>Ferio</a:t>
            </a:r>
            <a:r>
              <a:rPr lang="nl-NL" sz="2000" dirty="0" smtClean="0"/>
              <a:t> kunnen 15 geldige syllogismen worden afgeleid (zoals straks geïllustreerd wordt). In de Middeleeuwen moesten studenten naast de 4 perfecte syllogismen ook deze 15 uit hun hoofd leren.      Het gaat om onderstaande vormen</a:t>
            </a:r>
          </a:p>
          <a:p>
            <a:endParaRPr lang="nl-NL" sz="2000" dirty="0" smtClean="0"/>
          </a:p>
          <a:p>
            <a:pPr>
              <a:buNone/>
            </a:pPr>
            <a:r>
              <a:rPr lang="nl-NL" sz="2000" dirty="0" smtClean="0"/>
              <a:t>	Tweede figuur: </a:t>
            </a:r>
            <a:r>
              <a:rPr lang="nl-NL" sz="2000" i="1" dirty="0" err="1" smtClean="0"/>
              <a:t>C</a:t>
            </a:r>
            <a:r>
              <a:rPr lang="nl-NL" sz="2000" b="1" i="1" dirty="0" err="1" smtClean="0"/>
              <a:t>e</a:t>
            </a:r>
            <a:r>
              <a:rPr lang="nl-NL" sz="2000" i="1" dirty="0" err="1" smtClean="0"/>
              <a:t>s</a:t>
            </a:r>
            <a:r>
              <a:rPr lang="nl-NL" sz="2000" b="1" i="1" dirty="0" err="1" smtClean="0"/>
              <a:t>a</a:t>
            </a:r>
            <a:r>
              <a:rPr lang="nl-NL" sz="2000" i="1" dirty="0" err="1" smtClean="0"/>
              <a:t>r</a:t>
            </a:r>
            <a:r>
              <a:rPr lang="nl-NL" sz="2000" b="1" i="1" dirty="0" err="1" smtClean="0"/>
              <a:t>e</a:t>
            </a:r>
            <a:r>
              <a:rPr lang="nl-NL" sz="2000" dirty="0" smtClean="0"/>
              <a:t>, </a:t>
            </a:r>
            <a:r>
              <a:rPr lang="nl-NL" sz="2000" i="1" dirty="0" err="1" smtClean="0"/>
              <a:t>C</a:t>
            </a:r>
            <a:r>
              <a:rPr lang="nl-NL" sz="2000" b="1" i="1" dirty="0" err="1" smtClean="0"/>
              <a:t>a</a:t>
            </a:r>
            <a:r>
              <a:rPr lang="nl-NL" sz="2000" i="1" dirty="0" err="1" smtClean="0"/>
              <a:t>m</a:t>
            </a:r>
            <a:r>
              <a:rPr lang="nl-NL" sz="2000" b="1" i="1" dirty="0" err="1" smtClean="0"/>
              <a:t>e</a:t>
            </a:r>
            <a:r>
              <a:rPr lang="nl-NL" sz="2000" i="1" dirty="0" err="1" smtClean="0"/>
              <a:t>str</a:t>
            </a:r>
            <a:r>
              <a:rPr lang="nl-NL" sz="2000" b="1" i="1" dirty="0" err="1" smtClean="0"/>
              <a:t>e</a:t>
            </a:r>
            <a:r>
              <a:rPr lang="nl-NL" sz="2000" i="1" dirty="0" err="1" smtClean="0"/>
              <a:t>s</a:t>
            </a:r>
            <a:r>
              <a:rPr lang="nl-NL" sz="2000" dirty="0" smtClean="0"/>
              <a:t>, </a:t>
            </a:r>
            <a:r>
              <a:rPr lang="nl-NL" sz="2000" i="1" dirty="0" err="1" smtClean="0"/>
              <a:t>F</a:t>
            </a:r>
            <a:r>
              <a:rPr lang="nl-NL" sz="2000" b="1" i="1" dirty="0" err="1" smtClean="0"/>
              <a:t>e</a:t>
            </a:r>
            <a:r>
              <a:rPr lang="nl-NL" sz="2000" i="1" dirty="0" err="1" smtClean="0"/>
              <a:t>st</a:t>
            </a:r>
            <a:r>
              <a:rPr lang="nl-NL" sz="2000" b="1" i="1" dirty="0" err="1" smtClean="0"/>
              <a:t>i</a:t>
            </a:r>
            <a:r>
              <a:rPr lang="nl-NL" sz="2000" i="1" dirty="0" err="1" smtClean="0"/>
              <a:t>n</a:t>
            </a:r>
            <a:r>
              <a:rPr lang="nl-NL" sz="2000" b="1" i="1" dirty="0" err="1" smtClean="0"/>
              <a:t>o</a:t>
            </a:r>
            <a:r>
              <a:rPr lang="nl-NL" sz="2000" dirty="0" smtClean="0"/>
              <a:t>, </a:t>
            </a:r>
            <a:r>
              <a:rPr lang="nl-NL" sz="2000" i="1" dirty="0" err="1" smtClean="0"/>
              <a:t>B</a:t>
            </a:r>
            <a:r>
              <a:rPr lang="nl-NL" sz="2000" b="1" i="1" dirty="0" err="1" smtClean="0"/>
              <a:t>a</a:t>
            </a:r>
            <a:r>
              <a:rPr lang="nl-NL" sz="2000" i="1" dirty="0" err="1" smtClean="0"/>
              <a:t>r</a:t>
            </a:r>
            <a:r>
              <a:rPr lang="nl-NL" sz="2000" b="1" i="1" dirty="0" err="1" smtClean="0"/>
              <a:t>o</a:t>
            </a:r>
            <a:r>
              <a:rPr lang="nl-NL" sz="2000" i="1" dirty="0" err="1" smtClean="0"/>
              <a:t>c</a:t>
            </a:r>
            <a:r>
              <a:rPr lang="nl-NL" sz="2000" b="1" i="1" dirty="0" err="1" smtClean="0"/>
              <a:t>o</a:t>
            </a:r>
            <a:endParaRPr lang="nl-NL" sz="2000" b="1" i="1" dirty="0" smtClean="0"/>
          </a:p>
          <a:p>
            <a:pPr>
              <a:buNone/>
            </a:pPr>
            <a:r>
              <a:rPr lang="nl-NL" sz="2000" dirty="0" smtClean="0"/>
              <a:t>	Derde figuur: </a:t>
            </a:r>
            <a:r>
              <a:rPr lang="nl-NL" sz="2000" i="1" dirty="0" err="1" smtClean="0"/>
              <a:t>D</a:t>
            </a:r>
            <a:r>
              <a:rPr lang="nl-NL" sz="2000" b="1" i="1" dirty="0" err="1" smtClean="0"/>
              <a:t>a</a:t>
            </a:r>
            <a:r>
              <a:rPr lang="nl-NL" sz="2000" i="1" dirty="0" err="1" smtClean="0"/>
              <a:t>r</a:t>
            </a:r>
            <a:r>
              <a:rPr lang="nl-NL" sz="2000" b="1" i="1" dirty="0" err="1" smtClean="0"/>
              <a:t>a</a:t>
            </a:r>
            <a:r>
              <a:rPr lang="nl-NL" sz="2000" i="1" dirty="0" err="1" smtClean="0"/>
              <a:t>pt</a:t>
            </a:r>
            <a:r>
              <a:rPr lang="nl-NL" sz="2000" b="1" i="1" dirty="0" err="1" smtClean="0"/>
              <a:t>i</a:t>
            </a:r>
            <a:r>
              <a:rPr lang="nl-NL" sz="2000" dirty="0" smtClean="0"/>
              <a:t>,</a:t>
            </a:r>
            <a:r>
              <a:rPr lang="nl-NL" sz="2000" i="1" dirty="0" smtClean="0"/>
              <a:t> </a:t>
            </a:r>
            <a:r>
              <a:rPr lang="nl-NL" sz="2000" i="1" dirty="0" err="1" smtClean="0"/>
              <a:t>D</a:t>
            </a:r>
            <a:r>
              <a:rPr lang="nl-NL" sz="2000" b="1" i="1" dirty="0" err="1" smtClean="0"/>
              <a:t>i</a:t>
            </a:r>
            <a:r>
              <a:rPr lang="nl-NL" sz="2000" i="1" dirty="0" err="1" smtClean="0"/>
              <a:t>s</a:t>
            </a:r>
            <a:r>
              <a:rPr lang="nl-NL" sz="2000" b="1" i="1" dirty="0" err="1" smtClean="0"/>
              <a:t>a</a:t>
            </a:r>
            <a:r>
              <a:rPr lang="nl-NL" sz="2000" i="1" dirty="0" err="1" smtClean="0"/>
              <a:t>m</a:t>
            </a:r>
            <a:r>
              <a:rPr lang="nl-NL" sz="2000" b="1" i="1" dirty="0" err="1" smtClean="0"/>
              <a:t>i</a:t>
            </a:r>
            <a:r>
              <a:rPr lang="nl-NL" sz="2000" i="1" dirty="0" err="1" smtClean="0"/>
              <a:t>s</a:t>
            </a:r>
            <a:r>
              <a:rPr lang="nl-NL" sz="2000" dirty="0" smtClean="0"/>
              <a:t>,</a:t>
            </a:r>
            <a:r>
              <a:rPr lang="nl-NL" sz="2000" i="1" dirty="0" smtClean="0"/>
              <a:t> </a:t>
            </a:r>
            <a:r>
              <a:rPr lang="nl-NL" sz="2000" i="1" dirty="0" err="1" smtClean="0"/>
              <a:t>D</a:t>
            </a:r>
            <a:r>
              <a:rPr lang="nl-NL" sz="2000" b="1" i="1" dirty="0" err="1" smtClean="0"/>
              <a:t>a</a:t>
            </a:r>
            <a:r>
              <a:rPr lang="nl-NL" sz="2000" i="1" dirty="0" err="1" smtClean="0"/>
              <a:t>t</a:t>
            </a:r>
            <a:r>
              <a:rPr lang="nl-NL" sz="2000" b="1" i="1" dirty="0" err="1" smtClean="0"/>
              <a:t>i</a:t>
            </a:r>
            <a:r>
              <a:rPr lang="nl-NL" sz="2000" i="1" dirty="0" err="1" smtClean="0"/>
              <a:t>s</a:t>
            </a:r>
            <a:r>
              <a:rPr lang="nl-NL" sz="2000" b="1" i="1" dirty="0" err="1" smtClean="0"/>
              <a:t>i</a:t>
            </a:r>
            <a:r>
              <a:rPr lang="nl-NL" sz="2000" dirty="0" smtClean="0"/>
              <a:t>,</a:t>
            </a:r>
            <a:r>
              <a:rPr lang="nl-NL" sz="2000" i="1" dirty="0" smtClean="0"/>
              <a:t> </a:t>
            </a:r>
            <a:r>
              <a:rPr lang="nl-NL" sz="2000" i="1" dirty="0" err="1" smtClean="0"/>
              <a:t>F</a:t>
            </a:r>
            <a:r>
              <a:rPr lang="nl-NL" sz="2000" b="1" i="1" dirty="0" err="1" smtClean="0"/>
              <a:t>e</a:t>
            </a:r>
            <a:r>
              <a:rPr lang="nl-NL" sz="2000" i="1" dirty="0" err="1" smtClean="0"/>
              <a:t>l</a:t>
            </a:r>
            <a:r>
              <a:rPr lang="nl-NL" sz="2000" b="1" i="1" dirty="0" err="1" smtClean="0"/>
              <a:t>a</a:t>
            </a:r>
            <a:r>
              <a:rPr lang="nl-NL" sz="2000" i="1" dirty="0" err="1" smtClean="0"/>
              <a:t>pt</a:t>
            </a:r>
            <a:r>
              <a:rPr lang="nl-NL" sz="2000" b="1" i="1" dirty="0" err="1" smtClean="0"/>
              <a:t>o</a:t>
            </a:r>
            <a:r>
              <a:rPr lang="nl-NL" sz="2000" i="1" dirty="0" err="1" smtClean="0"/>
              <a:t>n</a:t>
            </a:r>
            <a:r>
              <a:rPr lang="nl-NL" sz="2000" dirty="0" smtClean="0"/>
              <a:t>,</a:t>
            </a:r>
            <a:r>
              <a:rPr lang="nl-NL" sz="2000" i="1" dirty="0" smtClean="0"/>
              <a:t> </a:t>
            </a:r>
            <a:r>
              <a:rPr lang="nl-NL" sz="2000" i="1" dirty="0" err="1" smtClean="0"/>
              <a:t>B</a:t>
            </a:r>
            <a:r>
              <a:rPr lang="nl-NL" sz="2000" b="1" i="1" dirty="0" err="1" smtClean="0"/>
              <a:t>o</a:t>
            </a:r>
            <a:r>
              <a:rPr lang="nl-NL" sz="2000" i="1" dirty="0" err="1" smtClean="0"/>
              <a:t>c</a:t>
            </a:r>
            <a:r>
              <a:rPr lang="nl-NL" sz="2000" b="1" i="1" dirty="0" err="1" smtClean="0"/>
              <a:t>a</a:t>
            </a:r>
            <a:r>
              <a:rPr lang="nl-NL" sz="2000" i="1" dirty="0" err="1" smtClean="0"/>
              <a:t>rd</a:t>
            </a:r>
            <a:r>
              <a:rPr lang="nl-NL" sz="2000" b="1" i="1" dirty="0" err="1" smtClean="0"/>
              <a:t>o</a:t>
            </a:r>
            <a:r>
              <a:rPr lang="nl-NL" sz="2000" dirty="0" smtClean="0"/>
              <a:t>,</a:t>
            </a:r>
            <a:r>
              <a:rPr lang="nl-NL" sz="2000" i="1" dirty="0" smtClean="0"/>
              <a:t> </a:t>
            </a:r>
            <a:r>
              <a:rPr lang="nl-NL" sz="2000" i="1" dirty="0" err="1" smtClean="0"/>
              <a:t>F</a:t>
            </a:r>
            <a:r>
              <a:rPr lang="nl-NL" sz="2000" b="1" i="1" dirty="0" err="1" smtClean="0"/>
              <a:t>e</a:t>
            </a:r>
            <a:r>
              <a:rPr lang="nl-NL" sz="2000" i="1" dirty="0" err="1" smtClean="0"/>
              <a:t>r</a:t>
            </a:r>
            <a:r>
              <a:rPr lang="nl-NL" sz="2000" b="1" i="1" dirty="0" err="1" smtClean="0"/>
              <a:t>i</a:t>
            </a:r>
            <a:r>
              <a:rPr lang="nl-NL" sz="2000" i="1" dirty="0" err="1" smtClean="0"/>
              <a:t>s</a:t>
            </a:r>
            <a:r>
              <a:rPr lang="nl-NL" sz="2000" b="1" i="1" dirty="0" err="1" smtClean="0"/>
              <a:t>o</a:t>
            </a:r>
            <a:r>
              <a:rPr lang="nl-NL" sz="2000" i="1" dirty="0" err="1" smtClean="0"/>
              <a:t>n</a:t>
            </a:r>
            <a:endParaRPr lang="nl-NL" sz="2000" i="1" dirty="0" smtClean="0"/>
          </a:p>
          <a:p>
            <a:pPr>
              <a:buNone/>
            </a:pPr>
            <a:r>
              <a:rPr lang="nl-NL" sz="2000" dirty="0" smtClean="0"/>
              <a:t>	Vierde figuur:  </a:t>
            </a:r>
            <a:r>
              <a:rPr lang="nl-NL" sz="2000" i="1" dirty="0" err="1" smtClean="0"/>
              <a:t>Br</a:t>
            </a:r>
            <a:r>
              <a:rPr lang="nl-NL" sz="2000" b="1" i="1" dirty="0" err="1" smtClean="0"/>
              <a:t>a</a:t>
            </a:r>
            <a:r>
              <a:rPr lang="nl-NL" sz="2000" i="1" dirty="0" err="1" smtClean="0"/>
              <a:t>m</a:t>
            </a:r>
            <a:r>
              <a:rPr lang="nl-NL" sz="2000" b="1" i="1" dirty="0" err="1" smtClean="0"/>
              <a:t>a</a:t>
            </a:r>
            <a:r>
              <a:rPr lang="nl-NL" sz="2000" i="1" dirty="0" err="1" smtClean="0"/>
              <a:t>nt</a:t>
            </a:r>
            <a:r>
              <a:rPr lang="nl-NL" sz="2000" b="1" i="1" dirty="0" err="1" smtClean="0"/>
              <a:t>i</a:t>
            </a:r>
            <a:r>
              <a:rPr lang="nl-NL" sz="2000" i="1" dirty="0" err="1" smtClean="0"/>
              <a:t>p</a:t>
            </a:r>
            <a:r>
              <a:rPr lang="nl-NL" sz="2000" dirty="0" smtClean="0"/>
              <a:t>,</a:t>
            </a:r>
            <a:r>
              <a:rPr lang="nl-NL" sz="2000" i="1" dirty="0" smtClean="0"/>
              <a:t> </a:t>
            </a:r>
            <a:r>
              <a:rPr lang="nl-NL" sz="2000" i="1" dirty="0" err="1" smtClean="0"/>
              <a:t>C</a:t>
            </a:r>
            <a:r>
              <a:rPr lang="nl-NL" sz="2000" b="1" i="1" dirty="0" err="1" smtClean="0"/>
              <a:t>a</a:t>
            </a:r>
            <a:r>
              <a:rPr lang="nl-NL" sz="2000" i="1" dirty="0" err="1" smtClean="0"/>
              <a:t>m</a:t>
            </a:r>
            <a:r>
              <a:rPr lang="nl-NL" sz="2000" b="1" i="1" dirty="0" err="1" smtClean="0"/>
              <a:t>e</a:t>
            </a:r>
            <a:r>
              <a:rPr lang="nl-NL" sz="2000" i="1" dirty="0" err="1" smtClean="0"/>
              <a:t>n</a:t>
            </a:r>
            <a:r>
              <a:rPr lang="nl-NL" sz="2000" b="1" i="1" dirty="0" err="1" smtClean="0"/>
              <a:t>e</a:t>
            </a:r>
            <a:r>
              <a:rPr lang="nl-NL" sz="2000" i="1" dirty="0" err="1" smtClean="0"/>
              <a:t>s</a:t>
            </a:r>
            <a:r>
              <a:rPr lang="nl-NL" sz="2000" dirty="0" smtClean="0"/>
              <a:t>,</a:t>
            </a:r>
            <a:r>
              <a:rPr lang="nl-NL" sz="2000" i="1" dirty="0" smtClean="0"/>
              <a:t> </a:t>
            </a:r>
            <a:r>
              <a:rPr lang="nl-NL" sz="2000" i="1" dirty="0" err="1" smtClean="0"/>
              <a:t>D</a:t>
            </a:r>
            <a:r>
              <a:rPr lang="nl-NL" sz="2000" b="1" i="1" dirty="0" err="1" smtClean="0"/>
              <a:t>i</a:t>
            </a:r>
            <a:r>
              <a:rPr lang="nl-NL" sz="2000" i="1" dirty="0" err="1" smtClean="0"/>
              <a:t>m</a:t>
            </a:r>
            <a:r>
              <a:rPr lang="nl-NL" sz="2000" b="1" i="1" dirty="0" err="1" smtClean="0"/>
              <a:t>a</a:t>
            </a:r>
            <a:r>
              <a:rPr lang="nl-NL" sz="2000" i="1" dirty="0" err="1" smtClean="0"/>
              <a:t>r</a:t>
            </a:r>
            <a:r>
              <a:rPr lang="nl-NL" sz="2000" b="1" i="1" dirty="0" err="1" smtClean="0"/>
              <a:t>i</a:t>
            </a:r>
            <a:r>
              <a:rPr lang="nl-NL" sz="2000" i="1" dirty="0" err="1" smtClean="0"/>
              <a:t>s</a:t>
            </a:r>
            <a:r>
              <a:rPr lang="nl-NL" sz="2000" dirty="0" smtClean="0"/>
              <a:t>,</a:t>
            </a:r>
            <a:r>
              <a:rPr lang="nl-NL" sz="2000" i="1" dirty="0" smtClean="0"/>
              <a:t> </a:t>
            </a:r>
            <a:r>
              <a:rPr lang="nl-NL" sz="2000" i="1" dirty="0" err="1" smtClean="0"/>
              <a:t>F</a:t>
            </a:r>
            <a:r>
              <a:rPr lang="nl-NL" sz="2000" b="1" i="1" dirty="0" err="1" smtClean="0"/>
              <a:t>e</a:t>
            </a:r>
            <a:r>
              <a:rPr lang="nl-NL" sz="2000" i="1" dirty="0" err="1" smtClean="0"/>
              <a:t>s</a:t>
            </a:r>
            <a:r>
              <a:rPr lang="nl-NL" sz="2000" b="1" i="1" dirty="0" err="1" smtClean="0"/>
              <a:t>a</a:t>
            </a:r>
            <a:r>
              <a:rPr lang="nl-NL" sz="2000" i="1" dirty="0" err="1" smtClean="0"/>
              <a:t>p</a:t>
            </a:r>
            <a:r>
              <a:rPr lang="nl-NL" sz="2000" b="1" i="1" dirty="0" err="1" smtClean="0"/>
              <a:t>o</a:t>
            </a:r>
            <a:r>
              <a:rPr lang="nl-NL" sz="2000" dirty="0" smtClean="0"/>
              <a:t>,</a:t>
            </a:r>
            <a:r>
              <a:rPr lang="nl-NL" sz="2000" i="1" dirty="0" smtClean="0"/>
              <a:t> </a:t>
            </a:r>
            <a:r>
              <a:rPr lang="nl-NL" sz="2000" i="1" dirty="0" err="1" smtClean="0"/>
              <a:t>Fr</a:t>
            </a:r>
            <a:r>
              <a:rPr lang="nl-NL" sz="2000" b="1" i="1" dirty="0" err="1" smtClean="0"/>
              <a:t>e</a:t>
            </a:r>
            <a:r>
              <a:rPr lang="nl-NL" sz="2000" i="1" dirty="0" err="1" smtClean="0"/>
              <a:t>s</a:t>
            </a:r>
            <a:r>
              <a:rPr lang="nl-NL" sz="2000" b="1" i="1" dirty="0" err="1" smtClean="0"/>
              <a:t>i</a:t>
            </a:r>
            <a:r>
              <a:rPr lang="nl-NL" sz="2000" i="1" dirty="0" err="1" smtClean="0"/>
              <a:t>s</a:t>
            </a:r>
            <a:r>
              <a:rPr lang="nl-NL" sz="2000" b="1" i="1" dirty="0" err="1" smtClean="0"/>
              <a:t>o</a:t>
            </a:r>
            <a:r>
              <a:rPr lang="nl-NL" sz="2000" i="1" dirty="0" err="1" smtClean="0"/>
              <a:t>n</a:t>
            </a:r>
            <a:r>
              <a:rPr lang="nl-NL" sz="2000" i="1" dirty="0" smtClean="0"/>
              <a:t> </a:t>
            </a:r>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vier perfecte syllogismen</a:t>
            </a:r>
            <a:endParaRPr lang="nl-NL" sz="3600" dirty="0"/>
          </a:p>
        </p:txBody>
      </p:sp>
      <p:sp>
        <p:nvSpPr>
          <p:cNvPr id="19" name="Content Placeholder 2"/>
          <p:cNvSpPr>
            <a:spLocks noGrp="1"/>
          </p:cNvSpPr>
          <p:nvPr>
            <p:ph idx="1"/>
          </p:nvPr>
        </p:nvSpPr>
        <p:spPr>
          <a:xfrm>
            <a:off x="313184" y="1384177"/>
            <a:ext cx="8939336" cy="1108720"/>
          </a:xfrm>
        </p:spPr>
        <p:txBody>
          <a:bodyPr>
            <a:noAutofit/>
          </a:bodyPr>
          <a:lstStyle/>
          <a:p>
            <a:r>
              <a:rPr lang="nl-NL" sz="2000" dirty="0" smtClean="0"/>
              <a:t>Uit </a:t>
            </a:r>
            <a:r>
              <a:rPr lang="nl-NL" sz="2000" i="1" dirty="0" smtClean="0"/>
              <a:t>Barbara</a:t>
            </a:r>
            <a:r>
              <a:rPr lang="nl-NL" sz="2000" dirty="0" smtClean="0"/>
              <a:t>, </a:t>
            </a:r>
            <a:r>
              <a:rPr lang="nl-NL" sz="2000" i="1" dirty="0" err="1" smtClean="0"/>
              <a:t>Celarent</a:t>
            </a:r>
            <a:r>
              <a:rPr lang="nl-NL" sz="2000" dirty="0" smtClean="0"/>
              <a:t>, </a:t>
            </a:r>
            <a:r>
              <a:rPr lang="nl-NL" sz="2000" i="1" dirty="0" err="1" smtClean="0"/>
              <a:t>Darii</a:t>
            </a:r>
            <a:r>
              <a:rPr lang="nl-NL" sz="2000" dirty="0" smtClean="0"/>
              <a:t> en </a:t>
            </a:r>
            <a:r>
              <a:rPr lang="nl-NL" sz="2000" i="1" dirty="0" err="1" smtClean="0"/>
              <a:t>Ferio</a:t>
            </a:r>
            <a:r>
              <a:rPr lang="nl-NL" sz="2000" dirty="0" smtClean="0"/>
              <a:t> kunnen 15 geldige syllogismen worden afgeleid (zoals straks geïllustreerd wordt). In de Middeleeuwen moesten studenten naast de 4 perfecte syllogismen ook deze 15 uit hun hoofd leren.              Het gaat om onderstaande vormen</a:t>
            </a:r>
          </a:p>
          <a:p>
            <a:endParaRPr lang="nl-NL" sz="2000" dirty="0" smtClean="0"/>
          </a:p>
          <a:p>
            <a:pPr>
              <a:buNone/>
            </a:pPr>
            <a:r>
              <a:rPr lang="nl-NL" sz="2000" dirty="0" smtClean="0"/>
              <a:t>	Tweede figuur: </a:t>
            </a:r>
            <a:r>
              <a:rPr lang="nl-NL" sz="2000" i="1" dirty="0" err="1" smtClean="0"/>
              <a:t>C</a:t>
            </a:r>
            <a:r>
              <a:rPr lang="nl-NL" sz="2000" b="1" i="1" dirty="0" err="1" smtClean="0"/>
              <a:t>e</a:t>
            </a:r>
            <a:r>
              <a:rPr lang="nl-NL" sz="2000" i="1" dirty="0" err="1" smtClean="0"/>
              <a:t>s</a:t>
            </a:r>
            <a:r>
              <a:rPr lang="nl-NL" sz="2000" b="1" i="1" dirty="0" err="1" smtClean="0"/>
              <a:t>a</a:t>
            </a:r>
            <a:r>
              <a:rPr lang="nl-NL" sz="2000" i="1" dirty="0" err="1" smtClean="0"/>
              <a:t>r</a:t>
            </a:r>
            <a:r>
              <a:rPr lang="nl-NL" sz="2000" b="1" i="1" dirty="0" err="1" smtClean="0"/>
              <a:t>e</a:t>
            </a:r>
            <a:r>
              <a:rPr lang="nl-NL" sz="2000" dirty="0" smtClean="0"/>
              <a:t>, </a:t>
            </a:r>
            <a:r>
              <a:rPr lang="nl-NL" sz="2000" i="1" dirty="0" err="1" smtClean="0"/>
              <a:t>C</a:t>
            </a:r>
            <a:r>
              <a:rPr lang="nl-NL" sz="2000" b="1" i="1" dirty="0" err="1" smtClean="0"/>
              <a:t>a</a:t>
            </a:r>
            <a:r>
              <a:rPr lang="nl-NL" sz="2000" i="1" dirty="0" err="1" smtClean="0"/>
              <a:t>m</a:t>
            </a:r>
            <a:r>
              <a:rPr lang="nl-NL" sz="2000" b="1" i="1" dirty="0" err="1" smtClean="0"/>
              <a:t>e</a:t>
            </a:r>
            <a:r>
              <a:rPr lang="nl-NL" sz="2000" i="1" dirty="0" err="1" smtClean="0"/>
              <a:t>str</a:t>
            </a:r>
            <a:r>
              <a:rPr lang="nl-NL" sz="2000" b="1" i="1" dirty="0" err="1" smtClean="0"/>
              <a:t>e</a:t>
            </a:r>
            <a:r>
              <a:rPr lang="nl-NL" sz="2000" i="1" dirty="0" err="1" smtClean="0"/>
              <a:t>s</a:t>
            </a:r>
            <a:r>
              <a:rPr lang="nl-NL" sz="2000" dirty="0" smtClean="0"/>
              <a:t>, </a:t>
            </a:r>
            <a:r>
              <a:rPr lang="nl-NL" sz="2000" i="1" dirty="0" err="1" smtClean="0"/>
              <a:t>F</a:t>
            </a:r>
            <a:r>
              <a:rPr lang="nl-NL" sz="2000" b="1" i="1" dirty="0" err="1" smtClean="0"/>
              <a:t>e</a:t>
            </a:r>
            <a:r>
              <a:rPr lang="nl-NL" sz="2000" i="1" dirty="0" err="1" smtClean="0"/>
              <a:t>st</a:t>
            </a:r>
            <a:r>
              <a:rPr lang="nl-NL" sz="2000" b="1" i="1" dirty="0" err="1" smtClean="0"/>
              <a:t>i</a:t>
            </a:r>
            <a:r>
              <a:rPr lang="nl-NL" sz="2000" i="1" dirty="0" err="1" smtClean="0"/>
              <a:t>n</a:t>
            </a:r>
            <a:r>
              <a:rPr lang="nl-NL" sz="2000" b="1" i="1" dirty="0" err="1" smtClean="0"/>
              <a:t>o</a:t>
            </a:r>
            <a:r>
              <a:rPr lang="nl-NL" sz="2000" dirty="0" smtClean="0"/>
              <a:t>, </a:t>
            </a:r>
            <a:r>
              <a:rPr lang="nl-NL" sz="2000" i="1" dirty="0" err="1" smtClean="0"/>
              <a:t>B</a:t>
            </a:r>
            <a:r>
              <a:rPr lang="nl-NL" sz="2000" b="1" i="1" dirty="0" err="1" smtClean="0"/>
              <a:t>a</a:t>
            </a:r>
            <a:r>
              <a:rPr lang="nl-NL" sz="2000" i="1" dirty="0" err="1" smtClean="0"/>
              <a:t>r</a:t>
            </a:r>
            <a:r>
              <a:rPr lang="nl-NL" sz="2000" b="1" i="1" dirty="0" err="1" smtClean="0"/>
              <a:t>o</a:t>
            </a:r>
            <a:r>
              <a:rPr lang="nl-NL" sz="2000" i="1" dirty="0" err="1" smtClean="0"/>
              <a:t>c</a:t>
            </a:r>
            <a:r>
              <a:rPr lang="nl-NL" sz="2000" b="1" i="1" dirty="0" err="1" smtClean="0"/>
              <a:t>o</a:t>
            </a:r>
            <a:endParaRPr lang="nl-NL" sz="2000" b="1" i="1" dirty="0" smtClean="0"/>
          </a:p>
          <a:p>
            <a:pPr>
              <a:buNone/>
            </a:pPr>
            <a:endParaRPr lang="nl-NL" sz="800" b="1" i="1" dirty="0" smtClean="0"/>
          </a:p>
          <a:p>
            <a:pPr>
              <a:buNone/>
            </a:pPr>
            <a:r>
              <a:rPr lang="nl-NL" sz="2000" dirty="0" smtClean="0"/>
              <a:t>      </a:t>
            </a:r>
            <a:r>
              <a:rPr lang="nl-NL" sz="2000" b="1" dirty="0" smtClean="0"/>
              <a:t>EAE-2</a:t>
            </a:r>
            <a:r>
              <a:rPr lang="nl-NL" sz="2000" dirty="0" smtClean="0"/>
              <a:t>, </a:t>
            </a:r>
            <a:r>
              <a:rPr lang="nl-NL" sz="2000" b="1" dirty="0" smtClean="0"/>
              <a:t>AEE-2</a:t>
            </a:r>
            <a:r>
              <a:rPr lang="nl-NL" sz="2000" dirty="0" smtClean="0"/>
              <a:t>, </a:t>
            </a:r>
            <a:r>
              <a:rPr lang="nl-NL" sz="2000" b="1" dirty="0" smtClean="0"/>
              <a:t>EIO-2</a:t>
            </a:r>
            <a:r>
              <a:rPr lang="nl-NL" sz="2000" dirty="0" smtClean="0"/>
              <a:t>, </a:t>
            </a:r>
            <a:r>
              <a:rPr lang="nl-NL" sz="2000" b="1" dirty="0" smtClean="0"/>
              <a:t>AOO-2</a:t>
            </a:r>
          </a:p>
          <a:p>
            <a:pPr>
              <a:buNone/>
            </a:pPr>
            <a:endParaRPr lang="nl-NL" sz="800" dirty="0" smtClean="0"/>
          </a:p>
          <a:p>
            <a:pPr>
              <a:buNone/>
            </a:pPr>
            <a:r>
              <a:rPr lang="nl-NL" sz="2000" dirty="0" smtClean="0"/>
              <a:t>      Derde figuur: </a:t>
            </a:r>
            <a:r>
              <a:rPr lang="nl-NL" sz="2000" i="1" dirty="0" err="1" smtClean="0"/>
              <a:t>D</a:t>
            </a:r>
            <a:r>
              <a:rPr lang="nl-NL" sz="2000" b="1" i="1" dirty="0" err="1" smtClean="0"/>
              <a:t>a</a:t>
            </a:r>
            <a:r>
              <a:rPr lang="nl-NL" sz="2000" i="1" dirty="0" err="1" smtClean="0"/>
              <a:t>r</a:t>
            </a:r>
            <a:r>
              <a:rPr lang="nl-NL" sz="2000" b="1" i="1" dirty="0" err="1" smtClean="0"/>
              <a:t>a</a:t>
            </a:r>
            <a:r>
              <a:rPr lang="nl-NL" sz="2000" i="1" dirty="0" err="1" smtClean="0"/>
              <a:t>pt</a:t>
            </a:r>
            <a:r>
              <a:rPr lang="nl-NL" sz="2000" b="1" i="1" dirty="0" err="1" smtClean="0"/>
              <a:t>i</a:t>
            </a:r>
            <a:r>
              <a:rPr lang="nl-NL" sz="2000" dirty="0" smtClean="0"/>
              <a:t>,</a:t>
            </a:r>
            <a:r>
              <a:rPr lang="nl-NL" sz="2000" i="1" dirty="0" smtClean="0"/>
              <a:t> </a:t>
            </a:r>
            <a:r>
              <a:rPr lang="nl-NL" sz="2000" i="1" dirty="0" err="1" smtClean="0"/>
              <a:t>D</a:t>
            </a:r>
            <a:r>
              <a:rPr lang="nl-NL" sz="2000" b="1" i="1" dirty="0" err="1" smtClean="0"/>
              <a:t>i</a:t>
            </a:r>
            <a:r>
              <a:rPr lang="nl-NL" sz="2000" i="1" dirty="0" err="1" smtClean="0"/>
              <a:t>s</a:t>
            </a:r>
            <a:r>
              <a:rPr lang="nl-NL" sz="2000" b="1" i="1" dirty="0" err="1" smtClean="0"/>
              <a:t>a</a:t>
            </a:r>
            <a:r>
              <a:rPr lang="nl-NL" sz="2000" i="1" dirty="0" err="1" smtClean="0"/>
              <a:t>m</a:t>
            </a:r>
            <a:r>
              <a:rPr lang="nl-NL" sz="2000" b="1" i="1" dirty="0" err="1" smtClean="0"/>
              <a:t>i</a:t>
            </a:r>
            <a:r>
              <a:rPr lang="nl-NL" sz="2000" i="1" dirty="0" err="1" smtClean="0"/>
              <a:t>s</a:t>
            </a:r>
            <a:r>
              <a:rPr lang="nl-NL" sz="2000" dirty="0" smtClean="0"/>
              <a:t>,</a:t>
            </a:r>
            <a:r>
              <a:rPr lang="nl-NL" sz="2000" i="1" dirty="0" smtClean="0"/>
              <a:t> </a:t>
            </a:r>
            <a:r>
              <a:rPr lang="nl-NL" sz="2000" i="1" dirty="0" err="1" smtClean="0"/>
              <a:t>D</a:t>
            </a:r>
            <a:r>
              <a:rPr lang="nl-NL" sz="2000" b="1" i="1" dirty="0" err="1" smtClean="0"/>
              <a:t>a</a:t>
            </a:r>
            <a:r>
              <a:rPr lang="nl-NL" sz="2000" i="1" dirty="0" err="1" smtClean="0"/>
              <a:t>t</a:t>
            </a:r>
            <a:r>
              <a:rPr lang="nl-NL" sz="2000" b="1" i="1" dirty="0" err="1" smtClean="0"/>
              <a:t>i</a:t>
            </a:r>
            <a:r>
              <a:rPr lang="nl-NL" sz="2000" i="1" dirty="0" err="1" smtClean="0"/>
              <a:t>s</a:t>
            </a:r>
            <a:r>
              <a:rPr lang="nl-NL" sz="2000" b="1" i="1" dirty="0" err="1" smtClean="0"/>
              <a:t>i</a:t>
            </a:r>
            <a:r>
              <a:rPr lang="nl-NL" sz="2000" dirty="0" smtClean="0"/>
              <a:t>,</a:t>
            </a:r>
            <a:r>
              <a:rPr lang="nl-NL" sz="2000" i="1" dirty="0" smtClean="0"/>
              <a:t> </a:t>
            </a:r>
            <a:r>
              <a:rPr lang="nl-NL" sz="2000" i="1" dirty="0" err="1" smtClean="0"/>
              <a:t>F</a:t>
            </a:r>
            <a:r>
              <a:rPr lang="nl-NL" sz="2000" b="1" i="1" dirty="0" err="1" smtClean="0"/>
              <a:t>e</a:t>
            </a:r>
            <a:r>
              <a:rPr lang="nl-NL" sz="2000" i="1" dirty="0" err="1" smtClean="0"/>
              <a:t>l</a:t>
            </a:r>
            <a:r>
              <a:rPr lang="nl-NL" sz="2000" b="1" i="1" dirty="0" err="1" smtClean="0"/>
              <a:t>a</a:t>
            </a:r>
            <a:r>
              <a:rPr lang="nl-NL" sz="2000" i="1" dirty="0" err="1" smtClean="0"/>
              <a:t>pt</a:t>
            </a:r>
            <a:r>
              <a:rPr lang="nl-NL" sz="2000" b="1" i="1" dirty="0" err="1" smtClean="0"/>
              <a:t>o</a:t>
            </a:r>
            <a:r>
              <a:rPr lang="nl-NL" sz="2000" i="1" dirty="0" err="1" smtClean="0"/>
              <a:t>n</a:t>
            </a:r>
            <a:r>
              <a:rPr lang="nl-NL" sz="2000" dirty="0" smtClean="0"/>
              <a:t>,</a:t>
            </a:r>
            <a:r>
              <a:rPr lang="nl-NL" sz="2000" i="1" dirty="0" smtClean="0"/>
              <a:t> </a:t>
            </a:r>
            <a:r>
              <a:rPr lang="nl-NL" sz="2000" i="1" dirty="0" err="1" smtClean="0"/>
              <a:t>B</a:t>
            </a:r>
            <a:r>
              <a:rPr lang="nl-NL" sz="2000" b="1" i="1" dirty="0" err="1" smtClean="0"/>
              <a:t>o</a:t>
            </a:r>
            <a:r>
              <a:rPr lang="nl-NL" sz="2000" i="1" dirty="0" err="1" smtClean="0"/>
              <a:t>c</a:t>
            </a:r>
            <a:r>
              <a:rPr lang="nl-NL" sz="2000" b="1" i="1" dirty="0" err="1" smtClean="0"/>
              <a:t>a</a:t>
            </a:r>
            <a:r>
              <a:rPr lang="nl-NL" sz="2000" i="1" dirty="0" err="1" smtClean="0"/>
              <a:t>rd</a:t>
            </a:r>
            <a:r>
              <a:rPr lang="nl-NL" sz="2000" b="1" i="1" dirty="0" err="1" smtClean="0"/>
              <a:t>o</a:t>
            </a:r>
            <a:r>
              <a:rPr lang="nl-NL" sz="2000" dirty="0" smtClean="0"/>
              <a:t>,</a:t>
            </a:r>
            <a:r>
              <a:rPr lang="nl-NL" sz="2000" i="1" dirty="0" smtClean="0"/>
              <a:t> </a:t>
            </a:r>
            <a:r>
              <a:rPr lang="nl-NL" sz="2000" i="1" dirty="0" err="1" smtClean="0"/>
              <a:t>F</a:t>
            </a:r>
            <a:r>
              <a:rPr lang="nl-NL" sz="2000" b="1" i="1" dirty="0" err="1" smtClean="0"/>
              <a:t>e</a:t>
            </a:r>
            <a:r>
              <a:rPr lang="nl-NL" sz="2000" i="1" dirty="0" err="1" smtClean="0"/>
              <a:t>r</a:t>
            </a:r>
            <a:r>
              <a:rPr lang="nl-NL" sz="2000" b="1" i="1" dirty="0" err="1" smtClean="0"/>
              <a:t>i</a:t>
            </a:r>
            <a:r>
              <a:rPr lang="nl-NL" sz="2000" i="1" dirty="0" err="1" smtClean="0"/>
              <a:t>s</a:t>
            </a:r>
            <a:r>
              <a:rPr lang="nl-NL" sz="2000" b="1" i="1" dirty="0" err="1" smtClean="0"/>
              <a:t>o</a:t>
            </a:r>
            <a:r>
              <a:rPr lang="nl-NL" sz="2000" i="1" dirty="0" err="1" smtClean="0"/>
              <a:t>n</a:t>
            </a:r>
            <a:endParaRPr lang="nl-NL" sz="2000" i="1" dirty="0" smtClean="0"/>
          </a:p>
          <a:p>
            <a:pPr>
              <a:buNone/>
            </a:pPr>
            <a:endParaRPr lang="nl-NL" sz="800" i="1" dirty="0" smtClean="0"/>
          </a:p>
          <a:p>
            <a:pPr>
              <a:buNone/>
            </a:pPr>
            <a:r>
              <a:rPr lang="nl-NL" sz="2000" dirty="0" smtClean="0"/>
              <a:t>      </a:t>
            </a:r>
            <a:r>
              <a:rPr lang="nl-NL" sz="2000" b="1" dirty="0" smtClean="0"/>
              <a:t>AAI-3</a:t>
            </a:r>
            <a:r>
              <a:rPr lang="nl-NL" sz="2000" dirty="0" smtClean="0"/>
              <a:t>, </a:t>
            </a:r>
            <a:r>
              <a:rPr lang="nl-NL" sz="2000" b="1" dirty="0" smtClean="0"/>
              <a:t>IAI-3</a:t>
            </a:r>
            <a:r>
              <a:rPr lang="nl-NL" sz="2000" dirty="0" smtClean="0"/>
              <a:t>, </a:t>
            </a:r>
            <a:r>
              <a:rPr lang="nl-NL" sz="2000" b="1" dirty="0" smtClean="0"/>
              <a:t>AII-3</a:t>
            </a:r>
            <a:r>
              <a:rPr lang="nl-NL" sz="2000" dirty="0" smtClean="0"/>
              <a:t>, </a:t>
            </a:r>
            <a:r>
              <a:rPr lang="nl-NL" sz="2000" b="1" dirty="0" smtClean="0"/>
              <a:t>EAO-3</a:t>
            </a:r>
            <a:r>
              <a:rPr lang="nl-NL" sz="2000" dirty="0" smtClean="0"/>
              <a:t>, </a:t>
            </a:r>
            <a:r>
              <a:rPr lang="nl-NL" sz="2000" b="1" dirty="0" smtClean="0"/>
              <a:t>OAO-3</a:t>
            </a:r>
            <a:r>
              <a:rPr lang="nl-NL" sz="2000" dirty="0" smtClean="0"/>
              <a:t>, </a:t>
            </a:r>
            <a:r>
              <a:rPr lang="nl-NL" sz="2000" b="1" dirty="0" smtClean="0"/>
              <a:t>EIO-3</a:t>
            </a:r>
          </a:p>
          <a:p>
            <a:pPr>
              <a:buNone/>
            </a:pPr>
            <a:endParaRPr lang="nl-NL" sz="800" dirty="0" smtClean="0"/>
          </a:p>
          <a:p>
            <a:pPr>
              <a:buNone/>
            </a:pPr>
            <a:r>
              <a:rPr lang="nl-NL" sz="2000" dirty="0" smtClean="0"/>
              <a:t>      Vierde figuur:  </a:t>
            </a:r>
            <a:r>
              <a:rPr lang="nl-NL" sz="2000" i="1" dirty="0" err="1" smtClean="0"/>
              <a:t>Br</a:t>
            </a:r>
            <a:r>
              <a:rPr lang="nl-NL" sz="2000" b="1" i="1" dirty="0" err="1" smtClean="0"/>
              <a:t>a</a:t>
            </a:r>
            <a:r>
              <a:rPr lang="nl-NL" sz="2000" i="1" dirty="0" err="1" smtClean="0"/>
              <a:t>m</a:t>
            </a:r>
            <a:r>
              <a:rPr lang="nl-NL" sz="2000" b="1" i="1" dirty="0" err="1" smtClean="0"/>
              <a:t>a</a:t>
            </a:r>
            <a:r>
              <a:rPr lang="nl-NL" sz="2000" i="1" dirty="0" err="1" smtClean="0"/>
              <a:t>nt</a:t>
            </a:r>
            <a:r>
              <a:rPr lang="nl-NL" sz="2000" b="1" i="1" dirty="0" err="1" smtClean="0"/>
              <a:t>i</a:t>
            </a:r>
            <a:r>
              <a:rPr lang="nl-NL" sz="2000" i="1" dirty="0" err="1" smtClean="0"/>
              <a:t>p</a:t>
            </a:r>
            <a:r>
              <a:rPr lang="nl-NL" sz="2000" dirty="0" smtClean="0"/>
              <a:t>,</a:t>
            </a:r>
            <a:r>
              <a:rPr lang="nl-NL" sz="2000" i="1" dirty="0" smtClean="0"/>
              <a:t> </a:t>
            </a:r>
            <a:r>
              <a:rPr lang="nl-NL" sz="2000" i="1" dirty="0" err="1" smtClean="0"/>
              <a:t>C</a:t>
            </a:r>
            <a:r>
              <a:rPr lang="nl-NL" sz="2000" b="1" i="1" dirty="0" err="1" smtClean="0"/>
              <a:t>a</a:t>
            </a:r>
            <a:r>
              <a:rPr lang="nl-NL" sz="2000" i="1" dirty="0" err="1" smtClean="0"/>
              <a:t>m</a:t>
            </a:r>
            <a:r>
              <a:rPr lang="nl-NL" sz="2000" b="1" i="1" dirty="0" err="1" smtClean="0"/>
              <a:t>e</a:t>
            </a:r>
            <a:r>
              <a:rPr lang="nl-NL" sz="2000" i="1" dirty="0" err="1" smtClean="0"/>
              <a:t>n</a:t>
            </a:r>
            <a:r>
              <a:rPr lang="nl-NL" sz="2000" b="1" i="1" dirty="0" err="1" smtClean="0"/>
              <a:t>e</a:t>
            </a:r>
            <a:r>
              <a:rPr lang="nl-NL" sz="2000" i="1" dirty="0" err="1" smtClean="0"/>
              <a:t>s</a:t>
            </a:r>
            <a:r>
              <a:rPr lang="nl-NL" sz="2000" dirty="0" smtClean="0"/>
              <a:t>,</a:t>
            </a:r>
            <a:r>
              <a:rPr lang="nl-NL" sz="2000" i="1" dirty="0" smtClean="0"/>
              <a:t> </a:t>
            </a:r>
            <a:r>
              <a:rPr lang="nl-NL" sz="2000" i="1" dirty="0" err="1" smtClean="0"/>
              <a:t>D</a:t>
            </a:r>
            <a:r>
              <a:rPr lang="nl-NL" sz="2000" b="1" i="1" dirty="0" err="1" smtClean="0"/>
              <a:t>i</a:t>
            </a:r>
            <a:r>
              <a:rPr lang="nl-NL" sz="2000" i="1" dirty="0" err="1" smtClean="0"/>
              <a:t>m</a:t>
            </a:r>
            <a:r>
              <a:rPr lang="nl-NL" sz="2000" b="1" i="1" dirty="0" err="1" smtClean="0"/>
              <a:t>a</a:t>
            </a:r>
            <a:r>
              <a:rPr lang="nl-NL" sz="2000" i="1" dirty="0" err="1" smtClean="0"/>
              <a:t>r</a:t>
            </a:r>
            <a:r>
              <a:rPr lang="nl-NL" sz="2000" b="1" i="1" dirty="0" err="1" smtClean="0"/>
              <a:t>i</a:t>
            </a:r>
            <a:r>
              <a:rPr lang="nl-NL" sz="2000" i="1" dirty="0" err="1" smtClean="0"/>
              <a:t>s</a:t>
            </a:r>
            <a:r>
              <a:rPr lang="nl-NL" sz="2000" dirty="0" smtClean="0"/>
              <a:t>,</a:t>
            </a:r>
            <a:r>
              <a:rPr lang="nl-NL" sz="2000" i="1" dirty="0" smtClean="0"/>
              <a:t> </a:t>
            </a:r>
            <a:r>
              <a:rPr lang="nl-NL" sz="2000" i="1" dirty="0" err="1" smtClean="0"/>
              <a:t>F</a:t>
            </a:r>
            <a:r>
              <a:rPr lang="nl-NL" sz="2000" b="1" i="1" dirty="0" err="1" smtClean="0"/>
              <a:t>e</a:t>
            </a:r>
            <a:r>
              <a:rPr lang="nl-NL" sz="2000" i="1" dirty="0" err="1" smtClean="0"/>
              <a:t>s</a:t>
            </a:r>
            <a:r>
              <a:rPr lang="nl-NL" sz="2000" b="1" i="1" dirty="0" err="1" smtClean="0"/>
              <a:t>a</a:t>
            </a:r>
            <a:r>
              <a:rPr lang="nl-NL" sz="2000" i="1" dirty="0" err="1" smtClean="0"/>
              <a:t>p</a:t>
            </a:r>
            <a:r>
              <a:rPr lang="nl-NL" sz="2000" b="1" i="1" dirty="0" err="1" smtClean="0"/>
              <a:t>o</a:t>
            </a:r>
            <a:r>
              <a:rPr lang="nl-NL" sz="2000" dirty="0" smtClean="0"/>
              <a:t>,</a:t>
            </a:r>
            <a:r>
              <a:rPr lang="nl-NL" sz="2000" i="1" dirty="0" smtClean="0"/>
              <a:t> </a:t>
            </a:r>
            <a:r>
              <a:rPr lang="nl-NL" sz="2000" i="1" dirty="0" err="1" smtClean="0"/>
              <a:t>Fr</a:t>
            </a:r>
            <a:r>
              <a:rPr lang="nl-NL" sz="2000" b="1" i="1" dirty="0" err="1" smtClean="0"/>
              <a:t>e</a:t>
            </a:r>
            <a:r>
              <a:rPr lang="nl-NL" sz="2000" i="1" dirty="0" err="1" smtClean="0"/>
              <a:t>s</a:t>
            </a:r>
            <a:r>
              <a:rPr lang="nl-NL" sz="2000" b="1" i="1" dirty="0" err="1" smtClean="0"/>
              <a:t>i</a:t>
            </a:r>
            <a:r>
              <a:rPr lang="nl-NL" sz="2000" i="1" dirty="0" err="1" smtClean="0"/>
              <a:t>s</a:t>
            </a:r>
            <a:r>
              <a:rPr lang="nl-NL" sz="2000" b="1" i="1" dirty="0" err="1" smtClean="0"/>
              <a:t>o</a:t>
            </a:r>
            <a:r>
              <a:rPr lang="nl-NL" sz="2000" i="1" dirty="0" err="1" smtClean="0"/>
              <a:t>n</a:t>
            </a:r>
            <a:endParaRPr lang="nl-NL" sz="2000" i="1" dirty="0" smtClean="0"/>
          </a:p>
          <a:p>
            <a:pPr>
              <a:buNone/>
            </a:pPr>
            <a:endParaRPr lang="nl-NL" sz="800" i="1" dirty="0" smtClean="0"/>
          </a:p>
          <a:p>
            <a:pPr>
              <a:buNone/>
            </a:pPr>
            <a:r>
              <a:rPr lang="nl-NL" sz="2000" i="1" dirty="0" smtClean="0"/>
              <a:t>      </a:t>
            </a:r>
            <a:r>
              <a:rPr lang="nl-NL" sz="2000" b="1" dirty="0" smtClean="0"/>
              <a:t>AAI-4</a:t>
            </a:r>
            <a:r>
              <a:rPr lang="nl-NL" sz="2000" dirty="0" smtClean="0"/>
              <a:t>, </a:t>
            </a:r>
            <a:r>
              <a:rPr lang="nl-NL" sz="2000" b="1" dirty="0" smtClean="0"/>
              <a:t>AEE-4</a:t>
            </a:r>
            <a:r>
              <a:rPr lang="nl-NL" sz="2000" dirty="0" smtClean="0"/>
              <a:t>, </a:t>
            </a:r>
            <a:r>
              <a:rPr lang="nl-NL" sz="2000" b="1" dirty="0" smtClean="0"/>
              <a:t>IAI-4</a:t>
            </a:r>
            <a:r>
              <a:rPr lang="nl-NL" sz="2000" dirty="0" smtClean="0"/>
              <a:t>, </a:t>
            </a:r>
            <a:r>
              <a:rPr lang="nl-NL" sz="2000" b="1" dirty="0" smtClean="0"/>
              <a:t>EAO-4</a:t>
            </a:r>
            <a:r>
              <a:rPr lang="nl-NL" sz="2000" dirty="0" smtClean="0"/>
              <a:t>, </a:t>
            </a:r>
            <a:r>
              <a:rPr lang="nl-NL" sz="2000" b="1" dirty="0" smtClean="0"/>
              <a:t>EIO-4</a:t>
            </a:r>
            <a:r>
              <a:rPr lang="nl-NL" sz="2000" dirty="0" smtClean="0"/>
              <a:t> </a:t>
            </a: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Aanvullende aanwijzingen in de namen voor het bewijzen van geldigheid</a:t>
            </a:r>
            <a:endParaRPr lang="nl-NL" sz="3600" dirty="0"/>
          </a:p>
        </p:txBody>
      </p:sp>
      <p:sp>
        <p:nvSpPr>
          <p:cNvPr id="5" name="Content Placeholder 2"/>
          <p:cNvSpPr>
            <a:spLocks noGrp="1"/>
          </p:cNvSpPr>
          <p:nvPr>
            <p:ph idx="1"/>
          </p:nvPr>
        </p:nvSpPr>
        <p:spPr>
          <a:xfrm>
            <a:off x="313184" y="1816225"/>
            <a:ext cx="8939336" cy="1108720"/>
          </a:xfrm>
        </p:spPr>
        <p:txBody>
          <a:bodyPr>
            <a:noAutofit/>
          </a:bodyPr>
          <a:lstStyle/>
          <a:p>
            <a:r>
              <a:rPr lang="nl-NL" sz="2000" dirty="0" smtClean="0"/>
              <a:t>De eerste medeklinker vormt een aanduiding van het perfecte syllogisme  waarop een beroep dient te worden gedaan om aan te tonen dat het desbetreffende syllogisme geldig is. Zo is </a:t>
            </a:r>
            <a:r>
              <a:rPr lang="nl-NL" sz="2000" i="1" dirty="0" err="1" smtClean="0"/>
              <a:t>Fesapo</a:t>
            </a:r>
            <a:r>
              <a:rPr lang="nl-NL" sz="2000" dirty="0" smtClean="0"/>
              <a:t> bewijsbaar met </a:t>
            </a:r>
            <a:r>
              <a:rPr lang="nl-NL" sz="2000" i="1" dirty="0" err="1" smtClean="0"/>
              <a:t>Ferio</a:t>
            </a:r>
            <a:r>
              <a:rPr lang="nl-NL" sz="2000" dirty="0" smtClean="0"/>
              <a:t>.</a:t>
            </a:r>
          </a:p>
        </p:txBody>
      </p:sp>
      <p:sp>
        <p:nvSpPr>
          <p:cNvPr id="6" name="Content Placeholder 2"/>
          <p:cNvSpPr txBox="1">
            <a:spLocks/>
          </p:cNvSpPr>
          <p:nvPr/>
        </p:nvSpPr>
        <p:spPr>
          <a:xfrm>
            <a:off x="313184" y="2968352"/>
            <a:ext cx="8939336" cy="8206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‘s’ optredend na een klinker verwijst naar het toepassen</a:t>
            </a:r>
            <a:r>
              <a:rPr kumimoji="0" lang="nl-NL" sz="2000" b="0" i="0" u="none" strike="noStrike" kern="1200" cap="none" spc="0" normalizeH="0" noProof="0" dirty="0" smtClean="0">
                <a:ln>
                  <a:noFill/>
                </a:ln>
                <a:solidFill>
                  <a:schemeClr val="tx1"/>
                </a:solidFill>
                <a:effectLst/>
                <a:uLnTx/>
                <a:uFillTx/>
                <a:latin typeface="+mn-lt"/>
                <a:ea typeface="+mn-ea"/>
                <a:cs typeface="+mn-cs"/>
              </a:rPr>
              <a:t> van conversie                               op de met deze klinker corresponderende oordeelsvorm</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3789040"/>
            <a:ext cx="8939336" cy="8206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 duidt</a:t>
            </a:r>
            <a:r>
              <a:rPr kumimoji="0" lang="nl-NL" sz="2000" b="0" i="0" u="none" strike="noStrike" kern="1200" cap="none" spc="0" normalizeH="0" noProof="0" dirty="0" smtClean="0">
                <a:ln>
                  <a:noFill/>
                </a:ln>
                <a:solidFill>
                  <a:schemeClr val="tx1"/>
                </a:solidFill>
                <a:effectLst/>
                <a:uLnTx/>
                <a:uFillTx/>
                <a:latin typeface="+mn-lt"/>
                <a:ea typeface="+mn-ea"/>
                <a:cs typeface="+mn-cs"/>
              </a:rPr>
              <a:t> op het verwisselen van premissen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13184" y="4336504"/>
            <a:ext cx="8291264" cy="8206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‘p’ na een klinker verwijst naar het toepassen van </a:t>
            </a:r>
            <a:r>
              <a:rPr lang="nl-NL" sz="2000" dirty="0" smtClean="0"/>
              <a:t>conversie </a:t>
            </a:r>
            <a:r>
              <a:rPr lang="nl-NL" sz="2000" i="1" dirty="0" smtClean="0"/>
              <a:t>per </a:t>
            </a:r>
            <a:r>
              <a:rPr lang="nl-NL" sz="2000" i="1" dirty="0" err="1" smtClean="0"/>
              <a:t>accidens</a:t>
            </a:r>
            <a:endParaRPr kumimoji="0" lang="nl-NL" sz="2000" b="0" i="1"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323528" y="4912568"/>
            <a:ext cx="8291264" cy="8206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‘c’ wanneer</a:t>
            </a:r>
            <a:r>
              <a:rPr kumimoji="0" lang="nl-NL" sz="2000" b="0" i="0" u="none" strike="noStrike" kern="1200" cap="none" spc="0" normalizeH="0" noProof="0" dirty="0" smtClean="0">
                <a:ln>
                  <a:noFill/>
                </a:ln>
                <a:solidFill>
                  <a:schemeClr val="tx1"/>
                </a:solidFill>
                <a:effectLst/>
                <a:uLnTx/>
                <a:uFillTx/>
                <a:latin typeface="+mn-lt"/>
                <a:ea typeface="+mn-ea"/>
                <a:cs typeface="+mn-cs"/>
              </a:rPr>
              <a:t> niet optredend als aanvangsletter duidt op de toepassing                van </a:t>
            </a:r>
            <a:r>
              <a:rPr kumimoji="0" lang="nl-NL" sz="2000" b="0" i="1" u="none" strike="noStrike" kern="1200" cap="none" spc="0" normalizeH="0" noProof="0" dirty="0" err="1" smtClean="0">
                <a:ln>
                  <a:noFill/>
                </a:ln>
                <a:solidFill>
                  <a:schemeClr val="tx1"/>
                </a:solidFill>
                <a:effectLst/>
                <a:uLnTx/>
                <a:uFillTx/>
                <a:latin typeface="+mn-lt"/>
                <a:ea typeface="+mn-ea"/>
                <a:cs typeface="+mn-cs"/>
              </a:rPr>
              <a:t>reductio</a:t>
            </a:r>
            <a:r>
              <a:rPr kumimoji="0" lang="nl-NL" sz="2000" b="0" i="1" u="none" strike="noStrike" kern="1200" cap="none" spc="0" normalizeH="0" noProof="0" dirty="0" smtClean="0">
                <a:ln>
                  <a:noFill/>
                </a:ln>
                <a:solidFill>
                  <a:schemeClr val="tx1"/>
                </a:solidFill>
                <a:effectLst/>
                <a:uLnTx/>
                <a:uFillTx/>
                <a:latin typeface="+mn-lt"/>
                <a:ea typeface="+mn-ea"/>
                <a:cs typeface="+mn-cs"/>
              </a:rPr>
              <a:t> ad </a:t>
            </a:r>
            <a:r>
              <a:rPr kumimoji="0" lang="nl-NL" sz="2000" b="0" i="1" u="none" strike="noStrike" kern="1200" cap="none" spc="0" normalizeH="0" noProof="0" dirty="0" err="1" smtClean="0">
                <a:ln>
                  <a:noFill/>
                </a:ln>
                <a:solidFill>
                  <a:schemeClr val="tx1"/>
                </a:solidFill>
                <a:effectLst/>
                <a:uLnTx/>
                <a:uFillTx/>
                <a:latin typeface="+mn-lt"/>
                <a:ea typeface="+mn-ea"/>
                <a:cs typeface="+mn-cs"/>
              </a:rPr>
              <a:t>absurdum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Camestres</a:t>
            </a:r>
            <a:r>
              <a:rPr lang="nl-NL" sz="3200" dirty="0" smtClean="0"/>
              <a:t> (AEE-2)</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Came</a:t>
            </a:r>
            <a:r>
              <a:rPr lang="nl-NL" sz="2000" b="1" i="1" dirty="0" err="1" smtClean="0">
                <a:solidFill>
                  <a:srgbClr val="0070C0"/>
                </a:solidFill>
              </a:rPr>
              <a:t>s</a:t>
            </a:r>
            <a:r>
              <a:rPr lang="nl-NL" sz="2000" i="1" dirty="0" err="1" smtClean="0"/>
              <a:t>tres</a:t>
            </a:r>
            <a:endParaRPr lang="nl-NL" sz="2000" i="1" dirty="0" smtClean="0"/>
          </a:p>
        </p:txBody>
      </p:sp>
      <p:cxnSp>
        <p:nvCxnSpPr>
          <p:cNvPr id="11" name="Straight Arrow Connector 10"/>
          <p:cNvCxnSpPr/>
          <p:nvPr/>
        </p:nvCxnSpPr>
        <p:spPr>
          <a:xfrm>
            <a:off x="1619672"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5"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6" name="Straight Arrow Connector 15"/>
          <p:cNvCxnSpPr/>
          <p:nvPr/>
        </p:nvCxnSpPr>
        <p:spPr>
          <a:xfrm>
            <a:off x="1619672" y="386104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0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0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9" grpId="0" build="allAtOnce"/>
      <p:bldP spid="13" grpId="0"/>
      <p:bldP spid="15" grpId="0"/>
      <p:bldP spid="19"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Camestres</a:t>
            </a:r>
            <a:r>
              <a:rPr lang="nl-NL" sz="3200" dirty="0" smtClean="0"/>
              <a:t> (AEE-2)</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Ca</a:t>
            </a:r>
            <a:r>
              <a:rPr lang="nl-NL" sz="2000" b="1" i="1" dirty="0" err="1" smtClean="0">
                <a:solidFill>
                  <a:srgbClr val="0070C0"/>
                </a:solidFill>
              </a:rPr>
              <a:t>m</a:t>
            </a:r>
            <a:r>
              <a:rPr lang="nl-NL" sz="2000" i="1" dirty="0" err="1" smtClean="0"/>
              <a:t>estres</a:t>
            </a:r>
            <a:endParaRPr lang="nl-NL" sz="2000" i="1" dirty="0" smtClean="0"/>
          </a:p>
        </p:txBody>
      </p:sp>
      <p:cxnSp>
        <p:nvCxnSpPr>
          <p:cNvPr id="11" name="Straight Arrow Connector 10"/>
          <p:cNvCxnSpPr/>
          <p:nvPr/>
        </p:nvCxnSpPr>
        <p:spPr>
          <a:xfrm>
            <a:off x="1619672"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19672" y="386104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4716016" y="3573016"/>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2" name="Content Placeholder 2"/>
          <p:cNvSpPr txBox="1">
            <a:spLocks/>
          </p:cNvSpPr>
          <p:nvPr/>
        </p:nvSpPr>
        <p:spPr>
          <a:xfrm>
            <a:off x="47160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4" name="Straight Arrow Connector 13"/>
          <p:cNvCxnSpPr/>
          <p:nvPr/>
        </p:nvCxnSpPr>
        <p:spPr>
          <a:xfrm>
            <a:off x="3563888" y="3861048"/>
            <a:ext cx="1224136" cy="28803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2" idx="1"/>
          </p:cNvCxnSpPr>
          <p:nvPr/>
        </p:nvCxnSpPr>
        <p:spPr>
          <a:xfrm flipV="1">
            <a:off x="3635896" y="3763144"/>
            <a:ext cx="1080120" cy="38593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2"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3"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20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20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Camestres</a:t>
            </a:r>
            <a:r>
              <a:rPr lang="nl-NL" sz="3200" dirty="0" smtClean="0"/>
              <a:t> (AEE-2)</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0070C0"/>
                </a:solidFill>
              </a:rPr>
              <a:t>C</a:t>
            </a:r>
            <a:r>
              <a:rPr lang="nl-NL" sz="2000" i="1" dirty="0" err="1" smtClean="0"/>
              <a:t>amestres</a:t>
            </a:r>
            <a:endParaRPr lang="nl-NL" sz="2000" i="1" dirty="0" smtClean="0"/>
          </a:p>
        </p:txBody>
      </p:sp>
      <p:cxnSp>
        <p:nvCxnSpPr>
          <p:cNvPr id="11" name="Straight Arrow Connector 10"/>
          <p:cNvCxnSpPr/>
          <p:nvPr/>
        </p:nvCxnSpPr>
        <p:spPr>
          <a:xfrm>
            <a:off x="1619672"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19672" y="386104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4716016" y="3573016"/>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2" name="Content Placeholder 2"/>
          <p:cNvSpPr txBox="1">
            <a:spLocks/>
          </p:cNvSpPr>
          <p:nvPr/>
        </p:nvSpPr>
        <p:spPr>
          <a:xfrm>
            <a:off x="47160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4" name="Straight Arrow Connector 13"/>
          <p:cNvCxnSpPr/>
          <p:nvPr/>
        </p:nvCxnSpPr>
        <p:spPr>
          <a:xfrm>
            <a:off x="3563888" y="3861048"/>
            <a:ext cx="1224136" cy="28803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2" idx="1"/>
          </p:cNvCxnSpPr>
          <p:nvPr/>
        </p:nvCxnSpPr>
        <p:spPr>
          <a:xfrm flipV="1">
            <a:off x="3635896" y="3763144"/>
            <a:ext cx="1080120" cy="38593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5868144" y="4005064"/>
            <a:ext cx="1224136"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Celarent</a:t>
            </a:r>
            <a:endParaRPr lang="nl-NL" sz="2000" i="1" dirty="0" smtClean="0"/>
          </a:p>
        </p:txBody>
      </p:sp>
      <p:sp>
        <p:nvSpPr>
          <p:cNvPr id="22"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3"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4"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5" name="Content Placeholder 2"/>
          <p:cNvSpPr txBox="1">
            <a:spLocks/>
          </p:cNvSpPr>
          <p:nvPr/>
        </p:nvSpPr>
        <p:spPr>
          <a:xfrm>
            <a:off x="4716016" y="4344889"/>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20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allAtOnce"/>
      <p:bldP spid="25" grpId="0" build="allAtOnce"/>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Camestres</a:t>
            </a:r>
            <a:r>
              <a:rPr lang="nl-NL" sz="3200" dirty="0" smtClean="0"/>
              <a:t> (AEE-2)</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Camestre</a:t>
            </a:r>
            <a:r>
              <a:rPr lang="nl-NL" sz="2000" b="1" i="1" dirty="0" err="1" smtClean="0">
                <a:solidFill>
                  <a:srgbClr val="0070C0"/>
                </a:solidFill>
              </a:rPr>
              <a:t>s</a:t>
            </a:r>
            <a:endParaRPr lang="nl-NL" sz="2000" b="1" i="1" dirty="0" smtClean="0">
              <a:solidFill>
                <a:srgbClr val="0070C0"/>
              </a:solidFill>
            </a:endParaRPr>
          </a:p>
        </p:txBody>
      </p:sp>
      <p:cxnSp>
        <p:nvCxnSpPr>
          <p:cNvPr id="11" name="Straight Arrow Connector 10"/>
          <p:cNvCxnSpPr/>
          <p:nvPr/>
        </p:nvCxnSpPr>
        <p:spPr>
          <a:xfrm>
            <a:off x="1619672"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1619672" y="386104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4716016" y="3573016"/>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2" name="Content Placeholder 2"/>
          <p:cNvSpPr txBox="1">
            <a:spLocks/>
          </p:cNvSpPr>
          <p:nvPr/>
        </p:nvSpPr>
        <p:spPr>
          <a:xfrm>
            <a:off x="47160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4" name="Straight Arrow Connector 13"/>
          <p:cNvCxnSpPr/>
          <p:nvPr/>
        </p:nvCxnSpPr>
        <p:spPr>
          <a:xfrm>
            <a:off x="3563888" y="3861048"/>
            <a:ext cx="1224136" cy="28803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2" idx="1"/>
          </p:cNvCxnSpPr>
          <p:nvPr/>
        </p:nvCxnSpPr>
        <p:spPr>
          <a:xfrm flipV="1">
            <a:off x="3635896" y="3763144"/>
            <a:ext cx="1080120" cy="38593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5868144" y="4005064"/>
            <a:ext cx="1224136"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Celarent</a:t>
            </a:r>
            <a:endParaRPr lang="nl-NL" sz="2000" i="1" dirty="0" smtClean="0"/>
          </a:p>
        </p:txBody>
      </p:sp>
      <p:sp>
        <p:nvSpPr>
          <p:cNvPr id="22"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3"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4"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25" name="Content Placeholder 2"/>
          <p:cNvSpPr txBox="1">
            <a:spLocks/>
          </p:cNvSpPr>
          <p:nvPr/>
        </p:nvSpPr>
        <p:spPr>
          <a:xfrm>
            <a:off x="4716016" y="4344889"/>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PeS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20" name="Straight Arrow Connector 19"/>
          <p:cNvCxnSpPr>
            <a:stCxn id="25" idx="1"/>
          </p:cNvCxnSpPr>
          <p:nvPr/>
        </p:nvCxnSpPr>
        <p:spPr>
          <a:xfrm flipH="1">
            <a:off x="1619672" y="4535017"/>
            <a:ext cx="3096344" cy="4611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Content Placeholder 2"/>
          <p:cNvSpPr txBox="1">
            <a:spLocks/>
          </p:cNvSpPr>
          <p:nvPr/>
        </p:nvSpPr>
        <p:spPr>
          <a:xfrm>
            <a:off x="755576" y="4365104"/>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SeP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Ferison</a:t>
            </a:r>
            <a:r>
              <a:rPr lang="nl-NL" sz="3200" dirty="0" smtClean="0"/>
              <a:t> (EIO-3)</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Feri</a:t>
            </a:r>
            <a:r>
              <a:rPr lang="nl-NL" sz="2000" b="1" i="1" dirty="0" err="1" smtClean="0">
                <a:solidFill>
                  <a:srgbClr val="0070C0"/>
                </a:solidFill>
              </a:rPr>
              <a:t>s</a:t>
            </a:r>
            <a:r>
              <a:rPr lang="nl-NL" sz="2000" i="1" dirty="0" err="1" smtClean="0"/>
              <a:t>on</a:t>
            </a:r>
            <a:endParaRPr lang="nl-NL" sz="2000" i="1" dirty="0" smtClean="0"/>
          </a:p>
        </p:txBody>
      </p:sp>
      <p:cxnSp>
        <p:nvCxnSpPr>
          <p:cNvPr id="11" name="Straight Arrow Connector 10"/>
          <p:cNvCxnSpPr/>
          <p:nvPr/>
        </p:nvCxnSpPr>
        <p:spPr>
          <a:xfrm>
            <a:off x="1619672"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5"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6" name="Straight Arrow Connector 15"/>
          <p:cNvCxnSpPr/>
          <p:nvPr/>
        </p:nvCxnSpPr>
        <p:spPr>
          <a:xfrm>
            <a:off x="1619672" y="386104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20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200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9" grpId="0" build="allAtOnce"/>
      <p:bldP spid="13" grpId="0"/>
      <p:bldP spid="15" grpId="0"/>
      <p:bldP spid="19"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Ferison</a:t>
            </a:r>
            <a:r>
              <a:rPr lang="nl-NL" sz="3200" dirty="0" smtClean="0"/>
              <a:t> (EIO-3)</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MiS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0070C0"/>
                </a:solidFill>
              </a:rPr>
              <a:t>F</a:t>
            </a:r>
            <a:r>
              <a:rPr lang="nl-NL" sz="2000" i="1" dirty="0" err="1" smtClean="0"/>
              <a:t>erison</a:t>
            </a:r>
            <a:endParaRPr lang="nl-NL" sz="2000" i="1" dirty="0" smtClean="0"/>
          </a:p>
        </p:txBody>
      </p:sp>
      <p:cxnSp>
        <p:nvCxnSpPr>
          <p:cNvPr id="11" name="Straight Arrow Connector 10"/>
          <p:cNvCxnSpPr/>
          <p:nvPr/>
        </p:nvCxnSpPr>
        <p:spPr>
          <a:xfrm>
            <a:off x="1619672"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5"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MeP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6" name="Straight Arrow Connector 15"/>
          <p:cNvCxnSpPr/>
          <p:nvPr/>
        </p:nvCxnSpPr>
        <p:spPr>
          <a:xfrm>
            <a:off x="1619672" y="386104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2" name="Content Placeholder 2"/>
          <p:cNvSpPr txBox="1">
            <a:spLocks/>
          </p:cNvSpPr>
          <p:nvPr/>
        </p:nvSpPr>
        <p:spPr>
          <a:xfrm>
            <a:off x="4211960" y="4149080"/>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Ferio</a:t>
            </a:r>
            <a:endParaRPr lang="nl-NL" sz="2000" i="1" dirty="0" smtClean="0"/>
          </a:p>
        </p:txBody>
      </p:sp>
      <p:sp>
        <p:nvSpPr>
          <p:cNvPr id="14" name="Content Placeholder 2"/>
          <p:cNvSpPr txBox="1">
            <a:spLocks/>
          </p:cNvSpPr>
          <p:nvPr/>
        </p:nvSpPr>
        <p:spPr>
          <a:xfrm>
            <a:off x="2915816" y="4437112"/>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7" name="Content Placeholder 2"/>
          <p:cNvSpPr txBox="1">
            <a:spLocks/>
          </p:cNvSpPr>
          <p:nvPr/>
        </p:nvSpPr>
        <p:spPr>
          <a:xfrm>
            <a:off x="755576" y="4437112"/>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20" name="Straight Arrow Connector 19"/>
          <p:cNvCxnSpPr/>
          <p:nvPr/>
        </p:nvCxnSpPr>
        <p:spPr>
          <a:xfrm flipH="1">
            <a:off x="1547664" y="4653136"/>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20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000"/>
                                        <p:tgtEl>
                                          <p:spTgt spid="17"/>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p:bldP spid="14" grpId="0" build="allAtOnce"/>
      <p:bldP spid="17"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Bramantip</a:t>
            </a:r>
            <a:r>
              <a:rPr lang="nl-NL" sz="3200" dirty="0" smtClean="0"/>
              <a:t> (AAI-4)</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Bra</a:t>
            </a:r>
            <a:r>
              <a:rPr lang="nl-NL" sz="2000" b="1" i="1" dirty="0" err="1" smtClean="0">
                <a:solidFill>
                  <a:srgbClr val="0070C0"/>
                </a:solidFill>
              </a:rPr>
              <a:t>m</a:t>
            </a:r>
            <a:r>
              <a:rPr lang="nl-NL" sz="2000" i="1" dirty="0" err="1" smtClean="0"/>
              <a:t>antip</a:t>
            </a:r>
            <a:endParaRPr lang="nl-NL" sz="2000" i="1" dirty="0" smtClean="0"/>
          </a:p>
        </p:txBody>
      </p:sp>
      <p:cxnSp>
        <p:nvCxnSpPr>
          <p:cNvPr id="11" name="Straight Arrow Connector 10"/>
          <p:cNvCxnSpPr/>
          <p:nvPr/>
        </p:nvCxnSpPr>
        <p:spPr>
          <a:xfrm flipV="1">
            <a:off x="1619672" y="3861048"/>
            <a:ext cx="1152128" cy="36004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5"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6" name="Straight Arrow Connector 15"/>
          <p:cNvCxnSpPr/>
          <p:nvPr/>
        </p:nvCxnSpPr>
        <p:spPr>
          <a:xfrm>
            <a:off x="1547664" y="3861048"/>
            <a:ext cx="1224136" cy="432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0"/>
                                        <p:tgtEl>
                                          <p:spTgt spid="11"/>
                                        </p:tgtEl>
                                      </p:cBhvr>
                                    </p:animEffect>
                                  </p:childTnLst>
                                </p:cTn>
                              </p:par>
                              <p:par>
                                <p:cTn id="21" presetID="10" presetClass="entr" presetSubtype="0" fill="hold" grpId="0" nodeType="withEffect" nodePh="1">
                                  <p:stCondLst>
                                    <p:cond delay="0"/>
                                  </p:stCondLst>
                                  <p:endCondLst>
                                    <p:cond evt="begin" delay="0">
                                      <p:tn val="21"/>
                                    </p:cond>
                                  </p:end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0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2000"/>
                                        <p:tgtEl>
                                          <p:spTgt spid="15"/>
                                        </p:tgtEl>
                                      </p:cBhvr>
                                    </p:animEffect>
                                  </p:childTnLst>
                                </p:cTn>
                              </p:par>
                              <p:par>
                                <p:cTn id="27"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20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9" grpId="0" build="allAtOnce"/>
      <p:bldP spid="13" grpId="0"/>
      <p:bldP spid="15" grpId="0"/>
      <p:bldP spid="19"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Bramantip</a:t>
            </a:r>
            <a:r>
              <a:rPr lang="nl-NL" sz="3200" dirty="0" smtClean="0"/>
              <a:t> (AAI-4)</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0070C0"/>
                </a:solidFill>
              </a:rPr>
              <a:t>B</a:t>
            </a:r>
            <a:r>
              <a:rPr lang="nl-NL" sz="2000" i="1" dirty="0" err="1" smtClean="0"/>
              <a:t>ramantip</a:t>
            </a:r>
            <a:endParaRPr lang="nl-NL" sz="2000" i="1" dirty="0" smtClean="0"/>
          </a:p>
        </p:txBody>
      </p:sp>
      <p:cxnSp>
        <p:nvCxnSpPr>
          <p:cNvPr id="11" name="Straight Arrow Connector 10"/>
          <p:cNvCxnSpPr/>
          <p:nvPr/>
        </p:nvCxnSpPr>
        <p:spPr>
          <a:xfrm flipV="1">
            <a:off x="1619672" y="3861048"/>
            <a:ext cx="1152128" cy="36004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5"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6" name="Straight Arrow Connector 15"/>
          <p:cNvCxnSpPr/>
          <p:nvPr/>
        </p:nvCxnSpPr>
        <p:spPr>
          <a:xfrm>
            <a:off x="1547664" y="3861048"/>
            <a:ext cx="1224136" cy="432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2" name="Content Placeholder 2"/>
          <p:cNvSpPr txBox="1">
            <a:spLocks/>
          </p:cNvSpPr>
          <p:nvPr/>
        </p:nvSpPr>
        <p:spPr>
          <a:xfrm>
            <a:off x="3779912" y="4293096"/>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Barbara</a:t>
            </a:r>
          </a:p>
        </p:txBody>
      </p:sp>
      <p:sp>
        <p:nvSpPr>
          <p:cNvPr id="14" name="Content Placeholder 2"/>
          <p:cNvSpPr txBox="1">
            <a:spLocks/>
          </p:cNvSpPr>
          <p:nvPr/>
        </p:nvSpPr>
        <p:spPr>
          <a:xfrm>
            <a:off x="2915816" y="4437112"/>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p:bldP spid="14" grpId="0" build="allAtOnce"/>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Bramantip</a:t>
            </a:r>
            <a:r>
              <a:rPr lang="nl-NL" sz="3200" dirty="0" smtClean="0"/>
              <a:t> (AAI-4)</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Bramanti</a:t>
            </a:r>
            <a:r>
              <a:rPr lang="nl-NL" sz="2000" b="1" i="1" dirty="0" err="1" smtClean="0">
                <a:solidFill>
                  <a:srgbClr val="0070C0"/>
                </a:solidFill>
              </a:rPr>
              <a:t>p</a:t>
            </a:r>
            <a:endParaRPr lang="nl-NL" sz="2000" b="1" i="1" dirty="0" smtClean="0">
              <a:solidFill>
                <a:srgbClr val="0070C0"/>
              </a:solidFill>
            </a:endParaRPr>
          </a:p>
        </p:txBody>
      </p:sp>
      <p:cxnSp>
        <p:nvCxnSpPr>
          <p:cNvPr id="11" name="Straight Arrow Connector 10"/>
          <p:cNvCxnSpPr/>
          <p:nvPr/>
        </p:nvCxnSpPr>
        <p:spPr>
          <a:xfrm flipV="1">
            <a:off x="1619672" y="3861048"/>
            <a:ext cx="1152128" cy="36004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Content Placeholder 2"/>
          <p:cNvSpPr txBox="1">
            <a:spLocks/>
          </p:cNvSpPr>
          <p:nvPr/>
        </p:nvSpPr>
        <p:spPr>
          <a:xfrm>
            <a:off x="2915816" y="3573017"/>
            <a:ext cx="792088" cy="3600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5" name="Content Placeholder 2"/>
          <p:cNvSpPr txBox="1">
            <a:spLocks/>
          </p:cNvSpPr>
          <p:nvPr/>
        </p:nvSpPr>
        <p:spPr>
          <a:xfrm>
            <a:off x="2915816" y="3573016"/>
            <a:ext cx="792088" cy="3802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6" name="Straight Arrow Connector 15"/>
          <p:cNvCxnSpPr/>
          <p:nvPr/>
        </p:nvCxnSpPr>
        <p:spPr>
          <a:xfrm>
            <a:off x="1547664" y="3861048"/>
            <a:ext cx="1224136" cy="43204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Content Placeholder 2"/>
          <p:cNvSpPr txBox="1">
            <a:spLocks/>
          </p:cNvSpPr>
          <p:nvPr/>
        </p:nvSpPr>
        <p:spPr>
          <a:xfrm>
            <a:off x="2915816" y="400506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PaM</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2" name="Content Placeholder 2"/>
          <p:cNvSpPr txBox="1">
            <a:spLocks/>
          </p:cNvSpPr>
          <p:nvPr/>
        </p:nvSpPr>
        <p:spPr>
          <a:xfrm>
            <a:off x="3779912" y="4293096"/>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Barbara</a:t>
            </a:r>
          </a:p>
        </p:txBody>
      </p:sp>
      <p:sp>
        <p:nvSpPr>
          <p:cNvPr id="14" name="Content Placeholder 2"/>
          <p:cNvSpPr txBox="1">
            <a:spLocks/>
          </p:cNvSpPr>
          <p:nvPr/>
        </p:nvSpPr>
        <p:spPr>
          <a:xfrm>
            <a:off x="2915816" y="4437112"/>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PaS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cxnSp>
        <p:nvCxnSpPr>
          <p:cNvPr id="18" name="Straight Arrow Connector 17"/>
          <p:cNvCxnSpPr/>
          <p:nvPr/>
        </p:nvCxnSpPr>
        <p:spPr>
          <a:xfrm flipH="1">
            <a:off x="1475656" y="4653136"/>
            <a:ext cx="1296144"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Content Placeholder 2"/>
          <p:cNvSpPr txBox="1">
            <a:spLocks/>
          </p:cNvSpPr>
          <p:nvPr/>
        </p:nvSpPr>
        <p:spPr>
          <a:xfrm>
            <a:off x="755576" y="4437112"/>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SiP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Bocardo</a:t>
            </a:r>
            <a:r>
              <a:rPr lang="nl-NL" sz="3200" dirty="0" smtClean="0"/>
              <a:t> (OAO-3)</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Bo</a:t>
            </a:r>
            <a:r>
              <a:rPr lang="nl-NL" sz="2000" b="1" i="1" dirty="0" err="1" smtClean="0">
                <a:solidFill>
                  <a:srgbClr val="0070C0"/>
                </a:solidFill>
              </a:rPr>
              <a:t>c</a:t>
            </a:r>
            <a:r>
              <a:rPr lang="nl-NL" sz="2000" i="1" dirty="0" err="1" smtClean="0"/>
              <a:t>ardo</a:t>
            </a:r>
            <a:endParaRPr lang="nl-NL" sz="2000" i="1" dirty="0" smtClean="0"/>
          </a:p>
        </p:txBody>
      </p:sp>
      <p:sp>
        <p:nvSpPr>
          <p:cNvPr id="12" name="TextBox 11"/>
          <p:cNvSpPr txBox="1"/>
          <p:nvPr/>
        </p:nvSpPr>
        <p:spPr>
          <a:xfrm>
            <a:off x="755576" y="5805264"/>
            <a:ext cx="6048672" cy="369332"/>
          </a:xfrm>
          <a:prstGeom prst="rect">
            <a:avLst/>
          </a:prstGeom>
          <a:noFill/>
        </p:spPr>
        <p:txBody>
          <a:bodyPr wrap="square" rtlCol="0">
            <a:spAutoFit/>
          </a:bodyPr>
          <a:lstStyle/>
          <a:p>
            <a:r>
              <a:rPr lang="nl-NL" dirty="0" smtClean="0"/>
              <a:t>Stel </a:t>
            </a:r>
            <a:r>
              <a:rPr lang="nl-NL" i="1" dirty="0" err="1" smtClean="0"/>
              <a:t>SoP</a:t>
            </a:r>
            <a:r>
              <a:rPr lang="nl-NL" dirty="0" smtClean="0"/>
              <a:t> is onwaar.  Maar dan moet </a:t>
            </a:r>
            <a:r>
              <a:rPr lang="nl-NL" i="1" dirty="0" err="1" smtClean="0"/>
              <a:t>SaP</a:t>
            </a:r>
            <a:r>
              <a:rPr lang="nl-NL" dirty="0" smtClean="0"/>
              <a:t> waar zijn (waarom?).</a:t>
            </a:r>
            <a:endParaRPr lang="nl-NL" dirty="0"/>
          </a:p>
        </p:txBody>
      </p:sp>
      <p:sp>
        <p:nvSpPr>
          <p:cNvPr id="14" name="Content Placeholder 2"/>
          <p:cNvSpPr txBox="1">
            <a:spLocks/>
          </p:cNvSpPr>
          <p:nvPr/>
        </p:nvSpPr>
        <p:spPr>
          <a:xfrm>
            <a:off x="1979712"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20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fade">
                                      <p:cBhvr>
                                        <p:cTn id="25" dur="20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9" grpId="0" build="allAtOnce"/>
      <p:bldP spid="12" grpId="0" build="allAtOnce"/>
      <p:bldP spid="14" grpId="0" build="allAtOnce"/>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Bocardo</a:t>
            </a:r>
            <a:r>
              <a:rPr lang="nl-NL" sz="3200" dirty="0" smtClean="0"/>
              <a:t> (OAO-3)</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0070C0"/>
                </a:solidFill>
              </a:rPr>
              <a:t>B</a:t>
            </a:r>
            <a:r>
              <a:rPr lang="nl-NL" sz="2000" i="1" dirty="0" err="1" smtClean="0"/>
              <a:t>ocardo</a:t>
            </a:r>
            <a:endParaRPr lang="nl-NL" sz="2000" i="1" dirty="0" smtClean="0"/>
          </a:p>
        </p:txBody>
      </p:sp>
      <p:sp>
        <p:nvSpPr>
          <p:cNvPr id="14" name="Content Placeholder 2"/>
          <p:cNvSpPr txBox="1">
            <a:spLocks/>
          </p:cNvSpPr>
          <p:nvPr/>
        </p:nvSpPr>
        <p:spPr>
          <a:xfrm>
            <a:off x="1979712"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8" name="Content Placeholder 2"/>
          <p:cNvSpPr txBox="1">
            <a:spLocks/>
          </p:cNvSpPr>
          <p:nvPr/>
        </p:nvSpPr>
        <p:spPr>
          <a:xfrm>
            <a:off x="5436096" y="4941168"/>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Barbara</a:t>
            </a:r>
          </a:p>
        </p:txBody>
      </p:sp>
      <p:cxnSp>
        <p:nvCxnSpPr>
          <p:cNvPr id="10" name="Straight Arrow Connector 9"/>
          <p:cNvCxnSpPr/>
          <p:nvPr/>
        </p:nvCxnSpPr>
        <p:spPr>
          <a:xfrm>
            <a:off x="3131840"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Content Placeholder 2"/>
          <p:cNvSpPr txBox="1">
            <a:spLocks/>
          </p:cNvSpPr>
          <p:nvPr/>
        </p:nvSpPr>
        <p:spPr>
          <a:xfrm>
            <a:off x="4788024"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3" name="TextBox 12"/>
          <p:cNvSpPr txBox="1"/>
          <p:nvPr/>
        </p:nvSpPr>
        <p:spPr>
          <a:xfrm>
            <a:off x="755576" y="5805264"/>
            <a:ext cx="6048672" cy="369332"/>
          </a:xfrm>
          <a:prstGeom prst="rect">
            <a:avLst/>
          </a:prstGeom>
          <a:noFill/>
        </p:spPr>
        <p:txBody>
          <a:bodyPr wrap="square" rtlCol="0">
            <a:spAutoFit/>
          </a:bodyPr>
          <a:lstStyle/>
          <a:p>
            <a:r>
              <a:rPr lang="nl-NL" dirty="0" smtClean="0"/>
              <a:t>Stel </a:t>
            </a:r>
            <a:r>
              <a:rPr lang="nl-NL" i="1" dirty="0" err="1" smtClean="0"/>
              <a:t>SoP</a:t>
            </a:r>
            <a:r>
              <a:rPr lang="nl-NL" dirty="0" smtClean="0"/>
              <a:t> is onwaar.  Maar dan moet </a:t>
            </a:r>
            <a:r>
              <a:rPr lang="nl-NL" i="1" dirty="0" err="1" smtClean="0"/>
              <a:t>SaP</a:t>
            </a:r>
            <a:r>
              <a:rPr lang="nl-NL" dirty="0" smtClean="0"/>
              <a:t> waar zijn (waarom?).</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000"/>
                                        <p:tgtEl>
                                          <p:spTgt spid="1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11"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Bocardo</a:t>
            </a:r>
            <a:r>
              <a:rPr lang="nl-NL" sz="3200" dirty="0" smtClean="0"/>
              <a:t> (OAO-3)</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FF0000"/>
                </a:solidFill>
              </a:rPr>
              <a:t>MoP</a:t>
            </a:r>
            <a:endParaRPr kumimoji="0" lang="nl-NL" sz="2000" b="1" i="1" u="none" strike="noStrike" kern="1200" cap="none" spc="0" normalizeH="0" baseline="0" noProof="0" dirty="0" smtClean="0">
              <a:ln>
                <a:noFill/>
              </a:ln>
              <a:solidFill>
                <a:srgbClr val="FF000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9" name="Content Placeholder 2"/>
          <p:cNvSpPr txBox="1">
            <a:spLocks/>
          </p:cNvSpPr>
          <p:nvPr/>
        </p:nvSpPr>
        <p:spPr>
          <a:xfrm>
            <a:off x="683568" y="5157192"/>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0070C0"/>
                </a:solidFill>
              </a:rPr>
              <a:t>B</a:t>
            </a:r>
            <a:r>
              <a:rPr lang="nl-NL" sz="2000" i="1" dirty="0" err="1" smtClean="0"/>
              <a:t>ocardo</a:t>
            </a:r>
            <a:endParaRPr lang="nl-NL" sz="2000" i="1" dirty="0" smtClean="0"/>
          </a:p>
        </p:txBody>
      </p:sp>
      <p:sp>
        <p:nvSpPr>
          <p:cNvPr id="14" name="Content Placeholder 2"/>
          <p:cNvSpPr txBox="1">
            <a:spLocks/>
          </p:cNvSpPr>
          <p:nvPr/>
        </p:nvSpPr>
        <p:spPr>
          <a:xfrm>
            <a:off x="1979712"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SaP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8" name="Content Placeholder 2"/>
          <p:cNvSpPr txBox="1">
            <a:spLocks/>
          </p:cNvSpPr>
          <p:nvPr/>
        </p:nvSpPr>
        <p:spPr>
          <a:xfrm>
            <a:off x="5436096" y="4941168"/>
            <a:ext cx="18722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smtClean="0"/>
              <a:t>Barbara</a:t>
            </a:r>
          </a:p>
        </p:txBody>
      </p:sp>
      <p:cxnSp>
        <p:nvCxnSpPr>
          <p:cNvPr id="10" name="Straight Arrow Connector 9"/>
          <p:cNvCxnSpPr/>
          <p:nvPr/>
        </p:nvCxnSpPr>
        <p:spPr>
          <a:xfrm>
            <a:off x="3131840" y="4221088"/>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Content Placeholder 2"/>
          <p:cNvSpPr txBox="1">
            <a:spLocks/>
          </p:cNvSpPr>
          <p:nvPr/>
        </p:nvSpPr>
        <p:spPr>
          <a:xfrm>
            <a:off x="4788024"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i="1" dirty="0" err="1" smtClean="0">
                <a:solidFill>
                  <a:srgbClr val="FF0000"/>
                </a:solidFill>
              </a:rPr>
              <a:t>MaP</a:t>
            </a:r>
            <a:endParaRPr lang="nl-NL" sz="2000" b="1" i="1" dirty="0" smtClean="0">
              <a:solidFill>
                <a:srgbClr val="FF0000"/>
              </a:solidFill>
            </a:endParaRPr>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3" name="TextBox 12"/>
          <p:cNvSpPr txBox="1"/>
          <p:nvPr/>
        </p:nvSpPr>
        <p:spPr>
          <a:xfrm>
            <a:off x="755576" y="5805264"/>
            <a:ext cx="6048672" cy="369332"/>
          </a:xfrm>
          <a:prstGeom prst="rect">
            <a:avLst/>
          </a:prstGeom>
          <a:noFill/>
        </p:spPr>
        <p:txBody>
          <a:bodyPr wrap="square" rtlCol="0">
            <a:spAutoFit/>
          </a:bodyPr>
          <a:lstStyle/>
          <a:p>
            <a:r>
              <a:rPr lang="nl-NL" dirty="0" smtClean="0"/>
              <a:t>Stel </a:t>
            </a:r>
            <a:r>
              <a:rPr lang="nl-NL" i="1" dirty="0" err="1" smtClean="0"/>
              <a:t>SoP</a:t>
            </a:r>
            <a:r>
              <a:rPr lang="nl-NL" dirty="0" smtClean="0"/>
              <a:t> is onwaar.  Maar dan moet </a:t>
            </a:r>
            <a:r>
              <a:rPr lang="nl-NL" i="1" dirty="0" err="1" smtClean="0"/>
              <a:t>SaP</a:t>
            </a:r>
            <a:r>
              <a:rPr lang="nl-NL" dirty="0" smtClean="0"/>
              <a:t> waar zijn (waarom?).</a:t>
            </a:r>
            <a:endParaRPr lang="nl-NL" dirty="0"/>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l-NL" sz="3200" dirty="0" smtClean="0"/>
              <a:t>Afleiding van de geldigheid van                          </a:t>
            </a:r>
            <a:r>
              <a:rPr lang="nl-NL" sz="3200" dirty="0" err="1" smtClean="0"/>
              <a:t>Bocardo</a:t>
            </a:r>
            <a:r>
              <a:rPr lang="nl-NL" sz="3200" dirty="0" smtClean="0"/>
              <a:t> (OAO-3)</a:t>
            </a:r>
            <a:endParaRPr lang="nl-NL" sz="3200" dirty="0"/>
          </a:p>
        </p:txBody>
      </p:sp>
      <p:sp>
        <p:nvSpPr>
          <p:cNvPr id="4" name="Content Placeholder 2"/>
          <p:cNvSpPr txBox="1">
            <a:spLocks/>
          </p:cNvSpPr>
          <p:nvPr/>
        </p:nvSpPr>
        <p:spPr>
          <a:xfrm>
            <a:off x="781744" y="1844824"/>
            <a:ext cx="1702024" cy="118072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p:txBody>
      </p:sp>
      <p:sp>
        <p:nvSpPr>
          <p:cNvPr id="5" name="Content Placeholder 2"/>
          <p:cNvSpPr txBox="1">
            <a:spLocks/>
          </p:cNvSpPr>
          <p:nvPr/>
        </p:nvSpPr>
        <p:spPr>
          <a:xfrm>
            <a:off x="755576" y="3616425"/>
            <a:ext cx="792088" cy="74867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MoP</a:t>
            </a:r>
            <a:endParaRPr kumimoji="0" lang="nl-NL" sz="20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MaS</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
        <p:nvSpPr>
          <p:cNvPr id="14" name="Content Placeholder 2"/>
          <p:cNvSpPr txBox="1">
            <a:spLocks/>
          </p:cNvSpPr>
          <p:nvPr/>
        </p:nvSpPr>
        <p:spPr>
          <a:xfrm>
            <a:off x="755576" y="4365104"/>
            <a:ext cx="792088"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i="1" dirty="0" err="1" smtClean="0"/>
              <a:t>SoP</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i="1" dirty="0" smtClean="0"/>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Alle geldige syllogismen in één overzicht</a:t>
            </a:r>
            <a:endParaRPr lang="nl-NL" sz="3600" dirty="0"/>
          </a:p>
        </p:txBody>
      </p:sp>
      <p:sp>
        <p:nvSpPr>
          <p:cNvPr id="19" name="Content Placeholder 2"/>
          <p:cNvSpPr>
            <a:spLocks noGrp="1"/>
          </p:cNvSpPr>
          <p:nvPr>
            <p:ph idx="1"/>
          </p:nvPr>
        </p:nvSpPr>
        <p:spPr>
          <a:xfrm>
            <a:off x="313184" y="1384177"/>
            <a:ext cx="8939336" cy="532655"/>
          </a:xfrm>
        </p:spPr>
        <p:txBody>
          <a:bodyPr>
            <a:noAutofit/>
          </a:bodyPr>
          <a:lstStyle/>
          <a:p>
            <a:r>
              <a:rPr lang="nl-NL" sz="2000" dirty="0" smtClean="0"/>
              <a:t>De </a:t>
            </a:r>
            <a:r>
              <a:rPr lang="nl-NL" sz="2000" u="sng" dirty="0" smtClean="0"/>
              <a:t>vier</a:t>
            </a:r>
            <a:r>
              <a:rPr lang="nl-NL" sz="2000" dirty="0" smtClean="0"/>
              <a:t> perfecte syllogismen </a:t>
            </a:r>
            <a:r>
              <a:rPr lang="nl-NL" sz="2000" i="1" dirty="0" smtClean="0"/>
              <a:t>Barbara</a:t>
            </a:r>
            <a:r>
              <a:rPr lang="nl-NL" sz="2000" dirty="0" smtClean="0"/>
              <a:t>, </a:t>
            </a:r>
            <a:r>
              <a:rPr lang="nl-NL" sz="2000" i="1" dirty="0" err="1" smtClean="0"/>
              <a:t>Celarent</a:t>
            </a:r>
            <a:r>
              <a:rPr lang="nl-NL" sz="2000" dirty="0" smtClean="0"/>
              <a:t>, </a:t>
            </a:r>
            <a:r>
              <a:rPr lang="nl-NL" sz="2000" i="1" dirty="0" err="1" smtClean="0"/>
              <a:t>Darii</a:t>
            </a:r>
            <a:r>
              <a:rPr lang="nl-NL" sz="2000" dirty="0" smtClean="0"/>
              <a:t> en </a:t>
            </a:r>
            <a:r>
              <a:rPr lang="nl-NL" sz="2000" i="1" dirty="0" err="1" smtClean="0"/>
              <a:t>Ferio</a:t>
            </a:r>
            <a:r>
              <a:rPr lang="nl-NL" sz="2000" dirty="0" smtClean="0"/>
              <a:t> zijn evident geldig</a:t>
            </a:r>
          </a:p>
          <a:p>
            <a:pPr>
              <a:buNone/>
            </a:pPr>
            <a:endParaRPr lang="nl-NL" sz="2000" i="1" dirty="0" smtClean="0"/>
          </a:p>
        </p:txBody>
      </p:sp>
      <p:sp>
        <p:nvSpPr>
          <p:cNvPr id="4" name="Content Placeholder 2"/>
          <p:cNvSpPr txBox="1">
            <a:spLocks/>
          </p:cNvSpPr>
          <p:nvPr/>
        </p:nvSpPr>
        <p:spPr>
          <a:xfrm>
            <a:off x="313184" y="2204864"/>
            <a:ext cx="8939336"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Deze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sng" strike="noStrike" kern="1200" cap="none" spc="0" normalizeH="0" noProof="0" dirty="0" smtClean="0">
                <a:ln>
                  <a:noFill/>
                </a:ln>
                <a:solidFill>
                  <a:schemeClr val="tx1"/>
                </a:solidFill>
                <a:effectLst/>
                <a:uLnTx/>
                <a:uFillTx/>
                <a:latin typeface="+mn-lt"/>
                <a:ea typeface="+mn-ea"/>
                <a:cs typeface="+mn-cs"/>
              </a:rPr>
              <a:t>vijftien</a:t>
            </a:r>
            <a:r>
              <a:rPr kumimoji="0" lang="nl-NL" sz="2000" b="0" i="0" u="none" strike="noStrike" kern="1200" cap="none" spc="0" normalizeH="0" noProof="0" dirty="0" smtClean="0">
                <a:ln>
                  <a:noFill/>
                </a:ln>
                <a:solidFill>
                  <a:schemeClr val="tx1"/>
                </a:solidFill>
                <a:effectLst/>
                <a:uLnTx/>
                <a:uFillTx/>
                <a:latin typeface="+mn-lt"/>
                <a:ea typeface="+mn-ea"/>
                <a:cs typeface="+mn-cs"/>
              </a:rPr>
              <a:t> syllogismen kunnen uit de perfecte syllogismen afgeleid worden</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0" u="none" strike="noStrike" kern="1200" cap="none" spc="0" normalizeH="0" baseline="0" noProof="0" dirty="0" smtClean="0">
                <a:ln>
                  <a:noFill/>
                </a:ln>
                <a:solidFill>
                  <a:schemeClr val="tx1"/>
                </a:solidFill>
                <a:effectLst/>
                <a:uLnTx/>
                <a:uFillTx/>
                <a:latin typeface="+mn-lt"/>
                <a:ea typeface="+mn-ea"/>
                <a:cs typeface="+mn-cs"/>
              </a:rPr>
              <a:t>Tweede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Cesare</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Camestres</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Festino</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Baroco</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solidFill>
                  <a:schemeClr val="tx1"/>
                </a:solidFill>
                <a:effectLst/>
                <a:uLnTx/>
                <a:uFillTx/>
                <a:latin typeface="+mn-lt"/>
                <a:ea typeface="+mn-ea"/>
                <a:cs typeface="+mn-cs"/>
              </a:rPr>
              <a:t>	Derde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Darapti</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Disamis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Datisi</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Felapton</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Bocardo</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Ferison</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solidFill>
                  <a:schemeClr val="tx1"/>
                </a:solidFill>
                <a:effectLst/>
                <a:uLnTx/>
                <a:uFillTx/>
                <a:latin typeface="+mn-lt"/>
                <a:ea typeface="+mn-ea"/>
                <a:cs typeface="+mn-cs"/>
              </a:rPr>
              <a:t>	Vierde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Bramantip</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Camenes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Dimaris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Fesapo</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Fresison</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p>
        </p:txBody>
      </p:sp>
      <p:sp>
        <p:nvSpPr>
          <p:cNvPr id="5" name="Content Placeholder 2"/>
          <p:cNvSpPr txBox="1">
            <a:spLocks/>
          </p:cNvSpPr>
          <p:nvPr/>
        </p:nvSpPr>
        <p:spPr>
          <a:xfrm>
            <a:off x="251520" y="4120480"/>
            <a:ext cx="8939336"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Dit</a:t>
            </a:r>
            <a:r>
              <a:rPr kumimoji="0" lang="nl-NL" sz="2000" b="0" i="0" u="none" strike="noStrike" kern="1200" cap="none" spc="0" normalizeH="0" noProof="0" dirty="0" smtClean="0">
                <a:ln>
                  <a:noFill/>
                </a:ln>
                <a:solidFill>
                  <a:schemeClr val="tx1"/>
                </a:solidFill>
                <a:effectLst/>
                <a:uLnTx/>
                <a:uFillTx/>
                <a:latin typeface="+mn-lt"/>
                <a:ea typeface="+mn-ea"/>
                <a:cs typeface="+mn-cs"/>
              </a:rPr>
              <a:t> levert de volgende </a:t>
            </a:r>
            <a:r>
              <a:rPr kumimoji="0" lang="nl-NL" sz="2000" b="0" i="0" u="sng" strike="noStrike" kern="1200" cap="none" spc="0" normalizeH="0" noProof="0" dirty="0" smtClean="0">
                <a:ln>
                  <a:noFill/>
                </a:ln>
                <a:solidFill>
                  <a:schemeClr val="tx1"/>
                </a:solidFill>
                <a:effectLst/>
                <a:uLnTx/>
                <a:uFillTx/>
                <a:latin typeface="+mn-lt"/>
                <a:ea typeface="+mn-ea"/>
                <a:cs typeface="+mn-cs"/>
              </a:rPr>
              <a:t>negentien</a:t>
            </a:r>
            <a:r>
              <a:rPr kumimoji="0" lang="nl-NL" sz="2000" b="0" i="0" u="none" strike="noStrike" kern="1200" cap="none" spc="0" normalizeH="0" noProof="0" dirty="0" smtClean="0">
                <a:ln>
                  <a:noFill/>
                </a:ln>
                <a:solidFill>
                  <a:schemeClr val="tx1"/>
                </a:solidFill>
                <a:effectLst/>
                <a:uLnTx/>
                <a:uFillTx/>
                <a:latin typeface="+mn-lt"/>
                <a:ea typeface="+mn-ea"/>
                <a:cs typeface="+mn-cs"/>
              </a:rPr>
              <a:t> geldige syllogismen op</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Eerste figuur:</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i="1" dirty="0" smtClean="0"/>
              <a:t>Barbara</a:t>
            </a:r>
            <a:r>
              <a:rPr lang="nl-NL" sz="2000" dirty="0" smtClean="0"/>
              <a:t>, </a:t>
            </a:r>
            <a:r>
              <a:rPr lang="nl-NL" sz="2000" i="1" dirty="0" err="1" smtClean="0"/>
              <a:t>Celar</a:t>
            </a:r>
            <a:r>
              <a:rPr lang="nl-NL" sz="2000" dirty="0" err="1" smtClean="0"/>
              <a:t>e</a:t>
            </a:r>
            <a:r>
              <a:rPr lang="nl-NL" sz="2000" i="1" dirty="0" err="1" smtClean="0"/>
              <a:t>nt</a:t>
            </a:r>
            <a:r>
              <a:rPr lang="nl-NL" sz="2000" dirty="0" smtClean="0"/>
              <a:t>, </a:t>
            </a:r>
            <a:r>
              <a:rPr lang="nl-NL" sz="2000" i="1" dirty="0" err="1" smtClean="0"/>
              <a:t>Darii</a:t>
            </a:r>
            <a:r>
              <a:rPr lang="nl-NL" sz="2000" dirty="0" smtClean="0"/>
              <a:t> en </a:t>
            </a:r>
            <a:r>
              <a:rPr lang="nl-NL" sz="2000" i="1" dirty="0" err="1" smtClean="0"/>
              <a:t>Ferio</a:t>
            </a:r>
            <a:r>
              <a:rPr lang="nl-NL" sz="2000" dirty="0" smtClean="0"/>
              <a:t> </a:t>
            </a:r>
            <a:endParaRPr kumimoji="0" lang="nl-NL" sz="200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kumimoji="0" lang="nl-NL" sz="2000" i="0" u="none" strike="noStrike" kern="1200" cap="none" spc="0" normalizeH="0" baseline="0" noProof="0" dirty="0" smtClean="0">
                <a:ln>
                  <a:noFill/>
                </a:ln>
                <a:effectLst/>
                <a:uLnTx/>
                <a:uFillTx/>
                <a:latin typeface="+mn-lt"/>
                <a:ea typeface="+mn-ea"/>
                <a:cs typeface="+mn-cs"/>
              </a:rPr>
              <a:t>Tweede figuur: </a:t>
            </a:r>
            <a:r>
              <a:rPr kumimoji="0" lang="nl-NL" sz="2000" i="1" u="none" strike="noStrike" kern="1200" cap="none" spc="0" normalizeH="0" baseline="0" noProof="0" dirty="0" err="1" smtClean="0">
                <a:ln>
                  <a:noFill/>
                </a:ln>
                <a:effectLst/>
                <a:uLnTx/>
                <a:uFillTx/>
                <a:latin typeface="+mn-lt"/>
                <a:ea typeface="+mn-ea"/>
                <a:cs typeface="+mn-cs"/>
              </a:rPr>
              <a:t>Cesare</a:t>
            </a:r>
            <a:r>
              <a:rPr kumimoji="0" lang="nl-NL" sz="2000" i="0"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Camestres</a:t>
            </a:r>
            <a:r>
              <a:rPr kumimoji="0" lang="nl-NL" sz="2000" i="0"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Festino</a:t>
            </a:r>
            <a:r>
              <a:rPr kumimoji="0" lang="nl-NL" sz="2000" i="0"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Baroco</a:t>
            </a:r>
            <a:endParaRPr kumimoji="0" lang="nl-NL" sz="20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effectLst/>
                <a:uLnTx/>
                <a:uFillTx/>
                <a:latin typeface="+mn-lt"/>
                <a:ea typeface="+mn-ea"/>
                <a:cs typeface="+mn-cs"/>
              </a:rPr>
              <a:t>	Derde figuur: </a:t>
            </a:r>
            <a:r>
              <a:rPr kumimoji="0" lang="nl-NL" sz="2000" i="1" u="none" strike="noStrike" kern="1200" cap="none" spc="0" normalizeH="0" baseline="0" noProof="0" dirty="0" err="1" smtClean="0">
                <a:ln>
                  <a:noFill/>
                </a:ln>
                <a:effectLst/>
                <a:uLnTx/>
                <a:uFillTx/>
                <a:latin typeface="+mn-lt"/>
                <a:ea typeface="+mn-ea"/>
                <a:cs typeface="+mn-cs"/>
              </a:rPr>
              <a:t>Darapti</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Disamis</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Datisi</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Felapton</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Bocardo</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Ferison</a:t>
            </a:r>
            <a:endParaRPr kumimoji="0" lang="nl-NL" sz="2000" i="1"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effectLst/>
                <a:uLnTx/>
                <a:uFillTx/>
                <a:latin typeface="+mn-lt"/>
                <a:ea typeface="+mn-ea"/>
                <a:cs typeface="+mn-cs"/>
              </a:rPr>
              <a:t>	Vierde figuur:  </a:t>
            </a:r>
            <a:r>
              <a:rPr kumimoji="0" lang="nl-NL" sz="2000" i="1" u="none" strike="noStrike" kern="1200" cap="none" spc="0" normalizeH="0" baseline="0" noProof="0" dirty="0" err="1" smtClean="0">
                <a:ln>
                  <a:noFill/>
                </a:ln>
                <a:effectLst/>
                <a:uLnTx/>
                <a:uFillTx/>
                <a:latin typeface="+mn-lt"/>
                <a:ea typeface="+mn-ea"/>
                <a:cs typeface="+mn-cs"/>
              </a:rPr>
              <a:t>Bramantip</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Camenes</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Dimaris</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Fesapo</a:t>
            </a:r>
            <a:r>
              <a:rPr kumimoji="0" lang="nl-NL" sz="2000" i="0" u="none" strike="noStrike" kern="1200" cap="none" spc="0" normalizeH="0" baseline="0" noProof="0" dirty="0" smtClean="0">
                <a:ln>
                  <a:noFill/>
                </a:ln>
                <a:effectLst/>
                <a:uLnTx/>
                <a:uFillTx/>
                <a:latin typeface="+mn-lt"/>
                <a:ea typeface="+mn-ea"/>
                <a:cs typeface="+mn-cs"/>
              </a:rPr>
              <a:t>,</a:t>
            </a:r>
            <a:r>
              <a:rPr kumimoji="0" lang="nl-NL" sz="2000" i="1" u="none" strike="noStrike" kern="1200" cap="none" spc="0" normalizeH="0" baseline="0" noProof="0" dirty="0" smtClean="0">
                <a:ln>
                  <a:noFill/>
                </a:ln>
                <a:effectLst/>
                <a:uLnTx/>
                <a:uFillTx/>
                <a:latin typeface="+mn-lt"/>
                <a:ea typeface="+mn-ea"/>
                <a:cs typeface="+mn-cs"/>
              </a:rPr>
              <a:t> </a:t>
            </a:r>
            <a:r>
              <a:rPr kumimoji="0" lang="nl-NL" sz="2000" i="1" u="none" strike="noStrike" kern="1200" cap="none" spc="0" normalizeH="0" baseline="0" noProof="0" dirty="0" err="1" smtClean="0">
                <a:ln>
                  <a:noFill/>
                </a:ln>
                <a:effectLst/>
                <a:uLnTx/>
                <a:uFillTx/>
                <a:latin typeface="+mn-lt"/>
                <a:ea typeface="+mn-ea"/>
                <a:cs typeface="+mn-cs"/>
              </a:rPr>
              <a:t>Fresison</a:t>
            </a:r>
            <a:r>
              <a:rPr kumimoji="0" lang="nl-NL" sz="2000" i="1" u="none" strike="noStrike" kern="1200" cap="none" spc="0" normalizeH="0" baseline="0" noProof="0" dirty="0" smtClean="0">
                <a:ln>
                  <a:noFill/>
                </a:ln>
                <a:effectLst/>
                <a:uLnTx/>
                <a:uFillTx/>
                <a:latin typeface="+mn-lt"/>
                <a:ea typeface="+mn-ea"/>
                <a:cs typeface="+mn-cs"/>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fade">
                                      <p:cBhvr>
                                        <p:cTn id="10" dur="2000"/>
                                        <p:tgtEl>
                                          <p:spTgt spid="4">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fade">
                                      <p:cBhvr>
                                        <p:cTn id="13" dur="2000"/>
                                        <p:tgtEl>
                                          <p:spTgt spid="4">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fade">
                                      <p:cBhvr>
                                        <p:cTn id="16" dur="2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animEffect transition="in" filter="fade">
                                      <p:cBhvr>
                                        <p:cTn id="21" dur="2000"/>
                                        <p:tgtEl>
                                          <p:spTgt spid="5">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2000"/>
                                        <p:tgtEl>
                                          <p:spTgt spid="5">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2000"/>
                                        <p:tgtEl>
                                          <p:spTgt spid="5">
                                            <p:txEl>
                                              <p:pRg st="3" end="3"/>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animEffect transition="in" filter="fade">
                                      <p:cBhvr>
                                        <p:cTn id="30" dur="2000"/>
                                        <p:tgtEl>
                                          <p:spTgt spid="5">
                                            <p:txEl>
                                              <p:pRg st="4" end="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animEffect transition="in" filter="fade">
                                      <p:cBhvr>
                                        <p:cTn id="33" dur="2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Alle geldige syllogismen in één overzicht</a:t>
            </a:r>
            <a:endParaRPr lang="nl-NL" sz="3600" dirty="0"/>
          </a:p>
        </p:txBody>
      </p:sp>
      <p:sp>
        <p:nvSpPr>
          <p:cNvPr id="19" name="Content Placeholder 2"/>
          <p:cNvSpPr>
            <a:spLocks noGrp="1"/>
          </p:cNvSpPr>
          <p:nvPr>
            <p:ph idx="1"/>
          </p:nvPr>
        </p:nvSpPr>
        <p:spPr>
          <a:xfrm>
            <a:off x="313184" y="1384177"/>
            <a:ext cx="8939336" cy="532655"/>
          </a:xfrm>
        </p:spPr>
        <p:txBody>
          <a:bodyPr>
            <a:noAutofit/>
          </a:bodyPr>
          <a:lstStyle/>
          <a:p>
            <a:r>
              <a:rPr lang="nl-NL" sz="2000" dirty="0" smtClean="0"/>
              <a:t>De </a:t>
            </a:r>
            <a:r>
              <a:rPr lang="nl-NL" sz="2000" u="sng" dirty="0" smtClean="0"/>
              <a:t>vier</a:t>
            </a:r>
            <a:r>
              <a:rPr lang="nl-NL" sz="2000" dirty="0" smtClean="0"/>
              <a:t> perfecte syllogismen </a:t>
            </a:r>
            <a:r>
              <a:rPr lang="nl-NL" sz="2000" i="1" dirty="0" smtClean="0"/>
              <a:t>Barbara</a:t>
            </a:r>
            <a:r>
              <a:rPr lang="nl-NL" sz="2000" dirty="0" smtClean="0"/>
              <a:t>, </a:t>
            </a:r>
            <a:r>
              <a:rPr lang="nl-NL" sz="2000" i="1" dirty="0" err="1" smtClean="0"/>
              <a:t>Celarent</a:t>
            </a:r>
            <a:r>
              <a:rPr lang="nl-NL" sz="2000" dirty="0" smtClean="0"/>
              <a:t>, </a:t>
            </a:r>
            <a:r>
              <a:rPr lang="nl-NL" sz="2000" i="1" dirty="0" err="1" smtClean="0"/>
              <a:t>Darii</a:t>
            </a:r>
            <a:r>
              <a:rPr lang="nl-NL" sz="2000" dirty="0" smtClean="0"/>
              <a:t> en </a:t>
            </a:r>
            <a:r>
              <a:rPr lang="nl-NL" sz="2000" i="1" dirty="0" err="1" smtClean="0"/>
              <a:t>Ferio</a:t>
            </a:r>
            <a:r>
              <a:rPr lang="nl-NL" sz="2000" dirty="0" smtClean="0"/>
              <a:t> zijn evident geldig</a:t>
            </a:r>
          </a:p>
          <a:p>
            <a:pPr>
              <a:buNone/>
            </a:pPr>
            <a:endParaRPr lang="nl-NL" sz="2000" i="1" dirty="0" smtClean="0"/>
          </a:p>
        </p:txBody>
      </p:sp>
      <p:sp>
        <p:nvSpPr>
          <p:cNvPr id="4" name="Content Placeholder 2"/>
          <p:cNvSpPr txBox="1">
            <a:spLocks/>
          </p:cNvSpPr>
          <p:nvPr/>
        </p:nvSpPr>
        <p:spPr>
          <a:xfrm>
            <a:off x="313184" y="2204864"/>
            <a:ext cx="8939336"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Deze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sng" strike="noStrike" kern="1200" cap="none" spc="0" normalizeH="0" noProof="0" dirty="0" smtClean="0">
                <a:ln>
                  <a:noFill/>
                </a:ln>
                <a:solidFill>
                  <a:schemeClr val="tx1"/>
                </a:solidFill>
                <a:effectLst/>
                <a:uLnTx/>
                <a:uFillTx/>
                <a:latin typeface="+mn-lt"/>
                <a:ea typeface="+mn-ea"/>
                <a:cs typeface="+mn-cs"/>
              </a:rPr>
              <a:t>vijftien</a:t>
            </a:r>
            <a:r>
              <a:rPr kumimoji="0" lang="nl-NL" sz="2000" b="0" i="0" u="none" strike="noStrike" kern="1200" cap="none" spc="0" normalizeH="0" noProof="0" dirty="0" smtClean="0">
                <a:ln>
                  <a:noFill/>
                </a:ln>
                <a:solidFill>
                  <a:schemeClr val="tx1"/>
                </a:solidFill>
                <a:effectLst/>
                <a:uLnTx/>
                <a:uFillTx/>
                <a:latin typeface="+mn-lt"/>
                <a:ea typeface="+mn-ea"/>
                <a:cs typeface="+mn-cs"/>
              </a:rPr>
              <a:t> syllogismen kunnen uit de perfecte syllogismen afgeleid worden</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0" u="none" strike="noStrike" kern="1200" cap="none" spc="0" normalizeH="0" baseline="0" noProof="0" dirty="0" smtClean="0">
                <a:ln>
                  <a:noFill/>
                </a:ln>
                <a:solidFill>
                  <a:schemeClr val="tx1"/>
                </a:solidFill>
                <a:effectLst/>
                <a:uLnTx/>
                <a:uFillTx/>
                <a:latin typeface="+mn-lt"/>
                <a:ea typeface="+mn-ea"/>
                <a:cs typeface="+mn-cs"/>
              </a:rPr>
              <a:t>Tweede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Cesare</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Camestres</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Festino</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Baroco</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solidFill>
                  <a:schemeClr val="tx1"/>
                </a:solidFill>
                <a:effectLst/>
                <a:uLnTx/>
                <a:uFillTx/>
                <a:latin typeface="+mn-lt"/>
                <a:ea typeface="+mn-ea"/>
                <a:cs typeface="+mn-cs"/>
              </a:rPr>
              <a:t>	Derde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Darapti</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Disamis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Datisi</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Felapton</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Bocardo</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Ferison</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solidFill>
                  <a:schemeClr val="tx1"/>
                </a:solidFill>
                <a:effectLst/>
                <a:uLnTx/>
                <a:uFillTx/>
                <a:latin typeface="+mn-lt"/>
                <a:ea typeface="+mn-ea"/>
                <a:cs typeface="+mn-cs"/>
              </a:rPr>
              <a:t>	Vierde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Bramantip</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Camenes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Dimaris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Fesapo</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Fresison</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p>
        </p:txBody>
      </p:sp>
      <p:sp>
        <p:nvSpPr>
          <p:cNvPr id="5" name="Content Placeholder 2"/>
          <p:cNvSpPr txBox="1">
            <a:spLocks/>
          </p:cNvSpPr>
          <p:nvPr/>
        </p:nvSpPr>
        <p:spPr>
          <a:xfrm>
            <a:off x="251520" y="4120480"/>
            <a:ext cx="8939336"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Van deze </a:t>
            </a:r>
            <a:r>
              <a:rPr kumimoji="0" lang="nl-NL" sz="2000" b="0" i="0" u="sng" strike="noStrike" kern="1200" cap="none" spc="0" normalizeH="0" baseline="0" noProof="0" dirty="0" smtClean="0">
                <a:ln>
                  <a:noFill/>
                </a:ln>
                <a:solidFill>
                  <a:schemeClr val="tx1"/>
                </a:solidFill>
                <a:effectLst/>
                <a:uLnTx/>
                <a:uFillTx/>
                <a:latin typeface="+mn-lt"/>
                <a:ea typeface="+mn-ea"/>
                <a:cs typeface="+mn-cs"/>
              </a:rPr>
              <a:t>negentien</a:t>
            </a:r>
            <a:r>
              <a:rPr kumimoji="0" lang="nl-NL" sz="2000" b="0" i="0" u="none" strike="noStrike" kern="1200" cap="none" spc="0" normalizeH="0" noProof="0" dirty="0" smtClean="0">
                <a:ln>
                  <a:noFill/>
                </a:ln>
                <a:solidFill>
                  <a:schemeClr val="tx1"/>
                </a:solidFill>
                <a:effectLst/>
                <a:uLnTx/>
                <a:uFillTx/>
                <a:latin typeface="+mn-lt"/>
                <a:ea typeface="+mn-ea"/>
                <a:cs typeface="+mn-cs"/>
              </a:rPr>
              <a:t> hebben er vijf een universele conclusie (A of E oordeel)</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Eerste figuur:</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i="1" dirty="0" smtClean="0"/>
              <a:t>Barbar</a:t>
            </a:r>
            <a:r>
              <a:rPr lang="nl-NL" sz="2000" b="1" i="1" dirty="0" smtClean="0">
                <a:solidFill>
                  <a:srgbClr val="0070C0"/>
                </a:solidFill>
              </a:rPr>
              <a:t>a</a:t>
            </a:r>
            <a:r>
              <a:rPr lang="nl-NL" sz="2000" dirty="0" smtClean="0"/>
              <a:t>, </a:t>
            </a:r>
            <a:r>
              <a:rPr lang="nl-NL" sz="2000" i="1" dirty="0" err="1" smtClean="0"/>
              <a:t>Celar</a:t>
            </a:r>
            <a:r>
              <a:rPr lang="nl-NL" sz="2000" b="1" dirty="0" err="1" smtClean="0">
                <a:solidFill>
                  <a:srgbClr val="0070C0"/>
                </a:solidFill>
              </a:rPr>
              <a:t>e</a:t>
            </a:r>
            <a:r>
              <a:rPr lang="nl-NL" sz="2000" i="1" dirty="0" err="1" smtClean="0"/>
              <a:t>nt</a:t>
            </a:r>
            <a:r>
              <a:rPr lang="nl-NL" sz="2000" dirty="0" smtClean="0"/>
              <a:t>, </a:t>
            </a:r>
            <a:r>
              <a:rPr lang="nl-NL" sz="2000" i="1" dirty="0" err="1" smtClean="0"/>
              <a:t>Darii</a:t>
            </a:r>
            <a:r>
              <a:rPr lang="nl-NL" sz="2000" dirty="0" smtClean="0"/>
              <a:t> en </a:t>
            </a:r>
            <a:r>
              <a:rPr lang="nl-NL" sz="2000" i="1" dirty="0" err="1" smtClean="0"/>
              <a:t>Ferio</a:t>
            </a: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kumimoji="0" lang="nl-NL" sz="2000" i="0" u="none" strike="noStrike" kern="1200" cap="none" spc="0" normalizeH="0" baseline="0" noProof="0" dirty="0" smtClean="0">
                <a:ln>
                  <a:noFill/>
                </a:ln>
                <a:solidFill>
                  <a:schemeClr val="tx1"/>
                </a:solidFill>
                <a:effectLst/>
                <a:uLnTx/>
                <a:uFillTx/>
                <a:latin typeface="+mn-lt"/>
                <a:ea typeface="+mn-ea"/>
                <a:cs typeface="+mn-cs"/>
              </a:rPr>
              <a:t>Tweede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Cesar</a:t>
            </a:r>
            <a:r>
              <a:rPr kumimoji="0" lang="nl-NL" sz="2000" b="1" i="1" u="none" strike="noStrike" kern="1200" cap="none" spc="0" normalizeH="0" baseline="0" noProof="0" dirty="0" err="1" smtClean="0">
                <a:ln>
                  <a:noFill/>
                </a:ln>
                <a:solidFill>
                  <a:srgbClr val="0070C0"/>
                </a:solidFill>
                <a:effectLst/>
                <a:uLnTx/>
                <a:uFillTx/>
                <a:latin typeface="+mn-lt"/>
                <a:ea typeface="+mn-ea"/>
                <a:cs typeface="+mn-cs"/>
              </a:rPr>
              <a:t>e</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Camestr</a:t>
            </a:r>
            <a:r>
              <a:rPr kumimoji="0" lang="nl-NL" sz="2000" b="1" i="1" u="none" strike="noStrike" kern="1200" cap="none" spc="0" normalizeH="0" baseline="0" noProof="0" dirty="0" err="1" smtClean="0">
                <a:ln>
                  <a:noFill/>
                </a:ln>
                <a:solidFill>
                  <a:srgbClr val="0070C0"/>
                </a:solidFill>
                <a:effectLst/>
                <a:uLnTx/>
                <a:uFillTx/>
                <a:latin typeface="+mn-lt"/>
                <a:ea typeface="+mn-ea"/>
                <a:cs typeface="+mn-cs"/>
              </a:rPr>
              <a:t>e</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s</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Festino</a:t>
            </a:r>
            <a:r>
              <a:rPr kumimoji="0" lang="nl-NL" sz="200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Baroco</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solidFill>
                  <a:schemeClr val="tx1"/>
                </a:solidFill>
                <a:effectLst/>
                <a:uLnTx/>
                <a:uFillTx/>
                <a:latin typeface="+mn-lt"/>
                <a:ea typeface="+mn-ea"/>
                <a:cs typeface="+mn-cs"/>
              </a:rPr>
              <a:t>	Derde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Darapti</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Disamis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Datisi</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Felapton</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Bocardo</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Ferison</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i="0" u="none" strike="noStrike" kern="1200" cap="none" spc="0" normalizeH="0" baseline="0" noProof="0" dirty="0" smtClean="0">
                <a:ln>
                  <a:noFill/>
                </a:ln>
                <a:solidFill>
                  <a:schemeClr val="tx1"/>
                </a:solidFill>
                <a:effectLst/>
                <a:uLnTx/>
                <a:uFillTx/>
                <a:latin typeface="+mn-lt"/>
                <a:ea typeface="+mn-ea"/>
                <a:cs typeface="+mn-cs"/>
              </a:rPr>
              <a:t>	Vierde figuur: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Bramantip</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Camen</a:t>
            </a:r>
            <a:r>
              <a:rPr kumimoji="0" lang="nl-NL" sz="2000" b="1" i="1" u="none" strike="noStrike" kern="1200" cap="none" spc="0" normalizeH="0" baseline="0" noProof="0" dirty="0" err="1" smtClean="0">
                <a:ln>
                  <a:noFill/>
                </a:ln>
                <a:solidFill>
                  <a:srgbClr val="0070C0"/>
                </a:solidFill>
                <a:effectLst/>
                <a:uLnTx/>
                <a:uFillTx/>
                <a:latin typeface="+mn-lt"/>
                <a:ea typeface="+mn-ea"/>
                <a:cs typeface="+mn-cs"/>
              </a:rPr>
              <a:t>e</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Dimaris</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Fesapo</a:t>
            </a:r>
            <a:r>
              <a:rPr kumimoji="0" lang="nl-NL" sz="200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1"/>
                </a:solidFill>
                <a:effectLst/>
                <a:uLnTx/>
                <a:uFillTx/>
                <a:latin typeface="+mn-lt"/>
                <a:ea typeface="+mn-ea"/>
                <a:cs typeface="+mn-cs"/>
              </a:rPr>
              <a:t>Fresison</a:t>
            </a:r>
            <a:r>
              <a:rPr kumimoji="0" lang="nl-NL" sz="2000" i="1" u="none" strike="noStrike" kern="1200" cap="none" spc="0" normalizeH="0" baseline="0" noProof="0" dirty="0" smtClean="0">
                <a:ln>
                  <a:noFill/>
                </a:ln>
                <a:solidFill>
                  <a:schemeClr val="tx1"/>
                </a:solidFill>
                <a:effectLst/>
                <a:uLnTx/>
                <a:uFillTx/>
                <a:latin typeface="+mn-lt"/>
                <a:ea typeface="+mn-ea"/>
                <a:cs typeface="+mn-cs"/>
              </a:rPr>
              <a:t> </a:t>
            </a:r>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Alle geldige syllogismen in één overzicht</a:t>
            </a:r>
            <a:endParaRPr lang="nl-NL" sz="3600" dirty="0"/>
          </a:p>
        </p:txBody>
      </p:sp>
      <p:sp>
        <p:nvSpPr>
          <p:cNvPr id="5" name="Content Placeholder 2"/>
          <p:cNvSpPr txBox="1">
            <a:spLocks/>
          </p:cNvSpPr>
          <p:nvPr/>
        </p:nvSpPr>
        <p:spPr>
          <a:xfrm>
            <a:off x="251520" y="4120480"/>
            <a:ext cx="1872208" cy="22608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i="1" dirty="0" smtClean="0">
                <a:solidFill>
                  <a:schemeClr val="tx2"/>
                </a:solidFill>
              </a:rPr>
              <a:t>Barbara   </a:t>
            </a:r>
            <a:endParaRPr lang="nl-NL" sz="2000" dirty="0" smtClean="0">
              <a:solidFill>
                <a:schemeClr val="tx2"/>
              </a:solidFill>
            </a:endParaRPr>
          </a:p>
          <a:p>
            <a:pPr marL="342900" lvl="0" indent="-342900">
              <a:spcBef>
                <a:spcPct val="20000"/>
              </a:spcBef>
            </a:pPr>
            <a:r>
              <a:rPr lang="nl-NL" sz="2000" i="1" dirty="0" smtClean="0">
                <a:solidFill>
                  <a:schemeClr val="tx2"/>
                </a:solidFill>
              </a:rPr>
              <a:t>      </a:t>
            </a:r>
            <a:r>
              <a:rPr lang="nl-NL" sz="2000" i="1" dirty="0" err="1" smtClean="0">
                <a:solidFill>
                  <a:schemeClr val="tx2"/>
                </a:solidFill>
              </a:rPr>
              <a:t>Celar</a:t>
            </a:r>
            <a:r>
              <a:rPr lang="nl-NL" sz="2000" dirty="0" err="1" smtClean="0">
                <a:solidFill>
                  <a:schemeClr val="tx2"/>
                </a:solidFill>
              </a:rPr>
              <a:t>e</a:t>
            </a:r>
            <a:r>
              <a:rPr lang="nl-NL" sz="2000" i="1" dirty="0" err="1" smtClean="0">
                <a:solidFill>
                  <a:schemeClr val="tx2"/>
                </a:solidFill>
              </a:rPr>
              <a:t>nt</a:t>
            </a:r>
            <a:r>
              <a:rPr lang="nl-NL" sz="2000" dirty="0" smtClean="0">
                <a:solidFill>
                  <a:schemeClr val="tx2"/>
                </a:solidFill>
              </a:rPr>
              <a:t> </a:t>
            </a:r>
          </a:p>
          <a:p>
            <a:pPr marL="342900" lvl="0" indent="-342900">
              <a:spcBef>
                <a:spcPct val="20000"/>
              </a:spcBef>
            </a:pPr>
            <a:r>
              <a:rPr lang="nl-NL" sz="2000" dirty="0" smtClean="0">
                <a:solidFill>
                  <a:schemeClr val="tx2"/>
                </a:solidFill>
              </a:rPr>
              <a:t>      </a:t>
            </a:r>
            <a:r>
              <a:rPr kumimoji="0" lang="nl-NL" sz="2000" i="1" u="none" strike="noStrike" kern="1200" cap="none" spc="0" normalizeH="0" baseline="0" noProof="0" dirty="0" err="1" smtClean="0">
                <a:ln>
                  <a:noFill/>
                </a:ln>
                <a:solidFill>
                  <a:schemeClr val="tx2"/>
                </a:solidFill>
                <a:effectLst/>
                <a:uLnTx/>
                <a:uFillTx/>
                <a:latin typeface="+mn-lt"/>
                <a:ea typeface="+mn-ea"/>
                <a:cs typeface="+mn-cs"/>
              </a:rPr>
              <a:t>Cesare</a:t>
            </a:r>
            <a:endParaRPr lang="nl-NL" sz="2000" dirty="0" smtClean="0">
              <a:solidFill>
                <a:schemeClr val="tx2"/>
              </a:solidFill>
            </a:endParaRPr>
          </a:p>
          <a:p>
            <a:pPr marL="342900" lvl="0" indent="-342900">
              <a:spcBef>
                <a:spcPct val="20000"/>
              </a:spcBef>
            </a:pPr>
            <a:r>
              <a:rPr kumimoji="0" lang="nl-NL" sz="2000" i="1" u="none" strike="noStrike" kern="1200" cap="none" spc="0" normalizeH="0" noProof="0" dirty="0" smtClean="0">
                <a:ln>
                  <a:noFill/>
                </a:ln>
                <a:solidFill>
                  <a:schemeClr val="tx2"/>
                </a:solidFill>
                <a:effectLst/>
                <a:uLnTx/>
                <a:uFillTx/>
                <a:latin typeface="+mn-lt"/>
                <a:ea typeface="+mn-ea"/>
                <a:cs typeface="+mn-cs"/>
              </a:rPr>
              <a:t>      </a:t>
            </a:r>
            <a:r>
              <a:rPr kumimoji="0" lang="nl-NL" sz="2000" i="1" u="none" strike="noStrike" kern="1200" cap="none" spc="0" normalizeH="0" baseline="0" noProof="0" dirty="0" err="1" smtClean="0">
                <a:ln>
                  <a:noFill/>
                </a:ln>
                <a:solidFill>
                  <a:schemeClr val="tx2"/>
                </a:solidFill>
                <a:effectLst/>
                <a:uLnTx/>
                <a:uFillTx/>
                <a:latin typeface="+mn-lt"/>
                <a:ea typeface="+mn-ea"/>
                <a:cs typeface="+mn-cs"/>
              </a:rPr>
              <a:t>Camestres</a:t>
            </a:r>
            <a:r>
              <a:rPr kumimoji="0" lang="nl-NL" sz="2000" i="0" u="none" strike="noStrike" kern="1200" cap="none" spc="0" normalizeH="0" baseline="0" noProof="0" dirty="0" smtClean="0">
                <a:ln>
                  <a:noFill/>
                </a:ln>
                <a:solidFill>
                  <a:schemeClr val="tx2"/>
                </a:solidFill>
                <a:effectLst/>
                <a:uLnTx/>
                <a:uFillTx/>
                <a:latin typeface="+mn-lt"/>
                <a:ea typeface="+mn-ea"/>
                <a:cs typeface="+mn-cs"/>
              </a:rPr>
              <a:t> </a:t>
            </a:r>
          </a:p>
          <a:p>
            <a:pPr marL="342900" lvl="0" indent="-342900">
              <a:spcBef>
                <a:spcPct val="20000"/>
              </a:spcBef>
            </a:pPr>
            <a:r>
              <a:rPr lang="nl-NL" sz="2000" dirty="0" smtClean="0">
                <a:solidFill>
                  <a:schemeClr val="tx2"/>
                </a:solidFill>
              </a:rPr>
              <a:t>      </a:t>
            </a:r>
            <a:r>
              <a:rPr kumimoji="0" lang="nl-NL" sz="2000" i="1" u="none" strike="noStrike" kern="1200" cap="none" spc="0" normalizeH="0" baseline="0" noProof="0" dirty="0" err="1" smtClean="0">
                <a:ln>
                  <a:noFill/>
                </a:ln>
                <a:solidFill>
                  <a:schemeClr val="tx2"/>
                </a:solidFill>
                <a:effectLst/>
                <a:uLnTx/>
                <a:uFillTx/>
                <a:latin typeface="+mn-lt"/>
                <a:ea typeface="+mn-ea"/>
                <a:cs typeface="+mn-cs"/>
              </a:rPr>
              <a:t>Camenes</a:t>
            </a:r>
            <a:endParaRPr kumimoji="0" lang="nl-NL" sz="2000" i="1" u="none" strike="noStrike" kern="1200" cap="none" spc="0" normalizeH="0" baseline="0" noProof="0" dirty="0" smtClean="0">
              <a:ln>
                <a:noFill/>
              </a:ln>
              <a:solidFill>
                <a:schemeClr val="tx2"/>
              </a:solidFill>
              <a:effectLst/>
              <a:uLnTx/>
              <a:uFillTx/>
              <a:latin typeface="+mn-lt"/>
              <a:ea typeface="+mn-ea"/>
              <a:cs typeface="+mn-cs"/>
            </a:endParaRPr>
          </a:p>
        </p:txBody>
      </p:sp>
      <p:sp>
        <p:nvSpPr>
          <p:cNvPr id="7" name="Content Placeholder 2"/>
          <p:cNvSpPr txBox="1">
            <a:spLocks/>
          </p:cNvSpPr>
          <p:nvPr/>
        </p:nvSpPr>
        <p:spPr>
          <a:xfrm>
            <a:off x="1979712" y="4120480"/>
            <a:ext cx="1872208" cy="22608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i="1" dirty="0" smtClean="0">
                <a:solidFill>
                  <a:schemeClr val="tx2"/>
                </a:solidFill>
              </a:rPr>
              <a:t>AAA-1</a:t>
            </a:r>
            <a:endParaRPr lang="nl-NL" sz="2000" dirty="0" smtClean="0">
              <a:solidFill>
                <a:schemeClr val="tx2"/>
              </a:solidFill>
            </a:endParaRPr>
          </a:p>
          <a:p>
            <a:pPr marL="342900" lvl="0" indent="-342900">
              <a:spcBef>
                <a:spcPct val="20000"/>
              </a:spcBef>
            </a:pPr>
            <a:r>
              <a:rPr lang="nl-NL" sz="2000" i="1" dirty="0" smtClean="0">
                <a:solidFill>
                  <a:schemeClr val="tx2"/>
                </a:solidFill>
              </a:rPr>
              <a:t>      EAE-1</a:t>
            </a:r>
            <a:r>
              <a:rPr lang="nl-NL" sz="2000" dirty="0" smtClean="0">
                <a:solidFill>
                  <a:schemeClr val="tx2"/>
                </a:solidFill>
              </a:rPr>
              <a:t> </a:t>
            </a:r>
          </a:p>
          <a:p>
            <a:pPr marL="342900" lvl="0" indent="-342900">
              <a:spcBef>
                <a:spcPct val="20000"/>
              </a:spcBef>
            </a:pPr>
            <a:r>
              <a:rPr lang="nl-NL" sz="2000" dirty="0" smtClean="0">
                <a:solidFill>
                  <a:schemeClr val="tx2"/>
                </a:solidFill>
              </a:rPr>
              <a:t>      </a:t>
            </a:r>
            <a:r>
              <a:rPr kumimoji="0" lang="nl-NL" sz="2000" i="1" u="none" strike="noStrike" kern="1200" cap="none" spc="0" normalizeH="0" baseline="0" noProof="0" dirty="0" smtClean="0">
                <a:ln>
                  <a:noFill/>
                </a:ln>
                <a:solidFill>
                  <a:schemeClr val="tx2"/>
                </a:solidFill>
                <a:effectLst/>
                <a:uLnTx/>
                <a:uFillTx/>
                <a:latin typeface="+mn-lt"/>
                <a:ea typeface="+mn-ea"/>
                <a:cs typeface="+mn-cs"/>
              </a:rPr>
              <a:t>EAE-2</a:t>
            </a:r>
            <a:endParaRPr lang="nl-NL" sz="2000" dirty="0" smtClean="0">
              <a:solidFill>
                <a:schemeClr val="tx2"/>
              </a:solidFill>
            </a:endParaRPr>
          </a:p>
          <a:p>
            <a:pPr marL="342900" lvl="0" indent="-342900">
              <a:spcBef>
                <a:spcPct val="20000"/>
              </a:spcBef>
            </a:pPr>
            <a:r>
              <a:rPr kumimoji="0" lang="nl-NL" sz="2000" i="1" u="none" strike="noStrike" kern="1200" cap="none" spc="0" normalizeH="0" noProof="0" dirty="0" smtClean="0">
                <a:ln>
                  <a:noFill/>
                </a:ln>
                <a:solidFill>
                  <a:schemeClr val="tx2"/>
                </a:solidFill>
                <a:effectLst/>
                <a:uLnTx/>
                <a:uFillTx/>
                <a:latin typeface="+mn-lt"/>
                <a:ea typeface="+mn-ea"/>
                <a:cs typeface="+mn-cs"/>
              </a:rPr>
              <a:t>      </a:t>
            </a:r>
            <a:r>
              <a:rPr kumimoji="0" lang="nl-NL" sz="2000" i="1" u="none" strike="noStrike" kern="1200" cap="none" spc="0" normalizeH="0" baseline="0" noProof="0" dirty="0" smtClean="0">
                <a:ln>
                  <a:noFill/>
                </a:ln>
                <a:solidFill>
                  <a:schemeClr val="tx2"/>
                </a:solidFill>
                <a:effectLst/>
                <a:uLnTx/>
                <a:uFillTx/>
                <a:latin typeface="+mn-lt"/>
                <a:ea typeface="+mn-ea"/>
                <a:cs typeface="+mn-cs"/>
              </a:rPr>
              <a:t>AEE-2</a:t>
            </a:r>
            <a:r>
              <a:rPr kumimoji="0" lang="nl-NL" sz="2000" i="0" u="none" strike="noStrike" kern="1200" cap="none" spc="0" normalizeH="0" baseline="0" noProof="0" dirty="0" smtClean="0">
                <a:ln>
                  <a:noFill/>
                </a:ln>
                <a:solidFill>
                  <a:schemeClr val="tx2"/>
                </a:solidFill>
                <a:effectLst/>
                <a:uLnTx/>
                <a:uFillTx/>
                <a:latin typeface="+mn-lt"/>
                <a:ea typeface="+mn-ea"/>
                <a:cs typeface="+mn-cs"/>
              </a:rPr>
              <a:t> </a:t>
            </a:r>
          </a:p>
          <a:p>
            <a:pPr marL="342900" lvl="0" indent="-342900">
              <a:spcBef>
                <a:spcPct val="20000"/>
              </a:spcBef>
            </a:pPr>
            <a:r>
              <a:rPr lang="nl-NL" sz="2000" dirty="0" smtClean="0">
                <a:solidFill>
                  <a:schemeClr val="tx2"/>
                </a:solidFill>
              </a:rPr>
              <a:t>      </a:t>
            </a:r>
            <a:r>
              <a:rPr lang="nl-NL" sz="2000" i="1" dirty="0" smtClean="0">
                <a:solidFill>
                  <a:schemeClr val="tx2"/>
                </a:solidFill>
              </a:rPr>
              <a:t>AEE-4</a:t>
            </a:r>
            <a:endParaRPr kumimoji="0" lang="nl-NL" sz="2000" i="1" u="none" strike="noStrike" kern="1200" cap="none" spc="0" normalizeH="0" baseline="0" noProof="0" dirty="0" smtClean="0">
              <a:ln>
                <a:noFill/>
              </a:ln>
              <a:solidFill>
                <a:schemeClr val="tx2"/>
              </a:solidFill>
              <a:effectLst/>
              <a:uLnTx/>
              <a:uFillTx/>
              <a:latin typeface="+mn-lt"/>
              <a:ea typeface="+mn-ea"/>
              <a:cs typeface="+mn-cs"/>
            </a:endParaRPr>
          </a:p>
        </p:txBody>
      </p:sp>
      <p:sp>
        <p:nvSpPr>
          <p:cNvPr id="8" name="Content Placeholder 2"/>
          <p:cNvSpPr txBox="1">
            <a:spLocks/>
          </p:cNvSpPr>
          <p:nvPr/>
        </p:nvSpPr>
        <p:spPr>
          <a:xfrm>
            <a:off x="4355976" y="4120480"/>
            <a:ext cx="1872208" cy="22608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i="1" dirty="0" smtClean="0">
                <a:solidFill>
                  <a:schemeClr val="tx2"/>
                </a:solidFill>
              </a:rPr>
              <a:t>AAI-1</a:t>
            </a:r>
            <a:endParaRPr lang="nl-NL" sz="2000" dirty="0" smtClean="0">
              <a:solidFill>
                <a:schemeClr val="tx2"/>
              </a:solidFill>
            </a:endParaRPr>
          </a:p>
          <a:p>
            <a:pPr marL="342900" lvl="0" indent="-342900">
              <a:spcBef>
                <a:spcPct val="20000"/>
              </a:spcBef>
            </a:pPr>
            <a:r>
              <a:rPr lang="nl-NL" sz="2000" i="1" dirty="0" smtClean="0">
                <a:solidFill>
                  <a:schemeClr val="tx2"/>
                </a:solidFill>
              </a:rPr>
              <a:t>      EAO-1</a:t>
            </a:r>
            <a:r>
              <a:rPr lang="nl-NL" sz="2000" dirty="0" smtClean="0">
                <a:solidFill>
                  <a:schemeClr val="tx2"/>
                </a:solidFill>
              </a:rPr>
              <a:t> </a:t>
            </a:r>
          </a:p>
          <a:p>
            <a:pPr marL="342900" lvl="0" indent="-342900">
              <a:spcBef>
                <a:spcPct val="20000"/>
              </a:spcBef>
            </a:pPr>
            <a:r>
              <a:rPr lang="nl-NL" sz="2000" dirty="0" smtClean="0">
                <a:solidFill>
                  <a:schemeClr val="tx2"/>
                </a:solidFill>
              </a:rPr>
              <a:t>      </a:t>
            </a:r>
            <a:r>
              <a:rPr kumimoji="0" lang="nl-NL" sz="2000" i="1" u="none" strike="noStrike" kern="1200" cap="none" spc="0" normalizeH="0" baseline="0" noProof="0" dirty="0" smtClean="0">
                <a:ln>
                  <a:noFill/>
                </a:ln>
                <a:solidFill>
                  <a:schemeClr val="tx2"/>
                </a:solidFill>
                <a:effectLst/>
                <a:uLnTx/>
                <a:uFillTx/>
                <a:latin typeface="+mn-lt"/>
                <a:ea typeface="+mn-ea"/>
                <a:cs typeface="+mn-cs"/>
              </a:rPr>
              <a:t>EAO-2</a:t>
            </a:r>
            <a:endParaRPr lang="nl-NL" sz="2000" dirty="0" smtClean="0">
              <a:solidFill>
                <a:schemeClr val="tx2"/>
              </a:solidFill>
            </a:endParaRPr>
          </a:p>
          <a:p>
            <a:pPr marL="342900" lvl="0" indent="-342900">
              <a:spcBef>
                <a:spcPct val="20000"/>
              </a:spcBef>
            </a:pPr>
            <a:r>
              <a:rPr kumimoji="0" lang="nl-NL" sz="2000" i="1" u="none" strike="noStrike" kern="1200" cap="none" spc="0" normalizeH="0" noProof="0" dirty="0" smtClean="0">
                <a:ln>
                  <a:noFill/>
                </a:ln>
                <a:solidFill>
                  <a:schemeClr val="tx2"/>
                </a:solidFill>
                <a:effectLst/>
                <a:uLnTx/>
                <a:uFillTx/>
                <a:latin typeface="+mn-lt"/>
                <a:ea typeface="+mn-ea"/>
                <a:cs typeface="+mn-cs"/>
              </a:rPr>
              <a:t>      </a:t>
            </a:r>
            <a:r>
              <a:rPr kumimoji="0" lang="nl-NL" sz="2000" i="1" u="none" strike="noStrike" kern="1200" cap="none" spc="0" normalizeH="0" baseline="0" noProof="0" dirty="0" smtClean="0">
                <a:ln>
                  <a:noFill/>
                </a:ln>
                <a:solidFill>
                  <a:schemeClr val="tx2"/>
                </a:solidFill>
                <a:effectLst/>
                <a:uLnTx/>
                <a:uFillTx/>
                <a:latin typeface="+mn-lt"/>
                <a:ea typeface="+mn-ea"/>
                <a:cs typeface="+mn-cs"/>
              </a:rPr>
              <a:t>AEO-2</a:t>
            </a:r>
            <a:r>
              <a:rPr kumimoji="0" lang="nl-NL" sz="2000" i="0" u="none" strike="noStrike" kern="1200" cap="none" spc="0" normalizeH="0" baseline="0" noProof="0" dirty="0" smtClean="0">
                <a:ln>
                  <a:noFill/>
                </a:ln>
                <a:solidFill>
                  <a:schemeClr val="tx2"/>
                </a:solidFill>
                <a:effectLst/>
                <a:uLnTx/>
                <a:uFillTx/>
                <a:latin typeface="+mn-lt"/>
                <a:ea typeface="+mn-ea"/>
                <a:cs typeface="+mn-cs"/>
              </a:rPr>
              <a:t> </a:t>
            </a:r>
          </a:p>
          <a:p>
            <a:pPr marL="342900" lvl="0" indent="-342900">
              <a:spcBef>
                <a:spcPct val="20000"/>
              </a:spcBef>
            </a:pPr>
            <a:r>
              <a:rPr lang="nl-NL" sz="2000" dirty="0" smtClean="0">
                <a:solidFill>
                  <a:schemeClr val="tx2"/>
                </a:solidFill>
              </a:rPr>
              <a:t>      </a:t>
            </a:r>
            <a:r>
              <a:rPr lang="nl-NL" sz="2000" i="1" dirty="0" smtClean="0">
                <a:solidFill>
                  <a:schemeClr val="tx2"/>
                </a:solidFill>
              </a:rPr>
              <a:t>AEO-4</a:t>
            </a:r>
            <a:endParaRPr kumimoji="0" lang="nl-NL" sz="2000" i="1" u="none" strike="noStrike" kern="1200" cap="none" spc="0" normalizeH="0" baseline="0" noProof="0" dirty="0" smtClean="0">
              <a:ln>
                <a:noFill/>
              </a:ln>
              <a:solidFill>
                <a:schemeClr val="tx2"/>
              </a:solidFill>
              <a:effectLst/>
              <a:uLnTx/>
              <a:uFillTx/>
              <a:latin typeface="+mn-lt"/>
              <a:ea typeface="+mn-ea"/>
              <a:cs typeface="+mn-cs"/>
            </a:endParaRPr>
          </a:p>
        </p:txBody>
      </p:sp>
      <p:cxnSp>
        <p:nvCxnSpPr>
          <p:cNvPr id="9" name="Straight Arrow Connector 8"/>
          <p:cNvCxnSpPr/>
          <p:nvPr/>
        </p:nvCxnSpPr>
        <p:spPr>
          <a:xfrm>
            <a:off x="3275856" y="450912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275856" y="486916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275856" y="522920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275856" y="558924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275856" y="5949280"/>
            <a:ext cx="1224136"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644008" y="1628800"/>
            <a:ext cx="3528392" cy="646331"/>
          </a:xfrm>
          <a:prstGeom prst="rect">
            <a:avLst/>
          </a:prstGeom>
          <a:noFill/>
        </p:spPr>
        <p:txBody>
          <a:bodyPr wrap="square" rtlCol="0">
            <a:spAutoFit/>
          </a:bodyPr>
          <a:lstStyle/>
          <a:p>
            <a:r>
              <a:rPr lang="nl-NL" dirty="0" smtClean="0"/>
              <a:t>Het aantal geldige syllogismen komt daarmee op 19 + 5 = 24</a:t>
            </a:r>
            <a:endParaRPr lang="nl-NL" dirty="0"/>
          </a:p>
        </p:txBody>
      </p:sp>
      <p:sp>
        <p:nvSpPr>
          <p:cNvPr id="15" name="TextBox 14"/>
          <p:cNvSpPr txBox="1"/>
          <p:nvPr/>
        </p:nvSpPr>
        <p:spPr>
          <a:xfrm>
            <a:off x="4644008" y="2420888"/>
            <a:ext cx="4104456" cy="1477328"/>
          </a:xfrm>
          <a:prstGeom prst="rect">
            <a:avLst/>
          </a:prstGeom>
          <a:noFill/>
        </p:spPr>
        <p:txBody>
          <a:bodyPr wrap="square" rtlCol="0">
            <a:spAutoFit/>
          </a:bodyPr>
          <a:lstStyle/>
          <a:p>
            <a:r>
              <a:rPr lang="nl-NL" dirty="0" smtClean="0"/>
              <a:t>Van de 256 syllogismen zijn er dus in totaal 24 geldig. En we weten precies welke. Daarmee is de tweede vraag (welke vormen zijn geldig?) eveneens beantwoord.</a:t>
            </a:r>
            <a:endParaRPr lang="nl-NL" dirty="0"/>
          </a:p>
        </p:txBody>
      </p:sp>
      <p:sp>
        <p:nvSpPr>
          <p:cNvPr id="16" name="TextBox 15"/>
          <p:cNvSpPr txBox="1"/>
          <p:nvPr/>
        </p:nvSpPr>
        <p:spPr>
          <a:xfrm>
            <a:off x="6516216" y="4581128"/>
            <a:ext cx="2376264" cy="1200329"/>
          </a:xfrm>
          <a:prstGeom prst="rect">
            <a:avLst/>
          </a:prstGeom>
          <a:noFill/>
        </p:spPr>
        <p:txBody>
          <a:bodyPr wrap="square" rtlCol="0">
            <a:spAutoFit/>
          </a:bodyPr>
          <a:lstStyle/>
          <a:p>
            <a:r>
              <a:rPr lang="nl-NL" dirty="0" smtClean="0"/>
              <a:t>Toepassen van de regel van subalternatie levert dus nog </a:t>
            </a:r>
            <a:r>
              <a:rPr lang="nl-NL" u="sng" dirty="0" smtClean="0"/>
              <a:t>vijf extra</a:t>
            </a:r>
            <a:r>
              <a:rPr lang="nl-NL" dirty="0" smtClean="0"/>
              <a:t> </a:t>
            </a:r>
            <a:r>
              <a:rPr lang="nl-NL" i="1" dirty="0" smtClean="0"/>
              <a:t>subalterne vormen</a:t>
            </a:r>
            <a:r>
              <a:rPr lang="nl-NL" dirty="0" smtClean="0"/>
              <a:t> op</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20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20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fade">
                                      <p:cBhvr>
                                        <p:cTn id="13" dur="2000"/>
                                        <p:tgtEl>
                                          <p:spTgt spid="7">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fade">
                                      <p:cBhvr>
                                        <p:cTn id="16" dur="2000"/>
                                        <p:tgtEl>
                                          <p:spTgt spid="7">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2000"/>
                                        <p:tgtEl>
                                          <p:spTgt spid="7">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20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000"/>
                                        <p:tgtEl>
                                          <p:spTgt spid="9"/>
                                        </p:tgtEl>
                                      </p:cBhvr>
                                    </p:animEffect>
                                  </p:childTnLst>
                                </p:cTn>
                              </p:par>
                              <p:par>
                                <p:cTn id="28" presetID="10"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2000"/>
                                        <p:tgtEl>
                                          <p:spTgt spid="10"/>
                                        </p:tgtEl>
                                      </p:cBhvr>
                                    </p:animEffect>
                                  </p:childTnLst>
                                </p:cTn>
                              </p:par>
                              <p:par>
                                <p:cTn id="31" presetID="10"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2000"/>
                                        <p:tgtEl>
                                          <p:spTgt spid="11"/>
                                        </p:tgtEl>
                                      </p:cBhvr>
                                    </p:animEffect>
                                  </p:childTnLst>
                                </p:cTn>
                              </p:par>
                              <p:par>
                                <p:cTn id="34" presetID="10" presetClass="entr" presetSubtype="0"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2000"/>
                                        <p:tgtEl>
                                          <p:spTgt spid="12"/>
                                        </p:tgtEl>
                                      </p:cBhvr>
                                    </p:animEffect>
                                  </p:childTnLst>
                                </p:cTn>
                              </p:par>
                              <p:par>
                                <p:cTn id="37" presetID="10" presetClass="entr" presetSubtype="0"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20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xEl>
                                              <p:pRg st="0" end="0"/>
                                            </p:txEl>
                                          </p:spTgt>
                                        </p:tgtEl>
                                        <p:attrNameLst>
                                          <p:attrName>style.visibility</p:attrName>
                                        </p:attrNameLst>
                                      </p:cBhvr>
                                      <p:to>
                                        <p:strVal val="visible"/>
                                      </p:to>
                                    </p:set>
                                    <p:animEffect transition="in" filter="fade">
                                      <p:cBhvr>
                                        <p:cTn id="47" dur="2000"/>
                                        <p:tgtEl>
                                          <p:spTgt spid="14">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xEl>
                                              <p:pRg st="0" end="0"/>
                                            </p:txEl>
                                          </p:spTgt>
                                        </p:tgtEl>
                                        <p:attrNameLst>
                                          <p:attrName>style.visibility</p:attrName>
                                        </p:attrNameLst>
                                      </p:cBhvr>
                                      <p:to>
                                        <p:strVal val="visible"/>
                                      </p:to>
                                    </p:set>
                                    <p:animEffect transition="in" filter="fade">
                                      <p:cBhvr>
                                        <p:cTn id="52"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p:bldP spid="14" grpId="0" build="allAtOnce"/>
      <p:bldP spid="15" grpId="0" build="allAtOnce"/>
      <p:bldP spid="16"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384177"/>
            <a:ext cx="8939336" cy="532655"/>
          </a:xfrm>
        </p:spPr>
        <p:txBody>
          <a:bodyPr>
            <a:noAutofit/>
          </a:bodyPr>
          <a:lstStyle/>
          <a:p>
            <a:r>
              <a:rPr lang="nl-NL" sz="2000" dirty="0" smtClean="0"/>
              <a:t>Wat is het meest bekende syllogisme uit de geschiedenis van de wijsbegeerte?</a:t>
            </a:r>
          </a:p>
          <a:p>
            <a:pPr>
              <a:buNone/>
            </a:pPr>
            <a:endParaRPr lang="nl-NL" sz="2000" i="1" dirty="0" smtClean="0"/>
          </a:p>
        </p:txBody>
      </p:sp>
      <p:sp>
        <p:nvSpPr>
          <p:cNvPr id="6" name="Content Placeholder 2"/>
          <p:cNvSpPr txBox="1">
            <a:spLocks/>
          </p:cNvSpPr>
          <p:nvPr/>
        </p:nvSpPr>
        <p:spPr>
          <a:xfrm>
            <a:off x="673224" y="191683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Alle</a:t>
            </a:r>
            <a:r>
              <a:rPr kumimoji="0" lang="nl-NL" sz="2000" b="0" i="1" u="none" strike="noStrike" kern="1200" cap="none" spc="0" normalizeH="0" noProof="0" dirty="0" smtClean="0">
                <a:ln>
                  <a:noFill/>
                </a:ln>
                <a:solidFill>
                  <a:schemeClr val="tx1"/>
                </a:solidFill>
                <a:effectLst/>
                <a:uLnTx/>
                <a:uFillTx/>
                <a:latin typeface="+mn-lt"/>
                <a:ea typeface="+mn-ea"/>
                <a:cs typeface="+mn-cs"/>
              </a:rPr>
              <a:t> mensen zijn sterfelijk</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sterfelijk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335699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Dit syllogisme past echter </a:t>
            </a:r>
            <a:r>
              <a:rPr lang="nl-NL" sz="2000" u="sng" noProof="0" dirty="0" smtClean="0"/>
              <a:t>niet</a:t>
            </a:r>
            <a:r>
              <a:rPr lang="nl-NL" sz="2000" noProof="0" dirty="0" smtClean="0"/>
              <a:t> in het syllogistisch systeem dat we tot dusver besproken hebben! Ze bevat namelijk naast </a:t>
            </a:r>
            <a:r>
              <a:rPr lang="nl-NL" sz="2000" i="1" noProof="0" dirty="0" err="1" smtClean="0"/>
              <a:t>algemen</a:t>
            </a:r>
            <a:r>
              <a:rPr lang="nl-NL" sz="2000" i="1" dirty="0" smtClean="0"/>
              <a:t>e termen</a:t>
            </a:r>
            <a:r>
              <a:rPr lang="nl-NL" sz="2000" dirty="0" smtClean="0"/>
              <a:t> (sterfelijk en   mens) ook een </a:t>
            </a:r>
            <a:r>
              <a:rPr lang="nl-NL" sz="2000" i="1" dirty="0" smtClean="0"/>
              <a:t>individuele term </a:t>
            </a:r>
            <a:r>
              <a:rPr lang="nl-NL" sz="2000" dirty="0" smtClean="0"/>
              <a:t>(</a:t>
            </a:r>
            <a:r>
              <a:rPr lang="nl-NL" sz="2000" dirty="0" err="1" smtClean="0"/>
              <a:t>Socrates</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0" end="0"/>
                                            </p:txEl>
                                          </p:spTgt>
                                        </p:tgtEl>
                                        <p:attrNameLst>
                                          <p:attrName>style.visibility</p:attrName>
                                        </p:attrNameLst>
                                      </p:cBhvr>
                                      <p:to>
                                        <p:strVal val="visible"/>
                                      </p:to>
                                    </p:set>
                                    <p:animEffect transition="in" filter="fade">
                                      <p:cBhvr>
                                        <p:cTn id="18"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384177"/>
            <a:ext cx="8939336" cy="532655"/>
          </a:xfrm>
        </p:spPr>
        <p:txBody>
          <a:bodyPr>
            <a:noAutofit/>
          </a:bodyPr>
          <a:lstStyle/>
          <a:p>
            <a:r>
              <a:rPr lang="nl-NL" sz="2000" dirty="0" smtClean="0"/>
              <a:t>Wat is het meest bekende syllogisme uit de geschiedenis van de wijsbegeerte?</a:t>
            </a:r>
          </a:p>
          <a:p>
            <a:pPr>
              <a:buNone/>
            </a:pPr>
            <a:endParaRPr lang="nl-NL" sz="2000" i="1" dirty="0" smtClean="0"/>
          </a:p>
        </p:txBody>
      </p:sp>
      <p:sp>
        <p:nvSpPr>
          <p:cNvPr id="6" name="Content Placeholder 2"/>
          <p:cNvSpPr txBox="1">
            <a:spLocks/>
          </p:cNvSpPr>
          <p:nvPr/>
        </p:nvSpPr>
        <p:spPr>
          <a:xfrm>
            <a:off x="673224" y="191683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Alle</a:t>
            </a:r>
            <a:r>
              <a:rPr kumimoji="0" lang="nl-NL" sz="2000" b="0" i="1" u="none" strike="noStrike" kern="1200" cap="none" spc="0" normalizeH="0" noProof="0" dirty="0" smtClean="0">
                <a:ln>
                  <a:noFill/>
                </a:ln>
                <a:solidFill>
                  <a:schemeClr val="tx1"/>
                </a:solidFill>
                <a:effectLst/>
                <a:uLnTx/>
                <a:uFillTx/>
                <a:latin typeface="+mn-lt"/>
                <a:ea typeface="+mn-ea"/>
                <a:cs typeface="+mn-cs"/>
              </a:rPr>
              <a:t> mensen zijn sterfelijk</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solidFill>
                  <a:srgbClr val="0070C0"/>
                </a:solidFill>
              </a:rPr>
              <a:t>Socrates</a:t>
            </a:r>
            <a:r>
              <a:rPr lang="nl-NL" sz="2000" i="1" dirty="0" smtClean="0">
                <a:solidFill>
                  <a:srgbClr val="0070C0"/>
                </a:solidFill>
              </a:rPr>
              <a:t> is een 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sterfelijk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335699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Dit syllogisme past echter </a:t>
            </a:r>
            <a:r>
              <a:rPr lang="nl-NL" sz="2000" u="sng" noProof="0" dirty="0" smtClean="0"/>
              <a:t>niet</a:t>
            </a:r>
            <a:r>
              <a:rPr lang="nl-NL" sz="2000" noProof="0" dirty="0" smtClean="0"/>
              <a:t> in het syllogistisch systeem dat we tot dusver besproken hebben! Ze bevat namelijk naast </a:t>
            </a:r>
            <a:r>
              <a:rPr lang="nl-NL" sz="2000" i="1" noProof="0" dirty="0" err="1" smtClean="0"/>
              <a:t>algemen</a:t>
            </a:r>
            <a:r>
              <a:rPr lang="nl-NL" sz="2000" i="1" dirty="0" smtClean="0"/>
              <a:t>e termen</a:t>
            </a:r>
            <a:r>
              <a:rPr lang="nl-NL" sz="2000" dirty="0" smtClean="0"/>
              <a:t> (sterfelijk en   mens) ook een </a:t>
            </a:r>
            <a:r>
              <a:rPr lang="nl-NL" sz="2000" i="1" dirty="0" smtClean="0"/>
              <a:t>individuele term </a:t>
            </a:r>
            <a:r>
              <a:rPr lang="nl-NL" sz="2000" dirty="0" smtClean="0"/>
              <a:t>(</a:t>
            </a:r>
            <a:r>
              <a:rPr lang="nl-NL" sz="2000" dirty="0" err="1" smtClean="0"/>
              <a:t>Socrates</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13184" y="4509120"/>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Kunnen proposities met een individuele term als subject (</a:t>
            </a:r>
            <a:r>
              <a:rPr lang="nl-NL" sz="2000" i="1" noProof="0" dirty="0" smtClean="0"/>
              <a:t>singuliere proposities</a:t>
            </a:r>
            <a:r>
              <a:rPr lang="nl-NL" sz="2000" noProof="0" dirty="0" smtClean="0"/>
              <a:t>) niet toch op de één of andere manier in het systeem meegenomen worden?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25152" y="5416624"/>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a:t>
            </a:r>
            <a:r>
              <a:rPr lang="nl-NL" sz="2000" dirty="0" smtClean="0">
                <a:solidFill>
                  <a:srgbClr val="0070C0"/>
                </a:solidFill>
              </a:rPr>
              <a:t>Iedereen</a:t>
            </a:r>
            <a:r>
              <a:rPr lang="nl-NL" sz="2000" noProof="0" dirty="0" smtClean="0">
                <a:solidFill>
                  <a:srgbClr val="0070C0"/>
                </a:solidFill>
              </a:rPr>
              <a:t> die </a:t>
            </a:r>
            <a:r>
              <a:rPr lang="nl-NL" sz="2000" noProof="0" dirty="0" err="1" smtClean="0">
                <a:solidFill>
                  <a:srgbClr val="0070C0"/>
                </a:solidFill>
              </a:rPr>
              <a:t>Socrates</a:t>
            </a:r>
            <a:r>
              <a:rPr lang="nl-NL" sz="2000" noProof="0" dirty="0" smtClean="0">
                <a:solidFill>
                  <a:srgbClr val="0070C0"/>
                </a:solidFill>
              </a:rPr>
              <a:t> is, is sterfelijk</a:t>
            </a:r>
            <a:r>
              <a:rPr lang="nl-NL" sz="2000" noProof="0" dirty="0" smtClean="0"/>
              <a:t> (in dat geval krijgen we AAA-1 oordeel)</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179512" y="5877272"/>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kumimoji="0" lang="nl-NL" sz="2000" b="0" i="0" u="none" strike="noStrike" kern="1200" cap="none" spc="0" normalizeH="0" baseline="0" dirty="0" smtClean="0">
                <a:ln>
                  <a:noFill/>
                </a:ln>
                <a:solidFill>
                  <a:srgbClr val="0070C0"/>
                </a:solidFill>
                <a:effectLst/>
                <a:uLnTx/>
                <a:uFillTx/>
                <a:latin typeface="+mn-lt"/>
                <a:ea typeface="+mn-ea"/>
                <a:cs typeface="+mn-cs"/>
              </a:rPr>
              <a:t>Sommigen die </a:t>
            </a:r>
            <a:r>
              <a:rPr kumimoji="0" lang="nl-NL" sz="2000" b="0" i="0" u="none" strike="noStrike" kern="1200" cap="none" spc="0" normalizeH="0" baseline="0" dirty="0" err="1" smtClean="0">
                <a:ln>
                  <a:noFill/>
                </a:ln>
                <a:solidFill>
                  <a:srgbClr val="0070C0"/>
                </a:solidFill>
                <a:effectLst/>
                <a:uLnTx/>
                <a:uFillTx/>
                <a:latin typeface="+mn-lt"/>
                <a:ea typeface="+mn-ea"/>
                <a:cs typeface="+mn-cs"/>
              </a:rPr>
              <a:t>Socrates</a:t>
            </a:r>
            <a:r>
              <a:rPr kumimoji="0" lang="nl-NL" sz="2000" b="0" i="0" u="none" strike="noStrike" kern="1200" cap="none" spc="0" normalizeH="0" baseline="0" dirty="0" smtClean="0">
                <a:ln>
                  <a:noFill/>
                </a:ln>
                <a:solidFill>
                  <a:srgbClr val="0070C0"/>
                </a:solidFill>
                <a:effectLst/>
                <a:uLnTx/>
                <a:uFillTx/>
                <a:latin typeface="+mn-lt"/>
                <a:ea typeface="+mn-ea"/>
                <a:cs typeface="+mn-cs"/>
              </a:rPr>
              <a:t> zijn,</a:t>
            </a:r>
            <a:r>
              <a:rPr kumimoji="0" lang="nl-NL" sz="2000" b="0" i="0" u="none" strike="noStrike" kern="1200" cap="none" spc="0" normalizeH="0" dirty="0" smtClean="0">
                <a:ln>
                  <a:noFill/>
                </a:ln>
                <a:solidFill>
                  <a:srgbClr val="0070C0"/>
                </a:solidFill>
                <a:effectLst/>
                <a:uLnTx/>
                <a:uFillTx/>
                <a:latin typeface="+mn-lt"/>
                <a:ea typeface="+mn-ea"/>
                <a:cs typeface="+mn-cs"/>
              </a:rPr>
              <a:t> zijn sterfelijk</a:t>
            </a:r>
            <a:r>
              <a:rPr kumimoji="0" lang="nl-NL" sz="2000" b="0" i="0" u="none" strike="noStrike" kern="1200" cap="none" spc="0" normalizeH="0" dirty="0" smtClean="0">
                <a:ln>
                  <a:noFill/>
                </a:ln>
                <a:solidFill>
                  <a:schemeClr val="tx1"/>
                </a:solidFill>
                <a:effectLst/>
                <a:uLnTx/>
                <a:uFillTx/>
                <a:latin typeface="+mn-lt"/>
                <a:ea typeface="+mn-ea"/>
                <a:cs typeface="+mn-cs"/>
              </a:rPr>
              <a:t> (in dat geval krijgen we AII-1 oordeel)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1" end="1"/>
                                            </p:txEl>
                                          </p:spTgt>
                                        </p:tgtEl>
                                        <p:attrNameLst>
                                          <p:attrName>style.visibility</p:attrName>
                                        </p:attrNameLst>
                                      </p:cBhvr>
                                      <p:to>
                                        <p:strVal val="visible"/>
                                      </p:to>
                                    </p:set>
                                    <p:animEffect transition="in" filter="fade">
                                      <p:cBhvr>
                                        <p:cTn id="10" dur="2000"/>
                                        <p:tgtEl>
                                          <p:spTgt spid="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0" grpId="0" build="allAtOnce"/>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384177"/>
            <a:ext cx="8939336" cy="532655"/>
          </a:xfrm>
        </p:spPr>
        <p:txBody>
          <a:bodyPr>
            <a:noAutofit/>
          </a:bodyPr>
          <a:lstStyle/>
          <a:p>
            <a:r>
              <a:rPr lang="nl-NL" sz="2000" dirty="0" smtClean="0"/>
              <a:t>Wat is het meest bekende syllogisme uit de geschiedenis van de wijsbegeerte?</a:t>
            </a:r>
          </a:p>
          <a:p>
            <a:pPr>
              <a:buNone/>
            </a:pPr>
            <a:endParaRPr lang="nl-NL" sz="2000" i="1" dirty="0" smtClean="0"/>
          </a:p>
        </p:txBody>
      </p:sp>
      <p:sp>
        <p:nvSpPr>
          <p:cNvPr id="6" name="Content Placeholder 2"/>
          <p:cNvSpPr txBox="1">
            <a:spLocks/>
          </p:cNvSpPr>
          <p:nvPr/>
        </p:nvSpPr>
        <p:spPr>
          <a:xfrm>
            <a:off x="673224" y="191683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Alle</a:t>
            </a:r>
            <a:r>
              <a:rPr kumimoji="0" lang="nl-NL" sz="2000" b="0" i="1" u="none" strike="noStrike" kern="1200" cap="none" spc="0" normalizeH="0" noProof="0" dirty="0" smtClean="0">
                <a:ln>
                  <a:noFill/>
                </a:ln>
                <a:solidFill>
                  <a:schemeClr val="tx1"/>
                </a:solidFill>
                <a:effectLst/>
                <a:uLnTx/>
                <a:uFillTx/>
                <a:latin typeface="+mn-lt"/>
                <a:ea typeface="+mn-ea"/>
                <a:cs typeface="+mn-cs"/>
              </a:rPr>
              <a:t> mensen zijn sterfelijk</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sterfelijk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23528" y="335699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Dit syllogisme past echter </a:t>
            </a:r>
            <a:r>
              <a:rPr lang="nl-NL" sz="2000" u="sng" noProof="0" dirty="0" smtClean="0"/>
              <a:t>niet</a:t>
            </a:r>
            <a:r>
              <a:rPr lang="nl-NL" sz="2000" noProof="0" dirty="0" smtClean="0"/>
              <a:t> in het syllogistisch systeem dat we tot dusver besproken hebben! Ze bevat namelijk naast </a:t>
            </a:r>
            <a:r>
              <a:rPr lang="nl-NL" sz="2000" i="1" noProof="0" dirty="0" err="1" smtClean="0"/>
              <a:t>algemen</a:t>
            </a:r>
            <a:r>
              <a:rPr lang="nl-NL" sz="2000" i="1" dirty="0" smtClean="0"/>
              <a:t>e termen</a:t>
            </a:r>
            <a:r>
              <a:rPr lang="nl-NL" sz="2000" dirty="0" smtClean="0"/>
              <a:t> (sterfelijk en   mens) ook een </a:t>
            </a:r>
            <a:r>
              <a:rPr lang="nl-NL" sz="2000" i="1" dirty="0" smtClean="0"/>
              <a:t>individuele term </a:t>
            </a:r>
            <a:r>
              <a:rPr lang="nl-NL" sz="2000" dirty="0" smtClean="0"/>
              <a:t>(</a:t>
            </a:r>
            <a:r>
              <a:rPr lang="nl-NL" sz="2000" dirty="0" err="1" smtClean="0"/>
              <a:t>Socrates</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13184" y="4509120"/>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Kunnen proposities met een individuele term als subject (</a:t>
            </a:r>
            <a:r>
              <a:rPr lang="nl-NL" sz="2000" i="1" noProof="0" dirty="0" smtClean="0"/>
              <a:t>singuliere proposities</a:t>
            </a:r>
            <a:r>
              <a:rPr lang="nl-NL" sz="2000" noProof="0" dirty="0" smtClean="0"/>
              <a:t>) niet toch op de één of andere manier in het systeem meegenomen worden?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25152" y="5416624"/>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a:t>
            </a:r>
            <a:r>
              <a:rPr lang="nl-NL" sz="2000" b="1" dirty="0" smtClean="0">
                <a:solidFill>
                  <a:srgbClr val="0070C0"/>
                </a:solidFill>
              </a:rPr>
              <a:t>Iedereen</a:t>
            </a:r>
            <a:r>
              <a:rPr lang="nl-NL" sz="2000" b="1" noProof="0" dirty="0" smtClean="0">
                <a:solidFill>
                  <a:srgbClr val="0070C0"/>
                </a:solidFill>
              </a:rPr>
              <a:t> die </a:t>
            </a:r>
            <a:r>
              <a:rPr lang="nl-NL" sz="2000" b="1" noProof="0" dirty="0" err="1" smtClean="0">
                <a:solidFill>
                  <a:srgbClr val="0070C0"/>
                </a:solidFill>
              </a:rPr>
              <a:t>Socrates</a:t>
            </a:r>
            <a:r>
              <a:rPr lang="nl-NL" sz="2000" b="1" noProof="0" dirty="0" smtClean="0">
                <a:solidFill>
                  <a:srgbClr val="0070C0"/>
                </a:solidFill>
              </a:rPr>
              <a:t> is, is sterfelijk</a:t>
            </a:r>
            <a:r>
              <a:rPr lang="nl-NL" sz="2000" noProof="0" dirty="0" smtClean="0"/>
              <a:t> (in dat geval krijgen we </a:t>
            </a:r>
            <a:r>
              <a:rPr lang="nl-NL" sz="2000" b="1" noProof="0" dirty="0" smtClean="0"/>
              <a:t>AAA-1 </a:t>
            </a:r>
            <a:r>
              <a:rPr lang="nl-NL" sz="2000" noProof="0" dirty="0" smtClean="0"/>
              <a:t>oordeel)</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179512" y="5877272"/>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kumimoji="0" lang="nl-NL" sz="2000" b="0" i="0" u="none" strike="noStrike" kern="1200" cap="none" spc="0" normalizeH="0" baseline="0" dirty="0" smtClean="0">
                <a:ln>
                  <a:noFill/>
                </a:ln>
                <a:solidFill>
                  <a:srgbClr val="0070C0"/>
                </a:solidFill>
                <a:effectLst/>
                <a:uLnTx/>
                <a:uFillTx/>
                <a:latin typeface="+mn-lt"/>
                <a:ea typeface="+mn-ea"/>
                <a:cs typeface="+mn-cs"/>
              </a:rPr>
              <a:t>Sommigen die </a:t>
            </a:r>
            <a:r>
              <a:rPr kumimoji="0" lang="nl-NL" sz="2000" b="0" i="0" u="none" strike="noStrike" kern="1200" cap="none" spc="0" normalizeH="0" baseline="0" dirty="0" err="1" smtClean="0">
                <a:ln>
                  <a:noFill/>
                </a:ln>
                <a:solidFill>
                  <a:srgbClr val="0070C0"/>
                </a:solidFill>
                <a:effectLst/>
                <a:uLnTx/>
                <a:uFillTx/>
                <a:latin typeface="+mn-lt"/>
                <a:ea typeface="+mn-ea"/>
                <a:cs typeface="+mn-cs"/>
              </a:rPr>
              <a:t>Socrates</a:t>
            </a:r>
            <a:r>
              <a:rPr kumimoji="0" lang="nl-NL" sz="2000" b="0" i="0" u="none" strike="noStrike" kern="1200" cap="none" spc="0" normalizeH="0" baseline="0" dirty="0" smtClean="0">
                <a:ln>
                  <a:noFill/>
                </a:ln>
                <a:solidFill>
                  <a:srgbClr val="0070C0"/>
                </a:solidFill>
                <a:effectLst/>
                <a:uLnTx/>
                <a:uFillTx/>
                <a:latin typeface="+mn-lt"/>
                <a:ea typeface="+mn-ea"/>
                <a:cs typeface="+mn-cs"/>
              </a:rPr>
              <a:t> zijn,</a:t>
            </a:r>
            <a:r>
              <a:rPr kumimoji="0" lang="nl-NL" sz="2000" b="0" i="0" u="none" strike="noStrike" kern="1200" cap="none" spc="0" normalizeH="0" dirty="0" smtClean="0">
                <a:ln>
                  <a:noFill/>
                </a:ln>
                <a:solidFill>
                  <a:srgbClr val="0070C0"/>
                </a:solidFill>
                <a:effectLst/>
                <a:uLnTx/>
                <a:uFillTx/>
                <a:latin typeface="+mn-lt"/>
                <a:ea typeface="+mn-ea"/>
                <a:cs typeface="+mn-cs"/>
              </a:rPr>
              <a:t> zijn sterfelijk</a:t>
            </a:r>
            <a:r>
              <a:rPr kumimoji="0" lang="nl-NL" sz="2000" b="0" i="0" u="none" strike="noStrike" kern="1200" cap="none" spc="0" normalizeH="0" dirty="0" smtClean="0">
                <a:ln>
                  <a:noFill/>
                </a:ln>
                <a:solidFill>
                  <a:schemeClr val="tx1"/>
                </a:solidFill>
                <a:effectLst/>
                <a:uLnTx/>
                <a:uFillTx/>
                <a:latin typeface="+mn-lt"/>
                <a:ea typeface="+mn-ea"/>
                <a:cs typeface="+mn-cs"/>
              </a:rPr>
              <a:t> (in dat geval krijgen we AII-1 oordeel)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268760"/>
            <a:ext cx="8939336" cy="532655"/>
          </a:xfrm>
        </p:spPr>
        <p:txBody>
          <a:bodyPr>
            <a:noAutofit/>
          </a:bodyPr>
          <a:lstStyle/>
          <a:p>
            <a:r>
              <a:rPr lang="nl-NL" sz="2000" dirty="0" smtClean="0"/>
              <a:t>Men vat singuliere proposities dus meestal op als </a:t>
            </a:r>
            <a:r>
              <a:rPr lang="nl-NL" sz="2000" dirty="0" err="1" smtClean="0"/>
              <a:t>A-oordelen</a:t>
            </a:r>
            <a:r>
              <a:rPr lang="nl-NL" sz="2000" dirty="0" smtClean="0"/>
              <a:t> en niet als                         </a:t>
            </a:r>
            <a:r>
              <a:rPr lang="nl-NL" sz="2000" dirty="0" err="1" smtClean="0"/>
              <a:t>I-oordelen</a:t>
            </a:r>
            <a:r>
              <a:rPr lang="nl-NL" sz="2000" dirty="0" smtClean="0"/>
              <a:t>. Maar waarom?</a:t>
            </a:r>
          </a:p>
          <a:p>
            <a:pPr>
              <a:buNone/>
            </a:pPr>
            <a:endParaRPr lang="nl-NL" sz="2000" i="1" dirty="0" smtClean="0"/>
          </a:p>
        </p:txBody>
      </p:sp>
      <p:sp>
        <p:nvSpPr>
          <p:cNvPr id="7" name="Content Placeholder 2"/>
          <p:cNvSpPr txBox="1">
            <a:spLocks/>
          </p:cNvSpPr>
          <p:nvPr/>
        </p:nvSpPr>
        <p:spPr>
          <a:xfrm>
            <a:off x="323528" y="2032249"/>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Ten eerste zijn singuliere proposities over het algemeen niet converteerbaar.                   Uit “</a:t>
            </a:r>
            <a:r>
              <a:rPr lang="nl-NL" sz="2000" dirty="0" err="1" smtClean="0"/>
              <a:t>Socrates</a:t>
            </a:r>
            <a:r>
              <a:rPr lang="nl-NL" sz="2000" dirty="0" smtClean="0"/>
              <a:t> is sterfelijk” volgt niet “Sterfelijk is </a:t>
            </a:r>
            <a:r>
              <a:rPr lang="nl-NL" sz="2000" dirty="0" err="1" smtClean="0"/>
              <a:t>Socrates</a:t>
            </a:r>
            <a:r>
              <a:rPr lang="nl-NL" sz="2000" dirty="0" smtClean="0"/>
              <a:t>”. Nu zijn </a:t>
            </a:r>
            <a:r>
              <a:rPr lang="nl-NL" sz="2000" dirty="0" err="1" smtClean="0"/>
              <a:t>I-oordelen</a:t>
            </a:r>
            <a:r>
              <a:rPr lang="nl-NL" sz="2000" dirty="0" smtClean="0"/>
              <a:t>              wel en </a:t>
            </a:r>
            <a:r>
              <a:rPr lang="nl-NL" sz="2000" dirty="0" err="1" smtClean="0"/>
              <a:t>A-oordelen</a:t>
            </a:r>
            <a:r>
              <a:rPr lang="nl-NL" sz="2000" dirty="0" smtClean="0"/>
              <a:t> niet convertibel. Dus </a:t>
            </a:r>
            <a:r>
              <a:rPr lang="nl-NL" sz="2000" dirty="0" err="1" smtClean="0"/>
              <a:t>A-oordeel</a:t>
            </a:r>
            <a:r>
              <a:rPr lang="nl-NL" sz="2000" dirty="0" smtClean="0"/>
              <a:t> past beter.</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13184" y="2996952"/>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Ten tweede willen we dat </a:t>
            </a:r>
            <a:r>
              <a:rPr lang="nl-NL" sz="2000" i="1" dirty="0" err="1" smtClean="0"/>
              <a:t>expositorische</a:t>
            </a:r>
            <a:r>
              <a:rPr lang="nl-NL" sz="2000" i="1" dirty="0" smtClean="0"/>
              <a:t> syllogismen </a:t>
            </a:r>
            <a:r>
              <a:rPr lang="nl-NL" sz="2000" dirty="0" smtClean="0"/>
              <a:t>geldig zijn. Dit zijn syllogismen met een individuele term als middenterm die twee keer als               subject optreedt.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611560" y="4048473"/>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dronk</a:t>
            </a:r>
            <a:r>
              <a:rPr kumimoji="0" lang="nl-NL" sz="2000" b="0" i="1" u="none" strike="noStrike" kern="1200" cap="none" spc="0" normalizeH="0" noProof="0" dirty="0" smtClean="0">
                <a:ln>
                  <a:noFill/>
                </a:ln>
                <a:solidFill>
                  <a:schemeClr val="tx1"/>
                </a:solidFill>
                <a:effectLst/>
                <a:uLnTx/>
                <a:uFillTx/>
                <a:latin typeface="+mn-lt"/>
                <a:ea typeface="+mn-ea"/>
                <a:cs typeface="+mn-cs"/>
              </a:rPr>
              <a:t> de </a:t>
            </a:r>
            <a:r>
              <a:rPr lang="nl-NL" sz="2000" i="1" dirty="0" smtClean="0"/>
              <a:t>gifbeker</a:t>
            </a:r>
            <a:endParaRPr kumimoji="0" lang="nl-NL" sz="2000" b="0" i="1" u="none" strike="noStrike" kern="1200" cap="none" spc="0" normalizeH="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filosoof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Er is een filosoof die de gifbeker dronk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13184" y="5229200"/>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a:t>
            </a:r>
            <a:r>
              <a:rPr kumimoji="0" lang="nl-NL" sz="2000" b="0" i="0" u="none" strike="noStrike" kern="1200" cap="none" spc="0" normalizeH="0" noProof="0" dirty="0" smtClean="0">
                <a:ln>
                  <a:noFill/>
                </a:ln>
                <a:solidFill>
                  <a:schemeClr val="tx1"/>
                </a:solidFill>
                <a:effectLst/>
                <a:uLnTx/>
                <a:uFillTx/>
                <a:latin typeface="+mn-lt"/>
                <a:ea typeface="+mn-ea"/>
                <a:cs typeface="+mn-cs"/>
              </a:rPr>
              <a:t> we singuliere proposities als </a:t>
            </a:r>
            <a:r>
              <a:rPr kumimoji="0" lang="nl-NL" sz="2000" b="0" i="0" u="none" strike="noStrike" kern="1200" cap="none" spc="0" normalizeH="0" noProof="0" dirty="0" err="1" smtClean="0">
                <a:ln>
                  <a:noFill/>
                </a:ln>
                <a:solidFill>
                  <a:schemeClr val="tx1"/>
                </a:solidFill>
                <a:effectLst/>
                <a:uLnTx/>
                <a:uFillTx/>
                <a:latin typeface="+mn-lt"/>
                <a:ea typeface="+mn-ea"/>
                <a:cs typeface="+mn-cs"/>
              </a:rPr>
              <a:t>I-oordelen</a:t>
            </a:r>
            <a:r>
              <a:rPr kumimoji="0" lang="nl-NL" sz="2000" b="0" i="0" u="none" strike="noStrike" kern="1200" cap="none" spc="0" normalizeH="0" noProof="0" dirty="0" smtClean="0">
                <a:ln>
                  <a:noFill/>
                </a:ln>
                <a:solidFill>
                  <a:schemeClr val="tx1"/>
                </a:solidFill>
                <a:effectLst/>
                <a:uLnTx/>
                <a:uFillTx/>
                <a:latin typeface="+mn-lt"/>
                <a:ea typeface="+mn-ea"/>
                <a:cs typeface="+mn-cs"/>
              </a:rPr>
              <a:t> zien, dan krijgen we vorm III-3. Deze redeneervorm is echter ongeldig.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313184" y="5949280"/>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a:t>
            </a:r>
            <a:r>
              <a:rPr kumimoji="0" lang="nl-NL" sz="2000" b="0" i="0" u="none" strike="noStrike" kern="1200" cap="none" spc="0" normalizeH="0" noProof="0" dirty="0" smtClean="0">
                <a:ln>
                  <a:noFill/>
                </a:ln>
                <a:solidFill>
                  <a:schemeClr val="tx1"/>
                </a:solidFill>
                <a:effectLst/>
                <a:uLnTx/>
                <a:uFillTx/>
                <a:latin typeface="+mn-lt"/>
                <a:ea typeface="+mn-ea"/>
                <a:cs typeface="+mn-cs"/>
              </a:rPr>
              <a:t> we singuliere proposities als </a:t>
            </a:r>
            <a:r>
              <a:rPr lang="nl-NL" sz="2000" dirty="0" err="1" smtClean="0"/>
              <a:t>A</a:t>
            </a:r>
            <a:r>
              <a:rPr kumimoji="0" lang="nl-NL" sz="2000" b="0" i="0" u="none" strike="noStrike" kern="1200" cap="none" spc="0" normalizeH="0" noProof="0" dirty="0" smtClean="0">
                <a:ln>
                  <a:noFill/>
                </a:ln>
                <a:solidFill>
                  <a:schemeClr val="tx1"/>
                </a:solidFill>
                <a:effectLst/>
                <a:uLnTx/>
                <a:uFillTx/>
                <a:latin typeface="+mn-lt"/>
                <a:ea typeface="+mn-ea"/>
                <a:cs typeface="+mn-cs"/>
              </a:rPr>
              <a:t>-oordelen zien, dan krijgen we vorm AAI-3. Deze redeneervorm is geldig, namelijk ‘</a:t>
            </a:r>
            <a:r>
              <a:rPr kumimoji="0" lang="nl-NL" sz="2000" b="0" i="0" u="none" strike="noStrike" kern="1200" cap="none" spc="0" normalizeH="0" noProof="0" dirty="0" err="1" smtClean="0">
                <a:ln>
                  <a:noFill/>
                </a:ln>
                <a:solidFill>
                  <a:schemeClr val="tx1"/>
                </a:solidFill>
                <a:effectLst/>
                <a:uLnTx/>
                <a:uFillTx/>
                <a:latin typeface="+mn-lt"/>
                <a:ea typeface="+mn-ea"/>
                <a:cs typeface="+mn-cs"/>
              </a:rPr>
              <a:t>D</a:t>
            </a:r>
            <a:r>
              <a:rPr kumimoji="0" lang="nl-NL" sz="2000" b="1" i="0" u="none" strike="noStrike" kern="1200" cap="none" spc="0" normalizeH="0" noProof="0" dirty="0" err="1" smtClean="0">
                <a:ln>
                  <a:noFill/>
                </a:ln>
                <a:solidFill>
                  <a:schemeClr val="tx1"/>
                </a:solidFill>
                <a:effectLst/>
                <a:uLnTx/>
                <a:uFillTx/>
                <a:latin typeface="+mn-lt"/>
                <a:ea typeface="+mn-ea"/>
                <a:cs typeface="+mn-cs"/>
              </a:rPr>
              <a:t>a</a:t>
            </a:r>
            <a:r>
              <a:rPr kumimoji="0" lang="nl-NL" sz="2000" b="0" i="0" u="none" strike="noStrike" kern="1200" cap="none" spc="0" normalizeH="0" noProof="0" dirty="0" err="1" smtClean="0">
                <a:ln>
                  <a:noFill/>
                </a:ln>
                <a:solidFill>
                  <a:schemeClr val="tx1"/>
                </a:solidFill>
                <a:effectLst/>
                <a:uLnTx/>
                <a:uFillTx/>
                <a:latin typeface="+mn-lt"/>
                <a:ea typeface="+mn-ea"/>
                <a:cs typeface="+mn-cs"/>
              </a:rPr>
              <a:t>r</a:t>
            </a:r>
            <a:r>
              <a:rPr kumimoji="0" lang="nl-NL" sz="2000" b="1" i="0" u="none" strike="noStrike" kern="1200" cap="none" spc="0" normalizeH="0" noProof="0" dirty="0" err="1" smtClean="0">
                <a:ln>
                  <a:noFill/>
                </a:ln>
                <a:solidFill>
                  <a:schemeClr val="tx1"/>
                </a:solidFill>
                <a:effectLst/>
                <a:uLnTx/>
                <a:uFillTx/>
                <a:latin typeface="+mn-lt"/>
                <a:ea typeface="+mn-ea"/>
                <a:cs typeface="+mn-cs"/>
              </a:rPr>
              <a:t>a</a:t>
            </a:r>
            <a:r>
              <a:rPr kumimoji="0" lang="nl-NL" sz="2000" b="0" i="0" u="none" strike="noStrike" kern="1200" cap="none" spc="0" normalizeH="0" noProof="0" dirty="0" err="1" smtClean="0">
                <a:ln>
                  <a:noFill/>
                </a:ln>
                <a:solidFill>
                  <a:schemeClr val="tx1"/>
                </a:solidFill>
                <a:effectLst/>
                <a:uLnTx/>
                <a:uFillTx/>
                <a:latin typeface="+mn-lt"/>
                <a:ea typeface="+mn-ea"/>
                <a:cs typeface="+mn-cs"/>
              </a:rPr>
              <a:t>pt</a:t>
            </a:r>
            <a:r>
              <a:rPr kumimoji="0" lang="nl-NL" sz="2000" b="1" i="0" u="none" strike="noStrike" kern="1200" cap="none" spc="0" normalizeH="0" noProof="0" dirty="0" err="1" smtClean="0">
                <a:ln>
                  <a:noFill/>
                </a:ln>
                <a:solidFill>
                  <a:schemeClr val="tx1"/>
                </a:solidFill>
                <a:effectLst/>
                <a:uLnTx/>
                <a:uFillTx/>
                <a:latin typeface="+mn-lt"/>
                <a:ea typeface="+mn-ea"/>
                <a:cs typeface="+mn-cs"/>
              </a:rPr>
              <a:t>i</a:t>
            </a:r>
            <a:r>
              <a:rPr lang="nl-NL" sz="2000" dirty="0" smtClean="0"/>
              <a:t>’.</a:t>
            </a:r>
            <a:r>
              <a:rPr kumimoji="0" lang="nl-NL" sz="2000" b="0" i="0" u="none" strike="noStrike" kern="1200" cap="none" spc="0" normalizeH="0" noProof="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TextBox 15"/>
          <p:cNvSpPr txBox="1"/>
          <p:nvPr/>
        </p:nvSpPr>
        <p:spPr>
          <a:xfrm>
            <a:off x="5652120" y="4077072"/>
            <a:ext cx="1080120" cy="923330"/>
          </a:xfrm>
          <a:prstGeom prst="rect">
            <a:avLst/>
          </a:prstGeom>
          <a:noFill/>
        </p:spPr>
        <p:txBody>
          <a:bodyPr wrap="square" rtlCol="0">
            <a:spAutoFit/>
          </a:bodyPr>
          <a:lstStyle/>
          <a:p>
            <a:r>
              <a:rPr lang="nl-NL" i="1" dirty="0" err="1" smtClean="0"/>
              <a:t>MiP</a:t>
            </a:r>
            <a:endParaRPr lang="nl-NL" i="1" dirty="0" smtClean="0"/>
          </a:p>
          <a:p>
            <a:r>
              <a:rPr lang="nl-NL" i="1" dirty="0" err="1" smtClean="0"/>
              <a:t>MiS</a:t>
            </a:r>
            <a:endParaRPr lang="nl-NL" i="1" dirty="0" smtClean="0"/>
          </a:p>
          <a:p>
            <a:r>
              <a:rPr lang="nl-NL" i="1" dirty="0" err="1" smtClean="0"/>
              <a:t>SiP</a:t>
            </a:r>
            <a:endParaRPr lang="nl-NL" i="1" dirty="0" smtClean="0"/>
          </a:p>
        </p:txBody>
      </p:sp>
      <p:sp>
        <p:nvSpPr>
          <p:cNvPr id="17" name="TextBox 16"/>
          <p:cNvSpPr txBox="1"/>
          <p:nvPr/>
        </p:nvSpPr>
        <p:spPr>
          <a:xfrm>
            <a:off x="6660232" y="4077072"/>
            <a:ext cx="1080120" cy="923330"/>
          </a:xfrm>
          <a:prstGeom prst="rect">
            <a:avLst/>
          </a:prstGeom>
          <a:noFill/>
        </p:spPr>
        <p:txBody>
          <a:bodyPr wrap="square" rtlCol="0">
            <a:spAutoFit/>
          </a:bodyPr>
          <a:lstStyle/>
          <a:p>
            <a:r>
              <a:rPr lang="nl-NL" i="1" dirty="0" err="1" smtClean="0"/>
              <a:t>MaP</a:t>
            </a:r>
            <a:endParaRPr lang="nl-NL" i="1" dirty="0" smtClean="0"/>
          </a:p>
          <a:p>
            <a:r>
              <a:rPr lang="nl-NL" i="1" dirty="0" err="1" smtClean="0"/>
              <a:t>MaS</a:t>
            </a:r>
            <a:endParaRPr lang="nl-NL" i="1" dirty="0" smtClean="0"/>
          </a:p>
          <a:p>
            <a:r>
              <a:rPr lang="nl-NL" i="1" dirty="0" err="1" smtClean="0"/>
              <a:t>SiP</a:t>
            </a:r>
            <a:endParaRPr lang="nl-NL"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fade">
                                      <p:cBhvr>
                                        <p:cTn id="17" dur="2000"/>
                                        <p:tgtEl>
                                          <p:spTgt spid="12">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xEl>
                                              <p:pRg st="1" end="1"/>
                                            </p:txEl>
                                          </p:spTgt>
                                        </p:tgtEl>
                                        <p:attrNameLst>
                                          <p:attrName>style.visibility</p:attrName>
                                        </p:attrNameLst>
                                      </p:cBhvr>
                                      <p:to>
                                        <p:strVal val="visible"/>
                                      </p:to>
                                    </p:set>
                                    <p:animEffect transition="in" filter="fade">
                                      <p:cBhvr>
                                        <p:cTn id="20" dur="2000"/>
                                        <p:tgtEl>
                                          <p:spTgt spid="12">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Effect transition="in" filter="fade">
                                      <p:cBhvr>
                                        <p:cTn id="23" dur="2000"/>
                                        <p:tgtEl>
                                          <p:spTgt spid="12">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animEffect transition="in" filter="fade">
                                      <p:cBhvr>
                                        <p:cTn id="28" dur="2000"/>
                                        <p:tgtEl>
                                          <p:spTgt spid="13">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animEffect transition="in" filter="fade">
                                      <p:cBhvr>
                                        <p:cTn id="33" dur="2000"/>
                                        <p:tgtEl>
                                          <p:spTgt spid="16">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xEl>
                                              <p:pRg st="1" end="1"/>
                                            </p:txEl>
                                          </p:spTgt>
                                        </p:tgtEl>
                                        <p:attrNameLst>
                                          <p:attrName>style.visibility</p:attrName>
                                        </p:attrNameLst>
                                      </p:cBhvr>
                                      <p:to>
                                        <p:strVal val="visible"/>
                                      </p:to>
                                    </p:set>
                                    <p:animEffect transition="in" filter="fade">
                                      <p:cBhvr>
                                        <p:cTn id="36" dur="2000"/>
                                        <p:tgtEl>
                                          <p:spTgt spid="16">
                                            <p:txEl>
                                              <p:pRg st="1" end="1"/>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xEl>
                                              <p:pRg st="2" end="2"/>
                                            </p:txEl>
                                          </p:spTgt>
                                        </p:tgtEl>
                                        <p:attrNameLst>
                                          <p:attrName>style.visibility</p:attrName>
                                        </p:attrNameLst>
                                      </p:cBhvr>
                                      <p:to>
                                        <p:strVal val="visible"/>
                                      </p:to>
                                    </p:set>
                                    <p:animEffect transition="in" filter="fade">
                                      <p:cBhvr>
                                        <p:cTn id="39" dur="2000"/>
                                        <p:tgtEl>
                                          <p:spTgt spid="16">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xEl>
                                              <p:pRg st="0" end="0"/>
                                            </p:txEl>
                                          </p:spTgt>
                                        </p:tgtEl>
                                        <p:attrNameLst>
                                          <p:attrName>style.visibility</p:attrName>
                                        </p:attrNameLst>
                                      </p:cBhvr>
                                      <p:to>
                                        <p:strVal val="visible"/>
                                      </p:to>
                                    </p:set>
                                    <p:animEffect transition="in" filter="fade">
                                      <p:cBhvr>
                                        <p:cTn id="44" dur="2000"/>
                                        <p:tgtEl>
                                          <p:spTgt spid="15">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xEl>
                                              <p:pRg st="0" end="0"/>
                                            </p:txEl>
                                          </p:spTgt>
                                        </p:tgtEl>
                                        <p:attrNameLst>
                                          <p:attrName>style.visibility</p:attrName>
                                        </p:attrNameLst>
                                      </p:cBhvr>
                                      <p:to>
                                        <p:strVal val="visible"/>
                                      </p:to>
                                    </p:set>
                                    <p:animEffect transition="in" filter="fade">
                                      <p:cBhvr>
                                        <p:cTn id="49" dur="2000"/>
                                        <p:tgtEl>
                                          <p:spTgt spid="17">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xEl>
                                              <p:pRg st="1" end="1"/>
                                            </p:txEl>
                                          </p:spTgt>
                                        </p:tgtEl>
                                        <p:attrNameLst>
                                          <p:attrName>style.visibility</p:attrName>
                                        </p:attrNameLst>
                                      </p:cBhvr>
                                      <p:to>
                                        <p:strVal val="visible"/>
                                      </p:to>
                                    </p:set>
                                    <p:animEffect transition="in" filter="fade">
                                      <p:cBhvr>
                                        <p:cTn id="52" dur="2000"/>
                                        <p:tgtEl>
                                          <p:spTgt spid="17">
                                            <p:txEl>
                                              <p:pRg st="1" end="1"/>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7">
                                            <p:txEl>
                                              <p:pRg st="2" end="2"/>
                                            </p:txEl>
                                          </p:spTgt>
                                        </p:tgtEl>
                                        <p:attrNameLst>
                                          <p:attrName>style.visibility</p:attrName>
                                        </p:attrNameLst>
                                      </p:cBhvr>
                                      <p:to>
                                        <p:strVal val="visible"/>
                                      </p:to>
                                    </p:set>
                                    <p:animEffect transition="in" filter="fade">
                                      <p:cBhvr>
                                        <p:cTn id="55" dur="20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11" grpId="0" build="allAtOnce"/>
      <p:bldP spid="12" grpId="0" build="allAtOnce"/>
      <p:bldP spid="13" grpId="0" build="allAtOnce"/>
      <p:bldP spid="15" grpId="0" build="allAtOnce"/>
      <p:bldP spid="16" grpId="0" build="allAtOnce"/>
      <p:bldP spid="17" grpId="0" build="allAtOnce"/>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528193"/>
            <a:ext cx="8939336" cy="532655"/>
          </a:xfrm>
        </p:spPr>
        <p:txBody>
          <a:bodyPr>
            <a:noAutofit/>
          </a:bodyPr>
          <a:lstStyle/>
          <a:p>
            <a:r>
              <a:rPr lang="nl-NL" sz="2000" dirty="0" smtClean="0"/>
              <a:t>De </a:t>
            </a:r>
            <a:r>
              <a:rPr lang="nl-NL" sz="2000" i="1" dirty="0" smtClean="0"/>
              <a:t>scholastieke logica </a:t>
            </a:r>
            <a:r>
              <a:rPr lang="nl-NL" sz="2000" dirty="0" smtClean="0"/>
              <a:t>is de logica zoals deze in de 13</a:t>
            </a:r>
            <a:r>
              <a:rPr lang="nl-NL" sz="2000" baseline="30000" dirty="0" smtClean="0"/>
              <a:t>e</a:t>
            </a:r>
            <a:r>
              <a:rPr lang="nl-NL" sz="2000" dirty="0" smtClean="0"/>
              <a:t>, 14</a:t>
            </a:r>
            <a:r>
              <a:rPr lang="nl-NL" sz="2000" baseline="30000" dirty="0" smtClean="0"/>
              <a:t>e</a:t>
            </a:r>
            <a:r>
              <a:rPr lang="nl-NL" sz="2000" dirty="0" smtClean="0"/>
              <a:t> en 15</a:t>
            </a:r>
            <a:r>
              <a:rPr lang="nl-NL" sz="2000" baseline="30000" dirty="0" smtClean="0"/>
              <a:t>e</a:t>
            </a:r>
            <a:r>
              <a:rPr lang="nl-NL" sz="2000" dirty="0" smtClean="0"/>
              <a:t> eeuw ontwikkeld werd aan middeleeuwse universiteiten (o.a. Parijs en Oxford) </a:t>
            </a:r>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Content Placeholder 2"/>
          <p:cNvSpPr txBox="1">
            <a:spLocks/>
          </p:cNvSpPr>
          <p:nvPr/>
        </p:nvSpPr>
        <p:spPr>
          <a:xfrm>
            <a:off x="313184" y="2420888"/>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scholastieke logica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werd toen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oo</a:t>
            </a:r>
            <a:r>
              <a:rPr lang="nl-NL" sz="2000" dirty="0" smtClean="0"/>
              <a:t>k wel </a:t>
            </a:r>
            <a:r>
              <a:rPr lang="nl-NL" sz="2000" i="1" dirty="0" smtClean="0"/>
              <a:t>logica </a:t>
            </a:r>
            <a:r>
              <a:rPr lang="nl-NL" sz="2000" i="1" dirty="0" err="1" smtClean="0"/>
              <a:t>moderna</a:t>
            </a:r>
            <a:r>
              <a:rPr lang="nl-NL" sz="2000" i="1" dirty="0" smtClean="0"/>
              <a:t> </a:t>
            </a:r>
            <a:r>
              <a:rPr lang="nl-NL" sz="2000" dirty="0" smtClean="0"/>
              <a:t>genoemd, omdat          ze een aantal nieuwe elementen bevatte ten opzichte van de </a:t>
            </a:r>
            <a:r>
              <a:rPr lang="nl-NL" sz="2000" dirty="0" err="1" smtClean="0"/>
              <a:t>syllogistiek</a:t>
            </a:r>
            <a:r>
              <a:rPr lang="nl-NL" sz="2000" dirty="0" smtClean="0"/>
              <a:t> van Aristoteles zelf (die men </a:t>
            </a:r>
            <a:r>
              <a:rPr lang="nl-NL" sz="2000" i="1" dirty="0" smtClean="0"/>
              <a:t>logica </a:t>
            </a:r>
            <a:r>
              <a:rPr lang="nl-NL" sz="2000" i="1" dirty="0" err="1" smtClean="0"/>
              <a:t>antiqua</a:t>
            </a:r>
            <a:r>
              <a:rPr lang="nl-NL" sz="2000" b="1" dirty="0" smtClean="0"/>
              <a:t> </a:t>
            </a:r>
            <a:r>
              <a:rPr lang="nl-NL" sz="2000" dirty="0" smtClean="0"/>
              <a:t>noemde). De logica </a:t>
            </a:r>
            <a:r>
              <a:rPr lang="nl-NL" sz="2000" dirty="0" err="1" smtClean="0"/>
              <a:t>moderna</a:t>
            </a:r>
            <a:r>
              <a:rPr lang="nl-NL" sz="2000" dirty="0" smtClean="0"/>
              <a:t> werd niet strijdig geacht met de logica </a:t>
            </a:r>
            <a:r>
              <a:rPr lang="nl-NL" sz="2000" dirty="0" err="1" smtClean="0"/>
              <a:t>antiqua</a:t>
            </a:r>
            <a:r>
              <a:rPr lang="nl-NL" sz="2000" dirty="0" smtClean="0"/>
              <a:t>. Men sprak slechts over ‘</a:t>
            </a:r>
            <a:r>
              <a:rPr lang="nl-NL" sz="2000" dirty="0" err="1" smtClean="0"/>
              <a:t>vervolmaaking</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Content Placeholder 2"/>
          <p:cNvSpPr txBox="1">
            <a:spLocks/>
          </p:cNvSpPr>
          <p:nvPr/>
        </p:nvSpPr>
        <p:spPr>
          <a:xfrm>
            <a:off x="251520" y="3904457"/>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de </a:t>
            </a:r>
            <a:r>
              <a:rPr lang="nl-NL" sz="2000" i="1" dirty="0" smtClean="0"/>
              <a:t>logica </a:t>
            </a:r>
            <a:r>
              <a:rPr lang="nl-NL" sz="2000" i="1" dirty="0" err="1" smtClean="0"/>
              <a:t>moderna</a:t>
            </a:r>
            <a:r>
              <a:rPr lang="nl-NL" sz="2000" i="1" dirty="0" smtClean="0"/>
              <a:t> </a:t>
            </a:r>
            <a:r>
              <a:rPr lang="nl-NL" sz="2000" dirty="0" smtClean="0"/>
              <a:t>stonden vooral semantische problemen centraal. Men    hield zich bezig met betekenis (</a:t>
            </a:r>
            <a:r>
              <a:rPr lang="nl-NL" sz="2000" i="1" dirty="0" err="1" smtClean="0"/>
              <a:t>significatio</a:t>
            </a:r>
            <a:r>
              <a:rPr lang="nl-NL" sz="2000" dirty="0" smtClean="0"/>
              <a:t>) en verwijzing (</a:t>
            </a:r>
            <a:r>
              <a:rPr lang="nl-NL" sz="2000" i="1" dirty="0" err="1" smtClean="0"/>
              <a:t>suppositio</a:t>
            </a:r>
            <a:r>
              <a:rPr lang="nl-NL" sz="2000" dirty="0" smtClean="0"/>
              <a:t>) van           termen en oordelen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251520" y="508518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Men maakte onderscheid tussen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0" i="1" u="none" strike="noStrike" kern="1200" cap="none" spc="0" normalizeH="0" noProof="0" dirty="0" err="1" smtClean="0">
                <a:ln>
                  <a:noFill/>
                </a:ln>
                <a:solidFill>
                  <a:schemeClr val="tx1"/>
                </a:solidFill>
                <a:effectLst/>
                <a:uLnTx/>
                <a:uFillTx/>
                <a:latin typeface="+mn-lt"/>
                <a:ea typeface="+mn-ea"/>
                <a:cs typeface="+mn-cs"/>
              </a:rPr>
              <a:t>syncategorematische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expressies, oftewel tussen ‘termen’ en ‘logische constanten’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000"/>
                                        <p:tgtEl>
                                          <p:spTgt spid="2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0">
                                            <p:txEl>
                                              <p:pRg st="1" end="1"/>
                                            </p:txEl>
                                          </p:spTgt>
                                        </p:tgtEl>
                                        <p:attrNameLst>
                                          <p:attrName>style.visibility</p:attrName>
                                        </p:attrNameLst>
                                      </p:cBhvr>
                                      <p:to>
                                        <p:strVal val="visible"/>
                                      </p:to>
                                    </p:set>
                                    <p:animEffect transition="in" filter="fade">
                                      <p:cBhvr>
                                        <p:cTn id="15" dur="2000"/>
                                        <p:tgtEl>
                                          <p:spTgt spid="20">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xEl>
                                              <p:pRg st="0" end="0"/>
                                            </p:txEl>
                                          </p:spTgt>
                                        </p:tgtEl>
                                        <p:attrNameLst>
                                          <p:attrName>style.visibility</p:attrName>
                                        </p:attrNameLst>
                                      </p:cBhvr>
                                      <p:to>
                                        <p:strVal val="visible"/>
                                      </p:to>
                                    </p:set>
                                    <p:animEffect transition="in" filter="fade">
                                      <p:cBhvr>
                                        <p:cTn id="20" dur="2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20" grpId="0" build="allAtOnce"/>
      <p:bldP spid="21" grpId="0" build="allAtOnce"/>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528193"/>
            <a:ext cx="8939336" cy="532655"/>
          </a:xfrm>
        </p:spPr>
        <p:txBody>
          <a:bodyPr>
            <a:noAutofit/>
          </a:bodyPr>
          <a:lstStyle/>
          <a:p>
            <a:r>
              <a:rPr lang="nl-NL" sz="2000" dirty="0" smtClean="0"/>
              <a:t>De </a:t>
            </a:r>
            <a:r>
              <a:rPr lang="nl-NL" sz="2000" i="1" dirty="0" smtClean="0"/>
              <a:t>scholastieke logica </a:t>
            </a:r>
            <a:r>
              <a:rPr lang="nl-NL" sz="2000" dirty="0" smtClean="0"/>
              <a:t>is de logica zoals deze in de 13</a:t>
            </a:r>
            <a:r>
              <a:rPr lang="nl-NL" sz="2000" baseline="30000" dirty="0" smtClean="0"/>
              <a:t>e</a:t>
            </a:r>
            <a:r>
              <a:rPr lang="nl-NL" sz="2000" dirty="0" smtClean="0"/>
              <a:t>, 14</a:t>
            </a:r>
            <a:r>
              <a:rPr lang="nl-NL" sz="2000" baseline="30000" dirty="0" smtClean="0"/>
              <a:t>e</a:t>
            </a:r>
            <a:r>
              <a:rPr lang="nl-NL" sz="2000" dirty="0" smtClean="0"/>
              <a:t> en 15</a:t>
            </a:r>
            <a:r>
              <a:rPr lang="nl-NL" sz="2000" baseline="30000" dirty="0" smtClean="0"/>
              <a:t>e</a:t>
            </a:r>
            <a:r>
              <a:rPr lang="nl-NL" sz="2000" dirty="0" smtClean="0"/>
              <a:t> eeuw ontwikkeld werd aan middeleeuwse universiteiten (o.a. Parijs en Oxford) </a:t>
            </a:r>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Content Placeholder 2"/>
          <p:cNvSpPr txBox="1">
            <a:spLocks/>
          </p:cNvSpPr>
          <p:nvPr/>
        </p:nvSpPr>
        <p:spPr>
          <a:xfrm>
            <a:off x="313184" y="2420888"/>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scholastieke logica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werd toen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oo</a:t>
            </a:r>
            <a:r>
              <a:rPr lang="nl-NL" sz="2000" dirty="0" smtClean="0"/>
              <a:t>k wel </a:t>
            </a:r>
            <a:r>
              <a:rPr lang="nl-NL" sz="2000" i="1" dirty="0" smtClean="0"/>
              <a:t>logica </a:t>
            </a:r>
            <a:r>
              <a:rPr lang="nl-NL" sz="2000" i="1" dirty="0" err="1" smtClean="0"/>
              <a:t>moderna</a:t>
            </a:r>
            <a:r>
              <a:rPr lang="nl-NL" sz="2000" i="1" dirty="0" smtClean="0"/>
              <a:t> </a:t>
            </a:r>
            <a:r>
              <a:rPr lang="nl-NL" sz="2000" dirty="0" smtClean="0"/>
              <a:t>genoemd, omdat          ze een aantal nieuwe elementen bevatte ten opzichte van de </a:t>
            </a:r>
            <a:r>
              <a:rPr lang="nl-NL" sz="2000" dirty="0" err="1" smtClean="0"/>
              <a:t>syllogistiek</a:t>
            </a:r>
            <a:r>
              <a:rPr lang="nl-NL" sz="2000" dirty="0" smtClean="0"/>
              <a:t> van Aristoteles zelf (die men </a:t>
            </a:r>
            <a:r>
              <a:rPr lang="nl-NL" sz="2000" i="1" dirty="0" smtClean="0"/>
              <a:t>logica </a:t>
            </a:r>
            <a:r>
              <a:rPr lang="nl-NL" sz="2000" i="1" dirty="0" err="1" smtClean="0"/>
              <a:t>antiqua</a:t>
            </a:r>
            <a:r>
              <a:rPr lang="nl-NL" sz="2000" b="1" dirty="0" smtClean="0"/>
              <a:t> </a:t>
            </a:r>
            <a:r>
              <a:rPr lang="nl-NL" sz="2000" dirty="0" smtClean="0"/>
              <a:t>noemde). De logica </a:t>
            </a:r>
            <a:r>
              <a:rPr lang="nl-NL" sz="2000" dirty="0" err="1" smtClean="0"/>
              <a:t>moderna</a:t>
            </a:r>
            <a:r>
              <a:rPr lang="nl-NL" sz="2000" dirty="0" smtClean="0"/>
              <a:t> werd niet strijdig geacht met de logica </a:t>
            </a:r>
            <a:r>
              <a:rPr lang="nl-NL" sz="2000" dirty="0" err="1" smtClean="0"/>
              <a:t>antiqua</a:t>
            </a:r>
            <a:r>
              <a:rPr lang="nl-NL" sz="2000" dirty="0" smtClean="0"/>
              <a:t>. Men sprak slechts over ‘</a:t>
            </a:r>
            <a:r>
              <a:rPr lang="nl-NL" sz="2000" dirty="0" err="1" smtClean="0"/>
              <a:t>vervolmaaking</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Content Placeholder 2"/>
          <p:cNvSpPr txBox="1">
            <a:spLocks/>
          </p:cNvSpPr>
          <p:nvPr/>
        </p:nvSpPr>
        <p:spPr>
          <a:xfrm>
            <a:off x="251520" y="3904457"/>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de </a:t>
            </a:r>
            <a:r>
              <a:rPr lang="nl-NL" sz="2000" i="1" dirty="0" smtClean="0"/>
              <a:t>logica </a:t>
            </a:r>
            <a:r>
              <a:rPr lang="nl-NL" sz="2000" i="1" dirty="0" err="1" smtClean="0"/>
              <a:t>moderna</a:t>
            </a:r>
            <a:r>
              <a:rPr lang="nl-NL" sz="2000" i="1" dirty="0" smtClean="0"/>
              <a:t> </a:t>
            </a:r>
            <a:r>
              <a:rPr lang="nl-NL" sz="2000" dirty="0" smtClean="0"/>
              <a:t>stonden vooral semantische problemen centraal. Men    hield zich bezig met betekenis (</a:t>
            </a:r>
            <a:r>
              <a:rPr lang="nl-NL" sz="2000" i="1" dirty="0" err="1" smtClean="0"/>
              <a:t>significatio</a:t>
            </a:r>
            <a:r>
              <a:rPr lang="nl-NL" sz="2000" dirty="0" smtClean="0"/>
              <a:t>) en verwijzing (</a:t>
            </a:r>
            <a:r>
              <a:rPr lang="nl-NL" sz="2000" i="1" dirty="0" err="1" smtClean="0"/>
              <a:t>suppositio</a:t>
            </a:r>
            <a:r>
              <a:rPr lang="nl-NL" sz="2000" dirty="0" smtClean="0"/>
              <a:t>) van           termen en oordelen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251520" y="508518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Men maakte onderscheid tussen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0" i="1" u="none" strike="noStrike" kern="1200" cap="none" spc="0" normalizeH="0" noProof="0" dirty="0" err="1" smtClean="0">
                <a:ln>
                  <a:noFill/>
                </a:ln>
                <a:solidFill>
                  <a:schemeClr val="tx1"/>
                </a:solidFill>
                <a:effectLst/>
                <a:uLnTx/>
                <a:uFillTx/>
                <a:latin typeface="+mn-lt"/>
                <a:ea typeface="+mn-ea"/>
                <a:cs typeface="+mn-cs"/>
              </a:rPr>
              <a:t>syncategorematische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expressies, oftewel tussen ‘termen’ en ‘logische constanten’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1043608" y="5939988"/>
            <a:ext cx="3816424" cy="369332"/>
          </a:xfrm>
          <a:prstGeom prst="rect">
            <a:avLst/>
          </a:prstGeom>
          <a:noFill/>
        </p:spPr>
        <p:txBody>
          <a:bodyPr wrap="square" rtlCol="0">
            <a:spAutoFit/>
          </a:bodyPr>
          <a:lstStyle/>
          <a:p>
            <a:r>
              <a:rPr lang="nl-NL" dirty="0" smtClean="0"/>
              <a:t>Alle mensen zijn sterfelijk</a:t>
            </a:r>
            <a:endParaRPr lang="nl-NL" dirty="0"/>
          </a:p>
        </p:txBody>
      </p:sp>
      <p:sp>
        <p:nvSpPr>
          <p:cNvPr id="9" name="TextBox 8"/>
          <p:cNvSpPr txBox="1"/>
          <p:nvPr/>
        </p:nvSpPr>
        <p:spPr>
          <a:xfrm>
            <a:off x="4788024" y="5949280"/>
            <a:ext cx="3816424" cy="369332"/>
          </a:xfrm>
          <a:prstGeom prst="rect">
            <a:avLst/>
          </a:prstGeom>
          <a:noFill/>
        </p:spPr>
        <p:txBody>
          <a:bodyPr wrap="square" rtlCol="0">
            <a:spAutoFit/>
          </a:bodyPr>
          <a:lstStyle/>
          <a:p>
            <a:r>
              <a:rPr lang="nl-NL" dirty="0" smtClean="0"/>
              <a:t>Geen mens is sterfelijk</a:t>
            </a:r>
            <a:endParaRPr lang="nl-NL"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528193"/>
            <a:ext cx="8939336" cy="532655"/>
          </a:xfrm>
        </p:spPr>
        <p:txBody>
          <a:bodyPr>
            <a:noAutofit/>
          </a:bodyPr>
          <a:lstStyle/>
          <a:p>
            <a:r>
              <a:rPr lang="nl-NL" sz="2000" dirty="0" smtClean="0"/>
              <a:t>De </a:t>
            </a:r>
            <a:r>
              <a:rPr lang="nl-NL" sz="2000" i="1" dirty="0" smtClean="0"/>
              <a:t>scholastieke logica </a:t>
            </a:r>
            <a:r>
              <a:rPr lang="nl-NL" sz="2000" dirty="0" smtClean="0"/>
              <a:t>is de logica zoals deze in de 13</a:t>
            </a:r>
            <a:r>
              <a:rPr lang="nl-NL" sz="2000" baseline="30000" dirty="0" smtClean="0"/>
              <a:t>e</a:t>
            </a:r>
            <a:r>
              <a:rPr lang="nl-NL" sz="2000" dirty="0" smtClean="0"/>
              <a:t>, 14</a:t>
            </a:r>
            <a:r>
              <a:rPr lang="nl-NL" sz="2000" baseline="30000" dirty="0" smtClean="0"/>
              <a:t>e</a:t>
            </a:r>
            <a:r>
              <a:rPr lang="nl-NL" sz="2000" dirty="0" smtClean="0"/>
              <a:t> en 15</a:t>
            </a:r>
            <a:r>
              <a:rPr lang="nl-NL" sz="2000" baseline="30000" dirty="0" smtClean="0"/>
              <a:t>e</a:t>
            </a:r>
            <a:r>
              <a:rPr lang="nl-NL" sz="2000" dirty="0" smtClean="0"/>
              <a:t> eeuw ontwikkeld werd aan middeleeuwse universiteiten (o.a. Parijs en Oxford) </a:t>
            </a:r>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Content Placeholder 2"/>
          <p:cNvSpPr txBox="1">
            <a:spLocks/>
          </p:cNvSpPr>
          <p:nvPr/>
        </p:nvSpPr>
        <p:spPr>
          <a:xfrm>
            <a:off x="313184" y="2420888"/>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scholastieke logica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werd toen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oo</a:t>
            </a:r>
            <a:r>
              <a:rPr lang="nl-NL" sz="2000" dirty="0" smtClean="0"/>
              <a:t>k wel </a:t>
            </a:r>
            <a:r>
              <a:rPr lang="nl-NL" sz="2000" i="1" dirty="0" smtClean="0"/>
              <a:t>logica </a:t>
            </a:r>
            <a:r>
              <a:rPr lang="nl-NL" sz="2000" i="1" dirty="0" err="1" smtClean="0"/>
              <a:t>moderna</a:t>
            </a:r>
            <a:r>
              <a:rPr lang="nl-NL" sz="2000" i="1" dirty="0" smtClean="0"/>
              <a:t> </a:t>
            </a:r>
            <a:r>
              <a:rPr lang="nl-NL" sz="2000" dirty="0" smtClean="0"/>
              <a:t>genoemd, omdat          ze een aantal nieuwe elementen bevatte ten opzichte van de </a:t>
            </a:r>
            <a:r>
              <a:rPr lang="nl-NL" sz="2000" dirty="0" err="1" smtClean="0"/>
              <a:t>syllogistiek</a:t>
            </a:r>
            <a:r>
              <a:rPr lang="nl-NL" sz="2000" dirty="0" smtClean="0"/>
              <a:t> van Aristoteles zelf (die men </a:t>
            </a:r>
            <a:r>
              <a:rPr lang="nl-NL" sz="2000" i="1" dirty="0" smtClean="0"/>
              <a:t>logica </a:t>
            </a:r>
            <a:r>
              <a:rPr lang="nl-NL" sz="2000" i="1" dirty="0" err="1" smtClean="0"/>
              <a:t>antiqua</a:t>
            </a:r>
            <a:r>
              <a:rPr lang="nl-NL" sz="2000" b="1" dirty="0" smtClean="0"/>
              <a:t> </a:t>
            </a:r>
            <a:r>
              <a:rPr lang="nl-NL" sz="2000" dirty="0" smtClean="0"/>
              <a:t>noemde). De logica </a:t>
            </a:r>
            <a:r>
              <a:rPr lang="nl-NL" sz="2000" dirty="0" err="1" smtClean="0"/>
              <a:t>moderna</a:t>
            </a:r>
            <a:r>
              <a:rPr lang="nl-NL" sz="2000" dirty="0" smtClean="0"/>
              <a:t> werd niet strijdig geacht met de logica </a:t>
            </a:r>
            <a:r>
              <a:rPr lang="nl-NL" sz="2000" dirty="0" err="1" smtClean="0"/>
              <a:t>antiqua</a:t>
            </a:r>
            <a:r>
              <a:rPr lang="nl-NL" sz="2000" dirty="0" smtClean="0"/>
              <a:t>. Men sprak slechts over ‘</a:t>
            </a:r>
            <a:r>
              <a:rPr lang="nl-NL" sz="2000" dirty="0" err="1" smtClean="0"/>
              <a:t>vervolmaaking</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Content Placeholder 2"/>
          <p:cNvSpPr txBox="1">
            <a:spLocks/>
          </p:cNvSpPr>
          <p:nvPr/>
        </p:nvSpPr>
        <p:spPr>
          <a:xfrm>
            <a:off x="251520" y="3904457"/>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de </a:t>
            </a:r>
            <a:r>
              <a:rPr lang="nl-NL" sz="2000" i="1" dirty="0" smtClean="0"/>
              <a:t>logica </a:t>
            </a:r>
            <a:r>
              <a:rPr lang="nl-NL" sz="2000" i="1" dirty="0" err="1" smtClean="0"/>
              <a:t>moderna</a:t>
            </a:r>
            <a:r>
              <a:rPr lang="nl-NL" sz="2000" i="1" dirty="0" smtClean="0"/>
              <a:t> </a:t>
            </a:r>
            <a:r>
              <a:rPr lang="nl-NL" sz="2000" dirty="0" smtClean="0"/>
              <a:t>stonden vooral semantische problemen centraal. Men    hield zich bezig met betekenis (</a:t>
            </a:r>
            <a:r>
              <a:rPr lang="nl-NL" sz="2000" i="1" dirty="0" err="1" smtClean="0"/>
              <a:t>significatio</a:t>
            </a:r>
            <a:r>
              <a:rPr lang="nl-NL" sz="2000" dirty="0" smtClean="0"/>
              <a:t>) en verwijzing (</a:t>
            </a:r>
            <a:r>
              <a:rPr lang="nl-NL" sz="2000" i="1" dirty="0" err="1" smtClean="0"/>
              <a:t>suppositio</a:t>
            </a:r>
            <a:r>
              <a:rPr lang="nl-NL" sz="2000" dirty="0" smtClean="0"/>
              <a:t>) van           termen en oordelen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251520" y="508518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Men maakte onderscheid tussen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err="1" smtClean="0">
                <a:ln>
                  <a:noFill/>
                </a:ln>
                <a:solidFill>
                  <a:srgbClr val="0070C0"/>
                </a:solidFill>
                <a:effectLst/>
                <a:uLnTx/>
                <a:uFillTx/>
                <a:latin typeface="+mn-lt"/>
                <a:ea typeface="+mn-ea"/>
                <a:cs typeface="+mn-cs"/>
              </a:rPr>
              <a:t>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0" i="1" u="none" strike="noStrike" kern="1200" cap="none" spc="0" normalizeH="0" noProof="0" dirty="0" err="1" smtClean="0">
                <a:ln>
                  <a:noFill/>
                </a:ln>
                <a:solidFill>
                  <a:schemeClr val="tx1"/>
                </a:solidFill>
                <a:effectLst/>
                <a:uLnTx/>
                <a:uFillTx/>
                <a:latin typeface="+mn-lt"/>
                <a:ea typeface="+mn-ea"/>
                <a:cs typeface="+mn-cs"/>
              </a:rPr>
              <a:t>syncategorematische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expressies, oftewel tussen ‘termen’ en ‘logische constanten’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1043608" y="5939988"/>
            <a:ext cx="3816424" cy="369332"/>
          </a:xfrm>
          <a:prstGeom prst="rect">
            <a:avLst/>
          </a:prstGeom>
          <a:noFill/>
        </p:spPr>
        <p:txBody>
          <a:bodyPr wrap="square" rtlCol="0">
            <a:spAutoFit/>
          </a:bodyPr>
          <a:lstStyle/>
          <a:p>
            <a:r>
              <a:rPr lang="nl-NL" dirty="0" smtClean="0"/>
              <a:t>Alle </a:t>
            </a:r>
            <a:r>
              <a:rPr lang="nl-NL" b="1" dirty="0" smtClean="0">
                <a:solidFill>
                  <a:srgbClr val="0070C0"/>
                </a:solidFill>
              </a:rPr>
              <a:t>mensen</a:t>
            </a:r>
            <a:r>
              <a:rPr lang="nl-NL" dirty="0" smtClean="0"/>
              <a:t> zijn </a:t>
            </a:r>
            <a:r>
              <a:rPr lang="nl-NL" b="1" dirty="0" smtClean="0">
                <a:solidFill>
                  <a:srgbClr val="0070C0"/>
                </a:solidFill>
              </a:rPr>
              <a:t>sterfelijk</a:t>
            </a:r>
            <a:endParaRPr lang="nl-NL" b="1" dirty="0">
              <a:solidFill>
                <a:srgbClr val="0070C0"/>
              </a:solidFill>
            </a:endParaRPr>
          </a:p>
        </p:txBody>
      </p:sp>
      <p:sp>
        <p:nvSpPr>
          <p:cNvPr id="9" name="TextBox 8"/>
          <p:cNvSpPr txBox="1"/>
          <p:nvPr/>
        </p:nvSpPr>
        <p:spPr>
          <a:xfrm>
            <a:off x="4788024" y="5949280"/>
            <a:ext cx="3816424" cy="369332"/>
          </a:xfrm>
          <a:prstGeom prst="rect">
            <a:avLst/>
          </a:prstGeom>
          <a:noFill/>
        </p:spPr>
        <p:txBody>
          <a:bodyPr wrap="square" rtlCol="0">
            <a:spAutoFit/>
          </a:bodyPr>
          <a:lstStyle/>
          <a:p>
            <a:r>
              <a:rPr lang="nl-NL" dirty="0" smtClean="0"/>
              <a:t>Geen </a:t>
            </a:r>
            <a:r>
              <a:rPr lang="nl-NL" b="1" dirty="0" smtClean="0">
                <a:solidFill>
                  <a:srgbClr val="0070C0"/>
                </a:solidFill>
              </a:rPr>
              <a:t>mens</a:t>
            </a:r>
            <a:r>
              <a:rPr lang="nl-NL" dirty="0" smtClean="0"/>
              <a:t> is </a:t>
            </a:r>
            <a:r>
              <a:rPr lang="nl-NL" b="1" dirty="0" smtClean="0">
                <a:solidFill>
                  <a:srgbClr val="0070C0"/>
                </a:solidFill>
              </a:rPr>
              <a:t>sterfelijk</a:t>
            </a:r>
            <a:endParaRPr lang="nl-NL" b="1" dirty="0">
              <a:solidFill>
                <a:srgbClr val="0070C0"/>
              </a:solidFill>
            </a:endParaRPr>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528193"/>
            <a:ext cx="8939336" cy="532655"/>
          </a:xfrm>
        </p:spPr>
        <p:txBody>
          <a:bodyPr>
            <a:noAutofit/>
          </a:bodyPr>
          <a:lstStyle/>
          <a:p>
            <a:r>
              <a:rPr lang="nl-NL" sz="2000" dirty="0" smtClean="0"/>
              <a:t>De </a:t>
            </a:r>
            <a:r>
              <a:rPr lang="nl-NL" sz="2000" i="1" dirty="0" smtClean="0"/>
              <a:t>scholastieke logica </a:t>
            </a:r>
            <a:r>
              <a:rPr lang="nl-NL" sz="2000" dirty="0" smtClean="0"/>
              <a:t>is de logica zoals deze in de 13</a:t>
            </a:r>
            <a:r>
              <a:rPr lang="nl-NL" sz="2000" baseline="30000" dirty="0" smtClean="0"/>
              <a:t>e</a:t>
            </a:r>
            <a:r>
              <a:rPr lang="nl-NL" sz="2000" dirty="0" smtClean="0"/>
              <a:t>, 14</a:t>
            </a:r>
            <a:r>
              <a:rPr lang="nl-NL" sz="2000" baseline="30000" dirty="0" smtClean="0"/>
              <a:t>e</a:t>
            </a:r>
            <a:r>
              <a:rPr lang="nl-NL" sz="2000" dirty="0" smtClean="0"/>
              <a:t> en 15</a:t>
            </a:r>
            <a:r>
              <a:rPr lang="nl-NL" sz="2000" baseline="30000" dirty="0" smtClean="0"/>
              <a:t>e</a:t>
            </a:r>
            <a:r>
              <a:rPr lang="nl-NL" sz="2000" dirty="0" smtClean="0"/>
              <a:t> eeuw ontwikkeld werd aan middeleeuwse universiteiten (o.a. Parijs en Oxford) </a:t>
            </a:r>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Content Placeholder 2"/>
          <p:cNvSpPr txBox="1">
            <a:spLocks/>
          </p:cNvSpPr>
          <p:nvPr/>
        </p:nvSpPr>
        <p:spPr>
          <a:xfrm>
            <a:off x="313184" y="2420888"/>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scholastieke logica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werd toen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oo</a:t>
            </a:r>
            <a:r>
              <a:rPr lang="nl-NL" sz="2000" dirty="0" smtClean="0"/>
              <a:t>k wel </a:t>
            </a:r>
            <a:r>
              <a:rPr lang="nl-NL" sz="2000" i="1" dirty="0" smtClean="0"/>
              <a:t>logica </a:t>
            </a:r>
            <a:r>
              <a:rPr lang="nl-NL" sz="2000" i="1" dirty="0" err="1" smtClean="0"/>
              <a:t>moderna</a:t>
            </a:r>
            <a:r>
              <a:rPr lang="nl-NL" sz="2000" i="1" dirty="0" smtClean="0"/>
              <a:t> </a:t>
            </a:r>
            <a:r>
              <a:rPr lang="nl-NL" sz="2000" dirty="0" smtClean="0"/>
              <a:t>genoemd, omdat          ze een aantal nieuwe elementen bevatte ten opzichte van de </a:t>
            </a:r>
            <a:r>
              <a:rPr lang="nl-NL" sz="2000" dirty="0" err="1" smtClean="0"/>
              <a:t>syllogistiek</a:t>
            </a:r>
            <a:r>
              <a:rPr lang="nl-NL" sz="2000" dirty="0" smtClean="0"/>
              <a:t> van Aristoteles zelf (die men </a:t>
            </a:r>
            <a:r>
              <a:rPr lang="nl-NL" sz="2000" i="1" dirty="0" smtClean="0"/>
              <a:t>logica </a:t>
            </a:r>
            <a:r>
              <a:rPr lang="nl-NL" sz="2000" i="1" dirty="0" err="1" smtClean="0"/>
              <a:t>antiqua</a:t>
            </a:r>
            <a:r>
              <a:rPr lang="nl-NL" sz="2000" b="1" dirty="0" smtClean="0"/>
              <a:t> </a:t>
            </a:r>
            <a:r>
              <a:rPr lang="nl-NL" sz="2000" dirty="0" smtClean="0"/>
              <a:t>noemde). De logica </a:t>
            </a:r>
            <a:r>
              <a:rPr lang="nl-NL" sz="2000" dirty="0" err="1" smtClean="0"/>
              <a:t>moderna</a:t>
            </a:r>
            <a:r>
              <a:rPr lang="nl-NL" sz="2000" dirty="0" smtClean="0"/>
              <a:t> werd niet strijdig geacht met de logica </a:t>
            </a:r>
            <a:r>
              <a:rPr lang="nl-NL" sz="2000" dirty="0" err="1" smtClean="0"/>
              <a:t>antiqua</a:t>
            </a:r>
            <a:r>
              <a:rPr lang="nl-NL" sz="2000" dirty="0" smtClean="0"/>
              <a:t>. Men sprak slechts over ‘</a:t>
            </a:r>
            <a:r>
              <a:rPr lang="nl-NL" sz="2000" dirty="0" err="1" smtClean="0"/>
              <a:t>vervolmaaking</a:t>
            </a:r>
            <a:r>
              <a:rPr lang="nl-NL" sz="200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0" name="Content Placeholder 2"/>
          <p:cNvSpPr txBox="1">
            <a:spLocks/>
          </p:cNvSpPr>
          <p:nvPr/>
        </p:nvSpPr>
        <p:spPr>
          <a:xfrm>
            <a:off x="251520" y="3904457"/>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In de </a:t>
            </a:r>
            <a:r>
              <a:rPr lang="nl-NL" sz="2000" i="1" dirty="0" smtClean="0"/>
              <a:t>logica </a:t>
            </a:r>
            <a:r>
              <a:rPr lang="nl-NL" sz="2000" i="1" dirty="0" err="1" smtClean="0"/>
              <a:t>moderna</a:t>
            </a:r>
            <a:r>
              <a:rPr lang="nl-NL" sz="2000" i="1" dirty="0" smtClean="0"/>
              <a:t> </a:t>
            </a:r>
            <a:r>
              <a:rPr lang="nl-NL" sz="2000" dirty="0" smtClean="0"/>
              <a:t>stonden vooral semantische problemen centraal. Men    hield zich bezig met betekenis (</a:t>
            </a:r>
            <a:r>
              <a:rPr lang="nl-NL" sz="2000" i="1" dirty="0" err="1" smtClean="0"/>
              <a:t>significatio</a:t>
            </a:r>
            <a:r>
              <a:rPr lang="nl-NL" sz="2000" dirty="0" smtClean="0"/>
              <a:t>) en verwijzing (</a:t>
            </a:r>
            <a:r>
              <a:rPr lang="nl-NL" sz="2000" i="1" dirty="0" err="1" smtClean="0"/>
              <a:t>suppositio</a:t>
            </a:r>
            <a:r>
              <a:rPr lang="nl-NL" sz="2000" dirty="0" smtClean="0"/>
              <a:t>) van           termen en oordelen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251520" y="508518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Men maakte onderscheid tussen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err="1" smtClean="0">
                <a:ln>
                  <a:noFill/>
                </a:ln>
                <a:solidFill>
                  <a:srgbClr val="0070C0"/>
                </a:solidFill>
                <a:effectLst/>
                <a:uLnTx/>
                <a:uFillTx/>
                <a:latin typeface="+mn-lt"/>
                <a:ea typeface="+mn-ea"/>
                <a:cs typeface="+mn-cs"/>
              </a:rPr>
              <a:t>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1" i="1" u="none" strike="noStrike" kern="1200" cap="none" spc="0" normalizeH="0" noProof="0" dirty="0" err="1" smtClean="0">
                <a:ln>
                  <a:noFill/>
                </a:ln>
                <a:solidFill>
                  <a:schemeClr val="accent6">
                    <a:lumMod val="75000"/>
                  </a:schemeClr>
                </a:solidFill>
                <a:effectLst/>
                <a:uLnTx/>
                <a:uFillTx/>
                <a:latin typeface="+mn-lt"/>
                <a:ea typeface="+mn-ea"/>
                <a:cs typeface="+mn-cs"/>
              </a:rPr>
              <a:t>syncategorematische</a:t>
            </a:r>
            <a:r>
              <a:rPr kumimoji="0" lang="nl-NL" sz="2000" b="0" i="0" u="none" strike="noStrike" kern="1200" cap="none" spc="0" normalizeH="0" noProof="0" dirty="0" smtClean="0">
                <a:ln>
                  <a:noFill/>
                </a:ln>
                <a:solidFill>
                  <a:schemeClr val="tx1"/>
                </a:solidFill>
                <a:effectLst/>
                <a:uLnTx/>
                <a:uFillTx/>
                <a:latin typeface="+mn-lt"/>
                <a:ea typeface="+mn-ea"/>
                <a:cs typeface="+mn-cs"/>
              </a:rPr>
              <a:t>        expressies, oftewel tussen ‘termen’ en ‘logische constanten’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1043608" y="5939988"/>
            <a:ext cx="3816424" cy="369332"/>
          </a:xfrm>
          <a:prstGeom prst="rect">
            <a:avLst/>
          </a:prstGeom>
          <a:noFill/>
        </p:spPr>
        <p:txBody>
          <a:bodyPr wrap="square" rtlCol="0">
            <a:spAutoFit/>
          </a:bodyPr>
          <a:lstStyle/>
          <a:p>
            <a:r>
              <a:rPr lang="nl-NL" b="1" dirty="0" smtClean="0">
                <a:solidFill>
                  <a:schemeClr val="accent6">
                    <a:lumMod val="75000"/>
                  </a:schemeClr>
                </a:solidFill>
              </a:rPr>
              <a:t>Alle </a:t>
            </a:r>
            <a:r>
              <a:rPr lang="nl-NL" b="1" dirty="0" smtClean="0">
                <a:solidFill>
                  <a:srgbClr val="0070C0"/>
                </a:solidFill>
              </a:rPr>
              <a:t>mensen</a:t>
            </a:r>
            <a:r>
              <a:rPr lang="nl-NL" dirty="0" smtClean="0"/>
              <a:t> </a:t>
            </a:r>
            <a:r>
              <a:rPr lang="nl-NL" b="1" dirty="0" smtClean="0">
                <a:solidFill>
                  <a:schemeClr val="accent6">
                    <a:lumMod val="75000"/>
                  </a:schemeClr>
                </a:solidFill>
              </a:rPr>
              <a:t>zijn</a:t>
            </a:r>
            <a:r>
              <a:rPr lang="nl-NL" dirty="0" smtClean="0"/>
              <a:t> </a:t>
            </a:r>
            <a:r>
              <a:rPr lang="nl-NL" b="1" dirty="0" smtClean="0">
                <a:solidFill>
                  <a:srgbClr val="0070C0"/>
                </a:solidFill>
              </a:rPr>
              <a:t>sterfelijk</a:t>
            </a:r>
            <a:endParaRPr lang="nl-NL" b="1" dirty="0">
              <a:solidFill>
                <a:srgbClr val="0070C0"/>
              </a:solidFill>
            </a:endParaRPr>
          </a:p>
        </p:txBody>
      </p:sp>
      <p:sp>
        <p:nvSpPr>
          <p:cNvPr id="9" name="TextBox 8"/>
          <p:cNvSpPr txBox="1"/>
          <p:nvPr/>
        </p:nvSpPr>
        <p:spPr>
          <a:xfrm>
            <a:off x="4788024" y="5949280"/>
            <a:ext cx="3816424" cy="369332"/>
          </a:xfrm>
          <a:prstGeom prst="rect">
            <a:avLst/>
          </a:prstGeom>
          <a:noFill/>
        </p:spPr>
        <p:txBody>
          <a:bodyPr wrap="square" rtlCol="0">
            <a:spAutoFit/>
          </a:bodyPr>
          <a:lstStyle/>
          <a:p>
            <a:r>
              <a:rPr lang="nl-NL" b="1" dirty="0" smtClean="0">
                <a:solidFill>
                  <a:schemeClr val="accent6">
                    <a:lumMod val="75000"/>
                  </a:schemeClr>
                </a:solidFill>
              </a:rPr>
              <a:t>Geen</a:t>
            </a:r>
            <a:r>
              <a:rPr lang="nl-NL" dirty="0" smtClean="0"/>
              <a:t> </a:t>
            </a:r>
            <a:r>
              <a:rPr lang="nl-NL" b="1" dirty="0" smtClean="0">
                <a:solidFill>
                  <a:srgbClr val="0070C0"/>
                </a:solidFill>
              </a:rPr>
              <a:t>mens</a:t>
            </a:r>
            <a:r>
              <a:rPr lang="nl-NL" dirty="0" smtClean="0"/>
              <a:t> </a:t>
            </a:r>
            <a:r>
              <a:rPr lang="nl-NL" b="1" dirty="0" smtClean="0">
                <a:solidFill>
                  <a:schemeClr val="accent6">
                    <a:lumMod val="75000"/>
                  </a:schemeClr>
                </a:solidFill>
              </a:rPr>
              <a:t>is</a:t>
            </a:r>
            <a:r>
              <a:rPr lang="nl-NL" dirty="0" smtClean="0"/>
              <a:t> </a:t>
            </a:r>
            <a:r>
              <a:rPr lang="nl-NL" b="1" dirty="0" smtClean="0">
                <a:solidFill>
                  <a:srgbClr val="0070C0"/>
                </a:solidFill>
              </a:rPr>
              <a:t>sterfelijk</a:t>
            </a:r>
            <a:endParaRPr lang="nl-NL" b="1" dirty="0">
              <a:solidFill>
                <a:srgbClr val="0070C0"/>
              </a:solidFill>
            </a:endParaRPr>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556793"/>
            <a:ext cx="8939336" cy="504056"/>
          </a:xfrm>
        </p:spPr>
        <p:txBody>
          <a:bodyPr>
            <a:noAutofit/>
          </a:bodyPr>
          <a:lstStyle/>
          <a:p>
            <a:r>
              <a:rPr lang="nl-NL" sz="2000" dirty="0" smtClean="0"/>
              <a:t>De scholastieke theorie voor de semantiek wordt ‘suppositietheorie’ genoemd. </a:t>
            </a:r>
          </a:p>
          <a:p>
            <a:endParaRPr lang="nl-NL" sz="2000" i="1" dirty="0" smtClean="0"/>
          </a:p>
          <a:p>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TextBox 9"/>
          <p:cNvSpPr txBox="1"/>
          <p:nvPr/>
        </p:nvSpPr>
        <p:spPr>
          <a:xfrm>
            <a:off x="755576" y="3645024"/>
            <a:ext cx="3744416" cy="369332"/>
          </a:xfrm>
          <a:prstGeom prst="rect">
            <a:avLst/>
          </a:prstGeom>
          <a:noFill/>
        </p:spPr>
        <p:txBody>
          <a:bodyPr wrap="square" rtlCol="0">
            <a:spAutoFit/>
          </a:bodyPr>
          <a:lstStyle/>
          <a:p>
            <a:r>
              <a:rPr lang="nl-NL" dirty="0" smtClean="0"/>
              <a:t>[1] De mens is sterfelijk</a:t>
            </a:r>
          </a:p>
        </p:txBody>
      </p:sp>
      <p:sp>
        <p:nvSpPr>
          <p:cNvPr id="11" name="TextBox 10"/>
          <p:cNvSpPr txBox="1"/>
          <p:nvPr/>
        </p:nvSpPr>
        <p:spPr>
          <a:xfrm>
            <a:off x="755576" y="3995772"/>
            <a:ext cx="3744416" cy="369332"/>
          </a:xfrm>
          <a:prstGeom prst="rect">
            <a:avLst/>
          </a:prstGeom>
          <a:noFill/>
        </p:spPr>
        <p:txBody>
          <a:bodyPr wrap="square" rtlCol="0">
            <a:spAutoFit/>
          </a:bodyPr>
          <a:lstStyle/>
          <a:p>
            <a:r>
              <a:rPr lang="nl-NL" dirty="0" smtClean="0"/>
              <a:t>[2] De mens is een soort</a:t>
            </a:r>
          </a:p>
        </p:txBody>
      </p:sp>
      <p:sp>
        <p:nvSpPr>
          <p:cNvPr id="12" name="TextBox 11"/>
          <p:cNvSpPr txBox="1"/>
          <p:nvPr/>
        </p:nvSpPr>
        <p:spPr>
          <a:xfrm>
            <a:off x="755576" y="4355812"/>
            <a:ext cx="3744416" cy="369332"/>
          </a:xfrm>
          <a:prstGeom prst="rect">
            <a:avLst/>
          </a:prstGeom>
          <a:noFill/>
        </p:spPr>
        <p:txBody>
          <a:bodyPr wrap="square" rtlCol="0">
            <a:spAutoFit/>
          </a:bodyPr>
          <a:lstStyle/>
          <a:p>
            <a:r>
              <a:rPr lang="nl-NL" dirty="0" smtClean="0"/>
              <a:t>[3] Mens heeft vier letters</a:t>
            </a:r>
          </a:p>
        </p:txBody>
      </p:sp>
      <p:sp>
        <p:nvSpPr>
          <p:cNvPr id="15" name="TextBox 14"/>
          <p:cNvSpPr txBox="1"/>
          <p:nvPr/>
        </p:nvSpPr>
        <p:spPr>
          <a:xfrm>
            <a:off x="755576" y="5014917"/>
            <a:ext cx="4248472" cy="646331"/>
          </a:xfrm>
          <a:prstGeom prst="rect">
            <a:avLst/>
          </a:prstGeom>
          <a:noFill/>
        </p:spPr>
        <p:txBody>
          <a:bodyPr wrap="square" rtlCol="0">
            <a:spAutoFit/>
          </a:bodyPr>
          <a:lstStyle/>
          <a:p>
            <a:r>
              <a:rPr lang="nl-NL" dirty="0" smtClean="0"/>
              <a:t>In deze drie oordelen wordt de term mens steeds verschillend gebruikt. Hoe?</a:t>
            </a:r>
            <a:endParaRPr lang="nl-NL" dirty="0"/>
          </a:p>
        </p:txBody>
      </p:sp>
      <p:sp>
        <p:nvSpPr>
          <p:cNvPr id="16" name="TextBox 15"/>
          <p:cNvSpPr txBox="1"/>
          <p:nvPr/>
        </p:nvSpPr>
        <p:spPr>
          <a:xfrm>
            <a:off x="3563888" y="3635732"/>
            <a:ext cx="4536504" cy="369332"/>
          </a:xfrm>
          <a:prstGeom prst="rect">
            <a:avLst/>
          </a:prstGeom>
          <a:noFill/>
        </p:spPr>
        <p:txBody>
          <a:bodyPr wrap="square" rtlCol="0">
            <a:spAutoFit/>
          </a:bodyPr>
          <a:lstStyle/>
          <a:p>
            <a:r>
              <a:rPr lang="nl-NL" dirty="0" smtClean="0"/>
              <a:t>Term verwijst naar individuele mensen</a:t>
            </a:r>
            <a:endParaRPr lang="nl-NL" dirty="0"/>
          </a:p>
        </p:txBody>
      </p:sp>
      <p:sp>
        <p:nvSpPr>
          <p:cNvPr id="17" name="TextBox 16"/>
          <p:cNvSpPr txBox="1"/>
          <p:nvPr/>
        </p:nvSpPr>
        <p:spPr>
          <a:xfrm>
            <a:off x="3563888" y="3995772"/>
            <a:ext cx="5040560" cy="369332"/>
          </a:xfrm>
          <a:prstGeom prst="rect">
            <a:avLst/>
          </a:prstGeom>
          <a:noFill/>
        </p:spPr>
        <p:txBody>
          <a:bodyPr wrap="square" rtlCol="0">
            <a:spAutoFit/>
          </a:bodyPr>
          <a:lstStyle/>
          <a:p>
            <a:r>
              <a:rPr lang="nl-NL" dirty="0" smtClean="0"/>
              <a:t>Term verwijst naar het begrip of de soort mens</a:t>
            </a:r>
            <a:endParaRPr lang="nl-NL" dirty="0"/>
          </a:p>
        </p:txBody>
      </p:sp>
      <p:sp>
        <p:nvSpPr>
          <p:cNvPr id="22" name="TextBox 21"/>
          <p:cNvSpPr txBox="1"/>
          <p:nvPr/>
        </p:nvSpPr>
        <p:spPr>
          <a:xfrm>
            <a:off x="3563888" y="4355812"/>
            <a:ext cx="5040560" cy="369332"/>
          </a:xfrm>
          <a:prstGeom prst="rect">
            <a:avLst/>
          </a:prstGeom>
          <a:noFill/>
        </p:spPr>
        <p:txBody>
          <a:bodyPr wrap="square" rtlCol="0">
            <a:spAutoFit/>
          </a:bodyPr>
          <a:lstStyle/>
          <a:p>
            <a:r>
              <a:rPr lang="nl-NL" dirty="0" smtClean="0"/>
              <a:t>Term verwijst naar het woord ‘mens’</a:t>
            </a:r>
            <a:endParaRPr lang="nl-NL" dirty="0"/>
          </a:p>
        </p:txBody>
      </p:sp>
      <p:sp>
        <p:nvSpPr>
          <p:cNvPr id="23" name="Content Placeholder 2"/>
          <p:cNvSpPr txBox="1">
            <a:spLocks/>
          </p:cNvSpPr>
          <p:nvPr/>
        </p:nvSpPr>
        <p:spPr>
          <a:xfrm>
            <a:off x="313184" y="2132856"/>
            <a:ext cx="8939336" cy="532655"/>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Deze theorie vertrekt vanuit de veronderstelling dat een term als zodanig een welbepaalde betekenis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significatio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heeft, maar dat de verwijzing (</a:t>
            </a:r>
            <a:r>
              <a:rPr lang="nl-NL" sz="2000" i="1" dirty="0" err="1" smtClean="0"/>
              <a:t>suppositio</a:t>
            </a: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van een term afhangt van de wijze waarop een term in een oordeel gebruikt wordt.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fade">
                                      <p:cBhvr>
                                        <p:cTn id="7" dur="20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2000"/>
                                        <p:tgtEl>
                                          <p:spTgt spid="1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2000"/>
                                        <p:tgtEl>
                                          <p:spTgt spid="11">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2000"/>
                                        <p:tgtEl>
                                          <p:spTgt spid="1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2000"/>
                                        <p:tgtEl>
                                          <p:spTgt spid="1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xEl>
                                              <p:pRg st="0" end="0"/>
                                            </p:txEl>
                                          </p:spTgt>
                                        </p:tgtEl>
                                        <p:attrNameLst>
                                          <p:attrName>style.visibility</p:attrName>
                                        </p:attrNameLst>
                                      </p:cBhvr>
                                      <p:to>
                                        <p:strVal val="visible"/>
                                      </p:to>
                                    </p:set>
                                    <p:animEffect transition="in" filter="fade">
                                      <p:cBhvr>
                                        <p:cTn id="28" dur="2000"/>
                                        <p:tgtEl>
                                          <p:spTgt spid="16">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animEffect transition="in" filter="fade">
                                      <p:cBhvr>
                                        <p:cTn id="31" dur="2000"/>
                                        <p:tgtEl>
                                          <p:spTgt spid="17">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xEl>
                                              <p:pRg st="0" end="0"/>
                                            </p:txEl>
                                          </p:spTgt>
                                        </p:tgtEl>
                                        <p:attrNameLst>
                                          <p:attrName>style.visibility</p:attrName>
                                        </p:attrNameLst>
                                      </p:cBhvr>
                                      <p:to>
                                        <p:strVal val="visible"/>
                                      </p:to>
                                    </p:set>
                                    <p:animEffect transition="in" filter="fade">
                                      <p:cBhvr>
                                        <p:cTn id="34" dur="2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15" grpId="0" build="allAtOnce"/>
      <p:bldP spid="16" grpId="0" build="allAtOnce"/>
      <p:bldP spid="17" grpId="0" build="allAtOnce"/>
      <p:bldP spid="22" grpId="0" build="allAtOnce"/>
      <p:bldP spid="23" grpId="0" build="allAtOnce"/>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Van </a:t>
            </a:r>
            <a:r>
              <a:rPr lang="nl-NL" sz="3600" dirty="0" err="1" smtClean="0"/>
              <a:t>syntax</a:t>
            </a:r>
            <a:r>
              <a:rPr lang="nl-NL" sz="3600" dirty="0" smtClean="0"/>
              <a:t> naar semantiek</a:t>
            </a:r>
            <a:endParaRPr lang="nl-NL" sz="3600" dirty="0"/>
          </a:p>
        </p:txBody>
      </p:sp>
      <p:sp>
        <p:nvSpPr>
          <p:cNvPr id="19" name="Content Placeholder 2"/>
          <p:cNvSpPr>
            <a:spLocks noGrp="1"/>
          </p:cNvSpPr>
          <p:nvPr>
            <p:ph idx="1"/>
          </p:nvPr>
        </p:nvSpPr>
        <p:spPr>
          <a:xfrm>
            <a:off x="313184" y="1556793"/>
            <a:ext cx="8939336" cy="504056"/>
          </a:xfrm>
        </p:spPr>
        <p:txBody>
          <a:bodyPr>
            <a:noAutofit/>
          </a:bodyPr>
          <a:lstStyle/>
          <a:p>
            <a:r>
              <a:rPr lang="nl-NL" sz="2000" dirty="0" smtClean="0"/>
              <a:t>De scholastieke theorie voor de semantiek wordt ‘suppositietheorie’ genoemd. </a:t>
            </a:r>
          </a:p>
          <a:p>
            <a:endParaRPr lang="nl-NL" sz="2000" i="1" dirty="0" smtClean="0"/>
          </a:p>
          <a:p>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TextBox 9"/>
          <p:cNvSpPr txBox="1"/>
          <p:nvPr/>
        </p:nvSpPr>
        <p:spPr>
          <a:xfrm>
            <a:off x="755576" y="3645024"/>
            <a:ext cx="3744416" cy="369332"/>
          </a:xfrm>
          <a:prstGeom prst="rect">
            <a:avLst/>
          </a:prstGeom>
          <a:noFill/>
        </p:spPr>
        <p:txBody>
          <a:bodyPr wrap="square" rtlCol="0">
            <a:spAutoFit/>
          </a:bodyPr>
          <a:lstStyle/>
          <a:p>
            <a:r>
              <a:rPr lang="nl-NL" dirty="0" smtClean="0"/>
              <a:t>[1] De mens is sterfelijk</a:t>
            </a:r>
          </a:p>
        </p:txBody>
      </p:sp>
      <p:sp>
        <p:nvSpPr>
          <p:cNvPr id="11" name="TextBox 10"/>
          <p:cNvSpPr txBox="1"/>
          <p:nvPr/>
        </p:nvSpPr>
        <p:spPr>
          <a:xfrm>
            <a:off x="755576" y="3995772"/>
            <a:ext cx="3744416" cy="369332"/>
          </a:xfrm>
          <a:prstGeom prst="rect">
            <a:avLst/>
          </a:prstGeom>
          <a:noFill/>
        </p:spPr>
        <p:txBody>
          <a:bodyPr wrap="square" rtlCol="0">
            <a:spAutoFit/>
          </a:bodyPr>
          <a:lstStyle/>
          <a:p>
            <a:r>
              <a:rPr lang="nl-NL" dirty="0" smtClean="0"/>
              <a:t>[2] De mens is een soort</a:t>
            </a:r>
          </a:p>
        </p:txBody>
      </p:sp>
      <p:sp>
        <p:nvSpPr>
          <p:cNvPr id="12" name="TextBox 11"/>
          <p:cNvSpPr txBox="1"/>
          <p:nvPr/>
        </p:nvSpPr>
        <p:spPr>
          <a:xfrm>
            <a:off x="755576" y="4355812"/>
            <a:ext cx="3744416" cy="369332"/>
          </a:xfrm>
          <a:prstGeom prst="rect">
            <a:avLst/>
          </a:prstGeom>
          <a:noFill/>
        </p:spPr>
        <p:txBody>
          <a:bodyPr wrap="square" rtlCol="0">
            <a:spAutoFit/>
          </a:bodyPr>
          <a:lstStyle/>
          <a:p>
            <a:r>
              <a:rPr lang="nl-NL" dirty="0" smtClean="0"/>
              <a:t>[2] Mens heeft vier letters</a:t>
            </a:r>
          </a:p>
        </p:txBody>
      </p:sp>
      <p:sp>
        <p:nvSpPr>
          <p:cNvPr id="15" name="TextBox 14"/>
          <p:cNvSpPr txBox="1"/>
          <p:nvPr/>
        </p:nvSpPr>
        <p:spPr>
          <a:xfrm>
            <a:off x="755576" y="5014917"/>
            <a:ext cx="4248472" cy="646331"/>
          </a:xfrm>
          <a:prstGeom prst="rect">
            <a:avLst/>
          </a:prstGeom>
          <a:noFill/>
        </p:spPr>
        <p:txBody>
          <a:bodyPr wrap="square" rtlCol="0">
            <a:spAutoFit/>
          </a:bodyPr>
          <a:lstStyle/>
          <a:p>
            <a:r>
              <a:rPr lang="nl-NL" dirty="0" smtClean="0"/>
              <a:t>In deze drie oordelen wordt de term mens steeds verschillend gebruikt. Hoe?</a:t>
            </a:r>
            <a:endParaRPr lang="nl-NL" dirty="0"/>
          </a:p>
        </p:txBody>
      </p:sp>
      <p:sp>
        <p:nvSpPr>
          <p:cNvPr id="23" name="Content Placeholder 2"/>
          <p:cNvSpPr txBox="1">
            <a:spLocks/>
          </p:cNvSpPr>
          <p:nvPr/>
        </p:nvSpPr>
        <p:spPr>
          <a:xfrm>
            <a:off x="313184" y="2132856"/>
            <a:ext cx="8939336" cy="532655"/>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Deze theorie vertrekt vanuit de veronderstelling dat een term als zodanig een welbepaalde betekenis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significatio</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heeft, maar dat de verwijzing (</a:t>
            </a:r>
            <a:r>
              <a:rPr lang="nl-NL" sz="2000" i="1" dirty="0" err="1" smtClean="0"/>
              <a:t>suppositio</a:t>
            </a: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van een term afhangt van de wijze waarop een term in een oordeel gebruikt wordt.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p:cNvSpPr txBox="1"/>
          <p:nvPr/>
        </p:nvSpPr>
        <p:spPr>
          <a:xfrm>
            <a:off x="3995936" y="3573016"/>
            <a:ext cx="4536504" cy="369332"/>
          </a:xfrm>
          <a:prstGeom prst="rect">
            <a:avLst/>
          </a:prstGeom>
          <a:noFill/>
        </p:spPr>
        <p:txBody>
          <a:bodyPr wrap="square" rtlCol="0">
            <a:spAutoFit/>
          </a:bodyPr>
          <a:lstStyle/>
          <a:p>
            <a:r>
              <a:rPr lang="nl-NL" i="1" dirty="0" err="1" smtClean="0"/>
              <a:t>Suppositio</a:t>
            </a:r>
            <a:r>
              <a:rPr lang="nl-NL" i="1" dirty="0" smtClean="0"/>
              <a:t> </a:t>
            </a:r>
            <a:r>
              <a:rPr lang="nl-NL" i="1" dirty="0" err="1" smtClean="0"/>
              <a:t>personalis</a:t>
            </a:r>
            <a:endParaRPr lang="nl-NL" i="1" dirty="0"/>
          </a:p>
        </p:txBody>
      </p:sp>
      <p:sp>
        <p:nvSpPr>
          <p:cNvPr id="18" name="TextBox 17"/>
          <p:cNvSpPr txBox="1"/>
          <p:nvPr/>
        </p:nvSpPr>
        <p:spPr>
          <a:xfrm>
            <a:off x="3995936" y="3942348"/>
            <a:ext cx="5040560" cy="369332"/>
          </a:xfrm>
          <a:prstGeom prst="rect">
            <a:avLst/>
          </a:prstGeom>
          <a:noFill/>
        </p:spPr>
        <p:txBody>
          <a:bodyPr wrap="square" rtlCol="0">
            <a:spAutoFit/>
          </a:bodyPr>
          <a:lstStyle/>
          <a:p>
            <a:r>
              <a:rPr lang="nl-NL" i="1" dirty="0" err="1" smtClean="0"/>
              <a:t>Suppositio</a:t>
            </a:r>
            <a:r>
              <a:rPr lang="nl-NL" i="1" dirty="0" smtClean="0"/>
              <a:t> simplex</a:t>
            </a:r>
            <a:endParaRPr lang="nl-NL" i="1" dirty="0"/>
          </a:p>
        </p:txBody>
      </p:sp>
      <p:sp>
        <p:nvSpPr>
          <p:cNvPr id="20" name="TextBox 19"/>
          <p:cNvSpPr txBox="1"/>
          <p:nvPr/>
        </p:nvSpPr>
        <p:spPr>
          <a:xfrm>
            <a:off x="3995936" y="4293096"/>
            <a:ext cx="5040560" cy="369332"/>
          </a:xfrm>
          <a:prstGeom prst="rect">
            <a:avLst/>
          </a:prstGeom>
          <a:noFill/>
        </p:spPr>
        <p:txBody>
          <a:bodyPr wrap="square" rtlCol="0">
            <a:spAutoFit/>
          </a:bodyPr>
          <a:lstStyle/>
          <a:p>
            <a:r>
              <a:rPr lang="nl-NL" i="1" dirty="0" err="1" smtClean="0"/>
              <a:t>Suppositio</a:t>
            </a:r>
            <a:r>
              <a:rPr lang="nl-NL" i="1" dirty="0" smtClean="0"/>
              <a:t> </a:t>
            </a:r>
            <a:r>
              <a:rPr lang="nl-NL" i="1" dirty="0" err="1" smtClean="0"/>
              <a:t>materialis</a:t>
            </a:r>
            <a:endParaRPr lang="nl-NL" i="1" dirty="0"/>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Toepassen van suppositietheorie</a:t>
            </a:r>
            <a:endParaRPr lang="nl-NL" sz="3600" dirty="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 name="Content Placeholder 2"/>
          <p:cNvSpPr txBox="1">
            <a:spLocks/>
          </p:cNvSpPr>
          <p:nvPr/>
        </p:nvSpPr>
        <p:spPr>
          <a:xfrm>
            <a:off x="1321296" y="1916832"/>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mens is een zoogdier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zoogdier</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1331640" y="3573016"/>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mens is een soort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soort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179512" y="1907540"/>
            <a:ext cx="1944216" cy="369332"/>
          </a:xfrm>
          <a:prstGeom prst="rect">
            <a:avLst/>
          </a:prstGeom>
          <a:noFill/>
        </p:spPr>
        <p:txBody>
          <a:bodyPr wrap="square" rtlCol="0">
            <a:spAutoFit/>
          </a:bodyPr>
          <a:lstStyle/>
          <a:p>
            <a:r>
              <a:rPr lang="nl-NL" dirty="0" smtClean="0"/>
              <a:t>Geldig</a:t>
            </a:r>
            <a:endParaRPr lang="nl-NL" dirty="0"/>
          </a:p>
        </p:txBody>
      </p:sp>
      <p:sp>
        <p:nvSpPr>
          <p:cNvPr id="24" name="TextBox 23"/>
          <p:cNvSpPr txBox="1"/>
          <p:nvPr/>
        </p:nvSpPr>
        <p:spPr>
          <a:xfrm>
            <a:off x="107504" y="3573016"/>
            <a:ext cx="1944216" cy="369332"/>
          </a:xfrm>
          <a:prstGeom prst="rect">
            <a:avLst/>
          </a:prstGeom>
          <a:noFill/>
        </p:spPr>
        <p:txBody>
          <a:bodyPr wrap="square" rtlCol="0">
            <a:spAutoFit/>
          </a:bodyPr>
          <a:lstStyle/>
          <a:p>
            <a:r>
              <a:rPr lang="nl-NL" dirty="0" smtClean="0"/>
              <a:t>Ongeldig</a:t>
            </a:r>
            <a:endParaRPr lang="nl-NL" dirty="0"/>
          </a:p>
        </p:txBody>
      </p:sp>
      <p:sp>
        <p:nvSpPr>
          <p:cNvPr id="25" name="TextBox 24"/>
          <p:cNvSpPr txBox="1"/>
          <p:nvPr/>
        </p:nvSpPr>
        <p:spPr>
          <a:xfrm>
            <a:off x="179512" y="5457998"/>
            <a:ext cx="3888432" cy="923330"/>
          </a:xfrm>
          <a:prstGeom prst="rect">
            <a:avLst/>
          </a:prstGeom>
          <a:noFill/>
        </p:spPr>
        <p:txBody>
          <a:bodyPr wrap="square" rtlCol="0">
            <a:spAutoFit/>
          </a:bodyPr>
          <a:lstStyle/>
          <a:p>
            <a:r>
              <a:rPr lang="nl-NL" dirty="0" smtClean="0"/>
              <a:t>Toch bezitten beide syllogismen </a:t>
            </a:r>
            <a:r>
              <a:rPr lang="nl-NL" i="1" dirty="0" smtClean="0"/>
              <a:t>dezelfde redeneervorm</a:t>
            </a:r>
            <a:r>
              <a:rPr lang="nl-NL" dirty="0" smtClean="0"/>
              <a:t>. Hoe kan      deze aporie worden opgelost?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20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2000"/>
                                        <p:tgtEl>
                                          <p:spTgt spid="21">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xEl>
                                              <p:pRg st="1" end="1"/>
                                            </p:txEl>
                                          </p:spTgt>
                                        </p:tgtEl>
                                        <p:attrNameLst>
                                          <p:attrName>style.visibility</p:attrName>
                                        </p:attrNameLst>
                                      </p:cBhvr>
                                      <p:to>
                                        <p:strVal val="visible"/>
                                      </p:to>
                                    </p:set>
                                    <p:animEffect transition="in" filter="fade">
                                      <p:cBhvr>
                                        <p:cTn id="15" dur="2000"/>
                                        <p:tgtEl>
                                          <p:spTgt spid="21">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xEl>
                                              <p:pRg st="2" end="2"/>
                                            </p:txEl>
                                          </p:spTgt>
                                        </p:tgtEl>
                                        <p:attrNameLst>
                                          <p:attrName>style.visibility</p:attrName>
                                        </p:attrNameLst>
                                      </p:cBhvr>
                                      <p:to>
                                        <p:strVal val="visible"/>
                                      </p:to>
                                    </p:set>
                                    <p:animEffect transition="in" filter="fade">
                                      <p:cBhvr>
                                        <p:cTn id="18" dur="2000"/>
                                        <p:tgtEl>
                                          <p:spTgt spid="2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4">
                                            <p:txEl>
                                              <p:pRg st="0" end="0"/>
                                            </p:txEl>
                                          </p:spTgt>
                                        </p:tgtEl>
                                        <p:attrNameLst>
                                          <p:attrName>style.visibility</p:attrName>
                                        </p:attrNameLst>
                                      </p:cBhvr>
                                      <p:to>
                                        <p:strVal val="visible"/>
                                      </p:to>
                                    </p:set>
                                    <p:animEffect transition="in" filter="fade">
                                      <p:cBhvr>
                                        <p:cTn id="23" dur="2000"/>
                                        <p:tgtEl>
                                          <p:spTgt spid="24">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5">
                                            <p:txEl>
                                              <p:pRg st="0" end="0"/>
                                            </p:txEl>
                                          </p:spTgt>
                                        </p:tgtEl>
                                        <p:attrNameLst>
                                          <p:attrName>style.visibility</p:attrName>
                                        </p:attrNameLst>
                                      </p:cBhvr>
                                      <p:to>
                                        <p:strVal val="visible"/>
                                      </p:to>
                                    </p:set>
                                    <p:animEffect transition="in" filter="fade">
                                      <p:cBhvr>
                                        <p:cTn id="28"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allAtOnce"/>
      <p:bldP spid="22" grpId="0" build="allAtOnce"/>
      <p:bldP spid="24" grpId="0" build="allAtOnce"/>
      <p:bldP spid="25" grpId="0" build="allAtOnce"/>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Toepassen van suppositietheorie</a:t>
            </a:r>
            <a:endParaRPr lang="nl-NL" sz="3600" dirty="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 name="Content Placeholder 2"/>
          <p:cNvSpPr txBox="1">
            <a:spLocks/>
          </p:cNvSpPr>
          <p:nvPr/>
        </p:nvSpPr>
        <p:spPr>
          <a:xfrm>
            <a:off x="1321296" y="1916832"/>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a:t>
            </a:r>
            <a:r>
              <a:rPr lang="nl-NL" sz="2000" b="1" i="1" dirty="0" smtClean="0">
                <a:solidFill>
                  <a:srgbClr val="0070C0"/>
                </a:solidFill>
              </a:rPr>
              <a:t>mens</a:t>
            </a:r>
            <a:r>
              <a:rPr lang="nl-NL" sz="2000" i="1" dirty="0" smtClean="0"/>
              <a:t> is een zoogdier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a:t>
            </a:r>
            <a:r>
              <a:rPr lang="nl-NL" sz="2000" b="1" i="1" dirty="0" smtClean="0">
                <a:solidFill>
                  <a:srgbClr val="0070C0"/>
                </a:solidFill>
              </a:rPr>
              <a:t>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zoogdier</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1331640" y="3573016"/>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mens is een soort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soort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179512" y="1907540"/>
            <a:ext cx="1944216" cy="369332"/>
          </a:xfrm>
          <a:prstGeom prst="rect">
            <a:avLst/>
          </a:prstGeom>
          <a:noFill/>
        </p:spPr>
        <p:txBody>
          <a:bodyPr wrap="square" rtlCol="0">
            <a:spAutoFit/>
          </a:bodyPr>
          <a:lstStyle/>
          <a:p>
            <a:r>
              <a:rPr lang="nl-NL" dirty="0" smtClean="0"/>
              <a:t>Geldig</a:t>
            </a:r>
            <a:endParaRPr lang="nl-NL" dirty="0"/>
          </a:p>
        </p:txBody>
      </p:sp>
      <p:sp>
        <p:nvSpPr>
          <p:cNvPr id="24" name="TextBox 23"/>
          <p:cNvSpPr txBox="1"/>
          <p:nvPr/>
        </p:nvSpPr>
        <p:spPr>
          <a:xfrm>
            <a:off x="107504" y="3573016"/>
            <a:ext cx="1944216" cy="369332"/>
          </a:xfrm>
          <a:prstGeom prst="rect">
            <a:avLst/>
          </a:prstGeom>
          <a:noFill/>
        </p:spPr>
        <p:txBody>
          <a:bodyPr wrap="square" rtlCol="0">
            <a:spAutoFit/>
          </a:bodyPr>
          <a:lstStyle/>
          <a:p>
            <a:r>
              <a:rPr lang="nl-NL" dirty="0" smtClean="0"/>
              <a:t>Ongeldig</a:t>
            </a:r>
            <a:endParaRPr lang="nl-NL" dirty="0"/>
          </a:p>
        </p:txBody>
      </p:sp>
      <p:sp>
        <p:nvSpPr>
          <p:cNvPr id="25" name="TextBox 24"/>
          <p:cNvSpPr txBox="1"/>
          <p:nvPr/>
        </p:nvSpPr>
        <p:spPr>
          <a:xfrm>
            <a:off x="179512" y="5457998"/>
            <a:ext cx="3888432" cy="923330"/>
          </a:xfrm>
          <a:prstGeom prst="rect">
            <a:avLst/>
          </a:prstGeom>
          <a:noFill/>
        </p:spPr>
        <p:txBody>
          <a:bodyPr wrap="square" rtlCol="0">
            <a:spAutoFit/>
          </a:bodyPr>
          <a:lstStyle/>
          <a:p>
            <a:r>
              <a:rPr lang="nl-NL" dirty="0" smtClean="0"/>
              <a:t>Toch bezitten beide syllogismen </a:t>
            </a:r>
            <a:r>
              <a:rPr lang="nl-NL" i="1" dirty="0" smtClean="0"/>
              <a:t>dezelfde redeneervorm</a:t>
            </a:r>
            <a:r>
              <a:rPr lang="nl-NL" dirty="0" smtClean="0"/>
              <a:t>. Hoe kan      deze aporie worden opgelost?</a:t>
            </a:r>
            <a:endParaRPr lang="nl-NL" dirty="0"/>
          </a:p>
        </p:txBody>
      </p:sp>
      <p:sp>
        <p:nvSpPr>
          <p:cNvPr id="9" name="TextBox 8"/>
          <p:cNvSpPr txBox="1"/>
          <p:nvPr/>
        </p:nvSpPr>
        <p:spPr>
          <a:xfrm>
            <a:off x="4932040" y="1907540"/>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0" name="TextBox 9"/>
          <p:cNvSpPr txBox="1"/>
          <p:nvPr/>
        </p:nvSpPr>
        <p:spPr>
          <a:xfrm>
            <a:off x="4932040" y="2276872"/>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20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0" grpId="0" build="allAtOnce"/>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Toepassen van suppositietheorie</a:t>
            </a:r>
            <a:endParaRPr lang="nl-NL" sz="3600" dirty="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 name="Content Placeholder 2"/>
          <p:cNvSpPr txBox="1">
            <a:spLocks/>
          </p:cNvSpPr>
          <p:nvPr/>
        </p:nvSpPr>
        <p:spPr>
          <a:xfrm>
            <a:off x="1321296" y="1916832"/>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a:t>
            </a:r>
            <a:r>
              <a:rPr lang="nl-NL" sz="2000" b="1" i="1" dirty="0" smtClean="0">
                <a:solidFill>
                  <a:srgbClr val="0070C0"/>
                </a:solidFill>
              </a:rPr>
              <a:t>mens</a:t>
            </a:r>
            <a:r>
              <a:rPr lang="nl-NL" sz="2000" i="1" dirty="0" smtClean="0"/>
              <a:t> is een zoogdier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a:t>
            </a:r>
            <a:r>
              <a:rPr lang="nl-NL" sz="2000" b="1" i="1" dirty="0" smtClean="0">
                <a:solidFill>
                  <a:srgbClr val="0070C0"/>
                </a:solidFill>
              </a:rPr>
              <a:t>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zoogdier</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1331640" y="3573016"/>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a:t>
            </a:r>
            <a:r>
              <a:rPr lang="nl-NL" sz="2000" b="1" i="1" dirty="0" smtClean="0">
                <a:solidFill>
                  <a:srgbClr val="0070C0"/>
                </a:solidFill>
              </a:rPr>
              <a:t>mens</a:t>
            </a:r>
            <a:r>
              <a:rPr lang="nl-NL" sz="2000" i="1" dirty="0" smtClean="0"/>
              <a:t> is een soort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a:t>
            </a:r>
            <a:r>
              <a:rPr lang="nl-NL" sz="2000" b="1" i="1" dirty="0" smtClean="0">
                <a:solidFill>
                  <a:srgbClr val="0070C0"/>
                </a:solidFill>
              </a:rPr>
              <a:t>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soort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179512" y="1907540"/>
            <a:ext cx="1944216" cy="369332"/>
          </a:xfrm>
          <a:prstGeom prst="rect">
            <a:avLst/>
          </a:prstGeom>
          <a:noFill/>
        </p:spPr>
        <p:txBody>
          <a:bodyPr wrap="square" rtlCol="0">
            <a:spAutoFit/>
          </a:bodyPr>
          <a:lstStyle/>
          <a:p>
            <a:r>
              <a:rPr lang="nl-NL" dirty="0" smtClean="0"/>
              <a:t>Geldig</a:t>
            </a:r>
            <a:endParaRPr lang="nl-NL" dirty="0"/>
          </a:p>
        </p:txBody>
      </p:sp>
      <p:sp>
        <p:nvSpPr>
          <p:cNvPr id="24" name="TextBox 23"/>
          <p:cNvSpPr txBox="1"/>
          <p:nvPr/>
        </p:nvSpPr>
        <p:spPr>
          <a:xfrm>
            <a:off x="107504" y="3573016"/>
            <a:ext cx="1944216" cy="369332"/>
          </a:xfrm>
          <a:prstGeom prst="rect">
            <a:avLst/>
          </a:prstGeom>
          <a:noFill/>
        </p:spPr>
        <p:txBody>
          <a:bodyPr wrap="square" rtlCol="0">
            <a:spAutoFit/>
          </a:bodyPr>
          <a:lstStyle/>
          <a:p>
            <a:r>
              <a:rPr lang="nl-NL" dirty="0" smtClean="0"/>
              <a:t>Ongeldig</a:t>
            </a:r>
            <a:endParaRPr lang="nl-NL" dirty="0"/>
          </a:p>
        </p:txBody>
      </p:sp>
      <p:sp>
        <p:nvSpPr>
          <p:cNvPr id="25" name="TextBox 24"/>
          <p:cNvSpPr txBox="1"/>
          <p:nvPr/>
        </p:nvSpPr>
        <p:spPr>
          <a:xfrm>
            <a:off x="179512" y="5457998"/>
            <a:ext cx="3888432" cy="923330"/>
          </a:xfrm>
          <a:prstGeom prst="rect">
            <a:avLst/>
          </a:prstGeom>
          <a:noFill/>
        </p:spPr>
        <p:txBody>
          <a:bodyPr wrap="square" rtlCol="0">
            <a:spAutoFit/>
          </a:bodyPr>
          <a:lstStyle/>
          <a:p>
            <a:r>
              <a:rPr lang="nl-NL" dirty="0" smtClean="0"/>
              <a:t>Toch bezitten beide syllogismen </a:t>
            </a:r>
            <a:r>
              <a:rPr lang="nl-NL" i="1" dirty="0" smtClean="0"/>
              <a:t>dezelfde redeneervorm</a:t>
            </a:r>
            <a:r>
              <a:rPr lang="nl-NL" dirty="0" smtClean="0"/>
              <a:t>. Hoe kan      deze aporie worden opgelost?</a:t>
            </a:r>
            <a:endParaRPr lang="nl-NL" dirty="0"/>
          </a:p>
        </p:txBody>
      </p:sp>
      <p:sp>
        <p:nvSpPr>
          <p:cNvPr id="9" name="TextBox 8"/>
          <p:cNvSpPr txBox="1"/>
          <p:nvPr/>
        </p:nvSpPr>
        <p:spPr>
          <a:xfrm>
            <a:off x="4932040" y="1907540"/>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0" name="TextBox 9"/>
          <p:cNvSpPr txBox="1"/>
          <p:nvPr/>
        </p:nvSpPr>
        <p:spPr>
          <a:xfrm>
            <a:off x="4932040" y="2276872"/>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1" name="TextBox 10"/>
          <p:cNvSpPr txBox="1"/>
          <p:nvPr/>
        </p:nvSpPr>
        <p:spPr>
          <a:xfrm>
            <a:off x="4932040" y="3563724"/>
            <a:ext cx="2592288" cy="369332"/>
          </a:xfrm>
          <a:prstGeom prst="rect">
            <a:avLst/>
          </a:prstGeom>
          <a:noFill/>
        </p:spPr>
        <p:txBody>
          <a:bodyPr wrap="square" rtlCol="0">
            <a:spAutoFit/>
          </a:bodyPr>
          <a:lstStyle/>
          <a:p>
            <a:r>
              <a:rPr lang="nl-NL" dirty="0" err="1" smtClean="0"/>
              <a:t>Suppositio</a:t>
            </a:r>
            <a:r>
              <a:rPr lang="nl-NL" dirty="0" smtClean="0"/>
              <a:t> simplex</a:t>
            </a:r>
            <a:endParaRPr lang="nl-NL" dirty="0"/>
          </a:p>
        </p:txBody>
      </p:sp>
      <p:sp>
        <p:nvSpPr>
          <p:cNvPr id="12" name="TextBox 11"/>
          <p:cNvSpPr txBox="1"/>
          <p:nvPr/>
        </p:nvSpPr>
        <p:spPr>
          <a:xfrm>
            <a:off x="4932040" y="3923764"/>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12" grpId="0" build="allAtOnce"/>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Toepassen van suppositietheorie</a:t>
            </a:r>
            <a:endParaRPr lang="nl-NL" sz="3600" dirty="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 name="Content Placeholder 2"/>
          <p:cNvSpPr txBox="1">
            <a:spLocks/>
          </p:cNvSpPr>
          <p:nvPr/>
        </p:nvSpPr>
        <p:spPr>
          <a:xfrm>
            <a:off x="1321296" y="1916832"/>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a:t>
            </a:r>
            <a:r>
              <a:rPr lang="nl-NL" sz="2000" b="1" i="1" dirty="0" smtClean="0">
                <a:solidFill>
                  <a:srgbClr val="0070C0"/>
                </a:solidFill>
              </a:rPr>
              <a:t>mens</a:t>
            </a:r>
            <a:r>
              <a:rPr lang="nl-NL" sz="2000" i="1" dirty="0" smtClean="0"/>
              <a:t> is een zoogdier</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a:t>
            </a:r>
            <a:r>
              <a:rPr lang="nl-NL" sz="2000" b="1" i="1" dirty="0" smtClean="0">
                <a:solidFill>
                  <a:srgbClr val="0070C0"/>
                </a:solidFill>
              </a:rPr>
              <a:t>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zoogdier</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Content Placeholder 2"/>
          <p:cNvSpPr txBox="1">
            <a:spLocks/>
          </p:cNvSpPr>
          <p:nvPr/>
        </p:nvSpPr>
        <p:spPr>
          <a:xfrm>
            <a:off x="1331640" y="3573016"/>
            <a:ext cx="3322712"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dirty="0" smtClean="0"/>
              <a:t>De </a:t>
            </a:r>
            <a:r>
              <a:rPr lang="nl-NL" sz="2000" b="1" i="1" dirty="0" smtClean="0">
                <a:solidFill>
                  <a:schemeClr val="accent6">
                    <a:lumMod val="75000"/>
                  </a:schemeClr>
                </a:solidFill>
              </a:rPr>
              <a:t>mens</a:t>
            </a:r>
            <a:r>
              <a:rPr lang="nl-NL" sz="2000" i="1" dirty="0" smtClean="0"/>
              <a:t> is een soort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err="1" smtClean="0"/>
              <a:t>Socrates</a:t>
            </a:r>
            <a:r>
              <a:rPr lang="nl-NL" sz="2000" i="1" dirty="0" smtClean="0"/>
              <a:t> is een </a:t>
            </a:r>
            <a:r>
              <a:rPr lang="nl-NL" sz="2000" b="1" i="1" dirty="0" smtClean="0">
                <a:solidFill>
                  <a:srgbClr val="0070C0"/>
                </a:solidFill>
              </a:rPr>
              <a:t>mens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Dus:</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soort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179512" y="1907540"/>
            <a:ext cx="1944216" cy="369332"/>
          </a:xfrm>
          <a:prstGeom prst="rect">
            <a:avLst/>
          </a:prstGeom>
          <a:noFill/>
        </p:spPr>
        <p:txBody>
          <a:bodyPr wrap="square" rtlCol="0">
            <a:spAutoFit/>
          </a:bodyPr>
          <a:lstStyle/>
          <a:p>
            <a:r>
              <a:rPr lang="nl-NL" dirty="0" smtClean="0"/>
              <a:t>Geldig</a:t>
            </a:r>
            <a:endParaRPr lang="nl-NL" dirty="0"/>
          </a:p>
        </p:txBody>
      </p:sp>
      <p:sp>
        <p:nvSpPr>
          <p:cNvPr id="24" name="TextBox 23"/>
          <p:cNvSpPr txBox="1"/>
          <p:nvPr/>
        </p:nvSpPr>
        <p:spPr>
          <a:xfrm>
            <a:off x="107504" y="3573016"/>
            <a:ext cx="1944216" cy="369332"/>
          </a:xfrm>
          <a:prstGeom prst="rect">
            <a:avLst/>
          </a:prstGeom>
          <a:noFill/>
        </p:spPr>
        <p:txBody>
          <a:bodyPr wrap="square" rtlCol="0">
            <a:spAutoFit/>
          </a:bodyPr>
          <a:lstStyle/>
          <a:p>
            <a:r>
              <a:rPr lang="nl-NL" dirty="0" smtClean="0"/>
              <a:t>Ongeldig</a:t>
            </a:r>
            <a:endParaRPr lang="nl-NL" dirty="0"/>
          </a:p>
        </p:txBody>
      </p:sp>
      <p:sp>
        <p:nvSpPr>
          <p:cNvPr id="25" name="TextBox 24"/>
          <p:cNvSpPr txBox="1"/>
          <p:nvPr/>
        </p:nvSpPr>
        <p:spPr>
          <a:xfrm>
            <a:off x="179512" y="5457998"/>
            <a:ext cx="3888432" cy="923330"/>
          </a:xfrm>
          <a:prstGeom prst="rect">
            <a:avLst/>
          </a:prstGeom>
          <a:noFill/>
        </p:spPr>
        <p:txBody>
          <a:bodyPr wrap="square" rtlCol="0">
            <a:spAutoFit/>
          </a:bodyPr>
          <a:lstStyle/>
          <a:p>
            <a:r>
              <a:rPr lang="nl-NL" dirty="0" smtClean="0"/>
              <a:t>Toch bezitten beide syllogismen </a:t>
            </a:r>
            <a:r>
              <a:rPr lang="nl-NL" i="1" dirty="0" smtClean="0"/>
              <a:t>dezelfde redeneervorm</a:t>
            </a:r>
            <a:r>
              <a:rPr lang="nl-NL" dirty="0" smtClean="0"/>
              <a:t>. Hoe kan      deze aporie worden opgelost?</a:t>
            </a:r>
            <a:endParaRPr lang="nl-NL" dirty="0"/>
          </a:p>
        </p:txBody>
      </p:sp>
      <p:sp>
        <p:nvSpPr>
          <p:cNvPr id="9" name="TextBox 8"/>
          <p:cNvSpPr txBox="1"/>
          <p:nvPr/>
        </p:nvSpPr>
        <p:spPr>
          <a:xfrm>
            <a:off x="4932040" y="1907540"/>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0" name="TextBox 9"/>
          <p:cNvSpPr txBox="1"/>
          <p:nvPr/>
        </p:nvSpPr>
        <p:spPr>
          <a:xfrm>
            <a:off x="4932040" y="2276872"/>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1" name="TextBox 10"/>
          <p:cNvSpPr txBox="1"/>
          <p:nvPr/>
        </p:nvSpPr>
        <p:spPr>
          <a:xfrm>
            <a:off x="4932040" y="3563724"/>
            <a:ext cx="2592288" cy="369332"/>
          </a:xfrm>
          <a:prstGeom prst="rect">
            <a:avLst/>
          </a:prstGeom>
          <a:noFill/>
        </p:spPr>
        <p:txBody>
          <a:bodyPr wrap="square" rtlCol="0">
            <a:spAutoFit/>
          </a:bodyPr>
          <a:lstStyle/>
          <a:p>
            <a:r>
              <a:rPr lang="nl-NL" dirty="0" err="1" smtClean="0"/>
              <a:t>Suppositio</a:t>
            </a:r>
            <a:r>
              <a:rPr lang="nl-NL" dirty="0" smtClean="0"/>
              <a:t> simplex</a:t>
            </a:r>
            <a:endParaRPr lang="nl-NL" dirty="0"/>
          </a:p>
        </p:txBody>
      </p:sp>
      <p:sp>
        <p:nvSpPr>
          <p:cNvPr id="12" name="TextBox 11"/>
          <p:cNvSpPr txBox="1"/>
          <p:nvPr/>
        </p:nvSpPr>
        <p:spPr>
          <a:xfrm>
            <a:off x="4932040" y="3923764"/>
            <a:ext cx="2592288"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3" name="TextBox 12"/>
          <p:cNvSpPr txBox="1"/>
          <p:nvPr/>
        </p:nvSpPr>
        <p:spPr>
          <a:xfrm>
            <a:off x="5148064" y="4797152"/>
            <a:ext cx="3456384" cy="646331"/>
          </a:xfrm>
          <a:prstGeom prst="rect">
            <a:avLst/>
          </a:prstGeom>
          <a:noFill/>
        </p:spPr>
        <p:txBody>
          <a:bodyPr wrap="square" rtlCol="0">
            <a:spAutoFit/>
          </a:bodyPr>
          <a:lstStyle/>
          <a:p>
            <a:r>
              <a:rPr lang="nl-NL" dirty="0" smtClean="0"/>
              <a:t>Ongeldig omdat er </a:t>
            </a:r>
            <a:r>
              <a:rPr lang="nl-NL" u="sng" dirty="0" smtClean="0"/>
              <a:t>vier</a:t>
            </a:r>
            <a:r>
              <a:rPr lang="nl-NL" dirty="0" smtClean="0"/>
              <a:t> termen optreden: </a:t>
            </a:r>
            <a:r>
              <a:rPr lang="nl-NL" i="1" dirty="0" err="1" smtClean="0"/>
              <a:t>Quaternio</a:t>
            </a:r>
            <a:r>
              <a:rPr lang="nl-NL" i="1" dirty="0" smtClean="0"/>
              <a:t> </a:t>
            </a:r>
            <a:r>
              <a:rPr lang="nl-NL" i="1" dirty="0" err="1" smtClean="0"/>
              <a:t>terminorum</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Verband tussen de suppositietheorie en   het taalmodel van Aristoteles</a:t>
            </a:r>
            <a:endParaRPr lang="nl-NL" sz="3600" dirty="0"/>
          </a:p>
        </p:txBody>
      </p:sp>
      <p:sp>
        <p:nvSpPr>
          <p:cNvPr id="15" name="TextBox 14"/>
          <p:cNvSpPr txBox="1"/>
          <p:nvPr/>
        </p:nvSpPr>
        <p:spPr>
          <a:xfrm>
            <a:off x="395536" y="2276872"/>
            <a:ext cx="2520280" cy="646331"/>
          </a:xfrm>
          <a:prstGeom prst="rect">
            <a:avLst/>
          </a:prstGeom>
          <a:noFill/>
        </p:spPr>
        <p:txBody>
          <a:bodyPr wrap="square" rtlCol="0">
            <a:spAutoFit/>
          </a:bodyPr>
          <a:lstStyle/>
          <a:p>
            <a:r>
              <a:rPr lang="nl-NL" dirty="0" smtClean="0"/>
              <a:t>Het geschreven en gesproken </a:t>
            </a:r>
            <a:r>
              <a:rPr lang="nl-NL" i="1" dirty="0" smtClean="0"/>
              <a:t>woord</a:t>
            </a:r>
            <a:endParaRPr lang="nl-NL" i="1" dirty="0"/>
          </a:p>
        </p:txBody>
      </p:sp>
      <p:sp>
        <p:nvSpPr>
          <p:cNvPr id="16" name="TextBox 15"/>
          <p:cNvSpPr txBox="1"/>
          <p:nvPr/>
        </p:nvSpPr>
        <p:spPr>
          <a:xfrm>
            <a:off x="395536" y="3790781"/>
            <a:ext cx="2520280" cy="646331"/>
          </a:xfrm>
          <a:prstGeom prst="rect">
            <a:avLst/>
          </a:prstGeom>
          <a:noFill/>
        </p:spPr>
        <p:txBody>
          <a:bodyPr wrap="square" rtlCol="0">
            <a:spAutoFit/>
          </a:bodyPr>
          <a:lstStyle/>
          <a:p>
            <a:r>
              <a:rPr lang="nl-NL" dirty="0" smtClean="0"/>
              <a:t>Het </a:t>
            </a:r>
            <a:r>
              <a:rPr lang="nl-NL" i="1" dirty="0" smtClean="0"/>
              <a:t>begrip</a:t>
            </a:r>
            <a:r>
              <a:rPr lang="nl-NL" dirty="0" smtClean="0"/>
              <a:t> in het bewustzijn</a:t>
            </a:r>
            <a:endParaRPr lang="nl-NL" dirty="0"/>
          </a:p>
        </p:txBody>
      </p:sp>
      <p:sp>
        <p:nvSpPr>
          <p:cNvPr id="18" name="TextBox 17"/>
          <p:cNvSpPr txBox="1"/>
          <p:nvPr/>
        </p:nvSpPr>
        <p:spPr>
          <a:xfrm>
            <a:off x="395536" y="5291916"/>
            <a:ext cx="2520280" cy="369332"/>
          </a:xfrm>
          <a:prstGeom prst="rect">
            <a:avLst/>
          </a:prstGeom>
          <a:noFill/>
        </p:spPr>
        <p:txBody>
          <a:bodyPr wrap="square" rtlCol="0">
            <a:spAutoFit/>
          </a:bodyPr>
          <a:lstStyle/>
          <a:p>
            <a:r>
              <a:rPr lang="nl-NL" dirty="0" smtClean="0"/>
              <a:t>Het concrete </a:t>
            </a:r>
            <a:r>
              <a:rPr lang="nl-NL" i="1" dirty="0" smtClean="0"/>
              <a:t>ding</a:t>
            </a:r>
            <a:endParaRPr lang="nl-NL" i="1" dirty="0"/>
          </a:p>
        </p:txBody>
      </p:sp>
      <p:cxnSp>
        <p:nvCxnSpPr>
          <p:cNvPr id="20" name="Straight Connector 19"/>
          <p:cNvCxnSpPr/>
          <p:nvPr/>
        </p:nvCxnSpPr>
        <p:spPr>
          <a:xfrm>
            <a:off x="1187624" y="2996952"/>
            <a:ext cx="0" cy="7920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87624" y="4437112"/>
            <a:ext cx="0" cy="7920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259632" y="3131676"/>
            <a:ext cx="3744416" cy="369332"/>
          </a:xfrm>
          <a:prstGeom prst="rect">
            <a:avLst/>
          </a:prstGeom>
          <a:noFill/>
        </p:spPr>
        <p:txBody>
          <a:bodyPr wrap="square" rtlCol="0">
            <a:spAutoFit/>
          </a:bodyPr>
          <a:lstStyle/>
          <a:p>
            <a:r>
              <a:rPr lang="nl-NL" dirty="0" smtClean="0"/>
              <a:t>Woorden zijn </a:t>
            </a:r>
            <a:r>
              <a:rPr lang="nl-NL" b="1" dirty="0" smtClean="0"/>
              <a:t>tekens</a:t>
            </a:r>
            <a:r>
              <a:rPr lang="nl-NL" dirty="0" smtClean="0"/>
              <a:t> van begrippen </a:t>
            </a:r>
            <a:endParaRPr lang="nl-NL" dirty="0"/>
          </a:p>
        </p:txBody>
      </p:sp>
      <p:sp>
        <p:nvSpPr>
          <p:cNvPr id="27" name="TextBox 26"/>
          <p:cNvSpPr txBox="1"/>
          <p:nvPr/>
        </p:nvSpPr>
        <p:spPr>
          <a:xfrm>
            <a:off x="4644008" y="3131676"/>
            <a:ext cx="4104456" cy="369332"/>
          </a:xfrm>
          <a:prstGeom prst="rect">
            <a:avLst/>
          </a:prstGeom>
          <a:noFill/>
        </p:spPr>
        <p:txBody>
          <a:bodyPr wrap="square" rtlCol="0">
            <a:spAutoFit/>
          </a:bodyPr>
          <a:lstStyle/>
          <a:p>
            <a:r>
              <a:rPr lang="nl-NL" dirty="0" smtClean="0"/>
              <a:t>(Conventionele relatie; </a:t>
            </a:r>
            <a:r>
              <a:rPr lang="nl-NL" dirty="0" err="1" smtClean="0"/>
              <a:t>cultuur-bepaald</a:t>
            </a:r>
            <a:r>
              <a:rPr lang="nl-NL" dirty="0" smtClean="0"/>
              <a:t>)</a:t>
            </a:r>
            <a:endParaRPr lang="nl-NL" dirty="0"/>
          </a:p>
        </p:txBody>
      </p:sp>
      <p:sp>
        <p:nvSpPr>
          <p:cNvPr id="28" name="TextBox 27"/>
          <p:cNvSpPr txBox="1"/>
          <p:nvPr/>
        </p:nvSpPr>
        <p:spPr>
          <a:xfrm>
            <a:off x="1259632" y="4581128"/>
            <a:ext cx="3528392" cy="369332"/>
          </a:xfrm>
          <a:prstGeom prst="rect">
            <a:avLst/>
          </a:prstGeom>
          <a:noFill/>
        </p:spPr>
        <p:txBody>
          <a:bodyPr wrap="square" rtlCol="0">
            <a:spAutoFit/>
          </a:bodyPr>
          <a:lstStyle/>
          <a:p>
            <a:r>
              <a:rPr lang="nl-NL" dirty="0" smtClean="0"/>
              <a:t>Begrippen zijn </a:t>
            </a:r>
            <a:r>
              <a:rPr lang="nl-NL" b="1" dirty="0" smtClean="0"/>
              <a:t>beelden</a:t>
            </a:r>
            <a:r>
              <a:rPr lang="nl-NL" dirty="0" smtClean="0"/>
              <a:t> van dingen</a:t>
            </a:r>
            <a:endParaRPr lang="nl-NL" dirty="0"/>
          </a:p>
        </p:txBody>
      </p:sp>
      <p:sp>
        <p:nvSpPr>
          <p:cNvPr id="29" name="TextBox 28"/>
          <p:cNvSpPr txBox="1"/>
          <p:nvPr/>
        </p:nvSpPr>
        <p:spPr>
          <a:xfrm>
            <a:off x="4572000" y="4571836"/>
            <a:ext cx="4824536" cy="369332"/>
          </a:xfrm>
          <a:prstGeom prst="rect">
            <a:avLst/>
          </a:prstGeom>
          <a:noFill/>
        </p:spPr>
        <p:txBody>
          <a:bodyPr wrap="square" rtlCol="0">
            <a:spAutoFit/>
          </a:bodyPr>
          <a:lstStyle/>
          <a:p>
            <a:r>
              <a:rPr lang="nl-NL" dirty="0" smtClean="0"/>
              <a:t>(Natuurlijke relatie; </a:t>
            </a:r>
            <a:r>
              <a:rPr lang="nl-NL" dirty="0" err="1" smtClean="0"/>
              <a:t>universeel-menselijk</a:t>
            </a:r>
            <a:r>
              <a:rPr lang="nl-NL"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20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7">
                                            <p:txEl>
                                              <p:pRg st="0" end="0"/>
                                            </p:txEl>
                                          </p:spTgt>
                                        </p:tgtEl>
                                        <p:attrNameLst>
                                          <p:attrName>style.visibility</p:attrName>
                                        </p:attrNameLst>
                                      </p:cBhvr>
                                      <p:to>
                                        <p:strVal val="visible"/>
                                      </p:to>
                                    </p:set>
                                    <p:animEffect transition="in" filter="fade">
                                      <p:cBhvr>
                                        <p:cTn id="15" dur="2000"/>
                                        <p:tgtEl>
                                          <p:spTgt spid="2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2000"/>
                                        <p:tgtEl>
                                          <p:spTgt spid="2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2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9">
                                            <p:txEl>
                                              <p:pRg st="0" end="0"/>
                                            </p:txEl>
                                          </p:spTgt>
                                        </p:tgtEl>
                                        <p:attrNameLst>
                                          <p:attrName>style.visibility</p:attrName>
                                        </p:attrNameLst>
                                      </p:cBhvr>
                                      <p:to>
                                        <p:strVal val="visible"/>
                                      </p:to>
                                    </p:set>
                                    <p:animEffect transition="in" filter="fade">
                                      <p:cBhvr>
                                        <p:cTn id="28" dur="20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build="allAtOnce"/>
      <p:bldP spid="28" grpId="0"/>
      <p:bldP spid="29" grpId="0" build="allAtOnce"/>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Verband tussen de suppositietheorie en   het taalmodel van Aristoteles</a:t>
            </a:r>
            <a:endParaRPr lang="nl-NL" sz="3600" dirty="0"/>
          </a:p>
        </p:txBody>
      </p:sp>
      <p:sp>
        <p:nvSpPr>
          <p:cNvPr id="15" name="TextBox 14"/>
          <p:cNvSpPr txBox="1"/>
          <p:nvPr/>
        </p:nvSpPr>
        <p:spPr>
          <a:xfrm>
            <a:off x="395536" y="2276872"/>
            <a:ext cx="2520280" cy="646331"/>
          </a:xfrm>
          <a:prstGeom prst="rect">
            <a:avLst/>
          </a:prstGeom>
          <a:noFill/>
        </p:spPr>
        <p:txBody>
          <a:bodyPr wrap="square" rtlCol="0">
            <a:spAutoFit/>
          </a:bodyPr>
          <a:lstStyle/>
          <a:p>
            <a:r>
              <a:rPr lang="nl-NL" dirty="0" smtClean="0"/>
              <a:t>Het geschreven en gesproken </a:t>
            </a:r>
            <a:r>
              <a:rPr lang="nl-NL" i="1" dirty="0" smtClean="0"/>
              <a:t>woord</a:t>
            </a:r>
            <a:endParaRPr lang="nl-NL" i="1" dirty="0"/>
          </a:p>
        </p:txBody>
      </p:sp>
      <p:sp>
        <p:nvSpPr>
          <p:cNvPr id="16" name="TextBox 15"/>
          <p:cNvSpPr txBox="1"/>
          <p:nvPr/>
        </p:nvSpPr>
        <p:spPr>
          <a:xfrm>
            <a:off x="395536" y="3790781"/>
            <a:ext cx="2520280" cy="646331"/>
          </a:xfrm>
          <a:prstGeom prst="rect">
            <a:avLst/>
          </a:prstGeom>
          <a:noFill/>
        </p:spPr>
        <p:txBody>
          <a:bodyPr wrap="square" rtlCol="0">
            <a:spAutoFit/>
          </a:bodyPr>
          <a:lstStyle/>
          <a:p>
            <a:r>
              <a:rPr lang="nl-NL" dirty="0" smtClean="0"/>
              <a:t>Het </a:t>
            </a:r>
            <a:r>
              <a:rPr lang="nl-NL" i="1" dirty="0" smtClean="0"/>
              <a:t>begrip</a:t>
            </a:r>
            <a:r>
              <a:rPr lang="nl-NL" dirty="0" smtClean="0"/>
              <a:t> in het bewustzijn</a:t>
            </a:r>
            <a:endParaRPr lang="nl-NL" dirty="0"/>
          </a:p>
        </p:txBody>
      </p:sp>
      <p:sp>
        <p:nvSpPr>
          <p:cNvPr id="18" name="TextBox 17"/>
          <p:cNvSpPr txBox="1"/>
          <p:nvPr/>
        </p:nvSpPr>
        <p:spPr>
          <a:xfrm>
            <a:off x="395536" y="5291916"/>
            <a:ext cx="2520280" cy="369332"/>
          </a:xfrm>
          <a:prstGeom prst="rect">
            <a:avLst/>
          </a:prstGeom>
          <a:noFill/>
        </p:spPr>
        <p:txBody>
          <a:bodyPr wrap="square" rtlCol="0">
            <a:spAutoFit/>
          </a:bodyPr>
          <a:lstStyle/>
          <a:p>
            <a:r>
              <a:rPr lang="nl-NL" dirty="0" smtClean="0"/>
              <a:t>Het concrete </a:t>
            </a:r>
            <a:r>
              <a:rPr lang="nl-NL" i="1" dirty="0" smtClean="0"/>
              <a:t>ding</a:t>
            </a:r>
            <a:endParaRPr lang="nl-NL" i="1" dirty="0"/>
          </a:p>
        </p:txBody>
      </p:sp>
      <p:cxnSp>
        <p:nvCxnSpPr>
          <p:cNvPr id="20" name="Straight Connector 19"/>
          <p:cNvCxnSpPr/>
          <p:nvPr/>
        </p:nvCxnSpPr>
        <p:spPr>
          <a:xfrm>
            <a:off x="1187624" y="2996952"/>
            <a:ext cx="0" cy="7920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187624" y="4437112"/>
            <a:ext cx="0" cy="7920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3131840" y="2420888"/>
            <a:ext cx="3384376" cy="369332"/>
          </a:xfrm>
          <a:prstGeom prst="rect">
            <a:avLst/>
          </a:prstGeom>
          <a:noFill/>
        </p:spPr>
        <p:txBody>
          <a:bodyPr wrap="square" rtlCol="0">
            <a:spAutoFit/>
          </a:bodyPr>
          <a:lstStyle/>
          <a:p>
            <a:r>
              <a:rPr lang="nl-NL" dirty="0" err="1" smtClean="0"/>
              <a:t>Suppositio</a:t>
            </a:r>
            <a:r>
              <a:rPr lang="nl-NL" dirty="0" smtClean="0"/>
              <a:t> </a:t>
            </a:r>
            <a:r>
              <a:rPr lang="nl-NL" dirty="0" err="1" smtClean="0"/>
              <a:t>materialis</a:t>
            </a:r>
            <a:endParaRPr lang="nl-NL" dirty="0"/>
          </a:p>
        </p:txBody>
      </p:sp>
      <p:sp>
        <p:nvSpPr>
          <p:cNvPr id="13" name="TextBox 12"/>
          <p:cNvSpPr txBox="1"/>
          <p:nvPr/>
        </p:nvSpPr>
        <p:spPr>
          <a:xfrm>
            <a:off x="3131840" y="3789040"/>
            <a:ext cx="3384376" cy="369332"/>
          </a:xfrm>
          <a:prstGeom prst="rect">
            <a:avLst/>
          </a:prstGeom>
          <a:noFill/>
        </p:spPr>
        <p:txBody>
          <a:bodyPr wrap="square" rtlCol="0">
            <a:spAutoFit/>
          </a:bodyPr>
          <a:lstStyle/>
          <a:p>
            <a:r>
              <a:rPr lang="nl-NL" dirty="0" err="1" smtClean="0"/>
              <a:t>Suppositio</a:t>
            </a:r>
            <a:r>
              <a:rPr lang="nl-NL" dirty="0" smtClean="0"/>
              <a:t> simplex</a:t>
            </a:r>
            <a:endParaRPr lang="nl-NL" dirty="0"/>
          </a:p>
        </p:txBody>
      </p:sp>
      <p:sp>
        <p:nvSpPr>
          <p:cNvPr id="14" name="TextBox 13"/>
          <p:cNvSpPr txBox="1"/>
          <p:nvPr/>
        </p:nvSpPr>
        <p:spPr>
          <a:xfrm>
            <a:off x="3131840" y="5219908"/>
            <a:ext cx="3384376" cy="369332"/>
          </a:xfrm>
          <a:prstGeom prst="rect">
            <a:avLst/>
          </a:prstGeom>
          <a:noFill/>
        </p:spPr>
        <p:txBody>
          <a:bodyPr wrap="square" rtlCol="0">
            <a:spAutoFit/>
          </a:bodyPr>
          <a:lstStyle/>
          <a:p>
            <a:r>
              <a:rPr lang="nl-NL" dirty="0" err="1" smtClean="0"/>
              <a:t>Suppositio</a:t>
            </a:r>
            <a:r>
              <a:rPr lang="nl-NL" dirty="0" smtClean="0"/>
              <a:t> </a:t>
            </a:r>
            <a:r>
              <a:rPr lang="nl-NL" dirty="0" err="1" smtClean="0"/>
              <a:t>personalis</a:t>
            </a:r>
            <a:endParaRPr lang="nl-NL" dirty="0"/>
          </a:p>
        </p:txBody>
      </p:sp>
      <p:sp>
        <p:nvSpPr>
          <p:cNvPr id="17" name="Right Arrow 16"/>
          <p:cNvSpPr/>
          <p:nvPr/>
        </p:nvSpPr>
        <p:spPr>
          <a:xfrm>
            <a:off x="2627784" y="2564904"/>
            <a:ext cx="36004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ight Arrow 18"/>
          <p:cNvSpPr/>
          <p:nvPr/>
        </p:nvSpPr>
        <p:spPr>
          <a:xfrm>
            <a:off x="2627784" y="3933056"/>
            <a:ext cx="36004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ight Arrow 20"/>
          <p:cNvSpPr/>
          <p:nvPr/>
        </p:nvSpPr>
        <p:spPr>
          <a:xfrm>
            <a:off x="2627784" y="5373216"/>
            <a:ext cx="36004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TextBox 21"/>
          <p:cNvSpPr txBox="1"/>
          <p:nvPr/>
        </p:nvSpPr>
        <p:spPr>
          <a:xfrm>
            <a:off x="6804248" y="6300028"/>
            <a:ext cx="2664296" cy="369332"/>
          </a:xfrm>
          <a:prstGeom prst="rect">
            <a:avLst/>
          </a:prstGeom>
          <a:noFill/>
        </p:spPr>
        <p:txBody>
          <a:bodyPr wrap="square" rtlCol="0">
            <a:spAutoFit/>
          </a:bodyPr>
          <a:lstStyle/>
          <a:p>
            <a:r>
              <a:rPr lang="nl-NL" dirty="0" smtClean="0"/>
              <a:t>Willem van </a:t>
            </a:r>
            <a:r>
              <a:rPr lang="nl-NL" dirty="0" err="1" smtClean="0"/>
              <a:t>Ockham</a:t>
            </a:r>
            <a:endParaRPr lang="nl-NL" dirty="0"/>
          </a:p>
        </p:txBody>
      </p:sp>
      <p:sp>
        <p:nvSpPr>
          <p:cNvPr id="24" name="TextBox 23"/>
          <p:cNvSpPr txBox="1"/>
          <p:nvPr/>
        </p:nvSpPr>
        <p:spPr>
          <a:xfrm>
            <a:off x="6012160" y="2564904"/>
            <a:ext cx="2664296" cy="1200329"/>
          </a:xfrm>
          <a:prstGeom prst="rect">
            <a:avLst/>
          </a:prstGeom>
          <a:noFill/>
        </p:spPr>
        <p:txBody>
          <a:bodyPr wrap="square" rtlCol="0">
            <a:spAutoFit/>
          </a:bodyPr>
          <a:lstStyle/>
          <a:p>
            <a:r>
              <a:rPr lang="nl-NL" dirty="0" err="1" smtClean="0"/>
              <a:t>Ockham</a:t>
            </a:r>
            <a:r>
              <a:rPr lang="nl-NL" dirty="0" smtClean="0"/>
              <a:t> is </a:t>
            </a:r>
            <a:r>
              <a:rPr lang="nl-NL" b="1" dirty="0" smtClean="0"/>
              <a:t>nominalist</a:t>
            </a:r>
            <a:r>
              <a:rPr lang="nl-NL" dirty="0" smtClean="0"/>
              <a:t>. Een term in </a:t>
            </a:r>
            <a:r>
              <a:rPr lang="nl-NL" i="1" dirty="0" err="1" smtClean="0"/>
              <a:t>suppositio</a:t>
            </a:r>
            <a:r>
              <a:rPr lang="nl-NL" i="1" dirty="0" smtClean="0"/>
              <a:t> simplex </a:t>
            </a:r>
            <a:r>
              <a:rPr lang="nl-NL" dirty="0" smtClean="0"/>
              <a:t>staat slechts voor een mentaal concept.</a:t>
            </a:r>
            <a:endParaRPr lang="nl-NL" dirty="0"/>
          </a:p>
        </p:txBody>
      </p:sp>
      <p:sp>
        <p:nvSpPr>
          <p:cNvPr id="25" name="TextBox 24"/>
          <p:cNvSpPr txBox="1"/>
          <p:nvPr/>
        </p:nvSpPr>
        <p:spPr>
          <a:xfrm>
            <a:off x="6012160" y="3812847"/>
            <a:ext cx="2952328" cy="1477328"/>
          </a:xfrm>
          <a:prstGeom prst="rect">
            <a:avLst/>
          </a:prstGeom>
          <a:noFill/>
        </p:spPr>
        <p:txBody>
          <a:bodyPr wrap="square" rtlCol="0">
            <a:spAutoFit/>
          </a:bodyPr>
          <a:lstStyle/>
          <a:p>
            <a:r>
              <a:rPr lang="nl-NL" b="1" dirty="0" smtClean="0"/>
              <a:t>Realisten</a:t>
            </a:r>
            <a:r>
              <a:rPr lang="nl-NL" dirty="0" smtClean="0"/>
              <a:t> menen echter dat een term </a:t>
            </a:r>
            <a:r>
              <a:rPr lang="nl-NL" i="1" dirty="0" smtClean="0"/>
              <a:t>in </a:t>
            </a:r>
            <a:r>
              <a:rPr lang="nl-NL" i="1" dirty="0" err="1" smtClean="0"/>
              <a:t>suppositio</a:t>
            </a:r>
            <a:r>
              <a:rPr lang="nl-NL" i="1" dirty="0" smtClean="0"/>
              <a:t> simplex</a:t>
            </a:r>
            <a:r>
              <a:rPr lang="nl-NL" dirty="0" smtClean="0"/>
              <a:t> primair staat voor de zich </a:t>
            </a:r>
            <a:r>
              <a:rPr lang="nl-NL" u="sng" dirty="0" smtClean="0"/>
              <a:t>in de dingen</a:t>
            </a:r>
            <a:r>
              <a:rPr lang="nl-NL" dirty="0" smtClean="0"/>
              <a:t> bevindende ‘essentie’ van de dingen.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20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allAtOnce"/>
      <p:bldP spid="25" grpId="0" build="allAtOnce"/>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752"/>
            <a:ext cx="8363272" cy="1143000"/>
          </a:xfrm>
        </p:spPr>
        <p:txBody>
          <a:bodyPr>
            <a:noAutofit/>
          </a:bodyPr>
          <a:lstStyle/>
          <a:p>
            <a:r>
              <a:rPr lang="nl-NL" sz="3600" dirty="0" smtClean="0"/>
              <a:t>De suppositietheorie van </a:t>
            </a:r>
            <a:r>
              <a:rPr lang="nl-NL" sz="3600" dirty="0" err="1" smtClean="0"/>
              <a:t>Ockham</a:t>
            </a:r>
            <a:endParaRPr lang="nl-NL" sz="3600" dirty="0"/>
          </a:p>
        </p:txBody>
      </p:sp>
      <p:sp>
        <p:nvSpPr>
          <p:cNvPr id="26" name="TextBox 25"/>
          <p:cNvSpPr txBox="1"/>
          <p:nvPr/>
        </p:nvSpPr>
        <p:spPr>
          <a:xfrm>
            <a:off x="539552" y="1331476"/>
            <a:ext cx="3240360" cy="369332"/>
          </a:xfrm>
          <a:prstGeom prst="rect">
            <a:avLst/>
          </a:prstGeom>
          <a:noFill/>
        </p:spPr>
        <p:txBody>
          <a:bodyPr wrap="square" rtlCol="0">
            <a:spAutoFit/>
          </a:bodyPr>
          <a:lstStyle/>
          <a:p>
            <a:r>
              <a:rPr lang="nl-NL" dirty="0" err="1" smtClean="0"/>
              <a:t>Suppositio</a:t>
            </a:r>
            <a:endParaRPr lang="nl-NL" dirty="0"/>
          </a:p>
        </p:txBody>
      </p:sp>
      <p:cxnSp>
        <p:nvCxnSpPr>
          <p:cNvPr id="28" name="Straight Connector 27"/>
          <p:cNvCxnSpPr/>
          <p:nvPr/>
        </p:nvCxnSpPr>
        <p:spPr>
          <a:xfrm>
            <a:off x="1043608" y="1772816"/>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043608" y="2420888"/>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195736" y="2204864"/>
            <a:ext cx="2376264" cy="369332"/>
          </a:xfrm>
          <a:prstGeom prst="rect">
            <a:avLst/>
          </a:prstGeom>
          <a:noFill/>
        </p:spPr>
        <p:txBody>
          <a:bodyPr wrap="square" rtlCol="0">
            <a:spAutoFit/>
          </a:bodyPr>
          <a:lstStyle/>
          <a:p>
            <a:r>
              <a:rPr lang="nl-NL" dirty="0" smtClean="0"/>
              <a:t>1. </a:t>
            </a:r>
            <a:r>
              <a:rPr lang="nl-NL" dirty="0" err="1" smtClean="0"/>
              <a:t>Suppositio</a:t>
            </a:r>
            <a:r>
              <a:rPr lang="nl-NL" dirty="0" smtClean="0"/>
              <a:t> </a:t>
            </a:r>
            <a:r>
              <a:rPr lang="nl-NL" dirty="0" err="1" smtClean="0"/>
              <a:t>materialis</a:t>
            </a:r>
            <a:endParaRPr lang="nl-NL" dirty="0"/>
          </a:p>
        </p:txBody>
      </p:sp>
      <p:sp>
        <p:nvSpPr>
          <p:cNvPr id="32" name="TextBox 31"/>
          <p:cNvSpPr txBox="1"/>
          <p:nvPr/>
        </p:nvSpPr>
        <p:spPr>
          <a:xfrm>
            <a:off x="5076056" y="2195572"/>
            <a:ext cx="3888432" cy="369332"/>
          </a:xfrm>
          <a:prstGeom prst="rect">
            <a:avLst/>
          </a:prstGeom>
          <a:noFill/>
        </p:spPr>
        <p:txBody>
          <a:bodyPr wrap="square" rtlCol="0">
            <a:spAutoFit/>
          </a:bodyPr>
          <a:lstStyle/>
          <a:p>
            <a:r>
              <a:rPr lang="nl-NL" u="sng" dirty="0" smtClean="0"/>
              <a:t>Mens</a:t>
            </a:r>
            <a:r>
              <a:rPr lang="nl-NL" dirty="0" smtClean="0"/>
              <a:t> is een zelfstandig naamwoord</a:t>
            </a:r>
            <a:endParaRPr lang="nl-NL" dirty="0"/>
          </a:p>
        </p:txBody>
      </p:sp>
      <p:cxnSp>
        <p:nvCxnSpPr>
          <p:cNvPr id="34" name="Straight Connector 33"/>
          <p:cNvCxnSpPr/>
          <p:nvPr/>
        </p:nvCxnSpPr>
        <p:spPr>
          <a:xfrm>
            <a:off x="1043608" y="2636912"/>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043608" y="3429000"/>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195736" y="3212976"/>
            <a:ext cx="2232248" cy="369332"/>
          </a:xfrm>
          <a:prstGeom prst="rect">
            <a:avLst/>
          </a:prstGeom>
          <a:noFill/>
        </p:spPr>
        <p:txBody>
          <a:bodyPr wrap="square" rtlCol="0">
            <a:spAutoFit/>
          </a:bodyPr>
          <a:lstStyle/>
          <a:p>
            <a:r>
              <a:rPr lang="nl-NL" dirty="0" smtClean="0"/>
              <a:t>2. </a:t>
            </a:r>
            <a:r>
              <a:rPr lang="nl-NL" dirty="0" err="1" smtClean="0"/>
              <a:t>Suppositio</a:t>
            </a:r>
            <a:r>
              <a:rPr lang="nl-NL" dirty="0" smtClean="0"/>
              <a:t> simplex</a:t>
            </a:r>
            <a:endParaRPr lang="nl-NL" dirty="0"/>
          </a:p>
        </p:txBody>
      </p:sp>
      <p:sp>
        <p:nvSpPr>
          <p:cNvPr id="38" name="TextBox 37"/>
          <p:cNvSpPr txBox="1"/>
          <p:nvPr/>
        </p:nvSpPr>
        <p:spPr>
          <a:xfrm>
            <a:off x="5076056" y="3140968"/>
            <a:ext cx="2592288" cy="369332"/>
          </a:xfrm>
          <a:prstGeom prst="rect">
            <a:avLst/>
          </a:prstGeom>
          <a:noFill/>
        </p:spPr>
        <p:txBody>
          <a:bodyPr wrap="square" rtlCol="0">
            <a:spAutoFit/>
          </a:bodyPr>
          <a:lstStyle/>
          <a:p>
            <a:r>
              <a:rPr lang="nl-NL" u="sng" dirty="0" smtClean="0"/>
              <a:t>Mens</a:t>
            </a:r>
            <a:r>
              <a:rPr lang="nl-NL" dirty="0" smtClean="0"/>
              <a:t> is een soort</a:t>
            </a:r>
            <a:endParaRPr lang="nl-NL" dirty="0"/>
          </a:p>
        </p:txBody>
      </p:sp>
      <p:cxnSp>
        <p:nvCxnSpPr>
          <p:cNvPr id="41" name="Straight Connector 40"/>
          <p:cNvCxnSpPr/>
          <p:nvPr/>
        </p:nvCxnSpPr>
        <p:spPr>
          <a:xfrm>
            <a:off x="1043608" y="364502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1043608" y="4437112"/>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2195736" y="4221088"/>
            <a:ext cx="2520280" cy="369332"/>
          </a:xfrm>
          <a:prstGeom prst="rect">
            <a:avLst/>
          </a:prstGeom>
          <a:noFill/>
        </p:spPr>
        <p:txBody>
          <a:bodyPr wrap="square" rtlCol="0">
            <a:spAutoFit/>
          </a:bodyPr>
          <a:lstStyle/>
          <a:p>
            <a:r>
              <a:rPr lang="nl-NL" dirty="0" smtClean="0"/>
              <a:t>3. </a:t>
            </a:r>
            <a:r>
              <a:rPr lang="nl-NL" dirty="0" err="1" smtClean="0"/>
              <a:t>Suppositio</a:t>
            </a:r>
            <a:r>
              <a:rPr lang="nl-NL" dirty="0" smtClean="0"/>
              <a:t> </a:t>
            </a:r>
            <a:r>
              <a:rPr lang="nl-NL" dirty="0" err="1" smtClean="0"/>
              <a:t>personalis</a:t>
            </a:r>
            <a:endParaRPr lang="nl-NL" dirty="0"/>
          </a:p>
        </p:txBody>
      </p:sp>
      <p:cxnSp>
        <p:nvCxnSpPr>
          <p:cNvPr id="44" name="Straight Connector 43"/>
          <p:cNvCxnSpPr/>
          <p:nvPr/>
        </p:nvCxnSpPr>
        <p:spPr>
          <a:xfrm>
            <a:off x="3131840" y="4725144"/>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3131840" y="5517232"/>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4283968" y="5291916"/>
            <a:ext cx="2160240" cy="369332"/>
          </a:xfrm>
          <a:prstGeom prst="rect">
            <a:avLst/>
          </a:prstGeom>
          <a:noFill/>
        </p:spPr>
        <p:txBody>
          <a:bodyPr wrap="square" rtlCol="0">
            <a:spAutoFit/>
          </a:bodyPr>
          <a:lstStyle/>
          <a:p>
            <a:r>
              <a:rPr lang="nl-NL" dirty="0" err="1" smtClean="0"/>
              <a:t>Suppositio</a:t>
            </a:r>
            <a:r>
              <a:rPr lang="nl-NL" dirty="0" smtClean="0"/>
              <a:t> </a:t>
            </a:r>
            <a:r>
              <a:rPr lang="nl-NL" dirty="0" err="1" smtClean="0"/>
              <a:t>discreta</a:t>
            </a:r>
            <a:endParaRPr lang="nl-NL" dirty="0"/>
          </a:p>
        </p:txBody>
      </p:sp>
      <p:cxnSp>
        <p:nvCxnSpPr>
          <p:cNvPr id="47" name="Straight Connector 46"/>
          <p:cNvCxnSpPr/>
          <p:nvPr/>
        </p:nvCxnSpPr>
        <p:spPr>
          <a:xfrm>
            <a:off x="3131840" y="5661248"/>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131840" y="6453336"/>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4283968" y="6165304"/>
            <a:ext cx="2304256" cy="369332"/>
          </a:xfrm>
          <a:prstGeom prst="rect">
            <a:avLst/>
          </a:prstGeom>
          <a:noFill/>
        </p:spPr>
        <p:txBody>
          <a:bodyPr wrap="square" rtlCol="0">
            <a:spAutoFit/>
          </a:bodyPr>
          <a:lstStyle/>
          <a:p>
            <a:r>
              <a:rPr lang="nl-NL" dirty="0" err="1" smtClean="0"/>
              <a:t>Suppositio</a:t>
            </a:r>
            <a:r>
              <a:rPr lang="nl-NL" dirty="0" smtClean="0"/>
              <a:t> communis</a:t>
            </a:r>
            <a:endParaRPr lang="nl-NL" dirty="0"/>
          </a:p>
        </p:txBody>
      </p:sp>
      <p:sp>
        <p:nvSpPr>
          <p:cNvPr id="50" name="TextBox 49"/>
          <p:cNvSpPr txBox="1"/>
          <p:nvPr/>
        </p:nvSpPr>
        <p:spPr>
          <a:xfrm>
            <a:off x="6660232" y="5229200"/>
            <a:ext cx="2592288" cy="369332"/>
          </a:xfrm>
          <a:prstGeom prst="rect">
            <a:avLst/>
          </a:prstGeom>
          <a:noFill/>
        </p:spPr>
        <p:txBody>
          <a:bodyPr wrap="square" rtlCol="0">
            <a:spAutoFit/>
          </a:bodyPr>
          <a:lstStyle/>
          <a:p>
            <a:r>
              <a:rPr lang="nl-NL" u="sng" dirty="0" err="1" smtClean="0"/>
              <a:t>Socrates</a:t>
            </a:r>
            <a:r>
              <a:rPr lang="nl-NL" dirty="0" smtClean="0"/>
              <a:t> is een Griek</a:t>
            </a:r>
            <a:endParaRPr lang="nl-NL" dirty="0"/>
          </a:p>
        </p:txBody>
      </p:sp>
      <p:sp>
        <p:nvSpPr>
          <p:cNvPr id="51" name="TextBox 50"/>
          <p:cNvSpPr txBox="1"/>
          <p:nvPr/>
        </p:nvSpPr>
        <p:spPr>
          <a:xfrm>
            <a:off x="6660232" y="6021288"/>
            <a:ext cx="2592288" cy="646331"/>
          </a:xfrm>
          <a:prstGeom prst="rect">
            <a:avLst/>
          </a:prstGeom>
          <a:noFill/>
        </p:spPr>
        <p:txBody>
          <a:bodyPr wrap="square" rtlCol="0">
            <a:spAutoFit/>
          </a:bodyPr>
          <a:lstStyle/>
          <a:p>
            <a:r>
              <a:rPr lang="nl-NL" i="1" dirty="0" smtClean="0"/>
              <a:t>Algemene in plaats van individuele termen</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20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000"/>
                                        <p:tgtEl>
                                          <p:spTgt spid="28"/>
                                        </p:tgtEl>
                                      </p:cBhvr>
                                    </p:animEffect>
                                  </p:childTnLst>
                                </p:cTn>
                              </p:par>
                              <p:par>
                                <p:cTn id="13" presetID="10"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2000"/>
                                        <p:tgtEl>
                                          <p:spTgt spid="3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20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animEffect transition="in" filter="fade">
                                      <p:cBhvr>
                                        <p:cTn id="23" dur="2000"/>
                                        <p:tgtEl>
                                          <p:spTgt spid="3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20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20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2000"/>
                                        <p:tgtEl>
                                          <p:spTgt spid="3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8">
                                            <p:txEl>
                                              <p:pRg st="0" end="0"/>
                                            </p:txEl>
                                          </p:spTgt>
                                        </p:tgtEl>
                                        <p:attrNameLst>
                                          <p:attrName>style.visibility</p:attrName>
                                        </p:attrNameLst>
                                      </p:cBhvr>
                                      <p:to>
                                        <p:strVal val="visible"/>
                                      </p:to>
                                    </p:set>
                                    <p:animEffect transition="in" filter="fade">
                                      <p:cBhvr>
                                        <p:cTn id="39" dur="2000"/>
                                        <p:tgtEl>
                                          <p:spTgt spid="38">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2000"/>
                                        <p:tgtEl>
                                          <p:spTgt spid="41"/>
                                        </p:tgtEl>
                                      </p:cBhvr>
                                    </p:animEffect>
                                  </p:childTnLst>
                                </p:cTn>
                              </p:par>
                              <p:par>
                                <p:cTn id="45" presetID="10"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2000"/>
                                        <p:tgtEl>
                                          <p:spTgt spid="4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2000"/>
                                        <p:tgtEl>
                                          <p:spTgt spid="4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2000"/>
                                        <p:tgtEl>
                                          <p:spTgt spid="44"/>
                                        </p:tgtEl>
                                      </p:cBhvr>
                                    </p:animEffect>
                                  </p:childTnLst>
                                </p:cTn>
                              </p:par>
                              <p:par>
                                <p:cTn id="56" presetID="10" presetClass="entr" presetSubtype="0" fill="hold" nodeType="with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2000"/>
                                        <p:tgtEl>
                                          <p:spTgt spid="4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2000"/>
                                        <p:tgtEl>
                                          <p:spTgt spid="46"/>
                                        </p:tgtEl>
                                      </p:cBhvr>
                                    </p:animEffect>
                                  </p:childTnLst>
                                </p:cTn>
                              </p:par>
                              <p:par>
                                <p:cTn id="62" presetID="10" presetClass="entr" presetSubtype="0" fill="hold" nodeType="withEffect">
                                  <p:stCondLst>
                                    <p:cond delay="0"/>
                                  </p:stCondLst>
                                  <p:childTnLst>
                                    <p:set>
                                      <p:cBhvr>
                                        <p:cTn id="63" dur="1" fill="hold">
                                          <p:stCondLst>
                                            <p:cond delay="0"/>
                                          </p:stCondLst>
                                        </p:cTn>
                                        <p:tgtEl>
                                          <p:spTgt spid="47"/>
                                        </p:tgtEl>
                                        <p:attrNameLst>
                                          <p:attrName>style.visibility</p:attrName>
                                        </p:attrNameLst>
                                      </p:cBhvr>
                                      <p:to>
                                        <p:strVal val="visible"/>
                                      </p:to>
                                    </p:set>
                                    <p:animEffect transition="in" filter="fade">
                                      <p:cBhvr>
                                        <p:cTn id="64" dur="2000"/>
                                        <p:tgtEl>
                                          <p:spTgt spid="47"/>
                                        </p:tgtEl>
                                      </p:cBhvr>
                                    </p:animEffect>
                                  </p:childTnLst>
                                </p:cTn>
                              </p:par>
                              <p:par>
                                <p:cTn id="65" presetID="10" presetClass="entr" presetSubtype="0" fill="hold" nodeType="withEffect">
                                  <p:stCondLst>
                                    <p:cond delay="0"/>
                                  </p:stCondLst>
                                  <p:childTnLst>
                                    <p:set>
                                      <p:cBhvr>
                                        <p:cTn id="66" dur="1" fill="hold">
                                          <p:stCondLst>
                                            <p:cond delay="0"/>
                                          </p:stCondLst>
                                        </p:cTn>
                                        <p:tgtEl>
                                          <p:spTgt spid="48"/>
                                        </p:tgtEl>
                                        <p:attrNameLst>
                                          <p:attrName>style.visibility</p:attrName>
                                        </p:attrNameLst>
                                      </p:cBhvr>
                                      <p:to>
                                        <p:strVal val="visible"/>
                                      </p:to>
                                    </p:set>
                                    <p:animEffect transition="in" filter="fade">
                                      <p:cBhvr>
                                        <p:cTn id="67" dur="2000"/>
                                        <p:tgtEl>
                                          <p:spTgt spid="4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9"/>
                                        </p:tgtEl>
                                        <p:attrNameLst>
                                          <p:attrName>style.visibility</p:attrName>
                                        </p:attrNameLst>
                                      </p:cBhvr>
                                      <p:to>
                                        <p:strVal val="visible"/>
                                      </p:to>
                                    </p:set>
                                    <p:animEffect transition="in" filter="fade">
                                      <p:cBhvr>
                                        <p:cTn id="70" dur="2000"/>
                                        <p:tgtEl>
                                          <p:spTgt spid="49"/>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50">
                                            <p:txEl>
                                              <p:pRg st="0" end="0"/>
                                            </p:txEl>
                                          </p:spTgt>
                                        </p:tgtEl>
                                        <p:attrNameLst>
                                          <p:attrName>style.visibility</p:attrName>
                                        </p:attrNameLst>
                                      </p:cBhvr>
                                      <p:to>
                                        <p:strVal val="visible"/>
                                      </p:to>
                                    </p:set>
                                    <p:animEffect transition="in" filter="fade">
                                      <p:cBhvr>
                                        <p:cTn id="75" dur="2000"/>
                                        <p:tgtEl>
                                          <p:spTgt spid="50">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51">
                                            <p:txEl>
                                              <p:pRg st="0" end="0"/>
                                            </p:txEl>
                                          </p:spTgt>
                                        </p:tgtEl>
                                        <p:attrNameLst>
                                          <p:attrName>style.visibility</p:attrName>
                                        </p:attrNameLst>
                                      </p:cBhvr>
                                      <p:to>
                                        <p:strVal val="visible"/>
                                      </p:to>
                                    </p:set>
                                    <p:animEffect transition="in" filter="fade">
                                      <p:cBhvr>
                                        <p:cTn id="80" dur="20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allAtOnce"/>
      <p:bldP spid="31" grpId="0"/>
      <p:bldP spid="32" grpId="0" build="allAtOnce"/>
      <p:bldP spid="37" grpId="0"/>
      <p:bldP spid="38" grpId="0" build="allAtOnce"/>
      <p:bldP spid="43" grpId="0"/>
      <p:bldP spid="46" grpId="0"/>
      <p:bldP spid="49" grpId="0"/>
      <p:bldP spid="50" grpId="0" build="allAtOnce"/>
      <p:bldP spid="51" grpId="0" build="allAtOnce"/>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752"/>
            <a:ext cx="8363272" cy="1143000"/>
          </a:xfrm>
        </p:spPr>
        <p:txBody>
          <a:bodyPr>
            <a:noAutofit/>
          </a:bodyPr>
          <a:lstStyle/>
          <a:p>
            <a:r>
              <a:rPr lang="nl-NL" sz="3600" dirty="0" smtClean="0"/>
              <a:t>De suppositietheorie van </a:t>
            </a:r>
            <a:r>
              <a:rPr lang="nl-NL" sz="3600" dirty="0" err="1" smtClean="0"/>
              <a:t>Ockham</a:t>
            </a:r>
            <a:endParaRPr lang="nl-NL" sz="3600" dirty="0"/>
          </a:p>
        </p:txBody>
      </p:sp>
      <p:sp>
        <p:nvSpPr>
          <p:cNvPr id="26" name="TextBox 25"/>
          <p:cNvSpPr txBox="1"/>
          <p:nvPr/>
        </p:nvSpPr>
        <p:spPr>
          <a:xfrm>
            <a:off x="611560" y="1331476"/>
            <a:ext cx="3240360" cy="369332"/>
          </a:xfrm>
          <a:prstGeom prst="rect">
            <a:avLst/>
          </a:prstGeom>
          <a:noFill/>
        </p:spPr>
        <p:txBody>
          <a:bodyPr wrap="square" rtlCol="0">
            <a:spAutoFit/>
          </a:bodyPr>
          <a:lstStyle/>
          <a:p>
            <a:r>
              <a:rPr lang="nl-NL" dirty="0" err="1" smtClean="0"/>
              <a:t>Suppositio</a:t>
            </a:r>
            <a:r>
              <a:rPr lang="nl-NL" dirty="0" smtClean="0"/>
              <a:t> communis</a:t>
            </a:r>
            <a:endParaRPr lang="nl-NL" dirty="0"/>
          </a:p>
        </p:txBody>
      </p:sp>
      <p:cxnSp>
        <p:nvCxnSpPr>
          <p:cNvPr id="28" name="Straight Connector 27"/>
          <p:cNvCxnSpPr/>
          <p:nvPr/>
        </p:nvCxnSpPr>
        <p:spPr>
          <a:xfrm>
            <a:off x="1115616" y="1772816"/>
            <a:ext cx="0" cy="6480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115616" y="2420888"/>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267744" y="2204864"/>
            <a:ext cx="2736304" cy="369332"/>
          </a:xfrm>
          <a:prstGeom prst="rect">
            <a:avLst/>
          </a:prstGeom>
          <a:noFill/>
        </p:spPr>
        <p:txBody>
          <a:bodyPr wrap="square" rtlCol="0">
            <a:spAutoFit/>
          </a:bodyPr>
          <a:lstStyle/>
          <a:p>
            <a:r>
              <a:rPr lang="nl-NL" dirty="0" err="1" smtClean="0"/>
              <a:t>Suppositio</a:t>
            </a:r>
            <a:r>
              <a:rPr lang="nl-NL" dirty="0" smtClean="0"/>
              <a:t> </a:t>
            </a:r>
            <a:r>
              <a:rPr lang="nl-NL" dirty="0" err="1" smtClean="0"/>
              <a:t>determinata</a:t>
            </a:r>
            <a:endParaRPr lang="nl-NL" dirty="0"/>
          </a:p>
        </p:txBody>
      </p:sp>
      <p:sp>
        <p:nvSpPr>
          <p:cNvPr id="37" name="TextBox 36"/>
          <p:cNvSpPr txBox="1"/>
          <p:nvPr/>
        </p:nvSpPr>
        <p:spPr>
          <a:xfrm>
            <a:off x="2267744" y="3429000"/>
            <a:ext cx="2232248" cy="369332"/>
          </a:xfrm>
          <a:prstGeom prst="rect">
            <a:avLst/>
          </a:prstGeom>
          <a:noFill/>
        </p:spPr>
        <p:txBody>
          <a:bodyPr wrap="square" rtlCol="0">
            <a:spAutoFit/>
          </a:bodyPr>
          <a:lstStyle/>
          <a:p>
            <a:r>
              <a:rPr lang="nl-NL" dirty="0" err="1" smtClean="0"/>
              <a:t>Suppositio</a:t>
            </a:r>
            <a:r>
              <a:rPr lang="nl-NL" dirty="0" smtClean="0"/>
              <a:t> </a:t>
            </a:r>
            <a:r>
              <a:rPr lang="nl-NL" dirty="0" err="1" smtClean="0"/>
              <a:t>confusa</a:t>
            </a:r>
            <a:endParaRPr lang="nl-NL" dirty="0"/>
          </a:p>
        </p:txBody>
      </p:sp>
      <p:cxnSp>
        <p:nvCxnSpPr>
          <p:cNvPr id="23" name="Straight Connector 22"/>
          <p:cNvCxnSpPr/>
          <p:nvPr/>
        </p:nvCxnSpPr>
        <p:spPr>
          <a:xfrm>
            <a:off x="1115616" y="2852936"/>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115616" y="3645024"/>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347864" y="3933056"/>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3347864" y="4725144"/>
            <a:ext cx="10801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3347864" y="4869160"/>
            <a:ext cx="0" cy="7920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3347864" y="5661248"/>
            <a:ext cx="1080120"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4499992" y="4499828"/>
            <a:ext cx="2808312" cy="369332"/>
          </a:xfrm>
          <a:prstGeom prst="rect">
            <a:avLst/>
          </a:prstGeom>
          <a:noFill/>
        </p:spPr>
        <p:txBody>
          <a:bodyPr wrap="square" rtlCol="0">
            <a:spAutoFit/>
          </a:bodyPr>
          <a:lstStyle/>
          <a:p>
            <a:r>
              <a:rPr lang="nl-NL" dirty="0" err="1" smtClean="0"/>
              <a:t>Suppositio</a:t>
            </a:r>
            <a:r>
              <a:rPr lang="nl-NL" dirty="0" smtClean="0"/>
              <a:t> </a:t>
            </a:r>
            <a:r>
              <a:rPr lang="nl-NL" dirty="0" err="1" smtClean="0"/>
              <a:t>confusa</a:t>
            </a:r>
            <a:r>
              <a:rPr lang="nl-NL" dirty="0" smtClean="0"/>
              <a:t> tantum</a:t>
            </a:r>
            <a:endParaRPr lang="nl-NL" dirty="0"/>
          </a:p>
        </p:txBody>
      </p:sp>
      <p:sp>
        <p:nvSpPr>
          <p:cNvPr id="39" name="TextBox 38"/>
          <p:cNvSpPr txBox="1"/>
          <p:nvPr/>
        </p:nvSpPr>
        <p:spPr>
          <a:xfrm>
            <a:off x="4499992" y="5373216"/>
            <a:ext cx="3528392" cy="369332"/>
          </a:xfrm>
          <a:prstGeom prst="rect">
            <a:avLst/>
          </a:prstGeom>
          <a:noFill/>
        </p:spPr>
        <p:txBody>
          <a:bodyPr wrap="square" rtlCol="0">
            <a:spAutoFit/>
          </a:bodyPr>
          <a:lstStyle/>
          <a:p>
            <a:r>
              <a:rPr lang="nl-NL" dirty="0" err="1" smtClean="0"/>
              <a:t>Suppositio</a:t>
            </a:r>
            <a:r>
              <a:rPr lang="nl-NL" dirty="0" smtClean="0"/>
              <a:t> </a:t>
            </a:r>
            <a:r>
              <a:rPr lang="nl-NL" dirty="0" err="1" smtClean="0"/>
              <a:t>confusa</a:t>
            </a:r>
            <a:r>
              <a:rPr lang="nl-NL" dirty="0" smtClean="0"/>
              <a:t> et </a:t>
            </a:r>
            <a:r>
              <a:rPr lang="nl-NL" dirty="0" err="1" smtClean="0"/>
              <a:t>distributiva</a:t>
            </a:r>
            <a:endParaRPr lang="nl-NL" dirty="0"/>
          </a:p>
        </p:txBody>
      </p:sp>
      <p:sp>
        <p:nvSpPr>
          <p:cNvPr id="40" name="TextBox 39"/>
          <p:cNvSpPr txBox="1"/>
          <p:nvPr/>
        </p:nvSpPr>
        <p:spPr>
          <a:xfrm>
            <a:off x="5076056" y="1700808"/>
            <a:ext cx="3240360" cy="923330"/>
          </a:xfrm>
          <a:prstGeom prst="rect">
            <a:avLst/>
          </a:prstGeom>
          <a:noFill/>
        </p:spPr>
        <p:txBody>
          <a:bodyPr wrap="square" rtlCol="0">
            <a:spAutoFit/>
          </a:bodyPr>
          <a:lstStyle/>
          <a:p>
            <a:r>
              <a:rPr lang="nl-NL" dirty="0" smtClean="0"/>
              <a:t>Sommige </a:t>
            </a:r>
            <a:r>
              <a:rPr lang="nl-NL" u="sng" dirty="0" smtClean="0"/>
              <a:t>mensen</a:t>
            </a:r>
            <a:r>
              <a:rPr lang="nl-NL" dirty="0" smtClean="0"/>
              <a:t> zijn blind</a:t>
            </a:r>
          </a:p>
          <a:p>
            <a:r>
              <a:rPr lang="nl-NL" dirty="0" smtClean="0"/>
              <a:t>Sommige </a:t>
            </a:r>
            <a:r>
              <a:rPr lang="nl-NL" u="sng" dirty="0" smtClean="0"/>
              <a:t>mensen</a:t>
            </a:r>
            <a:r>
              <a:rPr lang="nl-NL" dirty="0" smtClean="0"/>
              <a:t> zijn niet blind</a:t>
            </a:r>
          </a:p>
          <a:p>
            <a:r>
              <a:rPr lang="nl-NL" dirty="0" smtClean="0"/>
              <a:t>Sommige mensen zijn </a:t>
            </a:r>
            <a:r>
              <a:rPr lang="nl-NL" u="sng" dirty="0" smtClean="0"/>
              <a:t>blind</a:t>
            </a:r>
            <a:endParaRPr lang="nl-NL" u="sng" dirty="0"/>
          </a:p>
        </p:txBody>
      </p:sp>
      <p:sp>
        <p:nvSpPr>
          <p:cNvPr id="53" name="TextBox 52"/>
          <p:cNvSpPr txBox="1"/>
          <p:nvPr/>
        </p:nvSpPr>
        <p:spPr>
          <a:xfrm>
            <a:off x="5076056" y="2708920"/>
            <a:ext cx="3888432" cy="646331"/>
          </a:xfrm>
          <a:prstGeom prst="rect">
            <a:avLst/>
          </a:prstGeom>
          <a:noFill/>
        </p:spPr>
        <p:txBody>
          <a:bodyPr wrap="square" rtlCol="0">
            <a:spAutoFit/>
          </a:bodyPr>
          <a:lstStyle/>
          <a:p>
            <a:r>
              <a:rPr lang="nl-NL" i="1" dirty="0" smtClean="0"/>
              <a:t>Steeds is een </a:t>
            </a:r>
            <a:r>
              <a:rPr lang="nl-NL" i="1" dirty="0" smtClean="0">
                <a:solidFill>
                  <a:srgbClr val="C00000"/>
                </a:solidFill>
              </a:rPr>
              <a:t>disjunctie van singuliere proposities</a:t>
            </a:r>
            <a:r>
              <a:rPr lang="nl-NL" i="1" dirty="0" smtClean="0">
                <a:solidFill>
                  <a:srgbClr val="0070C0"/>
                </a:solidFill>
              </a:rPr>
              <a:t> </a:t>
            </a:r>
            <a:r>
              <a:rPr lang="nl-NL" i="1" dirty="0" smtClean="0"/>
              <a:t>determineerbaar. Welke?</a:t>
            </a:r>
            <a:endParaRPr lang="nl-NL" i="1" dirty="0"/>
          </a:p>
        </p:txBody>
      </p:sp>
      <p:sp>
        <p:nvSpPr>
          <p:cNvPr id="55" name="TextBox 54"/>
          <p:cNvSpPr txBox="1"/>
          <p:nvPr/>
        </p:nvSpPr>
        <p:spPr>
          <a:xfrm>
            <a:off x="7596336" y="4509120"/>
            <a:ext cx="1296144" cy="369332"/>
          </a:xfrm>
          <a:prstGeom prst="rect">
            <a:avLst/>
          </a:prstGeom>
          <a:noFill/>
        </p:spPr>
        <p:txBody>
          <a:bodyPr wrap="square" rtlCol="0">
            <a:spAutoFit/>
          </a:bodyPr>
          <a:lstStyle/>
          <a:p>
            <a:r>
              <a:rPr lang="nl-NL" dirty="0" smtClean="0"/>
              <a:t>Alle </a:t>
            </a:r>
            <a:r>
              <a:rPr lang="nl-NL" i="1" dirty="0" smtClean="0"/>
              <a:t>S</a:t>
            </a:r>
            <a:r>
              <a:rPr lang="nl-NL" dirty="0" smtClean="0"/>
              <a:t> zijn </a:t>
            </a:r>
            <a:r>
              <a:rPr lang="nl-NL" i="1" u="sng" dirty="0" smtClean="0"/>
              <a:t>P</a:t>
            </a:r>
            <a:endParaRPr lang="nl-NL" i="1" u="sng" dirty="0"/>
          </a:p>
        </p:txBody>
      </p:sp>
      <p:sp>
        <p:nvSpPr>
          <p:cNvPr id="56" name="TextBox 55"/>
          <p:cNvSpPr txBox="1"/>
          <p:nvPr/>
        </p:nvSpPr>
        <p:spPr>
          <a:xfrm>
            <a:off x="4644008" y="5877272"/>
            <a:ext cx="1296144" cy="369332"/>
          </a:xfrm>
          <a:prstGeom prst="rect">
            <a:avLst/>
          </a:prstGeom>
          <a:noFill/>
        </p:spPr>
        <p:txBody>
          <a:bodyPr wrap="square" rtlCol="0">
            <a:spAutoFit/>
          </a:bodyPr>
          <a:lstStyle/>
          <a:p>
            <a:r>
              <a:rPr lang="nl-NL" dirty="0" smtClean="0"/>
              <a:t>Alle </a:t>
            </a:r>
            <a:r>
              <a:rPr lang="nl-NL" i="1" u="sng" dirty="0" smtClean="0"/>
              <a:t>S</a:t>
            </a:r>
            <a:r>
              <a:rPr lang="nl-NL" dirty="0" smtClean="0"/>
              <a:t> zijn </a:t>
            </a:r>
            <a:r>
              <a:rPr lang="nl-NL" i="1" dirty="0" smtClean="0"/>
              <a:t>P</a:t>
            </a:r>
            <a:endParaRPr lang="nl-NL" i="1" dirty="0"/>
          </a:p>
        </p:txBody>
      </p:sp>
      <p:sp>
        <p:nvSpPr>
          <p:cNvPr id="57" name="TextBox 56"/>
          <p:cNvSpPr txBox="1"/>
          <p:nvPr/>
        </p:nvSpPr>
        <p:spPr>
          <a:xfrm>
            <a:off x="6444208" y="5877272"/>
            <a:ext cx="1800200" cy="369332"/>
          </a:xfrm>
          <a:prstGeom prst="rect">
            <a:avLst/>
          </a:prstGeom>
          <a:noFill/>
        </p:spPr>
        <p:txBody>
          <a:bodyPr wrap="square" rtlCol="0">
            <a:spAutoFit/>
          </a:bodyPr>
          <a:lstStyle/>
          <a:p>
            <a:r>
              <a:rPr lang="nl-NL" dirty="0" smtClean="0"/>
              <a:t>Geen </a:t>
            </a:r>
            <a:r>
              <a:rPr lang="nl-NL" i="1" u="sng" dirty="0" smtClean="0"/>
              <a:t>S</a:t>
            </a:r>
            <a:r>
              <a:rPr lang="nl-NL" dirty="0" smtClean="0"/>
              <a:t> is </a:t>
            </a:r>
            <a:r>
              <a:rPr lang="nl-NL" i="1" dirty="0" smtClean="0"/>
              <a:t>P</a:t>
            </a:r>
            <a:endParaRPr lang="nl-NL" i="1" dirty="0"/>
          </a:p>
        </p:txBody>
      </p:sp>
      <p:sp>
        <p:nvSpPr>
          <p:cNvPr id="58" name="TextBox 57"/>
          <p:cNvSpPr txBox="1"/>
          <p:nvPr/>
        </p:nvSpPr>
        <p:spPr>
          <a:xfrm>
            <a:off x="4644008" y="6300028"/>
            <a:ext cx="1800200" cy="369332"/>
          </a:xfrm>
          <a:prstGeom prst="rect">
            <a:avLst/>
          </a:prstGeom>
          <a:noFill/>
        </p:spPr>
        <p:txBody>
          <a:bodyPr wrap="square" rtlCol="0">
            <a:spAutoFit/>
          </a:bodyPr>
          <a:lstStyle/>
          <a:p>
            <a:r>
              <a:rPr lang="nl-NL" dirty="0" smtClean="0"/>
              <a:t>Geen </a:t>
            </a:r>
            <a:r>
              <a:rPr lang="nl-NL" i="1" dirty="0" smtClean="0"/>
              <a:t>S</a:t>
            </a:r>
            <a:r>
              <a:rPr lang="nl-NL" dirty="0" smtClean="0"/>
              <a:t> is </a:t>
            </a:r>
            <a:r>
              <a:rPr lang="nl-NL" i="1" u="sng" dirty="0" smtClean="0"/>
              <a:t>P</a:t>
            </a:r>
            <a:endParaRPr lang="nl-NL" i="1" u="sn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2000"/>
                                        <p:tgtEl>
                                          <p:spTgt spid="28"/>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2000"/>
                                        <p:tgtEl>
                                          <p:spTgt spid="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20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2000"/>
                                        <p:tgtEl>
                                          <p:spTgt spid="37"/>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20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20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0">
                                            <p:txEl>
                                              <p:pRg st="0" end="0"/>
                                            </p:txEl>
                                          </p:spTgt>
                                        </p:tgtEl>
                                        <p:attrNameLst>
                                          <p:attrName>style.visibility</p:attrName>
                                        </p:attrNameLst>
                                      </p:cBhvr>
                                      <p:to>
                                        <p:strVal val="visible"/>
                                      </p:to>
                                    </p:set>
                                    <p:animEffect transition="in" filter="fade">
                                      <p:cBhvr>
                                        <p:cTn id="27" dur="2000"/>
                                        <p:tgtEl>
                                          <p:spTgt spid="40">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0">
                                            <p:txEl>
                                              <p:pRg st="1" end="1"/>
                                            </p:txEl>
                                          </p:spTgt>
                                        </p:tgtEl>
                                        <p:attrNameLst>
                                          <p:attrName>style.visibility</p:attrName>
                                        </p:attrNameLst>
                                      </p:cBhvr>
                                      <p:to>
                                        <p:strVal val="visible"/>
                                      </p:to>
                                    </p:set>
                                    <p:animEffect transition="in" filter="fade">
                                      <p:cBhvr>
                                        <p:cTn id="30" dur="2000"/>
                                        <p:tgtEl>
                                          <p:spTgt spid="40">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0">
                                            <p:txEl>
                                              <p:pRg st="2" end="2"/>
                                            </p:txEl>
                                          </p:spTgt>
                                        </p:tgtEl>
                                        <p:attrNameLst>
                                          <p:attrName>style.visibility</p:attrName>
                                        </p:attrNameLst>
                                      </p:cBhvr>
                                      <p:to>
                                        <p:strVal val="visible"/>
                                      </p:to>
                                    </p:set>
                                    <p:animEffect transition="in" filter="fade">
                                      <p:cBhvr>
                                        <p:cTn id="33" dur="2000"/>
                                        <p:tgtEl>
                                          <p:spTgt spid="40">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3">
                                            <p:txEl>
                                              <p:pRg st="0" end="0"/>
                                            </p:txEl>
                                          </p:spTgt>
                                        </p:tgtEl>
                                        <p:attrNameLst>
                                          <p:attrName>style.visibility</p:attrName>
                                        </p:attrNameLst>
                                      </p:cBhvr>
                                      <p:to>
                                        <p:strVal val="visible"/>
                                      </p:to>
                                    </p:set>
                                    <p:animEffect transition="in" filter="fade">
                                      <p:cBhvr>
                                        <p:cTn id="38" dur="2000"/>
                                        <p:tgtEl>
                                          <p:spTgt spid="5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200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fade">
                                      <p:cBhvr>
                                        <p:cTn id="46" dur="2000"/>
                                        <p:tgtEl>
                                          <p:spTgt spid="27"/>
                                        </p:tgtEl>
                                      </p:cBhvr>
                                    </p:animEffect>
                                  </p:childTnLst>
                                </p:cTn>
                              </p:par>
                              <p:par>
                                <p:cTn id="47" presetID="10" presetClass="entr" presetSubtype="0" fill="hold"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000"/>
                                        <p:tgtEl>
                                          <p:spTgt spid="29"/>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2000"/>
                                        <p:tgtEl>
                                          <p:spTgt spid="3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20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fade">
                                      <p:cBhvr>
                                        <p:cTn id="58" dur="2000"/>
                                        <p:tgtEl>
                                          <p:spTgt spid="3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5">
                                            <p:txEl>
                                              <p:pRg st="0" end="0"/>
                                            </p:txEl>
                                          </p:spTgt>
                                        </p:tgtEl>
                                        <p:attrNameLst>
                                          <p:attrName>style.visibility</p:attrName>
                                        </p:attrNameLst>
                                      </p:cBhvr>
                                      <p:to>
                                        <p:strVal val="visible"/>
                                      </p:to>
                                    </p:set>
                                    <p:animEffect transition="in" filter="fade">
                                      <p:cBhvr>
                                        <p:cTn id="63" dur="2000"/>
                                        <p:tgtEl>
                                          <p:spTgt spid="55">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56">
                                            <p:txEl>
                                              <p:pRg st="0" end="0"/>
                                            </p:txEl>
                                          </p:spTgt>
                                        </p:tgtEl>
                                        <p:attrNameLst>
                                          <p:attrName>style.visibility</p:attrName>
                                        </p:attrNameLst>
                                      </p:cBhvr>
                                      <p:to>
                                        <p:strVal val="visible"/>
                                      </p:to>
                                    </p:set>
                                    <p:animEffect transition="in" filter="fade">
                                      <p:cBhvr>
                                        <p:cTn id="68" dur="2000"/>
                                        <p:tgtEl>
                                          <p:spTgt spid="56">
                                            <p:txEl>
                                              <p:pRg st="0" end="0"/>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7">
                                            <p:txEl>
                                              <p:pRg st="0" end="0"/>
                                            </p:txEl>
                                          </p:spTgt>
                                        </p:tgtEl>
                                        <p:attrNameLst>
                                          <p:attrName>style.visibility</p:attrName>
                                        </p:attrNameLst>
                                      </p:cBhvr>
                                      <p:to>
                                        <p:strVal val="visible"/>
                                      </p:to>
                                    </p:set>
                                    <p:animEffect transition="in" filter="fade">
                                      <p:cBhvr>
                                        <p:cTn id="71" dur="2000"/>
                                        <p:tgtEl>
                                          <p:spTgt spid="57">
                                            <p:txEl>
                                              <p:pRg st="0" end="0"/>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58">
                                            <p:txEl>
                                              <p:pRg st="0" end="0"/>
                                            </p:txEl>
                                          </p:spTgt>
                                        </p:tgtEl>
                                        <p:attrNameLst>
                                          <p:attrName>style.visibility</p:attrName>
                                        </p:attrNameLst>
                                      </p:cBhvr>
                                      <p:to>
                                        <p:strVal val="visible"/>
                                      </p:to>
                                    </p:set>
                                    <p:animEffect transition="in" filter="fade">
                                      <p:cBhvr>
                                        <p:cTn id="74" dur="2000"/>
                                        <p:tgtEl>
                                          <p:spTgt spid="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7" grpId="0"/>
      <p:bldP spid="35" grpId="0"/>
      <p:bldP spid="39" grpId="0"/>
      <p:bldP spid="40" grpId="0" build="allAtOnce"/>
      <p:bldP spid="53" grpId="0" build="allAtOnce"/>
      <p:bldP spid="55" grpId="0" build="allAtOnce"/>
      <p:bldP spid="56" grpId="0" build="allAtOnce"/>
      <p:bldP spid="57" grpId="0" build="allAtOnce"/>
      <p:bldP spid="58" grpId="0" build="allAtOnce"/>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Extensie en </a:t>
            </a:r>
            <a:r>
              <a:rPr lang="nl-NL" sz="3600" dirty="0" err="1" smtClean="0"/>
              <a:t>Intensie</a:t>
            </a:r>
            <a:endParaRPr lang="nl-NL" sz="3600" dirty="0"/>
          </a:p>
        </p:txBody>
      </p:sp>
      <p:sp>
        <p:nvSpPr>
          <p:cNvPr id="19" name="Content Placeholder 2"/>
          <p:cNvSpPr>
            <a:spLocks noGrp="1"/>
          </p:cNvSpPr>
          <p:nvPr>
            <p:ph idx="1"/>
          </p:nvPr>
        </p:nvSpPr>
        <p:spPr>
          <a:xfrm>
            <a:off x="313184" y="1528193"/>
            <a:ext cx="8939336" cy="532655"/>
          </a:xfrm>
        </p:spPr>
        <p:txBody>
          <a:bodyPr>
            <a:noAutofit/>
          </a:bodyPr>
          <a:lstStyle/>
          <a:p>
            <a:r>
              <a:rPr lang="nl-NL" sz="2000" dirty="0" smtClean="0"/>
              <a:t>Voor termen of begrippen wordt een onderscheid gemaakt tussen                         </a:t>
            </a:r>
            <a:r>
              <a:rPr lang="nl-NL" sz="2000" i="1" dirty="0" smtClean="0"/>
              <a:t>extensie </a:t>
            </a:r>
            <a:r>
              <a:rPr lang="nl-NL" sz="2000" dirty="0" smtClean="0"/>
              <a:t>(begripsomvang) en </a:t>
            </a:r>
            <a:r>
              <a:rPr lang="nl-NL" sz="2000" i="1" dirty="0" err="1" smtClean="0"/>
              <a:t>intensie</a:t>
            </a:r>
            <a:r>
              <a:rPr lang="nl-NL" sz="2000" dirty="0" smtClean="0"/>
              <a:t> (begripsinhoud).  </a:t>
            </a:r>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2464297"/>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volgende onderscheidingen</a:t>
            </a:r>
            <a:r>
              <a:rPr kumimoji="0" lang="nl-NL" sz="2000" b="0" i="0" u="none" strike="noStrike" kern="1200" cap="none" spc="0" normalizeH="0" noProof="0" dirty="0" smtClean="0">
                <a:ln>
                  <a:noFill/>
                </a:ln>
                <a:solidFill>
                  <a:schemeClr val="tx1"/>
                </a:solidFill>
                <a:effectLst/>
                <a:uLnTx/>
                <a:uFillTx/>
                <a:latin typeface="+mn-lt"/>
                <a:ea typeface="+mn-ea"/>
                <a:cs typeface="+mn-cs"/>
              </a:rPr>
              <a:t> vallen met het onderscheid tussen                          </a:t>
            </a:r>
            <a:r>
              <a:rPr kumimoji="0" lang="nl-NL" sz="2000" b="0" i="1" u="none" strike="noStrike" kern="1200" cap="none" spc="0" normalizeH="0" noProof="0" dirty="0" smtClean="0">
                <a:ln>
                  <a:noFill/>
                </a:ln>
                <a:solidFill>
                  <a:schemeClr val="tx1"/>
                </a:solidFill>
                <a:effectLst/>
                <a:uLnTx/>
                <a:uFillTx/>
                <a:latin typeface="+mn-lt"/>
                <a:ea typeface="+mn-ea"/>
                <a:cs typeface="+mn-cs"/>
              </a:rPr>
              <a:t>extensie</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0" i="1" u="none" strike="noStrike" kern="1200" cap="none" spc="0" normalizeH="0" noProof="0" dirty="0" err="1" smtClean="0">
                <a:ln>
                  <a:noFill/>
                </a:ln>
                <a:solidFill>
                  <a:schemeClr val="tx1"/>
                </a:solidFill>
                <a:effectLst/>
                <a:uLnTx/>
                <a:uFillTx/>
                <a:latin typeface="+mn-lt"/>
                <a:ea typeface="+mn-ea"/>
                <a:cs typeface="+mn-cs"/>
              </a:rPr>
              <a:t>intensie</a:t>
            </a:r>
            <a:r>
              <a:rPr kumimoji="0" lang="nl-NL" sz="2000" b="0" i="0" u="none" strike="noStrike" kern="1200" cap="none" spc="0" normalizeH="0" noProof="0" dirty="0" smtClean="0">
                <a:ln>
                  <a:noFill/>
                </a:ln>
                <a:solidFill>
                  <a:schemeClr val="tx1"/>
                </a:solidFill>
                <a:effectLst/>
                <a:uLnTx/>
                <a:uFillTx/>
                <a:latin typeface="+mn-lt"/>
                <a:ea typeface="+mn-ea"/>
                <a:cs typeface="+mn-cs"/>
              </a:rPr>
              <a:t> samen, of zijn er op z’n minst nauw verwant mee</a:t>
            </a: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Logica van </a:t>
            </a:r>
            <a:r>
              <a:rPr lang="nl-NL" sz="2000" dirty="0" err="1" smtClean="0"/>
              <a:t>Port-Royal</a:t>
            </a:r>
            <a:r>
              <a:rPr lang="nl-NL" sz="2000" dirty="0" smtClean="0"/>
              <a:t>		</a:t>
            </a:r>
            <a:r>
              <a:rPr lang="nl-NL" sz="2000" i="1" dirty="0" err="1" smtClean="0"/>
              <a:t>étendue</a:t>
            </a:r>
            <a:r>
              <a:rPr lang="nl-NL" sz="2000" i="1" dirty="0" smtClean="0"/>
              <a:t>  ---  </a:t>
            </a:r>
            <a:r>
              <a:rPr lang="nl-NL" sz="2000" i="1" dirty="0" err="1" smtClean="0"/>
              <a:t>compréhension</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dirty="0" err="1" smtClean="0"/>
              <a:t>Leibniz</a:t>
            </a:r>
            <a:r>
              <a:rPr lang="nl-NL" sz="2000" dirty="0" smtClean="0"/>
              <a:t>			</a:t>
            </a:r>
            <a:r>
              <a:rPr lang="nl-NL" sz="2000" i="1" dirty="0" err="1" smtClean="0"/>
              <a:t>extension</a:t>
            </a:r>
            <a:r>
              <a:rPr lang="nl-NL" sz="2000" i="1" dirty="0" smtClean="0"/>
              <a:t> --- </a:t>
            </a:r>
            <a:r>
              <a:rPr lang="nl-NL" sz="2000" i="1" dirty="0" err="1" smtClean="0"/>
              <a:t>intension</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Kant				</a:t>
            </a:r>
            <a:r>
              <a:rPr lang="nl-NL" sz="2000" i="1" dirty="0" err="1" smtClean="0"/>
              <a:t>umfang</a:t>
            </a:r>
            <a:r>
              <a:rPr lang="nl-NL" sz="2000" i="1" dirty="0" smtClean="0"/>
              <a:t>, </a:t>
            </a:r>
            <a:r>
              <a:rPr lang="nl-NL" sz="2000" i="1" dirty="0" err="1" smtClean="0"/>
              <a:t>sphäre</a:t>
            </a:r>
            <a:r>
              <a:rPr lang="nl-NL" sz="2000" i="1" dirty="0" smtClean="0"/>
              <a:t> --- </a:t>
            </a:r>
            <a:r>
              <a:rPr lang="nl-NL" sz="2000" i="1" dirty="0" err="1" smtClean="0"/>
              <a:t>inhalt</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John </a:t>
            </a:r>
            <a:r>
              <a:rPr lang="nl-NL" sz="2000" dirty="0" err="1" smtClean="0"/>
              <a:t>Stuart</a:t>
            </a:r>
            <a:r>
              <a:rPr lang="nl-NL" sz="2000" dirty="0" smtClean="0"/>
              <a:t> </a:t>
            </a:r>
            <a:r>
              <a:rPr lang="nl-NL" sz="2000" dirty="0" err="1" smtClean="0"/>
              <a:t>Mill</a:t>
            </a:r>
            <a:r>
              <a:rPr lang="nl-NL" sz="2000" dirty="0" smtClean="0"/>
              <a:t>		</a:t>
            </a:r>
            <a:r>
              <a:rPr lang="nl-NL" sz="2000" i="1" dirty="0" err="1" smtClean="0"/>
              <a:t>denotation</a:t>
            </a:r>
            <a:r>
              <a:rPr lang="nl-NL" sz="2000" i="1" dirty="0" smtClean="0"/>
              <a:t> --- </a:t>
            </a:r>
            <a:r>
              <a:rPr lang="nl-NL" sz="2000" i="1" dirty="0" err="1" smtClean="0"/>
              <a:t>connotation</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William Hamilton		</a:t>
            </a:r>
            <a:r>
              <a:rPr lang="nl-NL" sz="2000" i="1" dirty="0" err="1" smtClean="0"/>
              <a:t>breadth</a:t>
            </a:r>
            <a:r>
              <a:rPr lang="nl-NL" sz="2000" i="1" dirty="0" smtClean="0"/>
              <a:t>	--- </a:t>
            </a:r>
            <a:r>
              <a:rPr lang="nl-NL" sz="2000" i="1" dirty="0" err="1" smtClean="0"/>
              <a:t>depth</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dirty="0" err="1" smtClean="0"/>
              <a:t>Frege</a:t>
            </a:r>
            <a:r>
              <a:rPr lang="nl-NL" sz="2000" dirty="0" smtClean="0"/>
              <a:t>			</a:t>
            </a:r>
            <a:r>
              <a:rPr lang="nl-NL" sz="2000" i="1" dirty="0" err="1" smtClean="0"/>
              <a:t>bedeutung</a:t>
            </a:r>
            <a:r>
              <a:rPr lang="nl-NL" sz="2000" i="1" dirty="0" smtClean="0"/>
              <a:t> --- </a:t>
            </a:r>
            <a:r>
              <a:rPr lang="nl-NL" sz="2000" i="1" dirty="0" err="1" smtClean="0"/>
              <a:t>sinn</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2000"/>
                                        <p:tgtEl>
                                          <p:spTgt spid="11">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animEffect transition="in" filter="fade">
                                      <p:cBhvr>
                                        <p:cTn id="13" dur="2000"/>
                                        <p:tgtEl>
                                          <p:spTgt spid="11">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4" end="4"/>
                                            </p:txEl>
                                          </p:spTgt>
                                        </p:tgtEl>
                                        <p:attrNameLst>
                                          <p:attrName>style.visibility</p:attrName>
                                        </p:attrNameLst>
                                      </p:cBhvr>
                                      <p:to>
                                        <p:strVal val="visible"/>
                                      </p:to>
                                    </p:set>
                                    <p:animEffect transition="in" filter="fade">
                                      <p:cBhvr>
                                        <p:cTn id="16" dur="2000"/>
                                        <p:tgtEl>
                                          <p:spTgt spid="11">
                                            <p:txEl>
                                              <p:pRg st="4" end="4"/>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animEffect transition="in" filter="fade">
                                      <p:cBhvr>
                                        <p:cTn id="19" dur="2000"/>
                                        <p:tgtEl>
                                          <p:spTgt spid="11">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fade">
                                      <p:cBhvr>
                                        <p:cTn id="22" dur="2000"/>
                                        <p:tgtEl>
                                          <p:spTgt spid="11">
                                            <p:txEl>
                                              <p:pRg st="6" end="6"/>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xEl>
                                              <p:pRg st="7" end="7"/>
                                            </p:txEl>
                                          </p:spTgt>
                                        </p:tgtEl>
                                        <p:attrNameLst>
                                          <p:attrName>style.visibility</p:attrName>
                                        </p:attrNameLst>
                                      </p:cBhvr>
                                      <p:to>
                                        <p:strVal val="visible"/>
                                      </p:to>
                                    </p:set>
                                    <p:animEffect transition="in" filter="fade">
                                      <p:cBhvr>
                                        <p:cTn id="25" dur="2000"/>
                                        <p:tgtEl>
                                          <p:spTgt spid="11">
                                            <p:txEl>
                                              <p:pRg st="7" end="7"/>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xEl>
                                              <p:pRg st="8" end="8"/>
                                            </p:txEl>
                                          </p:spTgt>
                                        </p:tgtEl>
                                        <p:attrNameLst>
                                          <p:attrName>style.visibility</p:attrName>
                                        </p:attrNameLst>
                                      </p:cBhvr>
                                      <p:to>
                                        <p:strVal val="visible"/>
                                      </p:to>
                                    </p:set>
                                    <p:animEffect transition="in" filter="fade">
                                      <p:cBhvr>
                                        <p:cTn id="28" dur="2000"/>
                                        <p:tgtEl>
                                          <p:spTgt spid="11">
                                            <p:txEl>
                                              <p:pRg st="8" end="8"/>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xEl>
                                              <p:pRg st="9" end="9"/>
                                            </p:txEl>
                                          </p:spTgt>
                                        </p:tgtEl>
                                        <p:attrNameLst>
                                          <p:attrName>style.visibility</p:attrName>
                                        </p:attrNameLst>
                                      </p:cBhvr>
                                      <p:to>
                                        <p:strVal val="visible"/>
                                      </p:to>
                                    </p:set>
                                    <p:animEffect transition="in" filter="fade">
                                      <p:cBhvr>
                                        <p:cTn id="31" dur="2000"/>
                                        <p:tgtEl>
                                          <p:spTgt spid="1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Extensie en </a:t>
            </a:r>
            <a:r>
              <a:rPr lang="nl-NL" sz="3600" dirty="0" err="1" smtClean="0"/>
              <a:t>Intensie</a:t>
            </a:r>
            <a:endParaRPr lang="nl-NL" sz="3600" dirty="0"/>
          </a:p>
        </p:txBody>
      </p:sp>
      <p:sp>
        <p:nvSpPr>
          <p:cNvPr id="19" name="Content Placeholder 2"/>
          <p:cNvSpPr>
            <a:spLocks noGrp="1"/>
          </p:cNvSpPr>
          <p:nvPr>
            <p:ph idx="1"/>
          </p:nvPr>
        </p:nvSpPr>
        <p:spPr>
          <a:xfrm>
            <a:off x="313184" y="1412776"/>
            <a:ext cx="8939336" cy="1108719"/>
          </a:xfrm>
        </p:spPr>
        <p:txBody>
          <a:bodyPr>
            <a:noAutofit/>
          </a:bodyPr>
          <a:lstStyle/>
          <a:p>
            <a:r>
              <a:rPr lang="nl-NL" sz="2000" dirty="0" smtClean="0"/>
              <a:t>Onder de </a:t>
            </a:r>
            <a:r>
              <a:rPr lang="nl-NL" sz="2000" i="1" dirty="0" smtClean="0"/>
              <a:t>extensie</a:t>
            </a:r>
            <a:r>
              <a:rPr lang="nl-NL" sz="2000" dirty="0" smtClean="0"/>
              <a:t> van een algemene term of begrip kan de verzameling              verstaan worden van alle objecten waarop de term van toepassing is. Het         gaat hier om de </a:t>
            </a:r>
            <a:r>
              <a:rPr lang="nl-NL" sz="2000" i="1" dirty="0" smtClean="0"/>
              <a:t>verwijzende</a:t>
            </a:r>
            <a:r>
              <a:rPr lang="nl-NL" sz="2000" dirty="0" smtClean="0"/>
              <a:t> of </a:t>
            </a:r>
            <a:r>
              <a:rPr lang="nl-NL" sz="2000" i="1" dirty="0" err="1" smtClean="0"/>
              <a:t>referentiële</a:t>
            </a:r>
            <a:r>
              <a:rPr lang="nl-NL" sz="2000" dirty="0" smtClean="0"/>
              <a:t> rol van algemene termen.</a:t>
            </a:r>
          </a:p>
          <a:p>
            <a:endParaRPr lang="nl-NL" sz="2000" dirty="0" smtClean="0"/>
          </a:p>
          <a:p>
            <a:endParaRPr lang="nl-NL" sz="2000" dirty="0" smtClean="0"/>
          </a:p>
          <a:p>
            <a:endParaRPr lang="nl-NL" sz="2000" dirty="0" smtClean="0"/>
          </a:p>
          <a:p>
            <a:endParaRPr lang="nl-NL" sz="2000" dirty="0" smtClean="0"/>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13184" y="2233463"/>
            <a:ext cx="8939336" cy="112352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intensie</a:t>
            </a:r>
            <a:r>
              <a:rPr kumimoji="0" lang="nl-NL" sz="2000" b="0" i="0" u="none" strike="noStrike" kern="1200" cap="none" spc="0" normalizeH="0" noProof="0" dirty="0" smtClean="0">
                <a:ln>
                  <a:noFill/>
                </a:ln>
                <a:solidFill>
                  <a:schemeClr val="tx1"/>
                </a:solidFill>
                <a:effectLst/>
                <a:uLnTx/>
                <a:uFillTx/>
                <a:latin typeface="+mn-lt"/>
                <a:ea typeface="+mn-ea"/>
                <a:cs typeface="+mn-cs"/>
              </a:rPr>
              <a:t> is moeilijker aan te geven. Het gaat hier om de </a:t>
            </a:r>
            <a:r>
              <a:rPr kumimoji="0" lang="nl-NL" sz="2000" i="1" u="none" strike="noStrike" kern="1200" cap="none" spc="0" normalizeH="0" noProof="0" dirty="0" smtClean="0">
                <a:ln>
                  <a:noFill/>
                </a:ln>
                <a:solidFill>
                  <a:schemeClr val="tx1"/>
                </a:solidFill>
                <a:effectLst/>
                <a:uLnTx/>
                <a:uFillTx/>
                <a:latin typeface="+mn-lt"/>
                <a:ea typeface="+mn-ea"/>
                <a:cs typeface="+mn-cs"/>
              </a:rPr>
              <a:t>betekenis</a:t>
            </a:r>
            <a:r>
              <a:rPr kumimoji="0" lang="nl-NL" sz="2000" b="0" i="0" u="none" strike="noStrike" kern="1200" cap="none" spc="0" normalizeH="0" noProof="0" dirty="0" smtClean="0">
                <a:ln>
                  <a:noFill/>
                </a:ln>
                <a:solidFill>
                  <a:schemeClr val="tx1"/>
                </a:solidFill>
                <a:effectLst/>
                <a:uLnTx/>
                <a:uFillTx/>
                <a:latin typeface="+mn-lt"/>
                <a:ea typeface="+mn-ea"/>
                <a:cs typeface="+mn-cs"/>
              </a:rPr>
              <a:t> of de </a:t>
            </a:r>
            <a:r>
              <a:rPr kumimoji="0" lang="nl-NL" sz="2000" b="0" i="1" u="none" strike="noStrike" kern="1200" cap="none" spc="0" normalizeH="0" noProof="0" dirty="0" smtClean="0">
                <a:ln>
                  <a:noFill/>
                </a:ln>
                <a:solidFill>
                  <a:schemeClr val="tx1"/>
                </a:solidFill>
                <a:effectLst/>
                <a:uLnTx/>
                <a:uFillTx/>
                <a:latin typeface="+mn-lt"/>
                <a:ea typeface="+mn-ea"/>
                <a:cs typeface="+mn-cs"/>
              </a:rPr>
              <a:t>begripsdefinitie</a:t>
            </a:r>
            <a:r>
              <a:rPr kumimoji="0" lang="nl-NL" sz="2000" b="0" i="0" u="none" strike="noStrike" kern="1200" cap="none" spc="0" normalizeH="0" noProof="0" dirty="0" smtClean="0">
                <a:ln>
                  <a:noFill/>
                </a:ln>
                <a:solidFill>
                  <a:schemeClr val="tx1"/>
                </a:solidFill>
                <a:effectLst/>
                <a:uLnTx/>
                <a:uFillTx/>
                <a:latin typeface="+mn-lt"/>
                <a:ea typeface="+mn-ea"/>
                <a:cs typeface="+mn-cs"/>
              </a:rPr>
              <a:t> van algemene termen. Er zijn verschillende mogelijkheden.</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Content Placeholder 2"/>
          <p:cNvSpPr txBox="1">
            <a:spLocks/>
          </p:cNvSpPr>
          <p:nvPr/>
        </p:nvSpPr>
        <p:spPr>
          <a:xfrm>
            <a:off x="323528" y="4221088"/>
            <a:ext cx="8939336" cy="136815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Extensie ligt in beginsel vast met de </a:t>
            </a:r>
            <a:r>
              <a:rPr lang="nl-NL" sz="2000" dirty="0" err="1" smtClean="0"/>
              <a:t>intensie</a:t>
            </a:r>
            <a:r>
              <a:rPr lang="nl-NL" sz="2000" dirty="0" smtClean="0"/>
              <a:t>. Termen met dezelfde </a:t>
            </a:r>
            <a:r>
              <a:rPr lang="nl-NL" sz="2000" dirty="0" err="1" smtClean="0"/>
              <a:t>intensie</a:t>
            </a:r>
            <a:r>
              <a:rPr lang="nl-NL" sz="2000" dirty="0" smtClean="0"/>
              <a:t> hebben dus ook dezelfde extensie.</a:t>
            </a:r>
          </a:p>
        </p:txBody>
      </p:sp>
      <p:sp>
        <p:nvSpPr>
          <p:cNvPr id="8" name="Content Placeholder 2"/>
          <p:cNvSpPr txBox="1">
            <a:spLocks/>
          </p:cNvSpPr>
          <p:nvPr/>
        </p:nvSpPr>
        <p:spPr>
          <a:xfrm>
            <a:off x="313184" y="5445224"/>
            <a:ext cx="8939336"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Termen met een verschillende </a:t>
            </a:r>
            <a:r>
              <a:rPr lang="nl-NL" sz="2000" dirty="0" err="1" smtClean="0"/>
              <a:t>intensie</a:t>
            </a:r>
            <a:r>
              <a:rPr lang="nl-NL" sz="2000" dirty="0" smtClean="0"/>
              <a:t> kunnen echter ook dezelfde extensie hebben. Bijvoorbeeld ‘levend wezen met hart’ en ‘levend wezen met nieren’.</a:t>
            </a:r>
          </a:p>
        </p:txBody>
      </p:sp>
      <p:sp>
        <p:nvSpPr>
          <p:cNvPr id="10" name="Content Placeholder 2"/>
          <p:cNvSpPr txBox="1">
            <a:spLocks/>
          </p:cNvSpPr>
          <p:nvPr/>
        </p:nvSpPr>
        <p:spPr>
          <a:xfrm>
            <a:off x="313184" y="3212976"/>
            <a:ext cx="8939336" cy="194421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7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t>	1. De essentie, de natuur of wezensvorm van de dingen die de term aanduidt </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b="0" i="0" u="none" strike="noStrike" kern="1200" cap="none" spc="0" normalizeH="0" baseline="0" noProof="0" dirty="0" smtClean="0">
                <a:ln>
                  <a:noFill/>
                </a:ln>
                <a:solidFill>
                  <a:schemeClr val="tx1"/>
                </a:solidFill>
                <a:effectLst/>
                <a:uLnTx/>
                <a:uFillTx/>
                <a:latin typeface="+mn-lt"/>
                <a:ea typeface="+mn-ea"/>
                <a:cs typeface="+mn-cs"/>
              </a:rPr>
              <a:t>	2.</a:t>
            </a:r>
            <a:r>
              <a:rPr kumimoji="0" lang="nl-NL" b="0" i="0" u="none" strike="noStrike" kern="1200" cap="none" spc="0" normalizeH="0" noProof="0" dirty="0" smtClean="0">
                <a:ln>
                  <a:noFill/>
                </a:ln>
                <a:solidFill>
                  <a:schemeClr val="tx1"/>
                </a:solidFill>
                <a:effectLst/>
                <a:uLnTx/>
                <a:uFillTx/>
                <a:latin typeface="+mn-lt"/>
                <a:ea typeface="+mn-ea"/>
                <a:cs typeface="+mn-cs"/>
              </a:rPr>
              <a:t> Het totaal van eigenschappen op grond waarvan iets onder de term valt</a:t>
            </a:r>
          </a:p>
          <a:p>
            <a:pPr marL="342900" marR="0" lvl="0" indent="-342900" algn="l" defTabSz="914400" rtl="0" eaLnBrk="1" fontAlgn="auto" latinLnBrk="0" hangingPunct="1">
              <a:lnSpc>
                <a:spcPct val="100000"/>
              </a:lnSpc>
              <a:spcBef>
                <a:spcPct val="20000"/>
              </a:spcBef>
              <a:spcAft>
                <a:spcPts val="0"/>
              </a:spcAft>
              <a:buClrTx/>
              <a:buSzTx/>
              <a:tabLst/>
              <a:defRPr/>
            </a:pPr>
            <a:r>
              <a:rPr lang="nl-NL" baseline="0" dirty="0" smtClean="0"/>
              <a:t>	3.</a:t>
            </a:r>
            <a:r>
              <a:rPr lang="nl-NL" dirty="0" smtClean="0"/>
              <a:t> De definitie van de term of de betekenis van het begrip </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animEffect transition="in" filter="fade">
                                      <p:cBhvr>
                                        <p:cTn id="7" dur="2000"/>
                                        <p:tgtEl>
                                          <p:spTgt spid="11">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3" end="3"/>
                                            </p:txEl>
                                          </p:spTgt>
                                        </p:tgtEl>
                                        <p:attrNameLst>
                                          <p:attrName>style.visibility</p:attrName>
                                        </p:attrNameLst>
                                      </p:cBhvr>
                                      <p:to>
                                        <p:strVal val="visible"/>
                                      </p:to>
                                    </p:set>
                                    <p:animEffect transition="in" filter="fade">
                                      <p:cBhvr>
                                        <p:cTn id="10" dur="2000"/>
                                        <p:tgtEl>
                                          <p:spTgt spid="1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2000"/>
                                        <p:tgtEl>
                                          <p:spTgt spid="10">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2000"/>
                                        <p:tgtEl>
                                          <p:spTgt spid="10">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animEffect transition="in" filter="fade">
                                      <p:cBhvr>
                                        <p:cTn id="21" dur="2000"/>
                                        <p:tgtEl>
                                          <p:spTgt spid="10">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Effect transition="in" filter="fade">
                                      <p:cBhvr>
                                        <p:cTn id="26" dur="2000"/>
                                        <p:tgtEl>
                                          <p:spTgt spid="6">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fade">
                                      <p:cBhvr>
                                        <p:cTn id="31"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6" grpId="0" build="allAtOnce"/>
      <p:bldP spid="8" grpId="0" build="allAtOnce"/>
      <p:bldP spid="10" grpId="0" build="allAtOnce"/>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rol van de </a:t>
            </a:r>
            <a:r>
              <a:rPr lang="nl-NL" sz="3600" dirty="0" err="1" smtClean="0"/>
              <a:t>copula</a:t>
            </a:r>
            <a:r>
              <a:rPr lang="nl-NL" sz="3600" dirty="0" smtClean="0"/>
              <a:t> in een oordeel</a:t>
            </a:r>
            <a:endParaRPr lang="nl-NL" sz="3600" dirty="0"/>
          </a:p>
        </p:txBody>
      </p:sp>
      <p:sp>
        <p:nvSpPr>
          <p:cNvPr id="19" name="Content Placeholder 2"/>
          <p:cNvSpPr>
            <a:spLocks noGrp="1"/>
          </p:cNvSpPr>
          <p:nvPr>
            <p:ph idx="1"/>
          </p:nvPr>
        </p:nvSpPr>
        <p:spPr>
          <a:xfrm>
            <a:off x="313184" y="1412776"/>
            <a:ext cx="8939336" cy="1108719"/>
          </a:xfrm>
        </p:spPr>
        <p:txBody>
          <a:bodyPr>
            <a:noAutofit/>
          </a:bodyPr>
          <a:lstStyle/>
          <a:p>
            <a:r>
              <a:rPr lang="nl-NL" sz="2000" dirty="0" smtClean="0"/>
              <a:t>Volgens de </a:t>
            </a:r>
            <a:r>
              <a:rPr lang="nl-NL" sz="2000" b="1" dirty="0" smtClean="0"/>
              <a:t>attributietheorie</a:t>
            </a:r>
            <a:r>
              <a:rPr lang="nl-NL" sz="2000" dirty="0" smtClean="0"/>
              <a:t> zegt een </a:t>
            </a:r>
            <a:r>
              <a:rPr lang="nl-NL" sz="2000" i="1" dirty="0" smtClean="0"/>
              <a:t>S-P </a:t>
            </a:r>
            <a:r>
              <a:rPr lang="nl-NL" sz="2000" dirty="0" smtClean="0"/>
              <a:t>oordeel dat er een relatie bestaat tussen de </a:t>
            </a:r>
            <a:r>
              <a:rPr lang="nl-NL" sz="2000" dirty="0" err="1" smtClean="0"/>
              <a:t>intensie</a:t>
            </a:r>
            <a:r>
              <a:rPr lang="nl-NL" sz="2000" dirty="0" smtClean="0"/>
              <a:t> van het </a:t>
            </a:r>
            <a:r>
              <a:rPr lang="nl-NL" sz="2000" dirty="0" err="1" smtClean="0"/>
              <a:t>predikaat</a:t>
            </a:r>
            <a:r>
              <a:rPr lang="nl-NL" sz="2000" dirty="0" smtClean="0"/>
              <a:t> en de extensie van het subject. De                    </a:t>
            </a:r>
            <a:r>
              <a:rPr lang="nl-NL" sz="2000" dirty="0" err="1" smtClean="0"/>
              <a:t>copula</a:t>
            </a:r>
            <a:r>
              <a:rPr lang="nl-NL" sz="2000" dirty="0" smtClean="0"/>
              <a:t> poneert een verbinding tussen de onder het subject vallende                        objecten en de met het </a:t>
            </a:r>
            <a:r>
              <a:rPr lang="nl-NL" sz="2000" dirty="0" err="1" smtClean="0"/>
              <a:t>predikaat</a:t>
            </a:r>
            <a:r>
              <a:rPr lang="nl-NL" sz="2000" dirty="0" smtClean="0"/>
              <a:t> verbonden eigenschappen.</a:t>
            </a:r>
          </a:p>
          <a:p>
            <a:endParaRPr lang="nl-NL" sz="2000" dirty="0" smtClean="0"/>
          </a:p>
          <a:p>
            <a:endParaRPr lang="nl-NL" sz="2000" dirty="0" smtClean="0"/>
          </a:p>
          <a:p>
            <a:endParaRPr lang="nl-NL" sz="2000" dirty="0" smtClean="0"/>
          </a:p>
          <a:p>
            <a:pPr>
              <a:buNone/>
            </a:pPr>
            <a:endParaRPr lang="nl-NL" sz="2000" i="1" dirty="0" smtClean="0"/>
          </a:p>
        </p:txBody>
      </p:sp>
      <p:sp>
        <p:nvSpPr>
          <p:cNvPr id="14" name="Content Placeholder 2"/>
          <p:cNvSpPr txBox="1">
            <a:spLocks/>
          </p:cNvSpPr>
          <p:nvPr/>
        </p:nvSpPr>
        <p:spPr>
          <a:xfrm>
            <a:off x="313184" y="6165304"/>
            <a:ext cx="8939336"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251520" y="2896345"/>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“Alle mensen</a:t>
            </a:r>
            <a:r>
              <a:rPr kumimoji="0" lang="nl-NL" sz="2000" b="0" i="0" u="none" strike="noStrike" kern="1200" cap="none" spc="0" normalizeH="0" noProof="0" dirty="0" smtClean="0">
                <a:ln>
                  <a:noFill/>
                </a:ln>
                <a:solidFill>
                  <a:schemeClr val="tx1"/>
                </a:solidFill>
                <a:effectLst/>
                <a:uLnTx/>
                <a:uFillTx/>
                <a:latin typeface="+mn-lt"/>
                <a:ea typeface="+mn-ea"/>
                <a:cs typeface="+mn-cs"/>
              </a:rPr>
              <a:t> zijn sterfelijk” zegt dat aan alles wat mens is de eigenschap                         van sterfelijkheid toekomt.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241176" y="3976465"/>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Volgens 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1" i="0" u="none" strike="noStrike" kern="1200" cap="none" spc="0" normalizeH="0" noProof="0" dirty="0" err="1" smtClean="0">
                <a:ln>
                  <a:noFill/>
                </a:ln>
                <a:solidFill>
                  <a:schemeClr val="tx1"/>
                </a:solidFill>
                <a:effectLst/>
                <a:uLnTx/>
                <a:uFillTx/>
                <a:latin typeface="+mn-lt"/>
                <a:ea typeface="+mn-ea"/>
                <a:cs typeface="+mn-cs"/>
              </a:rPr>
              <a:t>extensionele</a:t>
            </a:r>
            <a:r>
              <a:rPr kumimoji="0" lang="nl-NL" sz="2000" b="1" i="0" u="none" strike="noStrike" kern="1200" cap="none" spc="0" normalizeH="0" noProof="0" dirty="0" smtClean="0">
                <a:ln>
                  <a:noFill/>
                </a:ln>
                <a:solidFill>
                  <a:schemeClr val="tx1"/>
                </a:solidFill>
                <a:effectLst/>
                <a:uLnTx/>
                <a:uFillTx/>
                <a:latin typeface="+mn-lt"/>
                <a:ea typeface="+mn-ea"/>
                <a:cs typeface="+mn-cs"/>
              </a:rPr>
              <a:t> theorie </a:t>
            </a:r>
            <a:r>
              <a:rPr kumimoji="0" lang="nl-NL" sz="2000" i="0" u="none" strike="noStrike" kern="1200" cap="none" spc="0" normalizeH="0" noProof="0" dirty="0" smtClean="0">
                <a:ln>
                  <a:noFill/>
                </a:ln>
                <a:solidFill>
                  <a:schemeClr val="tx1"/>
                </a:solidFill>
                <a:effectLst/>
                <a:uLnTx/>
                <a:uFillTx/>
                <a:latin typeface="+mn-lt"/>
                <a:ea typeface="+mn-ea"/>
                <a:cs typeface="+mn-cs"/>
              </a:rPr>
              <a:t>zegt een </a:t>
            </a:r>
            <a:r>
              <a:rPr kumimoji="0" lang="nl-NL" sz="2000" i="1" u="none" strike="noStrike" kern="1200" cap="none" spc="0" normalizeH="0" noProof="0" dirty="0" smtClean="0">
                <a:ln>
                  <a:noFill/>
                </a:ln>
                <a:solidFill>
                  <a:schemeClr val="tx1"/>
                </a:solidFill>
                <a:effectLst/>
                <a:uLnTx/>
                <a:uFillTx/>
                <a:latin typeface="+mn-lt"/>
                <a:ea typeface="+mn-ea"/>
                <a:cs typeface="+mn-cs"/>
              </a:rPr>
              <a:t>S-P</a:t>
            </a:r>
            <a:r>
              <a:rPr kumimoji="0" lang="nl-NL" sz="2000" i="0" u="none" strike="noStrike" kern="1200" cap="none" spc="0" normalizeH="0" noProof="0" dirty="0" smtClean="0">
                <a:ln>
                  <a:noFill/>
                </a:ln>
                <a:solidFill>
                  <a:schemeClr val="tx1"/>
                </a:solidFill>
                <a:effectLst/>
                <a:uLnTx/>
                <a:uFillTx/>
                <a:latin typeface="+mn-lt"/>
                <a:ea typeface="+mn-ea"/>
                <a:cs typeface="+mn-cs"/>
              </a:rPr>
              <a:t> oordeel dat er een </a:t>
            </a:r>
            <a:r>
              <a:rPr kumimoji="0" lang="nl-NL" sz="2000" i="0" u="none" strike="noStrike" kern="1200" cap="none" spc="0" normalizeH="0" noProof="0" dirty="0" err="1" smtClean="0">
                <a:ln>
                  <a:noFill/>
                </a:ln>
                <a:solidFill>
                  <a:schemeClr val="tx1"/>
                </a:solidFill>
                <a:effectLst/>
                <a:uLnTx/>
                <a:uFillTx/>
                <a:latin typeface="+mn-lt"/>
                <a:ea typeface="+mn-ea"/>
                <a:cs typeface="+mn-cs"/>
              </a:rPr>
              <a:t>relati</a:t>
            </a:r>
            <a:r>
              <a:rPr lang="nl-NL" sz="2000" dirty="0" smtClean="0"/>
              <a:t>e bestaat tussen de extensies van subject en </a:t>
            </a:r>
            <a:r>
              <a:rPr lang="nl-NL" sz="2000" dirty="0" err="1" smtClean="0"/>
              <a:t>predikaat</a:t>
            </a:r>
            <a:r>
              <a:rPr lang="nl-NL" sz="2000" dirty="0" smtClean="0"/>
              <a:t>. De </a:t>
            </a:r>
            <a:r>
              <a:rPr lang="nl-NL" sz="2000" dirty="0" err="1" smtClean="0"/>
              <a:t>copula</a:t>
            </a:r>
            <a:r>
              <a:rPr lang="nl-NL" sz="2000" dirty="0" smtClean="0"/>
              <a:t> relateert objecten aangeduid door het </a:t>
            </a:r>
            <a:r>
              <a:rPr lang="nl-NL" sz="2000" dirty="0" err="1" smtClean="0"/>
              <a:t>predikaat</a:t>
            </a:r>
            <a:r>
              <a:rPr lang="nl-NL" sz="2000" dirty="0" smtClean="0"/>
              <a:t> aan objecten aangeduid door het subject</a:t>
            </a:r>
            <a:r>
              <a:rPr kumimoji="0" lang="nl-NL" sz="2000" i="0" u="none" strike="noStrike" kern="1200" cap="none" spc="0" normalizeH="0" noProof="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Content Placeholder 2"/>
          <p:cNvSpPr txBox="1">
            <a:spLocks/>
          </p:cNvSpPr>
          <p:nvPr/>
        </p:nvSpPr>
        <p:spPr>
          <a:xfrm>
            <a:off x="179512" y="5229200"/>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“Alle mensen</a:t>
            </a:r>
            <a:r>
              <a:rPr kumimoji="0" lang="nl-NL" sz="2000" b="0" i="0" u="none" strike="noStrike" kern="1200" cap="none" spc="0" normalizeH="0" noProof="0" dirty="0" smtClean="0">
                <a:ln>
                  <a:noFill/>
                </a:ln>
                <a:solidFill>
                  <a:schemeClr val="tx1"/>
                </a:solidFill>
                <a:effectLst/>
                <a:uLnTx/>
                <a:uFillTx/>
                <a:latin typeface="+mn-lt"/>
                <a:ea typeface="+mn-ea"/>
                <a:cs typeface="+mn-cs"/>
              </a:rPr>
              <a:t> zijn sterfelijk” zegt dat alles wat mens is ook een sterfelijk wezen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20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5" grpId="0" build="allAtOnce"/>
      <p:bldP spid="16" grpId="0" build="allAtOnce"/>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rol van de </a:t>
            </a:r>
            <a:r>
              <a:rPr lang="nl-NL" sz="3600" dirty="0" err="1" smtClean="0"/>
              <a:t>copula</a:t>
            </a:r>
            <a:r>
              <a:rPr lang="nl-NL" sz="3600" dirty="0" smtClean="0"/>
              <a:t> in een oordeel</a:t>
            </a:r>
            <a:endParaRPr lang="nl-NL" sz="3600" dirty="0"/>
          </a:p>
        </p:txBody>
      </p:sp>
      <p:sp>
        <p:nvSpPr>
          <p:cNvPr id="19" name="Content Placeholder 2"/>
          <p:cNvSpPr>
            <a:spLocks noGrp="1"/>
          </p:cNvSpPr>
          <p:nvPr>
            <p:ph idx="1"/>
          </p:nvPr>
        </p:nvSpPr>
        <p:spPr>
          <a:xfrm>
            <a:off x="313184" y="1412776"/>
            <a:ext cx="8939336" cy="1108719"/>
          </a:xfrm>
        </p:spPr>
        <p:txBody>
          <a:bodyPr>
            <a:noAutofit/>
          </a:bodyPr>
          <a:lstStyle/>
          <a:p>
            <a:r>
              <a:rPr lang="nl-NL" sz="2000" dirty="0" smtClean="0"/>
              <a:t>Volgens de </a:t>
            </a:r>
            <a:r>
              <a:rPr lang="nl-NL" sz="2000" b="1" dirty="0" err="1" smtClean="0"/>
              <a:t>intensionele</a:t>
            </a:r>
            <a:r>
              <a:rPr lang="nl-NL" sz="2000" b="1" dirty="0" smtClean="0"/>
              <a:t> theorie </a:t>
            </a:r>
            <a:r>
              <a:rPr lang="nl-NL" sz="2000" dirty="0" smtClean="0"/>
              <a:t>zegt een </a:t>
            </a:r>
            <a:r>
              <a:rPr lang="nl-NL" sz="2000" i="1" dirty="0" smtClean="0"/>
              <a:t>S-P </a:t>
            </a:r>
            <a:r>
              <a:rPr lang="nl-NL" sz="2000" dirty="0" smtClean="0"/>
              <a:t>oordeel dat er een relatie bestaat tussen de </a:t>
            </a:r>
            <a:r>
              <a:rPr lang="nl-NL" sz="2000" dirty="0" err="1" smtClean="0"/>
              <a:t>intensies</a:t>
            </a:r>
            <a:r>
              <a:rPr lang="nl-NL" sz="2000" dirty="0" smtClean="0"/>
              <a:t> van subject en </a:t>
            </a:r>
            <a:r>
              <a:rPr lang="nl-NL" sz="2000" dirty="0" err="1" smtClean="0"/>
              <a:t>predikaat</a:t>
            </a:r>
            <a:r>
              <a:rPr lang="nl-NL" sz="2000" dirty="0" smtClean="0"/>
              <a:t>. De </a:t>
            </a:r>
            <a:r>
              <a:rPr lang="nl-NL" sz="2000" dirty="0" err="1" smtClean="0"/>
              <a:t>copula</a:t>
            </a:r>
            <a:r>
              <a:rPr lang="nl-NL" sz="2000" dirty="0" smtClean="0"/>
              <a:t> staat voor een  betrekking tussen </a:t>
            </a:r>
            <a:r>
              <a:rPr lang="nl-NL" sz="2000" dirty="0" err="1" smtClean="0"/>
              <a:t>intensies</a:t>
            </a:r>
            <a:r>
              <a:rPr lang="nl-NL" sz="2000" dirty="0" smtClean="0"/>
              <a:t>.</a:t>
            </a:r>
          </a:p>
          <a:p>
            <a:endParaRPr lang="nl-NL" sz="2000" dirty="0" smtClean="0"/>
          </a:p>
          <a:p>
            <a:endParaRPr lang="nl-NL" sz="2000" dirty="0" smtClean="0"/>
          </a:p>
          <a:p>
            <a:pPr>
              <a:buNone/>
            </a:pPr>
            <a:endParaRPr lang="nl-NL" sz="2000" i="1" dirty="0" smtClean="0"/>
          </a:p>
        </p:txBody>
      </p:sp>
      <p:sp>
        <p:nvSpPr>
          <p:cNvPr id="9" name="Content Placeholder 2"/>
          <p:cNvSpPr txBox="1">
            <a:spLocks/>
          </p:cNvSpPr>
          <p:nvPr/>
        </p:nvSpPr>
        <p:spPr>
          <a:xfrm>
            <a:off x="251520"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“Alle mensen</a:t>
            </a:r>
            <a:r>
              <a:rPr kumimoji="0" lang="nl-NL" sz="2000" b="0" i="0" u="none" strike="noStrike" kern="1200" cap="none" spc="0" normalizeH="0" noProof="0" dirty="0" smtClean="0">
                <a:ln>
                  <a:noFill/>
                </a:ln>
                <a:solidFill>
                  <a:schemeClr val="tx1"/>
                </a:solidFill>
                <a:effectLst/>
                <a:uLnTx/>
                <a:uFillTx/>
                <a:latin typeface="+mn-lt"/>
                <a:ea typeface="+mn-ea"/>
                <a:cs typeface="+mn-cs"/>
              </a:rPr>
              <a:t> zijn sterfelijk” zegt dat de eigenschap van het sterfelijk zijn bevat ligt in de betekenis (</a:t>
            </a:r>
            <a:r>
              <a:rPr lang="nl-NL" sz="2000" noProof="0" dirty="0" smtClean="0"/>
              <a:t>of </a:t>
            </a:r>
            <a:r>
              <a:rPr lang="nl-NL" sz="2000" dirty="0" smtClean="0"/>
              <a:t>essentie) van het mens zijn.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TextBox 7"/>
          <p:cNvSpPr txBox="1"/>
          <p:nvPr/>
        </p:nvSpPr>
        <p:spPr>
          <a:xfrm>
            <a:off x="179512" y="4150821"/>
            <a:ext cx="2016224" cy="369332"/>
          </a:xfrm>
          <a:prstGeom prst="rect">
            <a:avLst/>
          </a:prstGeom>
          <a:noFill/>
        </p:spPr>
        <p:txBody>
          <a:bodyPr wrap="square" rtlCol="0">
            <a:spAutoFit/>
          </a:bodyPr>
          <a:lstStyle/>
          <a:p>
            <a:r>
              <a:rPr lang="nl-NL" dirty="0" smtClean="0"/>
              <a:t>Attributietheorie</a:t>
            </a:r>
            <a:endParaRPr lang="nl-NL" dirty="0"/>
          </a:p>
        </p:txBody>
      </p:sp>
      <p:sp>
        <p:nvSpPr>
          <p:cNvPr id="10" name="TextBox 9"/>
          <p:cNvSpPr txBox="1"/>
          <p:nvPr/>
        </p:nvSpPr>
        <p:spPr>
          <a:xfrm>
            <a:off x="107504" y="4942909"/>
            <a:ext cx="2232248" cy="369332"/>
          </a:xfrm>
          <a:prstGeom prst="rect">
            <a:avLst/>
          </a:prstGeom>
          <a:noFill/>
        </p:spPr>
        <p:txBody>
          <a:bodyPr wrap="square" rtlCol="0">
            <a:spAutoFit/>
          </a:bodyPr>
          <a:lstStyle/>
          <a:p>
            <a:r>
              <a:rPr lang="nl-NL" dirty="0" err="1" smtClean="0"/>
              <a:t>Extensionele</a:t>
            </a:r>
            <a:r>
              <a:rPr lang="nl-NL" dirty="0" smtClean="0"/>
              <a:t> theorie</a:t>
            </a:r>
            <a:endParaRPr lang="nl-NL" dirty="0"/>
          </a:p>
        </p:txBody>
      </p:sp>
      <p:sp>
        <p:nvSpPr>
          <p:cNvPr id="11" name="TextBox 10"/>
          <p:cNvSpPr txBox="1"/>
          <p:nvPr/>
        </p:nvSpPr>
        <p:spPr>
          <a:xfrm>
            <a:off x="107504" y="5877272"/>
            <a:ext cx="2160240" cy="369332"/>
          </a:xfrm>
          <a:prstGeom prst="rect">
            <a:avLst/>
          </a:prstGeom>
          <a:noFill/>
        </p:spPr>
        <p:txBody>
          <a:bodyPr wrap="square" rtlCol="0">
            <a:spAutoFit/>
          </a:bodyPr>
          <a:lstStyle/>
          <a:p>
            <a:r>
              <a:rPr lang="nl-NL" dirty="0" err="1" smtClean="0"/>
              <a:t>Intensionele</a:t>
            </a:r>
            <a:r>
              <a:rPr lang="nl-NL" dirty="0" smtClean="0"/>
              <a:t> theorie</a:t>
            </a:r>
            <a:endParaRPr lang="nl-NL" dirty="0"/>
          </a:p>
        </p:txBody>
      </p:sp>
      <p:sp>
        <p:nvSpPr>
          <p:cNvPr id="12" name="TextBox 11"/>
          <p:cNvSpPr txBox="1"/>
          <p:nvPr/>
        </p:nvSpPr>
        <p:spPr>
          <a:xfrm>
            <a:off x="2411760" y="4150821"/>
            <a:ext cx="1368152" cy="369332"/>
          </a:xfrm>
          <a:prstGeom prst="rect">
            <a:avLst/>
          </a:prstGeom>
          <a:noFill/>
        </p:spPr>
        <p:txBody>
          <a:bodyPr wrap="square" rtlCol="0">
            <a:spAutoFit/>
          </a:bodyPr>
          <a:lstStyle/>
          <a:p>
            <a:r>
              <a:rPr lang="nl-NL" dirty="0" smtClean="0"/>
              <a:t>Alle S zijn</a:t>
            </a:r>
            <a:r>
              <a:rPr lang="nl-NL" i="1" dirty="0" smtClean="0"/>
              <a:t> P</a:t>
            </a:r>
            <a:endParaRPr lang="nl-NL" i="1" dirty="0"/>
          </a:p>
        </p:txBody>
      </p:sp>
      <p:sp>
        <p:nvSpPr>
          <p:cNvPr id="13" name="TextBox 12"/>
          <p:cNvSpPr txBox="1"/>
          <p:nvPr/>
        </p:nvSpPr>
        <p:spPr>
          <a:xfrm>
            <a:off x="2411760" y="4942909"/>
            <a:ext cx="1368152" cy="369332"/>
          </a:xfrm>
          <a:prstGeom prst="rect">
            <a:avLst/>
          </a:prstGeom>
          <a:noFill/>
        </p:spPr>
        <p:txBody>
          <a:bodyPr wrap="square" rtlCol="0">
            <a:spAutoFit/>
          </a:bodyPr>
          <a:lstStyle/>
          <a:p>
            <a:r>
              <a:rPr lang="nl-NL" dirty="0" smtClean="0"/>
              <a:t>Alle </a:t>
            </a:r>
            <a:r>
              <a:rPr lang="nl-NL" i="1" dirty="0" smtClean="0"/>
              <a:t>S</a:t>
            </a:r>
            <a:r>
              <a:rPr lang="nl-NL" dirty="0" smtClean="0"/>
              <a:t> zijn </a:t>
            </a:r>
            <a:r>
              <a:rPr lang="nl-NL" i="1" dirty="0" smtClean="0"/>
              <a:t>P</a:t>
            </a:r>
            <a:endParaRPr lang="nl-NL" i="1" dirty="0"/>
          </a:p>
        </p:txBody>
      </p:sp>
      <p:sp>
        <p:nvSpPr>
          <p:cNvPr id="17" name="TextBox 16"/>
          <p:cNvSpPr txBox="1"/>
          <p:nvPr/>
        </p:nvSpPr>
        <p:spPr>
          <a:xfrm>
            <a:off x="2411760" y="5867980"/>
            <a:ext cx="1368152" cy="369332"/>
          </a:xfrm>
          <a:prstGeom prst="rect">
            <a:avLst/>
          </a:prstGeom>
          <a:noFill/>
        </p:spPr>
        <p:txBody>
          <a:bodyPr wrap="square" rtlCol="0">
            <a:spAutoFit/>
          </a:bodyPr>
          <a:lstStyle/>
          <a:p>
            <a:r>
              <a:rPr lang="nl-NL" dirty="0" smtClean="0"/>
              <a:t>Alle </a:t>
            </a:r>
            <a:r>
              <a:rPr lang="nl-NL" i="1" dirty="0" smtClean="0"/>
              <a:t>S</a:t>
            </a:r>
            <a:r>
              <a:rPr lang="nl-NL" dirty="0" smtClean="0"/>
              <a:t> zijn </a:t>
            </a:r>
            <a:r>
              <a:rPr lang="nl-NL" i="1" dirty="0" smtClean="0"/>
              <a:t>P</a:t>
            </a:r>
            <a:endParaRPr lang="nl-NL" i="1" dirty="0"/>
          </a:p>
        </p:txBody>
      </p:sp>
      <p:sp>
        <p:nvSpPr>
          <p:cNvPr id="18" name="TextBox 17"/>
          <p:cNvSpPr txBox="1"/>
          <p:nvPr/>
        </p:nvSpPr>
        <p:spPr>
          <a:xfrm>
            <a:off x="4067944" y="4078813"/>
            <a:ext cx="2592288" cy="646331"/>
          </a:xfrm>
          <a:prstGeom prst="rect">
            <a:avLst/>
          </a:prstGeom>
          <a:noFill/>
        </p:spPr>
        <p:txBody>
          <a:bodyPr wrap="square" rtlCol="0">
            <a:spAutoFit/>
          </a:bodyPr>
          <a:lstStyle/>
          <a:p>
            <a:r>
              <a:rPr lang="nl-NL" dirty="0" smtClean="0"/>
              <a:t>S in </a:t>
            </a:r>
            <a:r>
              <a:rPr lang="nl-NL" i="1" dirty="0" err="1" smtClean="0"/>
              <a:t>suppositio</a:t>
            </a:r>
            <a:r>
              <a:rPr lang="nl-NL" i="1" dirty="0" smtClean="0"/>
              <a:t> </a:t>
            </a:r>
            <a:r>
              <a:rPr lang="nl-NL" i="1" dirty="0" err="1" smtClean="0"/>
              <a:t>personalis</a:t>
            </a:r>
            <a:endParaRPr lang="nl-NL" i="1" dirty="0" smtClean="0"/>
          </a:p>
          <a:p>
            <a:r>
              <a:rPr lang="nl-NL" dirty="0" smtClean="0"/>
              <a:t>P in </a:t>
            </a:r>
            <a:r>
              <a:rPr lang="nl-NL" i="1" dirty="0" err="1" smtClean="0"/>
              <a:t>suppositio</a:t>
            </a:r>
            <a:r>
              <a:rPr lang="nl-NL" i="1" dirty="0" smtClean="0"/>
              <a:t> simplex</a:t>
            </a:r>
            <a:endParaRPr lang="nl-NL" i="1" dirty="0"/>
          </a:p>
        </p:txBody>
      </p:sp>
      <p:sp>
        <p:nvSpPr>
          <p:cNvPr id="20" name="TextBox 19"/>
          <p:cNvSpPr txBox="1"/>
          <p:nvPr/>
        </p:nvSpPr>
        <p:spPr>
          <a:xfrm>
            <a:off x="4067944" y="4881934"/>
            <a:ext cx="2664296" cy="646331"/>
          </a:xfrm>
          <a:prstGeom prst="rect">
            <a:avLst/>
          </a:prstGeom>
          <a:noFill/>
        </p:spPr>
        <p:txBody>
          <a:bodyPr wrap="square" rtlCol="0">
            <a:spAutoFit/>
          </a:bodyPr>
          <a:lstStyle/>
          <a:p>
            <a:r>
              <a:rPr lang="nl-NL" dirty="0" smtClean="0"/>
              <a:t>S in </a:t>
            </a:r>
            <a:r>
              <a:rPr lang="nl-NL" i="1" dirty="0" err="1" smtClean="0"/>
              <a:t>suppositio</a:t>
            </a:r>
            <a:r>
              <a:rPr lang="nl-NL" i="1" dirty="0" smtClean="0"/>
              <a:t> </a:t>
            </a:r>
            <a:r>
              <a:rPr lang="nl-NL" i="1" dirty="0" err="1" smtClean="0"/>
              <a:t>personalis</a:t>
            </a:r>
            <a:endParaRPr lang="nl-NL" i="1" dirty="0" smtClean="0"/>
          </a:p>
          <a:p>
            <a:r>
              <a:rPr lang="nl-NL" dirty="0" smtClean="0"/>
              <a:t>P in </a:t>
            </a:r>
            <a:r>
              <a:rPr lang="nl-NL" i="1" dirty="0" err="1" smtClean="0"/>
              <a:t>suppositio</a:t>
            </a:r>
            <a:r>
              <a:rPr lang="nl-NL" i="1" dirty="0" smtClean="0"/>
              <a:t> </a:t>
            </a:r>
            <a:r>
              <a:rPr lang="nl-NL" i="1" dirty="0" err="1" smtClean="0"/>
              <a:t>personalis</a:t>
            </a:r>
            <a:endParaRPr lang="nl-NL" i="1" dirty="0"/>
          </a:p>
        </p:txBody>
      </p:sp>
      <p:sp>
        <p:nvSpPr>
          <p:cNvPr id="21" name="TextBox 20"/>
          <p:cNvSpPr txBox="1"/>
          <p:nvPr/>
        </p:nvSpPr>
        <p:spPr>
          <a:xfrm>
            <a:off x="4067944" y="5734997"/>
            <a:ext cx="2304256" cy="646331"/>
          </a:xfrm>
          <a:prstGeom prst="rect">
            <a:avLst/>
          </a:prstGeom>
          <a:noFill/>
        </p:spPr>
        <p:txBody>
          <a:bodyPr wrap="square" rtlCol="0">
            <a:spAutoFit/>
          </a:bodyPr>
          <a:lstStyle/>
          <a:p>
            <a:r>
              <a:rPr lang="nl-NL" dirty="0" smtClean="0"/>
              <a:t>S in </a:t>
            </a:r>
            <a:r>
              <a:rPr lang="nl-NL" i="1" dirty="0" err="1" smtClean="0"/>
              <a:t>suppositio</a:t>
            </a:r>
            <a:r>
              <a:rPr lang="nl-NL" i="1" dirty="0" smtClean="0"/>
              <a:t> simplex</a:t>
            </a:r>
          </a:p>
          <a:p>
            <a:r>
              <a:rPr lang="nl-NL" dirty="0" smtClean="0"/>
              <a:t>P in </a:t>
            </a:r>
            <a:r>
              <a:rPr lang="nl-NL" i="1" dirty="0" err="1" smtClean="0"/>
              <a:t>suppositio</a:t>
            </a:r>
            <a:r>
              <a:rPr lang="nl-NL" i="1" dirty="0" smtClean="0"/>
              <a:t> simplex</a:t>
            </a:r>
            <a:endParaRPr lang="nl-NL" i="1" dirty="0"/>
          </a:p>
        </p:txBody>
      </p:sp>
      <p:sp>
        <p:nvSpPr>
          <p:cNvPr id="22" name="TextBox 21"/>
          <p:cNvSpPr txBox="1"/>
          <p:nvPr/>
        </p:nvSpPr>
        <p:spPr>
          <a:xfrm>
            <a:off x="7020272" y="4078813"/>
            <a:ext cx="1656184" cy="646331"/>
          </a:xfrm>
          <a:prstGeom prst="rect">
            <a:avLst/>
          </a:prstGeom>
          <a:noFill/>
        </p:spPr>
        <p:txBody>
          <a:bodyPr wrap="square" rtlCol="0">
            <a:spAutoFit/>
          </a:bodyPr>
          <a:lstStyle/>
          <a:p>
            <a:r>
              <a:rPr lang="nl-NL" dirty="0" smtClean="0"/>
              <a:t>Realisten</a:t>
            </a:r>
          </a:p>
          <a:p>
            <a:r>
              <a:rPr lang="nl-NL" dirty="0" smtClean="0"/>
              <a:t>(</a:t>
            </a:r>
            <a:r>
              <a:rPr lang="nl-NL" dirty="0" err="1" smtClean="0"/>
              <a:t>Aquino</a:t>
            </a:r>
            <a:r>
              <a:rPr lang="nl-NL" dirty="0" smtClean="0"/>
              <a:t>)</a:t>
            </a:r>
            <a:endParaRPr lang="nl-NL" dirty="0"/>
          </a:p>
        </p:txBody>
      </p:sp>
      <p:sp>
        <p:nvSpPr>
          <p:cNvPr id="23" name="TextBox 22"/>
          <p:cNvSpPr txBox="1"/>
          <p:nvPr/>
        </p:nvSpPr>
        <p:spPr>
          <a:xfrm>
            <a:off x="7020272" y="4942909"/>
            <a:ext cx="1656184" cy="646331"/>
          </a:xfrm>
          <a:prstGeom prst="rect">
            <a:avLst/>
          </a:prstGeom>
          <a:noFill/>
        </p:spPr>
        <p:txBody>
          <a:bodyPr wrap="square" rtlCol="0">
            <a:spAutoFit/>
          </a:bodyPr>
          <a:lstStyle/>
          <a:p>
            <a:r>
              <a:rPr lang="nl-NL" dirty="0" smtClean="0"/>
              <a:t>Nominalisten (</a:t>
            </a:r>
            <a:r>
              <a:rPr lang="nl-NL" dirty="0" err="1" smtClean="0"/>
              <a:t>Ockham</a:t>
            </a:r>
            <a:r>
              <a:rPr lang="nl-NL" dirty="0" smtClean="0"/>
              <a:t>)</a:t>
            </a:r>
            <a:endParaRPr lang="nl-NL" dirty="0"/>
          </a:p>
        </p:txBody>
      </p:sp>
      <p:sp>
        <p:nvSpPr>
          <p:cNvPr id="24" name="TextBox 23"/>
          <p:cNvSpPr txBox="1"/>
          <p:nvPr/>
        </p:nvSpPr>
        <p:spPr>
          <a:xfrm>
            <a:off x="7020272" y="5867980"/>
            <a:ext cx="1944216" cy="369332"/>
          </a:xfrm>
          <a:prstGeom prst="rect">
            <a:avLst/>
          </a:prstGeom>
          <a:noFill/>
        </p:spPr>
        <p:txBody>
          <a:bodyPr wrap="square" rtlCol="0">
            <a:spAutoFit/>
          </a:bodyPr>
          <a:lstStyle/>
          <a:p>
            <a:r>
              <a:rPr lang="nl-NL" dirty="0" smtClean="0"/>
              <a:t>(Duitse) Idealisten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2000"/>
                                        <p:tgtEl>
                                          <p:spTgt spid="10">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20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animEffect transition="in" filter="fade">
                                      <p:cBhvr>
                                        <p:cTn id="23" dur="2000"/>
                                        <p:tgtEl>
                                          <p:spTgt spid="12">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xEl>
                                              <p:pRg st="0" end="0"/>
                                            </p:txEl>
                                          </p:spTgt>
                                        </p:tgtEl>
                                        <p:attrNameLst>
                                          <p:attrName>style.visibility</p:attrName>
                                        </p:attrNameLst>
                                      </p:cBhvr>
                                      <p:to>
                                        <p:strVal val="visible"/>
                                      </p:to>
                                    </p:set>
                                    <p:animEffect transition="in" filter="fade">
                                      <p:cBhvr>
                                        <p:cTn id="26" dur="2000"/>
                                        <p:tgtEl>
                                          <p:spTgt spid="13">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xEl>
                                              <p:pRg st="0" end="0"/>
                                            </p:txEl>
                                          </p:spTgt>
                                        </p:tgtEl>
                                        <p:attrNameLst>
                                          <p:attrName>style.visibility</p:attrName>
                                        </p:attrNameLst>
                                      </p:cBhvr>
                                      <p:to>
                                        <p:strVal val="visible"/>
                                      </p:to>
                                    </p:set>
                                    <p:animEffect transition="in" filter="fade">
                                      <p:cBhvr>
                                        <p:cTn id="29" dur="2000"/>
                                        <p:tgtEl>
                                          <p:spTgt spid="1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8">
                                            <p:txEl>
                                              <p:pRg st="0" end="0"/>
                                            </p:txEl>
                                          </p:spTgt>
                                        </p:tgtEl>
                                        <p:attrNameLst>
                                          <p:attrName>style.visibility</p:attrName>
                                        </p:attrNameLst>
                                      </p:cBhvr>
                                      <p:to>
                                        <p:strVal val="visible"/>
                                      </p:to>
                                    </p:set>
                                    <p:animEffect transition="in" filter="fade">
                                      <p:cBhvr>
                                        <p:cTn id="34" dur="2000"/>
                                        <p:tgtEl>
                                          <p:spTgt spid="18">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xEl>
                                              <p:pRg st="1" end="1"/>
                                            </p:txEl>
                                          </p:spTgt>
                                        </p:tgtEl>
                                        <p:attrNameLst>
                                          <p:attrName>style.visibility</p:attrName>
                                        </p:attrNameLst>
                                      </p:cBhvr>
                                      <p:to>
                                        <p:strVal val="visible"/>
                                      </p:to>
                                    </p:set>
                                    <p:animEffect transition="in" filter="fade">
                                      <p:cBhvr>
                                        <p:cTn id="37" dur="2000"/>
                                        <p:tgtEl>
                                          <p:spTgt spid="18">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xEl>
                                              <p:pRg st="0" end="0"/>
                                            </p:txEl>
                                          </p:spTgt>
                                        </p:tgtEl>
                                        <p:attrNameLst>
                                          <p:attrName>style.visibility</p:attrName>
                                        </p:attrNameLst>
                                      </p:cBhvr>
                                      <p:to>
                                        <p:strVal val="visible"/>
                                      </p:to>
                                    </p:set>
                                    <p:animEffect transition="in" filter="fade">
                                      <p:cBhvr>
                                        <p:cTn id="42" dur="2000"/>
                                        <p:tgtEl>
                                          <p:spTgt spid="20">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xEl>
                                              <p:pRg st="1" end="1"/>
                                            </p:txEl>
                                          </p:spTgt>
                                        </p:tgtEl>
                                        <p:attrNameLst>
                                          <p:attrName>style.visibility</p:attrName>
                                        </p:attrNameLst>
                                      </p:cBhvr>
                                      <p:to>
                                        <p:strVal val="visible"/>
                                      </p:to>
                                    </p:set>
                                    <p:animEffect transition="in" filter="fade">
                                      <p:cBhvr>
                                        <p:cTn id="45" dur="2000"/>
                                        <p:tgtEl>
                                          <p:spTgt spid="20">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xEl>
                                              <p:pRg st="0" end="0"/>
                                            </p:txEl>
                                          </p:spTgt>
                                        </p:tgtEl>
                                        <p:attrNameLst>
                                          <p:attrName>style.visibility</p:attrName>
                                        </p:attrNameLst>
                                      </p:cBhvr>
                                      <p:to>
                                        <p:strVal val="visible"/>
                                      </p:to>
                                    </p:set>
                                    <p:animEffect transition="in" filter="fade">
                                      <p:cBhvr>
                                        <p:cTn id="50" dur="2000"/>
                                        <p:tgtEl>
                                          <p:spTgt spid="21">
                                            <p:txEl>
                                              <p:pRg st="0" end="0"/>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1">
                                            <p:txEl>
                                              <p:pRg st="1" end="1"/>
                                            </p:txEl>
                                          </p:spTgt>
                                        </p:tgtEl>
                                        <p:attrNameLst>
                                          <p:attrName>style.visibility</p:attrName>
                                        </p:attrNameLst>
                                      </p:cBhvr>
                                      <p:to>
                                        <p:strVal val="visible"/>
                                      </p:to>
                                    </p:set>
                                    <p:animEffect transition="in" filter="fade">
                                      <p:cBhvr>
                                        <p:cTn id="53" dur="2000"/>
                                        <p:tgtEl>
                                          <p:spTgt spid="21">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xEl>
                                              <p:pRg st="0" end="0"/>
                                            </p:txEl>
                                          </p:spTgt>
                                        </p:tgtEl>
                                        <p:attrNameLst>
                                          <p:attrName>style.visibility</p:attrName>
                                        </p:attrNameLst>
                                      </p:cBhvr>
                                      <p:to>
                                        <p:strVal val="visible"/>
                                      </p:to>
                                    </p:set>
                                    <p:animEffect transition="in" filter="fade">
                                      <p:cBhvr>
                                        <p:cTn id="58" dur="2000"/>
                                        <p:tgtEl>
                                          <p:spTgt spid="22">
                                            <p:txEl>
                                              <p:pRg st="0" end="0"/>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xEl>
                                              <p:pRg st="1" end="1"/>
                                            </p:txEl>
                                          </p:spTgt>
                                        </p:tgtEl>
                                        <p:attrNameLst>
                                          <p:attrName>style.visibility</p:attrName>
                                        </p:attrNameLst>
                                      </p:cBhvr>
                                      <p:to>
                                        <p:strVal val="visible"/>
                                      </p:to>
                                    </p:set>
                                    <p:animEffect transition="in" filter="fade">
                                      <p:cBhvr>
                                        <p:cTn id="61" dur="2000"/>
                                        <p:tgtEl>
                                          <p:spTgt spid="22">
                                            <p:txEl>
                                              <p:pRg st="1" end="1"/>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3">
                                            <p:txEl>
                                              <p:pRg st="0" end="0"/>
                                            </p:txEl>
                                          </p:spTgt>
                                        </p:tgtEl>
                                        <p:attrNameLst>
                                          <p:attrName>style.visibility</p:attrName>
                                        </p:attrNameLst>
                                      </p:cBhvr>
                                      <p:to>
                                        <p:strVal val="visible"/>
                                      </p:to>
                                    </p:set>
                                    <p:animEffect transition="in" filter="fade">
                                      <p:cBhvr>
                                        <p:cTn id="66" dur="2000"/>
                                        <p:tgtEl>
                                          <p:spTgt spid="23">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4">
                                            <p:txEl>
                                              <p:pRg st="0" end="0"/>
                                            </p:txEl>
                                          </p:spTgt>
                                        </p:tgtEl>
                                        <p:attrNameLst>
                                          <p:attrName>style.visibility</p:attrName>
                                        </p:attrNameLst>
                                      </p:cBhvr>
                                      <p:to>
                                        <p:strVal val="visible"/>
                                      </p:to>
                                    </p:set>
                                    <p:animEffect transition="in" filter="fade">
                                      <p:cBhvr>
                                        <p:cTn id="71" dur="20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8" grpId="0" build="allAtOnce"/>
      <p:bldP spid="10" grpId="0" build="allAtOnce"/>
      <p:bldP spid="11" grpId="0" build="allAtOnce"/>
      <p:bldP spid="12" grpId="0" build="allAtOnce"/>
      <p:bldP spid="13" grpId="0" build="allAtOnce"/>
      <p:bldP spid="17" grpId="0" build="allAtOnce"/>
      <p:bldP spid="18" grpId="0" build="allAtOnce"/>
      <p:bldP spid="20" grpId="0" build="allAtOnce"/>
      <p:bldP spid="21" grpId="0" build="allAtOnce"/>
      <p:bldP spid="22" grpId="0" build="allAtOnce"/>
      <p:bldP spid="23" grpId="0" build="allAtOnce"/>
      <p:bldP spid="24" grpId="0" build="allAtOnce"/>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Suppositietheorie en het compositiebeginsel</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Het </a:t>
            </a:r>
            <a:r>
              <a:rPr lang="nl-NL" sz="2000" i="1" dirty="0" smtClean="0"/>
              <a:t>compositiebeginsel</a:t>
            </a:r>
            <a:r>
              <a:rPr lang="nl-NL" sz="2000" dirty="0" smtClean="0"/>
              <a:t> van de hedendaagse semantiek (‘principe van </a:t>
            </a:r>
            <a:r>
              <a:rPr lang="nl-NL" sz="2000" dirty="0" err="1" smtClean="0"/>
              <a:t>Frege</a:t>
            </a:r>
            <a:r>
              <a:rPr lang="nl-NL" sz="2000" dirty="0" smtClean="0"/>
              <a:t>’) stelt dat de semantische interpretatie van een complexe expressie bepaald   wordt door de samenstellende delen ervan.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sng" strike="noStrike" kern="1200" cap="none" spc="0" normalizeH="0" baseline="0" noProof="0" dirty="0" smtClean="0">
                <a:ln>
                  <a:noFill/>
                </a:ln>
                <a:solidFill>
                  <a:schemeClr val="tx1"/>
                </a:solidFill>
                <a:effectLst/>
                <a:uLnTx/>
                <a:uFillTx/>
                <a:latin typeface="+mn-lt"/>
                <a:ea typeface="+mn-ea"/>
                <a:cs typeface="+mn-cs"/>
              </a:rPr>
              <a:t>Voorbeeld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de propositielogica wordt</a:t>
            </a:r>
            <a:r>
              <a:rPr kumimoji="0" lang="nl-NL" sz="2000" b="0" i="0" u="none" strike="noStrike" kern="1200" cap="none" spc="0" normalizeH="0" noProof="0" dirty="0" smtClean="0">
                <a:ln>
                  <a:noFill/>
                </a:ln>
                <a:solidFill>
                  <a:schemeClr val="tx1"/>
                </a:solidFill>
                <a:effectLst/>
                <a:uLnTx/>
                <a:uFillTx/>
                <a:latin typeface="+mn-lt"/>
                <a:ea typeface="+mn-ea"/>
                <a:cs typeface="+mn-cs"/>
              </a:rPr>
              <a:t> de waarheid van een complexe propositie geheel bepaald door de logische constanten en de waarheid                    van de proposities waaruit de complexe propositie is samengesteld.                     (‘</a:t>
            </a:r>
            <a:r>
              <a:rPr kumimoji="0" lang="nl-NL" sz="2000" b="0" i="0" u="none" strike="noStrike" kern="1200" cap="none" spc="0" normalizeH="0" noProof="0" dirty="0" err="1" smtClean="0">
                <a:ln>
                  <a:noFill/>
                </a:ln>
                <a:solidFill>
                  <a:schemeClr val="tx1"/>
                </a:solidFill>
                <a:effectLst/>
                <a:uLnTx/>
                <a:uFillTx/>
                <a:latin typeface="+mn-lt"/>
                <a:ea typeface="+mn-ea"/>
                <a:cs typeface="+mn-cs"/>
              </a:rPr>
              <a:t>pincipe</a:t>
            </a:r>
            <a:r>
              <a:rPr kumimoji="0" lang="nl-NL" sz="2000" b="0" i="0" u="none" strike="noStrike" kern="1200" cap="none" spc="0" normalizeH="0" noProof="0" dirty="0" smtClean="0">
                <a:ln>
                  <a:noFill/>
                </a:ln>
                <a:solidFill>
                  <a:schemeClr val="tx1"/>
                </a:solidFill>
                <a:effectLst/>
                <a:uLnTx/>
                <a:uFillTx/>
                <a:latin typeface="+mn-lt"/>
                <a:ea typeface="+mn-ea"/>
                <a:cs typeface="+mn-cs"/>
              </a:rPr>
              <a:t>  van waarheidsfunctionaliteit’)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4120481"/>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Voldoet</a:t>
            </a:r>
            <a:r>
              <a:rPr kumimoji="0" lang="nl-NL" sz="2000" b="0" i="0" u="none" strike="noStrike" kern="1200" cap="none" spc="0" normalizeH="0" noProof="0" dirty="0" smtClean="0">
                <a:ln>
                  <a:noFill/>
                </a:ln>
                <a:solidFill>
                  <a:schemeClr val="tx1"/>
                </a:solidFill>
                <a:effectLst/>
                <a:uLnTx/>
                <a:uFillTx/>
                <a:latin typeface="+mn-lt"/>
                <a:ea typeface="+mn-ea"/>
                <a:cs typeface="+mn-cs"/>
              </a:rPr>
              <a:t> de suppositietheorie aan het compositiebeginsel?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7" name="Content Placeholder 2"/>
          <p:cNvSpPr txBox="1">
            <a:spLocks/>
          </p:cNvSpPr>
          <p:nvPr/>
        </p:nvSpPr>
        <p:spPr>
          <a:xfrm>
            <a:off x="323528" y="4696545"/>
            <a:ext cx="3024336" cy="103671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1" u="none" strike="noStrike" kern="1200" cap="none" spc="0" normalizeH="0" noProof="0" dirty="0" smtClean="0">
                <a:ln>
                  <a:noFill/>
                </a:ln>
                <a:solidFill>
                  <a:schemeClr val="tx1"/>
                </a:solidFill>
                <a:effectLst/>
                <a:uLnTx/>
                <a:uFillTx/>
                <a:latin typeface="+mn-lt"/>
                <a:ea typeface="+mn-ea"/>
                <a:cs typeface="+mn-cs"/>
              </a:rPr>
              <a:t> mens is een soort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smtClean="0"/>
              <a:t>De</a:t>
            </a:r>
            <a:r>
              <a:rPr lang="nl-NL" sz="2000" i="1" dirty="0" smtClean="0"/>
              <a:t> mens is sterfelijk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20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fade">
                                      <p:cBhvr>
                                        <p:cTn id="12" dur="20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Effect transition="in" filter="fade">
                                      <p:cBhvr>
                                        <p:cTn id="17" dur="2000"/>
                                        <p:tgtEl>
                                          <p:spTgt spid="27">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
                                            <p:txEl>
                                              <p:pRg st="1" end="1"/>
                                            </p:txEl>
                                          </p:spTgt>
                                        </p:tgtEl>
                                        <p:attrNameLst>
                                          <p:attrName>style.visibility</p:attrName>
                                        </p:attrNameLst>
                                      </p:cBhvr>
                                      <p:to>
                                        <p:strVal val="visible"/>
                                      </p:to>
                                    </p:set>
                                    <p:animEffect transition="in" filter="fade">
                                      <p:cBhvr>
                                        <p:cTn id="20" dur="2000"/>
                                        <p:tgtEl>
                                          <p:spTgt spid="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allAtOnce"/>
      <p:bldP spid="26" grpId="0" build="allAtOnce"/>
      <p:bldP spid="27" grpId="0" build="allAtOnce"/>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Suppositietheorie en het compositiebeginsel</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Het </a:t>
            </a:r>
            <a:r>
              <a:rPr lang="nl-NL" sz="2000" i="1" dirty="0" smtClean="0"/>
              <a:t>compositiebeginsel</a:t>
            </a:r>
            <a:r>
              <a:rPr lang="nl-NL" sz="2000" dirty="0" smtClean="0"/>
              <a:t> van de hedendaagse semantiek (‘principe van </a:t>
            </a:r>
            <a:r>
              <a:rPr lang="nl-NL" sz="2000" dirty="0" err="1" smtClean="0"/>
              <a:t>Frege</a:t>
            </a:r>
            <a:r>
              <a:rPr lang="nl-NL" sz="2000" dirty="0" smtClean="0"/>
              <a:t>’) stelt dat de semantische interpretatie van een complexe expressie bepaald   wordt door de samenstellende delen ervan.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sng" strike="noStrike" kern="1200" cap="none" spc="0" normalizeH="0" baseline="0" noProof="0" dirty="0" smtClean="0">
                <a:ln>
                  <a:noFill/>
                </a:ln>
                <a:solidFill>
                  <a:schemeClr val="tx1"/>
                </a:solidFill>
                <a:effectLst/>
                <a:uLnTx/>
                <a:uFillTx/>
                <a:latin typeface="+mn-lt"/>
                <a:ea typeface="+mn-ea"/>
                <a:cs typeface="+mn-cs"/>
              </a:rPr>
              <a:t>Voorbeeld</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 de propositielogica wordt</a:t>
            </a:r>
            <a:r>
              <a:rPr kumimoji="0" lang="nl-NL" sz="2000" b="0" i="0" u="none" strike="noStrike" kern="1200" cap="none" spc="0" normalizeH="0" noProof="0" dirty="0" smtClean="0">
                <a:ln>
                  <a:noFill/>
                </a:ln>
                <a:solidFill>
                  <a:schemeClr val="tx1"/>
                </a:solidFill>
                <a:effectLst/>
                <a:uLnTx/>
                <a:uFillTx/>
                <a:latin typeface="+mn-lt"/>
                <a:ea typeface="+mn-ea"/>
                <a:cs typeface="+mn-cs"/>
              </a:rPr>
              <a:t> de waarheid van een complexe propositie geheel bepaald door de logische constanten en de waarheid                    van de proposities waaruit de complexe propositie is samengesteld.                     (‘</a:t>
            </a:r>
            <a:r>
              <a:rPr kumimoji="0" lang="nl-NL" sz="2000" b="0" i="0" u="none" strike="noStrike" kern="1200" cap="none" spc="0" normalizeH="0" noProof="0" dirty="0" err="1" smtClean="0">
                <a:ln>
                  <a:noFill/>
                </a:ln>
                <a:solidFill>
                  <a:schemeClr val="tx1"/>
                </a:solidFill>
                <a:effectLst/>
                <a:uLnTx/>
                <a:uFillTx/>
                <a:latin typeface="+mn-lt"/>
                <a:ea typeface="+mn-ea"/>
                <a:cs typeface="+mn-cs"/>
              </a:rPr>
              <a:t>pincipe</a:t>
            </a:r>
            <a:r>
              <a:rPr kumimoji="0" lang="nl-NL" sz="2000" b="0" i="0" u="none" strike="noStrike" kern="1200" cap="none" spc="0" normalizeH="0" noProof="0" dirty="0" smtClean="0">
                <a:ln>
                  <a:noFill/>
                </a:ln>
                <a:solidFill>
                  <a:schemeClr val="tx1"/>
                </a:solidFill>
                <a:effectLst/>
                <a:uLnTx/>
                <a:uFillTx/>
                <a:latin typeface="+mn-lt"/>
                <a:ea typeface="+mn-ea"/>
                <a:cs typeface="+mn-cs"/>
              </a:rPr>
              <a:t>  van waarheidsfunctionaliteit’)</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4120481"/>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Voldoet</a:t>
            </a:r>
            <a:r>
              <a:rPr kumimoji="0" lang="nl-NL" sz="2000" b="0" i="0" u="none" strike="noStrike" kern="1200" cap="none" spc="0" normalizeH="0" noProof="0" dirty="0" smtClean="0">
                <a:ln>
                  <a:noFill/>
                </a:ln>
                <a:solidFill>
                  <a:schemeClr val="tx1"/>
                </a:solidFill>
                <a:effectLst/>
                <a:uLnTx/>
                <a:uFillTx/>
                <a:latin typeface="+mn-lt"/>
                <a:ea typeface="+mn-ea"/>
                <a:cs typeface="+mn-cs"/>
              </a:rPr>
              <a:t> de suppositietheorie aan het compositiebeginsel?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7" name="Content Placeholder 2"/>
          <p:cNvSpPr txBox="1">
            <a:spLocks/>
          </p:cNvSpPr>
          <p:nvPr/>
        </p:nvSpPr>
        <p:spPr>
          <a:xfrm>
            <a:off x="323528" y="4696545"/>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smtClean="0">
                <a:ln>
                  <a:noFill/>
                </a:ln>
                <a:solidFill>
                  <a:schemeClr val="tx1"/>
                </a:solidFill>
                <a:effectLst/>
                <a:uLnTx/>
                <a:uFillTx/>
                <a:latin typeface="+mn-lt"/>
                <a:ea typeface="+mn-ea"/>
                <a:cs typeface="+mn-cs"/>
              </a:rPr>
              <a:t>mens</a:t>
            </a:r>
            <a:r>
              <a:rPr kumimoji="0" lang="nl-NL" sz="2000" b="0" i="1" u="none" strike="noStrike" kern="1200" cap="none" spc="0" normalizeH="0" noProof="0" dirty="0" smtClean="0">
                <a:ln>
                  <a:noFill/>
                </a:ln>
                <a:solidFill>
                  <a:schemeClr val="tx1"/>
                </a:solidFill>
                <a:effectLst/>
                <a:uLnTx/>
                <a:uFillTx/>
                <a:latin typeface="+mn-lt"/>
                <a:ea typeface="+mn-ea"/>
                <a:cs typeface="+mn-cs"/>
              </a:rPr>
              <a:t> is een soort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i="1" baseline="0" dirty="0" smtClean="0"/>
              <a:t>De</a:t>
            </a:r>
            <a:r>
              <a:rPr lang="nl-NL" sz="2000" i="1" dirty="0" smtClean="0"/>
              <a:t> </a:t>
            </a:r>
            <a:r>
              <a:rPr lang="nl-NL" sz="2000" b="1" i="1" dirty="0" smtClean="0"/>
              <a:t>mens</a:t>
            </a:r>
            <a:r>
              <a:rPr lang="nl-NL" sz="2000" i="1" dirty="0" smtClean="0"/>
              <a:t> is sterfelijk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TextBox 6"/>
          <p:cNvSpPr txBox="1"/>
          <p:nvPr/>
        </p:nvSpPr>
        <p:spPr>
          <a:xfrm>
            <a:off x="3203848" y="4687976"/>
            <a:ext cx="5688632" cy="1477328"/>
          </a:xfrm>
          <a:prstGeom prst="rect">
            <a:avLst/>
          </a:prstGeom>
          <a:noFill/>
        </p:spPr>
        <p:txBody>
          <a:bodyPr wrap="square" rtlCol="0">
            <a:spAutoFit/>
          </a:bodyPr>
          <a:lstStyle/>
          <a:p>
            <a:r>
              <a:rPr lang="nl-NL" dirty="0" smtClean="0"/>
              <a:t>In het ene geval is ‘mens’ in </a:t>
            </a:r>
            <a:r>
              <a:rPr lang="nl-NL" i="1" dirty="0" err="1" smtClean="0"/>
              <a:t>suppositio</a:t>
            </a:r>
            <a:r>
              <a:rPr lang="nl-NL" i="1" dirty="0" smtClean="0"/>
              <a:t> simplex</a:t>
            </a:r>
            <a:r>
              <a:rPr lang="nl-NL" dirty="0" smtClean="0"/>
              <a:t> en in het andere geval is ‘mens’ in </a:t>
            </a:r>
            <a:r>
              <a:rPr lang="nl-NL" i="1" dirty="0" err="1" smtClean="0"/>
              <a:t>suppositio</a:t>
            </a:r>
            <a:r>
              <a:rPr lang="nl-NL" i="1" dirty="0" smtClean="0"/>
              <a:t> </a:t>
            </a:r>
            <a:r>
              <a:rPr lang="nl-NL" i="1" dirty="0" err="1" smtClean="0"/>
              <a:t>personalis</a:t>
            </a:r>
            <a:r>
              <a:rPr lang="nl-NL" dirty="0" smtClean="0"/>
              <a:t>. Dit wordt </a:t>
            </a:r>
            <a:r>
              <a:rPr lang="nl-NL" i="1" dirty="0" smtClean="0"/>
              <a:t>niet</a:t>
            </a:r>
            <a:r>
              <a:rPr lang="nl-NL" dirty="0" smtClean="0"/>
              <a:t> bepaald door de samenstellende delen van ‘mens’, maar door het </a:t>
            </a:r>
            <a:r>
              <a:rPr lang="nl-NL" dirty="0" err="1" smtClean="0"/>
              <a:t>predikaat</a:t>
            </a:r>
            <a:r>
              <a:rPr lang="nl-NL" dirty="0" smtClean="0"/>
              <a:t> van het oordeel. Er wordt dus  niet aan het compositiebeginsel voldaan.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19" name="Content Placeholder 2"/>
          <p:cNvSpPr>
            <a:spLocks noGrp="1"/>
          </p:cNvSpPr>
          <p:nvPr>
            <p:ph idx="1"/>
          </p:nvPr>
        </p:nvSpPr>
        <p:spPr>
          <a:xfrm>
            <a:off x="313184" y="1556792"/>
            <a:ext cx="8939336" cy="748679"/>
          </a:xfrm>
        </p:spPr>
        <p:txBody>
          <a:bodyPr>
            <a:noAutofit/>
          </a:bodyPr>
          <a:lstStyle/>
          <a:p>
            <a:r>
              <a:rPr lang="nl-NL" sz="2000" dirty="0" smtClean="0"/>
              <a:t>In de negentiende eeuw ontwikkelde </a:t>
            </a:r>
            <a:r>
              <a:rPr lang="nl-NL" sz="2000" dirty="0" err="1" smtClean="0"/>
              <a:t>Boole</a:t>
            </a:r>
            <a:r>
              <a:rPr lang="nl-NL" sz="2000" dirty="0" smtClean="0"/>
              <a:t> en de Morgan de </a:t>
            </a:r>
            <a:r>
              <a:rPr lang="nl-NL" sz="2000" dirty="0" err="1" smtClean="0"/>
              <a:t>klasselogische</a:t>
            </a:r>
            <a:r>
              <a:rPr lang="nl-NL" sz="2000" dirty="0" smtClean="0"/>
              <a:t> interpretatie van de </a:t>
            </a:r>
            <a:r>
              <a:rPr lang="nl-NL" sz="2000" dirty="0" err="1" smtClean="0"/>
              <a:t>syllogistiek</a:t>
            </a:r>
            <a:r>
              <a:rPr lang="nl-NL" sz="2000" dirty="0" smtClean="0"/>
              <a:t> (‘</a:t>
            </a:r>
            <a:r>
              <a:rPr lang="nl-NL" sz="2000" dirty="0" err="1" smtClean="0"/>
              <a:t>klasselogica</a:t>
            </a:r>
            <a:r>
              <a:rPr lang="nl-NL" sz="2000" dirty="0" smtClean="0"/>
              <a:t>’). </a:t>
            </a:r>
          </a:p>
          <a:p>
            <a:endParaRPr lang="nl-NL" sz="2000" dirty="0" smtClean="0"/>
          </a:p>
          <a:p>
            <a:pPr>
              <a:buNone/>
            </a:pPr>
            <a:endParaRPr lang="nl-NL" sz="2000" i="1" dirty="0" smtClean="0"/>
          </a:p>
        </p:txBody>
      </p:sp>
      <p:sp>
        <p:nvSpPr>
          <p:cNvPr id="25" name="Content Placeholder 2"/>
          <p:cNvSpPr txBox="1">
            <a:spLocks/>
          </p:cNvSpPr>
          <p:nvPr/>
        </p:nvSpPr>
        <p:spPr>
          <a:xfrm>
            <a:off x="313184" y="2320281"/>
            <a:ext cx="8939336" cy="1108719"/>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De </a:t>
            </a:r>
            <a:r>
              <a:rPr lang="nl-NL" sz="2000" dirty="0" err="1" smtClean="0"/>
              <a:t>klasselogische</a:t>
            </a:r>
            <a:r>
              <a:rPr lang="nl-NL" sz="2000" dirty="0" smtClean="0"/>
              <a:t> interpretatie is een </a:t>
            </a:r>
            <a:r>
              <a:rPr lang="nl-NL" sz="2000" i="1" dirty="0" smtClean="0"/>
              <a:t>semantische</a:t>
            </a:r>
            <a:r>
              <a:rPr lang="nl-NL" sz="2000" dirty="0" smtClean="0"/>
              <a:t> interpretatie van de               formules van de </a:t>
            </a:r>
            <a:r>
              <a:rPr lang="nl-NL" sz="2000" dirty="0" err="1" smtClean="0"/>
              <a:t>syllogistiek</a:t>
            </a:r>
            <a:r>
              <a:rPr lang="nl-NL" sz="2000" dirty="0" smtClean="0"/>
              <a:t>, waarbij de rol van de termen </a:t>
            </a:r>
            <a:r>
              <a:rPr lang="nl-NL" sz="2000" i="1" dirty="0" smtClean="0"/>
              <a:t>geheel</a:t>
            </a:r>
            <a:r>
              <a:rPr lang="nl-NL" sz="2000" dirty="0" smtClean="0"/>
              <a:t> wordt opgehangen aan hun extensie.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13184" y="3429000"/>
            <a:ext cx="4258816"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Er is een </a:t>
            </a:r>
            <a:r>
              <a:rPr lang="nl-NL" sz="2000" i="1" dirty="0" smtClean="0"/>
              <a:t>domein</a:t>
            </a:r>
            <a:r>
              <a:rPr lang="nl-NL" sz="2000" dirty="0" smtClean="0"/>
              <a:t> van alle objecten</a:t>
            </a:r>
          </a:p>
        </p:txBody>
      </p:sp>
      <p:sp>
        <p:nvSpPr>
          <p:cNvPr id="10" name="Content Placeholder 2"/>
          <p:cNvSpPr txBox="1">
            <a:spLocks/>
          </p:cNvSpPr>
          <p:nvPr/>
        </p:nvSpPr>
        <p:spPr>
          <a:xfrm>
            <a:off x="323528" y="3861048"/>
            <a:ext cx="4320480" cy="676671"/>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De extensie van een term is een                                                                                       verzameling van objecten</a:t>
            </a:r>
          </a:p>
        </p:txBody>
      </p:sp>
      <p:sp>
        <p:nvSpPr>
          <p:cNvPr id="11" name="Content Placeholder 2"/>
          <p:cNvSpPr txBox="1">
            <a:spLocks/>
          </p:cNvSpPr>
          <p:nvPr/>
        </p:nvSpPr>
        <p:spPr>
          <a:xfrm>
            <a:off x="323528" y="4581128"/>
            <a:ext cx="4536504" cy="676671"/>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Ieder object is dus wel of niet een                                                                                           element van een verzameling</a:t>
            </a:r>
          </a:p>
        </p:txBody>
      </p:sp>
      <p:sp>
        <p:nvSpPr>
          <p:cNvPr id="12" name="Rectangle 11"/>
          <p:cNvSpPr/>
          <p:nvPr/>
        </p:nvSpPr>
        <p:spPr>
          <a:xfrm>
            <a:off x="4932040" y="3573016"/>
            <a:ext cx="3744416" cy="237626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l 12"/>
          <p:cNvSpPr/>
          <p:nvPr/>
        </p:nvSpPr>
        <p:spPr>
          <a:xfrm>
            <a:off x="5652120" y="3933056"/>
            <a:ext cx="1296144" cy="129614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TextBox 15"/>
          <p:cNvSpPr txBox="1"/>
          <p:nvPr/>
        </p:nvSpPr>
        <p:spPr>
          <a:xfrm>
            <a:off x="7596336" y="3933056"/>
            <a:ext cx="504056" cy="369332"/>
          </a:xfrm>
          <a:prstGeom prst="rect">
            <a:avLst/>
          </a:prstGeom>
          <a:noFill/>
        </p:spPr>
        <p:txBody>
          <a:bodyPr wrap="square" rtlCol="0">
            <a:spAutoFit/>
          </a:bodyPr>
          <a:lstStyle/>
          <a:p>
            <a:r>
              <a:rPr lang="nl-NL" b="1" dirty="0" smtClean="0"/>
              <a:t>. </a:t>
            </a:r>
            <a:r>
              <a:rPr lang="nl-NL" dirty="0" smtClean="0"/>
              <a:t>a</a:t>
            </a:r>
            <a:endParaRPr lang="nl-NL" dirty="0"/>
          </a:p>
        </p:txBody>
      </p:sp>
      <p:sp>
        <p:nvSpPr>
          <p:cNvPr id="17" name="TextBox 16"/>
          <p:cNvSpPr txBox="1"/>
          <p:nvPr/>
        </p:nvSpPr>
        <p:spPr>
          <a:xfrm>
            <a:off x="6804248" y="4941168"/>
            <a:ext cx="576064" cy="369332"/>
          </a:xfrm>
          <a:prstGeom prst="rect">
            <a:avLst/>
          </a:prstGeom>
          <a:noFill/>
        </p:spPr>
        <p:txBody>
          <a:bodyPr wrap="square" rtlCol="0">
            <a:spAutoFit/>
          </a:bodyPr>
          <a:lstStyle/>
          <a:p>
            <a:r>
              <a:rPr lang="nl-NL" dirty="0" smtClean="0"/>
              <a:t>V</a:t>
            </a:r>
            <a:endParaRPr lang="nl-NL" dirty="0"/>
          </a:p>
        </p:txBody>
      </p:sp>
      <p:sp>
        <p:nvSpPr>
          <p:cNvPr id="18" name="TextBox 17"/>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0" name="TextBox 19"/>
          <p:cNvSpPr txBox="1"/>
          <p:nvPr/>
        </p:nvSpPr>
        <p:spPr>
          <a:xfrm>
            <a:off x="5004048" y="6165304"/>
            <a:ext cx="1512168" cy="400110"/>
          </a:xfrm>
          <a:prstGeom prst="rect">
            <a:avLst/>
          </a:prstGeom>
          <a:noFill/>
        </p:spPr>
        <p:txBody>
          <a:bodyPr wrap="square" rtlCol="0">
            <a:spAutoFit/>
          </a:bodyPr>
          <a:lstStyle/>
          <a:p>
            <a:r>
              <a:rPr lang="nl-NL" sz="2000" b="1" dirty="0" smtClean="0"/>
              <a:t>a ∉ V </a:t>
            </a:r>
            <a:endParaRPr lang="nl-NL" sz="2000" b="1" dirty="0"/>
          </a:p>
        </p:txBody>
      </p:sp>
      <p:sp>
        <p:nvSpPr>
          <p:cNvPr id="21" name="Content Placeholder 2"/>
          <p:cNvSpPr txBox="1">
            <a:spLocks/>
          </p:cNvSpPr>
          <p:nvPr/>
        </p:nvSpPr>
        <p:spPr>
          <a:xfrm>
            <a:off x="313184" y="5257800"/>
            <a:ext cx="4330824" cy="134076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Als object a een element is van                                                                                      verzameling V, dan schrijven we                                                                                                         a ∈ V. Als a geen element is van V,                                                                                                    dan schrijven we a ∉ V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20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20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20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20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20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xEl>
                                              <p:pRg st="0" end="0"/>
                                            </p:txEl>
                                          </p:spTgt>
                                        </p:tgtEl>
                                        <p:attrNameLst>
                                          <p:attrName>style.visibility</p:attrName>
                                        </p:attrNameLst>
                                      </p:cBhvr>
                                      <p:to>
                                        <p:strVal val="visible"/>
                                      </p:to>
                                    </p:set>
                                    <p:animEffect transition="in" filter="fade">
                                      <p:cBhvr>
                                        <p:cTn id="38" dur="2000"/>
                                        <p:tgtEl>
                                          <p:spTgt spid="11">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6">
                                            <p:txEl>
                                              <p:pRg st="0" end="0"/>
                                            </p:txEl>
                                          </p:spTgt>
                                        </p:tgtEl>
                                        <p:attrNameLst>
                                          <p:attrName>style.visibility</p:attrName>
                                        </p:attrNameLst>
                                      </p:cBhvr>
                                      <p:to>
                                        <p:strVal val="visible"/>
                                      </p:to>
                                    </p:set>
                                    <p:animEffect transition="in" filter="fade">
                                      <p:cBhvr>
                                        <p:cTn id="43" dur="2000"/>
                                        <p:tgtEl>
                                          <p:spTgt spid="16">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1">
                                            <p:txEl>
                                              <p:pRg st="0" end="0"/>
                                            </p:txEl>
                                          </p:spTgt>
                                        </p:tgtEl>
                                        <p:attrNameLst>
                                          <p:attrName>style.visibility</p:attrName>
                                        </p:attrNameLst>
                                      </p:cBhvr>
                                      <p:to>
                                        <p:strVal val="visible"/>
                                      </p:to>
                                    </p:set>
                                    <p:animEffect transition="in" filter="fade">
                                      <p:cBhvr>
                                        <p:cTn id="48" dur="2000"/>
                                        <p:tgtEl>
                                          <p:spTgt spid="21">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0">
                                            <p:txEl>
                                              <p:pRg st="0" end="0"/>
                                            </p:txEl>
                                          </p:spTgt>
                                        </p:tgtEl>
                                        <p:attrNameLst>
                                          <p:attrName>style.visibility</p:attrName>
                                        </p:attrNameLst>
                                      </p:cBhvr>
                                      <p:to>
                                        <p:strVal val="visible"/>
                                      </p:to>
                                    </p:set>
                                    <p:animEffect transition="in" filter="fade">
                                      <p:cBhvr>
                                        <p:cTn id="53" dur="20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allAtOnce"/>
      <p:bldP spid="8" grpId="0" build="allAtOnce"/>
      <p:bldP spid="10" grpId="0" build="allAtOnce"/>
      <p:bldP spid="11" grpId="0" build="allAtOnce"/>
      <p:bldP spid="12" grpId="0" animBg="1"/>
      <p:bldP spid="13" grpId="0" animBg="1"/>
      <p:bldP spid="16" grpId="0" build="allAtOnce"/>
      <p:bldP spid="17" grpId="0"/>
      <p:bldP spid="18" grpId="0"/>
      <p:bldP spid="20" grpId="0" build="allAtOnce"/>
      <p:bldP spid="21" grpId="0" build="allAtOnce"/>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8" name="Content Placeholder 2"/>
          <p:cNvSpPr txBox="1">
            <a:spLocks/>
          </p:cNvSpPr>
          <p:nvPr/>
        </p:nvSpPr>
        <p:spPr>
          <a:xfrm>
            <a:off x="313184" y="342900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Een verzameling V is een </a:t>
            </a:r>
            <a:r>
              <a:rPr lang="nl-NL" sz="2000" i="1" dirty="0" smtClean="0"/>
              <a:t>deelverzameling</a:t>
            </a:r>
            <a:r>
              <a:rPr lang="nl-NL" sz="2000" dirty="0" smtClean="0"/>
              <a:t> van een verzameling W, wanneer elk element van V ook een element is van W.</a:t>
            </a:r>
          </a:p>
        </p:txBody>
      </p:sp>
      <p:sp>
        <p:nvSpPr>
          <p:cNvPr id="12" name="Rectangle 11"/>
          <p:cNvSpPr/>
          <p:nvPr/>
        </p:nvSpPr>
        <p:spPr>
          <a:xfrm>
            <a:off x="4932040" y="3573016"/>
            <a:ext cx="3744416" cy="237626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l 12"/>
          <p:cNvSpPr/>
          <p:nvPr/>
        </p:nvSpPr>
        <p:spPr>
          <a:xfrm>
            <a:off x="5652120" y="3933056"/>
            <a:ext cx="1296144" cy="129614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TextBox 15"/>
          <p:cNvSpPr txBox="1"/>
          <p:nvPr/>
        </p:nvSpPr>
        <p:spPr>
          <a:xfrm>
            <a:off x="7596336" y="3933056"/>
            <a:ext cx="504056" cy="369332"/>
          </a:xfrm>
          <a:prstGeom prst="rect">
            <a:avLst/>
          </a:prstGeom>
          <a:noFill/>
        </p:spPr>
        <p:txBody>
          <a:bodyPr wrap="square" rtlCol="0">
            <a:spAutoFit/>
          </a:bodyPr>
          <a:lstStyle/>
          <a:p>
            <a:r>
              <a:rPr lang="nl-NL" b="1" dirty="0" smtClean="0"/>
              <a:t>. </a:t>
            </a:r>
            <a:r>
              <a:rPr lang="nl-NL" dirty="0" smtClean="0"/>
              <a:t>a</a:t>
            </a:r>
            <a:endParaRPr lang="nl-NL" dirty="0"/>
          </a:p>
        </p:txBody>
      </p:sp>
      <p:sp>
        <p:nvSpPr>
          <p:cNvPr id="17" name="TextBox 16"/>
          <p:cNvSpPr txBox="1"/>
          <p:nvPr/>
        </p:nvSpPr>
        <p:spPr>
          <a:xfrm>
            <a:off x="6804248" y="4941168"/>
            <a:ext cx="576064" cy="369332"/>
          </a:xfrm>
          <a:prstGeom prst="rect">
            <a:avLst/>
          </a:prstGeom>
          <a:noFill/>
        </p:spPr>
        <p:txBody>
          <a:bodyPr wrap="square" rtlCol="0">
            <a:spAutoFit/>
          </a:bodyPr>
          <a:lstStyle/>
          <a:p>
            <a:r>
              <a:rPr lang="nl-NL" dirty="0" smtClean="0"/>
              <a:t>V</a:t>
            </a:r>
            <a:endParaRPr lang="nl-NL" dirty="0"/>
          </a:p>
        </p:txBody>
      </p:sp>
      <p:sp>
        <p:nvSpPr>
          <p:cNvPr id="18" name="TextBox 17"/>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0" name="TextBox 19"/>
          <p:cNvSpPr txBox="1"/>
          <p:nvPr/>
        </p:nvSpPr>
        <p:spPr>
          <a:xfrm>
            <a:off x="5004048" y="6165304"/>
            <a:ext cx="1512168" cy="400110"/>
          </a:xfrm>
          <a:prstGeom prst="rect">
            <a:avLst/>
          </a:prstGeom>
          <a:noFill/>
        </p:spPr>
        <p:txBody>
          <a:bodyPr wrap="square" rtlCol="0">
            <a:spAutoFit/>
          </a:bodyPr>
          <a:lstStyle/>
          <a:p>
            <a:r>
              <a:rPr lang="nl-NL" sz="2000" b="1" dirty="0" smtClean="0"/>
              <a:t>a ∉ V </a:t>
            </a:r>
            <a:endParaRPr lang="nl-NL" sz="2000" b="1" dirty="0"/>
          </a:p>
        </p:txBody>
      </p:sp>
      <p:sp>
        <p:nvSpPr>
          <p:cNvPr id="23" name="Oval 22"/>
          <p:cNvSpPr/>
          <p:nvPr/>
        </p:nvSpPr>
        <p:spPr>
          <a:xfrm>
            <a:off x="5436096" y="3717032"/>
            <a:ext cx="2088232" cy="216024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TextBox 23"/>
          <p:cNvSpPr txBox="1"/>
          <p:nvPr/>
        </p:nvSpPr>
        <p:spPr>
          <a:xfrm>
            <a:off x="7236296" y="5445224"/>
            <a:ext cx="576064" cy="369332"/>
          </a:xfrm>
          <a:prstGeom prst="rect">
            <a:avLst/>
          </a:prstGeom>
          <a:noFill/>
        </p:spPr>
        <p:txBody>
          <a:bodyPr wrap="square" rtlCol="0">
            <a:spAutoFit/>
          </a:bodyPr>
          <a:lstStyle/>
          <a:p>
            <a:r>
              <a:rPr lang="nl-NL" dirty="0" smtClean="0"/>
              <a:t>W</a:t>
            </a:r>
            <a:endParaRPr lang="nl-NL" dirty="0"/>
          </a:p>
        </p:txBody>
      </p:sp>
      <p:sp>
        <p:nvSpPr>
          <p:cNvPr id="26" name="Content Placeholder 2"/>
          <p:cNvSpPr txBox="1">
            <a:spLocks/>
          </p:cNvSpPr>
          <p:nvPr/>
        </p:nvSpPr>
        <p:spPr>
          <a:xfrm>
            <a:off x="323528" y="4725144"/>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We schrijven dan V ⊆ W </a:t>
            </a:r>
          </a:p>
        </p:txBody>
      </p:sp>
      <p:sp>
        <p:nvSpPr>
          <p:cNvPr id="27" name="Content Placeholder 2"/>
          <p:cNvSpPr txBox="1">
            <a:spLocks/>
          </p:cNvSpPr>
          <p:nvPr/>
        </p:nvSpPr>
        <p:spPr>
          <a:xfrm>
            <a:off x="323528" y="5128593"/>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Het </a:t>
            </a:r>
            <a:r>
              <a:rPr lang="nl-NL" sz="2000" i="1" dirty="0" smtClean="0"/>
              <a:t>complement</a:t>
            </a:r>
            <a:r>
              <a:rPr lang="nl-NL" sz="2000" dirty="0" smtClean="0"/>
              <a:t> van een verzameling V is de verzameling van alle objecten die geen element van V zijn. </a:t>
            </a:r>
          </a:p>
        </p:txBody>
      </p:sp>
      <p:sp>
        <p:nvSpPr>
          <p:cNvPr id="28" name="Content Placeholder 2"/>
          <p:cNvSpPr txBox="1">
            <a:spLocks/>
          </p:cNvSpPr>
          <p:nvPr/>
        </p:nvSpPr>
        <p:spPr>
          <a:xfrm>
            <a:off x="323528" y="6093296"/>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Het complement van V schrijven we als V</a:t>
            </a:r>
            <a:r>
              <a:rPr lang="nl-NL" sz="2000" baseline="30000" dirty="0" smtClean="0"/>
              <a:t>C</a:t>
            </a:r>
            <a:r>
              <a:rPr lang="nl-NL" sz="20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0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20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animEffect transition="in" filter="fade">
                                      <p:cBhvr>
                                        <p:cTn id="15" dur="2000"/>
                                        <p:tgtEl>
                                          <p:spTgt spid="2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xEl>
                                              <p:pRg st="0" end="0"/>
                                            </p:txEl>
                                          </p:spTgt>
                                        </p:tgtEl>
                                        <p:attrNameLst>
                                          <p:attrName>style.visibility</p:attrName>
                                        </p:attrNameLst>
                                      </p:cBhvr>
                                      <p:to>
                                        <p:strVal val="visible"/>
                                      </p:to>
                                    </p:set>
                                    <p:animEffect transition="in" filter="fade">
                                      <p:cBhvr>
                                        <p:cTn id="20" dur="2000"/>
                                        <p:tgtEl>
                                          <p:spTgt spid="2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8">
                                            <p:txEl>
                                              <p:pRg st="0" end="0"/>
                                            </p:txEl>
                                          </p:spTgt>
                                        </p:tgtEl>
                                        <p:attrNameLst>
                                          <p:attrName>style.visibility</p:attrName>
                                        </p:attrNameLst>
                                      </p:cBhvr>
                                      <p:to>
                                        <p:strVal val="visible"/>
                                      </p:to>
                                    </p:set>
                                    <p:animEffect transition="in" filter="fade">
                                      <p:cBhvr>
                                        <p:cTn id="25" dur="20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6" grpId="0" build="allAtOnce"/>
      <p:bldP spid="27" grpId="0" build="allAtOnce"/>
      <p:bldP spid="28" grpId="0" build="allAtOnce"/>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8" name="Content Placeholder 2"/>
          <p:cNvSpPr txBox="1">
            <a:spLocks/>
          </p:cNvSpPr>
          <p:nvPr/>
        </p:nvSpPr>
        <p:spPr>
          <a:xfrm>
            <a:off x="313184" y="342900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Een verzameling V is een </a:t>
            </a:r>
            <a:r>
              <a:rPr lang="nl-NL" sz="2000" i="1" dirty="0" smtClean="0"/>
              <a:t>deelverzameling</a:t>
            </a:r>
            <a:r>
              <a:rPr lang="nl-NL" sz="2000" dirty="0" smtClean="0"/>
              <a:t> van een verzameling W, wanneer elk element van V ook een element is van W.</a:t>
            </a:r>
          </a:p>
        </p:txBody>
      </p:sp>
      <p:sp>
        <p:nvSpPr>
          <p:cNvPr id="12" name="Rectangle 11"/>
          <p:cNvSpPr/>
          <p:nvPr/>
        </p:nvSpPr>
        <p:spPr>
          <a:xfrm>
            <a:off x="4932040" y="3573016"/>
            <a:ext cx="3744416" cy="237626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l 12"/>
          <p:cNvSpPr/>
          <p:nvPr/>
        </p:nvSpPr>
        <p:spPr>
          <a:xfrm>
            <a:off x="5652120" y="3933056"/>
            <a:ext cx="1296144" cy="1296144"/>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TextBox 16"/>
          <p:cNvSpPr txBox="1"/>
          <p:nvPr/>
        </p:nvSpPr>
        <p:spPr>
          <a:xfrm>
            <a:off x="6804248" y="4941168"/>
            <a:ext cx="576064" cy="369332"/>
          </a:xfrm>
          <a:prstGeom prst="rect">
            <a:avLst/>
          </a:prstGeom>
          <a:noFill/>
        </p:spPr>
        <p:txBody>
          <a:bodyPr wrap="square" rtlCol="0">
            <a:spAutoFit/>
          </a:bodyPr>
          <a:lstStyle/>
          <a:p>
            <a:r>
              <a:rPr lang="nl-NL" dirty="0" smtClean="0"/>
              <a:t>V</a:t>
            </a:r>
            <a:endParaRPr lang="nl-NL" dirty="0"/>
          </a:p>
        </p:txBody>
      </p:sp>
      <p:sp>
        <p:nvSpPr>
          <p:cNvPr id="18" name="TextBox 17"/>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6" name="Content Placeholder 2"/>
          <p:cNvSpPr txBox="1">
            <a:spLocks/>
          </p:cNvSpPr>
          <p:nvPr/>
        </p:nvSpPr>
        <p:spPr>
          <a:xfrm>
            <a:off x="323528" y="4725144"/>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We schrijven dan V ⊆ W </a:t>
            </a:r>
          </a:p>
        </p:txBody>
      </p:sp>
      <p:sp>
        <p:nvSpPr>
          <p:cNvPr id="27" name="Content Placeholder 2"/>
          <p:cNvSpPr txBox="1">
            <a:spLocks/>
          </p:cNvSpPr>
          <p:nvPr/>
        </p:nvSpPr>
        <p:spPr>
          <a:xfrm>
            <a:off x="323528" y="5128593"/>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Het </a:t>
            </a:r>
            <a:r>
              <a:rPr lang="nl-NL" sz="2000" i="1" dirty="0" smtClean="0"/>
              <a:t>complement</a:t>
            </a:r>
            <a:r>
              <a:rPr lang="nl-NL" sz="2000" dirty="0" smtClean="0"/>
              <a:t> van een verzameling V is de verzameling van alle objecten die geen element van V zijn. </a:t>
            </a:r>
          </a:p>
        </p:txBody>
      </p:sp>
      <p:sp>
        <p:nvSpPr>
          <p:cNvPr id="28" name="Content Placeholder 2"/>
          <p:cNvSpPr txBox="1">
            <a:spLocks/>
          </p:cNvSpPr>
          <p:nvPr/>
        </p:nvSpPr>
        <p:spPr>
          <a:xfrm>
            <a:off x="323528" y="6093296"/>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Het complement van V schrijven we als V</a:t>
            </a:r>
            <a:r>
              <a:rPr lang="nl-NL" sz="2000" baseline="30000" dirty="0" smtClean="0"/>
              <a:t>C</a:t>
            </a:r>
            <a:r>
              <a:rPr lang="nl-NL" sz="2000" dirty="0" smtClean="0"/>
              <a:t> </a:t>
            </a:r>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8" name="Content Placeholder 2"/>
          <p:cNvSpPr txBox="1">
            <a:spLocks/>
          </p:cNvSpPr>
          <p:nvPr/>
        </p:nvSpPr>
        <p:spPr>
          <a:xfrm>
            <a:off x="313184" y="342900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Een verzameling V is een </a:t>
            </a:r>
            <a:r>
              <a:rPr lang="nl-NL" sz="2000" i="1" dirty="0" smtClean="0"/>
              <a:t>deelverzameling</a:t>
            </a:r>
            <a:r>
              <a:rPr lang="nl-NL" sz="2000" dirty="0" smtClean="0"/>
              <a:t> van een verzameling W, wanneer elk element van V ook een element is van W.</a:t>
            </a:r>
          </a:p>
        </p:txBody>
      </p:sp>
      <p:sp>
        <p:nvSpPr>
          <p:cNvPr id="12" name="Rectangle 11"/>
          <p:cNvSpPr/>
          <p:nvPr/>
        </p:nvSpPr>
        <p:spPr>
          <a:xfrm>
            <a:off x="4932040" y="3573016"/>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l 12"/>
          <p:cNvSpPr/>
          <p:nvPr/>
        </p:nvSpPr>
        <p:spPr>
          <a:xfrm>
            <a:off x="5652120" y="3933056"/>
            <a:ext cx="1296144" cy="129614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TextBox 16"/>
          <p:cNvSpPr txBox="1"/>
          <p:nvPr/>
        </p:nvSpPr>
        <p:spPr>
          <a:xfrm>
            <a:off x="8172400" y="3717032"/>
            <a:ext cx="576064" cy="369332"/>
          </a:xfrm>
          <a:prstGeom prst="rect">
            <a:avLst/>
          </a:prstGeom>
          <a:noFill/>
        </p:spPr>
        <p:txBody>
          <a:bodyPr wrap="square" rtlCol="0">
            <a:spAutoFit/>
          </a:bodyPr>
          <a:lstStyle/>
          <a:p>
            <a:r>
              <a:rPr lang="nl-NL" dirty="0" smtClean="0"/>
              <a:t>V</a:t>
            </a:r>
            <a:r>
              <a:rPr lang="nl-NL" baseline="30000" dirty="0" smtClean="0"/>
              <a:t>C</a:t>
            </a:r>
            <a:endParaRPr lang="nl-NL" dirty="0"/>
          </a:p>
        </p:txBody>
      </p:sp>
      <p:sp>
        <p:nvSpPr>
          <p:cNvPr id="18" name="TextBox 17"/>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6" name="Content Placeholder 2"/>
          <p:cNvSpPr txBox="1">
            <a:spLocks/>
          </p:cNvSpPr>
          <p:nvPr/>
        </p:nvSpPr>
        <p:spPr>
          <a:xfrm>
            <a:off x="323528" y="4725144"/>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We schrijven dan V ⊆ W </a:t>
            </a:r>
          </a:p>
        </p:txBody>
      </p:sp>
      <p:sp>
        <p:nvSpPr>
          <p:cNvPr id="27" name="Content Placeholder 2"/>
          <p:cNvSpPr txBox="1">
            <a:spLocks/>
          </p:cNvSpPr>
          <p:nvPr/>
        </p:nvSpPr>
        <p:spPr>
          <a:xfrm>
            <a:off x="323528" y="5128593"/>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Het </a:t>
            </a:r>
            <a:r>
              <a:rPr lang="nl-NL" sz="2000" i="1" dirty="0" smtClean="0"/>
              <a:t>complement</a:t>
            </a:r>
            <a:r>
              <a:rPr lang="nl-NL" sz="2000" dirty="0" smtClean="0"/>
              <a:t> van een verzameling V is de verzameling van alle objecten die geen element van V zijn. </a:t>
            </a:r>
          </a:p>
        </p:txBody>
      </p:sp>
      <p:sp>
        <p:nvSpPr>
          <p:cNvPr id="28" name="Content Placeholder 2"/>
          <p:cNvSpPr txBox="1">
            <a:spLocks/>
          </p:cNvSpPr>
          <p:nvPr/>
        </p:nvSpPr>
        <p:spPr>
          <a:xfrm>
            <a:off x="323528" y="6093296"/>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Het complement van V schrijven we als V</a:t>
            </a:r>
            <a:r>
              <a:rPr lang="nl-NL" sz="2000" baseline="30000" dirty="0" smtClean="0"/>
              <a:t>C</a:t>
            </a:r>
            <a:r>
              <a:rPr lang="nl-NL" sz="2000" dirty="0" smtClean="0"/>
              <a:t> </a:t>
            </a:r>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8" name="Content Placeholder 2"/>
          <p:cNvSpPr txBox="1">
            <a:spLocks/>
          </p:cNvSpPr>
          <p:nvPr/>
        </p:nvSpPr>
        <p:spPr>
          <a:xfrm>
            <a:off x="313184" y="342900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Uit twee verzamelingen V en W kunnen we een nieuwe verzameling vormen, namelijk de</a:t>
            </a:r>
            <a:r>
              <a:rPr lang="nl-NL" sz="2000" i="1" dirty="0" smtClean="0"/>
              <a:t> vereniging </a:t>
            </a:r>
            <a:r>
              <a:rPr lang="nl-NL" sz="2000" dirty="0" smtClean="0"/>
              <a:t>van V en W. Dit is de verzameling van alle objecten die element van V of element van W zin.</a:t>
            </a:r>
          </a:p>
        </p:txBody>
      </p:sp>
      <p:sp>
        <p:nvSpPr>
          <p:cNvPr id="12" name="Rectangle 11"/>
          <p:cNvSpPr/>
          <p:nvPr/>
        </p:nvSpPr>
        <p:spPr>
          <a:xfrm>
            <a:off x="4932040" y="3573016"/>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TextBox 17"/>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8" name="Content Placeholder 2"/>
          <p:cNvSpPr txBox="1">
            <a:spLocks/>
          </p:cNvSpPr>
          <p:nvPr/>
        </p:nvSpPr>
        <p:spPr>
          <a:xfrm>
            <a:off x="323528" y="5301208"/>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We schrijven V ∪ W voor de vereniging van V en W </a:t>
            </a:r>
          </a:p>
        </p:txBody>
      </p:sp>
      <p:sp>
        <p:nvSpPr>
          <p:cNvPr id="14" name="Oval 13"/>
          <p:cNvSpPr/>
          <p:nvPr/>
        </p:nvSpPr>
        <p:spPr>
          <a:xfrm>
            <a:off x="5652120" y="3933056"/>
            <a:ext cx="1296144" cy="129614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7164288" y="4437112"/>
            <a:ext cx="1296144" cy="129614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TextBox 15"/>
          <p:cNvSpPr txBox="1"/>
          <p:nvPr/>
        </p:nvSpPr>
        <p:spPr>
          <a:xfrm>
            <a:off x="6804248" y="4941168"/>
            <a:ext cx="576064" cy="369332"/>
          </a:xfrm>
          <a:prstGeom prst="rect">
            <a:avLst/>
          </a:prstGeom>
          <a:noFill/>
        </p:spPr>
        <p:txBody>
          <a:bodyPr wrap="square" rtlCol="0">
            <a:spAutoFit/>
          </a:bodyPr>
          <a:lstStyle/>
          <a:p>
            <a:r>
              <a:rPr lang="nl-NL" dirty="0" smtClean="0"/>
              <a:t>V</a:t>
            </a:r>
            <a:endParaRPr lang="nl-NL" dirty="0"/>
          </a:p>
        </p:txBody>
      </p:sp>
      <p:sp>
        <p:nvSpPr>
          <p:cNvPr id="19" name="TextBox 18"/>
          <p:cNvSpPr txBox="1"/>
          <p:nvPr/>
        </p:nvSpPr>
        <p:spPr>
          <a:xfrm>
            <a:off x="8100392" y="4149080"/>
            <a:ext cx="576064" cy="369332"/>
          </a:xfrm>
          <a:prstGeom prst="rect">
            <a:avLst/>
          </a:prstGeom>
          <a:noFill/>
        </p:spPr>
        <p:txBody>
          <a:bodyPr wrap="square" rtlCol="0">
            <a:spAutoFit/>
          </a:bodyPr>
          <a:lstStyle/>
          <a:p>
            <a:r>
              <a:rPr lang="nl-NL" dirty="0" smtClean="0"/>
              <a:t>W</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20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8" name="Content Placeholder 2"/>
          <p:cNvSpPr txBox="1">
            <a:spLocks/>
          </p:cNvSpPr>
          <p:nvPr/>
        </p:nvSpPr>
        <p:spPr>
          <a:xfrm>
            <a:off x="313184" y="342900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Uit twee verzamelingen V en W kunnen we een nieuwe verzameling vormen, namelijk de</a:t>
            </a:r>
            <a:r>
              <a:rPr lang="nl-NL" sz="2000" i="1" dirty="0" smtClean="0"/>
              <a:t> vereniging </a:t>
            </a:r>
            <a:r>
              <a:rPr lang="nl-NL" sz="2000" dirty="0" smtClean="0"/>
              <a:t>van V en W. Dit is de verzameling van alle objecten die element van V of element van W zin.</a:t>
            </a:r>
          </a:p>
        </p:txBody>
      </p:sp>
      <p:sp>
        <p:nvSpPr>
          <p:cNvPr id="28" name="Content Placeholder 2"/>
          <p:cNvSpPr txBox="1">
            <a:spLocks/>
          </p:cNvSpPr>
          <p:nvPr/>
        </p:nvSpPr>
        <p:spPr>
          <a:xfrm>
            <a:off x="323528" y="5301208"/>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We schrijven V ∪ W voor de vereniging van V en W </a:t>
            </a:r>
          </a:p>
        </p:txBody>
      </p:sp>
      <p:sp>
        <p:nvSpPr>
          <p:cNvPr id="20" name="Content Placeholder 2"/>
          <p:cNvSpPr txBox="1">
            <a:spLocks/>
          </p:cNvSpPr>
          <p:nvPr/>
        </p:nvSpPr>
        <p:spPr>
          <a:xfrm>
            <a:off x="323528" y="5992689"/>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Uiteraard geldt dat V ∪ V</a:t>
            </a:r>
            <a:r>
              <a:rPr lang="nl-NL" sz="2000" baseline="30000" dirty="0" smtClean="0"/>
              <a:t>C </a:t>
            </a:r>
            <a:r>
              <a:rPr lang="nl-NL" sz="2000" dirty="0" smtClean="0"/>
              <a:t>= D</a:t>
            </a:r>
            <a:r>
              <a:rPr lang="nl-NL" sz="2000" baseline="30000" dirty="0" smtClean="0"/>
              <a:t> </a:t>
            </a:r>
            <a:r>
              <a:rPr lang="nl-NL" sz="2000" dirty="0" smtClean="0"/>
              <a:t>  </a:t>
            </a:r>
          </a:p>
        </p:txBody>
      </p:sp>
      <p:sp>
        <p:nvSpPr>
          <p:cNvPr id="13" name="Rectangle 12"/>
          <p:cNvSpPr/>
          <p:nvPr/>
        </p:nvSpPr>
        <p:spPr>
          <a:xfrm>
            <a:off x="4932040" y="3573016"/>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l 16"/>
          <p:cNvSpPr/>
          <p:nvPr/>
        </p:nvSpPr>
        <p:spPr>
          <a:xfrm>
            <a:off x="5652120" y="3933056"/>
            <a:ext cx="1296144" cy="129614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TextBox 20"/>
          <p:cNvSpPr txBox="1"/>
          <p:nvPr/>
        </p:nvSpPr>
        <p:spPr>
          <a:xfrm>
            <a:off x="8172400" y="3717032"/>
            <a:ext cx="576064" cy="369332"/>
          </a:xfrm>
          <a:prstGeom prst="rect">
            <a:avLst/>
          </a:prstGeom>
          <a:noFill/>
        </p:spPr>
        <p:txBody>
          <a:bodyPr wrap="square" rtlCol="0">
            <a:spAutoFit/>
          </a:bodyPr>
          <a:lstStyle/>
          <a:p>
            <a:r>
              <a:rPr lang="nl-NL" dirty="0" smtClean="0"/>
              <a:t>V</a:t>
            </a:r>
            <a:r>
              <a:rPr lang="nl-NL" baseline="30000" dirty="0" smtClean="0"/>
              <a:t>C</a:t>
            </a:r>
            <a:endParaRPr lang="nl-NL" dirty="0"/>
          </a:p>
        </p:txBody>
      </p:sp>
      <p:sp>
        <p:nvSpPr>
          <p:cNvPr id="22" name="TextBox 21"/>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3" name="TextBox 22"/>
          <p:cNvSpPr txBox="1"/>
          <p:nvPr/>
        </p:nvSpPr>
        <p:spPr>
          <a:xfrm>
            <a:off x="6804248" y="4941168"/>
            <a:ext cx="576064" cy="369332"/>
          </a:xfrm>
          <a:prstGeom prst="rect">
            <a:avLst/>
          </a:prstGeom>
          <a:noFill/>
        </p:spPr>
        <p:txBody>
          <a:bodyPr wrap="square" rtlCol="0">
            <a:spAutoFit/>
          </a:bodyPr>
          <a:lstStyle/>
          <a:p>
            <a:r>
              <a:rPr lang="nl-NL" dirty="0" smtClean="0"/>
              <a:t>V</a:t>
            </a:r>
            <a:endParaRPr lang="nl-NL"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De </a:t>
            </a:r>
            <a:r>
              <a:rPr lang="nl-NL" sz="3600" dirty="0" err="1" smtClean="0"/>
              <a:t>klasselogische</a:t>
            </a:r>
            <a:r>
              <a:rPr lang="nl-NL" sz="3600" dirty="0" smtClean="0"/>
              <a:t> interpretatie                                 van de </a:t>
            </a:r>
            <a:r>
              <a:rPr lang="nl-NL" sz="3600" dirty="0" err="1" smtClean="0"/>
              <a:t>syllogistiek</a:t>
            </a:r>
            <a:r>
              <a:rPr lang="nl-NL" sz="3600" dirty="0" smtClean="0"/>
              <a:t> </a:t>
            </a:r>
            <a:endParaRPr lang="nl-NL" sz="3600" dirty="0"/>
          </a:p>
        </p:txBody>
      </p:sp>
      <p:sp>
        <p:nvSpPr>
          <p:cNvPr id="8" name="Content Placeholder 2"/>
          <p:cNvSpPr txBox="1">
            <a:spLocks/>
          </p:cNvSpPr>
          <p:nvPr/>
        </p:nvSpPr>
        <p:spPr>
          <a:xfrm>
            <a:off x="313184" y="3429000"/>
            <a:ext cx="4474840" cy="460647"/>
          </a:xfrm>
          <a:prstGeom prst="rect">
            <a:avLst/>
          </a:prstGeom>
        </p:spPr>
        <p:txBody>
          <a:bodyPr vert="horz" lIns="91440" tIns="45720" rIns="91440" bIns="45720" rtlCol="0">
            <a:noAutofit/>
          </a:bodyPr>
          <a:lstStyle/>
          <a:p>
            <a:pPr marL="342900" indent="-342900">
              <a:spcBef>
                <a:spcPct val="20000"/>
              </a:spcBef>
              <a:buFont typeface="Arial" pitchFamily="34" charset="0"/>
              <a:buChar char="•"/>
            </a:pPr>
            <a:r>
              <a:rPr lang="nl-NL" sz="2000" dirty="0" smtClean="0"/>
              <a:t>Uit twee verzamelingen V en W kunnen we ook nog een andere nieuwe verzameling vormen, namelijk de </a:t>
            </a:r>
            <a:r>
              <a:rPr lang="nl-NL" sz="2000" i="1" dirty="0" smtClean="0"/>
              <a:t>doorsnede</a:t>
            </a:r>
            <a:r>
              <a:rPr lang="nl-NL" sz="2000" dirty="0" smtClean="0"/>
              <a:t> van V en W. Dit is de verzameling van alle objecten die element zijn van V en van W</a:t>
            </a:r>
            <a:endParaRPr lang="nl-NL" sz="2000" i="1" dirty="0" smtClean="0"/>
          </a:p>
          <a:p>
            <a:pPr marL="342900" lvl="0" indent="-342900">
              <a:spcBef>
                <a:spcPct val="20000"/>
              </a:spcBef>
              <a:buFont typeface="Arial" pitchFamily="34" charset="0"/>
              <a:buChar char="•"/>
            </a:pPr>
            <a:endParaRPr lang="nl-NL" sz="2000" dirty="0" smtClean="0"/>
          </a:p>
        </p:txBody>
      </p:sp>
      <p:sp>
        <p:nvSpPr>
          <p:cNvPr id="12" name="Rectangle 11"/>
          <p:cNvSpPr/>
          <p:nvPr/>
        </p:nvSpPr>
        <p:spPr>
          <a:xfrm>
            <a:off x="4932040" y="3573016"/>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TextBox 17"/>
          <p:cNvSpPr txBox="1"/>
          <p:nvPr/>
        </p:nvSpPr>
        <p:spPr>
          <a:xfrm>
            <a:off x="7884368" y="5949280"/>
            <a:ext cx="1224136" cy="369332"/>
          </a:xfrm>
          <a:prstGeom prst="rect">
            <a:avLst/>
          </a:prstGeom>
          <a:noFill/>
        </p:spPr>
        <p:txBody>
          <a:bodyPr wrap="square" rtlCol="0">
            <a:spAutoFit/>
          </a:bodyPr>
          <a:lstStyle/>
          <a:p>
            <a:r>
              <a:rPr lang="nl-NL" i="1" dirty="0" smtClean="0"/>
              <a:t>Domein</a:t>
            </a:r>
            <a:endParaRPr lang="nl-NL" i="1" dirty="0"/>
          </a:p>
        </p:txBody>
      </p:sp>
      <p:sp>
        <p:nvSpPr>
          <p:cNvPr id="28" name="Content Placeholder 2"/>
          <p:cNvSpPr txBox="1">
            <a:spLocks/>
          </p:cNvSpPr>
          <p:nvPr/>
        </p:nvSpPr>
        <p:spPr>
          <a:xfrm>
            <a:off x="323528" y="5301208"/>
            <a:ext cx="4474840" cy="460647"/>
          </a:xfrm>
          <a:prstGeom prst="rect">
            <a:avLst/>
          </a:prstGeom>
        </p:spPr>
        <p:txBody>
          <a:bodyPr vert="horz" lIns="91440" tIns="45720" rIns="91440" bIns="45720" rtlCol="0">
            <a:noAutofit/>
          </a:bodyPr>
          <a:lstStyle/>
          <a:p>
            <a:pPr marL="342900" indent="-342900">
              <a:spcBef>
                <a:spcPct val="20000"/>
              </a:spcBef>
              <a:buFont typeface="Arial" pitchFamily="34" charset="0"/>
              <a:buChar char="•"/>
            </a:pPr>
            <a:r>
              <a:rPr lang="nl-NL" sz="2000" dirty="0" smtClean="0"/>
              <a:t>We schrijven V ∩</a:t>
            </a:r>
            <a:r>
              <a:rPr lang="nl-NL" sz="2000" i="1" dirty="0" smtClean="0"/>
              <a:t> </a:t>
            </a:r>
            <a:r>
              <a:rPr lang="nl-NL" sz="2000" dirty="0" smtClean="0"/>
              <a:t>W voor de doorsnede van V en W </a:t>
            </a:r>
          </a:p>
        </p:txBody>
      </p:sp>
      <p:sp>
        <p:nvSpPr>
          <p:cNvPr id="14" name="Oval 13"/>
          <p:cNvSpPr/>
          <p:nvPr/>
        </p:nvSpPr>
        <p:spPr>
          <a:xfrm>
            <a:off x="5580112" y="3861048"/>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6228184" y="4293096"/>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TextBox 15"/>
          <p:cNvSpPr txBox="1"/>
          <p:nvPr/>
        </p:nvSpPr>
        <p:spPr>
          <a:xfrm>
            <a:off x="5364088" y="3933056"/>
            <a:ext cx="576064" cy="369332"/>
          </a:xfrm>
          <a:prstGeom prst="rect">
            <a:avLst/>
          </a:prstGeom>
          <a:noFill/>
        </p:spPr>
        <p:txBody>
          <a:bodyPr wrap="square" rtlCol="0">
            <a:spAutoFit/>
          </a:bodyPr>
          <a:lstStyle/>
          <a:p>
            <a:r>
              <a:rPr lang="nl-NL" dirty="0" smtClean="0"/>
              <a:t>V</a:t>
            </a:r>
            <a:endParaRPr lang="nl-NL" dirty="0"/>
          </a:p>
        </p:txBody>
      </p:sp>
      <p:sp>
        <p:nvSpPr>
          <p:cNvPr id="19" name="TextBox 18"/>
          <p:cNvSpPr txBox="1"/>
          <p:nvPr/>
        </p:nvSpPr>
        <p:spPr>
          <a:xfrm>
            <a:off x="7452320" y="5157192"/>
            <a:ext cx="576064" cy="369332"/>
          </a:xfrm>
          <a:prstGeom prst="rect">
            <a:avLst/>
          </a:prstGeom>
          <a:noFill/>
        </p:spPr>
        <p:txBody>
          <a:bodyPr wrap="square" rtlCol="0">
            <a:spAutoFit/>
          </a:bodyPr>
          <a:lstStyle/>
          <a:p>
            <a:r>
              <a:rPr lang="nl-NL" dirty="0" smtClean="0"/>
              <a:t>W</a:t>
            </a:r>
            <a:endParaRPr lang="nl-NL" dirty="0"/>
          </a:p>
        </p:txBody>
      </p:sp>
      <p:sp>
        <p:nvSpPr>
          <p:cNvPr id="17" name="TextBox 16"/>
          <p:cNvSpPr txBox="1"/>
          <p:nvPr/>
        </p:nvSpPr>
        <p:spPr>
          <a:xfrm>
            <a:off x="6228184" y="4582869"/>
            <a:ext cx="792088" cy="584775"/>
          </a:xfrm>
          <a:prstGeom prst="rect">
            <a:avLst/>
          </a:prstGeom>
          <a:noFill/>
        </p:spPr>
        <p:txBody>
          <a:bodyPr wrap="square" rtlCol="0">
            <a:spAutoFit/>
          </a:bodyPr>
          <a:lstStyle/>
          <a:p>
            <a:pPr lvl="0"/>
            <a:r>
              <a:rPr lang="nl-NL" sz="1600" dirty="0" smtClean="0"/>
              <a:t>V∩W</a:t>
            </a:r>
            <a:endParaRPr lang="nl-NL" sz="1600" i="1" dirty="0" smtClean="0"/>
          </a:p>
          <a:p>
            <a:endParaRPr lang="nl-NL"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20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Het interpreteren van oordelen</a:t>
            </a:r>
            <a:endParaRPr lang="nl-NL" sz="3600" dirty="0"/>
          </a:p>
        </p:txBody>
      </p:sp>
      <p:sp>
        <p:nvSpPr>
          <p:cNvPr id="8" name="Content Placeholder 2"/>
          <p:cNvSpPr txBox="1">
            <a:spLocks/>
          </p:cNvSpPr>
          <p:nvPr/>
        </p:nvSpPr>
        <p:spPr>
          <a:xfrm>
            <a:off x="313184" y="1528193"/>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Sommige S zijn P    (I oordeel)</a:t>
            </a:r>
          </a:p>
        </p:txBody>
      </p:sp>
      <p:sp>
        <p:nvSpPr>
          <p:cNvPr id="13" name="Rectangle 12"/>
          <p:cNvSpPr/>
          <p:nvPr/>
        </p:nvSpPr>
        <p:spPr>
          <a:xfrm>
            <a:off x="4932040" y="1484784"/>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Oval 20"/>
          <p:cNvSpPr/>
          <p:nvPr/>
        </p:nvSpPr>
        <p:spPr>
          <a:xfrm>
            <a:off x="5868144" y="2132856"/>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Oval 11"/>
          <p:cNvSpPr/>
          <p:nvPr/>
        </p:nvSpPr>
        <p:spPr>
          <a:xfrm>
            <a:off x="6588224" y="1772816"/>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TextBox 13"/>
          <p:cNvSpPr txBox="1"/>
          <p:nvPr/>
        </p:nvSpPr>
        <p:spPr>
          <a:xfrm>
            <a:off x="5724128" y="3140968"/>
            <a:ext cx="576064" cy="369332"/>
          </a:xfrm>
          <a:prstGeom prst="rect">
            <a:avLst/>
          </a:prstGeom>
          <a:noFill/>
        </p:spPr>
        <p:txBody>
          <a:bodyPr wrap="square" rtlCol="0">
            <a:spAutoFit/>
          </a:bodyPr>
          <a:lstStyle/>
          <a:p>
            <a:r>
              <a:rPr lang="nl-NL" dirty="0" smtClean="0"/>
              <a:t>S</a:t>
            </a:r>
            <a:endParaRPr lang="nl-NL" dirty="0"/>
          </a:p>
        </p:txBody>
      </p:sp>
      <p:sp>
        <p:nvSpPr>
          <p:cNvPr id="15" name="TextBox 14"/>
          <p:cNvSpPr txBox="1"/>
          <p:nvPr/>
        </p:nvSpPr>
        <p:spPr>
          <a:xfrm>
            <a:off x="7740352" y="1619508"/>
            <a:ext cx="576064" cy="369332"/>
          </a:xfrm>
          <a:prstGeom prst="rect">
            <a:avLst/>
          </a:prstGeom>
          <a:noFill/>
        </p:spPr>
        <p:txBody>
          <a:bodyPr wrap="square" rtlCol="0">
            <a:spAutoFit/>
          </a:bodyPr>
          <a:lstStyle/>
          <a:p>
            <a:r>
              <a:rPr lang="nl-NL" dirty="0" smtClean="0"/>
              <a:t>P</a:t>
            </a:r>
            <a:endParaRPr lang="nl-NL" dirty="0"/>
          </a:p>
        </p:txBody>
      </p:sp>
      <p:sp>
        <p:nvSpPr>
          <p:cNvPr id="16" name="Content Placeholder 2"/>
          <p:cNvSpPr txBox="1">
            <a:spLocks/>
          </p:cNvSpPr>
          <p:nvPr/>
        </p:nvSpPr>
        <p:spPr>
          <a:xfrm>
            <a:off x="323528" y="1960241"/>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 ≠ Ø  </a:t>
            </a:r>
          </a:p>
        </p:txBody>
      </p:sp>
      <p:sp>
        <p:nvSpPr>
          <p:cNvPr id="17" name="Rectangle 16"/>
          <p:cNvSpPr/>
          <p:nvPr/>
        </p:nvSpPr>
        <p:spPr>
          <a:xfrm>
            <a:off x="4932040" y="4221088"/>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Oval 17"/>
          <p:cNvSpPr/>
          <p:nvPr/>
        </p:nvSpPr>
        <p:spPr>
          <a:xfrm>
            <a:off x="5868144" y="4869160"/>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Oval 25"/>
          <p:cNvSpPr/>
          <p:nvPr/>
        </p:nvSpPr>
        <p:spPr>
          <a:xfrm>
            <a:off x="6588224" y="4509120"/>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TextBox 26"/>
          <p:cNvSpPr txBox="1"/>
          <p:nvPr/>
        </p:nvSpPr>
        <p:spPr>
          <a:xfrm>
            <a:off x="5724128" y="5877272"/>
            <a:ext cx="576064" cy="369332"/>
          </a:xfrm>
          <a:prstGeom prst="rect">
            <a:avLst/>
          </a:prstGeom>
          <a:noFill/>
        </p:spPr>
        <p:txBody>
          <a:bodyPr wrap="square" rtlCol="0">
            <a:spAutoFit/>
          </a:bodyPr>
          <a:lstStyle/>
          <a:p>
            <a:r>
              <a:rPr lang="nl-NL" dirty="0" smtClean="0"/>
              <a:t>S</a:t>
            </a:r>
            <a:endParaRPr lang="nl-NL" dirty="0"/>
          </a:p>
        </p:txBody>
      </p:sp>
      <p:sp>
        <p:nvSpPr>
          <p:cNvPr id="29" name="TextBox 28"/>
          <p:cNvSpPr txBox="1"/>
          <p:nvPr/>
        </p:nvSpPr>
        <p:spPr>
          <a:xfrm>
            <a:off x="7740352" y="4355812"/>
            <a:ext cx="576064" cy="369332"/>
          </a:xfrm>
          <a:prstGeom prst="rect">
            <a:avLst/>
          </a:prstGeom>
          <a:noFill/>
        </p:spPr>
        <p:txBody>
          <a:bodyPr wrap="square" rtlCol="0">
            <a:spAutoFit/>
          </a:bodyPr>
          <a:lstStyle/>
          <a:p>
            <a:r>
              <a:rPr lang="nl-NL" dirty="0" smtClean="0"/>
              <a:t>P</a:t>
            </a:r>
            <a:endParaRPr lang="nl-NL" dirty="0"/>
          </a:p>
        </p:txBody>
      </p:sp>
      <p:sp>
        <p:nvSpPr>
          <p:cNvPr id="30" name="Content Placeholder 2"/>
          <p:cNvSpPr txBox="1">
            <a:spLocks/>
          </p:cNvSpPr>
          <p:nvPr/>
        </p:nvSpPr>
        <p:spPr>
          <a:xfrm>
            <a:off x="313184" y="414908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Sommige S zijn niet P    (O oordeel)</a:t>
            </a:r>
          </a:p>
        </p:txBody>
      </p:sp>
      <p:sp>
        <p:nvSpPr>
          <p:cNvPr id="31" name="Content Placeholder 2"/>
          <p:cNvSpPr txBox="1">
            <a:spLocks/>
          </p:cNvSpPr>
          <p:nvPr/>
        </p:nvSpPr>
        <p:spPr>
          <a:xfrm>
            <a:off x="313184" y="4653136"/>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a:t>
            </a:r>
            <a:r>
              <a:rPr lang="nl-NL" sz="2000" baseline="30000" dirty="0" smtClean="0"/>
              <a:t>C</a:t>
            </a:r>
            <a:r>
              <a:rPr lang="nl-NL" sz="2000" dirty="0" smtClean="0"/>
              <a:t> ≠ Ø  </a:t>
            </a:r>
          </a:p>
        </p:txBody>
      </p:sp>
      <p:sp>
        <p:nvSpPr>
          <p:cNvPr id="19" name="Content Placeholder 2"/>
          <p:cNvSpPr txBox="1">
            <a:spLocks/>
          </p:cNvSpPr>
          <p:nvPr/>
        </p:nvSpPr>
        <p:spPr>
          <a:xfrm>
            <a:off x="6228184" y="2392289"/>
            <a:ext cx="1162472" cy="460647"/>
          </a:xfrm>
          <a:prstGeom prst="rect">
            <a:avLst/>
          </a:prstGeom>
        </p:spPr>
        <p:txBody>
          <a:bodyPr vert="horz" lIns="91440" tIns="45720" rIns="91440" bIns="45720" rtlCol="0">
            <a:noAutofit/>
          </a:bodyPr>
          <a:lstStyle/>
          <a:p>
            <a:pPr marL="342900" lvl="0" indent="-342900">
              <a:spcBef>
                <a:spcPct val="20000"/>
              </a:spcBef>
            </a:pPr>
            <a:r>
              <a:rPr lang="nl-NL" sz="1600" dirty="0" smtClean="0"/>
              <a:t>	S ∩ P</a:t>
            </a:r>
          </a:p>
        </p:txBody>
      </p:sp>
      <p:sp>
        <p:nvSpPr>
          <p:cNvPr id="20" name="Content Placeholder 2"/>
          <p:cNvSpPr txBox="1">
            <a:spLocks/>
          </p:cNvSpPr>
          <p:nvPr/>
        </p:nvSpPr>
        <p:spPr>
          <a:xfrm>
            <a:off x="5580112" y="5128593"/>
            <a:ext cx="1162472" cy="460647"/>
          </a:xfrm>
          <a:prstGeom prst="rect">
            <a:avLst/>
          </a:prstGeom>
        </p:spPr>
        <p:txBody>
          <a:bodyPr vert="horz" lIns="91440" tIns="45720" rIns="91440" bIns="45720" rtlCol="0">
            <a:noAutofit/>
          </a:bodyPr>
          <a:lstStyle/>
          <a:p>
            <a:pPr marL="342900" lvl="0" indent="-342900">
              <a:spcBef>
                <a:spcPct val="20000"/>
              </a:spcBef>
            </a:pPr>
            <a:r>
              <a:rPr lang="nl-NL" sz="1700" dirty="0" smtClean="0"/>
              <a:t>	S ∩ P</a:t>
            </a:r>
            <a:r>
              <a:rPr lang="nl-NL" sz="1700" baseline="30000" dirty="0" smtClean="0"/>
              <a:t>C</a:t>
            </a:r>
            <a:r>
              <a:rPr lang="nl-NL" sz="17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20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20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20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20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20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
                                            <p:txEl>
                                              <p:pRg st="0" end="0"/>
                                            </p:txEl>
                                          </p:spTgt>
                                        </p:tgtEl>
                                        <p:attrNameLst>
                                          <p:attrName>style.visibility</p:attrName>
                                        </p:attrNameLst>
                                      </p:cBhvr>
                                      <p:to>
                                        <p:strVal val="visible"/>
                                      </p:to>
                                    </p:set>
                                    <p:animEffect transition="in" filter="fade">
                                      <p:cBhvr>
                                        <p:cTn id="32" dur="2000"/>
                                        <p:tgtEl>
                                          <p:spTgt spid="3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1">
                                            <p:txEl>
                                              <p:pRg st="0" end="0"/>
                                            </p:txEl>
                                          </p:spTgt>
                                        </p:tgtEl>
                                        <p:attrNameLst>
                                          <p:attrName>style.visibility</p:attrName>
                                        </p:attrNameLst>
                                      </p:cBhvr>
                                      <p:to>
                                        <p:strVal val="visible"/>
                                      </p:to>
                                    </p:set>
                                    <p:animEffect transition="in" filter="fade">
                                      <p:cBhvr>
                                        <p:cTn id="37" dur="2000"/>
                                        <p:tgtEl>
                                          <p:spTgt spid="3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20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20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20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20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2000"/>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1" grpId="0" animBg="1"/>
      <p:bldP spid="12" grpId="0" animBg="1"/>
      <p:bldP spid="14" grpId="0"/>
      <p:bldP spid="15" grpId="0"/>
      <p:bldP spid="16" grpId="0" build="allAtOnce"/>
      <p:bldP spid="17" grpId="0" animBg="1"/>
      <p:bldP spid="18" grpId="0" animBg="1"/>
      <p:bldP spid="26" grpId="0" animBg="1"/>
      <p:bldP spid="27" grpId="0"/>
      <p:bldP spid="29" grpId="0"/>
      <p:bldP spid="30" grpId="0" build="allAtOnce"/>
      <p:bldP spid="31" grpId="0" build="allAtOnce"/>
      <p:bldP spid="19" grpId="0"/>
      <p:bldP spid="20"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Het interpreteren van oordelen</a:t>
            </a:r>
            <a:endParaRPr lang="nl-NL" sz="3600" dirty="0"/>
          </a:p>
        </p:txBody>
      </p:sp>
      <p:sp>
        <p:nvSpPr>
          <p:cNvPr id="8" name="Content Placeholder 2"/>
          <p:cNvSpPr txBox="1">
            <a:spLocks/>
          </p:cNvSpPr>
          <p:nvPr/>
        </p:nvSpPr>
        <p:spPr>
          <a:xfrm>
            <a:off x="313184" y="1528193"/>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Geen S zijn P    (E oordeel)</a:t>
            </a:r>
          </a:p>
        </p:txBody>
      </p:sp>
      <p:sp>
        <p:nvSpPr>
          <p:cNvPr id="13" name="Rectangle 12"/>
          <p:cNvSpPr/>
          <p:nvPr/>
        </p:nvSpPr>
        <p:spPr>
          <a:xfrm>
            <a:off x="4932040" y="1484784"/>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Oval 20"/>
          <p:cNvSpPr/>
          <p:nvPr/>
        </p:nvSpPr>
        <p:spPr>
          <a:xfrm>
            <a:off x="5148064" y="2132856"/>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Oval 11"/>
          <p:cNvSpPr/>
          <p:nvPr/>
        </p:nvSpPr>
        <p:spPr>
          <a:xfrm>
            <a:off x="6588224" y="1772816"/>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TextBox 13"/>
          <p:cNvSpPr txBox="1"/>
          <p:nvPr/>
        </p:nvSpPr>
        <p:spPr>
          <a:xfrm>
            <a:off x="5076056" y="3140968"/>
            <a:ext cx="576064" cy="369332"/>
          </a:xfrm>
          <a:prstGeom prst="rect">
            <a:avLst/>
          </a:prstGeom>
          <a:noFill/>
        </p:spPr>
        <p:txBody>
          <a:bodyPr wrap="square" rtlCol="0">
            <a:spAutoFit/>
          </a:bodyPr>
          <a:lstStyle/>
          <a:p>
            <a:r>
              <a:rPr lang="nl-NL" dirty="0" smtClean="0"/>
              <a:t>S</a:t>
            </a:r>
            <a:endParaRPr lang="nl-NL" dirty="0"/>
          </a:p>
        </p:txBody>
      </p:sp>
      <p:sp>
        <p:nvSpPr>
          <p:cNvPr id="15" name="TextBox 14"/>
          <p:cNvSpPr txBox="1"/>
          <p:nvPr/>
        </p:nvSpPr>
        <p:spPr>
          <a:xfrm>
            <a:off x="7668344" y="1619508"/>
            <a:ext cx="576064" cy="369332"/>
          </a:xfrm>
          <a:prstGeom prst="rect">
            <a:avLst/>
          </a:prstGeom>
          <a:noFill/>
        </p:spPr>
        <p:txBody>
          <a:bodyPr wrap="square" rtlCol="0">
            <a:spAutoFit/>
          </a:bodyPr>
          <a:lstStyle/>
          <a:p>
            <a:r>
              <a:rPr lang="nl-NL" dirty="0" smtClean="0"/>
              <a:t>P</a:t>
            </a:r>
            <a:endParaRPr lang="nl-NL" dirty="0"/>
          </a:p>
        </p:txBody>
      </p:sp>
      <p:sp>
        <p:nvSpPr>
          <p:cNvPr id="16" name="Content Placeholder 2"/>
          <p:cNvSpPr txBox="1">
            <a:spLocks/>
          </p:cNvSpPr>
          <p:nvPr/>
        </p:nvSpPr>
        <p:spPr>
          <a:xfrm>
            <a:off x="323528" y="1960241"/>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 = Ø  </a:t>
            </a:r>
          </a:p>
        </p:txBody>
      </p:sp>
      <p:sp>
        <p:nvSpPr>
          <p:cNvPr id="17" name="Rectangle 16"/>
          <p:cNvSpPr/>
          <p:nvPr/>
        </p:nvSpPr>
        <p:spPr>
          <a:xfrm>
            <a:off x="4932040" y="4221088"/>
            <a:ext cx="3744416" cy="2376264"/>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Oval 17"/>
          <p:cNvSpPr/>
          <p:nvPr/>
        </p:nvSpPr>
        <p:spPr>
          <a:xfrm>
            <a:off x="5868144" y="4869160"/>
            <a:ext cx="1296144" cy="129614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Oval 25"/>
          <p:cNvSpPr/>
          <p:nvPr/>
        </p:nvSpPr>
        <p:spPr>
          <a:xfrm>
            <a:off x="5148064" y="4509120"/>
            <a:ext cx="2736304" cy="187220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TextBox 26"/>
          <p:cNvSpPr txBox="1"/>
          <p:nvPr/>
        </p:nvSpPr>
        <p:spPr>
          <a:xfrm>
            <a:off x="5724128" y="5877272"/>
            <a:ext cx="576064" cy="369332"/>
          </a:xfrm>
          <a:prstGeom prst="rect">
            <a:avLst/>
          </a:prstGeom>
          <a:noFill/>
        </p:spPr>
        <p:txBody>
          <a:bodyPr wrap="square" rtlCol="0">
            <a:spAutoFit/>
          </a:bodyPr>
          <a:lstStyle/>
          <a:p>
            <a:r>
              <a:rPr lang="nl-NL" dirty="0" smtClean="0"/>
              <a:t>S</a:t>
            </a:r>
            <a:endParaRPr lang="nl-NL" dirty="0"/>
          </a:p>
        </p:txBody>
      </p:sp>
      <p:sp>
        <p:nvSpPr>
          <p:cNvPr id="29" name="TextBox 28"/>
          <p:cNvSpPr txBox="1"/>
          <p:nvPr/>
        </p:nvSpPr>
        <p:spPr>
          <a:xfrm>
            <a:off x="7452320" y="4427820"/>
            <a:ext cx="576064" cy="369332"/>
          </a:xfrm>
          <a:prstGeom prst="rect">
            <a:avLst/>
          </a:prstGeom>
          <a:noFill/>
        </p:spPr>
        <p:txBody>
          <a:bodyPr wrap="square" rtlCol="0">
            <a:spAutoFit/>
          </a:bodyPr>
          <a:lstStyle/>
          <a:p>
            <a:r>
              <a:rPr lang="nl-NL" dirty="0" smtClean="0"/>
              <a:t>P</a:t>
            </a:r>
            <a:endParaRPr lang="nl-NL" dirty="0"/>
          </a:p>
        </p:txBody>
      </p:sp>
      <p:sp>
        <p:nvSpPr>
          <p:cNvPr id="30" name="Content Placeholder 2"/>
          <p:cNvSpPr txBox="1">
            <a:spLocks/>
          </p:cNvSpPr>
          <p:nvPr/>
        </p:nvSpPr>
        <p:spPr>
          <a:xfrm>
            <a:off x="313184" y="4149080"/>
            <a:ext cx="4474840" cy="460647"/>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pPr>
            <a:r>
              <a:rPr lang="nl-NL" sz="2000" dirty="0" smtClean="0"/>
              <a:t>Alle S zijn P   (A oordeel)</a:t>
            </a:r>
          </a:p>
        </p:txBody>
      </p:sp>
      <p:sp>
        <p:nvSpPr>
          <p:cNvPr id="31" name="Content Placeholder 2"/>
          <p:cNvSpPr txBox="1">
            <a:spLocks/>
          </p:cNvSpPr>
          <p:nvPr/>
        </p:nvSpPr>
        <p:spPr>
          <a:xfrm>
            <a:off x="313184" y="4653136"/>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a:t>
            </a:r>
            <a:r>
              <a:rPr lang="nl-NL" sz="2000" baseline="30000" dirty="0" smtClean="0"/>
              <a:t>C</a:t>
            </a:r>
            <a:r>
              <a:rPr lang="nl-NL" sz="2000" dirty="0" smtClean="0"/>
              <a:t> = Ø  </a:t>
            </a:r>
          </a:p>
        </p:txBody>
      </p:sp>
      <p:sp>
        <p:nvSpPr>
          <p:cNvPr id="22" name="Content Placeholder 2"/>
          <p:cNvSpPr txBox="1">
            <a:spLocks/>
          </p:cNvSpPr>
          <p:nvPr/>
        </p:nvSpPr>
        <p:spPr>
          <a:xfrm>
            <a:off x="313184" y="2392289"/>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a:t>
            </a:r>
            <a:r>
              <a:rPr lang="nl-NL" sz="2000" baseline="30000" dirty="0" smtClean="0"/>
              <a:t>C</a:t>
            </a:r>
            <a:endParaRPr lang="nl-NL" sz="2000" dirty="0" smtClean="0"/>
          </a:p>
        </p:txBody>
      </p:sp>
      <p:sp>
        <p:nvSpPr>
          <p:cNvPr id="23" name="Content Placeholder 2"/>
          <p:cNvSpPr txBox="1">
            <a:spLocks/>
          </p:cNvSpPr>
          <p:nvPr/>
        </p:nvSpPr>
        <p:spPr>
          <a:xfrm>
            <a:off x="313184" y="5056585"/>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20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20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20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20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2">
                                            <p:txEl>
                                              <p:pRg st="0" end="0"/>
                                            </p:txEl>
                                          </p:spTgt>
                                        </p:tgtEl>
                                        <p:attrNameLst>
                                          <p:attrName>style.visibility</p:attrName>
                                        </p:attrNameLst>
                                      </p:cBhvr>
                                      <p:to>
                                        <p:strVal val="visible"/>
                                      </p:to>
                                    </p:set>
                                    <p:animEffect transition="in" filter="fade">
                                      <p:cBhvr>
                                        <p:cTn id="29" dur="2000"/>
                                        <p:tgtEl>
                                          <p:spTgt spid="22">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0">
                                            <p:txEl>
                                              <p:pRg st="0" end="0"/>
                                            </p:txEl>
                                          </p:spTgt>
                                        </p:tgtEl>
                                        <p:attrNameLst>
                                          <p:attrName>style.visibility</p:attrName>
                                        </p:attrNameLst>
                                      </p:cBhvr>
                                      <p:to>
                                        <p:strVal val="visible"/>
                                      </p:to>
                                    </p:set>
                                    <p:animEffect transition="in" filter="fade">
                                      <p:cBhvr>
                                        <p:cTn id="34" dur="2000"/>
                                        <p:tgtEl>
                                          <p:spTgt spid="30">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20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20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200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2000"/>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20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1">
                                            <p:txEl>
                                              <p:pRg st="0" end="0"/>
                                            </p:txEl>
                                          </p:spTgt>
                                        </p:tgtEl>
                                        <p:attrNameLst>
                                          <p:attrName>style.visibility</p:attrName>
                                        </p:attrNameLst>
                                      </p:cBhvr>
                                      <p:to>
                                        <p:strVal val="visible"/>
                                      </p:to>
                                    </p:set>
                                    <p:animEffect transition="in" filter="fade">
                                      <p:cBhvr>
                                        <p:cTn id="56" dur="2000"/>
                                        <p:tgtEl>
                                          <p:spTgt spid="31">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3">
                                            <p:txEl>
                                              <p:pRg st="0" end="0"/>
                                            </p:txEl>
                                          </p:spTgt>
                                        </p:tgtEl>
                                        <p:attrNameLst>
                                          <p:attrName>style.visibility</p:attrName>
                                        </p:attrNameLst>
                                      </p:cBhvr>
                                      <p:to>
                                        <p:strVal val="visible"/>
                                      </p:to>
                                    </p:set>
                                    <p:animEffect transition="in" filter="fade">
                                      <p:cBhvr>
                                        <p:cTn id="61" dur="20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1" grpId="0" animBg="1"/>
      <p:bldP spid="12" grpId="0" animBg="1"/>
      <p:bldP spid="14" grpId="0"/>
      <p:bldP spid="15" grpId="0"/>
      <p:bldP spid="16" grpId="0" build="allAtOnce"/>
      <p:bldP spid="17" grpId="0" animBg="1"/>
      <p:bldP spid="18" grpId="0" animBg="1"/>
      <p:bldP spid="26" grpId="0" animBg="1"/>
      <p:bldP spid="27" grpId="0"/>
      <p:bldP spid="29" grpId="0"/>
      <p:bldP spid="30" grpId="0" build="allAtOnce"/>
      <p:bldP spid="31" grpId="0" build="allAtOnce"/>
      <p:bldP spid="22" grpId="0" build="allAtOnce"/>
      <p:bldP spid="23" grpId="0" build="allAtOnce"/>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Aantonen van ongeldigheid van ongeldige syllogismen</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De </a:t>
            </a:r>
            <a:r>
              <a:rPr lang="nl-NL" sz="2000" dirty="0" err="1" smtClean="0"/>
              <a:t>klasselogica</a:t>
            </a:r>
            <a:r>
              <a:rPr lang="nl-NL" sz="2000" dirty="0" smtClean="0"/>
              <a:t> kan gebruikt worden om de geldigheid van syllogismen aan          te tonen. Maar dat konden we al middels de eerder besproken syntactische afleiding uit de vier perfecte syllogismen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klasselogica</a:t>
            </a:r>
            <a:r>
              <a:rPr kumimoji="0" lang="nl-NL" sz="2000" b="0" i="0" u="none" strike="noStrike" kern="1200" cap="none" spc="0" normalizeH="0" noProof="0" dirty="0" smtClean="0">
                <a:ln>
                  <a:noFill/>
                </a:ln>
                <a:solidFill>
                  <a:schemeClr val="tx1"/>
                </a:solidFill>
                <a:effectLst/>
                <a:uLnTx/>
                <a:uFillTx/>
                <a:latin typeface="+mn-lt"/>
                <a:ea typeface="+mn-ea"/>
                <a:cs typeface="+mn-cs"/>
              </a:rPr>
              <a:t> kan echter ook gebruikt worden om de </a:t>
            </a:r>
            <a:r>
              <a:rPr kumimoji="0" lang="nl-NL" sz="2000" b="1" i="0" u="none" strike="noStrike" kern="1200" cap="none" spc="0" normalizeH="0" noProof="0" dirty="0" smtClean="0">
                <a:ln>
                  <a:noFill/>
                </a:ln>
                <a:solidFill>
                  <a:schemeClr val="tx1"/>
                </a:solidFill>
                <a:effectLst/>
                <a:uLnTx/>
                <a:uFillTx/>
                <a:latin typeface="+mn-lt"/>
                <a:ea typeface="+mn-ea"/>
                <a:cs typeface="+mn-cs"/>
              </a:rPr>
              <a:t>on</a:t>
            </a:r>
            <a:r>
              <a:rPr kumimoji="0" lang="nl-NL" sz="2000" b="0" i="0" u="none" strike="noStrike" kern="1200" cap="none" spc="0" normalizeH="0" noProof="0" dirty="0" smtClean="0">
                <a:ln>
                  <a:noFill/>
                </a:ln>
                <a:solidFill>
                  <a:schemeClr val="tx1"/>
                </a:solidFill>
                <a:effectLst/>
                <a:uLnTx/>
                <a:uFillTx/>
                <a:latin typeface="+mn-lt"/>
                <a:ea typeface="+mn-ea"/>
                <a:cs typeface="+mn-cs"/>
              </a:rPr>
              <a:t>geldigheid van syllogismen aan te tonen. En dit is van belang omdat dat middels de eerder besproken syntactische afleidingen </a:t>
            </a:r>
            <a:r>
              <a:rPr lang="nl-NL" sz="2000" dirty="0" smtClean="0"/>
              <a:t>uit perfecte syllogismen </a:t>
            </a:r>
            <a:r>
              <a:rPr kumimoji="0" lang="nl-NL" sz="2000" b="0" i="0" u="none" strike="noStrike" kern="1200" cap="none" spc="0" normalizeH="0" noProof="0" dirty="0" smtClean="0">
                <a:ln>
                  <a:noFill/>
                </a:ln>
                <a:solidFill>
                  <a:schemeClr val="tx1"/>
                </a:solidFill>
                <a:effectLst/>
                <a:uLnTx/>
                <a:uFillTx/>
                <a:latin typeface="+mn-lt"/>
                <a:ea typeface="+mn-ea"/>
                <a:cs typeface="+mn-cs"/>
              </a:rPr>
              <a:t>niet kan.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3832449"/>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de redeneervorm</a:t>
            </a:r>
            <a:r>
              <a:rPr kumimoji="0" lang="nl-NL" sz="2000" b="0" i="0" u="none" strike="noStrike" kern="1200" cap="none" spc="0" normalizeH="0" noProof="0" dirty="0" smtClean="0">
                <a:ln>
                  <a:noFill/>
                </a:ln>
                <a:solidFill>
                  <a:schemeClr val="tx1"/>
                </a:solidFill>
                <a:effectLst/>
                <a:uLnTx/>
                <a:uFillTx/>
                <a:latin typeface="+mn-lt"/>
                <a:ea typeface="+mn-ea"/>
                <a:cs typeface="+mn-cs"/>
              </a:rPr>
              <a:t> IEI-2. </a:t>
            </a:r>
            <a:r>
              <a:rPr lang="nl-NL" sz="2000" dirty="0" smtClean="0"/>
              <a:t>We zullen met behulp van de </a:t>
            </a:r>
            <a:r>
              <a:rPr lang="nl-NL" sz="2000" dirty="0" err="1" smtClean="0"/>
              <a:t>klasselogica</a:t>
            </a:r>
            <a:r>
              <a:rPr lang="nl-NL" sz="2000" dirty="0" smtClean="0"/>
              <a:t> laten zien dat deze redenering ongeldig is door een tegenvoorbeeld te construeren.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83568" y="4624537"/>
            <a:ext cx="2160240" cy="125273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u="none" strike="noStrike" kern="1200" cap="none" spc="0" normalizeH="0" baseline="0" noProof="0" dirty="0" smtClean="0">
                <a:ln>
                  <a:noFill/>
                </a:ln>
                <a:solidFill>
                  <a:schemeClr val="tx1"/>
                </a:solidFill>
                <a:effectLst/>
                <a:uLnTx/>
                <a:uFillTx/>
                <a:latin typeface="+mn-lt"/>
                <a:ea typeface="+mn-ea"/>
                <a:cs typeface="+mn-cs"/>
              </a:rPr>
              <a:t>Sommige</a:t>
            </a:r>
            <a:r>
              <a:rPr kumimoji="0" lang="nl-NL" sz="2000" u="none" strike="noStrike" kern="1200" cap="none" spc="0" normalizeH="0" noProof="0" dirty="0" smtClean="0">
                <a:ln>
                  <a:noFill/>
                </a:ln>
                <a:solidFill>
                  <a:schemeClr val="tx1"/>
                </a:solidFill>
                <a:effectLst/>
                <a:uLnTx/>
                <a:uFillTx/>
                <a:latin typeface="+mn-lt"/>
                <a:ea typeface="+mn-ea"/>
                <a:cs typeface="+mn-cs"/>
              </a:rPr>
              <a:t> </a:t>
            </a:r>
            <a:r>
              <a:rPr kumimoji="0" lang="nl-NL" sz="2000" i="1" u="none" strike="noStrike" kern="1200" cap="none" spc="0" normalizeH="0" noProof="0" dirty="0" smtClean="0">
                <a:ln>
                  <a:noFill/>
                </a:ln>
                <a:solidFill>
                  <a:schemeClr val="tx1"/>
                </a:solidFill>
                <a:effectLst/>
                <a:uLnTx/>
                <a:uFillTx/>
                <a:latin typeface="+mn-lt"/>
                <a:ea typeface="+mn-ea"/>
                <a:cs typeface="+mn-cs"/>
              </a:rPr>
              <a:t>P</a:t>
            </a:r>
            <a:r>
              <a:rPr kumimoji="0" lang="nl-NL" sz="2000" u="none" strike="noStrike" kern="1200" cap="none" spc="0" normalizeH="0" noProof="0" dirty="0" smtClean="0">
                <a:ln>
                  <a:noFill/>
                </a:ln>
                <a:solidFill>
                  <a:schemeClr val="tx1"/>
                </a:solidFill>
                <a:effectLst/>
                <a:uLnTx/>
                <a:uFillTx/>
                <a:latin typeface="+mn-lt"/>
                <a:ea typeface="+mn-ea"/>
                <a:cs typeface="+mn-cs"/>
              </a:rPr>
              <a:t> zijn </a:t>
            </a:r>
            <a:r>
              <a:rPr kumimoji="0" lang="nl-NL" sz="2000" i="1" u="none" strike="noStrike" kern="1200" cap="none" spc="0" normalizeH="0" noProof="0" dirty="0" smtClean="0">
                <a:ln>
                  <a:noFill/>
                </a:ln>
                <a:solidFill>
                  <a:schemeClr val="tx1"/>
                </a:solidFill>
                <a:effectLst/>
                <a:uLnTx/>
                <a:uFillTx/>
                <a:latin typeface="+mn-lt"/>
                <a:ea typeface="+mn-ea"/>
                <a:cs typeface="+mn-cs"/>
              </a:rPr>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Geen </a:t>
            </a:r>
            <a:r>
              <a:rPr lang="nl-NL" sz="2000" i="1" dirty="0" smtClean="0"/>
              <a:t>S</a:t>
            </a:r>
            <a:r>
              <a:rPr lang="nl-NL" sz="2000" dirty="0" smtClean="0"/>
              <a:t> is </a:t>
            </a:r>
            <a:r>
              <a:rPr lang="nl-NL" sz="2000"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Sommige </a:t>
            </a:r>
            <a:r>
              <a:rPr lang="nl-NL" sz="2000" i="1" dirty="0" smtClean="0"/>
              <a:t>S</a:t>
            </a:r>
            <a:r>
              <a:rPr lang="nl-NL" sz="2000" dirty="0" smtClean="0"/>
              <a:t> zijn </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20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fade">
                                      <p:cBhvr>
                                        <p:cTn id="12" dur="20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2000"/>
                                        <p:tgtEl>
                                          <p:spTgt spid="7">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2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allAtOnce"/>
      <p:bldP spid="26" grpId="0" build="allAtOnce"/>
      <p:bldP spid="7" grpId="0" build="allAtOnce"/>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Aantonen van ongeldigheid van ongeldige syllogismen</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De </a:t>
            </a:r>
            <a:r>
              <a:rPr lang="nl-NL" sz="2000" dirty="0" err="1" smtClean="0"/>
              <a:t>klasselogica</a:t>
            </a:r>
            <a:r>
              <a:rPr lang="nl-NL" sz="2000" dirty="0" smtClean="0"/>
              <a:t> kan gebruikt worden om de geldigheid van syllogismen aan          te tonen. Maar dat konden we al middels de eerder besproken syntactische afleiding uit de vier perfecte syllogismen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klasselogica</a:t>
            </a:r>
            <a:r>
              <a:rPr kumimoji="0" lang="nl-NL" sz="2000" b="0" i="0" u="none" strike="noStrike" kern="1200" cap="none" spc="0" normalizeH="0" noProof="0" dirty="0" smtClean="0">
                <a:ln>
                  <a:noFill/>
                </a:ln>
                <a:solidFill>
                  <a:schemeClr val="tx1"/>
                </a:solidFill>
                <a:effectLst/>
                <a:uLnTx/>
                <a:uFillTx/>
                <a:latin typeface="+mn-lt"/>
                <a:ea typeface="+mn-ea"/>
                <a:cs typeface="+mn-cs"/>
              </a:rPr>
              <a:t> kan echter ook gebruikt worden om de </a:t>
            </a:r>
            <a:r>
              <a:rPr kumimoji="0" lang="nl-NL" sz="2000" b="1" i="0" u="none" strike="noStrike" kern="1200" cap="none" spc="0" normalizeH="0" noProof="0" dirty="0" smtClean="0">
                <a:ln>
                  <a:noFill/>
                </a:ln>
                <a:solidFill>
                  <a:schemeClr val="tx1"/>
                </a:solidFill>
                <a:effectLst/>
                <a:uLnTx/>
                <a:uFillTx/>
                <a:latin typeface="+mn-lt"/>
                <a:ea typeface="+mn-ea"/>
                <a:cs typeface="+mn-cs"/>
              </a:rPr>
              <a:t>on</a:t>
            </a:r>
            <a:r>
              <a:rPr kumimoji="0" lang="nl-NL" sz="2000" b="0" i="0" u="none" strike="noStrike" kern="1200" cap="none" spc="0" normalizeH="0" noProof="0" dirty="0" smtClean="0">
                <a:ln>
                  <a:noFill/>
                </a:ln>
                <a:solidFill>
                  <a:schemeClr val="tx1"/>
                </a:solidFill>
                <a:effectLst/>
                <a:uLnTx/>
                <a:uFillTx/>
                <a:latin typeface="+mn-lt"/>
                <a:ea typeface="+mn-ea"/>
                <a:cs typeface="+mn-cs"/>
              </a:rPr>
              <a:t>geldigheid van syllogismen aan te tonen. En dit is van belang omdat dat middels de eerder besproken syntactische afleidingen </a:t>
            </a:r>
            <a:r>
              <a:rPr lang="nl-NL" sz="2000" dirty="0" smtClean="0"/>
              <a:t>uit perfecte syllogismen </a:t>
            </a:r>
            <a:r>
              <a:rPr kumimoji="0" lang="nl-NL" sz="2000" b="0" i="0" u="none" strike="noStrike" kern="1200" cap="none" spc="0" normalizeH="0" noProof="0" dirty="0" smtClean="0">
                <a:ln>
                  <a:noFill/>
                </a:ln>
                <a:solidFill>
                  <a:schemeClr val="tx1"/>
                </a:solidFill>
                <a:effectLst/>
                <a:uLnTx/>
                <a:uFillTx/>
                <a:latin typeface="+mn-lt"/>
                <a:ea typeface="+mn-ea"/>
                <a:cs typeface="+mn-cs"/>
              </a:rPr>
              <a:t>niet kan.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3832449"/>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de redeneervorm</a:t>
            </a:r>
            <a:r>
              <a:rPr kumimoji="0" lang="nl-NL" sz="2000" b="0" i="0" u="none" strike="noStrike" kern="1200" cap="none" spc="0" normalizeH="0" noProof="0" dirty="0" smtClean="0">
                <a:ln>
                  <a:noFill/>
                </a:ln>
                <a:solidFill>
                  <a:schemeClr val="tx1"/>
                </a:solidFill>
                <a:effectLst/>
                <a:uLnTx/>
                <a:uFillTx/>
                <a:latin typeface="+mn-lt"/>
                <a:ea typeface="+mn-ea"/>
                <a:cs typeface="+mn-cs"/>
              </a:rPr>
              <a:t> IEI-2. </a:t>
            </a:r>
            <a:r>
              <a:rPr lang="nl-NL" sz="2000" dirty="0" smtClean="0"/>
              <a:t>We zullen met behulp van de </a:t>
            </a:r>
            <a:r>
              <a:rPr lang="nl-NL" sz="2000" dirty="0" err="1" smtClean="0"/>
              <a:t>klasselogica</a:t>
            </a:r>
            <a:r>
              <a:rPr lang="nl-NL" sz="2000" dirty="0" smtClean="0"/>
              <a:t> laten zien dat deze redenering ongeldig is door een tegenvoorbeeld te construeren.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83568" y="4624537"/>
            <a:ext cx="2160240" cy="125273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1" u="none" strike="noStrike" kern="1200" cap="none" spc="0" normalizeH="0" baseline="0" noProof="0" dirty="0" smtClean="0">
                <a:ln>
                  <a:noFill/>
                </a:ln>
                <a:solidFill>
                  <a:schemeClr val="tx1"/>
                </a:solidFill>
                <a:effectLst/>
                <a:uLnTx/>
                <a:uFillTx/>
                <a:latin typeface="+mn-lt"/>
                <a:ea typeface="+mn-ea"/>
                <a:cs typeface="+mn-cs"/>
              </a:rPr>
              <a:t>Sommige</a:t>
            </a:r>
            <a:r>
              <a:rPr kumimoji="0" lang="nl-NL" sz="2000" b="1"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smtClean="0">
                <a:ln>
                  <a:noFill/>
                </a:ln>
                <a:solidFill>
                  <a:schemeClr val="tx1"/>
                </a:solidFill>
                <a:effectLst/>
                <a:uLnTx/>
                <a:uFillTx/>
                <a:latin typeface="+mn-lt"/>
                <a:ea typeface="+mn-ea"/>
                <a:cs typeface="+mn-cs"/>
              </a:rPr>
              <a:t>P</a:t>
            </a:r>
            <a:r>
              <a:rPr kumimoji="0" lang="nl-NL" sz="2000" b="1" u="none" strike="noStrike" kern="1200" cap="none" spc="0" normalizeH="0" noProof="0" dirty="0" smtClean="0">
                <a:ln>
                  <a:noFill/>
                </a:ln>
                <a:solidFill>
                  <a:schemeClr val="tx1"/>
                </a:solidFill>
                <a:effectLst/>
                <a:uLnTx/>
                <a:uFillTx/>
                <a:latin typeface="+mn-lt"/>
                <a:ea typeface="+mn-ea"/>
                <a:cs typeface="+mn-cs"/>
              </a:rPr>
              <a:t> zijn </a:t>
            </a:r>
            <a:r>
              <a:rPr kumimoji="0" lang="nl-NL" sz="2000" b="1" i="1" u="none" strike="noStrike" kern="1200" cap="none" spc="0" normalizeH="0" noProof="0" dirty="0" smtClean="0">
                <a:ln>
                  <a:noFill/>
                </a:ln>
                <a:solidFill>
                  <a:schemeClr val="tx1"/>
                </a:solidFill>
                <a:effectLst/>
                <a:uLnTx/>
                <a:uFillTx/>
                <a:latin typeface="+mn-lt"/>
                <a:ea typeface="+mn-ea"/>
                <a:cs typeface="+mn-cs"/>
              </a:rPr>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Geen </a:t>
            </a:r>
            <a:r>
              <a:rPr lang="nl-NL" sz="2000" i="1" dirty="0" smtClean="0"/>
              <a:t>S</a:t>
            </a:r>
            <a:r>
              <a:rPr lang="nl-NL" sz="2000" dirty="0" smtClean="0"/>
              <a:t> is </a:t>
            </a:r>
            <a:r>
              <a:rPr lang="nl-NL" sz="2000"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Sommige </a:t>
            </a:r>
            <a:r>
              <a:rPr lang="nl-NL" sz="2000" i="1" dirty="0" smtClean="0"/>
              <a:t>S</a:t>
            </a:r>
            <a:r>
              <a:rPr lang="nl-NL" sz="2000" dirty="0" smtClean="0"/>
              <a:t> zijn </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Aantonen van ongeldigheid van ongeldige syllogismen</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De </a:t>
            </a:r>
            <a:r>
              <a:rPr lang="nl-NL" sz="2000" dirty="0" err="1" smtClean="0"/>
              <a:t>klasselogica</a:t>
            </a:r>
            <a:r>
              <a:rPr lang="nl-NL" sz="2000" dirty="0" smtClean="0"/>
              <a:t> kan gebruikt worden om de geldigheid van syllogismen aan          te tonen. Maar dat konden we al middels de eerder besproken syntactische afleiding uit de vier perfecte syllogismen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klasselogica</a:t>
            </a:r>
            <a:r>
              <a:rPr kumimoji="0" lang="nl-NL" sz="2000" b="0" i="0" u="none" strike="noStrike" kern="1200" cap="none" spc="0" normalizeH="0" noProof="0" dirty="0" smtClean="0">
                <a:ln>
                  <a:noFill/>
                </a:ln>
                <a:solidFill>
                  <a:schemeClr val="tx1"/>
                </a:solidFill>
                <a:effectLst/>
                <a:uLnTx/>
                <a:uFillTx/>
                <a:latin typeface="+mn-lt"/>
                <a:ea typeface="+mn-ea"/>
                <a:cs typeface="+mn-cs"/>
              </a:rPr>
              <a:t> kan echter ook gebruikt worden om de </a:t>
            </a:r>
            <a:r>
              <a:rPr kumimoji="0" lang="nl-NL" sz="2000" b="1" i="0" u="none" strike="noStrike" kern="1200" cap="none" spc="0" normalizeH="0" noProof="0" dirty="0" smtClean="0">
                <a:ln>
                  <a:noFill/>
                </a:ln>
                <a:solidFill>
                  <a:schemeClr val="tx1"/>
                </a:solidFill>
                <a:effectLst/>
                <a:uLnTx/>
                <a:uFillTx/>
                <a:latin typeface="+mn-lt"/>
                <a:ea typeface="+mn-ea"/>
                <a:cs typeface="+mn-cs"/>
              </a:rPr>
              <a:t>on</a:t>
            </a:r>
            <a:r>
              <a:rPr kumimoji="0" lang="nl-NL" sz="2000" b="0" i="0" u="none" strike="noStrike" kern="1200" cap="none" spc="0" normalizeH="0" noProof="0" dirty="0" smtClean="0">
                <a:ln>
                  <a:noFill/>
                </a:ln>
                <a:solidFill>
                  <a:schemeClr val="tx1"/>
                </a:solidFill>
                <a:effectLst/>
                <a:uLnTx/>
                <a:uFillTx/>
                <a:latin typeface="+mn-lt"/>
                <a:ea typeface="+mn-ea"/>
                <a:cs typeface="+mn-cs"/>
              </a:rPr>
              <a:t>geldigheid van syllogismen aan te tonen. En dit is van belang omdat dat middels de eerder besproken syntactische afleidingen </a:t>
            </a:r>
            <a:r>
              <a:rPr lang="nl-NL" sz="2000" dirty="0" smtClean="0"/>
              <a:t>uit perfecte syllogismen </a:t>
            </a:r>
            <a:r>
              <a:rPr kumimoji="0" lang="nl-NL" sz="2000" b="0" i="0" u="none" strike="noStrike" kern="1200" cap="none" spc="0" normalizeH="0" noProof="0" dirty="0" smtClean="0">
                <a:ln>
                  <a:noFill/>
                </a:ln>
                <a:solidFill>
                  <a:schemeClr val="tx1"/>
                </a:solidFill>
                <a:effectLst/>
                <a:uLnTx/>
                <a:uFillTx/>
                <a:latin typeface="+mn-lt"/>
                <a:ea typeface="+mn-ea"/>
                <a:cs typeface="+mn-cs"/>
              </a:rPr>
              <a:t>niet kan.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3832449"/>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de redeneervorm</a:t>
            </a:r>
            <a:r>
              <a:rPr kumimoji="0" lang="nl-NL" sz="2000" b="0" i="0" u="none" strike="noStrike" kern="1200" cap="none" spc="0" normalizeH="0" noProof="0" dirty="0" smtClean="0">
                <a:ln>
                  <a:noFill/>
                </a:ln>
                <a:solidFill>
                  <a:schemeClr val="tx1"/>
                </a:solidFill>
                <a:effectLst/>
                <a:uLnTx/>
                <a:uFillTx/>
                <a:latin typeface="+mn-lt"/>
                <a:ea typeface="+mn-ea"/>
                <a:cs typeface="+mn-cs"/>
              </a:rPr>
              <a:t> IEI-2. </a:t>
            </a:r>
            <a:r>
              <a:rPr lang="nl-NL" sz="2000" dirty="0" smtClean="0"/>
              <a:t>We zullen met behulp van de </a:t>
            </a:r>
            <a:r>
              <a:rPr lang="nl-NL" sz="2000" dirty="0" err="1" smtClean="0"/>
              <a:t>klasselogica</a:t>
            </a:r>
            <a:r>
              <a:rPr lang="nl-NL" sz="2000" dirty="0" smtClean="0"/>
              <a:t> laten zien dat deze redenering ongeldig is door een tegenvoorbeeld te construeren.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83568" y="4624537"/>
            <a:ext cx="2160240" cy="125273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1" u="none" strike="noStrike" kern="1200" cap="none" spc="0" normalizeH="0" baseline="0" noProof="0" dirty="0" smtClean="0">
                <a:ln>
                  <a:noFill/>
                </a:ln>
                <a:solidFill>
                  <a:schemeClr val="tx1"/>
                </a:solidFill>
                <a:effectLst/>
                <a:uLnTx/>
                <a:uFillTx/>
                <a:latin typeface="+mn-lt"/>
                <a:ea typeface="+mn-ea"/>
                <a:cs typeface="+mn-cs"/>
              </a:rPr>
              <a:t>Sommige</a:t>
            </a:r>
            <a:r>
              <a:rPr kumimoji="0" lang="nl-NL" sz="2000" b="1"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smtClean="0">
                <a:ln>
                  <a:noFill/>
                </a:ln>
                <a:solidFill>
                  <a:schemeClr val="tx1"/>
                </a:solidFill>
                <a:effectLst/>
                <a:uLnTx/>
                <a:uFillTx/>
                <a:latin typeface="+mn-lt"/>
                <a:ea typeface="+mn-ea"/>
                <a:cs typeface="+mn-cs"/>
              </a:rPr>
              <a:t>P</a:t>
            </a:r>
            <a:r>
              <a:rPr kumimoji="0" lang="nl-NL" sz="2000" b="1" u="none" strike="noStrike" kern="1200" cap="none" spc="0" normalizeH="0" noProof="0" dirty="0" smtClean="0">
                <a:ln>
                  <a:noFill/>
                </a:ln>
                <a:solidFill>
                  <a:schemeClr val="tx1"/>
                </a:solidFill>
                <a:effectLst/>
                <a:uLnTx/>
                <a:uFillTx/>
                <a:latin typeface="+mn-lt"/>
                <a:ea typeface="+mn-ea"/>
                <a:cs typeface="+mn-cs"/>
              </a:rPr>
              <a:t> zijn </a:t>
            </a:r>
            <a:r>
              <a:rPr kumimoji="0" lang="nl-NL" sz="2000" b="1" i="1" u="none" strike="noStrike" kern="1200" cap="none" spc="0" normalizeH="0" noProof="0" dirty="0" smtClean="0">
                <a:ln>
                  <a:noFill/>
                </a:ln>
                <a:solidFill>
                  <a:schemeClr val="tx1"/>
                </a:solidFill>
                <a:effectLst/>
                <a:uLnTx/>
                <a:uFillTx/>
                <a:latin typeface="+mn-lt"/>
                <a:ea typeface="+mn-ea"/>
                <a:cs typeface="+mn-cs"/>
              </a:rPr>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Geen </a:t>
            </a:r>
            <a:r>
              <a:rPr lang="nl-NL" sz="2000" i="1" dirty="0" smtClean="0"/>
              <a:t>S</a:t>
            </a:r>
            <a:r>
              <a:rPr lang="nl-NL" sz="2000" dirty="0" smtClean="0"/>
              <a:t> is </a:t>
            </a:r>
            <a:r>
              <a:rPr lang="nl-NL" sz="2000"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Sommige </a:t>
            </a:r>
            <a:r>
              <a:rPr lang="nl-NL" sz="2000" i="1" dirty="0" smtClean="0"/>
              <a:t>S</a:t>
            </a:r>
            <a:r>
              <a:rPr lang="nl-NL" sz="2000" dirty="0" smtClean="0"/>
              <a:t> zijn </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64778" y="4725144"/>
            <a:ext cx="2880320" cy="187220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Oval 8"/>
          <p:cNvSpPr/>
          <p:nvPr/>
        </p:nvSpPr>
        <p:spPr>
          <a:xfrm>
            <a:off x="3480802" y="537321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3851920" y="492807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19872" y="6228020"/>
            <a:ext cx="792088" cy="369332"/>
          </a:xfrm>
          <a:prstGeom prst="rect">
            <a:avLst/>
          </a:prstGeom>
          <a:noFill/>
        </p:spPr>
        <p:txBody>
          <a:bodyPr wrap="square" rtlCol="0">
            <a:spAutoFit/>
          </a:bodyPr>
          <a:lstStyle/>
          <a:p>
            <a:r>
              <a:rPr lang="nl-NL" dirty="0" smtClean="0"/>
              <a:t>P</a:t>
            </a:r>
            <a:endParaRPr lang="nl-NL" dirty="0"/>
          </a:p>
        </p:txBody>
      </p:sp>
      <p:sp>
        <p:nvSpPr>
          <p:cNvPr id="13" name="TextBox 12"/>
          <p:cNvSpPr txBox="1"/>
          <p:nvPr/>
        </p:nvSpPr>
        <p:spPr>
          <a:xfrm>
            <a:off x="4716016" y="4787860"/>
            <a:ext cx="792088" cy="369332"/>
          </a:xfrm>
          <a:prstGeom prst="rect">
            <a:avLst/>
          </a:prstGeom>
          <a:noFill/>
        </p:spPr>
        <p:txBody>
          <a:bodyPr wrap="square" rtlCol="0">
            <a:spAutoFit/>
          </a:bodyPr>
          <a:lstStyle/>
          <a:p>
            <a:r>
              <a:rPr lang="nl-NL" dirty="0" smtClean="0"/>
              <a:t>M</a:t>
            </a:r>
            <a:endParaRPr lang="nl-NL" dirty="0"/>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Aantonen van ongeldigheid van ongeldige syllogismen</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De </a:t>
            </a:r>
            <a:r>
              <a:rPr lang="nl-NL" sz="2000" dirty="0" err="1" smtClean="0"/>
              <a:t>klasselogica</a:t>
            </a:r>
            <a:r>
              <a:rPr lang="nl-NL" sz="2000" dirty="0" smtClean="0"/>
              <a:t> kan gebruikt worden om de geldigheid van syllogismen aan          te tonen. Maar dat konden we al middels de eerder besproken syntactische afleiding uit de vier perfecte syllogismen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klasselogica</a:t>
            </a:r>
            <a:r>
              <a:rPr kumimoji="0" lang="nl-NL" sz="2000" b="0" i="0" u="none" strike="noStrike" kern="1200" cap="none" spc="0" normalizeH="0" noProof="0" dirty="0" smtClean="0">
                <a:ln>
                  <a:noFill/>
                </a:ln>
                <a:solidFill>
                  <a:schemeClr val="tx1"/>
                </a:solidFill>
                <a:effectLst/>
                <a:uLnTx/>
                <a:uFillTx/>
                <a:latin typeface="+mn-lt"/>
                <a:ea typeface="+mn-ea"/>
                <a:cs typeface="+mn-cs"/>
              </a:rPr>
              <a:t> kan echter ook gebruikt worden om de </a:t>
            </a:r>
            <a:r>
              <a:rPr kumimoji="0" lang="nl-NL" sz="2000" b="1" i="0" u="none" strike="noStrike" kern="1200" cap="none" spc="0" normalizeH="0" noProof="0" dirty="0" smtClean="0">
                <a:ln>
                  <a:noFill/>
                </a:ln>
                <a:solidFill>
                  <a:schemeClr val="tx1"/>
                </a:solidFill>
                <a:effectLst/>
                <a:uLnTx/>
                <a:uFillTx/>
                <a:latin typeface="+mn-lt"/>
                <a:ea typeface="+mn-ea"/>
                <a:cs typeface="+mn-cs"/>
              </a:rPr>
              <a:t>on</a:t>
            </a:r>
            <a:r>
              <a:rPr kumimoji="0" lang="nl-NL" sz="2000" b="0" i="0" u="none" strike="noStrike" kern="1200" cap="none" spc="0" normalizeH="0" noProof="0" dirty="0" smtClean="0">
                <a:ln>
                  <a:noFill/>
                </a:ln>
                <a:solidFill>
                  <a:schemeClr val="tx1"/>
                </a:solidFill>
                <a:effectLst/>
                <a:uLnTx/>
                <a:uFillTx/>
                <a:latin typeface="+mn-lt"/>
                <a:ea typeface="+mn-ea"/>
                <a:cs typeface="+mn-cs"/>
              </a:rPr>
              <a:t>geldigheid van syllogismen aan te tonen. En dit is van belang omdat dat middels de eerder besproken syntactische afleidingen </a:t>
            </a:r>
            <a:r>
              <a:rPr lang="nl-NL" sz="2000" dirty="0" smtClean="0"/>
              <a:t>uit perfecte syllogismen </a:t>
            </a:r>
            <a:r>
              <a:rPr kumimoji="0" lang="nl-NL" sz="2000" b="0" i="0" u="none" strike="noStrike" kern="1200" cap="none" spc="0" normalizeH="0" noProof="0" dirty="0" smtClean="0">
                <a:ln>
                  <a:noFill/>
                </a:ln>
                <a:solidFill>
                  <a:schemeClr val="tx1"/>
                </a:solidFill>
                <a:effectLst/>
                <a:uLnTx/>
                <a:uFillTx/>
                <a:latin typeface="+mn-lt"/>
                <a:ea typeface="+mn-ea"/>
                <a:cs typeface="+mn-cs"/>
              </a:rPr>
              <a:t>niet kan.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3832449"/>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de redeneervorm</a:t>
            </a:r>
            <a:r>
              <a:rPr kumimoji="0" lang="nl-NL" sz="2000" b="0" i="0" u="none" strike="noStrike" kern="1200" cap="none" spc="0" normalizeH="0" noProof="0" dirty="0" smtClean="0">
                <a:ln>
                  <a:noFill/>
                </a:ln>
                <a:solidFill>
                  <a:schemeClr val="tx1"/>
                </a:solidFill>
                <a:effectLst/>
                <a:uLnTx/>
                <a:uFillTx/>
                <a:latin typeface="+mn-lt"/>
                <a:ea typeface="+mn-ea"/>
                <a:cs typeface="+mn-cs"/>
              </a:rPr>
              <a:t> IEI-2. </a:t>
            </a:r>
            <a:r>
              <a:rPr lang="nl-NL" sz="2000" dirty="0" smtClean="0"/>
              <a:t>We zullen met behulp van de </a:t>
            </a:r>
            <a:r>
              <a:rPr lang="nl-NL" sz="2000" dirty="0" err="1" smtClean="0"/>
              <a:t>klasselogica</a:t>
            </a:r>
            <a:r>
              <a:rPr lang="nl-NL" sz="2000" dirty="0" smtClean="0"/>
              <a:t> laten zien dat deze redenering ongeldig is door een tegenvoorbeeld te construeren.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83568" y="4624537"/>
            <a:ext cx="2160240" cy="125273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1" u="none" strike="noStrike" kern="1200" cap="none" spc="0" normalizeH="0" baseline="0" noProof="0" dirty="0" smtClean="0">
                <a:ln>
                  <a:noFill/>
                </a:ln>
                <a:solidFill>
                  <a:schemeClr val="tx1"/>
                </a:solidFill>
                <a:effectLst/>
                <a:uLnTx/>
                <a:uFillTx/>
                <a:latin typeface="+mn-lt"/>
                <a:ea typeface="+mn-ea"/>
                <a:cs typeface="+mn-cs"/>
              </a:rPr>
              <a:t>Sommige</a:t>
            </a:r>
            <a:r>
              <a:rPr kumimoji="0" lang="nl-NL" sz="2000" b="1"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smtClean="0">
                <a:ln>
                  <a:noFill/>
                </a:ln>
                <a:solidFill>
                  <a:schemeClr val="tx1"/>
                </a:solidFill>
                <a:effectLst/>
                <a:uLnTx/>
                <a:uFillTx/>
                <a:latin typeface="+mn-lt"/>
                <a:ea typeface="+mn-ea"/>
                <a:cs typeface="+mn-cs"/>
              </a:rPr>
              <a:t>P</a:t>
            </a:r>
            <a:r>
              <a:rPr kumimoji="0" lang="nl-NL" sz="2000" b="1" u="none" strike="noStrike" kern="1200" cap="none" spc="0" normalizeH="0" noProof="0" dirty="0" smtClean="0">
                <a:ln>
                  <a:noFill/>
                </a:ln>
                <a:solidFill>
                  <a:schemeClr val="tx1"/>
                </a:solidFill>
                <a:effectLst/>
                <a:uLnTx/>
                <a:uFillTx/>
                <a:latin typeface="+mn-lt"/>
                <a:ea typeface="+mn-ea"/>
                <a:cs typeface="+mn-cs"/>
              </a:rPr>
              <a:t> zijn </a:t>
            </a:r>
            <a:r>
              <a:rPr kumimoji="0" lang="nl-NL" sz="2000" b="1" i="1" u="none" strike="noStrike" kern="1200" cap="none" spc="0" normalizeH="0" noProof="0" dirty="0" smtClean="0">
                <a:ln>
                  <a:noFill/>
                </a:ln>
                <a:solidFill>
                  <a:schemeClr val="tx1"/>
                </a:solidFill>
                <a:effectLst/>
                <a:uLnTx/>
                <a:uFillTx/>
                <a:latin typeface="+mn-lt"/>
                <a:ea typeface="+mn-ea"/>
                <a:cs typeface="+mn-cs"/>
              </a:rPr>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Geen </a:t>
            </a:r>
            <a:r>
              <a:rPr lang="nl-NL" sz="2000" b="1" i="1" dirty="0" smtClean="0"/>
              <a:t>S</a:t>
            </a:r>
            <a:r>
              <a:rPr lang="nl-NL" sz="2000" b="1" dirty="0" smtClean="0"/>
              <a:t> is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Sommige </a:t>
            </a:r>
            <a:r>
              <a:rPr lang="nl-NL" sz="2000" i="1" dirty="0" smtClean="0"/>
              <a:t>S</a:t>
            </a:r>
            <a:r>
              <a:rPr lang="nl-NL" sz="2000" dirty="0" smtClean="0"/>
              <a:t> zijn </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64778" y="4725144"/>
            <a:ext cx="2880320" cy="187220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Oval 8"/>
          <p:cNvSpPr/>
          <p:nvPr/>
        </p:nvSpPr>
        <p:spPr>
          <a:xfrm>
            <a:off x="3480802" y="537321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3851920" y="492807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19872" y="6228020"/>
            <a:ext cx="792088" cy="369332"/>
          </a:xfrm>
          <a:prstGeom prst="rect">
            <a:avLst/>
          </a:prstGeom>
          <a:noFill/>
        </p:spPr>
        <p:txBody>
          <a:bodyPr wrap="square" rtlCol="0">
            <a:spAutoFit/>
          </a:bodyPr>
          <a:lstStyle/>
          <a:p>
            <a:r>
              <a:rPr lang="nl-NL" dirty="0" smtClean="0"/>
              <a:t>P</a:t>
            </a:r>
            <a:endParaRPr lang="nl-NL" dirty="0"/>
          </a:p>
        </p:txBody>
      </p:sp>
      <p:sp>
        <p:nvSpPr>
          <p:cNvPr id="13" name="TextBox 12"/>
          <p:cNvSpPr txBox="1"/>
          <p:nvPr/>
        </p:nvSpPr>
        <p:spPr>
          <a:xfrm>
            <a:off x="4716016" y="4787860"/>
            <a:ext cx="792088" cy="369332"/>
          </a:xfrm>
          <a:prstGeom prst="rect">
            <a:avLst/>
          </a:prstGeom>
          <a:noFill/>
        </p:spPr>
        <p:txBody>
          <a:bodyPr wrap="square" rtlCol="0">
            <a:spAutoFit/>
          </a:bodyPr>
          <a:lstStyle/>
          <a:p>
            <a:r>
              <a:rPr lang="nl-NL" dirty="0" smtClean="0"/>
              <a:t>M</a:t>
            </a:r>
            <a:endParaRPr lang="nl-NL" dirty="0"/>
          </a:p>
        </p:txBody>
      </p:sp>
      <p:sp>
        <p:nvSpPr>
          <p:cNvPr id="14" name="Oval 13"/>
          <p:cNvSpPr/>
          <p:nvPr/>
        </p:nvSpPr>
        <p:spPr>
          <a:xfrm>
            <a:off x="5004048" y="528811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p:cNvSpPr txBox="1"/>
          <p:nvPr/>
        </p:nvSpPr>
        <p:spPr>
          <a:xfrm>
            <a:off x="5785058" y="6156012"/>
            <a:ext cx="792088" cy="369332"/>
          </a:xfrm>
          <a:prstGeom prst="rect">
            <a:avLst/>
          </a:prstGeom>
          <a:noFill/>
        </p:spPr>
        <p:txBody>
          <a:bodyPr wrap="square" rtlCol="0">
            <a:spAutoFit/>
          </a:bodyPr>
          <a:lstStyle/>
          <a:p>
            <a:r>
              <a:rPr lang="nl-NL" dirty="0" smtClean="0"/>
              <a:t>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Aantonen van ongeldigheid van ongeldige syllogismen</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De </a:t>
            </a:r>
            <a:r>
              <a:rPr lang="nl-NL" sz="2000" dirty="0" err="1" smtClean="0"/>
              <a:t>klasselogica</a:t>
            </a:r>
            <a:r>
              <a:rPr lang="nl-NL" sz="2000" dirty="0" smtClean="0"/>
              <a:t> kan gebruikt worden om de geldigheid van syllogismen aan          te tonen. Maar dat konden we al middels de eerder besproken syntactische afleiding uit de vier perfecte syllogismen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klasselogica</a:t>
            </a:r>
            <a:r>
              <a:rPr kumimoji="0" lang="nl-NL" sz="2000" b="0" i="0" u="none" strike="noStrike" kern="1200" cap="none" spc="0" normalizeH="0" noProof="0" dirty="0" smtClean="0">
                <a:ln>
                  <a:noFill/>
                </a:ln>
                <a:solidFill>
                  <a:schemeClr val="tx1"/>
                </a:solidFill>
                <a:effectLst/>
                <a:uLnTx/>
                <a:uFillTx/>
                <a:latin typeface="+mn-lt"/>
                <a:ea typeface="+mn-ea"/>
                <a:cs typeface="+mn-cs"/>
              </a:rPr>
              <a:t> kan echter ook gebruikt worden om de </a:t>
            </a:r>
            <a:r>
              <a:rPr kumimoji="0" lang="nl-NL" sz="2000" b="1" i="0" u="none" strike="noStrike" kern="1200" cap="none" spc="0" normalizeH="0" noProof="0" dirty="0" smtClean="0">
                <a:ln>
                  <a:noFill/>
                </a:ln>
                <a:solidFill>
                  <a:schemeClr val="tx1"/>
                </a:solidFill>
                <a:effectLst/>
                <a:uLnTx/>
                <a:uFillTx/>
                <a:latin typeface="+mn-lt"/>
                <a:ea typeface="+mn-ea"/>
                <a:cs typeface="+mn-cs"/>
              </a:rPr>
              <a:t>on</a:t>
            </a:r>
            <a:r>
              <a:rPr kumimoji="0" lang="nl-NL" sz="2000" b="0" i="0" u="none" strike="noStrike" kern="1200" cap="none" spc="0" normalizeH="0" noProof="0" dirty="0" smtClean="0">
                <a:ln>
                  <a:noFill/>
                </a:ln>
                <a:solidFill>
                  <a:schemeClr val="tx1"/>
                </a:solidFill>
                <a:effectLst/>
                <a:uLnTx/>
                <a:uFillTx/>
                <a:latin typeface="+mn-lt"/>
                <a:ea typeface="+mn-ea"/>
                <a:cs typeface="+mn-cs"/>
              </a:rPr>
              <a:t>geldigheid van syllogismen aan te tonen. En dit is van belang omdat dat middels de eerder besproken syntactische afleidingen </a:t>
            </a:r>
            <a:r>
              <a:rPr lang="nl-NL" sz="2000" dirty="0" smtClean="0"/>
              <a:t>uit perfecte syllogismen </a:t>
            </a:r>
            <a:r>
              <a:rPr kumimoji="0" lang="nl-NL" sz="2000" b="0" i="0" u="none" strike="noStrike" kern="1200" cap="none" spc="0" normalizeH="0" noProof="0" dirty="0" smtClean="0">
                <a:ln>
                  <a:noFill/>
                </a:ln>
                <a:solidFill>
                  <a:schemeClr val="tx1"/>
                </a:solidFill>
                <a:effectLst/>
                <a:uLnTx/>
                <a:uFillTx/>
                <a:latin typeface="+mn-lt"/>
                <a:ea typeface="+mn-ea"/>
                <a:cs typeface="+mn-cs"/>
              </a:rPr>
              <a:t>niet kan.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3832449"/>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de redeneervorm</a:t>
            </a:r>
            <a:r>
              <a:rPr kumimoji="0" lang="nl-NL" sz="2000" b="0" i="0" u="none" strike="noStrike" kern="1200" cap="none" spc="0" normalizeH="0" noProof="0" dirty="0" smtClean="0">
                <a:ln>
                  <a:noFill/>
                </a:ln>
                <a:solidFill>
                  <a:schemeClr val="tx1"/>
                </a:solidFill>
                <a:effectLst/>
                <a:uLnTx/>
                <a:uFillTx/>
                <a:latin typeface="+mn-lt"/>
                <a:ea typeface="+mn-ea"/>
                <a:cs typeface="+mn-cs"/>
              </a:rPr>
              <a:t> IEI-2. </a:t>
            </a:r>
            <a:r>
              <a:rPr lang="nl-NL" sz="2000" dirty="0" smtClean="0"/>
              <a:t>We zullen met behulp van de </a:t>
            </a:r>
            <a:r>
              <a:rPr lang="nl-NL" sz="2000" dirty="0" err="1" smtClean="0"/>
              <a:t>klasselogica</a:t>
            </a:r>
            <a:r>
              <a:rPr lang="nl-NL" sz="2000" dirty="0" smtClean="0"/>
              <a:t> laten zien dat deze redenering ongeldig is door een tegenvoorbeeld te construeren.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83568" y="4624537"/>
            <a:ext cx="2160240" cy="125273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1" u="none" strike="noStrike" kern="1200" cap="none" spc="0" normalizeH="0" baseline="0" noProof="0" dirty="0" smtClean="0">
                <a:ln>
                  <a:noFill/>
                </a:ln>
                <a:solidFill>
                  <a:schemeClr val="tx1"/>
                </a:solidFill>
                <a:effectLst/>
                <a:uLnTx/>
                <a:uFillTx/>
                <a:latin typeface="+mn-lt"/>
                <a:ea typeface="+mn-ea"/>
                <a:cs typeface="+mn-cs"/>
              </a:rPr>
              <a:t>Sommige</a:t>
            </a:r>
            <a:r>
              <a:rPr kumimoji="0" lang="nl-NL" sz="2000" b="1"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smtClean="0">
                <a:ln>
                  <a:noFill/>
                </a:ln>
                <a:solidFill>
                  <a:schemeClr val="tx1"/>
                </a:solidFill>
                <a:effectLst/>
                <a:uLnTx/>
                <a:uFillTx/>
                <a:latin typeface="+mn-lt"/>
                <a:ea typeface="+mn-ea"/>
                <a:cs typeface="+mn-cs"/>
              </a:rPr>
              <a:t>P</a:t>
            </a:r>
            <a:r>
              <a:rPr kumimoji="0" lang="nl-NL" sz="2000" b="1" u="none" strike="noStrike" kern="1200" cap="none" spc="0" normalizeH="0" noProof="0" dirty="0" smtClean="0">
                <a:ln>
                  <a:noFill/>
                </a:ln>
                <a:solidFill>
                  <a:schemeClr val="tx1"/>
                </a:solidFill>
                <a:effectLst/>
                <a:uLnTx/>
                <a:uFillTx/>
                <a:latin typeface="+mn-lt"/>
                <a:ea typeface="+mn-ea"/>
                <a:cs typeface="+mn-cs"/>
              </a:rPr>
              <a:t> zijn </a:t>
            </a:r>
            <a:r>
              <a:rPr kumimoji="0" lang="nl-NL" sz="2000" b="1" i="1" u="none" strike="noStrike" kern="1200" cap="none" spc="0" normalizeH="0" noProof="0" dirty="0" smtClean="0">
                <a:ln>
                  <a:noFill/>
                </a:ln>
                <a:solidFill>
                  <a:schemeClr val="tx1"/>
                </a:solidFill>
                <a:effectLst/>
                <a:uLnTx/>
                <a:uFillTx/>
                <a:latin typeface="+mn-lt"/>
                <a:ea typeface="+mn-ea"/>
                <a:cs typeface="+mn-cs"/>
              </a:rPr>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Geen </a:t>
            </a:r>
            <a:r>
              <a:rPr lang="nl-NL" sz="2000" b="1" i="1" dirty="0" smtClean="0"/>
              <a:t>S</a:t>
            </a:r>
            <a:r>
              <a:rPr lang="nl-NL" sz="2000" b="1" dirty="0" smtClean="0"/>
              <a:t> is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Sommige </a:t>
            </a:r>
            <a:r>
              <a:rPr lang="nl-NL" sz="2000" i="1" dirty="0" smtClean="0"/>
              <a:t>S</a:t>
            </a:r>
            <a:r>
              <a:rPr lang="nl-NL" sz="2000" dirty="0" smtClean="0"/>
              <a:t> zijn </a:t>
            </a:r>
            <a:r>
              <a:rPr lang="nl-NL" sz="2000" i="1" dirty="0" smtClean="0"/>
              <a:t>P</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64778" y="4725144"/>
            <a:ext cx="2880320" cy="187220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Oval 8"/>
          <p:cNvSpPr/>
          <p:nvPr/>
        </p:nvSpPr>
        <p:spPr>
          <a:xfrm>
            <a:off x="3480802" y="537321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3851920" y="492807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19872" y="6228020"/>
            <a:ext cx="792088" cy="369332"/>
          </a:xfrm>
          <a:prstGeom prst="rect">
            <a:avLst/>
          </a:prstGeom>
          <a:noFill/>
        </p:spPr>
        <p:txBody>
          <a:bodyPr wrap="square" rtlCol="0">
            <a:spAutoFit/>
          </a:bodyPr>
          <a:lstStyle/>
          <a:p>
            <a:r>
              <a:rPr lang="nl-NL" dirty="0" smtClean="0"/>
              <a:t>P</a:t>
            </a:r>
            <a:endParaRPr lang="nl-NL" dirty="0"/>
          </a:p>
        </p:txBody>
      </p:sp>
      <p:sp>
        <p:nvSpPr>
          <p:cNvPr id="13" name="TextBox 12"/>
          <p:cNvSpPr txBox="1"/>
          <p:nvPr/>
        </p:nvSpPr>
        <p:spPr>
          <a:xfrm>
            <a:off x="4716016" y="4787860"/>
            <a:ext cx="792088" cy="369332"/>
          </a:xfrm>
          <a:prstGeom prst="rect">
            <a:avLst/>
          </a:prstGeom>
          <a:noFill/>
        </p:spPr>
        <p:txBody>
          <a:bodyPr wrap="square" rtlCol="0">
            <a:spAutoFit/>
          </a:bodyPr>
          <a:lstStyle/>
          <a:p>
            <a:r>
              <a:rPr lang="nl-NL" dirty="0" smtClean="0"/>
              <a:t>M</a:t>
            </a:r>
            <a:endParaRPr lang="nl-NL" dirty="0"/>
          </a:p>
        </p:txBody>
      </p:sp>
      <p:sp>
        <p:nvSpPr>
          <p:cNvPr id="14" name="Oval 13"/>
          <p:cNvSpPr/>
          <p:nvPr/>
        </p:nvSpPr>
        <p:spPr>
          <a:xfrm>
            <a:off x="5004048" y="528811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p:cNvSpPr txBox="1"/>
          <p:nvPr/>
        </p:nvSpPr>
        <p:spPr>
          <a:xfrm>
            <a:off x="5785058" y="6156012"/>
            <a:ext cx="792088" cy="369332"/>
          </a:xfrm>
          <a:prstGeom prst="rect">
            <a:avLst/>
          </a:prstGeom>
          <a:noFill/>
        </p:spPr>
        <p:txBody>
          <a:bodyPr wrap="square" rtlCol="0">
            <a:spAutoFit/>
          </a:bodyPr>
          <a:lstStyle/>
          <a:p>
            <a:r>
              <a:rPr lang="nl-NL" dirty="0" smtClean="0"/>
              <a:t>S</a:t>
            </a:r>
            <a:endParaRPr lang="nl-NL" dirty="0"/>
          </a:p>
        </p:txBody>
      </p:sp>
      <p:sp>
        <p:nvSpPr>
          <p:cNvPr id="16" name="Content Placeholder 2"/>
          <p:cNvSpPr txBox="1">
            <a:spLocks/>
          </p:cNvSpPr>
          <p:nvPr/>
        </p:nvSpPr>
        <p:spPr>
          <a:xfrm>
            <a:off x="6372200" y="4624537"/>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P ∩ M ≠ Ø  </a:t>
            </a:r>
          </a:p>
        </p:txBody>
      </p:sp>
      <p:sp>
        <p:nvSpPr>
          <p:cNvPr id="17" name="Content Placeholder 2"/>
          <p:cNvSpPr txBox="1">
            <a:spLocks/>
          </p:cNvSpPr>
          <p:nvPr/>
        </p:nvSpPr>
        <p:spPr>
          <a:xfrm>
            <a:off x="6372200" y="4984577"/>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M = Ø  </a:t>
            </a:r>
          </a:p>
        </p:txBody>
      </p:sp>
      <p:sp>
        <p:nvSpPr>
          <p:cNvPr id="18" name="Content Placeholder 2"/>
          <p:cNvSpPr txBox="1">
            <a:spLocks/>
          </p:cNvSpPr>
          <p:nvPr/>
        </p:nvSpPr>
        <p:spPr>
          <a:xfrm>
            <a:off x="6361856" y="5373216"/>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P = Ø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8" grpId="0" build="allAtOnce"/>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Aantonen van ongeldigheid van ongeldige syllogismen</a:t>
            </a:r>
            <a:endParaRPr lang="nl-NL" sz="3600" dirty="0"/>
          </a:p>
        </p:txBody>
      </p:sp>
      <p:sp>
        <p:nvSpPr>
          <p:cNvPr id="19" name="Content Placeholder 2"/>
          <p:cNvSpPr>
            <a:spLocks noGrp="1"/>
          </p:cNvSpPr>
          <p:nvPr>
            <p:ph idx="1"/>
          </p:nvPr>
        </p:nvSpPr>
        <p:spPr>
          <a:xfrm>
            <a:off x="313184" y="1672209"/>
            <a:ext cx="8939336" cy="1108719"/>
          </a:xfrm>
        </p:spPr>
        <p:txBody>
          <a:bodyPr>
            <a:noAutofit/>
          </a:bodyPr>
          <a:lstStyle/>
          <a:p>
            <a:r>
              <a:rPr lang="nl-NL" sz="2000" dirty="0" smtClean="0"/>
              <a:t>De </a:t>
            </a:r>
            <a:r>
              <a:rPr lang="nl-NL" sz="2000" dirty="0" err="1" smtClean="0"/>
              <a:t>klasselogica</a:t>
            </a:r>
            <a:r>
              <a:rPr lang="nl-NL" sz="2000" dirty="0" smtClean="0"/>
              <a:t> kan gebruikt worden om de geldigheid van syllogismen aan          te tonen. Maar dat konden we al middels de eerder besproken syntactische afleiding uit de vier perfecte syllogismen</a:t>
            </a:r>
          </a:p>
          <a:p>
            <a:endParaRPr lang="nl-NL" sz="2000" dirty="0" smtClean="0"/>
          </a:p>
          <a:p>
            <a:pPr>
              <a:buNone/>
            </a:pPr>
            <a:endParaRPr lang="nl-NL" sz="2000" i="1" dirty="0" smtClean="0"/>
          </a:p>
        </p:txBody>
      </p:sp>
      <p:sp>
        <p:nvSpPr>
          <p:cNvPr id="25" name="Content Placeholder 2"/>
          <p:cNvSpPr txBox="1">
            <a:spLocks/>
          </p:cNvSpPr>
          <p:nvPr/>
        </p:nvSpPr>
        <p:spPr>
          <a:xfrm>
            <a:off x="313184" y="270892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klasselogica</a:t>
            </a:r>
            <a:r>
              <a:rPr kumimoji="0" lang="nl-NL" sz="2000" b="0" i="0" u="none" strike="noStrike" kern="1200" cap="none" spc="0" normalizeH="0" noProof="0" dirty="0" smtClean="0">
                <a:ln>
                  <a:noFill/>
                </a:ln>
                <a:solidFill>
                  <a:schemeClr val="tx1"/>
                </a:solidFill>
                <a:effectLst/>
                <a:uLnTx/>
                <a:uFillTx/>
                <a:latin typeface="+mn-lt"/>
                <a:ea typeface="+mn-ea"/>
                <a:cs typeface="+mn-cs"/>
              </a:rPr>
              <a:t> kan echter ook gebruikt worden om de </a:t>
            </a:r>
            <a:r>
              <a:rPr kumimoji="0" lang="nl-NL" sz="2000" b="1" i="0" u="none" strike="noStrike" kern="1200" cap="none" spc="0" normalizeH="0" noProof="0" dirty="0" smtClean="0">
                <a:ln>
                  <a:noFill/>
                </a:ln>
                <a:solidFill>
                  <a:schemeClr val="tx1"/>
                </a:solidFill>
                <a:effectLst/>
                <a:uLnTx/>
                <a:uFillTx/>
                <a:latin typeface="+mn-lt"/>
                <a:ea typeface="+mn-ea"/>
                <a:cs typeface="+mn-cs"/>
              </a:rPr>
              <a:t>on</a:t>
            </a:r>
            <a:r>
              <a:rPr kumimoji="0" lang="nl-NL" sz="2000" b="0" i="0" u="none" strike="noStrike" kern="1200" cap="none" spc="0" normalizeH="0" noProof="0" dirty="0" smtClean="0">
                <a:ln>
                  <a:noFill/>
                </a:ln>
                <a:solidFill>
                  <a:schemeClr val="tx1"/>
                </a:solidFill>
                <a:effectLst/>
                <a:uLnTx/>
                <a:uFillTx/>
                <a:latin typeface="+mn-lt"/>
                <a:ea typeface="+mn-ea"/>
                <a:cs typeface="+mn-cs"/>
              </a:rPr>
              <a:t>geldigheid van syllogismen aan te tonen. En dit is van belang omdat dat middels de eerder besproken syntactische afleidingen uit perfecte syllogismen niet kan.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Content Placeholder 2"/>
          <p:cNvSpPr txBox="1">
            <a:spLocks/>
          </p:cNvSpPr>
          <p:nvPr/>
        </p:nvSpPr>
        <p:spPr>
          <a:xfrm>
            <a:off x="313184" y="3832449"/>
            <a:ext cx="8939336"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de redeneervorm</a:t>
            </a:r>
            <a:r>
              <a:rPr kumimoji="0" lang="nl-NL" sz="2000" b="0" i="0" u="none" strike="noStrike" kern="1200" cap="none" spc="0" normalizeH="0" noProof="0" dirty="0" smtClean="0">
                <a:ln>
                  <a:noFill/>
                </a:ln>
                <a:solidFill>
                  <a:schemeClr val="tx1"/>
                </a:solidFill>
                <a:effectLst/>
                <a:uLnTx/>
                <a:uFillTx/>
                <a:latin typeface="+mn-lt"/>
                <a:ea typeface="+mn-ea"/>
                <a:cs typeface="+mn-cs"/>
              </a:rPr>
              <a:t> IEI-2. </a:t>
            </a:r>
            <a:r>
              <a:rPr lang="nl-NL" sz="2000" dirty="0" smtClean="0"/>
              <a:t>We zullen met behulp van de </a:t>
            </a:r>
            <a:r>
              <a:rPr lang="nl-NL" sz="2000" dirty="0" err="1" smtClean="0"/>
              <a:t>klasselogica</a:t>
            </a:r>
            <a:r>
              <a:rPr lang="nl-NL" sz="2000" dirty="0" smtClean="0"/>
              <a:t> laten zien dat deze redenering ongeldig is door een tegenvoorbeeld te construeren.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683568" y="4624537"/>
            <a:ext cx="2160240" cy="125273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1" u="none" strike="noStrike" kern="1200" cap="none" spc="0" normalizeH="0" baseline="0" noProof="0" dirty="0" smtClean="0">
                <a:ln>
                  <a:noFill/>
                </a:ln>
                <a:solidFill>
                  <a:schemeClr val="tx1"/>
                </a:solidFill>
                <a:effectLst/>
                <a:uLnTx/>
                <a:uFillTx/>
                <a:latin typeface="+mn-lt"/>
                <a:ea typeface="+mn-ea"/>
                <a:cs typeface="+mn-cs"/>
              </a:rPr>
              <a:t>Sommige</a:t>
            </a:r>
            <a:r>
              <a:rPr kumimoji="0" lang="nl-NL" sz="2000" b="1" u="none" strike="noStrike" kern="1200" cap="none" spc="0" normalizeH="0" noProof="0" dirty="0" smtClean="0">
                <a:ln>
                  <a:noFill/>
                </a:ln>
                <a:solidFill>
                  <a:schemeClr val="tx1"/>
                </a:solidFill>
                <a:effectLst/>
                <a:uLnTx/>
                <a:uFillTx/>
                <a:latin typeface="+mn-lt"/>
                <a:ea typeface="+mn-ea"/>
                <a:cs typeface="+mn-cs"/>
              </a:rPr>
              <a:t> </a:t>
            </a:r>
            <a:r>
              <a:rPr kumimoji="0" lang="nl-NL" sz="2000" b="1" i="1" u="none" strike="noStrike" kern="1200" cap="none" spc="0" normalizeH="0" noProof="0" dirty="0" smtClean="0">
                <a:ln>
                  <a:noFill/>
                </a:ln>
                <a:solidFill>
                  <a:schemeClr val="tx1"/>
                </a:solidFill>
                <a:effectLst/>
                <a:uLnTx/>
                <a:uFillTx/>
                <a:latin typeface="+mn-lt"/>
                <a:ea typeface="+mn-ea"/>
                <a:cs typeface="+mn-cs"/>
              </a:rPr>
              <a:t>P</a:t>
            </a:r>
            <a:r>
              <a:rPr kumimoji="0" lang="nl-NL" sz="2000" b="1" u="none" strike="noStrike" kern="1200" cap="none" spc="0" normalizeH="0" noProof="0" dirty="0" smtClean="0">
                <a:ln>
                  <a:noFill/>
                </a:ln>
                <a:solidFill>
                  <a:schemeClr val="tx1"/>
                </a:solidFill>
                <a:effectLst/>
                <a:uLnTx/>
                <a:uFillTx/>
                <a:latin typeface="+mn-lt"/>
                <a:ea typeface="+mn-ea"/>
                <a:cs typeface="+mn-cs"/>
              </a:rPr>
              <a:t> zijn </a:t>
            </a:r>
            <a:r>
              <a:rPr kumimoji="0" lang="nl-NL" sz="2000" b="1" i="1" u="none" strike="noStrike" kern="1200" cap="none" spc="0" normalizeH="0" noProof="0" dirty="0" smtClean="0">
                <a:ln>
                  <a:noFill/>
                </a:ln>
                <a:solidFill>
                  <a:schemeClr val="tx1"/>
                </a:solidFill>
                <a:effectLst/>
                <a:uLnTx/>
                <a:uFillTx/>
                <a:latin typeface="+mn-lt"/>
                <a:ea typeface="+mn-ea"/>
                <a:cs typeface="+mn-cs"/>
              </a:rPr>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Geen </a:t>
            </a:r>
            <a:r>
              <a:rPr lang="nl-NL" sz="2000" b="1" i="1" dirty="0" smtClean="0"/>
              <a:t>S</a:t>
            </a:r>
            <a:r>
              <a:rPr lang="nl-NL" sz="2000" b="1" dirty="0" smtClean="0"/>
              <a:t> is </a:t>
            </a:r>
            <a:r>
              <a:rPr lang="nl-NL" sz="2000" b="1" i="1"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solidFill>
                  <a:srgbClr val="FF0000"/>
                </a:solidFill>
              </a:rPr>
              <a:t>Sommige </a:t>
            </a:r>
            <a:r>
              <a:rPr lang="nl-NL" sz="2000" b="1" i="1" dirty="0" smtClean="0">
                <a:solidFill>
                  <a:srgbClr val="FF0000"/>
                </a:solidFill>
              </a:rPr>
              <a:t>S</a:t>
            </a:r>
            <a:r>
              <a:rPr lang="nl-NL" sz="2000" b="1" dirty="0" smtClean="0">
                <a:solidFill>
                  <a:srgbClr val="FF0000"/>
                </a:solidFill>
              </a:rPr>
              <a:t> zijn </a:t>
            </a:r>
            <a:r>
              <a:rPr lang="nl-NL" sz="2000" b="1" i="1" dirty="0" smtClean="0">
                <a:solidFill>
                  <a:srgbClr val="FF0000"/>
                </a:solidFill>
              </a:rPr>
              <a:t>P</a:t>
            </a:r>
            <a:r>
              <a:rPr kumimoji="0" lang="nl-NL" sz="2000" b="1" i="1" u="none" strike="noStrike" kern="1200" cap="none" spc="0" normalizeH="0" noProof="0" dirty="0" smtClean="0">
                <a:ln>
                  <a:noFill/>
                </a:ln>
                <a:solidFill>
                  <a:srgbClr val="FF0000"/>
                </a:solidFill>
                <a:effectLst/>
                <a:uLnTx/>
                <a:uFillTx/>
                <a:latin typeface="+mn-lt"/>
                <a:ea typeface="+mn-ea"/>
                <a:cs typeface="+mn-cs"/>
              </a:rPr>
              <a:t> </a:t>
            </a:r>
            <a:endParaRPr kumimoji="0" lang="nl-NL" sz="2000" b="1" i="1" u="none" strike="noStrike" kern="1200" cap="none" spc="0" normalizeH="0" baseline="0" noProof="0" dirty="0" smtClean="0">
              <a:ln>
                <a:noFill/>
              </a:ln>
              <a:solidFill>
                <a:srgbClr val="FF0000"/>
              </a:solidFill>
              <a:effectLst/>
              <a:uLnTx/>
              <a:uFillTx/>
              <a:latin typeface="+mn-lt"/>
              <a:ea typeface="+mn-ea"/>
              <a:cs typeface="+mn-cs"/>
            </a:endParaRPr>
          </a:p>
        </p:txBody>
      </p:sp>
      <p:sp>
        <p:nvSpPr>
          <p:cNvPr id="8" name="Rectangle 7"/>
          <p:cNvSpPr/>
          <p:nvPr/>
        </p:nvSpPr>
        <p:spPr>
          <a:xfrm>
            <a:off x="3264778" y="4725144"/>
            <a:ext cx="2880320" cy="1872208"/>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Oval 8"/>
          <p:cNvSpPr/>
          <p:nvPr/>
        </p:nvSpPr>
        <p:spPr>
          <a:xfrm>
            <a:off x="3480802" y="5373216"/>
            <a:ext cx="997034" cy="10212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3851920" y="4928076"/>
            <a:ext cx="997034" cy="102120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19872" y="6228020"/>
            <a:ext cx="792088" cy="369332"/>
          </a:xfrm>
          <a:prstGeom prst="rect">
            <a:avLst/>
          </a:prstGeom>
          <a:noFill/>
        </p:spPr>
        <p:txBody>
          <a:bodyPr wrap="square" rtlCol="0">
            <a:spAutoFit/>
          </a:bodyPr>
          <a:lstStyle/>
          <a:p>
            <a:r>
              <a:rPr lang="nl-NL" dirty="0" smtClean="0"/>
              <a:t>P</a:t>
            </a:r>
            <a:endParaRPr lang="nl-NL" dirty="0"/>
          </a:p>
        </p:txBody>
      </p:sp>
      <p:sp>
        <p:nvSpPr>
          <p:cNvPr id="13" name="TextBox 12"/>
          <p:cNvSpPr txBox="1"/>
          <p:nvPr/>
        </p:nvSpPr>
        <p:spPr>
          <a:xfrm>
            <a:off x="4716016" y="4787860"/>
            <a:ext cx="792088" cy="369332"/>
          </a:xfrm>
          <a:prstGeom prst="rect">
            <a:avLst/>
          </a:prstGeom>
          <a:noFill/>
        </p:spPr>
        <p:txBody>
          <a:bodyPr wrap="square" rtlCol="0">
            <a:spAutoFit/>
          </a:bodyPr>
          <a:lstStyle/>
          <a:p>
            <a:r>
              <a:rPr lang="nl-NL" dirty="0" smtClean="0"/>
              <a:t>M</a:t>
            </a:r>
            <a:endParaRPr lang="nl-NL" dirty="0"/>
          </a:p>
        </p:txBody>
      </p:sp>
      <p:sp>
        <p:nvSpPr>
          <p:cNvPr id="14" name="Oval 13"/>
          <p:cNvSpPr/>
          <p:nvPr/>
        </p:nvSpPr>
        <p:spPr>
          <a:xfrm>
            <a:off x="5004048" y="5288116"/>
            <a:ext cx="997034" cy="102120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TextBox 14"/>
          <p:cNvSpPr txBox="1"/>
          <p:nvPr/>
        </p:nvSpPr>
        <p:spPr>
          <a:xfrm>
            <a:off x="5785058" y="6156012"/>
            <a:ext cx="792088" cy="369332"/>
          </a:xfrm>
          <a:prstGeom prst="rect">
            <a:avLst/>
          </a:prstGeom>
          <a:noFill/>
        </p:spPr>
        <p:txBody>
          <a:bodyPr wrap="square" rtlCol="0">
            <a:spAutoFit/>
          </a:bodyPr>
          <a:lstStyle/>
          <a:p>
            <a:r>
              <a:rPr lang="nl-NL" dirty="0" smtClean="0"/>
              <a:t>S</a:t>
            </a:r>
            <a:endParaRPr lang="nl-NL" dirty="0"/>
          </a:p>
        </p:txBody>
      </p:sp>
      <p:sp>
        <p:nvSpPr>
          <p:cNvPr id="16" name="Content Placeholder 2"/>
          <p:cNvSpPr txBox="1">
            <a:spLocks/>
          </p:cNvSpPr>
          <p:nvPr/>
        </p:nvSpPr>
        <p:spPr>
          <a:xfrm>
            <a:off x="6372200" y="4624537"/>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P ∩ M ≠ Ø  </a:t>
            </a:r>
          </a:p>
        </p:txBody>
      </p:sp>
      <p:sp>
        <p:nvSpPr>
          <p:cNvPr id="17" name="Content Placeholder 2"/>
          <p:cNvSpPr txBox="1">
            <a:spLocks/>
          </p:cNvSpPr>
          <p:nvPr/>
        </p:nvSpPr>
        <p:spPr>
          <a:xfrm>
            <a:off x="6372200" y="4984577"/>
            <a:ext cx="4474840" cy="460647"/>
          </a:xfrm>
          <a:prstGeom prst="rect">
            <a:avLst/>
          </a:prstGeom>
        </p:spPr>
        <p:txBody>
          <a:bodyPr vert="horz" lIns="91440" tIns="45720" rIns="91440" bIns="45720" rtlCol="0">
            <a:noAutofit/>
          </a:bodyPr>
          <a:lstStyle/>
          <a:p>
            <a:pPr marL="342900" lvl="0" indent="-342900">
              <a:spcBef>
                <a:spcPct val="20000"/>
              </a:spcBef>
            </a:pPr>
            <a:r>
              <a:rPr lang="nl-NL" sz="2000" dirty="0" smtClean="0"/>
              <a:t>	S ∩ M = Ø  </a:t>
            </a:r>
          </a:p>
        </p:txBody>
      </p:sp>
      <p:sp>
        <p:nvSpPr>
          <p:cNvPr id="18" name="Content Placeholder 2"/>
          <p:cNvSpPr txBox="1">
            <a:spLocks/>
          </p:cNvSpPr>
          <p:nvPr/>
        </p:nvSpPr>
        <p:spPr>
          <a:xfrm>
            <a:off x="6361856" y="5373216"/>
            <a:ext cx="4474840" cy="460647"/>
          </a:xfrm>
          <a:prstGeom prst="rect">
            <a:avLst/>
          </a:prstGeom>
        </p:spPr>
        <p:txBody>
          <a:bodyPr vert="horz" lIns="91440" tIns="45720" rIns="91440" bIns="45720" rtlCol="0">
            <a:noAutofit/>
          </a:bodyPr>
          <a:lstStyle/>
          <a:p>
            <a:pPr marL="342900" lvl="0" indent="-342900">
              <a:spcBef>
                <a:spcPct val="20000"/>
              </a:spcBef>
            </a:pPr>
            <a:r>
              <a:rPr lang="nl-NL" sz="2000" b="1" dirty="0" smtClean="0">
                <a:solidFill>
                  <a:srgbClr val="FF0000"/>
                </a:solidFill>
              </a:rPr>
              <a:t>	S ∩ P = Ø  </a:t>
            </a:r>
          </a:p>
        </p:txBody>
      </p:sp>
      <p:sp>
        <p:nvSpPr>
          <p:cNvPr id="20" name="TextBox 19"/>
          <p:cNvSpPr txBox="1"/>
          <p:nvPr/>
        </p:nvSpPr>
        <p:spPr>
          <a:xfrm>
            <a:off x="6660232" y="5805264"/>
            <a:ext cx="2520280" cy="369332"/>
          </a:xfrm>
          <a:prstGeom prst="rect">
            <a:avLst/>
          </a:prstGeom>
          <a:noFill/>
        </p:spPr>
        <p:txBody>
          <a:bodyPr wrap="square" rtlCol="0">
            <a:spAutoFit/>
          </a:bodyPr>
          <a:lstStyle/>
          <a:p>
            <a:r>
              <a:rPr lang="nl-NL" dirty="0" smtClean="0"/>
              <a:t>Dus inderdaad ongeldig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20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allAtOnce"/>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smtClean="0"/>
              <a:t>Existentiële import</a:t>
            </a:r>
            <a:endParaRPr lang="nl-NL" sz="3600" dirty="0"/>
          </a:p>
        </p:txBody>
      </p:sp>
      <p:sp>
        <p:nvSpPr>
          <p:cNvPr id="19" name="Content Placeholder 2"/>
          <p:cNvSpPr>
            <a:spLocks noGrp="1"/>
          </p:cNvSpPr>
          <p:nvPr>
            <p:ph idx="1"/>
          </p:nvPr>
        </p:nvSpPr>
        <p:spPr>
          <a:xfrm>
            <a:off x="313184" y="1340768"/>
            <a:ext cx="8939336" cy="1108719"/>
          </a:xfrm>
        </p:spPr>
        <p:txBody>
          <a:bodyPr>
            <a:noAutofit/>
          </a:bodyPr>
          <a:lstStyle/>
          <a:p>
            <a:r>
              <a:rPr lang="nl-NL" sz="2000" dirty="0" smtClean="0"/>
              <a:t>In de </a:t>
            </a:r>
            <a:r>
              <a:rPr lang="nl-NL" sz="2000" dirty="0" err="1" smtClean="0"/>
              <a:t>extensionele</a:t>
            </a:r>
            <a:r>
              <a:rPr lang="nl-NL" sz="2000" dirty="0" smtClean="0"/>
              <a:t> </a:t>
            </a:r>
            <a:r>
              <a:rPr lang="nl-NL" sz="2000" dirty="0" err="1" smtClean="0"/>
              <a:t>klasselogica</a:t>
            </a:r>
            <a:r>
              <a:rPr lang="nl-NL" sz="2000" dirty="0" smtClean="0"/>
              <a:t> wordt aangenomen dat alle termen </a:t>
            </a:r>
            <a:r>
              <a:rPr lang="nl-NL" sz="2000" i="1" dirty="0" smtClean="0"/>
              <a:t>existentiële import </a:t>
            </a:r>
            <a:r>
              <a:rPr lang="nl-NL" sz="2000" dirty="0" smtClean="0"/>
              <a:t>hebben. Dit wil zeggen dat iedere term een niet lege extensie heeft. Iedere term verwijst anders gezegd naar tenminste één object.</a:t>
            </a:r>
          </a:p>
          <a:p>
            <a:endParaRPr lang="nl-NL" sz="2000" dirty="0" smtClean="0"/>
          </a:p>
          <a:p>
            <a:pPr>
              <a:buNone/>
            </a:pPr>
            <a:endParaRPr lang="nl-NL" sz="2000" i="1" dirty="0" smtClean="0"/>
          </a:p>
        </p:txBody>
      </p:sp>
      <p:sp>
        <p:nvSpPr>
          <p:cNvPr id="25" name="Content Placeholder 2"/>
          <p:cNvSpPr txBox="1">
            <a:spLocks/>
          </p:cNvSpPr>
          <p:nvPr/>
        </p:nvSpPr>
        <p:spPr>
          <a:xfrm>
            <a:off x="313184" y="2377479"/>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Deze eis is van groot belang om problemen te voorkomen. Stel namelijk dat we de eis van existentiële import zouden laten vallen. In dat geval is dit </a:t>
            </a:r>
            <a:r>
              <a:rPr lang="nl-NL" sz="2000" dirty="0" err="1" smtClean="0"/>
              <a:t>A-oordeel</a:t>
            </a:r>
            <a:r>
              <a:rPr lang="nl-NL" sz="2000" dirty="0" smtClean="0"/>
              <a:t> toegestaan: </a:t>
            </a:r>
            <a:r>
              <a:rPr lang="nl-NL" sz="2000" dirty="0" smtClean="0">
                <a:solidFill>
                  <a:srgbClr val="0070C0"/>
                </a:solidFill>
              </a:rPr>
              <a:t>Alle marsbewoners zijn wezens met voelsprieten</a:t>
            </a: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p>
        </p:txBody>
      </p:sp>
      <p:sp>
        <p:nvSpPr>
          <p:cNvPr id="22" name="Content Placeholder 2"/>
          <p:cNvSpPr txBox="1">
            <a:spLocks/>
          </p:cNvSpPr>
          <p:nvPr/>
        </p:nvSpPr>
        <p:spPr>
          <a:xfrm>
            <a:off x="313184" y="3400401"/>
            <a:ext cx="4474840" cy="532655"/>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Welnu, is dit oordeel waar of onwaar? </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23" name="Content Placeholder 2"/>
          <p:cNvSpPr txBox="1">
            <a:spLocks/>
          </p:cNvSpPr>
          <p:nvPr/>
        </p:nvSpPr>
        <p:spPr>
          <a:xfrm>
            <a:off x="313184" y="3789040"/>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Als het </a:t>
            </a:r>
            <a:r>
              <a:rPr lang="nl-NL" sz="2000" i="1" dirty="0" smtClean="0"/>
              <a:t>waar</a:t>
            </a:r>
            <a:r>
              <a:rPr lang="nl-NL" sz="2000" dirty="0" smtClean="0"/>
              <a:t> is, dan volgt uit de onmiddellijke afleidingsregel van subalternatie   dat het volgende subalterne </a:t>
            </a:r>
            <a:r>
              <a:rPr lang="nl-NL" sz="2000" dirty="0" err="1" smtClean="0"/>
              <a:t>I-oordeel</a:t>
            </a:r>
            <a:r>
              <a:rPr lang="nl-NL" sz="2000" dirty="0" smtClean="0"/>
              <a:t> ook waar is: </a:t>
            </a:r>
            <a:r>
              <a:rPr lang="nl-NL" sz="2000" dirty="0" smtClean="0">
                <a:solidFill>
                  <a:srgbClr val="0070C0"/>
                </a:solidFill>
              </a:rPr>
              <a:t>Sommige marsbewoners </a:t>
            </a:r>
            <a:r>
              <a:rPr lang="nl-NL" sz="2000" smtClean="0">
                <a:solidFill>
                  <a:srgbClr val="0070C0"/>
                </a:solidFill>
              </a:rPr>
              <a:t>zijn wezens </a:t>
            </a:r>
            <a:r>
              <a:rPr lang="nl-NL" sz="2000" dirty="0" smtClean="0">
                <a:solidFill>
                  <a:srgbClr val="0070C0"/>
                </a:solidFill>
              </a:rPr>
              <a:t>met voelsprieten</a:t>
            </a:r>
            <a:r>
              <a:rPr lang="nl-NL" sz="2000" dirty="0" smtClean="0"/>
              <a:t>. Maar dan zou er tenminste één </a:t>
            </a:r>
            <a:r>
              <a:rPr lang="nl-NL" sz="2000" dirty="0" err="1" smtClean="0"/>
              <a:t>marsbewoner</a:t>
            </a:r>
            <a:r>
              <a:rPr lang="nl-NL" sz="2000" dirty="0" smtClean="0"/>
              <a:t> zijn!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p>
        </p:txBody>
      </p:sp>
      <p:sp>
        <p:nvSpPr>
          <p:cNvPr id="24" name="Content Placeholder 2"/>
          <p:cNvSpPr txBox="1">
            <a:spLocks/>
          </p:cNvSpPr>
          <p:nvPr/>
        </p:nvSpPr>
        <p:spPr>
          <a:xfrm>
            <a:off x="313184" y="4753743"/>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Als het </a:t>
            </a:r>
            <a:r>
              <a:rPr lang="nl-NL" sz="2000" i="1" dirty="0" smtClean="0"/>
              <a:t>onwaar</a:t>
            </a:r>
            <a:r>
              <a:rPr lang="nl-NL" sz="2000" dirty="0" smtClean="0"/>
              <a:t> is, dan is het volgende contradictoire </a:t>
            </a:r>
            <a:r>
              <a:rPr lang="nl-NL" sz="2000" dirty="0" err="1" smtClean="0"/>
              <a:t>O-oordeel</a:t>
            </a:r>
            <a:r>
              <a:rPr lang="nl-NL" sz="2000" dirty="0" smtClean="0"/>
              <a:t> waar: </a:t>
            </a:r>
            <a:r>
              <a:rPr lang="nl-NL" sz="2000" dirty="0" smtClean="0">
                <a:solidFill>
                  <a:srgbClr val="0070C0"/>
                </a:solidFill>
              </a:rPr>
              <a:t>Sommige marsbewoners zijn geen wezens met voelsprieten</a:t>
            </a:r>
            <a:r>
              <a:rPr lang="nl-NL" sz="2000" dirty="0" smtClean="0"/>
              <a:t>. Maar dan zou er wederom tenminste één </a:t>
            </a:r>
            <a:r>
              <a:rPr lang="nl-NL" sz="2000" dirty="0" err="1" smtClean="0"/>
              <a:t>marsbewoner</a:t>
            </a:r>
            <a:r>
              <a:rPr lang="nl-NL" sz="2000" dirty="0" smtClean="0"/>
              <a:t> moeten zijn!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p>
        </p:txBody>
      </p:sp>
      <p:sp>
        <p:nvSpPr>
          <p:cNvPr id="27" name="Content Placeholder 2"/>
          <p:cNvSpPr txBox="1">
            <a:spLocks/>
          </p:cNvSpPr>
          <p:nvPr/>
        </p:nvSpPr>
        <p:spPr>
          <a:xfrm>
            <a:off x="251520" y="5776665"/>
            <a:ext cx="8939336"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Beide opties leiden tot een tegenspraak. We moeten de aanvankelijke aanname dus verwerpen. We kunnen de eis van existentiële import dus niet laten vallen.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2000"/>
                                        <p:tgtEl>
                                          <p:spTgt spid="2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2" end="2"/>
                                            </p:txEl>
                                          </p:spTgt>
                                        </p:tgtEl>
                                        <p:attrNameLst>
                                          <p:attrName>style.visibility</p:attrName>
                                        </p:attrNameLst>
                                      </p:cBhvr>
                                      <p:to>
                                        <p:strVal val="visible"/>
                                      </p:to>
                                    </p:set>
                                    <p:animEffect transition="in" filter="fade">
                                      <p:cBhvr>
                                        <p:cTn id="10" dur="2000"/>
                                        <p:tgtEl>
                                          <p:spTgt spid="2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xEl>
                                              <p:pRg st="3" end="3"/>
                                            </p:txEl>
                                          </p:spTgt>
                                        </p:tgtEl>
                                        <p:attrNameLst>
                                          <p:attrName>style.visibility</p:attrName>
                                        </p:attrNameLst>
                                      </p:cBhvr>
                                      <p:to>
                                        <p:strVal val="visible"/>
                                      </p:to>
                                    </p:set>
                                    <p:animEffect transition="in" filter="fade">
                                      <p:cBhvr>
                                        <p:cTn id="13" dur="2000"/>
                                        <p:tgtEl>
                                          <p:spTgt spid="2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2">
                                            <p:txEl>
                                              <p:pRg st="0" end="0"/>
                                            </p:txEl>
                                          </p:spTgt>
                                        </p:tgtEl>
                                        <p:attrNameLst>
                                          <p:attrName>style.visibility</p:attrName>
                                        </p:attrNameLst>
                                      </p:cBhvr>
                                      <p:to>
                                        <p:strVal val="visible"/>
                                      </p:to>
                                    </p:set>
                                    <p:animEffect transition="in" filter="fade">
                                      <p:cBhvr>
                                        <p:cTn id="18" dur="2000"/>
                                        <p:tgtEl>
                                          <p:spTgt spid="22">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animEffect transition="in" filter="fade">
                                      <p:cBhvr>
                                        <p:cTn id="23" dur="2000"/>
                                        <p:tgtEl>
                                          <p:spTgt spid="23">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xEl>
                                              <p:pRg st="1" end="1"/>
                                            </p:txEl>
                                          </p:spTgt>
                                        </p:tgtEl>
                                        <p:attrNameLst>
                                          <p:attrName>style.visibility</p:attrName>
                                        </p:attrNameLst>
                                      </p:cBhvr>
                                      <p:to>
                                        <p:strVal val="visible"/>
                                      </p:to>
                                    </p:set>
                                    <p:animEffect transition="in" filter="fade">
                                      <p:cBhvr>
                                        <p:cTn id="26" dur="2000"/>
                                        <p:tgtEl>
                                          <p:spTgt spid="2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4">
                                            <p:txEl>
                                              <p:pRg st="0" end="0"/>
                                            </p:txEl>
                                          </p:spTgt>
                                        </p:tgtEl>
                                        <p:attrNameLst>
                                          <p:attrName>style.visibility</p:attrName>
                                        </p:attrNameLst>
                                      </p:cBhvr>
                                      <p:to>
                                        <p:strVal val="visible"/>
                                      </p:to>
                                    </p:set>
                                    <p:animEffect transition="in" filter="fade">
                                      <p:cBhvr>
                                        <p:cTn id="31" dur="2000"/>
                                        <p:tgtEl>
                                          <p:spTgt spid="2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xEl>
                                              <p:pRg st="1" end="1"/>
                                            </p:txEl>
                                          </p:spTgt>
                                        </p:tgtEl>
                                        <p:attrNameLst>
                                          <p:attrName>style.visibility</p:attrName>
                                        </p:attrNameLst>
                                      </p:cBhvr>
                                      <p:to>
                                        <p:strVal val="visible"/>
                                      </p:to>
                                    </p:set>
                                    <p:animEffect transition="in" filter="fade">
                                      <p:cBhvr>
                                        <p:cTn id="34" dur="2000"/>
                                        <p:tgtEl>
                                          <p:spTgt spid="24">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fade">
                                      <p:cBhvr>
                                        <p:cTn id="39" dur="20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allAtOnce"/>
      <p:bldP spid="22" grpId="0" build="allAtOnce"/>
      <p:bldP spid="23" grpId="0" build="allAtOnce"/>
      <p:bldP spid="24" grpId="0" build="allAtOnce"/>
      <p:bldP spid="27" grpId="0" build="allAtOnce"/>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Syllogistiek</a:t>
            </a:r>
            <a:r>
              <a:rPr lang="nl-NL" sz="3600" dirty="0" smtClean="0"/>
              <a:t> en relaties</a:t>
            </a:r>
            <a:endParaRPr lang="nl-NL" sz="3600" dirty="0"/>
          </a:p>
        </p:txBody>
      </p:sp>
      <p:sp>
        <p:nvSpPr>
          <p:cNvPr id="19" name="Content Placeholder 2"/>
          <p:cNvSpPr>
            <a:spLocks noGrp="1"/>
          </p:cNvSpPr>
          <p:nvPr>
            <p:ph idx="1"/>
          </p:nvPr>
        </p:nvSpPr>
        <p:spPr>
          <a:xfrm>
            <a:off x="313184" y="1340769"/>
            <a:ext cx="8939336" cy="792088"/>
          </a:xfrm>
        </p:spPr>
        <p:txBody>
          <a:bodyPr>
            <a:noAutofit/>
          </a:bodyPr>
          <a:lstStyle/>
          <a:p>
            <a:r>
              <a:rPr lang="nl-NL" sz="2000" dirty="0" smtClean="0"/>
              <a:t>Neem twee lijnstukken L en M en stel dat L langer is dan M. Kunnen we het oordeel ‘L is langer is dan M’ uitdrukken als een </a:t>
            </a:r>
            <a:r>
              <a:rPr lang="nl-NL" sz="2000" dirty="0" err="1" smtClean="0"/>
              <a:t>subject-predikaat</a:t>
            </a:r>
            <a:r>
              <a:rPr lang="nl-NL" sz="2000" dirty="0" smtClean="0"/>
              <a:t> oordeel?	</a:t>
            </a:r>
          </a:p>
          <a:p>
            <a:pPr>
              <a:buNone/>
            </a:pPr>
            <a:endParaRPr lang="nl-NL" sz="2000" dirty="0" smtClean="0"/>
          </a:p>
          <a:p>
            <a:endParaRPr lang="nl-NL" sz="2000" dirty="0" smtClean="0"/>
          </a:p>
          <a:p>
            <a:pPr>
              <a:buNone/>
            </a:pPr>
            <a:endParaRPr lang="nl-NL" sz="2000" i="1" dirty="0" smtClean="0"/>
          </a:p>
        </p:txBody>
      </p:sp>
      <p:sp>
        <p:nvSpPr>
          <p:cNvPr id="10" name="Content Placeholder 2"/>
          <p:cNvSpPr txBox="1">
            <a:spLocks/>
          </p:cNvSpPr>
          <p:nvPr/>
        </p:nvSpPr>
        <p:spPr>
          <a:xfrm>
            <a:off x="323528" y="2204864"/>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u="none" strike="noStrike" kern="1200" cap="none" spc="0" normalizeH="0" baseline="0" noProof="0" dirty="0" smtClean="0">
                <a:ln>
                  <a:noFill/>
                </a:ln>
                <a:solidFill>
                  <a:srgbClr val="0070C0"/>
                </a:solidFill>
                <a:effectLst/>
                <a:uLnTx/>
                <a:uFillTx/>
                <a:latin typeface="+mn-lt"/>
                <a:ea typeface="+mn-ea"/>
                <a:cs typeface="+mn-cs"/>
              </a:rPr>
              <a:t>L is </a:t>
            </a:r>
            <a:r>
              <a:rPr kumimoji="0" lang="nl-NL" sz="2000" b="1" u="none" strike="noStrike" kern="1200" cap="none" spc="0" normalizeH="0" baseline="0" noProof="0" dirty="0" err="1" smtClean="0">
                <a:ln>
                  <a:noFill/>
                </a:ln>
                <a:solidFill>
                  <a:srgbClr val="0070C0"/>
                </a:solidFill>
                <a:effectLst/>
                <a:uLnTx/>
                <a:uFillTx/>
                <a:latin typeface="+mn-lt"/>
                <a:ea typeface="+mn-ea"/>
                <a:cs typeface="+mn-cs"/>
              </a:rPr>
              <a:t>langer-dan-M</a:t>
            </a:r>
            <a:endParaRPr kumimoji="0" lang="nl-NL" sz="2000" b="1"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2780928"/>
            <a:ext cx="3960440" cy="172819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Neem deze redenering: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langer dan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langer dan K</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347864" y="2780928"/>
            <a:ext cx="3960440" cy="172819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Dit wordt dan: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a:t>
            </a:r>
            <a:r>
              <a:rPr lang="nl-NL" sz="2000" noProof="0" dirty="0" err="1" smtClean="0"/>
              <a:t>langer-dan</a:t>
            </a:r>
            <a:r>
              <a:rPr lang="nl-NL" sz="2000" dirty="0" smtClean="0"/>
              <a:t>-</a:t>
            </a:r>
            <a:r>
              <a:rPr lang="nl-NL" sz="2000" noProof="0" dirty="0" smtClean="0"/>
              <a:t>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a:t>
            </a:r>
            <a:r>
              <a:rPr lang="nl-NL" sz="2000" noProof="0" dirty="0" err="1" smtClean="0"/>
              <a:t>langer-dan</a:t>
            </a:r>
            <a:r>
              <a:rPr lang="nl-NL" sz="2000" dirty="0" smtClean="0"/>
              <a:t>-</a:t>
            </a:r>
            <a:r>
              <a:rPr lang="nl-NL" sz="2000" noProof="0" dirty="0" smtClean="0"/>
              <a:t>K</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a:t>
            </a:r>
            <a:r>
              <a:rPr lang="nl-NL" sz="2000" dirty="0" err="1" smtClean="0"/>
              <a:t>langer-dan-K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p:cNvSpPr txBox="1"/>
          <p:nvPr/>
        </p:nvSpPr>
        <p:spPr>
          <a:xfrm>
            <a:off x="6300192" y="2793702"/>
            <a:ext cx="2880320" cy="923330"/>
          </a:xfrm>
          <a:prstGeom prst="rect">
            <a:avLst/>
          </a:prstGeom>
          <a:noFill/>
        </p:spPr>
        <p:txBody>
          <a:bodyPr wrap="square" rtlCol="0">
            <a:spAutoFit/>
          </a:bodyPr>
          <a:lstStyle/>
          <a:p>
            <a:r>
              <a:rPr lang="nl-NL" dirty="0" smtClean="0"/>
              <a:t>Conclusie kan niet formeel uit de premissen worden afgeleid.</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2000"/>
                                        <p:tgtEl>
                                          <p:spTgt spid="11">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fade">
                                      <p:cBhvr>
                                        <p:cTn id="18" dur="2000"/>
                                        <p:tgtEl>
                                          <p:spTgt spid="1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2000"/>
                                        <p:tgtEl>
                                          <p:spTgt spid="1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fade">
                                      <p:cBhvr>
                                        <p:cTn id="26" dur="2000"/>
                                        <p:tgtEl>
                                          <p:spTgt spid="12">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animEffect transition="in" filter="fade">
                                      <p:cBhvr>
                                        <p:cTn id="29" dur="2000"/>
                                        <p:tgtEl>
                                          <p:spTgt spid="12">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xEl>
                                              <p:pRg st="3" end="3"/>
                                            </p:txEl>
                                          </p:spTgt>
                                        </p:tgtEl>
                                        <p:attrNameLst>
                                          <p:attrName>style.visibility</p:attrName>
                                        </p:attrNameLst>
                                      </p:cBhvr>
                                      <p:to>
                                        <p:strVal val="visible"/>
                                      </p:to>
                                    </p:set>
                                    <p:animEffect transition="in" filter="fade">
                                      <p:cBhvr>
                                        <p:cTn id="32" dur="2000"/>
                                        <p:tgtEl>
                                          <p:spTgt spid="12">
                                            <p:txEl>
                                              <p:pRg st="3" end="3"/>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Effect transition="in" filter="fade">
                                      <p:cBhvr>
                                        <p:cTn id="35" dur="2000"/>
                                        <p:tgtEl>
                                          <p:spTgt spid="1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xEl>
                                              <p:pRg st="0" end="0"/>
                                            </p:txEl>
                                          </p:spTgt>
                                        </p:tgtEl>
                                        <p:attrNameLst>
                                          <p:attrName>style.visibility</p:attrName>
                                        </p:attrNameLst>
                                      </p:cBhvr>
                                      <p:to>
                                        <p:strVal val="visible"/>
                                      </p:to>
                                    </p:set>
                                    <p:animEffect transition="in" filter="fade">
                                      <p:cBhvr>
                                        <p:cTn id="40"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13" grpId="0" build="allAtOnce"/>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Syllogistiek</a:t>
            </a:r>
            <a:r>
              <a:rPr lang="nl-NL" sz="3600" dirty="0" smtClean="0"/>
              <a:t> en relaties</a:t>
            </a:r>
            <a:endParaRPr lang="nl-NL" sz="3600" dirty="0"/>
          </a:p>
        </p:txBody>
      </p:sp>
      <p:sp>
        <p:nvSpPr>
          <p:cNvPr id="19" name="Content Placeholder 2"/>
          <p:cNvSpPr>
            <a:spLocks noGrp="1"/>
          </p:cNvSpPr>
          <p:nvPr>
            <p:ph idx="1"/>
          </p:nvPr>
        </p:nvSpPr>
        <p:spPr>
          <a:xfrm>
            <a:off x="313184" y="1340769"/>
            <a:ext cx="8939336" cy="792088"/>
          </a:xfrm>
        </p:spPr>
        <p:txBody>
          <a:bodyPr>
            <a:noAutofit/>
          </a:bodyPr>
          <a:lstStyle/>
          <a:p>
            <a:r>
              <a:rPr lang="nl-NL" sz="2000" dirty="0" smtClean="0"/>
              <a:t>Neem twee lijnstukken L en M en stel dat L langer is dan M. Kunnen we het oordeel ‘L is langer is dan M’ uitdrukken als een </a:t>
            </a:r>
            <a:r>
              <a:rPr lang="nl-NL" sz="2000" dirty="0" err="1" smtClean="0"/>
              <a:t>subject-predikaat</a:t>
            </a:r>
            <a:r>
              <a:rPr lang="nl-NL" sz="2000" dirty="0" smtClean="0"/>
              <a:t> oordeel?	</a:t>
            </a:r>
          </a:p>
          <a:p>
            <a:pPr>
              <a:buNone/>
            </a:pPr>
            <a:endParaRPr lang="nl-NL" sz="2000" dirty="0" smtClean="0"/>
          </a:p>
          <a:p>
            <a:endParaRPr lang="nl-NL" sz="2000" dirty="0" smtClean="0"/>
          </a:p>
          <a:p>
            <a:pPr>
              <a:buNone/>
            </a:pPr>
            <a:endParaRPr lang="nl-NL" sz="2000" i="1" dirty="0" smtClean="0"/>
          </a:p>
        </p:txBody>
      </p:sp>
      <p:sp>
        <p:nvSpPr>
          <p:cNvPr id="10" name="Content Placeholder 2"/>
          <p:cNvSpPr txBox="1">
            <a:spLocks/>
          </p:cNvSpPr>
          <p:nvPr/>
        </p:nvSpPr>
        <p:spPr>
          <a:xfrm>
            <a:off x="323528" y="2204864"/>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u="none" strike="noStrike" kern="1200" cap="none" spc="0" normalizeH="0" baseline="0" noProof="0" dirty="0" smtClean="0">
                <a:ln>
                  <a:noFill/>
                </a:ln>
                <a:solidFill>
                  <a:srgbClr val="0070C0"/>
                </a:solidFill>
                <a:effectLst/>
                <a:uLnTx/>
                <a:uFillTx/>
                <a:latin typeface="+mn-lt"/>
                <a:ea typeface="+mn-ea"/>
                <a:cs typeface="+mn-cs"/>
              </a:rPr>
              <a:t>L is </a:t>
            </a:r>
            <a:r>
              <a:rPr kumimoji="0" lang="nl-NL" sz="2000" b="1" u="none" strike="noStrike" kern="1200" cap="none" spc="0" normalizeH="0" baseline="0" noProof="0" dirty="0" err="1" smtClean="0">
                <a:ln>
                  <a:noFill/>
                </a:ln>
                <a:solidFill>
                  <a:srgbClr val="0070C0"/>
                </a:solidFill>
                <a:effectLst/>
                <a:uLnTx/>
                <a:uFillTx/>
                <a:latin typeface="+mn-lt"/>
                <a:ea typeface="+mn-ea"/>
                <a:cs typeface="+mn-cs"/>
              </a:rPr>
              <a:t>langer-dan-M</a:t>
            </a:r>
            <a:r>
              <a:rPr kumimoji="0" lang="nl-NL" sz="2000" b="1" u="none" strike="noStrike" kern="1200" cap="none" spc="0" normalizeH="0" baseline="0" noProof="0" dirty="0" smtClean="0">
                <a:ln>
                  <a:noFill/>
                </a:ln>
                <a:solidFill>
                  <a:srgbClr val="0070C0"/>
                </a:solidFill>
                <a:effectLst/>
                <a:uLnTx/>
                <a:uFillTx/>
                <a:latin typeface="+mn-lt"/>
                <a:ea typeface="+mn-ea"/>
                <a:cs typeface="+mn-cs"/>
              </a:rPr>
              <a:t> en M</a:t>
            </a:r>
            <a:r>
              <a:rPr kumimoji="0" lang="nl-NL" sz="2000" b="1" u="none" strike="noStrike" kern="1200" cap="none" spc="0" normalizeH="0" noProof="0" dirty="0" smtClean="0">
                <a:ln>
                  <a:noFill/>
                </a:ln>
                <a:solidFill>
                  <a:srgbClr val="0070C0"/>
                </a:solidFill>
                <a:effectLst/>
                <a:uLnTx/>
                <a:uFillTx/>
                <a:latin typeface="+mn-lt"/>
                <a:ea typeface="+mn-ea"/>
                <a:cs typeface="+mn-cs"/>
              </a:rPr>
              <a:t> is </a:t>
            </a:r>
            <a:r>
              <a:rPr kumimoji="0" lang="nl-NL" sz="2000" b="1" u="none" strike="noStrike" kern="1200" cap="none" spc="0" normalizeH="0" noProof="0" dirty="0" err="1" smtClean="0">
                <a:ln>
                  <a:noFill/>
                </a:ln>
                <a:solidFill>
                  <a:srgbClr val="0070C0"/>
                </a:solidFill>
                <a:effectLst/>
                <a:uLnTx/>
                <a:uFillTx/>
                <a:latin typeface="+mn-lt"/>
                <a:ea typeface="+mn-ea"/>
                <a:cs typeface="+mn-cs"/>
              </a:rPr>
              <a:t>kleiner-dan-L</a:t>
            </a:r>
            <a:endParaRPr kumimoji="0" lang="nl-NL" sz="2000" b="1"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2780928"/>
            <a:ext cx="3960440"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Neem deze redenering: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langer dan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langer dan K</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347864" y="2780928"/>
            <a:ext cx="5184576" cy="172819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Dit wordt dan: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a:t>
            </a:r>
            <a:r>
              <a:rPr lang="nl-NL" sz="2000" noProof="0" dirty="0" err="1" smtClean="0"/>
              <a:t>langer-dan</a:t>
            </a:r>
            <a:r>
              <a:rPr lang="nl-NL" sz="2000" dirty="0" smtClean="0"/>
              <a:t>-</a:t>
            </a:r>
            <a:r>
              <a:rPr lang="nl-NL" sz="2000" noProof="0" dirty="0" smtClean="0"/>
              <a:t>M en M is </a:t>
            </a:r>
            <a:r>
              <a:rPr lang="nl-NL" sz="2000" noProof="0" dirty="0" err="1" smtClean="0"/>
              <a:t>kleiner-dan-L</a:t>
            </a:r>
            <a:endParaRPr lang="nl-NL" sz="2000" noProof="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a:t>
            </a:r>
            <a:r>
              <a:rPr lang="nl-NL" sz="2000" noProof="0" dirty="0" err="1" smtClean="0"/>
              <a:t>langer-dan</a:t>
            </a:r>
            <a:r>
              <a:rPr lang="nl-NL" sz="2000" dirty="0" smtClean="0"/>
              <a:t>-</a:t>
            </a:r>
            <a:r>
              <a:rPr lang="nl-NL" sz="2000" noProof="0" dirty="0" smtClean="0"/>
              <a:t>K en K is </a:t>
            </a:r>
            <a:r>
              <a:rPr lang="nl-NL" sz="2000" noProof="0" dirty="0" err="1" smtClean="0"/>
              <a:t>kleiner-dan</a:t>
            </a:r>
            <a:r>
              <a:rPr lang="nl-NL" sz="2000" dirty="0" smtClean="0"/>
              <a:t>-M</a:t>
            </a:r>
            <a:endParaRPr lang="nl-NL" sz="2000" noProof="0" dirty="0" smtClean="0"/>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a:t>
            </a:r>
            <a:r>
              <a:rPr lang="nl-NL" sz="2000" dirty="0" err="1" smtClean="0"/>
              <a:t>langer-dan-K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683568" y="4737918"/>
            <a:ext cx="3168352" cy="923330"/>
          </a:xfrm>
          <a:prstGeom prst="rect">
            <a:avLst/>
          </a:prstGeom>
          <a:noFill/>
        </p:spPr>
        <p:txBody>
          <a:bodyPr wrap="square" rtlCol="0">
            <a:spAutoFit/>
          </a:bodyPr>
          <a:lstStyle/>
          <a:p>
            <a:r>
              <a:rPr lang="nl-NL" dirty="0" smtClean="0"/>
              <a:t>Conclusie kan nog steeds niet formeel uit de premissen worden afgeleid.</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2000"/>
                                        <p:tgtEl>
                                          <p:spTgt spid="11">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fade">
                                      <p:cBhvr>
                                        <p:cTn id="18" dur="2000"/>
                                        <p:tgtEl>
                                          <p:spTgt spid="1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2000"/>
                                        <p:tgtEl>
                                          <p:spTgt spid="1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fade">
                                      <p:cBhvr>
                                        <p:cTn id="26" dur="2000"/>
                                        <p:tgtEl>
                                          <p:spTgt spid="12">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animEffect transition="in" filter="fade">
                                      <p:cBhvr>
                                        <p:cTn id="29" dur="2000"/>
                                        <p:tgtEl>
                                          <p:spTgt spid="12">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xEl>
                                              <p:pRg st="3" end="3"/>
                                            </p:txEl>
                                          </p:spTgt>
                                        </p:tgtEl>
                                        <p:attrNameLst>
                                          <p:attrName>style.visibility</p:attrName>
                                        </p:attrNameLst>
                                      </p:cBhvr>
                                      <p:to>
                                        <p:strVal val="visible"/>
                                      </p:to>
                                    </p:set>
                                    <p:animEffect transition="in" filter="fade">
                                      <p:cBhvr>
                                        <p:cTn id="32" dur="2000"/>
                                        <p:tgtEl>
                                          <p:spTgt spid="12">
                                            <p:txEl>
                                              <p:pRg st="3" end="3"/>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Effect transition="in" filter="fade">
                                      <p:cBhvr>
                                        <p:cTn id="35" dur="2000"/>
                                        <p:tgtEl>
                                          <p:spTgt spid="12">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9" grpId="0" build="allAtOnce"/>
    </p:bld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Syllogistiek</a:t>
            </a:r>
            <a:r>
              <a:rPr lang="nl-NL" sz="3600" dirty="0" smtClean="0"/>
              <a:t> en relaties</a:t>
            </a:r>
            <a:endParaRPr lang="nl-NL" sz="3600" dirty="0"/>
          </a:p>
        </p:txBody>
      </p:sp>
      <p:sp>
        <p:nvSpPr>
          <p:cNvPr id="19" name="Content Placeholder 2"/>
          <p:cNvSpPr>
            <a:spLocks noGrp="1"/>
          </p:cNvSpPr>
          <p:nvPr>
            <p:ph idx="1"/>
          </p:nvPr>
        </p:nvSpPr>
        <p:spPr>
          <a:xfrm>
            <a:off x="313184" y="1340769"/>
            <a:ext cx="8939336" cy="792088"/>
          </a:xfrm>
        </p:spPr>
        <p:txBody>
          <a:bodyPr>
            <a:noAutofit/>
          </a:bodyPr>
          <a:lstStyle/>
          <a:p>
            <a:r>
              <a:rPr lang="nl-NL" sz="2000" dirty="0" smtClean="0"/>
              <a:t>Neem twee lijnstukken L en M en stel dat L langer is dan M. Kunnen we het oordeel ‘L is langer is dan M’ uitdrukken als een </a:t>
            </a:r>
            <a:r>
              <a:rPr lang="nl-NL" sz="2000" dirty="0" err="1" smtClean="0"/>
              <a:t>subject-predikaat</a:t>
            </a:r>
            <a:r>
              <a:rPr lang="nl-NL" sz="2000" dirty="0" smtClean="0"/>
              <a:t> oordeel?	</a:t>
            </a:r>
          </a:p>
          <a:p>
            <a:pPr>
              <a:buNone/>
            </a:pPr>
            <a:endParaRPr lang="nl-NL" sz="2000" dirty="0" smtClean="0"/>
          </a:p>
          <a:p>
            <a:endParaRPr lang="nl-NL" sz="2000" dirty="0" smtClean="0"/>
          </a:p>
          <a:p>
            <a:pPr>
              <a:buNone/>
            </a:pPr>
            <a:endParaRPr lang="nl-NL" sz="2000" i="1" dirty="0" smtClean="0"/>
          </a:p>
        </p:txBody>
      </p:sp>
      <p:sp>
        <p:nvSpPr>
          <p:cNvPr id="10" name="Content Placeholder 2"/>
          <p:cNvSpPr txBox="1">
            <a:spLocks/>
          </p:cNvSpPr>
          <p:nvPr/>
        </p:nvSpPr>
        <p:spPr>
          <a:xfrm>
            <a:off x="323528" y="2204864"/>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u="none" strike="noStrike" kern="1200" cap="none" spc="0" normalizeH="0" baseline="0" noProof="0" dirty="0" smtClean="0">
                <a:ln>
                  <a:noFill/>
                </a:ln>
                <a:solidFill>
                  <a:srgbClr val="0070C0"/>
                </a:solidFill>
                <a:effectLst/>
                <a:uLnTx/>
                <a:uFillTx/>
                <a:latin typeface="+mn-lt"/>
                <a:ea typeface="+mn-ea"/>
                <a:cs typeface="+mn-cs"/>
              </a:rPr>
              <a:t>L is </a:t>
            </a:r>
            <a:r>
              <a:rPr kumimoji="0" lang="nl-NL" sz="2000" b="1" u="none" strike="noStrike" kern="1200" cap="none" spc="0" normalizeH="0" baseline="0" noProof="0" dirty="0" err="1" smtClean="0">
                <a:ln>
                  <a:noFill/>
                </a:ln>
                <a:solidFill>
                  <a:srgbClr val="0070C0"/>
                </a:solidFill>
                <a:effectLst/>
                <a:uLnTx/>
                <a:uFillTx/>
                <a:latin typeface="+mn-lt"/>
                <a:ea typeface="+mn-ea"/>
                <a:cs typeface="+mn-cs"/>
              </a:rPr>
              <a:t>lan</a:t>
            </a:r>
            <a:r>
              <a:rPr lang="nl-NL" sz="2000" b="1" dirty="0" smtClean="0">
                <a:solidFill>
                  <a:srgbClr val="0070C0"/>
                </a:solidFill>
              </a:rPr>
              <a:t>g en M is klein  </a:t>
            </a:r>
            <a:r>
              <a:rPr lang="nl-NL" i="1" dirty="0" smtClean="0"/>
              <a:t>(contractie, analoog aan ‘Jan is vader’ uit ‘Jan is vader van Piet)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2780928"/>
            <a:ext cx="3960440"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Neem deze redenering: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langer dan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langer dan K</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347864" y="2780928"/>
            <a:ext cx="5472608" cy="172819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Dit wordt dan:</a:t>
            </a:r>
            <a:endParaRPr lang="nl-NL" sz="2000" noProof="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 en M is klein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 en K is klein</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i="0" u="none" strike="noStrike" kern="1200" cap="none" spc="0" normalizeH="0" baseline="0" dirty="0" smtClean="0">
                <a:ln>
                  <a:noFill/>
                </a:ln>
                <a:effectLst/>
                <a:uLnTx/>
                <a:uFillTx/>
                <a:latin typeface="+mn-lt"/>
                <a:ea typeface="+mn-ea"/>
                <a:cs typeface="+mn-cs"/>
              </a:rPr>
              <a:t>	</a:t>
            </a:r>
            <a:r>
              <a:rPr lang="nl-NL" sz="2000" dirty="0" smtClean="0"/>
              <a:t>L is lang en K is klein </a:t>
            </a:r>
            <a:r>
              <a:rPr lang="nl-NL" sz="1600" i="1" dirty="0" smtClean="0"/>
              <a:t>(volgens </a:t>
            </a:r>
            <a:r>
              <a:rPr lang="nl-NL" sz="1600" i="1" dirty="0" err="1" smtClean="0"/>
              <a:t>conjunctie-regels</a:t>
            </a:r>
            <a:r>
              <a:rPr lang="nl-NL" sz="1600" i="1" dirty="0" smtClean="0"/>
              <a:t>)</a:t>
            </a:r>
            <a:endParaRPr lang="nl-NL" sz="2000" i="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Dus: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611560" y="4953942"/>
            <a:ext cx="3168352" cy="646331"/>
          </a:xfrm>
          <a:prstGeom prst="rect">
            <a:avLst/>
          </a:prstGeom>
          <a:noFill/>
        </p:spPr>
        <p:txBody>
          <a:bodyPr wrap="square" rtlCol="0">
            <a:spAutoFit/>
          </a:bodyPr>
          <a:lstStyle/>
          <a:p>
            <a:r>
              <a:rPr lang="nl-NL" dirty="0" smtClean="0"/>
              <a:t>Conclusie kan nu </a:t>
            </a:r>
            <a:r>
              <a:rPr lang="nl-NL" dirty="0" err="1" smtClean="0"/>
              <a:t>wél</a:t>
            </a:r>
            <a:r>
              <a:rPr lang="nl-NL" dirty="0" smtClean="0"/>
              <a:t> formeel worden afgeleid.</a:t>
            </a:r>
            <a:endParaRPr lang="nl-NL" dirty="0"/>
          </a:p>
        </p:txBody>
      </p:sp>
      <p:sp>
        <p:nvSpPr>
          <p:cNvPr id="14" name="TextBox 13"/>
          <p:cNvSpPr txBox="1"/>
          <p:nvPr/>
        </p:nvSpPr>
        <p:spPr>
          <a:xfrm>
            <a:off x="611560" y="5661248"/>
            <a:ext cx="3168352" cy="923330"/>
          </a:xfrm>
          <a:prstGeom prst="rect">
            <a:avLst/>
          </a:prstGeom>
          <a:noFill/>
        </p:spPr>
        <p:txBody>
          <a:bodyPr wrap="square" rtlCol="0">
            <a:spAutoFit/>
          </a:bodyPr>
          <a:lstStyle/>
          <a:p>
            <a:r>
              <a:rPr lang="nl-NL" dirty="0" smtClean="0"/>
              <a:t>Bovendien kan zo worden afgeleid dat uit ‘L is langer dan M’ volgt dat ‘M is kleiner dan L’</a:t>
            </a:r>
            <a:endParaRPr lang="nl-NL" dirty="0"/>
          </a:p>
        </p:txBody>
      </p:sp>
      <p:sp>
        <p:nvSpPr>
          <p:cNvPr id="15" name="TextBox 14"/>
          <p:cNvSpPr txBox="1"/>
          <p:nvPr/>
        </p:nvSpPr>
        <p:spPr>
          <a:xfrm>
            <a:off x="3923928" y="5674022"/>
            <a:ext cx="5472608" cy="1200329"/>
          </a:xfrm>
          <a:prstGeom prst="rect">
            <a:avLst/>
          </a:prstGeom>
          <a:noFill/>
        </p:spPr>
        <p:txBody>
          <a:bodyPr wrap="square" rtlCol="0">
            <a:spAutoFit/>
          </a:bodyPr>
          <a:lstStyle/>
          <a:p>
            <a:r>
              <a:rPr lang="nl-NL" dirty="0" smtClean="0"/>
              <a:t>L is langer dan M</a:t>
            </a:r>
          </a:p>
          <a:p>
            <a:r>
              <a:rPr lang="nl-NL" dirty="0" smtClean="0"/>
              <a:t>L is lang en M is klein</a:t>
            </a:r>
          </a:p>
          <a:p>
            <a:r>
              <a:rPr lang="nl-NL" dirty="0" smtClean="0"/>
              <a:t>M is klein en L is lang </a:t>
            </a:r>
            <a:r>
              <a:rPr lang="nl-NL" sz="1600" i="1" dirty="0" smtClean="0"/>
              <a:t>(volgens </a:t>
            </a:r>
            <a:r>
              <a:rPr lang="nl-NL" sz="1600" i="1" dirty="0" err="1" smtClean="0"/>
              <a:t>conjunctie-regels</a:t>
            </a:r>
            <a:r>
              <a:rPr lang="nl-NL" sz="1600" i="1" dirty="0" smtClean="0"/>
              <a:t>)</a:t>
            </a:r>
            <a:r>
              <a:rPr lang="nl-NL" sz="1600" dirty="0" smtClean="0"/>
              <a:t> </a:t>
            </a:r>
            <a:endParaRPr lang="nl-NL" dirty="0" smtClean="0"/>
          </a:p>
          <a:p>
            <a:r>
              <a:rPr lang="nl-NL" dirty="0" smtClean="0"/>
              <a:t>Dus: M is kleiner dan L</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2000"/>
                                        <p:tgtEl>
                                          <p:spTgt spid="11">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xEl>
                                              <p:pRg st="3" end="3"/>
                                            </p:txEl>
                                          </p:spTgt>
                                        </p:tgtEl>
                                        <p:attrNameLst>
                                          <p:attrName>style.visibility</p:attrName>
                                        </p:attrNameLst>
                                      </p:cBhvr>
                                      <p:to>
                                        <p:strVal val="visible"/>
                                      </p:to>
                                    </p:set>
                                    <p:animEffect transition="in" filter="fade">
                                      <p:cBhvr>
                                        <p:cTn id="18" dur="2000"/>
                                        <p:tgtEl>
                                          <p:spTgt spid="1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animEffect transition="in" filter="fade">
                                      <p:cBhvr>
                                        <p:cTn id="21" dur="2000"/>
                                        <p:tgtEl>
                                          <p:spTgt spid="1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fade">
                                      <p:cBhvr>
                                        <p:cTn id="26" dur="2000"/>
                                        <p:tgtEl>
                                          <p:spTgt spid="12">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animEffect transition="in" filter="fade">
                                      <p:cBhvr>
                                        <p:cTn id="29" dur="2000"/>
                                        <p:tgtEl>
                                          <p:spTgt spid="12">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xEl>
                                              <p:pRg st="3" end="3"/>
                                            </p:txEl>
                                          </p:spTgt>
                                        </p:tgtEl>
                                        <p:attrNameLst>
                                          <p:attrName>style.visibility</p:attrName>
                                        </p:attrNameLst>
                                      </p:cBhvr>
                                      <p:to>
                                        <p:strVal val="visible"/>
                                      </p:to>
                                    </p:set>
                                    <p:animEffect transition="in" filter="fade">
                                      <p:cBhvr>
                                        <p:cTn id="32" dur="2000"/>
                                        <p:tgtEl>
                                          <p:spTgt spid="12">
                                            <p:txEl>
                                              <p:pRg st="3" end="3"/>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xEl>
                                              <p:pRg st="4" end="4"/>
                                            </p:txEl>
                                          </p:spTgt>
                                        </p:tgtEl>
                                        <p:attrNameLst>
                                          <p:attrName>style.visibility</p:attrName>
                                        </p:attrNameLst>
                                      </p:cBhvr>
                                      <p:to>
                                        <p:strVal val="visible"/>
                                      </p:to>
                                    </p:set>
                                    <p:animEffect transition="in" filter="fade">
                                      <p:cBhvr>
                                        <p:cTn id="35" dur="2000"/>
                                        <p:tgtEl>
                                          <p:spTgt spid="12">
                                            <p:txEl>
                                              <p:pRg st="4" end="4"/>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xEl>
                                              <p:pRg st="5" end="5"/>
                                            </p:txEl>
                                          </p:spTgt>
                                        </p:tgtEl>
                                        <p:attrNameLst>
                                          <p:attrName>style.visibility</p:attrName>
                                        </p:attrNameLst>
                                      </p:cBhvr>
                                      <p:to>
                                        <p:strVal val="visible"/>
                                      </p:to>
                                    </p:set>
                                    <p:animEffect transition="in" filter="fade">
                                      <p:cBhvr>
                                        <p:cTn id="38" dur="2000"/>
                                        <p:tgtEl>
                                          <p:spTgt spid="12">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2000"/>
                                        <p:tgtEl>
                                          <p:spTgt spid="9">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xEl>
                                              <p:pRg st="0" end="0"/>
                                            </p:txEl>
                                          </p:spTgt>
                                        </p:tgtEl>
                                        <p:attrNameLst>
                                          <p:attrName>style.visibility</p:attrName>
                                        </p:attrNameLst>
                                      </p:cBhvr>
                                      <p:to>
                                        <p:strVal val="visible"/>
                                      </p:to>
                                    </p:set>
                                    <p:animEffect transition="in" filter="fade">
                                      <p:cBhvr>
                                        <p:cTn id="48" dur="2000"/>
                                        <p:tgtEl>
                                          <p:spTgt spid="14">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5">
                                            <p:txEl>
                                              <p:pRg st="0" end="0"/>
                                            </p:txEl>
                                          </p:spTgt>
                                        </p:tgtEl>
                                        <p:attrNameLst>
                                          <p:attrName>style.visibility</p:attrName>
                                        </p:attrNameLst>
                                      </p:cBhvr>
                                      <p:to>
                                        <p:strVal val="visible"/>
                                      </p:to>
                                    </p:set>
                                    <p:animEffect transition="in" filter="fade">
                                      <p:cBhvr>
                                        <p:cTn id="53" dur="2000"/>
                                        <p:tgtEl>
                                          <p:spTgt spid="15">
                                            <p:txEl>
                                              <p:pRg st="0" end="0"/>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5">
                                            <p:txEl>
                                              <p:pRg st="1" end="1"/>
                                            </p:txEl>
                                          </p:spTgt>
                                        </p:tgtEl>
                                        <p:attrNameLst>
                                          <p:attrName>style.visibility</p:attrName>
                                        </p:attrNameLst>
                                      </p:cBhvr>
                                      <p:to>
                                        <p:strVal val="visible"/>
                                      </p:to>
                                    </p:set>
                                    <p:animEffect transition="in" filter="fade">
                                      <p:cBhvr>
                                        <p:cTn id="56" dur="2000"/>
                                        <p:tgtEl>
                                          <p:spTgt spid="15">
                                            <p:txEl>
                                              <p:pRg st="1" end="1"/>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
                                            <p:txEl>
                                              <p:pRg st="2" end="2"/>
                                            </p:txEl>
                                          </p:spTgt>
                                        </p:tgtEl>
                                        <p:attrNameLst>
                                          <p:attrName>style.visibility</p:attrName>
                                        </p:attrNameLst>
                                      </p:cBhvr>
                                      <p:to>
                                        <p:strVal val="visible"/>
                                      </p:to>
                                    </p:set>
                                    <p:animEffect transition="in" filter="fade">
                                      <p:cBhvr>
                                        <p:cTn id="59" dur="2000"/>
                                        <p:tgtEl>
                                          <p:spTgt spid="15">
                                            <p:txEl>
                                              <p:pRg st="2" end="2"/>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5">
                                            <p:txEl>
                                              <p:pRg st="3" end="3"/>
                                            </p:txEl>
                                          </p:spTgt>
                                        </p:tgtEl>
                                        <p:attrNameLst>
                                          <p:attrName>style.visibility</p:attrName>
                                        </p:attrNameLst>
                                      </p:cBhvr>
                                      <p:to>
                                        <p:strVal val="visible"/>
                                      </p:to>
                                    </p:set>
                                    <p:animEffect transition="in" filter="fade">
                                      <p:cBhvr>
                                        <p:cTn id="62" dur="20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9" grpId="0" build="allAtOnce"/>
      <p:bldP spid="14" grpId="0" build="allAtOnce"/>
      <p:bldP spid="15" grpId="0" build="allAtOnce"/>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Syllogistiek</a:t>
            </a:r>
            <a:r>
              <a:rPr lang="nl-NL" sz="3600" dirty="0" smtClean="0"/>
              <a:t> en relaties</a:t>
            </a:r>
            <a:endParaRPr lang="nl-NL" sz="3600" dirty="0"/>
          </a:p>
        </p:txBody>
      </p:sp>
      <p:sp>
        <p:nvSpPr>
          <p:cNvPr id="19" name="Content Placeholder 2"/>
          <p:cNvSpPr>
            <a:spLocks noGrp="1"/>
          </p:cNvSpPr>
          <p:nvPr>
            <p:ph idx="1"/>
          </p:nvPr>
        </p:nvSpPr>
        <p:spPr>
          <a:xfrm>
            <a:off x="313184" y="1340769"/>
            <a:ext cx="8939336" cy="792088"/>
          </a:xfrm>
        </p:spPr>
        <p:txBody>
          <a:bodyPr>
            <a:noAutofit/>
          </a:bodyPr>
          <a:lstStyle/>
          <a:p>
            <a:r>
              <a:rPr lang="nl-NL" sz="2000" dirty="0" smtClean="0"/>
              <a:t>Neem twee lijnstukken L en M en stel dat L langer is dan M. Kunnen we het oordeel ‘L is langer is dan M’ uitdrukken als een </a:t>
            </a:r>
            <a:r>
              <a:rPr lang="nl-NL" sz="2000" dirty="0" err="1" smtClean="0"/>
              <a:t>subject-predikaat</a:t>
            </a:r>
            <a:r>
              <a:rPr lang="nl-NL" sz="2000" dirty="0" smtClean="0"/>
              <a:t> oordeel?	</a:t>
            </a:r>
          </a:p>
          <a:p>
            <a:pPr>
              <a:buNone/>
            </a:pPr>
            <a:endParaRPr lang="nl-NL" sz="2000" dirty="0" smtClean="0"/>
          </a:p>
          <a:p>
            <a:endParaRPr lang="nl-NL" sz="2000" dirty="0" smtClean="0"/>
          </a:p>
          <a:p>
            <a:pPr>
              <a:buNone/>
            </a:pPr>
            <a:endParaRPr lang="nl-NL" sz="2000" i="1" dirty="0" smtClean="0"/>
          </a:p>
        </p:txBody>
      </p:sp>
      <p:sp>
        <p:nvSpPr>
          <p:cNvPr id="10" name="Content Placeholder 2"/>
          <p:cNvSpPr txBox="1">
            <a:spLocks/>
          </p:cNvSpPr>
          <p:nvPr/>
        </p:nvSpPr>
        <p:spPr>
          <a:xfrm>
            <a:off x="323528" y="2204864"/>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u="none" strike="noStrike" kern="1200" cap="none" spc="0" normalizeH="0" baseline="0" noProof="0" dirty="0" smtClean="0">
                <a:ln>
                  <a:noFill/>
                </a:ln>
                <a:solidFill>
                  <a:srgbClr val="0070C0"/>
                </a:solidFill>
                <a:effectLst/>
                <a:uLnTx/>
                <a:uFillTx/>
                <a:latin typeface="+mn-lt"/>
                <a:ea typeface="+mn-ea"/>
                <a:cs typeface="+mn-cs"/>
              </a:rPr>
              <a:t>L is </a:t>
            </a:r>
            <a:r>
              <a:rPr kumimoji="0" lang="nl-NL" sz="2000" b="1" u="none" strike="noStrike" kern="1200" cap="none" spc="0" normalizeH="0" baseline="0" noProof="0" dirty="0" err="1" smtClean="0">
                <a:ln>
                  <a:noFill/>
                </a:ln>
                <a:solidFill>
                  <a:srgbClr val="0070C0"/>
                </a:solidFill>
                <a:effectLst/>
                <a:uLnTx/>
                <a:uFillTx/>
                <a:latin typeface="+mn-lt"/>
                <a:ea typeface="+mn-ea"/>
                <a:cs typeface="+mn-cs"/>
              </a:rPr>
              <a:t>lan</a:t>
            </a:r>
            <a:r>
              <a:rPr lang="nl-NL" sz="2000" b="1" dirty="0" smtClean="0">
                <a:solidFill>
                  <a:srgbClr val="0070C0"/>
                </a:solidFill>
              </a:rPr>
              <a:t>g en M is klein  </a:t>
            </a:r>
            <a:r>
              <a:rPr lang="nl-NL" i="1" dirty="0" smtClean="0"/>
              <a:t>(contractie, analoog aan ‘Jan is vader’ uit ‘Jan is vader van Piet)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2780928"/>
            <a:ext cx="3960440"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Neem deze redenering: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langer dan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langer dan K</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347864" y="2780928"/>
            <a:ext cx="5400600" cy="172819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Dit wordt dan:</a:t>
            </a:r>
            <a:endParaRPr lang="nl-NL" sz="2000" noProof="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 en M is klein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 en K is klein</a:t>
            </a:r>
          </a:p>
          <a:p>
            <a:pPr marL="342900" lvl="0" indent="-342900">
              <a:spcBef>
                <a:spcPct val="20000"/>
              </a:spcBef>
            </a:pPr>
            <a:r>
              <a:rPr kumimoji="0" lang="nl-NL" sz="2000" i="0" u="none" strike="noStrike" kern="1200" cap="none" spc="0" normalizeH="0" baseline="0" dirty="0" smtClean="0">
                <a:ln>
                  <a:noFill/>
                </a:ln>
                <a:effectLst/>
                <a:uLnTx/>
                <a:uFillTx/>
                <a:latin typeface="+mn-lt"/>
                <a:ea typeface="+mn-ea"/>
                <a:cs typeface="+mn-cs"/>
              </a:rPr>
              <a:t>	</a:t>
            </a:r>
            <a:r>
              <a:rPr lang="nl-NL" sz="2000" dirty="0" smtClean="0"/>
              <a:t>L is lang en K is klein </a:t>
            </a:r>
            <a:r>
              <a:rPr lang="nl-NL" sz="1600" i="1" dirty="0" smtClean="0"/>
              <a:t>(volgens </a:t>
            </a:r>
            <a:r>
              <a:rPr lang="nl-NL" sz="1600" i="1" dirty="0" err="1" smtClean="0"/>
              <a:t>conjunctie-regels</a:t>
            </a:r>
            <a:r>
              <a:rPr lang="nl-NL" sz="1600" i="1" dirty="0" smtClean="0"/>
              <a:t>)</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Dus: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611560" y="4953942"/>
            <a:ext cx="3168352" cy="646331"/>
          </a:xfrm>
          <a:prstGeom prst="rect">
            <a:avLst/>
          </a:prstGeom>
          <a:noFill/>
        </p:spPr>
        <p:txBody>
          <a:bodyPr wrap="square" rtlCol="0">
            <a:spAutoFit/>
          </a:bodyPr>
          <a:lstStyle/>
          <a:p>
            <a:r>
              <a:rPr lang="nl-NL" dirty="0" smtClean="0"/>
              <a:t>Conclusie kan nu </a:t>
            </a:r>
            <a:r>
              <a:rPr lang="nl-NL" dirty="0" err="1" smtClean="0"/>
              <a:t>wél</a:t>
            </a:r>
            <a:r>
              <a:rPr lang="nl-NL" dirty="0" smtClean="0"/>
              <a:t> formeel worden afgeleid.</a:t>
            </a:r>
            <a:endParaRPr lang="nl-NL" dirty="0"/>
          </a:p>
        </p:txBody>
      </p:sp>
      <p:sp>
        <p:nvSpPr>
          <p:cNvPr id="8" name="TextBox 7"/>
          <p:cNvSpPr txBox="1"/>
          <p:nvPr/>
        </p:nvSpPr>
        <p:spPr>
          <a:xfrm>
            <a:off x="4139952" y="4941168"/>
            <a:ext cx="3168352" cy="646331"/>
          </a:xfrm>
          <a:prstGeom prst="rect">
            <a:avLst/>
          </a:prstGeom>
          <a:noFill/>
        </p:spPr>
        <p:txBody>
          <a:bodyPr wrap="square" rtlCol="0">
            <a:spAutoFit/>
          </a:bodyPr>
          <a:lstStyle/>
          <a:p>
            <a:r>
              <a:rPr lang="nl-NL" i="1" dirty="0" smtClean="0"/>
              <a:t>Er ontstaat echter                              een tegenspraak!</a:t>
            </a:r>
            <a:endParaRPr lang="nl-NL" i="1" dirty="0"/>
          </a:p>
        </p:txBody>
      </p:sp>
      <p:sp>
        <p:nvSpPr>
          <p:cNvPr id="14" name="TextBox 13"/>
          <p:cNvSpPr txBox="1"/>
          <p:nvPr/>
        </p:nvSpPr>
        <p:spPr>
          <a:xfrm>
            <a:off x="611560" y="5661248"/>
            <a:ext cx="3168352" cy="923330"/>
          </a:xfrm>
          <a:prstGeom prst="rect">
            <a:avLst/>
          </a:prstGeom>
          <a:noFill/>
        </p:spPr>
        <p:txBody>
          <a:bodyPr wrap="square" rtlCol="0">
            <a:spAutoFit/>
          </a:bodyPr>
          <a:lstStyle/>
          <a:p>
            <a:r>
              <a:rPr lang="nl-NL" dirty="0" smtClean="0"/>
              <a:t>Bovendien kan zo worden afgeleid dat uit ‘L is langer dan M’ volgt dat ‘M is kleiner dan L’</a:t>
            </a:r>
            <a:endParaRPr lang="nl-NL" dirty="0"/>
          </a:p>
        </p:txBody>
      </p:sp>
      <p:sp>
        <p:nvSpPr>
          <p:cNvPr id="15" name="TextBox 14"/>
          <p:cNvSpPr txBox="1"/>
          <p:nvPr/>
        </p:nvSpPr>
        <p:spPr>
          <a:xfrm>
            <a:off x="3923928" y="5674022"/>
            <a:ext cx="4968552" cy="1200329"/>
          </a:xfrm>
          <a:prstGeom prst="rect">
            <a:avLst/>
          </a:prstGeom>
          <a:noFill/>
        </p:spPr>
        <p:txBody>
          <a:bodyPr wrap="square" rtlCol="0">
            <a:spAutoFit/>
          </a:bodyPr>
          <a:lstStyle/>
          <a:p>
            <a:r>
              <a:rPr lang="nl-NL" dirty="0" smtClean="0"/>
              <a:t>L is langer dan M</a:t>
            </a:r>
          </a:p>
          <a:p>
            <a:r>
              <a:rPr lang="nl-NL" dirty="0" smtClean="0"/>
              <a:t>L is lang en M is klein</a:t>
            </a:r>
          </a:p>
          <a:p>
            <a:r>
              <a:rPr lang="nl-NL" dirty="0" smtClean="0"/>
              <a:t>M is klein en L is lang </a:t>
            </a:r>
            <a:r>
              <a:rPr lang="nl-NL" sz="1600" i="1" dirty="0" smtClean="0"/>
              <a:t>(volgens </a:t>
            </a:r>
            <a:r>
              <a:rPr lang="nl-NL" sz="1600" i="1" dirty="0" err="1" smtClean="0"/>
              <a:t>conjunctie-regels</a:t>
            </a:r>
            <a:r>
              <a:rPr lang="nl-NL" sz="1600" i="1" dirty="0" smtClean="0"/>
              <a:t>)</a:t>
            </a:r>
            <a:endParaRPr lang="nl-NL" dirty="0" smtClean="0"/>
          </a:p>
          <a:p>
            <a:r>
              <a:rPr lang="nl-NL" dirty="0" smtClean="0"/>
              <a:t>Dus: M is kleiner dan L</a:t>
            </a:r>
            <a:endParaRPr lang="nl-NL" dirty="0"/>
          </a:p>
        </p:txBody>
      </p:sp>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63272" cy="1143000"/>
          </a:xfrm>
        </p:spPr>
        <p:txBody>
          <a:bodyPr>
            <a:noAutofit/>
          </a:bodyPr>
          <a:lstStyle/>
          <a:p>
            <a:r>
              <a:rPr lang="nl-NL" sz="3600" dirty="0" err="1" smtClean="0"/>
              <a:t>Syllogistiek</a:t>
            </a:r>
            <a:r>
              <a:rPr lang="nl-NL" sz="3600" dirty="0" smtClean="0"/>
              <a:t> en relaties</a:t>
            </a:r>
            <a:endParaRPr lang="nl-NL" sz="3600" dirty="0"/>
          </a:p>
        </p:txBody>
      </p:sp>
      <p:sp>
        <p:nvSpPr>
          <p:cNvPr id="19" name="Content Placeholder 2"/>
          <p:cNvSpPr>
            <a:spLocks noGrp="1"/>
          </p:cNvSpPr>
          <p:nvPr>
            <p:ph idx="1"/>
          </p:nvPr>
        </p:nvSpPr>
        <p:spPr>
          <a:xfrm>
            <a:off x="313184" y="1340769"/>
            <a:ext cx="8939336" cy="792088"/>
          </a:xfrm>
        </p:spPr>
        <p:txBody>
          <a:bodyPr>
            <a:noAutofit/>
          </a:bodyPr>
          <a:lstStyle/>
          <a:p>
            <a:r>
              <a:rPr lang="nl-NL" sz="2000" dirty="0" smtClean="0"/>
              <a:t>Neem twee lijnstukken L en M en stel dat L langer is dan M. Kunnen we het oordeel ‘L is langer is dan M’ uitdrukken als een </a:t>
            </a:r>
            <a:r>
              <a:rPr lang="nl-NL" sz="2000" dirty="0" err="1" smtClean="0"/>
              <a:t>subject-predikaat</a:t>
            </a:r>
            <a:r>
              <a:rPr lang="nl-NL" sz="2000" dirty="0" smtClean="0"/>
              <a:t> oordeel?	</a:t>
            </a:r>
          </a:p>
          <a:p>
            <a:pPr>
              <a:buNone/>
            </a:pPr>
            <a:endParaRPr lang="nl-NL" sz="2000" dirty="0" smtClean="0"/>
          </a:p>
          <a:p>
            <a:endParaRPr lang="nl-NL" sz="2000" dirty="0" smtClean="0"/>
          </a:p>
          <a:p>
            <a:pPr>
              <a:buNone/>
            </a:pPr>
            <a:endParaRPr lang="nl-NL" sz="2000" i="1" dirty="0" smtClean="0"/>
          </a:p>
        </p:txBody>
      </p:sp>
      <p:sp>
        <p:nvSpPr>
          <p:cNvPr id="10" name="Content Placeholder 2"/>
          <p:cNvSpPr txBox="1">
            <a:spLocks/>
          </p:cNvSpPr>
          <p:nvPr/>
        </p:nvSpPr>
        <p:spPr>
          <a:xfrm>
            <a:off x="323528" y="2204864"/>
            <a:ext cx="8939336"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1" u="none" strike="noStrike" kern="1200" cap="none" spc="0" normalizeH="0" baseline="0" noProof="0" dirty="0" smtClean="0">
                <a:ln>
                  <a:noFill/>
                </a:ln>
                <a:solidFill>
                  <a:srgbClr val="0070C0"/>
                </a:solidFill>
                <a:effectLst/>
                <a:uLnTx/>
                <a:uFillTx/>
                <a:latin typeface="+mn-lt"/>
                <a:ea typeface="+mn-ea"/>
                <a:cs typeface="+mn-cs"/>
              </a:rPr>
              <a:t>L is </a:t>
            </a:r>
            <a:r>
              <a:rPr kumimoji="0" lang="nl-NL" sz="2000" b="1" u="none" strike="noStrike" kern="1200" cap="none" spc="0" normalizeH="0" baseline="0" noProof="0" dirty="0" err="1" smtClean="0">
                <a:ln>
                  <a:noFill/>
                </a:ln>
                <a:solidFill>
                  <a:srgbClr val="0070C0"/>
                </a:solidFill>
                <a:effectLst/>
                <a:uLnTx/>
                <a:uFillTx/>
                <a:latin typeface="+mn-lt"/>
                <a:ea typeface="+mn-ea"/>
                <a:cs typeface="+mn-cs"/>
              </a:rPr>
              <a:t>lan</a:t>
            </a:r>
            <a:r>
              <a:rPr lang="nl-NL" sz="2000" b="1" dirty="0" smtClean="0">
                <a:solidFill>
                  <a:srgbClr val="0070C0"/>
                </a:solidFill>
              </a:rPr>
              <a:t>g en M is klein  </a:t>
            </a:r>
            <a:r>
              <a:rPr lang="nl-NL" i="1" dirty="0" smtClean="0"/>
              <a:t>(contractie, analoog aan ‘Jan is vader’ uit ‘Jan is vader van Piet)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2780928"/>
            <a:ext cx="3960440"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Neem deze redenering: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langer dan M</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 is langer dan K</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dirty="0" smtClean="0">
                <a:ln>
                  <a:noFill/>
                </a:ln>
                <a:solidFill>
                  <a:schemeClr val="tx1"/>
                </a:solidFill>
                <a:effectLst/>
                <a:uLnTx/>
                <a:uFillTx/>
                <a:latin typeface="+mn-lt"/>
                <a:ea typeface="+mn-ea"/>
                <a:cs typeface="+mn-cs"/>
              </a:rPr>
              <a:t>	Dus</a:t>
            </a:r>
            <a:r>
              <a:rPr lang="nl-NL" sz="2000" dirty="0" smtClean="0"/>
              <a:t>: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347864" y="2780928"/>
            <a:ext cx="5544616" cy="172819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Dit wordt dan:</a:t>
            </a:r>
            <a:endParaRPr lang="nl-NL" sz="2000" noProof="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L is lang en </a:t>
            </a:r>
            <a:r>
              <a:rPr lang="nl-NL" sz="2000" b="1" noProof="0" dirty="0" smtClean="0">
                <a:solidFill>
                  <a:srgbClr val="FF0000"/>
                </a:solidFill>
              </a:rPr>
              <a:t>M is klein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b="1" noProof="0" dirty="0" smtClean="0">
                <a:solidFill>
                  <a:srgbClr val="FF0000"/>
                </a:solidFill>
              </a:rPr>
              <a:t>M is lang</a:t>
            </a:r>
            <a:r>
              <a:rPr lang="nl-NL" sz="2000" noProof="0" dirty="0" smtClean="0"/>
              <a:t> en K is klein</a:t>
            </a:r>
          </a:p>
          <a:p>
            <a:pPr marL="342900" lvl="0" indent="-342900">
              <a:spcBef>
                <a:spcPct val="20000"/>
              </a:spcBef>
            </a:pPr>
            <a:r>
              <a:rPr kumimoji="0" lang="nl-NL" sz="2000" i="0" u="none" strike="noStrike" kern="1200" cap="none" spc="0" normalizeH="0" baseline="0" dirty="0" smtClean="0">
                <a:ln>
                  <a:noFill/>
                </a:ln>
                <a:effectLst/>
                <a:uLnTx/>
                <a:uFillTx/>
                <a:latin typeface="+mn-lt"/>
                <a:ea typeface="+mn-ea"/>
                <a:cs typeface="+mn-cs"/>
              </a:rPr>
              <a:t>	Dus</a:t>
            </a:r>
            <a:r>
              <a:rPr lang="nl-NL" sz="2000" dirty="0" smtClean="0"/>
              <a:t>: L is lang en K is klein </a:t>
            </a:r>
            <a:r>
              <a:rPr lang="nl-NL" sz="1600" i="1" dirty="0" smtClean="0"/>
              <a:t>(volgens </a:t>
            </a:r>
            <a:r>
              <a:rPr lang="nl-NL" sz="1600" i="1" dirty="0" err="1" smtClean="0"/>
              <a:t>conjunctie-regels</a:t>
            </a:r>
            <a:r>
              <a:rPr lang="nl-NL" sz="1600" i="1" dirty="0" smtClean="0"/>
              <a:t>)</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Dus: L is langer dan 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611560" y="4953942"/>
            <a:ext cx="3168352" cy="646331"/>
          </a:xfrm>
          <a:prstGeom prst="rect">
            <a:avLst/>
          </a:prstGeom>
          <a:noFill/>
        </p:spPr>
        <p:txBody>
          <a:bodyPr wrap="square" rtlCol="0">
            <a:spAutoFit/>
          </a:bodyPr>
          <a:lstStyle/>
          <a:p>
            <a:r>
              <a:rPr lang="nl-NL" dirty="0" smtClean="0"/>
              <a:t>Conclusie kan nu </a:t>
            </a:r>
            <a:r>
              <a:rPr lang="nl-NL" dirty="0" err="1" smtClean="0"/>
              <a:t>wél</a:t>
            </a:r>
            <a:r>
              <a:rPr lang="nl-NL" dirty="0" smtClean="0"/>
              <a:t> formeel worden afgeleid.</a:t>
            </a:r>
            <a:endParaRPr lang="nl-NL" dirty="0"/>
          </a:p>
        </p:txBody>
      </p:sp>
      <p:sp>
        <p:nvSpPr>
          <p:cNvPr id="13" name="Content Placeholder 2"/>
          <p:cNvSpPr txBox="1">
            <a:spLocks/>
          </p:cNvSpPr>
          <p:nvPr/>
        </p:nvSpPr>
        <p:spPr>
          <a:xfrm>
            <a:off x="313184" y="5733256"/>
            <a:ext cx="8939336" cy="79208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Al met al kan de </a:t>
            </a:r>
            <a:r>
              <a:rPr lang="nl-NL" sz="2000" dirty="0" err="1" smtClean="0"/>
              <a:t>syllogistiek</a:t>
            </a:r>
            <a:r>
              <a:rPr lang="nl-NL" sz="2000" dirty="0" smtClean="0"/>
              <a:t> dus niet goed omgaan met relaties. We stuiten hier op de grenzen van de </a:t>
            </a:r>
            <a:r>
              <a:rPr lang="nl-NL" sz="2000" dirty="0" err="1" smtClean="0"/>
              <a:t>syllogistiek</a:t>
            </a:r>
            <a:r>
              <a:rPr lang="nl-NL" sz="2000" dirty="0" smtClean="0"/>
              <a:t>. In de </a:t>
            </a:r>
            <a:r>
              <a:rPr lang="nl-NL" sz="2000" i="1" dirty="0" err="1" smtClean="0"/>
              <a:t>predikatenlogica</a:t>
            </a:r>
            <a:r>
              <a:rPr lang="nl-NL" sz="2000" dirty="0" smtClean="0"/>
              <a:t> kunnen relaties wel         adequaat verdisconteerd worden.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Box 13"/>
          <p:cNvSpPr txBox="1"/>
          <p:nvPr/>
        </p:nvSpPr>
        <p:spPr>
          <a:xfrm>
            <a:off x="4139952" y="4941168"/>
            <a:ext cx="3168352" cy="646331"/>
          </a:xfrm>
          <a:prstGeom prst="rect">
            <a:avLst/>
          </a:prstGeom>
          <a:noFill/>
        </p:spPr>
        <p:txBody>
          <a:bodyPr wrap="square" rtlCol="0">
            <a:spAutoFit/>
          </a:bodyPr>
          <a:lstStyle/>
          <a:p>
            <a:r>
              <a:rPr lang="nl-NL" i="1" dirty="0" smtClean="0"/>
              <a:t>Er ontstaat echter                              een tegenspraak!</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Predikaatlogica</a:t>
            </a:r>
            <a:endParaRPr lang="nl-NL" sz="3600" dirty="0"/>
          </a:p>
        </p:txBody>
      </p:sp>
      <p:sp>
        <p:nvSpPr>
          <p:cNvPr id="3" name="Content Placeholder 2"/>
          <p:cNvSpPr>
            <a:spLocks noGrp="1"/>
          </p:cNvSpPr>
          <p:nvPr>
            <p:ph idx="1"/>
          </p:nvPr>
        </p:nvSpPr>
        <p:spPr>
          <a:xfrm>
            <a:off x="457200" y="1600201"/>
            <a:ext cx="8686800" cy="1108720"/>
          </a:xfrm>
        </p:spPr>
        <p:txBody>
          <a:bodyPr>
            <a:noAutofit/>
          </a:bodyPr>
          <a:lstStyle/>
          <a:p>
            <a:r>
              <a:rPr lang="nl-NL" sz="2000" dirty="0" smtClean="0"/>
              <a:t>De </a:t>
            </a:r>
            <a:r>
              <a:rPr lang="nl-NL" sz="2000" i="1" dirty="0" err="1" smtClean="0"/>
              <a:t>predikaatlogica</a:t>
            </a:r>
            <a:r>
              <a:rPr lang="nl-NL" sz="2000" dirty="0" smtClean="0"/>
              <a:t> is een uitbreiding van de propositielogica. Deze      uitbreiding maakt het mogelijk om nu ook de interne structuur van elementaire proposities mee te nemen in de logische analyse.</a:t>
            </a:r>
          </a:p>
          <a:p>
            <a:endParaRPr lang="nl-NL" sz="2000" dirty="0" smtClean="0"/>
          </a:p>
          <a:p>
            <a:endParaRPr lang="nl-NL" sz="2000" dirty="0" smtClean="0"/>
          </a:p>
        </p:txBody>
      </p:sp>
      <p:sp>
        <p:nvSpPr>
          <p:cNvPr id="6" name="Content Placeholder 2"/>
          <p:cNvSpPr txBox="1">
            <a:spLocks/>
          </p:cNvSpPr>
          <p:nvPr/>
        </p:nvSpPr>
        <p:spPr>
          <a:xfrm>
            <a:off x="457200" y="2752328"/>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Een bekend onderscheid is dat tussen individuele</a:t>
            </a:r>
            <a:r>
              <a:rPr kumimoji="0" lang="nl-NL" sz="2000" b="0" i="0" u="none" strike="noStrike" kern="1200" cap="none" spc="0" normalizeH="0" noProof="0" dirty="0" smtClean="0">
                <a:ln>
                  <a:noFill/>
                </a:ln>
                <a:solidFill>
                  <a:schemeClr val="tx1"/>
                </a:solidFill>
                <a:effectLst/>
                <a:uLnTx/>
                <a:uFillTx/>
                <a:latin typeface="+mn-lt"/>
                <a:ea typeface="+mn-ea"/>
                <a:cs typeface="+mn-cs"/>
              </a:rPr>
              <a:t> termen (</a:t>
            </a:r>
            <a:r>
              <a:rPr kumimoji="0" lang="nl-NL" sz="2000" b="0" i="0" u="none" strike="noStrike" kern="1200" cap="none" spc="0" normalizeH="0" noProof="0" dirty="0" err="1" smtClean="0">
                <a:ln>
                  <a:noFill/>
                </a:ln>
                <a:solidFill>
                  <a:schemeClr val="tx1"/>
                </a:solidFill>
                <a:effectLst/>
                <a:uLnTx/>
                <a:uFillTx/>
                <a:latin typeface="+mn-lt"/>
                <a:ea typeface="+mn-ea"/>
                <a:cs typeface="+mn-cs"/>
              </a:rPr>
              <a:t>Socrates</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err="1" smtClean="0">
                <a:ln>
                  <a:noFill/>
                </a:ln>
                <a:solidFill>
                  <a:schemeClr val="tx1"/>
                </a:solidFill>
                <a:effectLst/>
                <a:uLnTx/>
                <a:uFillTx/>
                <a:latin typeface="+mn-lt"/>
                <a:ea typeface="+mn-ea"/>
                <a:cs typeface="+mn-cs"/>
              </a:rPr>
              <a:t>Amsterda</a:t>
            </a:r>
            <a:r>
              <a:rPr lang="nl-NL" sz="2000" dirty="0" smtClean="0"/>
              <a:t>m, het getal 3) en algemene termen (mens, stad, getal). In de </a:t>
            </a:r>
            <a:r>
              <a:rPr lang="nl-NL" sz="2000" dirty="0" err="1" smtClean="0"/>
              <a:t>predikaatlogica</a:t>
            </a:r>
            <a:r>
              <a:rPr lang="nl-NL" sz="2000" dirty="0" smtClean="0"/>
              <a:t> worden individuele termen </a:t>
            </a:r>
            <a:r>
              <a:rPr lang="nl-NL" sz="2000" i="1" dirty="0" smtClean="0"/>
              <a:t>individuconstanten </a:t>
            </a:r>
            <a:r>
              <a:rPr lang="nl-NL" sz="2000" dirty="0" smtClean="0"/>
              <a:t>genoemd. Ze benoemen één ding of zaak. We geven ze weer met kleine letters: a, b, c,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57200" y="414908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i="1" noProof="0" dirty="0" err="1" smtClean="0"/>
              <a:t>Predikaatletters</a:t>
            </a:r>
            <a:r>
              <a:rPr lang="nl-NL" sz="2000" noProof="0" dirty="0" smtClean="0"/>
              <a:t> verwijzen naar </a:t>
            </a:r>
            <a:r>
              <a:rPr lang="nl-NL" sz="2000" noProof="0" dirty="0" err="1" smtClean="0"/>
              <a:t>predikaten</a:t>
            </a:r>
            <a:r>
              <a:rPr lang="nl-NL" sz="2000" noProof="0" dirty="0" smtClean="0"/>
              <a:t> of eigenschappen</a:t>
            </a:r>
            <a:r>
              <a:rPr lang="nl-NL" sz="2000" dirty="0" smtClean="0"/>
              <a:t> (‘is sterfelijk’,  ‘is een stad’, ‘is een getal’). We geven ze weer met hoofdletters: A, B, C,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Indien object a eigenschap F heeft, dan schrijven we ‘Fa’</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57200" y="5589240"/>
            <a:ext cx="2746648"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i="1" dirty="0" err="1" smtClean="0"/>
              <a:t>Socrates</a:t>
            </a:r>
            <a:r>
              <a:rPr lang="nl-NL" sz="2000" i="1" dirty="0" smtClean="0"/>
              <a:t> is sterfelijk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553544" y="5560640"/>
            <a:ext cx="2746648"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 </a:t>
            </a:r>
            <a:r>
              <a:rPr lang="nl-NL" sz="2000" dirty="0" err="1" smtClean="0"/>
              <a:t>Socrates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563888" y="5920680"/>
            <a:ext cx="172819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B: is sterfelijk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5796136" y="5517232"/>
            <a:ext cx="2746648"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400" b="1" dirty="0" smtClean="0"/>
              <a:t>Ba</a:t>
            </a:r>
            <a:endParaRPr kumimoji="0" lang="nl-NL" sz="24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2000"/>
                                        <p:tgtEl>
                                          <p:spTgt spid="1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fade">
                                      <p:cBhvr>
                                        <p:cTn id="32" dur="2000"/>
                                        <p:tgtEl>
                                          <p:spTgt spid="1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fade">
                                      <p:cBhvr>
                                        <p:cTn id="37"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10" grpId="0" build="allAtOnce"/>
      <p:bldP spid="11" grpId="0" build="allAtOnce"/>
      <p:bldP spid="12" grpId="0" build="allAtOnce"/>
      <p:bldP spid="13" grpId="0" build="allAtOnce"/>
      <p:bldP spid="14" grpId="0" build="allAtOnce"/>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Predikaatlogica</a:t>
            </a:r>
            <a:endParaRPr lang="nl-NL" sz="3600" dirty="0"/>
          </a:p>
        </p:txBody>
      </p:sp>
      <p:sp>
        <p:nvSpPr>
          <p:cNvPr id="3" name="Content Placeholder 2"/>
          <p:cNvSpPr>
            <a:spLocks noGrp="1"/>
          </p:cNvSpPr>
          <p:nvPr>
            <p:ph idx="1"/>
          </p:nvPr>
        </p:nvSpPr>
        <p:spPr>
          <a:xfrm>
            <a:off x="457200" y="1600201"/>
            <a:ext cx="8686800" cy="1108720"/>
          </a:xfrm>
        </p:spPr>
        <p:txBody>
          <a:bodyPr>
            <a:noAutofit/>
          </a:bodyPr>
          <a:lstStyle/>
          <a:p>
            <a:r>
              <a:rPr lang="nl-NL" sz="2000" dirty="0" smtClean="0"/>
              <a:t>Allerlei zaken kunnen optreden als individuconstante. Het onderwerp van          een beweerzin kan immers op zo ongeveer alles betrekking hebben. Echter, </a:t>
            </a:r>
            <a:r>
              <a:rPr lang="nl-NL" sz="2000" dirty="0" err="1" smtClean="0"/>
              <a:t>predikaatletters</a:t>
            </a:r>
            <a:r>
              <a:rPr lang="nl-NL" sz="2000" dirty="0" smtClean="0"/>
              <a:t> treden in de </a:t>
            </a:r>
            <a:r>
              <a:rPr lang="nl-NL" sz="2000" dirty="0" err="1" smtClean="0"/>
              <a:t>predikaatlogica</a:t>
            </a:r>
            <a:r>
              <a:rPr lang="nl-NL" sz="2000" dirty="0" smtClean="0"/>
              <a:t> </a:t>
            </a:r>
            <a:r>
              <a:rPr lang="nl-NL" sz="2000" i="1" dirty="0" smtClean="0"/>
              <a:t>nooit</a:t>
            </a:r>
            <a:r>
              <a:rPr lang="nl-NL" sz="2000" dirty="0" smtClean="0"/>
              <a:t> op als individuconstanten.</a:t>
            </a:r>
          </a:p>
          <a:p>
            <a:endParaRPr lang="nl-NL" sz="2000" dirty="0" smtClean="0"/>
          </a:p>
          <a:p>
            <a:endParaRPr lang="nl-NL" sz="2000" dirty="0" smtClean="0"/>
          </a:p>
        </p:txBody>
      </p:sp>
      <p:sp>
        <p:nvSpPr>
          <p:cNvPr id="6" name="Content Placeholder 2"/>
          <p:cNvSpPr txBox="1">
            <a:spLocks/>
          </p:cNvSpPr>
          <p:nvPr/>
        </p:nvSpPr>
        <p:spPr>
          <a:xfrm>
            <a:off x="457200" y="2752328"/>
            <a:ext cx="8507288"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Het onderscheid tussen individuconstanten en </a:t>
            </a:r>
            <a:r>
              <a:rPr lang="nl-NL" sz="2000" dirty="0" err="1" smtClean="0"/>
              <a:t>predikaatletters</a:t>
            </a:r>
            <a:r>
              <a:rPr lang="nl-NL" sz="2000" dirty="0" smtClean="0"/>
              <a:t> komt   overeen met het ontologische onderscheid tussen objecten en attributen. Toch betekent het toekennen van een </a:t>
            </a:r>
            <a:r>
              <a:rPr lang="nl-NL" sz="2000" dirty="0" err="1" smtClean="0"/>
              <a:t>predikaat</a:t>
            </a:r>
            <a:r>
              <a:rPr lang="nl-NL" sz="2000" dirty="0" smtClean="0"/>
              <a:t> aan een individuterm                niet dat we ontologisch gehouden zijn aan het bestaan van beiden.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57200" y="414908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Wie bijvoorbeeld zegt ‘3 is even’ of Ma (a:3 , M:even) is nog geen realist met betrekking tot getallen en eigenschappen van getallen.</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Van </a:t>
            </a:r>
            <a:r>
              <a:rPr lang="nl-NL" sz="3600" dirty="0" smtClean="0">
                <a:solidFill>
                  <a:srgbClr val="0070C0"/>
                </a:solidFill>
              </a:rPr>
              <a:t>propositie-</a:t>
            </a:r>
            <a:r>
              <a:rPr lang="nl-NL" sz="3600" dirty="0" smtClean="0"/>
              <a:t> naar </a:t>
            </a:r>
            <a:r>
              <a:rPr lang="nl-NL" sz="3600" dirty="0" err="1" smtClean="0"/>
              <a:t>predikaatlogica</a:t>
            </a:r>
            <a:endParaRPr lang="nl-NL" sz="3600" dirty="0"/>
          </a:p>
        </p:txBody>
      </p:sp>
      <p:sp>
        <p:nvSpPr>
          <p:cNvPr id="3" name="Content Placeholder 2"/>
          <p:cNvSpPr>
            <a:spLocks noGrp="1"/>
          </p:cNvSpPr>
          <p:nvPr>
            <p:ph idx="1"/>
          </p:nvPr>
        </p:nvSpPr>
        <p:spPr>
          <a:xfrm>
            <a:off x="107504" y="1313910"/>
            <a:ext cx="2890664" cy="604663"/>
          </a:xfrm>
        </p:spPr>
        <p:txBody>
          <a:bodyPr>
            <a:noAutofit/>
          </a:bodyPr>
          <a:lstStyle/>
          <a:p>
            <a:pPr>
              <a:buNone/>
            </a:pPr>
            <a:r>
              <a:rPr lang="nl-NL" sz="2000" dirty="0" smtClean="0"/>
              <a:t>Zeven is niet even</a:t>
            </a:r>
          </a:p>
          <a:p>
            <a:endParaRPr lang="nl-NL" sz="2000" dirty="0" smtClean="0"/>
          </a:p>
        </p:txBody>
      </p:sp>
      <p:sp>
        <p:nvSpPr>
          <p:cNvPr id="10" name="Content Placeholder 2"/>
          <p:cNvSpPr txBox="1">
            <a:spLocks/>
          </p:cNvSpPr>
          <p:nvPr/>
        </p:nvSpPr>
        <p:spPr>
          <a:xfrm>
            <a:off x="457200" y="4275529"/>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252536" y="2403322"/>
            <a:ext cx="4906888" cy="964703"/>
          </a:xfrm>
          <a:prstGeom prst="rect">
            <a:avLst/>
          </a:prstGeom>
        </p:spPr>
        <p:txBody>
          <a:bodyPr vert="horz" lIns="91440" tIns="45720" rIns="91440" bIns="45720" rtlCol="0">
            <a:noAutofit/>
          </a:bodyPr>
          <a:lstStyle/>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a:t>
            </a:r>
            <a:r>
              <a:rPr kumimoji="0" lang="nl-NL" sz="2000" b="0" i="0" u="none" strike="noStrike" kern="1200" cap="none" spc="0" normalizeH="0" noProof="0" dirty="0" smtClean="0">
                <a:ln>
                  <a:noFill/>
                </a:ln>
                <a:solidFill>
                  <a:schemeClr val="tx1"/>
                </a:solidFill>
                <a:effectLst/>
                <a:uLnTx/>
                <a:uFillTx/>
                <a:latin typeface="+mn-lt"/>
                <a:ea typeface="+mn-ea"/>
                <a:cs typeface="+mn-cs"/>
              </a:rPr>
              <a:t> Jan niet op zijn werk is, dan is                              hij ziek of heeft hij vrij genomen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4211960" y="1765265"/>
            <a:ext cx="1584176" cy="400110"/>
          </a:xfrm>
          <a:prstGeom prst="rect">
            <a:avLst/>
          </a:prstGeom>
          <a:noFill/>
        </p:spPr>
        <p:txBody>
          <a:bodyPr wrap="square" rtlCol="0">
            <a:spAutoFit/>
          </a:bodyPr>
          <a:lstStyle/>
          <a:p>
            <a:r>
              <a:rPr lang="nl-NL" sz="2000" b="1" dirty="0" smtClean="0"/>
              <a:t>¬Fa</a:t>
            </a:r>
          </a:p>
        </p:txBody>
      </p:sp>
      <p:sp>
        <p:nvSpPr>
          <p:cNvPr id="11" name="TextBox 10"/>
          <p:cNvSpPr txBox="1"/>
          <p:nvPr/>
        </p:nvSpPr>
        <p:spPr>
          <a:xfrm>
            <a:off x="4283968" y="1261209"/>
            <a:ext cx="1584176" cy="400110"/>
          </a:xfrm>
          <a:prstGeom prst="rect">
            <a:avLst/>
          </a:prstGeom>
          <a:noFill/>
        </p:spPr>
        <p:txBody>
          <a:bodyPr wrap="square" rtlCol="0">
            <a:spAutoFit/>
          </a:bodyPr>
          <a:lstStyle/>
          <a:p>
            <a:r>
              <a:rPr lang="nl-NL" sz="2000" b="1" dirty="0" smtClean="0">
                <a:solidFill>
                  <a:srgbClr val="0070C0"/>
                </a:solidFill>
              </a:rPr>
              <a:t>¬p</a:t>
            </a:r>
          </a:p>
        </p:txBody>
      </p:sp>
      <p:sp>
        <p:nvSpPr>
          <p:cNvPr id="12" name="TextBox 11"/>
          <p:cNvSpPr txBox="1"/>
          <p:nvPr/>
        </p:nvSpPr>
        <p:spPr>
          <a:xfrm>
            <a:off x="5436096" y="1702549"/>
            <a:ext cx="1152128" cy="646331"/>
          </a:xfrm>
          <a:prstGeom prst="rect">
            <a:avLst/>
          </a:prstGeom>
          <a:noFill/>
        </p:spPr>
        <p:txBody>
          <a:bodyPr wrap="square" rtlCol="0">
            <a:spAutoFit/>
          </a:bodyPr>
          <a:lstStyle/>
          <a:p>
            <a:r>
              <a:rPr lang="nl-NL" dirty="0" smtClean="0"/>
              <a:t>a: zeven</a:t>
            </a:r>
          </a:p>
          <a:p>
            <a:r>
              <a:rPr lang="nl-NL" dirty="0" smtClean="0"/>
              <a:t>F: is even</a:t>
            </a:r>
            <a:endParaRPr lang="nl-NL" dirty="0"/>
          </a:p>
        </p:txBody>
      </p:sp>
      <p:sp>
        <p:nvSpPr>
          <p:cNvPr id="13" name="TextBox 12"/>
          <p:cNvSpPr txBox="1"/>
          <p:nvPr/>
        </p:nvSpPr>
        <p:spPr>
          <a:xfrm>
            <a:off x="4211960" y="2503929"/>
            <a:ext cx="1728192" cy="707886"/>
          </a:xfrm>
          <a:prstGeom prst="rect">
            <a:avLst/>
          </a:prstGeom>
          <a:noFill/>
        </p:spPr>
        <p:txBody>
          <a:bodyPr wrap="square" rtlCol="0">
            <a:spAutoFit/>
          </a:bodyPr>
          <a:lstStyle/>
          <a:p>
            <a:r>
              <a:rPr lang="nl-NL" sz="2000" b="1" dirty="0" smtClean="0">
                <a:solidFill>
                  <a:srgbClr val="0070C0"/>
                </a:solidFill>
              </a:rPr>
              <a:t>¬p → (q V r)</a:t>
            </a:r>
          </a:p>
          <a:p>
            <a:endParaRPr lang="nl-NL" sz="2000" dirty="0">
              <a:solidFill>
                <a:srgbClr val="0070C0"/>
              </a:solidFill>
            </a:endParaRPr>
          </a:p>
        </p:txBody>
      </p:sp>
      <p:sp>
        <p:nvSpPr>
          <p:cNvPr id="14" name="TextBox 13"/>
          <p:cNvSpPr txBox="1"/>
          <p:nvPr/>
        </p:nvSpPr>
        <p:spPr>
          <a:xfrm>
            <a:off x="6228184" y="2431921"/>
            <a:ext cx="2808312" cy="923330"/>
          </a:xfrm>
          <a:prstGeom prst="rect">
            <a:avLst/>
          </a:prstGeom>
          <a:noFill/>
        </p:spPr>
        <p:txBody>
          <a:bodyPr wrap="square" rtlCol="0">
            <a:spAutoFit/>
          </a:bodyPr>
          <a:lstStyle/>
          <a:p>
            <a:r>
              <a:rPr lang="nl-NL" dirty="0" smtClean="0">
                <a:solidFill>
                  <a:srgbClr val="0070C0"/>
                </a:solidFill>
              </a:rPr>
              <a:t>p: Jan is op zijn werk</a:t>
            </a:r>
          </a:p>
          <a:p>
            <a:r>
              <a:rPr lang="nl-NL" dirty="0" smtClean="0">
                <a:solidFill>
                  <a:srgbClr val="0070C0"/>
                </a:solidFill>
              </a:rPr>
              <a:t>q: Jan is ziek</a:t>
            </a:r>
          </a:p>
          <a:p>
            <a:r>
              <a:rPr lang="nl-NL" dirty="0" smtClean="0">
                <a:solidFill>
                  <a:srgbClr val="0070C0"/>
                </a:solidFill>
              </a:rPr>
              <a:t>r: Jan heeft vrijgenomen </a:t>
            </a:r>
          </a:p>
        </p:txBody>
      </p:sp>
      <p:sp>
        <p:nvSpPr>
          <p:cNvPr id="15" name="TextBox 14"/>
          <p:cNvSpPr txBox="1"/>
          <p:nvPr/>
        </p:nvSpPr>
        <p:spPr>
          <a:xfrm>
            <a:off x="4211960" y="3561983"/>
            <a:ext cx="2232248" cy="707886"/>
          </a:xfrm>
          <a:prstGeom prst="rect">
            <a:avLst/>
          </a:prstGeom>
          <a:noFill/>
        </p:spPr>
        <p:txBody>
          <a:bodyPr wrap="square" rtlCol="0">
            <a:spAutoFit/>
          </a:bodyPr>
          <a:lstStyle/>
          <a:p>
            <a:r>
              <a:rPr lang="nl-NL" sz="2000" b="1" dirty="0" smtClean="0"/>
              <a:t>¬Fa → (Ga V Ha)</a:t>
            </a:r>
          </a:p>
          <a:p>
            <a:endParaRPr lang="nl-NL" sz="2000" dirty="0"/>
          </a:p>
        </p:txBody>
      </p:sp>
      <p:sp>
        <p:nvSpPr>
          <p:cNvPr id="16" name="TextBox 15"/>
          <p:cNvSpPr txBox="1"/>
          <p:nvPr/>
        </p:nvSpPr>
        <p:spPr>
          <a:xfrm>
            <a:off x="6228184" y="3356992"/>
            <a:ext cx="2808312" cy="1200329"/>
          </a:xfrm>
          <a:prstGeom prst="rect">
            <a:avLst/>
          </a:prstGeom>
          <a:noFill/>
        </p:spPr>
        <p:txBody>
          <a:bodyPr wrap="square" rtlCol="0">
            <a:spAutoFit/>
          </a:bodyPr>
          <a:lstStyle/>
          <a:p>
            <a:r>
              <a:rPr lang="nl-NL" dirty="0" smtClean="0"/>
              <a:t>a: Jan</a:t>
            </a:r>
          </a:p>
          <a:p>
            <a:r>
              <a:rPr lang="nl-NL" dirty="0" smtClean="0"/>
              <a:t>F: is op zijn werk</a:t>
            </a:r>
          </a:p>
          <a:p>
            <a:r>
              <a:rPr lang="nl-NL" dirty="0" smtClean="0"/>
              <a:t>G: is ziek</a:t>
            </a:r>
          </a:p>
          <a:p>
            <a:r>
              <a:rPr lang="nl-NL" dirty="0" smtClean="0"/>
              <a:t>H: heeft vrij genomen</a:t>
            </a:r>
          </a:p>
        </p:txBody>
      </p:sp>
      <p:sp>
        <p:nvSpPr>
          <p:cNvPr id="17" name="TextBox 16"/>
          <p:cNvSpPr txBox="1"/>
          <p:nvPr/>
        </p:nvSpPr>
        <p:spPr>
          <a:xfrm>
            <a:off x="5436096" y="1270501"/>
            <a:ext cx="1800200" cy="369332"/>
          </a:xfrm>
          <a:prstGeom prst="rect">
            <a:avLst/>
          </a:prstGeom>
          <a:noFill/>
        </p:spPr>
        <p:txBody>
          <a:bodyPr wrap="square" rtlCol="0">
            <a:spAutoFit/>
          </a:bodyPr>
          <a:lstStyle/>
          <a:p>
            <a:r>
              <a:rPr lang="nl-NL" dirty="0" smtClean="0">
                <a:solidFill>
                  <a:srgbClr val="0070C0"/>
                </a:solidFill>
              </a:rPr>
              <a:t>p: zeven is even</a:t>
            </a:r>
            <a:endParaRPr lang="nl-NL" dirty="0">
              <a:solidFill>
                <a:srgbClr val="0070C0"/>
              </a:solidFill>
            </a:endParaRPr>
          </a:p>
        </p:txBody>
      </p:sp>
      <p:sp>
        <p:nvSpPr>
          <p:cNvPr id="18" name="Content Placeholder 2"/>
          <p:cNvSpPr txBox="1">
            <a:spLocks/>
          </p:cNvSpPr>
          <p:nvPr/>
        </p:nvSpPr>
        <p:spPr>
          <a:xfrm>
            <a:off x="-262880" y="4496872"/>
            <a:ext cx="4906888" cy="964703"/>
          </a:xfrm>
          <a:prstGeom prst="rect">
            <a:avLst/>
          </a:prstGeom>
        </p:spPr>
        <p:txBody>
          <a:bodyPr vert="horz" lIns="91440" tIns="45720" rIns="91440" bIns="45720" rtlCol="0">
            <a:noAutofit/>
          </a:bodyPr>
          <a:lstStyle/>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6 is even, maar geen kwadraat</a:t>
            </a:r>
          </a:p>
        </p:txBody>
      </p:sp>
      <p:sp>
        <p:nvSpPr>
          <p:cNvPr id="19" name="TextBox 18"/>
          <p:cNvSpPr txBox="1"/>
          <p:nvPr/>
        </p:nvSpPr>
        <p:spPr>
          <a:xfrm>
            <a:off x="4211960" y="4527212"/>
            <a:ext cx="2232248" cy="707886"/>
          </a:xfrm>
          <a:prstGeom prst="rect">
            <a:avLst/>
          </a:prstGeom>
          <a:noFill/>
        </p:spPr>
        <p:txBody>
          <a:bodyPr wrap="square" rtlCol="0">
            <a:spAutoFit/>
          </a:bodyPr>
          <a:lstStyle/>
          <a:p>
            <a:r>
              <a:rPr lang="nl-NL" sz="2000" b="1" dirty="0" err="1" smtClean="0"/>
              <a:t>Ea</a:t>
            </a:r>
            <a:r>
              <a:rPr lang="nl-NL" sz="2000" b="1" dirty="0" smtClean="0"/>
              <a:t> ∧</a:t>
            </a:r>
            <a:r>
              <a:rPr lang="nl-NL" sz="2000" dirty="0" smtClean="0"/>
              <a:t> </a:t>
            </a:r>
            <a:r>
              <a:rPr lang="nl-NL" sz="2000" b="1" dirty="0" smtClean="0"/>
              <a:t>¬Ka</a:t>
            </a:r>
          </a:p>
          <a:p>
            <a:endParaRPr lang="nl-NL" sz="2000" dirty="0"/>
          </a:p>
        </p:txBody>
      </p:sp>
      <p:sp>
        <p:nvSpPr>
          <p:cNvPr id="20" name="TextBox 19"/>
          <p:cNvSpPr txBox="1"/>
          <p:nvPr/>
        </p:nvSpPr>
        <p:spPr>
          <a:xfrm>
            <a:off x="6228184" y="4593902"/>
            <a:ext cx="2808312" cy="923330"/>
          </a:xfrm>
          <a:prstGeom prst="rect">
            <a:avLst/>
          </a:prstGeom>
          <a:noFill/>
        </p:spPr>
        <p:txBody>
          <a:bodyPr wrap="square" rtlCol="0">
            <a:spAutoFit/>
          </a:bodyPr>
          <a:lstStyle/>
          <a:p>
            <a:r>
              <a:rPr lang="nl-NL" dirty="0" smtClean="0"/>
              <a:t>a: zes</a:t>
            </a:r>
          </a:p>
          <a:p>
            <a:r>
              <a:rPr lang="nl-NL" dirty="0" smtClean="0"/>
              <a:t>E: is even</a:t>
            </a:r>
          </a:p>
          <a:p>
            <a:r>
              <a:rPr lang="nl-NL" dirty="0" smtClean="0"/>
              <a:t>K: is kwadraat</a:t>
            </a:r>
          </a:p>
        </p:txBody>
      </p:sp>
      <p:sp>
        <p:nvSpPr>
          <p:cNvPr id="21" name="Content Placeholder 2"/>
          <p:cNvSpPr txBox="1">
            <a:spLocks/>
          </p:cNvSpPr>
          <p:nvPr/>
        </p:nvSpPr>
        <p:spPr>
          <a:xfrm>
            <a:off x="-262880" y="5733256"/>
            <a:ext cx="4906888" cy="964703"/>
          </a:xfrm>
          <a:prstGeom prst="rect">
            <a:avLst/>
          </a:prstGeom>
        </p:spPr>
        <p:txBody>
          <a:bodyPr vert="horz" lIns="91440" tIns="45720" rIns="91440" bIns="45720" rtlCol="0">
            <a:noAutofit/>
          </a:bodyPr>
          <a:lstStyle/>
          <a:p>
            <a:pPr marL="342900" marR="0" lvl="0" indent="-342900" defTabSz="914400" rtl="0" eaLnBrk="1" fontAlgn="auto" latinLnBrk="0" hangingPunct="1">
              <a:lnSpc>
                <a:spcPct val="100000"/>
              </a:lnSpc>
              <a:spcBef>
                <a:spcPct val="20000"/>
              </a:spcBef>
              <a:spcAft>
                <a:spcPts val="0"/>
              </a:spcAft>
              <a:buClrTx/>
              <a:buSzTx/>
              <a:buFont typeface="Arial" pitchFamily="34" charset="0"/>
              <a:buNone/>
              <a:tabLst/>
              <a:defRPr/>
            </a:pPr>
            <a:r>
              <a:rPr lang="nl-NL" sz="2000" dirty="0" smtClean="0"/>
              <a:t>	Als 2 een oneven priemgetal is, dan                       is de maan van kaas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2" name="TextBox 21"/>
          <p:cNvSpPr txBox="1"/>
          <p:nvPr/>
        </p:nvSpPr>
        <p:spPr>
          <a:xfrm>
            <a:off x="6228184" y="5602014"/>
            <a:ext cx="2808312" cy="1200329"/>
          </a:xfrm>
          <a:prstGeom prst="rect">
            <a:avLst/>
          </a:prstGeom>
          <a:noFill/>
        </p:spPr>
        <p:txBody>
          <a:bodyPr wrap="square" rtlCol="0">
            <a:spAutoFit/>
          </a:bodyPr>
          <a:lstStyle/>
          <a:p>
            <a:r>
              <a:rPr lang="nl-NL" dirty="0" smtClean="0"/>
              <a:t>a: twee                   m: maan</a:t>
            </a:r>
          </a:p>
          <a:p>
            <a:r>
              <a:rPr lang="nl-NL" dirty="0" smtClean="0"/>
              <a:t>E: is even</a:t>
            </a:r>
          </a:p>
          <a:p>
            <a:r>
              <a:rPr lang="nl-NL" dirty="0" smtClean="0"/>
              <a:t>P: is priemgetal</a:t>
            </a:r>
          </a:p>
          <a:p>
            <a:r>
              <a:rPr lang="nl-NL" dirty="0" smtClean="0"/>
              <a:t>K: is van kaas</a:t>
            </a:r>
          </a:p>
        </p:txBody>
      </p:sp>
      <p:sp>
        <p:nvSpPr>
          <p:cNvPr id="23" name="TextBox 22"/>
          <p:cNvSpPr txBox="1"/>
          <p:nvPr/>
        </p:nvSpPr>
        <p:spPr>
          <a:xfrm>
            <a:off x="4139952" y="5662989"/>
            <a:ext cx="2232248" cy="1015663"/>
          </a:xfrm>
          <a:prstGeom prst="rect">
            <a:avLst/>
          </a:prstGeom>
          <a:noFill/>
        </p:spPr>
        <p:txBody>
          <a:bodyPr wrap="square" rtlCol="0">
            <a:spAutoFit/>
          </a:bodyPr>
          <a:lstStyle/>
          <a:p>
            <a:r>
              <a:rPr lang="nl-NL" sz="2000" b="1" dirty="0" smtClean="0"/>
              <a:t>(¬</a:t>
            </a:r>
            <a:r>
              <a:rPr lang="nl-NL" sz="2000" b="1" dirty="0" err="1" smtClean="0"/>
              <a:t>Ea</a:t>
            </a:r>
            <a:r>
              <a:rPr lang="nl-NL" sz="2000" b="1" dirty="0" smtClean="0"/>
              <a:t> ∧</a:t>
            </a:r>
            <a:r>
              <a:rPr lang="nl-NL" sz="2000" dirty="0" smtClean="0"/>
              <a:t> </a:t>
            </a:r>
            <a:r>
              <a:rPr lang="nl-NL" sz="2000" b="1" dirty="0" smtClean="0"/>
              <a:t>Pa) → Km</a:t>
            </a:r>
          </a:p>
          <a:p>
            <a:endParaRPr lang="nl-NL" sz="2000" b="1" dirty="0" smtClean="0"/>
          </a:p>
          <a:p>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xEl>
                                              <p:pRg st="0" end="0"/>
                                            </p:txEl>
                                          </p:spTgt>
                                        </p:tgtEl>
                                        <p:attrNameLst>
                                          <p:attrName>style.visibility</p:attrName>
                                        </p:attrNameLst>
                                      </p:cBhvr>
                                      <p:to>
                                        <p:strVal val="visible"/>
                                      </p:to>
                                    </p:set>
                                    <p:animEffect transition="in" filter="fade">
                                      <p:cBhvr>
                                        <p:cTn id="10" dur="2000"/>
                                        <p:tgtEl>
                                          <p:spTgt spid="1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xEl>
                                              <p:pRg st="0" end="0"/>
                                            </p:txEl>
                                          </p:spTgt>
                                        </p:tgtEl>
                                        <p:attrNameLst>
                                          <p:attrName>style.visibility</p:attrName>
                                        </p:attrNameLst>
                                      </p:cBhvr>
                                      <p:to>
                                        <p:strVal val="visible"/>
                                      </p:to>
                                    </p:set>
                                    <p:animEffect transition="in" filter="fade">
                                      <p:cBhvr>
                                        <p:cTn id="18" dur="2000"/>
                                        <p:tgtEl>
                                          <p:spTgt spid="12">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animEffect transition="in" filter="fade">
                                      <p:cBhvr>
                                        <p:cTn id="21" dur="2000"/>
                                        <p:tgtEl>
                                          <p:spTgt spid="12">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xEl>
                                              <p:pRg st="0" end="0"/>
                                            </p:txEl>
                                          </p:spTgt>
                                        </p:tgtEl>
                                        <p:attrNameLst>
                                          <p:attrName>style.visibility</p:attrName>
                                        </p:attrNameLst>
                                      </p:cBhvr>
                                      <p:to>
                                        <p:strVal val="visible"/>
                                      </p:to>
                                    </p:set>
                                    <p:animEffect transition="in" filter="fade">
                                      <p:cBhvr>
                                        <p:cTn id="26" dur="2000"/>
                                        <p:tgtEl>
                                          <p:spTgt spid="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fade">
                                      <p:cBhvr>
                                        <p:cTn id="31" dur="2000"/>
                                        <p:tgtEl>
                                          <p:spTgt spid="13">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xEl>
                                              <p:pRg st="0" end="0"/>
                                            </p:txEl>
                                          </p:spTgt>
                                        </p:tgtEl>
                                        <p:attrNameLst>
                                          <p:attrName>style.visibility</p:attrName>
                                        </p:attrNameLst>
                                      </p:cBhvr>
                                      <p:to>
                                        <p:strVal val="visible"/>
                                      </p:to>
                                    </p:set>
                                    <p:animEffect transition="in" filter="fade">
                                      <p:cBhvr>
                                        <p:cTn id="34" dur="2000"/>
                                        <p:tgtEl>
                                          <p:spTgt spid="14">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xEl>
                                              <p:pRg st="1" end="1"/>
                                            </p:txEl>
                                          </p:spTgt>
                                        </p:tgtEl>
                                        <p:attrNameLst>
                                          <p:attrName>style.visibility</p:attrName>
                                        </p:attrNameLst>
                                      </p:cBhvr>
                                      <p:to>
                                        <p:strVal val="visible"/>
                                      </p:to>
                                    </p:set>
                                    <p:animEffect transition="in" filter="fade">
                                      <p:cBhvr>
                                        <p:cTn id="37" dur="2000"/>
                                        <p:tgtEl>
                                          <p:spTgt spid="14">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xEl>
                                              <p:pRg st="2" end="2"/>
                                            </p:txEl>
                                          </p:spTgt>
                                        </p:tgtEl>
                                        <p:attrNameLst>
                                          <p:attrName>style.visibility</p:attrName>
                                        </p:attrNameLst>
                                      </p:cBhvr>
                                      <p:to>
                                        <p:strVal val="visible"/>
                                      </p:to>
                                    </p:set>
                                    <p:animEffect transition="in" filter="fade">
                                      <p:cBhvr>
                                        <p:cTn id="40" dur="2000"/>
                                        <p:tgtEl>
                                          <p:spTgt spid="14">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xEl>
                                              <p:pRg st="0" end="0"/>
                                            </p:txEl>
                                          </p:spTgt>
                                        </p:tgtEl>
                                        <p:attrNameLst>
                                          <p:attrName>style.visibility</p:attrName>
                                        </p:attrNameLst>
                                      </p:cBhvr>
                                      <p:to>
                                        <p:strVal val="visible"/>
                                      </p:to>
                                    </p:set>
                                    <p:animEffect transition="in" filter="fade">
                                      <p:cBhvr>
                                        <p:cTn id="45" dur="2000"/>
                                        <p:tgtEl>
                                          <p:spTgt spid="15">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xEl>
                                              <p:pRg st="0" end="0"/>
                                            </p:txEl>
                                          </p:spTgt>
                                        </p:tgtEl>
                                        <p:attrNameLst>
                                          <p:attrName>style.visibility</p:attrName>
                                        </p:attrNameLst>
                                      </p:cBhvr>
                                      <p:to>
                                        <p:strVal val="visible"/>
                                      </p:to>
                                    </p:set>
                                    <p:animEffect transition="in" filter="fade">
                                      <p:cBhvr>
                                        <p:cTn id="48" dur="2000"/>
                                        <p:tgtEl>
                                          <p:spTgt spid="16">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xEl>
                                              <p:pRg st="1" end="1"/>
                                            </p:txEl>
                                          </p:spTgt>
                                        </p:tgtEl>
                                        <p:attrNameLst>
                                          <p:attrName>style.visibility</p:attrName>
                                        </p:attrNameLst>
                                      </p:cBhvr>
                                      <p:to>
                                        <p:strVal val="visible"/>
                                      </p:to>
                                    </p:set>
                                    <p:animEffect transition="in" filter="fade">
                                      <p:cBhvr>
                                        <p:cTn id="51" dur="2000"/>
                                        <p:tgtEl>
                                          <p:spTgt spid="16">
                                            <p:txEl>
                                              <p:pRg st="1" end="1"/>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6">
                                            <p:txEl>
                                              <p:pRg st="2" end="2"/>
                                            </p:txEl>
                                          </p:spTgt>
                                        </p:tgtEl>
                                        <p:attrNameLst>
                                          <p:attrName>style.visibility</p:attrName>
                                        </p:attrNameLst>
                                      </p:cBhvr>
                                      <p:to>
                                        <p:strVal val="visible"/>
                                      </p:to>
                                    </p:set>
                                    <p:animEffect transition="in" filter="fade">
                                      <p:cBhvr>
                                        <p:cTn id="54" dur="2000"/>
                                        <p:tgtEl>
                                          <p:spTgt spid="16">
                                            <p:txEl>
                                              <p:pRg st="2" end="2"/>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xEl>
                                              <p:pRg st="3" end="3"/>
                                            </p:txEl>
                                          </p:spTgt>
                                        </p:tgtEl>
                                        <p:attrNameLst>
                                          <p:attrName>style.visibility</p:attrName>
                                        </p:attrNameLst>
                                      </p:cBhvr>
                                      <p:to>
                                        <p:strVal val="visible"/>
                                      </p:to>
                                    </p:set>
                                    <p:animEffect transition="in" filter="fade">
                                      <p:cBhvr>
                                        <p:cTn id="57" dur="2000"/>
                                        <p:tgtEl>
                                          <p:spTgt spid="16">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8">
                                            <p:txEl>
                                              <p:pRg st="0" end="0"/>
                                            </p:txEl>
                                          </p:spTgt>
                                        </p:tgtEl>
                                        <p:attrNameLst>
                                          <p:attrName>style.visibility</p:attrName>
                                        </p:attrNameLst>
                                      </p:cBhvr>
                                      <p:to>
                                        <p:strVal val="visible"/>
                                      </p:to>
                                    </p:set>
                                    <p:animEffect transition="in" filter="fade">
                                      <p:cBhvr>
                                        <p:cTn id="62" dur="2000"/>
                                        <p:tgtEl>
                                          <p:spTgt spid="18">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9">
                                            <p:txEl>
                                              <p:pRg st="0" end="0"/>
                                            </p:txEl>
                                          </p:spTgt>
                                        </p:tgtEl>
                                        <p:attrNameLst>
                                          <p:attrName>style.visibility</p:attrName>
                                        </p:attrNameLst>
                                      </p:cBhvr>
                                      <p:to>
                                        <p:strVal val="visible"/>
                                      </p:to>
                                    </p:set>
                                    <p:animEffect transition="in" filter="fade">
                                      <p:cBhvr>
                                        <p:cTn id="67" dur="2000"/>
                                        <p:tgtEl>
                                          <p:spTgt spid="19">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0">
                                            <p:txEl>
                                              <p:pRg st="0" end="0"/>
                                            </p:txEl>
                                          </p:spTgt>
                                        </p:tgtEl>
                                        <p:attrNameLst>
                                          <p:attrName>style.visibility</p:attrName>
                                        </p:attrNameLst>
                                      </p:cBhvr>
                                      <p:to>
                                        <p:strVal val="visible"/>
                                      </p:to>
                                    </p:set>
                                    <p:animEffect transition="in" filter="fade">
                                      <p:cBhvr>
                                        <p:cTn id="70" dur="2000"/>
                                        <p:tgtEl>
                                          <p:spTgt spid="20">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0">
                                            <p:txEl>
                                              <p:pRg st="1" end="1"/>
                                            </p:txEl>
                                          </p:spTgt>
                                        </p:tgtEl>
                                        <p:attrNameLst>
                                          <p:attrName>style.visibility</p:attrName>
                                        </p:attrNameLst>
                                      </p:cBhvr>
                                      <p:to>
                                        <p:strVal val="visible"/>
                                      </p:to>
                                    </p:set>
                                    <p:animEffect transition="in" filter="fade">
                                      <p:cBhvr>
                                        <p:cTn id="73" dur="2000"/>
                                        <p:tgtEl>
                                          <p:spTgt spid="20">
                                            <p:txEl>
                                              <p:pRg st="1" end="1"/>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0">
                                            <p:txEl>
                                              <p:pRg st="2" end="2"/>
                                            </p:txEl>
                                          </p:spTgt>
                                        </p:tgtEl>
                                        <p:attrNameLst>
                                          <p:attrName>style.visibility</p:attrName>
                                        </p:attrNameLst>
                                      </p:cBhvr>
                                      <p:to>
                                        <p:strVal val="visible"/>
                                      </p:to>
                                    </p:set>
                                    <p:animEffect transition="in" filter="fade">
                                      <p:cBhvr>
                                        <p:cTn id="76" dur="2000"/>
                                        <p:tgtEl>
                                          <p:spTgt spid="20">
                                            <p:txEl>
                                              <p:pRg st="2" end="2"/>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1">
                                            <p:txEl>
                                              <p:pRg st="0" end="0"/>
                                            </p:txEl>
                                          </p:spTgt>
                                        </p:tgtEl>
                                        <p:attrNameLst>
                                          <p:attrName>style.visibility</p:attrName>
                                        </p:attrNameLst>
                                      </p:cBhvr>
                                      <p:to>
                                        <p:strVal val="visible"/>
                                      </p:to>
                                    </p:set>
                                    <p:animEffect transition="in" filter="fade">
                                      <p:cBhvr>
                                        <p:cTn id="81" dur="2000"/>
                                        <p:tgtEl>
                                          <p:spTgt spid="21">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2">
                                            <p:txEl>
                                              <p:pRg st="0" end="0"/>
                                            </p:txEl>
                                          </p:spTgt>
                                        </p:tgtEl>
                                        <p:attrNameLst>
                                          <p:attrName>style.visibility</p:attrName>
                                        </p:attrNameLst>
                                      </p:cBhvr>
                                      <p:to>
                                        <p:strVal val="visible"/>
                                      </p:to>
                                    </p:set>
                                    <p:animEffect transition="in" filter="fade">
                                      <p:cBhvr>
                                        <p:cTn id="86" dur="2000"/>
                                        <p:tgtEl>
                                          <p:spTgt spid="22">
                                            <p:txEl>
                                              <p:pRg st="0" end="0"/>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2">
                                            <p:txEl>
                                              <p:pRg st="1" end="1"/>
                                            </p:txEl>
                                          </p:spTgt>
                                        </p:tgtEl>
                                        <p:attrNameLst>
                                          <p:attrName>style.visibility</p:attrName>
                                        </p:attrNameLst>
                                      </p:cBhvr>
                                      <p:to>
                                        <p:strVal val="visible"/>
                                      </p:to>
                                    </p:set>
                                    <p:animEffect transition="in" filter="fade">
                                      <p:cBhvr>
                                        <p:cTn id="89" dur="2000"/>
                                        <p:tgtEl>
                                          <p:spTgt spid="22">
                                            <p:txEl>
                                              <p:pRg st="1" end="1"/>
                                            </p:tx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2">
                                            <p:txEl>
                                              <p:pRg st="2" end="2"/>
                                            </p:txEl>
                                          </p:spTgt>
                                        </p:tgtEl>
                                        <p:attrNameLst>
                                          <p:attrName>style.visibility</p:attrName>
                                        </p:attrNameLst>
                                      </p:cBhvr>
                                      <p:to>
                                        <p:strVal val="visible"/>
                                      </p:to>
                                    </p:set>
                                    <p:animEffect transition="in" filter="fade">
                                      <p:cBhvr>
                                        <p:cTn id="92" dur="2000"/>
                                        <p:tgtEl>
                                          <p:spTgt spid="22">
                                            <p:txEl>
                                              <p:pRg st="2" end="2"/>
                                            </p:tx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22">
                                            <p:txEl>
                                              <p:pRg st="3" end="3"/>
                                            </p:txEl>
                                          </p:spTgt>
                                        </p:tgtEl>
                                        <p:attrNameLst>
                                          <p:attrName>style.visibility</p:attrName>
                                        </p:attrNameLst>
                                      </p:cBhvr>
                                      <p:to>
                                        <p:strVal val="visible"/>
                                      </p:to>
                                    </p:set>
                                    <p:animEffect transition="in" filter="fade">
                                      <p:cBhvr>
                                        <p:cTn id="95" dur="2000"/>
                                        <p:tgtEl>
                                          <p:spTgt spid="22">
                                            <p:txEl>
                                              <p:pRg st="3" end="3"/>
                                            </p:txEl>
                                          </p:spTgt>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3">
                                            <p:txEl>
                                              <p:pRg st="0" end="0"/>
                                            </p:txEl>
                                          </p:spTgt>
                                        </p:tgtEl>
                                        <p:attrNameLst>
                                          <p:attrName>style.visibility</p:attrName>
                                        </p:attrNameLst>
                                      </p:cBhvr>
                                      <p:to>
                                        <p:strVal val="visible"/>
                                      </p:to>
                                    </p:set>
                                    <p:animEffect transition="in" filter="fade">
                                      <p:cBhvr>
                                        <p:cTn id="98" dur="20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P spid="11" grpId="0" build="allAtOnce"/>
      <p:bldP spid="12"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P spid="22" grpId="0" build="allAtOnce"/>
      <p:bldP spid="23" grpId="0" build="allAtOnce"/>
    </p:bld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1234480" cy="676671"/>
          </a:xfrm>
        </p:spPr>
        <p:txBody>
          <a:bodyPr>
            <a:noAutofit/>
          </a:bodyPr>
          <a:lstStyle/>
          <a:p>
            <a:pPr>
              <a:buNone/>
            </a:pPr>
            <a:r>
              <a:rPr lang="nl-NL" sz="2000" dirty="0" smtClean="0"/>
              <a:t>Jan lacht</a:t>
            </a:r>
          </a:p>
          <a:p>
            <a:endParaRPr lang="nl-NL" sz="2000" dirty="0" smtClean="0"/>
          </a:p>
        </p:txBody>
      </p:sp>
      <p:sp>
        <p:nvSpPr>
          <p:cNvPr id="6" name="Content Placeholder 2"/>
          <p:cNvSpPr txBox="1">
            <a:spLocks/>
          </p:cNvSpPr>
          <p:nvPr/>
        </p:nvSpPr>
        <p:spPr>
          <a:xfrm>
            <a:off x="179512" y="2348880"/>
            <a:ext cx="2736304" cy="27649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Iedereen</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Niemand</a:t>
            </a:r>
            <a:r>
              <a:rPr lang="nl-NL" sz="2000" dirty="0" smtClean="0"/>
              <a:t> lacht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Sommigen</a:t>
            </a:r>
            <a:r>
              <a:rPr kumimoji="0" lang="nl-NL" sz="2000" b="0" u="none" strike="noStrike" kern="1200" cap="none" spc="0" normalizeH="0" noProof="0" dirty="0" smtClean="0">
                <a:ln>
                  <a:noFill/>
                </a:ln>
                <a:solidFill>
                  <a:schemeClr val="tx1"/>
                </a:solidFill>
                <a:effectLst/>
                <a:uLnTx/>
                <a:uFillTx/>
                <a:latin typeface="+mn-lt"/>
                <a:ea typeface="+mn-ea"/>
                <a:cs typeface="+mn-cs"/>
              </a:rPr>
              <a:t> lachen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Sommigen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Iemand</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Velen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Weinigen</a:t>
            </a:r>
            <a:r>
              <a:rPr kumimoji="0" lang="nl-NL" sz="2000" b="0" u="none" strike="noStrike" kern="1200" cap="none" spc="0" normalizeH="0" noProof="0" dirty="0" smtClean="0">
                <a:ln>
                  <a:noFill/>
                </a:ln>
                <a:solidFill>
                  <a:schemeClr val="tx1"/>
                </a:solidFill>
                <a:effectLst/>
                <a:uLnTx/>
                <a:uFillTx/>
                <a:latin typeface="+mn-lt"/>
                <a:ea typeface="+mn-ea"/>
                <a:cs typeface="+mn-cs"/>
              </a:rPr>
              <a:t> lachen niet</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TextBox 14"/>
          <p:cNvSpPr txBox="1"/>
          <p:nvPr/>
        </p:nvSpPr>
        <p:spPr>
          <a:xfrm>
            <a:off x="2278088" y="1547500"/>
            <a:ext cx="1584176" cy="400110"/>
          </a:xfrm>
          <a:prstGeom prst="rect">
            <a:avLst/>
          </a:prstGeom>
          <a:noFill/>
        </p:spPr>
        <p:txBody>
          <a:bodyPr wrap="square" rtlCol="0">
            <a:spAutoFit/>
          </a:bodyPr>
          <a:lstStyle/>
          <a:p>
            <a:r>
              <a:rPr lang="nl-NL" sz="2000" b="1" dirty="0" smtClean="0"/>
              <a:t>Fa</a:t>
            </a:r>
          </a:p>
        </p:txBody>
      </p:sp>
      <p:sp>
        <p:nvSpPr>
          <p:cNvPr id="16" name="TextBox 15"/>
          <p:cNvSpPr txBox="1"/>
          <p:nvPr/>
        </p:nvSpPr>
        <p:spPr>
          <a:xfrm>
            <a:off x="3502224" y="1484784"/>
            <a:ext cx="1152128" cy="646331"/>
          </a:xfrm>
          <a:prstGeom prst="rect">
            <a:avLst/>
          </a:prstGeom>
          <a:noFill/>
        </p:spPr>
        <p:txBody>
          <a:bodyPr wrap="square" rtlCol="0">
            <a:spAutoFit/>
          </a:bodyPr>
          <a:lstStyle/>
          <a:p>
            <a:r>
              <a:rPr lang="nl-NL" dirty="0" smtClean="0"/>
              <a:t>a: Jan</a:t>
            </a:r>
          </a:p>
          <a:p>
            <a:r>
              <a:rPr lang="nl-NL" dirty="0" smtClean="0"/>
              <a:t>F: lacht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2000"/>
                                        <p:tgtEl>
                                          <p:spTgt spid="1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animEffect transition="in" filter="fade">
                                      <p:cBhvr>
                                        <p:cTn id="15" dur="2000"/>
                                        <p:tgtEl>
                                          <p:spTgt spid="1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xEl>
                                              <p:pRg st="1" end="1"/>
                                            </p:txEl>
                                          </p:spTgt>
                                        </p:tgtEl>
                                        <p:attrNameLst>
                                          <p:attrName>style.visibility</p:attrName>
                                        </p:attrNameLst>
                                      </p:cBhvr>
                                      <p:to>
                                        <p:strVal val="visible"/>
                                      </p:to>
                                    </p:set>
                                    <p:animEffect transition="in" filter="fade">
                                      <p:cBhvr>
                                        <p:cTn id="18" dur="2000"/>
                                        <p:tgtEl>
                                          <p:spTgt spid="1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fade">
                                      <p:cBhvr>
                                        <p:cTn id="23" dur="2000"/>
                                        <p:tgtEl>
                                          <p:spTgt spid="6">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1" end="1"/>
                                            </p:txEl>
                                          </p:spTgt>
                                        </p:tgtEl>
                                        <p:attrNameLst>
                                          <p:attrName>style.visibility</p:attrName>
                                        </p:attrNameLst>
                                      </p:cBhvr>
                                      <p:to>
                                        <p:strVal val="visible"/>
                                      </p:to>
                                    </p:set>
                                    <p:animEffect transition="in" filter="fade">
                                      <p:cBhvr>
                                        <p:cTn id="26" dur="2000"/>
                                        <p:tgtEl>
                                          <p:spTgt spid="6">
                                            <p:txEl>
                                              <p:pRg st="1" end="1"/>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animEffect transition="in" filter="fade">
                                      <p:cBhvr>
                                        <p:cTn id="29" dur="2000"/>
                                        <p:tgtEl>
                                          <p:spTgt spid="6">
                                            <p:txEl>
                                              <p:pRg st="2" end="2"/>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fade">
                                      <p:cBhvr>
                                        <p:cTn id="32" dur="2000"/>
                                        <p:tgtEl>
                                          <p:spTgt spid="6">
                                            <p:txEl>
                                              <p:pRg st="3" end="3"/>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2000"/>
                                        <p:tgtEl>
                                          <p:spTgt spid="6">
                                            <p:txEl>
                                              <p:pRg st="4" end="4"/>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6">
                                            <p:txEl>
                                              <p:pRg st="5" end="5"/>
                                            </p:txEl>
                                          </p:spTgt>
                                        </p:tgtEl>
                                        <p:attrNameLst>
                                          <p:attrName>style.visibility</p:attrName>
                                        </p:attrNameLst>
                                      </p:cBhvr>
                                      <p:to>
                                        <p:strVal val="visible"/>
                                      </p:to>
                                    </p:set>
                                    <p:animEffect transition="in" filter="fade">
                                      <p:cBhvr>
                                        <p:cTn id="38" dur="2000"/>
                                        <p:tgtEl>
                                          <p:spTgt spid="6">
                                            <p:txEl>
                                              <p:pRg st="5" end="5"/>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20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6" grpId="0" build="allAtOnce"/>
      <p:bldP spid="15" grpId="0" build="allAtOnce"/>
      <p:bldP spid="16" grpId="0" build="allAtOnce"/>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1234480" cy="676671"/>
          </a:xfrm>
        </p:spPr>
        <p:txBody>
          <a:bodyPr>
            <a:noAutofit/>
          </a:bodyPr>
          <a:lstStyle/>
          <a:p>
            <a:pPr>
              <a:buNone/>
            </a:pPr>
            <a:r>
              <a:rPr lang="nl-NL" sz="2000" dirty="0" smtClean="0"/>
              <a:t>Jan lacht</a:t>
            </a:r>
          </a:p>
          <a:p>
            <a:endParaRPr lang="nl-NL" sz="2000" dirty="0" smtClean="0"/>
          </a:p>
        </p:txBody>
      </p:sp>
      <p:sp>
        <p:nvSpPr>
          <p:cNvPr id="6" name="Content Placeholder 2"/>
          <p:cNvSpPr txBox="1">
            <a:spLocks/>
          </p:cNvSpPr>
          <p:nvPr/>
        </p:nvSpPr>
        <p:spPr>
          <a:xfrm>
            <a:off x="179512" y="2348880"/>
            <a:ext cx="2736304" cy="27649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rgbClr val="C00000"/>
                </a:solidFill>
                <a:effectLst/>
                <a:uLnTx/>
                <a:uFillTx/>
                <a:latin typeface="+mn-lt"/>
                <a:ea typeface="+mn-ea"/>
                <a:cs typeface="+mn-cs"/>
              </a:rPr>
              <a:t>Iedereen</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solidFill>
                  <a:srgbClr val="C00000"/>
                </a:solidFill>
              </a:rPr>
              <a:t>Niemand</a:t>
            </a:r>
            <a:r>
              <a:rPr lang="nl-NL" sz="2000" dirty="0" smtClean="0">
                <a:solidFill>
                  <a:schemeClr val="accent6">
                    <a:lumMod val="75000"/>
                  </a:schemeClr>
                </a:solidFill>
              </a:rPr>
              <a:t> </a:t>
            </a:r>
            <a:r>
              <a:rPr lang="nl-NL" sz="2000" dirty="0" smtClean="0"/>
              <a:t>lacht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rgbClr val="C00000"/>
                </a:solidFill>
                <a:effectLst/>
                <a:uLnTx/>
                <a:uFillTx/>
                <a:latin typeface="+mn-lt"/>
                <a:ea typeface="+mn-ea"/>
                <a:cs typeface="+mn-cs"/>
              </a:rPr>
              <a:t>Sommigen</a:t>
            </a:r>
            <a:r>
              <a:rPr kumimoji="0" lang="nl-NL" sz="2000" b="0" u="none" strike="noStrike" kern="1200" cap="none" spc="0" normalizeH="0" noProof="0" dirty="0" smtClean="0">
                <a:ln>
                  <a:noFill/>
                </a:ln>
                <a:solidFill>
                  <a:schemeClr val="tx1"/>
                </a:solidFill>
                <a:effectLst/>
                <a:uLnTx/>
                <a:uFillTx/>
                <a:latin typeface="+mn-lt"/>
                <a:ea typeface="+mn-ea"/>
                <a:cs typeface="+mn-cs"/>
              </a:rPr>
              <a:t> lachen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solidFill>
                  <a:srgbClr val="C00000"/>
                </a:solidFill>
              </a:rPr>
              <a:t>Sommigen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rgbClr val="C00000"/>
                </a:solidFill>
                <a:effectLst/>
                <a:uLnTx/>
                <a:uFillTx/>
                <a:latin typeface="+mn-lt"/>
                <a:ea typeface="+mn-ea"/>
                <a:cs typeface="+mn-cs"/>
              </a:rPr>
              <a:t>Iemand</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solidFill>
                  <a:srgbClr val="C00000"/>
                </a:solidFill>
              </a:rPr>
              <a:t>Velen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rgbClr val="C00000"/>
                </a:solidFill>
                <a:effectLst/>
                <a:uLnTx/>
                <a:uFillTx/>
                <a:latin typeface="+mn-lt"/>
                <a:ea typeface="+mn-ea"/>
                <a:cs typeface="+mn-cs"/>
              </a:rPr>
              <a:t>Weinigen</a:t>
            </a:r>
            <a:r>
              <a:rPr kumimoji="0" lang="nl-NL" sz="2000" b="0" u="none" strike="noStrike" kern="1200" cap="none" spc="0" normalizeH="0" noProof="0" dirty="0" smtClean="0">
                <a:ln>
                  <a:noFill/>
                </a:ln>
                <a:solidFill>
                  <a:schemeClr val="tx1"/>
                </a:solidFill>
                <a:effectLst/>
                <a:uLnTx/>
                <a:uFillTx/>
                <a:latin typeface="+mn-lt"/>
                <a:ea typeface="+mn-ea"/>
                <a:cs typeface="+mn-cs"/>
              </a:rPr>
              <a:t> lachen niet</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TextBox 14"/>
          <p:cNvSpPr txBox="1"/>
          <p:nvPr/>
        </p:nvSpPr>
        <p:spPr>
          <a:xfrm>
            <a:off x="2278088" y="1547500"/>
            <a:ext cx="1584176" cy="400110"/>
          </a:xfrm>
          <a:prstGeom prst="rect">
            <a:avLst/>
          </a:prstGeom>
          <a:noFill/>
        </p:spPr>
        <p:txBody>
          <a:bodyPr wrap="square" rtlCol="0">
            <a:spAutoFit/>
          </a:bodyPr>
          <a:lstStyle/>
          <a:p>
            <a:r>
              <a:rPr lang="nl-NL" sz="2000" b="1" dirty="0" smtClean="0"/>
              <a:t>Fa</a:t>
            </a:r>
          </a:p>
        </p:txBody>
      </p:sp>
      <p:sp>
        <p:nvSpPr>
          <p:cNvPr id="16" name="TextBox 15"/>
          <p:cNvSpPr txBox="1"/>
          <p:nvPr/>
        </p:nvSpPr>
        <p:spPr>
          <a:xfrm>
            <a:off x="3502224" y="1484784"/>
            <a:ext cx="1152128" cy="646331"/>
          </a:xfrm>
          <a:prstGeom prst="rect">
            <a:avLst/>
          </a:prstGeom>
          <a:noFill/>
        </p:spPr>
        <p:txBody>
          <a:bodyPr wrap="square" rtlCol="0">
            <a:spAutoFit/>
          </a:bodyPr>
          <a:lstStyle/>
          <a:p>
            <a:r>
              <a:rPr lang="nl-NL" dirty="0" smtClean="0"/>
              <a:t>a: Jan</a:t>
            </a:r>
          </a:p>
          <a:p>
            <a:r>
              <a:rPr lang="nl-NL" dirty="0" smtClean="0"/>
              <a:t>F: lacht</a:t>
            </a:r>
            <a:endParaRPr lang="nl-NL" dirty="0"/>
          </a:p>
        </p:txBody>
      </p:sp>
      <p:sp>
        <p:nvSpPr>
          <p:cNvPr id="17" name="TextBox 16"/>
          <p:cNvSpPr txBox="1"/>
          <p:nvPr/>
        </p:nvSpPr>
        <p:spPr>
          <a:xfrm>
            <a:off x="3995936" y="2361654"/>
            <a:ext cx="4896544" cy="646331"/>
          </a:xfrm>
          <a:prstGeom prst="rect">
            <a:avLst/>
          </a:prstGeom>
          <a:noFill/>
        </p:spPr>
        <p:txBody>
          <a:bodyPr wrap="square" rtlCol="0">
            <a:spAutoFit/>
          </a:bodyPr>
          <a:lstStyle/>
          <a:p>
            <a:r>
              <a:rPr lang="nl-NL" dirty="0" smtClean="0">
                <a:solidFill>
                  <a:srgbClr val="C00000"/>
                </a:solidFill>
              </a:rPr>
              <a:t>Onbepaalde voornaamwoorden </a:t>
            </a:r>
            <a:r>
              <a:rPr lang="nl-NL" dirty="0" smtClean="0"/>
              <a:t>kunnen niet door een individuconstante gerepresenteerd worden.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1234480" cy="676671"/>
          </a:xfrm>
        </p:spPr>
        <p:txBody>
          <a:bodyPr>
            <a:noAutofit/>
          </a:bodyPr>
          <a:lstStyle/>
          <a:p>
            <a:pPr>
              <a:buNone/>
            </a:pPr>
            <a:r>
              <a:rPr lang="nl-NL" sz="2000" dirty="0" smtClean="0"/>
              <a:t>Jan lacht</a:t>
            </a:r>
          </a:p>
          <a:p>
            <a:endParaRPr lang="nl-NL" sz="2000" dirty="0" smtClean="0"/>
          </a:p>
        </p:txBody>
      </p:sp>
      <p:sp>
        <p:nvSpPr>
          <p:cNvPr id="6" name="Content Placeholder 2"/>
          <p:cNvSpPr txBox="1">
            <a:spLocks/>
          </p:cNvSpPr>
          <p:nvPr/>
        </p:nvSpPr>
        <p:spPr>
          <a:xfrm>
            <a:off x="179512" y="2348880"/>
            <a:ext cx="2736304" cy="27649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Iedereen</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Niemand</a:t>
            </a:r>
            <a:r>
              <a:rPr lang="nl-NL" sz="2000" dirty="0" smtClean="0"/>
              <a:t> lacht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Sommigen</a:t>
            </a:r>
            <a:r>
              <a:rPr kumimoji="0" lang="nl-NL" sz="2000" b="0" u="none" strike="noStrike" kern="1200" cap="none" spc="0" normalizeH="0" noProof="0" dirty="0" smtClean="0">
                <a:ln>
                  <a:noFill/>
                </a:ln>
                <a:solidFill>
                  <a:schemeClr val="tx1"/>
                </a:solidFill>
                <a:effectLst/>
                <a:uLnTx/>
                <a:uFillTx/>
                <a:latin typeface="+mn-lt"/>
                <a:ea typeface="+mn-ea"/>
                <a:cs typeface="+mn-cs"/>
              </a:rPr>
              <a:t> lachen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Sommigen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Iemand</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Velen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Weinigen</a:t>
            </a:r>
            <a:r>
              <a:rPr kumimoji="0" lang="nl-NL" sz="2000" b="0" u="none" strike="noStrike" kern="1200" cap="none" spc="0" normalizeH="0" noProof="0" dirty="0" smtClean="0">
                <a:ln>
                  <a:noFill/>
                </a:ln>
                <a:solidFill>
                  <a:schemeClr val="tx1"/>
                </a:solidFill>
                <a:effectLst/>
                <a:uLnTx/>
                <a:uFillTx/>
                <a:latin typeface="+mn-lt"/>
                <a:ea typeface="+mn-ea"/>
                <a:cs typeface="+mn-cs"/>
              </a:rPr>
              <a:t> lachen niet</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TextBox 14"/>
          <p:cNvSpPr txBox="1"/>
          <p:nvPr/>
        </p:nvSpPr>
        <p:spPr>
          <a:xfrm>
            <a:off x="2278088" y="1547500"/>
            <a:ext cx="1584176" cy="400110"/>
          </a:xfrm>
          <a:prstGeom prst="rect">
            <a:avLst/>
          </a:prstGeom>
          <a:noFill/>
        </p:spPr>
        <p:txBody>
          <a:bodyPr wrap="square" rtlCol="0">
            <a:spAutoFit/>
          </a:bodyPr>
          <a:lstStyle/>
          <a:p>
            <a:r>
              <a:rPr lang="nl-NL" sz="2000" b="1" dirty="0" smtClean="0"/>
              <a:t>Fa</a:t>
            </a:r>
          </a:p>
        </p:txBody>
      </p:sp>
      <p:sp>
        <p:nvSpPr>
          <p:cNvPr id="16" name="TextBox 15"/>
          <p:cNvSpPr txBox="1"/>
          <p:nvPr/>
        </p:nvSpPr>
        <p:spPr>
          <a:xfrm>
            <a:off x="3502224" y="1484784"/>
            <a:ext cx="1152128" cy="646331"/>
          </a:xfrm>
          <a:prstGeom prst="rect">
            <a:avLst/>
          </a:prstGeom>
          <a:noFill/>
        </p:spPr>
        <p:txBody>
          <a:bodyPr wrap="square" rtlCol="0">
            <a:spAutoFit/>
          </a:bodyPr>
          <a:lstStyle/>
          <a:p>
            <a:r>
              <a:rPr lang="nl-NL" dirty="0" smtClean="0"/>
              <a:t>a: Jan</a:t>
            </a:r>
          </a:p>
          <a:p>
            <a:r>
              <a:rPr lang="nl-NL" dirty="0" smtClean="0"/>
              <a:t>F: lacht</a:t>
            </a:r>
            <a:endParaRPr lang="nl-NL" dirty="0"/>
          </a:p>
        </p:txBody>
      </p:sp>
      <p:sp>
        <p:nvSpPr>
          <p:cNvPr id="17" name="TextBox 16"/>
          <p:cNvSpPr txBox="1"/>
          <p:nvPr/>
        </p:nvSpPr>
        <p:spPr>
          <a:xfrm>
            <a:off x="3995936" y="2361654"/>
            <a:ext cx="4896544" cy="646331"/>
          </a:xfrm>
          <a:prstGeom prst="rect">
            <a:avLst/>
          </a:prstGeom>
          <a:noFill/>
        </p:spPr>
        <p:txBody>
          <a:bodyPr wrap="square" rtlCol="0">
            <a:spAutoFit/>
          </a:bodyPr>
          <a:lstStyle/>
          <a:p>
            <a:r>
              <a:rPr lang="nl-NL" dirty="0" smtClean="0"/>
              <a:t>Onbepaalde voornaamwoorden kunnen niet door een individuconstante gerepresenteerd worden. </a:t>
            </a:r>
            <a:endParaRPr lang="nl-NL" dirty="0"/>
          </a:p>
        </p:txBody>
      </p:sp>
      <p:sp>
        <p:nvSpPr>
          <p:cNvPr id="18" name="TextBox 17"/>
          <p:cNvSpPr txBox="1"/>
          <p:nvPr/>
        </p:nvSpPr>
        <p:spPr>
          <a:xfrm>
            <a:off x="3995936" y="2996952"/>
            <a:ext cx="4896544" cy="923330"/>
          </a:xfrm>
          <a:prstGeom prst="rect">
            <a:avLst/>
          </a:prstGeom>
          <a:noFill/>
        </p:spPr>
        <p:txBody>
          <a:bodyPr wrap="square" rtlCol="0">
            <a:spAutoFit/>
          </a:bodyPr>
          <a:lstStyle/>
          <a:p>
            <a:r>
              <a:rPr lang="nl-NL" dirty="0" smtClean="0"/>
              <a:t>Om dit soort beweringen te kunnen representeren in de </a:t>
            </a:r>
            <a:r>
              <a:rPr lang="nl-NL" dirty="0" err="1" smtClean="0"/>
              <a:t>predikaatlogica</a:t>
            </a:r>
            <a:r>
              <a:rPr lang="nl-NL" dirty="0" smtClean="0"/>
              <a:t> hebben we </a:t>
            </a:r>
            <a:r>
              <a:rPr lang="nl-NL" u="sng" dirty="0" smtClean="0"/>
              <a:t>drie</a:t>
            </a:r>
            <a:r>
              <a:rPr lang="nl-NL" dirty="0" smtClean="0"/>
              <a:t> aanvullingen nodig: </a:t>
            </a:r>
            <a:r>
              <a:rPr lang="nl-NL" i="1" dirty="0" smtClean="0"/>
              <a:t>domein</a:t>
            </a:r>
            <a:r>
              <a:rPr lang="nl-NL" dirty="0" smtClean="0"/>
              <a:t>, </a:t>
            </a:r>
            <a:r>
              <a:rPr lang="nl-NL" i="1" dirty="0" smtClean="0"/>
              <a:t>kwantoren </a:t>
            </a:r>
            <a:r>
              <a:rPr lang="nl-NL" dirty="0" smtClean="0"/>
              <a:t>en </a:t>
            </a:r>
            <a:r>
              <a:rPr lang="nl-NL" i="1" dirty="0" smtClean="0"/>
              <a:t>individuvariabelen</a:t>
            </a:r>
            <a:endParaRPr lang="nl-NL" i="1" dirty="0"/>
          </a:p>
        </p:txBody>
      </p:sp>
      <p:sp>
        <p:nvSpPr>
          <p:cNvPr id="10" name="TextBox 9"/>
          <p:cNvSpPr txBox="1"/>
          <p:nvPr/>
        </p:nvSpPr>
        <p:spPr>
          <a:xfrm>
            <a:off x="4211960" y="5302949"/>
            <a:ext cx="3816424" cy="646331"/>
          </a:xfrm>
          <a:prstGeom prst="rect">
            <a:avLst/>
          </a:prstGeom>
          <a:noFill/>
        </p:spPr>
        <p:txBody>
          <a:bodyPr wrap="square" rtlCol="0">
            <a:spAutoFit/>
          </a:bodyPr>
          <a:lstStyle/>
          <a:p>
            <a:r>
              <a:rPr lang="nl-NL" u="sng" dirty="0" smtClean="0"/>
              <a:t>Universele</a:t>
            </a:r>
            <a:r>
              <a:rPr lang="nl-NL" dirty="0" smtClean="0"/>
              <a:t> </a:t>
            </a:r>
            <a:r>
              <a:rPr lang="nl-NL" dirty="0" err="1" smtClean="0"/>
              <a:t>kwantor</a:t>
            </a:r>
            <a:r>
              <a:rPr lang="nl-NL" dirty="0" smtClean="0"/>
              <a:t> (</a:t>
            </a:r>
            <a:r>
              <a:rPr lang="nl-NL" b="1" dirty="0" smtClean="0"/>
              <a:t>∀</a:t>
            </a:r>
            <a:r>
              <a:rPr lang="nl-NL" dirty="0" smtClean="0"/>
              <a:t>): ‘Voor alle objecten in het domein D geldt dat….’</a:t>
            </a:r>
            <a:endParaRPr lang="nl-NL" dirty="0"/>
          </a:p>
        </p:txBody>
      </p:sp>
      <p:sp>
        <p:nvSpPr>
          <p:cNvPr id="11" name="TextBox 10"/>
          <p:cNvSpPr txBox="1"/>
          <p:nvPr/>
        </p:nvSpPr>
        <p:spPr>
          <a:xfrm>
            <a:off x="4211960" y="5951021"/>
            <a:ext cx="4680520" cy="646331"/>
          </a:xfrm>
          <a:prstGeom prst="rect">
            <a:avLst/>
          </a:prstGeom>
          <a:noFill/>
        </p:spPr>
        <p:txBody>
          <a:bodyPr wrap="square" rtlCol="0">
            <a:spAutoFit/>
          </a:bodyPr>
          <a:lstStyle/>
          <a:p>
            <a:r>
              <a:rPr lang="nl-NL" u="sng" dirty="0" smtClean="0"/>
              <a:t>Existentiële</a:t>
            </a:r>
            <a:r>
              <a:rPr lang="nl-NL" dirty="0" smtClean="0"/>
              <a:t> </a:t>
            </a:r>
            <a:r>
              <a:rPr lang="nl-NL" dirty="0" err="1" smtClean="0"/>
              <a:t>kwantor</a:t>
            </a:r>
            <a:r>
              <a:rPr lang="nl-NL" dirty="0" smtClean="0"/>
              <a:t> (</a:t>
            </a:r>
            <a:r>
              <a:rPr lang="nl-NL" b="1" dirty="0" smtClean="0"/>
              <a:t>∃</a:t>
            </a:r>
            <a:r>
              <a:rPr lang="nl-NL" dirty="0" smtClean="0"/>
              <a:t>): ‘Er is tenminste één object in het domein D waarvoor geldt dat….’</a:t>
            </a:r>
            <a:endParaRPr lang="nl-NL" dirty="0"/>
          </a:p>
        </p:txBody>
      </p:sp>
      <p:sp>
        <p:nvSpPr>
          <p:cNvPr id="12" name="TextBox 11"/>
          <p:cNvSpPr txBox="1"/>
          <p:nvPr/>
        </p:nvSpPr>
        <p:spPr>
          <a:xfrm>
            <a:off x="3995936" y="3933056"/>
            <a:ext cx="4680520" cy="923330"/>
          </a:xfrm>
          <a:prstGeom prst="rect">
            <a:avLst/>
          </a:prstGeom>
          <a:noFill/>
        </p:spPr>
        <p:txBody>
          <a:bodyPr wrap="square" rtlCol="0">
            <a:spAutoFit/>
          </a:bodyPr>
          <a:lstStyle/>
          <a:p>
            <a:r>
              <a:rPr lang="nl-NL" dirty="0" smtClean="0"/>
              <a:t>1. Het </a:t>
            </a:r>
            <a:r>
              <a:rPr lang="nl-NL" i="1" dirty="0" smtClean="0"/>
              <a:t>domein</a:t>
            </a:r>
            <a:r>
              <a:rPr lang="nl-NL" dirty="0" smtClean="0"/>
              <a:t> </a:t>
            </a:r>
            <a:r>
              <a:rPr lang="nl-NL" b="1" dirty="0" smtClean="0"/>
              <a:t>D</a:t>
            </a:r>
            <a:r>
              <a:rPr lang="nl-NL" dirty="0" smtClean="0"/>
              <a:t> is de verzameling objecten waarop </a:t>
            </a:r>
            <a:r>
              <a:rPr lang="nl-NL" dirty="0" err="1" smtClean="0"/>
              <a:t>predikaatletters</a:t>
            </a:r>
            <a:r>
              <a:rPr lang="nl-NL" dirty="0" smtClean="0"/>
              <a:t> betrekking hebben en waar individuconstanten naar wijzen (‘mensen’)</a:t>
            </a:r>
            <a:endParaRPr lang="nl-NL" dirty="0"/>
          </a:p>
        </p:txBody>
      </p:sp>
      <p:sp>
        <p:nvSpPr>
          <p:cNvPr id="13" name="TextBox 12"/>
          <p:cNvSpPr txBox="1"/>
          <p:nvPr/>
        </p:nvSpPr>
        <p:spPr>
          <a:xfrm>
            <a:off x="3995936" y="4931876"/>
            <a:ext cx="4752528" cy="369332"/>
          </a:xfrm>
          <a:prstGeom prst="rect">
            <a:avLst/>
          </a:prstGeom>
          <a:noFill/>
        </p:spPr>
        <p:txBody>
          <a:bodyPr wrap="square" rtlCol="0">
            <a:spAutoFit/>
          </a:bodyPr>
          <a:lstStyle/>
          <a:p>
            <a:r>
              <a:rPr lang="nl-NL" dirty="0" smtClean="0"/>
              <a:t>2. Er zijn twee typen </a:t>
            </a:r>
            <a:r>
              <a:rPr lang="nl-NL" i="1" dirty="0" smtClean="0"/>
              <a:t>kwantoren </a:t>
            </a:r>
            <a:r>
              <a:rPr lang="nl-NL" dirty="0" smtClean="0"/>
              <a:t>vereist</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20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20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fade">
                                      <p:cBhvr>
                                        <p:cTn id="22" dur="20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fade">
                                      <p:cBhvr>
                                        <p:cTn id="27"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0" grpId="0" build="allAtOnce"/>
      <p:bldP spid="11" grpId="0" build="allAtOnce"/>
      <p:bldP spid="12" grpId="0" build="allAtOnce"/>
      <p:bldP spid="13" grpId="0" build="allAtOnce"/>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1234480" cy="676671"/>
          </a:xfrm>
        </p:spPr>
        <p:txBody>
          <a:bodyPr>
            <a:noAutofit/>
          </a:bodyPr>
          <a:lstStyle/>
          <a:p>
            <a:pPr>
              <a:buNone/>
            </a:pPr>
            <a:r>
              <a:rPr lang="nl-NL" sz="2000" dirty="0" smtClean="0"/>
              <a:t>Jan lacht</a:t>
            </a:r>
          </a:p>
          <a:p>
            <a:endParaRPr lang="nl-NL" sz="2000" dirty="0" smtClean="0"/>
          </a:p>
        </p:txBody>
      </p:sp>
      <p:sp>
        <p:nvSpPr>
          <p:cNvPr id="6" name="Content Placeholder 2"/>
          <p:cNvSpPr txBox="1">
            <a:spLocks/>
          </p:cNvSpPr>
          <p:nvPr/>
        </p:nvSpPr>
        <p:spPr>
          <a:xfrm>
            <a:off x="179512" y="2348880"/>
            <a:ext cx="8363272" cy="276490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Iedereen</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Niemand</a:t>
            </a:r>
            <a:r>
              <a:rPr lang="nl-NL" sz="2000" dirty="0" smtClean="0"/>
              <a:t> lacht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Sommigen</a:t>
            </a:r>
            <a:r>
              <a:rPr kumimoji="0" lang="nl-NL" sz="2000" b="0" u="none" strike="noStrike" kern="1200" cap="none" spc="0" normalizeH="0" noProof="0" dirty="0" smtClean="0">
                <a:ln>
                  <a:noFill/>
                </a:ln>
                <a:solidFill>
                  <a:schemeClr val="tx1"/>
                </a:solidFill>
                <a:effectLst/>
                <a:uLnTx/>
                <a:uFillTx/>
                <a:latin typeface="+mn-lt"/>
                <a:ea typeface="+mn-ea"/>
                <a:cs typeface="+mn-cs"/>
              </a:rPr>
              <a:t> lachen</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Sommigen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Iemand</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Velen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Weinigen</a:t>
            </a:r>
            <a:r>
              <a:rPr kumimoji="0" lang="nl-NL" sz="2000" b="0" u="none" strike="noStrike" kern="1200" cap="none" spc="0" normalizeH="0" noProof="0" dirty="0" smtClean="0">
                <a:ln>
                  <a:noFill/>
                </a:ln>
                <a:solidFill>
                  <a:schemeClr val="tx1"/>
                </a:solidFill>
                <a:effectLst/>
                <a:uLnTx/>
                <a:uFillTx/>
                <a:latin typeface="+mn-lt"/>
                <a:ea typeface="+mn-ea"/>
                <a:cs typeface="+mn-cs"/>
              </a:rPr>
              <a:t> lachen niet</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TextBox 14"/>
          <p:cNvSpPr txBox="1"/>
          <p:nvPr/>
        </p:nvSpPr>
        <p:spPr>
          <a:xfrm>
            <a:off x="2278088" y="1547500"/>
            <a:ext cx="1584176" cy="400110"/>
          </a:xfrm>
          <a:prstGeom prst="rect">
            <a:avLst/>
          </a:prstGeom>
          <a:noFill/>
        </p:spPr>
        <p:txBody>
          <a:bodyPr wrap="square" rtlCol="0">
            <a:spAutoFit/>
          </a:bodyPr>
          <a:lstStyle/>
          <a:p>
            <a:r>
              <a:rPr lang="nl-NL" sz="2000" b="1" dirty="0" smtClean="0"/>
              <a:t>Fa</a:t>
            </a:r>
          </a:p>
        </p:txBody>
      </p:sp>
      <p:sp>
        <p:nvSpPr>
          <p:cNvPr id="16" name="TextBox 15"/>
          <p:cNvSpPr txBox="1"/>
          <p:nvPr/>
        </p:nvSpPr>
        <p:spPr>
          <a:xfrm>
            <a:off x="3502224" y="1484784"/>
            <a:ext cx="1152128" cy="646331"/>
          </a:xfrm>
          <a:prstGeom prst="rect">
            <a:avLst/>
          </a:prstGeom>
          <a:noFill/>
        </p:spPr>
        <p:txBody>
          <a:bodyPr wrap="square" rtlCol="0">
            <a:spAutoFit/>
          </a:bodyPr>
          <a:lstStyle/>
          <a:p>
            <a:r>
              <a:rPr lang="nl-NL" dirty="0" smtClean="0"/>
              <a:t>a: Jan</a:t>
            </a:r>
          </a:p>
          <a:p>
            <a:r>
              <a:rPr lang="nl-NL" dirty="0" smtClean="0"/>
              <a:t>F: lacht</a:t>
            </a:r>
            <a:endParaRPr lang="nl-NL" dirty="0"/>
          </a:p>
        </p:txBody>
      </p:sp>
      <p:sp>
        <p:nvSpPr>
          <p:cNvPr id="17" name="TextBox 16"/>
          <p:cNvSpPr txBox="1"/>
          <p:nvPr/>
        </p:nvSpPr>
        <p:spPr>
          <a:xfrm>
            <a:off x="3995936" y="2361654"/>
            <a:ext cx="4896544" cy="646331"/>
          </a:xfrm>
          <a:prstGeom prst="rect">
            <a:avLst/>
          </a:prstGeom>
          <a:noFill/>
        </p:spPr>
        <p:txBody>
          <a:bodyPr wrap="square" rtlCol="0">
            <a:spAutoFit/>
          </a:bodyPr>
          <a:lstStyle/>
          <a:p>
            <a:r>
              <a:rPr lang="nl-NL" dirty="0" smtClean="0"/>
              <a:t>Onbepaalde voornaamwoorden kunnen niet door een individuconstante gerepresenteerd worden. </a:t>
            </a:r>
            <a:endParaRPr lang="nl-NL" dirty="0"/>
          </a:p>
        </p:txBody>
      </p:sp>
      <p:sp>
        <p:nvSpPr>
          <p:cNvPr id="18" name="TextBox 17"/>
          <p:cNvSpPr txBox="1"/>
          <p:nvPr/>
        </p:nvSpPr>
        <p:spPr>
          <a:xfrm>
            <a:off x="3995936" y="2996952"/>
            <a:ext cx="4896544" cy="923330"/>
          </a:xfrm>
          <a:prstGeom prst="rect">
            <a:avLst/>
          </a:prstGeom>
          <a:noFill/>
        </p:spPr>
        <p:txBody>
          <a:bodyPr wrap="square" rtlCol="0">
            <a:spAutoFit/>
          </a:bodyPr>
          <a:lstStyle/>
          <a:p>
            <a:r>
              <a:rPr lang="nl-NL" dirty="0" smtClean="0"/>
              <a:t>Om dit soort beweringen te kunnen representeren in de </a:t>
            </a:r>
            <a:r>
              <a:rPr lang="nl-NL" dirty="0" err="1" smtClean="0"/>
              <a:t>predikaatlogica</a:t>
            </a:r>
            <a:r>
              <a:rPr lang="nl-NL" dirty="0" smtClean="0"/>
              <a:t> hebben we </a:t>
            </a:r>
            <a:r>
              <a:rPr lang="nl-NL" u="sng" dirty="0" smtClean="0"/>
              <a:t>drie</a:t>
            </a:r>
            <a:r>
              <a:rPr lang="nl-NL" dirty="0" smtClean="0"/>
              <a:t> aanvullingen nodig: </a:t>
            </a:r>
            <a:r>
              <a:rPr lang="nl-NL" i="1" dirty="0" smtClean="0"/>
              <a:t>domein</a:t>
            </a:r>
            <a:r>
              <a:rPr lang="nl-NL" dirty="0" smtClean="0"/>
              <a:t>, </a:t>
            </a:r>
            <a:r>
              <a:rPr lang="nl-NL" i="1" dirty="0" smtClean="0"/>
              <a:t>kwantoren </a:t>
            </a:r>
            <a:r>
              <a:rPr lang="nl-NL" dirty="0" smtClean="0"/>
              <a:t>en </a:t>
            </a:r>
            <a:r>
              <a:rPr lang="nl-NL" i="1" dirty="0" smtClean="0"/>
              <a:t>individuvariabelen</a:t>
            </a:r>
            <a:endParaRPr lang="nl-NL" i="1" dirty="0"/>
          </a:p>
        </p:txBody>
      </p:sp>
      <p:sp>
        <p:nvSpPr>
          <p:cNvPr id="12" name="TextBox 11"/>
          <p:cNvSpPr txBox="1"/>
          <p:nvPr/>
        </p:nvSpPr>
        <p:spPr>
          <a:xfrm>
            <a:off x="3995936" y="4111912"/>
            <a:ext cx="4608512" cy="1200329"/>
          </a:xfrm>
          <a:prstGeom prst="rect">
            <a:avLst/>
          </a:prstGeom>
          <a:noFill/>
        </p:spPr>
        <p:txBody>
          <a:bodyPr wrap="square" rtlCol="0">
            <a:spAutoFit/>
          </a:bodyPr>
          <a:lstStyle/>
          <a:p>
            <a:r>
              <a:rPr lang="nl-NL" dirty="0" smtClean="0"/>
              <a:t>3.</a:t>
            </a:r>
            <a:r>
              <a:rPr lang="nl-NL" i="1" dirty="0" smtClean="0"/>
              <a:t> Individuvariabelen</a:t>
            </a:r>
            <a:r>
              <a:rPr lang="nl-NL" dirty="0" smtClean="0"/>
              <a:t> verwijzen op onbepaalde               wijze naar objecten uit het domein D. Een individuvariabele duidt anders gezegd een willekeurig object uit het domein D aan.</a:t>
            </a:r>
            <a:endParaRPr lang="nl-NL" dirty="0"/>
          </a:p>
        </p:txBody>
      </p:sp>
      <p:sp>
        <p:nvSpPr>
          <p:cNvPr id="14" name="TextBox 13"/>
          <p:cNvSpPr txBox="1"/>
          <p:nvPr/>
        </p:nvSpPr>
        <p:spPr>
          <a:xfrm>
            <a:off x="3995936" y="5325015"/>
            <a:ext cx="4680520" cy="646331"/>
          </a:xfrm>
          <a:prstGeom prst="rect">
            <a:avLst/>
          </a:prstGeom>
          <a:noFill/>
        </p:spPr>
        <p:txBody>
          <a:bodyPr wrap="square" rtlCol="0">
            <a:spAutoFit/>
          </a:bodyPr>
          <a:lstStyle/>
          <a:p>
            <a:r>
              <a:rPr lang="nl-NL" i="1" dirty="0" smtClean="0"/>
              <a:t>Individuvariabelen</a:t>
            </a:r>
            <a:r>
              <a:rPr lang="nl-NL" dirty="0" smtClean="0"/>
              <a:t> geven we aan door kleine letters, typisch </a:t>
            </a:r>
            <a:r>
              <a:rPr lang="nl-NL" b="1" dirty="0" smtClean="0"/>
              <a:t>x</a:t>
            </a:r>
            <a:r>
              <a:rPr lang="nl-NL" dirty="0" smtClean="0"/>
              <a:t>, </a:t>
            </a:r>
            <a:r>
              <a:rPr lang="nl-NL" b="1" dirty="0" smtClean="0"/>
              <a:t>y</a:t>
            </a:r>
            <a:r>
              <a:rPr lang="nl-NL" dirty="0" smtClean="0"/>
              <a:t> en </a:t>
            </a:r>
            <a:r>
              <a:rPr lang="nl-NL" b="1" dirty="0" smtClean="0"/>
              <a:t>z</a:t>
            </a:r>
            <a:r>
              <a:rPr lang="nl-NL"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1234480" cy="676671"/>
          </a:xfrm>
        </p:spPr>
        <p:txBody>
          <a:bodyPr>
            <a:noAutofit/>
          </a:bodyPr>
          <a:lstStyle/>
          <a:p>
            <a:pPr>
              <a:buNone/>
            </a:pPr>
            <a:r>
              <a:rPr lang="nl-NL" sz="2000" dirty="0" smtClean="0"/>
              <a:t>Jan lacht</a:t>
            </a:r>
          </a:p>
          <a:p>
            <a:endParaRPr lang="nl-NL" sz="2000" dirty="0" smtClean="0"/>
          </a:p>
        </p:txBody>
      </p:sp>
      <p:sp>
        <p:nvSpPr>
          <p:cNvPr id="6" name="Content Placeholder 2"/>
          <p:cNvSpPr txBox="1">
            <a:spLocks/>
          </p:cNvSpPr>
          <p:nvPr/>
        </p:nvSpPr>
        <p:spPr>
          <a:xfrm>
            <a:off x="179512" y="2348880"/>
            <a:ext cx="2664296" cy="41044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Iedereen</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baseline="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Niemand</a:t>
            </a:r>
            <a:r>
              <a:rPr lang="nl-NL" sz="2000" dirty="0" smtClean="0"/>
              <a:t> lacht</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8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Sommigen</a:t>
            </a:r>
            <a:r>
              <a:rPr kumimoji="0" lang="nl-NL" sz="2000" b="0" u="none" strike="noStrike" kern="1200" cap="none" spc="0" normalizeH="0" noProof="0" dirty="0" smtClean="0">
                <a:ln>
                  <a:noFill/>
                </a:ln>
                <a:solidFill>
                  <a:schemeClr val="tx1"/>
                </a:solidFill>
                <a:effectLst/>
                <a:uLnTx/>
                <a:uFillTx/>
                <a:latin typeface="+mn-lt"/>
                <a:ea typeface="+mn-ea"/>
                <a:cs typeface="+mn-cs"/>
              </a:rPr>
              <a:t> lachen</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baseline="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Sommigen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8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Iemand</a:t>
            </a:r>
            <a:r>
              <a:rPr kumimoji="0" lang="nl-NL" sz="2000" b="0" u="none" strike="noStrike" kern="1200" cap="none" spc="0" normalizeH="0" noProof="0" dirty="0" smtClean="0">
                <a:ln>
                  <a:noFill/>
                </a:ln>
                <a:solidFill>
                  <a:schemeClr val="tx1"/>
                </a:solidFill>
                <a:effectLst/>
                <a:uLnTx/>
                <a:uFillTx/>
                <a:latin typeface="+mn-lt"/>
                <a:ea typeface="+mn-ea"/>
                <a:cs typeface="+mn-cs"/>
              </a:rPr>
              <a:t> lacht</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baseline="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aseline="0" dirty="0" smtClean="0"/>
              <a:t>Velen</a:t>
            </a:r>
            <a:r>
              <a:rPr lang="nl-NL" sz="2000" dirty="0" smtClean="0"/>
              <a:t> lachen niet</a:t>
            </a: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8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u="none" strike="noStrike" kern="1200" cap="none" spc="0" normalizeH="0" baseline="0" noProof="0" dirty="0" smtClean="0">
                <a:ln>
                  <a:noFill/>
                </a:ln>
                <a:solidFill>
                  <a:schemeClr val="tx1"/>
                </a:solidFill>
                <a:effectLst/>
                <a:uLnTx/>
                <a:uFillTx/>
                <a:latin typeface="+mn-lt"/>
                <a:ea typeface="+mn-ea"/>
                <a:cs typeface="+mn-cs"/>
              </a:rPr>
              <a:t>Weinigen</a:t>
            </a:r>
            <a:r>
              <a:rPr kumimoji="0" lang="nl-NL" sz="2000" b="0" u="none" strike="noStrike" kern="1200" cap="none" spc="0" normalizeH="0" noProof="0" dirty="0" smtClean="0">
                <a:ln>
                  <a:noFill/>
                </a:ln>
                <a:solidFill>
                  <a:schemeClr val="tx1"/>
                </a:solidFill>
                <a:effectLst/>
                <a:uLnTx/>
                <a:uFillTx/>
                <a:latin typeface="+mn-lt"/>
                <a:ea typeface="+mn-ea"/>
                <a:cs typeface="+mn-cs"/>
              </a:rPr>
              <a:t> lachen niet</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TextBox 14"/>
          <p:cNvSpPr txBox="1"/>
          <p:nvPr/>
        </p:nvSpPr>
        <p:spPr>
          <a:xfrm>
            <a:off x="2278088" y="1547500"/>
            <a:ext cx="1584176" cy="400110"/>
          </a:xfrm>
          <a:prstGeom prst="rect">
            <a:avLst/>
          </a:prstGeom>
          <a:noFill/>
        </p:spPr>
        <p:txBody>
          <a:bodyPr wrap="square" rtlCol="0">
            <a:spAutoFit/>
          </a:bodyPr>
          <a:lstStyle/>
          <a:p>
            <a:r>
              <a:rPr lang="nl-NL" sz="2000" b="1" dirty="0" smtClean="0"/>
              <a:t>Fa</a:t>
            </a:r>
          </a:p>
        </p:txBody>
      </p:sp>
      <p:sp>
        <p:nvSpPr>
          <p:cNvPr id="16" name="TextBox 15"/>
          <p:cNvSpPr txBox="1"/>
          <p:nvPr/>
        </p:nvSpPr>
        <p:spPr>
          <a:xfrm>
            <a:off x="3502224" y="1484784"/>
            <a:ext cx="1152128" cy="646331"/>
          </a:xfrm>
          <a:prstGeom prst="rect">
            <a:avLst/>
          </a:prstGeom>
          <a:noFill/>
        </p:spPr>
        <p:txBody>
          <a:bodyPr wrap="square" rtlCol="0">
            <a:spAutoFit/>
          </a:bodyPr>
          <a:lstStyle/>
          <a:p>
            <a:r>
              <a:rPr lang="nl-NL" dirty="0" smtClean="0"/>
              <a:t>a: Jan</a:t>
            </a:r>
          </a:p>
          <a:p>
            <a:r>
              <a:rPr lang="nl-NL" dirty="0" smtClean="0"/>
              <a:t>F: lacht</a:t>
            </a:r>
            <a:endParaRPr lang="nl-NL" dirty="0"/>
          </a:p>
        </p:txBody>
      </p:sp>
      <p:sp>
        <p:nvSpPr>
          <p:cNvPr id="8" name="Rectangle 7"/>
          <p:cNvSpPr/>
          <p:nvPr/>
        </p:nvSpPr>
        <p:spPr>
          <a:xfrm>
            <a:off x="2411760" y="2348880"/>
            <a:ext cx="697627" cy="369332"/>
          </a:xfrm>
          <a:prstGeom prst="rect">
            <a:avLst/>
          </a:prstGeom>
        </p:spPr>
        <p:txBody>
          <a:bodyPr wrap="none">
            <a:spAutoFit/>
          </a:bodyPr>
          <a:lstStyle/>
          <a:p>
            <a:r>
              <a:rPr lang="nl-NL" b="1" dirty="0" smtClean="0"/>
              <a:t>∀x </a:t>
            </a:r>
            <a:r>
              <a:rPr lang="nl-NL" b="1" dirty="0" err="1" smtClean="0"/>
              <a:t>Fx</a:t>
            </a:r>
            <a:endParaRPr lang="nl-NL" dirty="0"/>
          </a:p>
        </p:txBody>
      </p:sp>
      <p:sp>
        <p:nvSpPr>
          <p:cNvPr id="9" name="Rectangle 8"/>
          <p:cNvSpPr/>
          <p:nvPr/>
        </p:nvSpPr>
        <p:spPr>
          <a:xfrm>
            <a:off x="2411760" y="2843644"/>
            <a:ext cx="813043" cy="369332"/>
          </a:xfrm>
          <a:prstGeom prst="rect">
            <a:avLst/>
          </a:prstGeom>
        </p:spPr>
        <p:txBody>
          <a:bodyPr wrap="none">
            <a:spAutoFit/>
          </a:bodyPr>
          <a:lstStyle/>
          <a:p>
            <a:r>
              <a:rPr lang="nl-NL" b="1" dirty="0" smtClean="0"/>
              <a:t>∀x ¬</a:t>
            </a:r>
            <a:r>
              <a:rPr lang="nl-NL" b="1" dirty="0" err="1" smtClean="0"/>
              <a:t>Fx</a:t>
            </a:r>
            <a:endParaRPr lang="nl-NL" dirty="0"/>
          </a:p>
        </p:txBody>
      </p:sp>
      <p:sp>
        <p:nvSpPr>
          <p:cNvPr id="11" name="Rectangle 10"/>
          <p:cNvSpPr/>
          <p:nvPr/>
        </p:nvSpPr>
        <p:spPr>
          <a:xfrm>
            <a:off x="2483768" y="3356992"/>
            <a:ext cx="1368152" cy="369332"/>
          </a:xfrm>
          <a:prstGeom prst="rect">
            <a:avLst/>
          </a:prstGeom>
        </p:spPr>
        <p:txBody>
          <a:bodyPr wrap="square">
            <a:spAutoFit/>
          </a:bodyPr>
          <a:lstStyle/>
          <a:p>
            <a:r>
              <a:rPr lang="nl-NL" b="1" dirty="0" smtClean="0"/>
              <a:t>∃x </a:t>
            </a:r>
            <a:r>
              <a:rPr lang="nl-NL" b="1" dirty="0" err="1" smtClean="0"/>
              <a:t>Fx</a:t>
            </a:r>
            <a:endParaRPr lang="nl-NL" dirty="0"/>
          </a:p>
        </p:txBody>
      </p:sp>
      <p:sp>
        <p:nvSpPr>
          <p:cNvPr id="12" name="Rectangle 11"/>
          <p:cNvSpPr/>
          <p:nvPr/>
        </p:nvSpPr>
        <p:spPr>
          <a:xfrm>
            <a:off x="3491880" y="2843644"/>
            <a:ext cx="1368152" cy="369332"/>
          </a:xfrm>
          <a:prstGeom prst="rect">
            <a:avLst/>
          </a:prstGeom>
        </p:spPr>
        <p:txBody>
          <a:bodyPr wrap="square">
            <a:spAutoFit/>
          </a:bodyPr>
          <a:lstStyle/>
          <a:p>
            <a:r>
              <a:rPr lang="nl-NL" b="1" dirty="0" smtClean="0"/>
              <a:t>¬∃x </a:t>
            </a:r>
            <a:r>
              <a:rPr lang="nl-NL" b="1" dirty="0" err="1" smtClean="0"/>
              <a:t>Fx</a:t>
            </a:r>
            <a:endParaRPr lang="nl-NL" dirty="0"/>
          </a:p>
        </p:txBody>
      </p:sp>
      <p:sp>
        <p:nvSpPr>
          <p:cNvPr id="13" name="Rectangle 12"/>
          <p:cNvSpPr/>
          <p:nvPr/>
        </p:nvSpPr>
        <p:spPr>
          <a:xfrm>
            <a:off x="2771800" y="3851756"/>
            <a:ext cx="1368152" cy="369332"/>
          </a:xfrm>
          <a:prstGeom prst="rect">
            <a:avLst/>
          </a:prstGeom>
        </p:spPr>
        <p:txBody>
          <a:bodyPr wrap="square">
            <a:spAutoFit/>
          </a:bodyPr>
          <a:lstStyle/>
          <a:p>
            <a:r>
              <a:rPr lang="nl-NL" b="1" dirty="0" smtClean="0"/>
              <a:t>∃x ¬</a:t>
            </a:r>
            <a:r>
              <a:rPr lang="nl-NL" b="1" dirty="0" err="1" smtClean="0"/>
              <a:t>Fx</a:t>
            </a:r>
            <a:endParaRPr lang="nl-NL" dirty="0"/>
          </a:p>
        </p:txBody>
      </p:sp>
      <p:sp>
        <p:nvSpPr>
          <p:cNvPr id="17" name="Rectangle 16"/>
          <p:cNvSpPr/>
          <p:nvPr/>
        </p:nvSpPr>
        <p:spPr>
          <a:xfrm>
            <a:off x="2483768" y="4427820"/>
            <a:ext cx="1368152" cy="369332"/>
          </a:xfrm>
          <a:prstGeom prst="rect">
            <a:avLst/>
          </a:prstGeom>
        </p:spPr>
        <p:txBody>
          <a:bodyPr wrap="square">
            <a:spAutoFit/>
          </a:bodyPr>
          <a:lstStyle/>
          <a:p>
            <a:r>
              <a:rPr lang="nl-NL" b="1" dirty="0" smtClean="0"/>
              <a:t>∃x </a:t>
            </a:r>
            <a:r>
              <a:rPr lang="nl-NL" b="1" dirty="0" err="1" smtClean="0"/>
              <a:t>Fx</a:t>
            </a:r>
            <a:endParaRPr lang="nl-NL" dirty="0"/>
          </a:p>
        </p:txBody>
      </p:sp>
      <p:sp>
        <p:nvSpPr>
          <p:cNvPr id="23" name="Rectangle 22"/>
          <p:cNvSpPr/>
          <p:nvPr/>
        </p:nvSpPr>
        <p:spPr>
          <a:xfrm>
            <a:off x="2699792" y="5517232"/>
            <a:ext cx="648072" cy="14401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tangle 23"/>
          <p:cNvSpPr/>
          <p:nvPr/>
        </p:nvSpPr>
        <p:spPr>
          <a:xfrm>
            <a:off x="2699792" y="5085184"/>
            <a:ext cx="648072" cy="144016"/>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TextBox 24"/>
          <p:cNvSpPr txBox="1"/>
          <p:nvPr/>
        </p:nvSpPr>
        <p:spPr>
          <a:xfrm>
            <a:off x="6156176" y="2267580"/>
            <a:ext cx="2736304" cy="369332"/>
          </a:xfrm>
          <a:prstGeom prst="rect">
            <a:avLst/>
          </a:prstGeom>
          <a:noFill/>
        </p:spPr>
        <p:txBody>
          <a:bodyPr wrap="square" rtlCol="0">
            <a:spAutoFit/>
          </a:bodyPr>
          <a:lstStyle/>
          <a:p>
            <a:r>
              <a:rPr lang="nl-NL" dirty="0" smtClean="0"/>
              <a:t>Domein </a:t>
            </a:r>
            <a:r>
              <a:rPr lang="nl-NL" b="1" dirty="0" smtClean="0"/>
              <a:t>D</a:t>
            </a:r>
            <a:r>
              <a:rPr lang="nl-NL" dirty="0" smtClean="0"/>
              <a:t>: mensen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fade">
                                      <p:cBhvr>
                                        <p:cTn id="7" dur="20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20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2000"/>
                                        <p:tgtEl>
                                          <p:spTgt spid="1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Effect transition="in" filter="fade">
                                      <p:cBhvr>
                                        <p:cTn id="32" dur="2000"/>
                                        <p:tgtEl>
                                          <p:spTgt spid="1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Effect transition="in" filter="fade">
                                      <p:cBhvr>
                                        <p:cTn id="37" dur="2000"/>
                                        <p:tgtEl>
                                          <p:spTgt spid="1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20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P spid="11" grpId="0" build="allAtOnce"/>
      <p:bldP spid="12" grpId="0" build="allAtOnce"/>
      <p:bldP spid="13" grpId="0" build="allAtOnce"/>
      <p:bldP spid="17" grpId="0" build="allAtOnce"/>
      <p:bldP spid="23" grpId="0" animBg="1"/>
      <p:bldP spid="24" grpId="0" animBg="1"/>
      <p:bldP spid="25" grpId="0" build="allAtOnce"/>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3744416" cy="676671"/>
          </a:xfrm>
        </p:spPr>
        <p:txBody>
          <a:bodyPr>
            <a:noAutofit/>
          </a:bodyPr>
          <a:lstStyle/>
          <a:p>
            <a:pPr>
              <a:buNone/>
            </a:pPr>
            <a:r>
              <a:rPr lang="nl-NL" sz="2000" dirty="0" smtClean="0"/>
              <a:t>Sommigen spelen en schreeuwen</a:t>
            </a:r>
          </a:p>
          <a:p>
            <a:endParaRPr lang="nl-NL" sz="2000" dirty="0" smtClean="0"/>
          </a:p>
        </p:txBody>
      </p:sp>
      <p:sp>
        <p:nvSpPr>
          <p:cNvPr id="18" name="Rectangle 17"/>
          <p:cNvSpPr/>
          <p:nvPr/>
        </p:nvSpPr>
        <p:spPr>
          <a:xfrm>
            <a:off x="4355976" y="1556792"/>
            <a:ext cx="1368152" cy="369332"/>
          </a:xfrm>
          <a:prstGeom prst="rect">
            <a:avLst/>
          </a:prstGeom>
        </p:spPr>
        <p:txBody>
          <a:bodyPr wrap="square">
            <a:spAutoFit/>
          </a:bodyPr>
          <a:lstStyle/>
          <a:p>
            <a:r>
              <a:rPr lang="nl-NL" b="1" dirty="0" smtClean="0"/>
              <a:t>∃x (</a:t>
            </a:r>
            <a:r>
              <a:rPr lang="nl-NL" b="1" dirty="0" err="1" smtClean="0"/>
              <a:t>Px</a:t>
            </a:r>
            <a:r>
              <a:rPr lang="nl-NL" b="1" dirty="0" smtClean="0"/>
              <a:t> ∧ </a:t>
            </a:r>
            <a:r>
              <a:rPr lang="nl-NL" b="1" dirty="0" err="1" smtClean="0"/>
              <a:t>Sx</a:t>
            </a:r>
            <a:r>
              <a:rPr lang="nl-NL" b="1" dirty="0" smtClean="0"/>
              <a:t>) </a:t>
            </a:r>
            <a:endParaRPr lang="nl-NL" dirty="0"/>
          </a:p>
        </p:txBody>
      </p:sp>
      <p:sp>
        <p:nvSpPr>
          <p:cNvPr id="19" name="Rectangle 18"/>
          <p:cNvSpPr/>
          <p:nvPr/>
        </p:nvSpPr>
        <p:spPr>
          <a:xfrm>
            <a:off x="6300192" y="1556792"/>
            <a:ext cx="2016224" cy="646331"/>
          </a:xfrm>
          <a:prstGeom prst="rect">
            <a:avLst/>
          </a:prstGeom>
        </p:spPr>
        <p:txBody>
          <a:bodyPr wrap="square">
            <a:spAutoFit/>
          </a:bodyPr>
          <a:lstStyle/>
          <a:p>
            <a:r>
              <a:rPr lang="nl-NL" dirty="0" err="1" smtClean="0"/>
              <a:t>Px</a:t>
            </a:r>
            <a:r>
              <a:rPr lang="nl-NL" dirty="0" smtClean="0"/>
              <a:t>: x speelt</a:t>
            </a:r>
          </a:p>
          <a:p>
            <a:r>
              <a:rPr lang="nl-NL" dirty="0" err="1" smtClean="0"/>
              <a:t>Sx</a:t>
            </a:r>
            <a:r>
              <a:rPr lang="nl-NL" dirty="0" smtClean="0"/>
              <a:t>: x schreeuwt</a:t>
            </a:r>
            <a:endParaRPr lang="nl-NL" dirty="0"/>
          </a:p>
        </p:txBody>
      </p:sp>
      <p:sp>
        <p:nvSpPr>
          <p:cNvPr id="20" name="Content Placeholder 2"/>
          <p:cNvSpPr txBox="1">
            <a:spLocks/>
          </p:cNvSpPr>
          <p:nvPr/>
        </p:nvSpPr>
        <p:spPr>
          <a:xfrm>
            <a:off x="-180528" y="2132856"/>
            <a:ext cx="3744416" cy="10801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
            <a:br>
              <a:rPr kumimoji="0" lang="nl-NL" sz="2000" b="0" i="0" u="none" strike="noStrike" kern="1200" cap="none" spc="0" normalizeH="0" baseline="0" noProof="0" dirty="0" smtClean="0">
                <a:ln>
                  <a:noFill/>
                </a:ln>
                <a:solidFill>
                  <a:schemeClr val="tx1"/>
                </a:solidFill>
                <a:effectLst/>
                <a:uLnTx/>
                <a:uFillTx/>
                <a:latin typeface="+mn-lt"/>
                <a:ea typeface="+mn-ea"/>
                <a:cs typeface="+mn-cs"/>
              </a:rPr>
            </a:br>
            <a:r>
              <a:rPr kumimoji="0" lang="nl-NL" sz="2000" b="0" i="0" u="none" strike="noStrike" kern="1200" cap="none" spc="0" normalizeH="0" baseline="0" noProof="0" dirty="0" smtClean="0">
                <a:ln>
                  <a:noFill/>
                </a:ln>
                <a:solidFill>
                  <a:schemeClr val="tx1"/>
                </a:solidFill>
                <a:effectLst/>
                <a:uLnTx/>
                <a:uFillTx/>
                <a:latin typeface="+mn-lt"/>
                <a:ea typeface="+mn-ea"/>
                <a:cs typeface="+mn-cs"/>
              </a:rPr>
              <a:t>Sommigen spelen en sommigen schreeuwen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Rectangle 20"/>
          <p:cNvSpPr/>
          <p:nvPr/>
        </p:nvSpPr>
        <p:spPr>
          <a:xfrm>
            <a:off x="4139952" y="2521495"/>
            <a:ext cx="1800200" cy="369332"/>
          </a:xfrm>
          <a:prstGeom prst="rect">
            <a:avLst/>
          </a:prstGeom>
        </p:spPr>
        <p:txBody>
          <a:bodyPr wrap="square">
            <a:spAutoFit/>
          </a:bodyPr>
          <a:lstStyle/>
          <a:p>
            <a:r>
              <a:rPr lang="nl-NL" b="1" dirty="0" smtClean="0"/>
              <a:t>∃x </a:t>
            </a:r>
            <a:r>
              <a:rPr lang="nl-NL" b="1" dirty="0" err="1" smtClean="0"/>
              <a:t>Px</a:t>
            </a:r>
            <a:r>
              <a:rPr lang="nl-NL" b="1" dirty="0" smtClean="0"/>
              <a:t> ∧ ∃y </a:t>
            </a:r>
            <a:r>
              <a:rPr lang="nl-NL" b="1" dirty="0" err="1" smtClean="0"/>
              <a:t>Sy</a:t>
            </a:r>
            <a:endParaRPr lang="nl-NL" dirty="0"/>
          </a:p>
        </p:txBody>
      </p:sp>
      <p:sp>
        <p:nvSpPr>
          <p:cNvPr id="22" name="Rectangle 21"/>
          <p:cNvSpPr/>
          <p:nvPr/>
        </p:nvSpPr>
        <p:spPr>
          <a:xfrm>
            <a:off x="6300192" y="2521495"/>
            <a:ext cx="2016224" cy="646331"/>
          </a:xfrm>
          <a:prstGeom prst="rect">
            <a:avLst/>
          </a:prstGeom>
        </p:spPr>
        <p:txBody>
          <a:bodyPr wrap="square">
            <a:spAutoFit/>
          </a:bodyPr>
          <a:lstStyle/>
          <a:p>
            <a:r>
              <a:rPr lang="nl-NL" dirty="0" err="1" smtClean="0"/>
              <a:t>Px</a:t>
            </a:r>
            <a:r>
              <a:rPr lang="nl-NL" dirty="0" smtClean="0"/>
              <a:t>: x speelt</a:t>
            </a:r>
          </a:p>
          <a:p>
            <a:r>
              <a:rPr lang="nl-NL" dirty="0" err="1" smtClean="0"/>
              <a:t>Sx</a:t>
            </a:r>
            <a:r>
              <a:rPr lang="nl-NL" dirty="0" smtClean="0"/>
              <a:t>: x schreeuwt</a:t>
            </a:r>
            <a:endParaRPr lang="nl-NL" dirty="0"/>
          </a:p>
        </p:txBody>
      </p:sp>
      <p:sp>
        <p:nvSpPr>
          <p:cNvPr id="26" name="Rectangle 25"/>
          <p:cNvSpPr/>
          <p:nvPr/>
        </p:nvSpPr>
        <p:spPr>
          <a:xfrm>
            <a:off x="4139952" y="2987660"/>
            <a:ext cx="1800200" cy="369332"/>
          </a:xfrm>
          <a:prstGeom prst="rect">
            <a:avLst/>
          </a:prstGeom>
        </p:spPr>
        <p:txBody>
          <a:bodyPr wrap="square">
            <a:spAutoFit/>
          </a:bodyPr>
          <a:lstStyle/>
          <a:p>
            <a:r>
              <a:rPr lang="nl-NL" b="1" dirty="0" smtClean="0"/>
              <a:t>∃z </a:t>
            </a:r>
            <a:r>
              <a:rPr lang="nl-NL" b="1" dirty="0" err="1" smtClean="0"/>
              <a:t>Pz</a:t>
            </a:r>
            <a:r>
              <a:rPr lang="nl-NL" b="1" dirty="0" smtClean="0"/>
              <a:t> ∧ ∃w </a:t>
            </a:r>
            <a:r>
              <a:rPr lang="nl-NL" b="1" dirty="0" err="1" smtClean="0"/>
              <a:t>Sw</a:t>
            </a:r>
            <a:endParaRPr lang="nl-NL" dirty="0"/>
          </a:p>
        </p:txBody>
      </p:sp>
      <p:sp>
        <p:nvSpPr>
          <p:cNvPr id="27" name="Content Placeholder 2"/>
          <p:cNvSpPr txBox="1">
            <a:spLocks/>
          </p:cNvSpPr>
          <p:nvPr/>
        </p:nvSpPr>
        <p:spPr>
          <a:xfrm>
            <a:off x="-252536" y="3832449"/>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Alle Kretenzers zijn Grieken      </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r>
              <a:rPr kumimoji="0" lang="nl-NL" b="0" i="1" u="none" strike="noStrike" kern="1200" cap="none" spc="0" normalizeH="0" baseline="0" noProof="0" dirty="0" err="1" smtClean="0">
                <a:ln>
                  <a:noFill/>
                </a:ln>
                <a:solidFill>
                  <a:schemeClr val="tx1"/>
                </a:solidFill>
                <a:effectLst/>
                <a:uLnTx/>
                <a:uFillTx/>
                <a:latin typeface="+mn-lt"/>
                <a:ea typeface="+mn-ea"/>
                <a:cs typeface="+mn-cs"/>
              </a:rPr>
              <a:t>A-oordeel</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Rectangle 27"/>
          <p:cNvSpPr/>
          <p:nvPr/>
        </p:nvSpPr>
        <p:spPr>
          <a:xfrm>
            <a:off x="4139952" y="3861048"/>
            <a:ext cx="1800200" cy="369332"/>
          </a:xfrm>
          <a:prstGeom prst="rect">
            <a:avLst/>
          </a:prstGeom>
        </p:spPr>
        <p:txBody>
          <a:bodyPr wrap="square">
            <a:spAutoFit/>
          </a:bodyPr>
          <a:lstStyle/>
          <a:p>
            <a:r>
              <a:rPr lang="nl-NL" b="1" dirty="0" smtClean="0"/>
              <a:t>∀x (</a:t>
            </a:r>
            <a:r>
              <a:rPr lang="nl-NL" b="1" dirty="0" err="1" smtClean="0"/>
              <a:t>Kx</a:t>
            </a:r>
            <a:r>
              <a:rPr lang="nl-NL" b="1" dirty="0" smtClean="0"/>
              <a:t> → </a:t>
            </a:r>
            <a:r>
              <a:rPr lang="nl-NL" b="1" dirty="0" err="1" smtClean="0"/>
              <a:t>Gx</a:t>
            </a:r>
            <a:r>
              <a:rPr lang="nl-NL" b="1" dirty="0" smtClean="0"/>
              <a:t>) </a:t>
            </a:r>
            <a:endParaRPr lang="nl-NL" dirty="0"/>
          </a:p>
        </p:txBody>
      </p:sp>
      <p:sp>
        <p:nvSpPr>
          <p:cNvPr id="29" name="Rectangle 28"/>
          <p:cNvSpPr/>
          <p:nvPr/>
        </p:nvSpPr>
        <p:spPr>
          <a:xfrm>
            <a:off x="6300192" y="3717032"/>
            <a:ext cx="2376264" cy="646331"/>
          </a:xfrm>
          <a:prstGeom prst="rect">
            <a:avLst/>
          </a:prstGeom>
        </p:spPr>
        <p:txBody>
          <a:bodyPr wrap="square">
            <a:spAutoFit/>
          </a:bodyPr>
          <a:lstStyle/>
          <a:p>
            <a:r>
              <a:rPr lang="nl-NL" dirty="0" err="1" smtClean="0"/>
              <a:t>Kx</a:t>
            </a:r>
            <a:r>
              <a:rPr lang="nl-NL" dirty="0" smtClean="0"/>
              <a:t>: x is een Kretenzer</a:t>
            </a:r>
          </a:p>
          <a:p>
            <a:r>
              <a:rPr lang="nl-NL" dirty="0" err="1" smtClean="0"/>
              <a:t>Gx</a:t>
            </a:r>
            <a:r>
              <a:rPr lang="nl-NL" dirty="0" smtClean="0"/>
              <a:t>: x is een Griek</a:t>
            </a:r>
            <a:endParaRPr lang="nl-NL" dirty="0"/>
          </a:p>
        </p:txBody>
      </p:sp>
      <p:sp>
        <p:nvSpPr>
          <p:cNvPr id="30" name="Content Placeholder 2"/>
          <p:cNvSpPr txBox="1">
            <a:spLocks/>
          </p:cNvSpPr>
          <p:nvPr/>
        </p:nvSpPr>
        <p:spPr>
          <a:xfrm>
            <a:off x="-252536" y="4653136"/>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Geen Chinees</a:t>
            </a:r>
            <a:r>
              <a:rPr kumimoji="0" lang="nl-NL" sz="2000" b="0" i="0" u="none" strike="noStrike" kern="1200" cap="none" spc="0" normalizeH="0" noProof="0" dirty="0" smtClean="0">
                <a:ln>
                  <a:noFill/>
                </a:ln>
                <a:solidFill>
                  <a:schemeClr val="tx1"/>
                </a:solidFill>
                <a:effectLst/>
                <a:uLnTx/>
                <a:uFillTx/>
                <a:latin typeface="+mn-lt"/>
                <a:ea typeface="+mn-ea"/>
                <a:cs typeface="+mn-cs"/>
              </a:rPr>
              <a:t> is een Kretenzer             </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r>
              <a:rPr lang="nl-NL" i="1" dirty="0" err="1" smtClean="0"/>
              <a:t>E</a:t>
            </a:r>
            <a:r>
              <a:rPr kumimoji="0" lang="nl-NL" b="0" i="1" u="none" strike="noStrike" kern="1200" cap="none" spc="0" normalizeH="0" baseline="0" noProof="0" dirty="0" smtClean="0">
                <a:ln>
                  <a:noFill/>
                </a:ln>
                <a:solidFill>
                  <a:schemeClr val="tx1"/>
                </a:solidFill>
                <a:effectLst/>
                <a:uLnTx/>
                <a:uFillTx/>
                <a:latin typeface="+mn-lt"/>
                <a:ea typeface="+mn-ea"/>
                <a:cs typeface="+mn-cs"/>
              </a:rPr>
              <a:t>-oordeel)</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Rectangle 30"/>
          <p:cNvSpPr/>
          <p:nvPr/>
        </p:nvSpPr>
        <p:spPr>
          <a:xfrm>
            <a:off x="4139952" y="4653136"/>
            <a:ext cx="1800200" cy="369332"/>
          </a:xfrm>
          <a:prstGeom prst="rect">
            <a:avLst/>
          </a:prstGeom>
        </p:spPr>
        <p:txBody>
          <a:bodyPr wrap="square">
            <a:spAutoFit/>
          </a:bodyPr>
          <a:lstStyle/>
          <a:p>
            <a:r>
              <a:rPr lang="nl-NL" b="1" dirty="0" smtClean="0"/>
              <a:t>∀x (</a:t>
            </a:r>
            <a:r>
              <a:rPr lang="nl-NL" b="1" dirty="0" err="1" smtClean="0"/>
              <a:t>Cx</a:t>
            </a:r>
            <a:r>
              <a:rPr lang="nl-NL" b="1" dirty="0" smtClean="0"/>
              <a:t> → ¬</a:t>
            </a:r>
            <a:r>
              <a:rPr lang="nl-NL" b="1" dirty="0" err="1" smtClean="0"/>
              <a:t>Kx</a:t>
            </a:r>
            <a:r>
              <a:rPr lang="nl-NL" b="1" dirty="0" smtClean="0"/>
              <a:t>) </a:t>
            </a:r>
            <a:endParaRPr lang="nl-NL" dirty="0"/>
          </a:p>
        </p:txBody>
      </p:sp>
      <p:sp>
        <p:nvSpPr>
          <p:cNvPr id="32" name="Rectangle 31"/>
          <p:cNvSpPr/>
          <p:nvPr/>
        </p:nvSpPr>
        <p:spPr>
          <a:xfrm>
            <a:off x="6300192" y="4582869"/>
            <a:ext cx="2376264" cy="646331"/>
          </a:xfrm>
          <a:prstGeom prst="rect">
            <a:avLst/>
          </a:prstGeom>
        </p:spPr>
        <p:txBody>
          <a:bodyPr wrap="square">
            <a:spAutoFit/>
          </a:bodyPr>
          <a:lstStyle/>
          <a:p>
            <a:r>
              <a:rPr lang="nl-NL" dirty="0" err="1" smtClean="0"/>
              <a:t>Kx</a:t>
            </a:r>
            <a:r>
              <a:rPr lang="nl-NL" dirty="0" smtClean="0"/>
              <a:t>: x is een Kretenzer</a:t>
            </a:r>
          </a:p>
          <a:p>
            <a:r>
              <a:rPr lang="nl-NL" dirty="0" err="1" smtClean="0"/>
              <a:t>Cx</a:t>
            </a:r>
            <a:r>
              <a:rPr lang="nl-NL" dirty="0" smtClean="0"/>
              <a:t>: x is een Chinees</a:t>
            </a:r>
            <a:endParaRPr lang="nl-NL" dirty="0"/>
          </a:p>
        </p:txBody>
      </p:sp>
      <p:sp>
        <p:nvSpPr>
          <p:cNvPr id="33" name="Content Placeholder 2"/>
          <p:cNvSpPr txBox="1">
            <a:spLocks/>
          </p:cNvSpPr>
          <p:nvPr/>
        </p:nvSpPr>
        <p:spPr>
          <a:xfrm>
            <a:off x="-252536" y="5632649"/>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Sommige zoogdieren zijn herbivoren </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r>
              <a:rPr lang="nl-NL" i="1" noProof="0" dirty="0" err="1" smtClean="0"/>
              <a:t>I</a:t>
            </a:r>
            <a:r>
              <a:rPr kumimoji="0" lang="nl-NL" b="0" i="1" u="none" strike="noStrike" kern="1200" cap="none" spc="0" normalizeH="0" baseline="0" noProof="0" dirty="0" err="1" smtClean="0">
                <a:ln>
                  <a:noFill/>
                </a:ln>
                <a:solidFill>
                  <a:schemeClr val="tx1"/>
                </a:solidFill>
                <a:effectLst/>
                <a:uLnTx/>
                <a:uFillTx/>
                <a:latin typeface="+mn-lt"/>
                <a:ea typeface="+mn-ea"/>
                <a:cs typeface="+mn-cs"/>
              </a:rPr>
              <a:t>-oordeel</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4" name="Rectangle 33"/>
          <p:cNvSpPr/>
          <p:nvPr/>
        </p:nvSpPr>
        <p:spPr>
          <a:xfrm>
            <a:off x="4139952" y="5651956"/>
            <a:ext cx="1800200" cy="369332"/>
          </a:xfrm>
          <a:prstGeom prst="rect">
            <a:avLst/>
          </a:prstGeom>
        </p:spPr>
        <p:txBody>
          <a:bodyPr wrap="square">
            <a:spAutoFit/>
          </a:bodyPr>
          <a:lstStyle/>
          <a:p>
            <a:r>
              <a:rPr lang="nl-NL" b="1" dirty="0" smtClean="0"/>
              <a:t>∃x (</a:t>
            </a:r>
            <a:r>
              <a:rPr lang="nl-NL" b="1" dirty="0" err="1" smtClean="0"/>
              <a:t>Zx</a:t>
            </a:r>
            <a:r>
              <a:rPr lang="nl-NL" b="1" dirty="0" smtClean="0"/>
              <a:t> ∧ </a:t>
            </a:r>
            <a:r>
              <a:rPr lang="nl-NL" b="1" dirty="0" err="1" smtClean="0"/>
              <a:t>Hx</a:t>
            </a:r>
            <a:r>
              <a:rPr lang="nl-NL" b="1" dirty="0" smtClean="0"/>
              <a:t>) </a:t>
            </a:r>
            <a:endParaRPr lang="nl-NL" dirty="0"/>
          </a:p>
        </p:txBody>
      </p:sp>
      <p:sp>
        <p:nvSpPr>
          <p:cNvPr id="35" name="Rectangle 34"/>
          <p:cNvSpPr/>
          <p:nvPr/>
        </p:nvSpPr>
        <p:spPr>
          <a:xfrm>
            <a:off x="6300192" y="5590981"/>
            <a:ext cx="2376264" cy="646331"/>
          </a:xfrm>
          <a:prstGeom prst="rect">
            <a:avLst/>
          </a:prstGeom>
        </p:spPr>
        <p:txBody>
          <a:bodyPr wrap="square">
            <a:spAutoFit/>
          </a:bodyPr>
          <a:lstStyle/>
          <a:p>
            <a:r>
              <a:rPr lang="nl-NL" dirty="0" err="1" smtClean="0"/>
              <a:t>Zx</a:t>
            </a:r>
            <a:r>
              <a:rPr lang="nl-NL" dirty="0" smtClean="0"/>
              <a:t>: x is een zoogdier</a:t>
            </a:r>
          </a:p>
          <a:p>
            <a:r>
              <a:rPr lang="nl-NL" dirty="0" err="1" smtClean="0"/>
              <a:t>Hx</a:t>
            </a:r>
            <a:r>
              <a:rPr lang="nl-NL" dirty="0" smtClean="0"/>
              <a:t>: x is een herbivoor</a:t>
            </a:r>
            <a:endParaRPr lang="nl-NL" dirty="0"/>
          </a:p>
        </p:txBody>
      </p:sp>
      <p:sp>
        <p:nvSpPr>
          <p:cNvPr id="36" name="Rectangle 35"/>
          <p:cNvSpPr/>
          <p:nvPr/>
        </p:nvSpPr>
        <p:spPr>
          <a:xfrm>
            <a:off x="4139952" y="6084004"/>
            <a:ext cx="1800200" cy="369332"/>
          </a:xfrm>
          <a:prstGeom prst="rect">
            <a:avLst/>
          </a:prstGeom>
        </p:spPr>
        <p:txBody>
          <a:bodyPr wrap="square">
            <a:spAutoFit/>
          </a:bodyPr>
          <a:lstStyle/>
          <a:p>
            <a:r>
              <a:rPr lang="nl-NL" b="1" dirty="0" smtClean="0"/>
              <a:t>∃x (</a:t>
            </a:r>
            <a:r>
              <a:rPr lang="nl-NL" b="1" dirty="0" err="1" smtClean="0"/>
              <a:t>Zx</a:t>
            </a:r>
            <a:r>
              <a:rPr lang="nl-NL" b="1" dirty="0" smtClean="0"/>
              <a:t> → </a:t>
            </a:r>
            <a:r>
              <a:rPr lang="nl-NL" b="1" dirty="0" err="1" smtClean="0"/>
              <a:t>Hx</a:t>
            </a:r>
            <a:r>
              <a:rPr lang="nl-NL" b="1" dirty="0" smtClean="0"/>
              <a:t>)  ? </a:t>
            </a:r>
            <a:endParaRPr lang="nl-NL" dirty="0"/>
          </a:p>
        </p:txBody>
      </p:sp>
      <p:sp>
        <p:nvSpPr>
          <p:cNvPr id="37" name="Rectangle 36"/>
          <p:cNvSpPr/>
          <p:nvPr/>
        </p:nvSpPr>
        <p:spPr>
          <a:xfrm>
            <a:off x="4139952" y="5003884"/>
            <a:ext cx="1800200" cy="369332"/>
          </a:xfrm>
          <a:prstGeom prst="rect">
            <a:avLst/>
          </a:prstGeom>
        </p:spPr>
        <p:txBody>
          <a:bodyPr wrap="square">
            <a:spAutoFit/>
          </a:bodyPr>
          <a:lstStyle/>
          <a:p>
            <a:r>
              <a:rPr lang="nl-NL" b="1" dirty="0" smtClean="0"/>
              <a:t>¬∃x (</a:t>
            </a:r>
            <a:r>
              <a:rPr lang="nl-NL" b="1" dirty="0" err="1" smtClean="0"/>
              <a:t>Cx</a:t>
            </a:r>
            <a:r>
              <a:rPr lang="nl-NL" b="1" dirty="0" smtClean="0"/>
              <a:t> ∧ </a:t>
            </a:r>
            <a:r>
              <a:rPr lang="nl-NL" b="1" dirty="0" err="1" smtClean="0"/>
              <a:t>Kx</a:t>
            </a:r>
            <a:r>
              <a:rPr lang="nl-NL" b="1"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2000"/>
                                        <p:tgtEl>
                                          <p:spTgt spid="1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Effect transition="in" filter="fade">
                                      <p:cBhvr>
                                        <p:cTn id="13" dur="2000"/>
                                        <p:tgtEl>
                                          <p:spTgt spid="1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xEl>
                                              <p:pRg st="0" end="0"/>
                                            </p:txEl>
                                          </p:spTgt>
                                        </p:tgtEl>
                                        <p:attrNameLst>
                                          <p:attrName>style.visibility</p:attrName>
                                        </p:attrNameLst>
                                      </p:cBhvr>
                                      <p:to>
                                        <p:strVal val="visible"/>
                                      </p:to>
                                    </p:set>
                                    <p:animEffect transition="in" filter="fade">
                                      <p:cBhvr>
                                        <p:cTn id="18" dur="2000"/>
                                        <p:tgtEl>
                                          <p:spTgt spid="20">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animEffect transition="in" filter="fade">
                                      <p:cBhvr>
                                        <p:cTn id="23" dur="2000"/>
                                        <p:tgtEl>
                                          <p:spTgt spid="21">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xEl>
                                              <p:pRg st="0" end="0"/>
                                            </p:txEl>
                                          </p:spTgt>
                                        </p:tgtEl>
                                        <p:attrNameLst>
                                          <p:attrName>style.visibility</p:attrName>
                                        </p:attrNameLst>
                                      </p:cBhvr>
                                      <p:to>
                                        <p:strVal val="visible"/>
                                      </p:to>
                                    </p:set>
                                    <p:animEffect transition="in" filter="fade">
                                      <p:cBhvr>
                                        <p:cTn id="26" dur="2000"/>
                                        <p:tgtEl>
                                          <p:spTgt spid="22">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
                                            <p:txEl>
                                              <p:pRg st="1" end="1"/>
                                            </p:txEl>
                                          </p:spTgt>
                                        </p:tgtEl>
                                        <p:attrNameLst>
                                          <p:attrName>style.visibility</p:attrName>
                                        </p:attrNameLst>
                                      </p:cBhvr>
                                      <p:to>
                                        <p:strVal val="visible"/>
                                      </p:to>
                                    </p:set>
                                    <p:animEffect transition="in" filter="fade">
                                      <p:cBhvr>
                                        <p:cTn id="29" dur="2000"/>
                                        <p:tgtEl>
                                          <p:spTgt spid="22">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6">
                                            <p:txEl>
                                              <p:pRg st="0" end="0"/>
                                            </p:txEl>
                                          </p:spTgt>
                                        </p:tgtEl>
                                        <p:attrNameLst>
                                          <p:attrName>style.visibility</p:attrName>
                                        </p:attrNameLst>
                                      </p:cBhvr>
                                      <p:to>
                                        <p:strVal val="visible"/>
                                      </p:to>
                                    </p:set>
                                    <p:animEffect transition="in" filter="fade">
                                      <p:cBhvr>
                                        <p:cTn id="34" dur="2000"/>
                                        <p:tgtEl>
                                          <p:spTgt spid="26">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fade">
                                      <p:cBhvr>
                                        <p:cTn id="39" dur="2000"/>
                                        <p:tgtEl>
                                          <p:spTgt spid="2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8">
                                            <p:txEl>
                                              <p:pRg st="0" end="0"/>
                                            </p:txEl>
                                          </p:spTgt>
                                        </p:tgtEl>
                                        <p:attrNameLst>
                                          <p:attrName>style.visibility</p:attrName>
                                        </p:attrNameLst>
                                      </p:cBhvr>
                                      <p:to>
                                        <p:strVal val="visible"/>
                                      </p:to>
                                    </p:set>
                                    <p:animEffect transition="in" filter="fade">
                                      <p:cBhvr>
                                        <p:cTn id="44" dur="2000"/>
                                        <p:tgtEl>
                                          <p:spTgt spid="28">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9">
                                            <p:txEl>
                                              <p:pRg st="0" end="0"/>
                                            </p:txEl>
                                          </p:spTgt>
                                        </p:tgtEl>
                                        <p:attrNameLst>
                                          <p:attrName>style.visibility</p:attrName>
                                        </p:attrNameLst>
                                      </p:cBhvr>
                                      <p:to>
                                        <p:strVal val="visible"/>
                                      </p:to>
                                    </p:set>
                                    <p:animEffect transition="in" filter="fade">
                                      <p:cBhvr>
                                        <p:cTn id="47" dur="2000"/>
                                        <p:tgtEl>
                                          <p:spTgt spid="29">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9">
                                            <p:txEl>
                                              <p:pRg st="1" end="1"/>
                                            </p:txEl>
                                          </p:spTgt>
                                        </p:tgtEl>
                                        <p:attrNameLst>
                                          <p:attrName>style.visibility</p:attrName>
                                        </p:attrNameLst>
                                      </p:cBhvr>
                                      <p:to>
                                        <p:strVal val="visible"/>
                                      </p:to>
                                    </p:set>
                                    <p:animEffect transition="in" filter="fade">
                                      <p:cBhvr>
                                        <p:cTn id="50" dur="2000"/>
                                        <p:tgtEl>
                                          <p:spTgt spid="29">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xEl>
                                              <p:pRg st="0" end="0"/>
                                            </p:txEl>
                                          </p:spTgt>
                                        </p:tgtEl>
                                        <p:attrNameLst>
                                          <p:attrName>style.visibility</p:attrName>
                                        </p:attrNameLst>
                                      </p:cBhvr>
                                      <p:to>
                                        <p:strVal val="visible"/>
                                      </p:to>
                                    </p:set>
                                    <p:animEffect transition="in" filter="fade">
                                      <p:cBhvr>
                                        <p:cTn id="55" dur="2000"/>
                                        <p:tgtEl>
                                          <p:spTgt spid="30">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1">
                                            <p:txEl>
                                              <p:pRg st="0" end="0"/>
                                            </p:txEl>
                                          </p:spTgt>
                                        </p:tgtEl>
                                        <p:attrNameLst>
                                          <p:attrName>style.visibility</p:attrName>
                                        </p:attrNameLst>
                                      </p:cBhvr>
                                      <p:to>
                                        <p:strVal val="visible"/>
                                      </p:to>
                                    </p:set>
                                    <p:animEffect transition="in" filter="fade">
                                      <p:cBhvr>
                                        <p:cTn id="60" dur="2000"/>
                                        <p:tgtEl>
                                          <p:spTgt spid="31">
                                            <p:txEl>
                                              <p:pRg st="0" end="0"/>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2">
                                            <p:txEl>
                                              <p:pRg st="0" end="0"/>
                                            </p:txEl>
                                          </p:spTgt>
                                        </p:tgtEl>
                                        <p:attrNameLst>
                                          <p:attrName>style.visibility</p:attrName>
                                        </p:attrNameLst>
                                      </p:cBhvr>
                                      <p:to>
                                        <p:strVal val="visible"/>
                                      </p:to>
                                    </p:set>
                                    <p:animEffect transition="in" filter="fade">
                                      <p:cBhvr>
                                        <p:cTn id="63" dur="2000"/>
                                        <p:tgtEl>
                                          <p:spTgt spid="32">
                                            <p:txEl>
                                              <p:pRg st="0" end="0"/>
                                            </p:txEl>
                                          </p:spTgt>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2">
                                            <p:txEl>
                                              <p:pRg st="1" end="1"/>
                                            </p:txEl>
                                          </p:spTgt>
                                        </p:tgtEl>
                                        <p:attrNameLst>
                                          <p:attrName>style.visibility</p:attrName>
                                        </p:attrNameLst>
                                      </p:cBhvr>
                                      <p:to>
                                        <p:strVal val="visible"/>
                                      </p:to>
                                    </p:set>
                                    <p:animEffect transition="in" filter="fade">
                                      <p:cBhvr>
                                        <p:cTn id="66" dur="2000"/>
                                        <p:tgtEl>
                                          <p:spTgt spid="32">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7">
                                            <p:txEl>
                                              <p:pRg st="0" end="0"/>
                                            </p:txEl>
                                          </p:spTgt>
                                        </p:tgtEl>
                                        <p:attrNameLst>
                                          <p:attrName>style.visibility</p:attrName>
                                        </p:attrNameLst>
                                      </p:cBhvr>
                                      <p:to>
                                        <p:strVal val="visible"/>
                                      </p:to>
                                    </p:set>
                                    <p:animEffect transition="in" filter="fade">
                                      <p:cBhvr>
                                        <p:cTn id="71" dur="2000"/>
                                        <p:tgtEl>
                                          <p:spTgt spid="37">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3">
                                            <p:txEl>
                                              <p:pRg st="0" end="0"/>
                                            </p:txEl>
                                          </p:spTgt>
                                        </p:tgtEl>
                                        <p:attrNameLst>
                                          <p:attrName>style.visibility</p:attrName>
                                        </p:attrNameLst>
                                      </p:cBhvr>
                                      <p:to>
                                        <p:strVal val="visible"/>
                                      </p:to>
                                    </p:set>
                                    <p:animEffect transition="in" filter="fade">
                                      <p:cBhvr>
                                        <p:cTn id="76" dur="2000"/>
                                        <p:tgtEl>
                                          <p:spTgt spid="33">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xEl>
                                              <p:pRg st="0" end="0"/>
                                            </p:txEl>
                                          </p:spTgt>
                                        </p:tgtEl>
                                        <p:attrNameLst>
                                          <p:attrName>style.visibility</p:attrName>
                                        </p:attrNameLst>
                                      </p:cBhvr>
                                      <p:to>
                                        <p:strVal val="visible"/>
                                      </p:to>
                                    </p:set>
                                    <p:animEffect transition="in" filter="fade">
                                      <p:cBhvr>
                                        <p:cTn id="81" dur="2000"/>
                                        <p:tgtEl>
                                          <p:spTgt spid="34">
                                            <p:txEl>
                                              <p:pRg st="0" end="0"/>
                                            </p:txEl>
                                          </p:spTgt>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5">
                                            <p:txEl>
                                              <p:pRg st="0" end="0"/>
                                            </p:txEl>
                                          </p:spTgt>
                                        </p:tgtEl>
                                        <p:attrNameLst>
                                          <p:attrName>style.visibility</p:attrName>
                                        </p:attrNameLst>
                                      </p:cBhvr>
                                      <p:to>
                                        <p:strVal val="visible"/>
                                      </p:to>
                                    </p:set>
                                    <p:animEffect transition="in" filter="fade">
                                      <p:cBhvr>
                                        <p:cTn id="84" dur="2000"/>
                                        <p:tgtEl>
                                          <p:spTgt spid="35">
                                            <p:txEl>
                                              <p:pRg st="0" end="0"/>
                                            </p:tx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5">
                                            <p:txEl>
                                              <p:pRg st="1" end="1"/>
                                            </p:txEl>
                                          </p:spTgt>
                                        </p:tgtEl>
                                        <p:attrNameLst>
                                          <p:attrName>style.visibility</p:attrName>
                                        </p:attrNameLst>
                                      </p:cBhvr>
                                      <p:to>
                                        <p:strVal val="visible"/>
                                      </p:to>
                                    </p:set>
                                    <p:animEffect transition="in" filter="fade">
                                      <p:cBhvr>
                                        <p:cTn id="87" dur="2000"/>
                                        <p:tgtEl>
                                          <p:spTgt spid="35">
                                            <p:txEl>
                                              <p:pRg st="1" end="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6">
                                            <p:txEl>
                                              <p:pRg st="0" end="0"/>
                                            </p:txEl>
                                          </p:spTgt>
                                        </p:tgtEl>
                                        <p:attrNameLst>
                                          <p:attrName>style.visibility</p:attrName>
                                        </p:attrNameLst>
                                      </p:cBhvr>
                                      <p:to>
                                        <p:strVal val="visible"/>
                                      </p:to>
                                    </p:set>
                                    <p:animEffect transition="in" filter="fade">
                                      <p:cBhvr>
                                        <p:cTn id="92" dur="20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0" grpId="0" build="allAtOnce"/>
      <p:bldP spid="21" grpId="0" build="allAtOnce"/>
      <p:bldP spid="22" grpId="0" build="allAtOnce"/>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79512" y="1528193"/>
            <a:ext cx="3744416" cy="676671"/>
          </a:xfrm>
        </p:spPr>
        <p:txBody>
          <a:bodyPr>
            <a:noAutofit/>
          </a:bodyPr>
          <a:lstStyle/>
          <a:p>
            <a:pPr>
              <a:buNone/>
            </a:pPr>
            <a:r>
              <a:rPr lang="nl-NL" sz="2000" dirty="0" smtClean="0"/>
              <a:t>Sommigen spelen en schreeuwen</a:t>
            </a:r>
          </a:p>
          <a:p>
            <a:endParaRPr lang="nl-NL" sz="2000" dirty="0" smtClean="0"/>
          </a:p>
        </p:txBody>
      </p:sp>
      <p:sp>
        <p:nvSpPr>
          <p:cNvPr id="18" name="Rectangle 17"/>
          <p:cNvSpPr/>
          <p:nvPr/>
        </p:nvSpPr>
        <p:spPr>
          <a:xfrm>
            <a:off x="4355976" y="1556792"/>
            <a:ext cx="1368152" cy="369332"/>
          </a:xfrm>
          <a:prstGeom prst="rect">
            <a:avLst/>
          </a:prstGeom>
        </p:spPr>
        <p:txBody>
          <a:bodyPr wrap="square">
            <a:spAutoFit/>
          </a:bodyPr>
          <a:lstStyle/>
          <a:p>
            <a:r>
              <a:rPr lang="nl-NL" b="1" dirty="0" smtClean="0"/>
              <a:t>∃x (</a:t>
            </a:r>
            <a:r>
              <a:rPr lang="nl-NL" b="1" dirty="0" err="1" smtClean="0"/>
              <a:t>Px</a:t>
            </a:r>
            <a:r>
              <a:rPr lang="nl-NL" b="1" dirty="0" smtClean="0"/>
              <a:t> ∧ </a:t>
            </a:r>
            <a:r>
              <a:rPr lang="nl-NL" b="1" dirty="0" err="1" smtClean="0"/>
              <a:t>Sx</a:t>
            </a:r>
            <a:r>
              <a:rPr lang="nl-NL" b="1" dirty="0" smtClean="0"/>
              <a:t>) </a:t>
            </a:r>
            <a:endParaRPr lang="nl-NL" dirty="0"/>
          </a:p>
        </p:txBody>
      </p:sp>
      <p:sp>
        <p:nvSpPr>
          <p:cNvPr id="19" name="Rectangle 18"/>
          <p:cNvSpPr/>
          <p:nvPr/>
        </p:nvSpPr>
        <p:spPr>
          <a:xfrm>
            <a:off x="6300192" y="1556792"/>
            <a:ext cx="2016224" cy="646331"/>
          </a:xfrm>
          <a:prstGeom prst="rect">
            <a:avLst/>
          </a:prstGeom>
        </p:spPr>
        <p:txBody>
          <a:bodyPr wrap="square">
            <a:spAutoFit/>
          </a:bodyPr>
          <a:lstStyle/>
          <a:p>
            <a:r>
              <a:rPr lang="nl-NL" dirty="0" err="1" smtClean="0"/>
              <a:t>Px</a:t>
            </a:r>
            <a:r>
              <a:rPr lang="nl-NL" dirty="0" smtClean="0"/>
              <a:t>: x speelt</a:t>
            </a:r>
          </a:p>
          <a:p>
            <a:r>
              <a:rPr lang="nl-NL" dirty="0" err="1" smtClean="0"/>
              <a:t>Sx</a:t>
            </a:r>
            <a:r>
              <a:rPr lang="nl-NL" dirty="0" smtClean="0"/>
              <a:t>: x schreeuwt</a:t>
            </a:r>
            <a:endParaRPr lang="nl-NL" dirty="0"/>
          </a:p>
        </p:txBody>
      </p:sp>
      <p:sp>
        <p:nvSpPr>
          <p:cNvPr id="20" name="Content Placeholder 2"/>
          <p:cNvSpPr txBox="1">
            <a:spLocks/>
          </p:cNvSpPr>
          <p:nvPr/>
        </p:nvSpPr>
        <p:spPr>
          <a:xfrm>
            <a:off x="-180528" y="2132856"/>
            <a:ext cx="3744416" cy="10801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r>
            <a:br>
              <a:rPr kumimoji="0" lang="nl-NL" sz="2000" b="0" i="0" u="none" strike="noStrike" kern="1200" cap="none" spc="0" normalizeH="0" baseline="0" noProof="0" dirty="0" smtClean="0">
                <a:ln>
                  <a:noFill/>
                </a:ln>
                <a:solidFill>
                  <a:schemeClr val="tx1"/>
                </a:solidFill>
                <a:effectLst/>
                <a:uLnTx/>
                <a:uFillTx/>
                <a:latin typeface="+mn-lt"/>
                <a:ea typeface="+mn-ea"/>
                <a:cs typeface="+mn-cs"/>
              </a:rPr>
            </a:br>
            <a:r>
              <a:rPr kumimoji="0" lang="nl-NL" sz="2000" b="0" i="0" u="none" strike="noStrike" kern="1200" cap="none" spc="0" normalizeH="0" baseline="0" noProof="0" dirty="0" smtClean="0">
                <a:ln>
                  <a:noFill/>
                </a:ln>
                <a:solidFill>
                  <a:schemeClr val="tx1"/>
                </a:solidFill>
                <a:effectLst/>
                <a:uLnTx/>
                <a:uFillTx/>
                <a:latin typeface="+mn-lt"/>
                <a:ea typeface="+mn-ea"/>
                <a:cs typeface="+mn-cs"/>
              </a:rPr>
              <a:t>Sommigen spelen en sommigen schreeuwen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1" name="Rectangle 20"/>
          <p:cNvSpPr/>
          <p:nvPr/>
        </p:nvSpPr>
        <p:spPr>
          <a:xfrm>
            <a:off x="4139952" y="2521495"/>
            <a:ext cx="1800200" cy="369332"/>
          </a:xfrm>
          <a:prstGeom prst="rect">
            <a:avLst/>
          </a:prstGeom>
        </p:spPr>
        <p:txBody>
          <a:bodyPr wrap="square">
            <a:spAutoFit/>
          </a:bodyPr>
          <a:lstStyle/>
          <a:p>
            <a:r>
              <a:rPr lang="nl-NL" b="1" dirty="0" smtClean="0"/>
              <a:t>∃x </a:t>
            </a:r>
            <a:r>
              <a:rPr lang="nl-NL" b="1" dirty="0" err="1" smtClean="0"/>
              <a:t>Px</a:t>
            </a:r>
            <a:r>
              <a:rPr lang="nl-NL" b="1" dirty="0" smtClean="0"/>
              <a:t> ∧ ∃y </a:t>
            </a:r>
            <a:r>
              <a:rPr lang="nl-NL" b="1" dirty="0" err="1" smtClean="0"/>
              <a:t>Sy</a:t>
            </a:r>
            <a:endParaRPr lang="nl-NL" dirty="0"/>
          </a:p>
        </p:txBody>
      </p:sp>
      <p:sp>
        <p:nvSpPr>
          <p:cNvPr id="22" name="Rectangle 21"/>
          <p:cNvSpPr/>
          <p:nvPr/>
        </p:nvSpPr>
        <p:spPr>
          <a:xfrm>
            <a:off x="6300192" y="2521495"/>
            <a:ext cx="2016224" cy="646331"/>
          </a:xfrm>
          <a:prstGeom prst="rect">
            <a:avLst/>
          </a:prstGeom>
        </p:spPr>
        <p:txBody>
          <a:bodyPr wrap="square">
            <a:spAutoFit/>
          </a:bodyPr>
          <a:lstStyle/>
          <a:p>
            <a:r>
              <a:rPr lang="nl-NL" dirty="0" err="1" smtClean="0"/>
              <a:t>Px</a:t>
            </a:r>
            <a:r>
              <a:rPr lang="nl-NL" dirty="0" smtClean="0"/>
              <a:t>: x speelt</a:t>
            </a:r>
          </a:p>
          <a:p>
            <a:r>
              <a:rPr lang="nl-NL" dirty="0" err="1" smtClean="0"/>
              <a:t>Sx</a:t>
            </a:r>
            <a:r>
              <a:rPr lang="nl-NL" dirty="0" smtClean="0"/>
              <a:t>: x schreeuwt</a:t>
            </a:r>
            <a:endParaRPr lang="nl-NL" dirty="0"/>
          </a:p>
        </p:txBody>
      </p:sp>
      <p:sp>
        <p:nvSpPr>
          <p:cNvPr id="26" name="Rectangle 25"/>
          <p:cNvSpPr/>
          <p:nvPr/>
        </p:nvSpPr>
        <p:spPr>
          <a:xfrm>
            <a:off x="4139952" y="2987660"/>
            <a:ext cx="1800200" cy="369332"/>
          </a:xfrm>
          <a:prstGeom prst="rect">
            <a:avLst/>
          </a:prstGeom>
        </p:spPr>
        <p:txBody>
          <a:bodyPr wrap="square">
            <a:spAutoFit/>
          </a:bodyPr>
          <a:lstStyle/>
          <a:p>
            <a:r>
              <a:rPr lang="nl-NL" b="1" dirty="0" smtClean="0"/>
              <a:t>∃z </a:t>
            </a:r>
            <a:r>
              <a:rPr lang="nl-NL" b="1" dirty="0" err="1" smtClean="0"/>
              <a:t>Pz</a:t>
            </a:r>
            <a:r>
              <a:rPr lang="nl-NL" b="1" dirty="0" smtClean="0"/>
              <a:t> ∧ ∃w </a:t>
            </a:r>
            <a:r>
              <a:rPr lang="nl-NL" b="1" dirty="0" err="1" smtClean="0"/>
              <a:t>Sw</a:t>
            </a:r>
            <a:endParaRPr lang="nl-NL" dirty="0"/>
          </a:p>
        </p:txBody>
      </p:sp>
      <p:sp>
        <p:nvSpPr>
          <p:cNvPr id="27" name="Content Placeholder 2"/>
          <p:cNvSpPr txBox="1">
            <a:spLocks/>
          </p:cNvSpPr>
          <p:nvPr/>
        </p:nvSpPr>
        <p:spPr>
          <a:xfrm>
            <a:off x="-252536" y="3832449"/>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Alle Kretenzers zijn Grieken      </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r>
              <a:rPr kumimoji="0" lang="nl-NL" b="0" i="1" u="none" strike="noStrike" kern="1200" cap="none" spc="0" normalizeH="0" baseline="0" noProof="0" dirty="0" err="1" smtClean="0">
                <a:ln>
                  <a:noFill/>
                </a:ln>
                <a:solidFill>
                  <a:schemeClr val="tx1"/>
                </a:solidFill>
                <a:effectLst/>
                <a:uLnTx/>
                <a:uFillTx/>
                <a:latin typeface="+mn-lt"/>
                <a:ea typeface="+mn-ea"/>
                <a:cs typeface="+mn-cs"/>
              </a:rPr>
              <a:t>A-oordeel</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Rectangle 27"/>
          <p:cNvSpPr/>
          <p:nvPr/>
        </p:nvSpPr>
        <p:spPr>
          <a:xfrm>
            <a:off x="4139952" y="3861048"/>
            <a:ext cx="1800200" cy="369332"/>
          </a:xfrm>
          <a:prstGeom prst="rect">
            <a:avLst/>
          </a:prstGeom>
        </p:spPr>
        <p:txBody>
          <a:bodyPr wrap="square">
            <a:spAutoFit/>
          </a:bodyPr>
          <a:lstStyle/>
          <a:p>
            <a:r>
              <a:rPr lang="nl-NL" b="1" dirty="0" smtClean="0"/>
              <a:t>∀x (</a:t>
            </a:r>
            <a:r>
              <a:rPr lang="nl-NL" b="1" dirty="0" err="1" smtClean="0"/>
              <a:t>Kx</a:t>
            </a:r>
            <a:r>
              <a:rPr lang="nl-NL" b="1" dirty="0" smtClean="0"/>
              <a:t> → </a:t>
            </a:r>
            <a:r>
              <a:rPr lang="nl-NL" b="1" dirty="0" err="1" smtClean="0"/>
              <a:t>Gx</a:t>
            </a:r>
            <a:r>
              <a:rPr lang="nl-NL" b="1" dirty="0" smtClean="0"/>
              <a:t>) </a:t>
            </a:r>
            <a:endParaRPr lang="nl-NL" dirty="0"/>
          </a:p>
        </p:txBody>
      </p:sp>
      <p:sp>
        <p:nvSpPr>
          <p:cNvPr id="29" name="Rectangle 28"/>
          <p:cNvSpPr/>
          <p:nvPr/>
        </p:nvSpPr>
        <p:spPr>
          <a:xfrm>
            <a:off x="6300192" y="3717032"/>
            <a:ext cx="2376264" cy="646331"/>
          </a:xfrm>
          <a:prstGeom prst="rect">
            <a:avLst/>
          </a:prstGeom>
        </p:spPr>
        <p:txBody>
          <a:bodyPr wrap="square">
            <a:spAutoFit/>
          </a:bodyPr>
          <a:lstStyle/>
          <a:p>
            <a:r>
              <a:rPr lang="nl-NL" dirty="0" err="1" smtClean="0"/>
              <a:t>Kx</a:t>
            </a:r>
            <a:r>
              <a:rPr lang="nl-NL" dirty="0" smtClean="0"/>
              <a:t>: x is een Kretenzer</a:t>
            </a:r>
          </a:p>
          <a:p>
            <a:r>
              <a:rPr lang="nl-NL" dirty="0" err="1" smtClean="0"/>
              <a:t>Gx</a:t>
            </a:r>
            <a:r>
              <a:rPr lang="nl-NL" dirty="0" smtClean="0"/>
              <a:t>: x is een Griek</a:t>
            </a:r>
            <a:endParaRPr lang="nl-NL" dirty="0"/>
          </a:p>
        </p:txBody>
      </p:sp>
      <p:sp>
        <p:nvSpPr>
          <p:cNvPr id="30" name="Content Placeholder 2"/>
          <p:cNvSpPr txBox="1">
            <a:spLocks/>
          </p:cNvSpPr>
          <p:nvPr/>
        </p:nvSpPr>
        <p:spPr>
          <a:xfrm>
            <a:off x="-252536" y="4653136"/>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Geen Chinees</a:t>
            </a:r>
            <a:r>
              <a:rPr kumimoji="0" lang="nl-NL" sz="2000" b="0" i="0" u="none" strike="noStrike" kern="1200" cap="none" spc="0" normalizeH="0" noProof="0" dirty="0" smtClean="0">
                <a:ln>
                  <a:noFill/>
                </a:ln>
                <a:solidFill>
                  <a:schemeClr val="tx1"/>
                </a:solidFill>
                <a:effectLst/>
                <a:uLnTx/>
                <a:uFillTx/>
                <a:latin typeface="+mn-lt"/>
                <a:ea typeface="+mn-ea"/>
                <a:cs typeface="+mn-cs"/>
              </a:rPr>
              <a:t> is een Kretenzer             </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r>
              <a:rPr lang="nl-NL" i="1" dirty="0" err="1" smtClean="0"/>
              <a:t>E</a:t>
            </a:r>
            <a:r>
              <a:rPr kumimoji="0" lang="nl-NL" b="0" i="1" u="none" strike="noStrike" kern="1200" cap="none" spc="0" normalizeH="0" baseline="0" noProof="0" dirty="0" smtClean="0">
                <a:ln>
                  <a:noFill/>
                </a:ln>
                <a:solidFill>
                  <a:schemeClr val="tx1"/>
                </a:solidFill>
                <a:effectLst/>
                <a:uLnTx/>
                <a:uFillTx/>
                <a:latin typeface="+mn-lt"/>
                <a:ea typeface="+mn-ea"/>
                <a:cs typeface="+mn-cs"/>
              </a:rPr>
              <a:t>-oordeel)</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Rectangle 30"/>
          <p:cNvSpPr/>
          <p:nvPr/>
        </p:nvSpPr>
        <p:spPr>
          <a:xfrm>
            <a:off x="4139952" y="4653136"/>
            <a:ext cx="1800200" cy="369332"/>
          </a:xfrm>
          <a:prstGeom prst="rect">
            <a:avLst/>
          </a:prstGeom>
        </p:spPr>
        <p:txBody>
          <a:bodyPr wrap="square">
            <a:spAutoFit/>
          </a:bodyPr>
          <a:lstStyle/>
          <a:p>
            <a:r>
              <a:rPr lang="nl-NL" b="1" dirty="0" smtClean="0"/>
              <a:t>∀x (</a:t>
            </a:r>
            <a:r>
              <a:rPr lang="nl-NL" b="1" dirty="0" err="1" smtClean="0"/>
              <a:t>Cx</a:t>
            </a:r>
            <a:r>
              <a:rPr lang="nl-NL" b="1" dirty="0" smtClean="0"/>
              <a:t> → ¬</a:t>
            </a:r>
            <a:r>
              <a:rPr lang="nl-NL" b="1" dirty="0" err="1" smtClean="0"/>
              <a:t>Kx</a:t>
            </a:r>
            <a:r>
              <a:rPr lang="nl-NL" b="1" dirty="0" smtClean="0"/>
              <a:t>) </a:t>
            </a:r>
            <a:endParaRPr lang="nl-NL" dirty="0"/>
          </a:p>
        </p:txBody>
      </p:sp>
      <p:sp>
        <p:nvSpPr>
          <p:cNvPr id="32" name="Rectangle 31"/>
          <p:cNvSpPr/>
          <p:nvPr/>
        </p:nvSpPr>
        <p:spPr>
          <a:xfrm>
            <a:off x="6300192" y="4582869"/>
            <a:ext cx="2376264" cy="646331"/>
          </a:xfrm>
          <a:prstGeom prst="rect">
            <a:avLst/>
          </a:prstGeom>
        </p:spPr>
        <p:txBody>
          <a:bodyPr wrap="square">
            <a:spAutoFit/>
          </a:bodyPr>
          <a:lstStyle/>
          <a:p>
            <a:r>
              <a:rPr lang="nl-NL" dirty="0" err="1" smtClean="0"/>
              <a:t>Kx</a:t>
            </a:r>
            <a:r>
              <a:rPr lang="nl-NL" dirty="0" smtClean="0"/>
              <a:t>: x is een Kretenzer</a:t>
            </a:r>
          </a:p>
          <a:p>
            <a:r>
              <a:rPr lang="nl-NL" dirty="0" err="1" smtClean="0"/>
              <a:t>Cx</a:t>
            </a:r>
            <a:r>
              <a:rPr lang="nl-NL" dirty="0" smtClean="0"/>
              <a:t>: x is een Chinees</a:t>
            </a:r>
            <a:endParaRPr lang="nl-NL" dirty="0"/>
          </a:p>
        </p:txBody>
      </p:sp>
      <p:sp>
        <p:nvSpPr>
          <p:cNvPr id="33" name="Content Placeholder 2"/>
          <p:cNvSpPr txBox="1">
            <a:spLocks/>
          </p:cNvSpPr>
          <p:nvPr/>
        </p:nvSpPr>
        <p:spPr>
          <a:xfrm>
            <a:off x="-252536" y="5632649"/>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Sommige zoogdieren zijn herbivoren </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r>
              <a:rPr lang="nl-NL" i="1" noProof="0" dirty="0" err="1" smtClean="0"/>
              <a:t>I</a:t>
            </a:r>
            <a:r>
              <a:rPr kumimoji="0" lang="nl-NL" b="0" i="1" u="none" strike="noStrike" kern="1200" cap="none" spc="0" normalizeH="0" baseline="0" noProof="0" dirty="0" err="1" smtClean="0">
                <a:ln>
                  <a:noFill/>
                </a:ln>
                <a:solidFill>
                  <a:schemeClr val="tx1"/>
                </a:solidFill>
                <a:effectLst/>
                <a:uLnTx/>
                <a:uFillTx/>
                <a:latin typeface="+mn-lt"/>
                <a:ea typeface="+mn-ea"/>
                <a:cs typeface="+mn-cs"/>
              </a:rPr>
              <a:t>-oordeel</a:t>
            </a:r>
            <a:r>
              <a:rPr kumimoji="0" lang="nl-NL" b="0" i="1" u="none" strike="noStrike" kern="1200" cap="none" spc="0" normalizeH="0" baseline="0" noProof="0" dirty="0" smtClean="0">
                <a:ln>
                  <a:noFill/>
                </a:ln>
                <a:solidFill>
                  <a:schemeClr val="tx1"/>
                </a:solidFill>
                <a:effectLst/>
                <a:uLnTx/>
                <a:uFillTx/>
                <a:latin typeface="+mn-lt"/>
                <a:ea typeface="+mn-ea"/>
                <a:cs typeface="+mn-cs"/>
              </a:rPr>
              <a: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4" name="Rectangle 33"/>
          <p:cNvSpPr/>
          <p:nvPr/>
        </p:nvSpPr>
        <p:spPr>
          <a:xfrm>
            <a:off x="4139952" y="5651956"/>
            <a:ext cx="1800200" cy="369332"/>
          </a:xfrm>
          <a:prstGeom prst="rect">
            <a:avLst/>
          </a:prstGeom>
        </p:spPr>
        <p:txBody>
          <a:bodyPr wrap="square">
            <a:spAutoFit/>
          </a:bodyPr>
          <a:lstStyle/>
          <a:p>
            <a:r>
              <a:rPr lang="nl-NL" b="1" dirty="0" smtClean="0"/>
              <a:t>∃x (</a:t>
            </a:r>
            <a:r>
              <a:rPr lang="nl-NL" b="1" dirty="0" err="1" smtClean="0"/>
              <a:t>Zx</a:t>
            </a:r>
            <a:r>
              <a:rPr lang="nl-NL" b="1" dirty="0" smtClean="0"/>
              <a:t> ∧ </a:t>
            </a:r>
            <a:r>
              <a:rPr lang="nl-NL" b="1" dirty="0" err="1" smtClean="0"/>
              <a:t>Hx</a:t>
            </a:r>
            <a:r>
              <a:rPr lang="nl-NL" b="1" dirty="0" smtClean="0"/>
              <a:t>) </a:t>
            </a:r>
            <a:endParaRPr lang="nl-NL" dirty="0"/>
          </a:p>
        </p:txBody>
      </p:sp>
      <p:sp>
        <p:nvSpPr>
          <p:cNvPr id="35" name="Rectangle 34"/>
          <p:cNvSpPr/>
          <p:nvPr/>
        </p:nvSpPr>
        <p:spPr>
          <a:xfrm>
            <a:off x="6300192" y="5590981"/>
            <a:ext cx="2376264" cy="646331"/>
          </a:xfrm>
          <a:prstGeom prst="rect">
            <a:avLst/>
          </a:prstGeom>
        </p:spPr>
        <p:txBody>
          <a:bodyPr wrap="square">
            <a:spAutoFit/>
          </a:bodyPr>
          <a:lstStyle/>
          <a:p>
            <a:r>
              <a:rPr lang="nl-NL" dirty="0" err="1" smtClean="0"/>
              <a:t>Zx</a:t>
            </a:r>
            <a:r>
              <a:rPr lang="nl-NL" dirty="0" smtClean="0"/>
              <a:t>: x is een zoogdier</a:t>
            </a:r>
          </a:p>
          <a:p>
            <a:r>
              <a:rPr lang="nl-NL" dirty="0" err="1" smtClean="0"/>
              <a:t>Hx</a:t>
            </a:r>
            <a:r>
              <a:rPr lang="nl-NL" dirty="0" smtClean="0"/>
              <a:t>: x is een herbivoor</a:t>
            </a:r>
            <a:endParaRPr lang="nl-NL" dirty="0"/>
          </a:p>
        </p:txBody>
      </p:sp>
      <p:sp>
        <p:nvSpPr>
          <p:cNvPr id="36" name="Rectangle 35"/>
          <p:cNvSpPr/>
          <p:nvPr/>
        </p:nvSpPr>
        <p:spPr>
          <a:xfrm>
            <a:off x="4139952" y="6084004"/>
            <a:ext cx="2016224" cy="369332"/>
          </a:xfrm>
          <a:prstGeom prst="rect">
            <a:avLst/>
          </a:prstGeom>
        </p:spPr>
        <p:txBody>
          <a:bodyPr wrap="square">
            <a:spAutoFit/>
          </a:bodyPr>
          <a:lstStyle/>
          <a:p>
            <a:r>
              <a:rPr lang="nl-NL" b="1" dirty="0" smtClean="0">
                <a:solidFill>
                  <a:srgbClr val="FF0000"/>
                </a:solidFill>
              </a:rPr>
              <a:t>∃x (</a:t>
            </a:r>
            <a:r>
              <a:rPr lang="nl-NL" b="1" dirty="0" err="1" smtClean="0">
                <a:solidFill>
                  <a:srgbClr val="FF0000"/>
                </a:solidFill>
              </a:rPr>
              <a:t>Zx</a:t>
            </a:r>
            <a:r>
              <a:rPr lang="nl-NL" b="1" dirty="0" smtClean="0">
                <a:solidFill>
                  <a:srgbClr val="FF0000"/>
                </a:solidFill>
              </a:rPr>
              <a:t> → </a:t>
            </a:r>
            <a:r>
              <a:rPr lang="nl-NL" b="1" dirty="0" err="1" smtClean="0">
                <a:solidFill>
                  <a:srgbClr val="FF0000"/>
                </a:solidFill>
              </a:rPr>
              <a:t>Hx</a:t>
            </a:r>
            <a:r>
              <a:rPr lang="nl-NL" b="1" dirty="0" smtClean="0">
                <a:solidFill>
                  <a:srgbClr val="FF0000"/>
                </a:solidFill>
              </a:rPr>
              <a:t>)  Nee   </a:t>
            </a:r>
            <a:endParaRPr lang="nl-NL" dirty="0">
              <a:solidFill>
                <a:srgbClr val="FF0000"/>
              </a:solidFill>
            </a:endParaRPr>
          </a:p>
        </p:txBody>
      </p:sp>
      <p:sp>
        <p:nvSpPr>
          <p:cNvPr id="37" name="Rectangle 36"/>
          <p:cNvSpPr/>
          <p:nvPr/>
        </p:nvSpPr>
        <p:spPr>
          <a:xfrm>
            <a:off x="4139952" y="5003884"/>
            <a:ext cx="1800200" cy="369332"/>
          </a:xfrm>
          <a:prstGeom prst="rect">
            <a:avLst/>
          </a:prstGeom>
        </p:spPr>
        <p:txBody>
          <a:bodyPr wrap="square">
            <a:spAutoFit/>
          </a:bodyPr>
          <a:lstStyle/>
          <a:p>
            <a:r>
              <a:rPr lang="nl-NL" b="1" dirty="0" smtClean="0"/>
              <a:t>¬∃x (</a:t>
            </a:r>
            <a:r>
              <a:rPr lang="nl-NL" b="1" dirty="0" err="1" smtClean="0"/>
              <a:t>Cx</a:t>
            </a:r>
            <a:r>
              <a:rPr lang="nl-NL" b="1" dirty="0" smtClean="0"/>
              <a:t> ∧ </a:t>
            </a:r>
            <a:r>
              <a:rPr lang="nl-NL" b="1" dirty="0" err="1" smtClean="0"/>
              <a:t>Kx</a:t>
            </a:r>
            <a:r>
              <a:rPr lang="nl-NL" b="1" dirty="0" smtClean="0"/>
              <a:t>) </a:t>
            </a:r>
            <a:endParaRPr lang="nl-NL" dirty="0"/>
          </a:p>
        </p:txBody>
      </p:sp>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Domein, kwantoren en individuvariabelen</a:t>
            </a:r>
            <a:endParaRPr lang="nl-NL" sz="3600" dirty="0"/>
          </a:p>
        </p:txBody>
      </p:sp>
      <p:sp>
        <p:nvSpPr>
          <p:cNvPr id="3" name="Content Placeholder 2"/>
          <p:cNvSpPr>
            <a:spLocks noGrp="1"/>
          </p:cNvSpPr>
          <p:nvPr>
            <p:ph idx="1"/>
          </p:nvPr>
        </p:nvSpPr>
        <p:spPr>
          <a:xfrm>
            <a:off x="-180528" y="1528193"/>
            <a:ext cx="3744416" cy="676671"/>
          </a:xfrm>
        </p:spPr>
        <p:txBody>
          <a:bodyPr>
            <a:noAutofit/>
          </a:bodyPr>
          <a:lstStyle/>
          <a:p>
            <a:pPr>
              <a:buNone/>
            </a:pPr>
            <a:r>
              <a:rPr lang="nl-NL" sz="2000" dirty="0" smtClean="0"/>
              <a:t>      Sommigen politici zijn geen netwerkers </a:t>
            </a:r>
            <a:r>
              <a:rPr lang="nl-NL" sz="1800" i="1" dirty="0" smtClean="0"/>
              <a:t>(</a:t>
            </a:r>
            <a:r>
              <a:rPr lang="nl-NL" sz="1800" i="1" dirty="0" err="1" smtClean="0"/>
              <a:t>O-oordeel</a:t>
            </a:r>
            <a:r>
              <a:rPr lang="nl-NL" sz="1800" i="1" dirty="0" smtClean="0"/>
              <a:t>)</a:t>
            </a:r>
            <a:endParaRPr lang="nl-NL" sz="2000" i="1" dirty="0" smtClean="0"/>
          </a:p>
          <a:p>
            <a:endParaRPr lang="nl-NL" sz="2000" dirty="0" smtClean="0"/>
          </a:p>
        </p:txBody>
      </p:sp>
      <p:sp>
        <p:nvSpPr>
          <p:cNvPr id="18" name="Rectangle 17"/>
          <p:cNvSpPr/>
          <p:nvPr/>
        </p:nvSpPr>
        <p:spPr>
          <a:xfrm>
            <a:off x="4355976" y="1556792"/>
            <a:ext cx="1656184" cy="646331"/>
          </a:xfrm>
          <a:prstGeom prst="rect">
            <a:avLst/>
          </a:prstGeom>
        </p:spPr>
        <p:txBody>
          <a:bodyPr wrap="square">
            <a:spAutoFit/>
          </a:bodyPr>
          <a:lstStyle/>
          <a:p>
            <a:r>
              <a:rPr lang="nl-NL" b="1" dirty="0" smtClean="0"/>
              <a:t>∃x (</a:t>
            </a:r>
            <a:r>
              <a:rPr lang="nl-NL" b="1" dirty="0" err="1" smtClean="0"/>
              <a:t>Px</a:t>
            </a:r>
            <a:r>
              <a:rPr lang="nl-NL" b="1" dirty="0" smtClean="0"/>
              <a:t> ∧ ¬</a:t>
            </a:r>
            <a:r>
              <a:rPr lang="nl-NL" b="1" dirty="0" err="1" smtClean="0"/>
              <a:t>Nx</a:t>
            </a:r>
            <a:r>
              <a:rPr lang="nl-NL" b="1" dirty="0" smtClean="0"/>
              <a:t>) </a:t>
            </a:r>
            <a:endParaRPr lang="nl-NL" dirty="0" smtClean="0"/>
          </a:p>
          <a:p>
            <a:r>
              <a:rPr lang="nl-NL" b="1" dirty="0" smtClean="0"/>
              <a:t> </a:t>
            </a:r>
            <a:endParaRPr lang="nl-NL" dirty="0"/>
          </a:p>
        </p:txBody>
      </p:sp>
      <p:sp>
        <p:nvSpPr>
          <p:cNvPr id="19" name="Rectangle 18"/>
          <p:cNvSpPr/>
          <p:nvPr/>
        </p:nvSpPr>
        <p:spPr>
          <a:xfrm>
            <a:off x="6300192" y="1556792"/>
            <a:ext cx="2016224" cy="646331"/>
          </a:xfrm>
          <a:prstGeom prst="rect">
            <a:avLst/>
          </a:prstGeom>
        </p:spPr>
        <p:txBody>
          <a:bodyPr wrap="square">
            <a:spAutoFit/>
          </a:bodyPr>
          <a:lstStyle/>
          <a:p>
            <a:r>
              <a:rPr lang="nl-NL" dirty="0" err="1" smtClean="0"/>
              <a:t>Px</a:t>
            </a:r>
            <a:r>
              <a:rPr lang="nl-NL" dirty="0" smtClean="0"/>
              <a:t>: x is politicus</a:t>
            </a:r>
          </a:p>
          <a:p>
            <a:r>
              <a:rPr lang="nl-NL" dirty="0" err="1" smtClean="0"/>
              <a:t>Nx</a:t>
            </a:r>
            <a:r>
              <a:rPr lang="nl-NL" dirty="0" smtClean="0"/>
              <a:t>: x is netwerker </a:t>
            </a:r>
            <a:endParaRPr lang="nl-NL" dirty="0"/>
          </a:p>
        </p:txBody>
      </p:sp>
      <p:sp>
        <p:nvSpPr>
          <p:cNvPr id="23" name="Content Placeholder 2"/>
          <p:cNvSpPr txBox="1">
            <a:spLocks/>
          </p:cNvSpPr>
          <p:nvPr/>
        </p:nvSpPr>
        <p:spPr>
          <a:xfrm>
            <a:off x="-180528" y="2420888"/>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Niemand</a:t>
            </a:r>
            <a:r>
              <a:rPr kumimoji="0" lang="nl-NL" sz="2000" b="0" i="0" u="none" strike="noStrike" kern="1200" cap="none" spc="0" normalizeH="0" noProof="0" dirty="0" smtClean="0">
                <a:ln>
                  <a:noFill/>
                </a:ln>
                <a:solidFill>
                  <a:schemeClr val="tx1"/>
                </a:solidFill>
                <a:effectLst/>
                <a:uLnTx/>
                <a:uFillTx/>
                <a:latin typeface="+mn-lt"/>
                <a:ea typeface="+mn-ea"/>
                <a:cs typeface="+mn-cs"/>
              </a:rPr>
              <a:t> is zowel  jonger dan 20 als ouder dan 20</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 name="Rectangle 23"/>
          <p:cNvSpPr/>
          <p:nvPr/>
        </p:nvSpPr>
        <p:spPr>
          <a:xfrm>
            <a:off x="4355976" y="2420889"/>
            <a:ext cx="1512168" cy="646331"/>
          </a:xfrm>
          <a:prstGeom prst="rect">
            <a:avLst/>
          </a:prstGeom>
        </p:spPr>
        <p:txBody>
          <a:bodyPr wrap="square">
            <a:spAutoFit/>
          </a:bodyPr>
          <a:lstStyle/>
          <a:p>
            <a:r>
              <a:rPr lang="nl-NL" b="1" dirty="0" smtClean="0"/>
              <a:t>¬∃x (</a:t>
            </a:r>
            <a:r>
              <a:rPr lang="nl-NL" b="1" dirty="0" err="1" smtClean="0"/>
              <a:t>Jx</a:t>
            </a:r>
            <a:r>
              <a:rPr lang="nl-NL" b="1" dirty="0" smtClean="0"/>
              <a:t> ∧ </a:t>
            </a:r>
            <a:r>
              <a:rPr lang="nl-NL" b="1" dirty="0" err="1" smtClean="0"/>
              <a:t>Ox</a:t>
            </a:r>
            <a:r>
              <a:rPr lang="nl-NL" b="1" dirty="0" smtClean="0"/>
              <a:t>) </a:t>
            </a:r>
            <a:endParaRPr lang="nl-NL" dirty="0" smtClean="0"/>
          </a:p>
          <a:p>
            <a:r>
              <a:rPr lang="nl-NL" b="1" dirty="0" smtClean="0"/>
              <a:t> </a:t>
            </a:r>
            <a:endParaRPr lang="nl-NL" dirty="0"/>
          </a:p>
        </p:txBody>
      </p:sp>
      <p:sp>
        <p:nvSpPr>
          <p:cNvPr id="25" name="Rectangle 24"/>
          <p:cNvSpPr/>
          <p:nvPr/>
        </p:nvSpPr>
        <p:spPr>
          <a:xfrm>
            <a:off x="6300192" y="2420888"/>
            <a:ext cx="2448272" cy="646331"/>
          </a:xfrm>
          <a:prstGeom prst="rect">
            <a:avLst/>
          </a:prstGeom>
        </p:spPr>
        <p:txBody>
          <a:bodyPr wrap="square">
            <a:spAutoFit/>
          </a:bodyPr>
          <a:lstStyle/>
          <a:p>
            <a:r>
              <a:rPr lang="nl-NL" dirty="0" err="1" smtClean="0"/>
              <a:t>Jx</a:t>
            </a:r>
            <a:r>
              <a:rPr lang="nl-NL" dirty="0" smtClean="0"/>
              <a:t>: x is jonger dan 20</a:t>
            </a:r>
          </a:p>
          <a:p>
            <a:r>
              <a:rPr lang="nl-NL" dirty="0" err="1" smtClean="0"/>
              <a:t>Ox</a:t>
            </a:r>
            <a:r>
              <a:rPr lang="nl-NL" dirty="0" smtClean="0"/>
              <a:t>: x is ouder dan 20</a:t>
            </a:r>
            <a:endParaRPr lang="nl-NL" dirty="0"/>
          </a:p>
        </p:txBody>
      </p:sp>
      <p:sp>
        <p:nvSpPr>
          <p:cNvPr id="37" name="Rectangle 36"/>
          <p:cNvSpPr/>
          <p:nvPr/>
        </p:nvSpPr>
        <p:spPr>
          <a:xfrm>
            <a:off x="4355976" y="2782669"/>
            <a:ext cx="1656184" cy="646331"/>
          </a:xfrm>
          <a:prstGeom prst="rect">
            <a:avLst/>
          </a:prstGeom>
        </p:spPr>
        <p:txBody>
          <a:bodyPr wrap="square">
            <a:spAutoFit/>
          </a:bodyPr>
          <a:lstStyle/>
          <a:p>
            <a:r>
              <a:rPr lang="nl-NL" b="1" dirty="0" smtClean="0"/>
              <a:t>∀x ¬(</a:t>
            </a:r>
            <a:r>
              <a:rPr lang="nl-NL" b="1" dirty="0" err="1" smtClean="0"/>
              <a:t>Jx</a:t>
            </a:r>
            <a:r>
              <a:rPr lang="nl-NL" b="1" dirty="0" smtClean="0"/>
              <a:t> ∧ </a:t>
            </a:r>
            <a:r>
              <a:rPr lang="nl-NL" b="1" dirty="0" err="1" smtClean="0"/>
              <a:t>Ox</a:t>
            </a:r>
            <a:r>
              <a:rPr lang="nl-NL" b="1" dirty="0" smtClean="0"/>
              <a:t>) </a:t>
            </a:r>
            <a:endParaRPr lang="nl-NL" dirty="0" smtClean="0"/>
          </a:p>
          <a:p>
            <a:r>
              <a:rPr lang="nl-NL" b="1" dirty="0" smtClean="0"/>
              <a:t> </a:t>
            </a:r>
            <a:endParaRPr lang="nl-NL" dirty="0"/>
          </a:p>
        </p:txBody>
      </p:sp>
      <p:sp>
        <p:nvSpPr>
          <p:cNvPr id="38" name="Content Placeholder 2"/>
          <p:cNvSpPr txBox="1">
            <a:spLocks/>
          </p:cNvSpPr>
          <p:nvPr/>
        </p:nvSpPr>
        <p:spPr>
          <a:xfrm>
            <a:off x="-180528" y="3328393"/>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Iedereen heeft vakantie, maar sommigen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blijve</a:t>
            </a:r>
            <a:r>
              <a:rPr lang="nl-NL" sz="2000" dirty="0" smtClean="0"/>
              <a:t>n thuis</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9" name="Rectangle 38"/>
          <p:cNvSpPr/>
          <p:nvPr/>
        </p:nvSpPr>
        <p:spPr>
          <a:xfrm>
            <a:off x="4355976" y="3356992"/>
            <a:ext cx="1656184" cy="646331"/>
          </a:xfrm>
          <a:prstGeom prst="rect">
            <a:avLst/>
          </a:prstGeom>
        </p:spPr>
        <p:txBody>
          <a:bodyPr wrap="square">
            <a:spAutoFit/>
          </a:bodyPr>
          <a:lstStyle/>
          <a:p>
            <a:r>
              <a:rPr lang="nl-NL" b="1" dirty="0" smtClean="0"/>
              <a:t>∀x </a:t>
            </a:r>
            <a:r>
              <a:rPr lang="nl-NL" b="1" dirty="0" err="1" smtClean="0"/>
              <a:t>Vx</a:t>
            </a:r>
            <a:r>
              <a:rPr lang="nl-NL" b="1" dirty="0" smtClean="0"/>
              <a:t> ∧ ∃y </a:t>
            </a:r>
            <a:r>
              <a:rPr lang="nl-NL" b="1" dirty="0" err="1" smtClean="0"/>
              <a:t>Ty</a:t>
            </a:r>
            <a:r>
              <a:rPr lang="nl-NL" b="1" dirty="0" smtClean="0"/>
              <a:t> </a:t>
            </a:r>
            <a:endParaRPr lang="nl-NL" dirty="0" smtClean="0"/>
          </a:p>
          <a:p>
            <a:r>
              <a:rPr lang="nl-NL" b="1" dirty="0" smtClean="0"/>
              <a:t> </a:t>
            </a:r>
            <a:endParaRPr lang="nl-NL" dirty="0"/>
          </a:p>
        </p:txBody>
      </p:sp>
      <p:sp>
        <p:nvSpPr>
          <p:cNvPr id="40" name="Rectangle 39"/>
          <p:cNvSpPr/>
          <p:nvPr/>
        </p:nvSpPr>
        <p:spPr>
          <a:xfrm>
            <a:off x="6300192" y="3286725"/>
            <a:ext cx="2448272" cy="646331"/>
          </a:xfrm>
          <a:prstGeom prst="rect">
            <a:avLst/>
          </a:prstGeom>
        </p:spPr>
        <p:txBody>
          <a:bodyPr wrap="square">
            <a:spAutoFit/>
          </a:bodyPr>
          <a:lstStyle/>
          <a:p>
            <a:r>
              <a:rPr lang="nl-NL" dirty="0" err="1" smtClean="0"/>
              <a:t>Vx</a:t>
            </a:r>
            <a:r>
              <a:rPr lang="nl-NL" dirty="0" smtClean="0"/>
              <a:t>: x heeft vakantie</a:t>
            </a:r>
          </a:p>
          <a:p>
            <a:r>
              <a:rPr lang="nl-NL" dirty="0" err="1" smtClean="0"/>
              <a:t>Ty</a:t>
            </a:r>
            <a:r>
              <a:rPr lang="nl-NL" dirty="0" smtClean="0"/>
              <a:t>: y blijft thuis</a:t>
            </a:r>
            <a:endParaRPr lang="nl-NL" dirty="0"/>
          </a:p>
        </p:txBody>
      </p:sp>
      <p:sp>
        <p:nvSpPr>
          <p:cNvPr id="41" name="Content Placeholder 2"/>
          <p:cNvSpPr txBox="1">
            <a:spLocks/>
          </p:cNvSpPr>
          <p:nvPr/>
        </p:nvSpPr>
        <p:spPr>
          <a:xfrm>
            <a:off x="-180528" y="4149080"/>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Iedereen</a:t>
            </a:r>
            <a:r>
              <a:rPr kumimoji="0" lang="nl-NL" sz="2000" b="0" i="0" u="none" strike="noStrike" kern="1200" cap="none" spc="0" normalizeH="0" noProof="0" dirty="0" smtClean="0">
                <a:ln>
                  <a:noFill/>
                </a:ln>
                <a:solidFill>
                  <a:schemeClr val="tx1"/>
                </a:solidFill>
                <a:effectLst/>
                <a:uLnTx/>
                <a:uFillTx/>
                <a:latin typeface="+mn-lt"/>
                <a:ea typeface="+mn-ea"/>
                <a:cs typeface="+mn-cs"/>
              </a:rPr>
              <a:t> lacht, maar niet iedereen is vrolijk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2" name="Rectangle 41"/>
          <p:cNvSpPr/>
          <p:nvPr/>
        </p:nvSpPr>
        <p:spPr>
          <a:xfrm>
            <a:off x="4355976" y="4150821"/>
            <a:ext cx="1800200" cy="646331"/>
          </a:xfrm>
          <a:prstGeom prst="rect">
            <a:avLst/>
          </a:prstGeom>
        </p:spPr>
        <p:txBody>
          <a:bodyPr wrap="square">
            <a:spAutoFit/>
          </a:bodyPr>
          <a:lstStyle/>
          <a:p>
            <a:r>
              <a:rPr lang="nl-NL" b="1" dirty="0" smtClean="0"/>
              <a:t>∀x Lx ∧ ¬∀y </a:t>
            </a:r>
            <a:r>
              <a:rPr lang="nl-NL" b="1" dirty="0" err="1" smtClean="0"/>
              <a:t>By</a:t>
            </a:r>
            <a:r>
              <a:rPr lang="nl-NL" b="1" dirty="0" smtClean="0"/>
              <a:t> </a:t>
            </a:r>
            <a:endParaRPr lang="nl-NL" dirty="0" smtClean="0"/>
          </a:p>
          <a:p>
            <a:r>
              <a:rPr lang="nl-NL" b="1" dirty="0" smtClean="0"/>
              <a:t> </a:t>
            </a:r>
            <a:endParaRPr lang="nl-NL" dirty="0"/>
          </a:p>
        </p:txBody>
      </p:sp>
      <p:sp>
        <p:nvSpPr>
          <p:cNvPr id="43" name="Rectangle 42"/>
          <p:cNvSpPr/>
          <p:nvPr/>
        </p:nvSpPr>
        <p:spPr>
          <a:xfrm>
            <a:off x="6300192" y="4078813"/>
            <a:ext cx="2448272" cy="646331"/>
          </a:xfrm>
          <a:prstGeom prst="rect">
            <a:avLst/>
          </a:prstGeom>
        </p:spPr>
        <p:txBody>
          <a:bodyPr wrap="square">
            <a:spAutoFit/>
          </a:bodyPr>
          <a:lstStyle/>
          <a:p>
            <a:r>
              <a:rPr lang="nl-NL" dirty="0" smtClean="0"/>
              <a:t>Lx: x lacht</a:t>
            </a:r>
          </a:p>
          <a:p>
            <a:r>
              <a:rPr lang="nl-NL" dirty="0" err="1" smtClean="0"/>
              <a:t>By</a:t>
            </a:r>
            <a:r>
              <a:rPr lang="nl-NL" dirty="0" smtClean="0"/>
              <a:t>: y is vrolijk</a:t>
            </a:r>
            <a:endParaRPr lang="nl-NL" dirty="0"/>
          </a:p>
        </p:txBody>
      </p:sp>
      <p:sp>
        <p:nvSpPr>
          <p:cNvPr id="44" name="Content Placeholder 2"/>
          <p:cNvSpPr txBox="1">
            <a:spLocks/>
          </p:cNvSpPr>
          <p:nvPr/>
        </p:nvSpPr>
        <p:spPr>
          <a:xfrm>
            <a:off x="-180528" y="5257799"/>
            <a:ext cx="1296144" cy="676671"/>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∃x </a:t>
            </a:r>
            <a:r>
              <a:rPr lang="nl-NL" sz="2000" dirty="0" err="1" smtClean="0"/>
              <a:t>Fx</a:t>
            </a:r>
            <a:r>
              <a:rPr lang="nl-NL" sz="2000" dirty="0" smtClean="0"/>
              <a:t> </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7" name="Content Placeholder 2"/>
          <p:cNvSpPr txBox="1">
            <a:spLocks/>
          </p:cNvSpPr>
          <p:nvPr/>
        </p:nvSpPr>
        <p:spPr>
          <a:xfrm>
            <a:off x="2915816" y="5229200"/>
            <a:ext cx="3744416" cy="676671"/>
          </a:xfrm>
          <a:prstGeom prst="rect">
            <a:avLst/>
          </a:prstGeom>
        </p:spPr>
        <p:txBody>
          <a:bodyPr vert="horz" lIns="91440" tIns="45720" rIns="91440" bIns="45720" rtlCol="0">
            <a:noAutofit/>
          </a:bodyPr>
          <a:lstStyle/>
          <a:p>
            <a:pPr marL="342900" lvl="0" indent="-342900">
              <a:spcBef>
                <a:spcPct val="20000"/>
              </a:spcBef>
            </a:pP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lang="nl-NL" sz="2000" b="1" dirty="0" smtClean="0"/>
              <a:t>¬∀x ¬</a:t>
            </a:r>
            <a:r>
              <a:rPr lang="nl-NL" sz="2000" b="1" dirty="0" err="1" smtClean="0"/>
              <a:t>Fx</a:t>
            </a:r>
            <a:r>
              <a:rPr lang="nl-NL" sz="2000" b="1" dirty="0" smtClean="0"/>
              <a:t> </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8" name="Content Placeholder 2"/>
          <p:cNvSpPr txBox="1">
            <a:spLocks/>
          </p:cNvSpPr>
          <p:nvPr/>
        </p:nvSpPr>
        <p:spPr>
          <a:xfrm>
            <a:off x="-180528" y="5733256"/>
            <a:ext cx="1224136" cy="676671"/>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∀x</a:t>
            </a:r>
            <a:r>
              <a:rPr lang="nl-NL" sz="2000" b="1" dirty="0" smtClean="0"/>
              <a:t> </a:t>
            </a:r>
            <a:r>
              <a:rPr lang="nl-NL" sz="2000" dirty="0" err="1" smtClean="0"/>
              <a:t>Fx</a:t>
            </a:r>
            <a:r>
              <a:rPr lang="nl-NL" sz="2000" dirty="0" smtClean="0"/>
              <a:t> </a:t>
            </a:r>
            <a:endParaRPr kumimoji="0" lang="nl-NL" sz="2000"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9" name="Content Placeholder 2"/>
          <p:cNvSpPr txBox="1">
            <a:spLocks/>
          </p:cNvSpPr>
          <p:nvPr/>
        </p:nvSpPr>
        <p:spPr>
          <a:xfrm>
            <a:off x="2915816" y="5704657"/>
            <a:ext cx="3744416" cy="676671"/>
          </a:xfrm>
          <a:prstGeom prst="rect">
            <a:avLst/>
          </a:prstGeom>
        </p:spPr>
        <p:txBody>
          <a:bodyPr vert="horz" lIns="91440" tIns="45720" rIns="91440" bIns="45720" rtlCol="0">
            <a:noAutofit/>
          </a:bodyPr>
          <a:lstStyle/>
          <a:p>
            <a:pPr marL="342900" lvl="0" indent="-342900">
              <a:spcBef>
                <a:spcPct val="20000"/>
              </a:spcBef>
            </a:pP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lang="nl-NL" sz="2000" b="1" dirty="0" smtClean="0"/>
              <a:t>¬∃x ¬</a:t>
            </a:r>
            <a:r>
              <a:rPr lang="nl-NL" sz="2000" b="1" dirty="0" err="1" smtClean="0"/>
              <a:t>Fx</a:t>
            </a:r>
            <a:r>
              <a:rPr lang="nl-NL" sz="2000" b="1" dirty="0" smtClean="0"/>
              <a:t> </a:t>
            </a:r>
            <a:endParaRPr kumimoji="0" lang="nl-NL" sz="2000" b="1" i="1"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cxnSp>
        <p:nvCxnSpPr>
          <p:cNvPr id="53" name="Straight Arrow Connector 52"/>
          <p:cNvCxnSpPr/>
          <p:nvPr/>
        </p:nvCxnSpPr>
        <p:spPr>
          <a:xfrm>
            <a:off x="1331640" y="5445224"/>
            <a:ext cx="1440160" cy="0"/>
          </a:xfrm>
          <a:prstGeom prst="straightConnector1">
            <a:avLst/>
          </a:prstGeom>
          <a:ln w="25400">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1331640" y="5949280"/>
            <a:ext cx="1440160" cy="0"/>
          </a:xfrm>
          <a:prstGeom prst="straightConnector1">
            <a:avLst/>
          </a:prstGeom>
          <a:ln w="25400">
            <a:solidFill>
              <a:srgbClr val="0070C0"/>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2000"/>
                                        <p:tgtEl>
                                          <p:spTgt spid="1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fade">
                                      <p:cBhvr>
                                        <p:cTn id="13" dur="2000"/>
                                        <p:tgtEl>
                                          <p:spTgt spid="19">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1" end="1"/>
                                            </p:txEl>
                                          </p:spTgt>
                                        </p:tgtEl>
                                        <p:attrNameLst>
                                          <p:attrName>style.visibility</p:attrName>
                                        </p:attrNameLst>
                                      </p:cBhvr>
                                      <p:to>
                                        <p:strVal val="visible"/>
                                      </p:to>
                                    </p:set>
                                    <p:animEffect transition="in" filter="fade">
                                      <p:cBhvr>
                                        <p:cTn id="16" dur="2000"/>
                                        <p:tgtEl>
                                          <p:spTgt spid="1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xEl>
                                              <p:pRg st="0" end="0"/>
                                            </p:txEl>
                                          </p:spTgt>
                                        </p:tgtEl>
                                        <p:attrNameLst>
                                          <p:attrName>style.visibility</p:attrName>
                                        </p:attrNameLst>
                                      </p:cBhvr>
                                      <p:to>
                                        <p:strVal val="visible"/>
                                      </p:to>
                                    </p:set>
                                    <p:animEffect transition="in" filter="fade">
                                      <p:cBhvr>
                                        <p:cTn id="21" dur="2000"/>
                                        <p:tgtEl>
                                          <p:spTgt spid="2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4">
                                            <p:txEl>
                                              <p:pRg st="0" end="0"/>
                                            </p:txEl>
                                          </p:spTgt>
                                        </p:tgtEl>
                                        <p:attrNameLst>
                                          <p:attrName>style.visibility</p:attrName>
                                        </p:attrNameLst>
                                      </p:cBhvr>
                                      <p:to>
                                        <p:strVal val="visible"/>
                                      </p:to>
                                    </p:set>
                                    <p:animEffect transition="in" filter="fade">
                                      <p:cBhvr>
                                        <p:cTn id="26" dur="2000"/>
                                        <p:tgtEl>
                                          <p:spTgt spid="24">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4">
                                            <p:txEl>
                                              <p:pRg st="1" end="1"/>
                                            </p:txEl>
                                          </p:spTgt>
                                        </p:tgtEl>
                                        <p:attrNameLst>
                                          <p:attrName>style.visibility</p:attrName>
                                        </p:attrNameLst>
                                      </p:cBhvr>
                                      <p:to>
                                        <p:strVal val="visible"/>
                                      </p:to>
                                    </p:set>
                                    <p:animEffect transition="in" filter="fade">
                                      <p:cBhvr>
                                        <p:cTn id="29" dur="2000"/>
                                        <p:tgtEl>
                                          <p:spTgt spid="24">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xEl>
                                              <p:pRg st="0" end="0"/>
                                            </p:txEl>
                                          </p:spTgt>
                                        </p:tgtEl>
                                        <p:attrNameLst>
                                          <p:attrName>style.visibility</p:attrName>
                                        </p:attrNameLst>
                                      </p:cBhvr>
                                      <p:to>
                                        <p:strVal val="visible"/>
                                      </p:to>
                                    </p:set>
                                    <p:animEffect transition="in" filter="fade">
                                      <p:cBhvr>
                                        <p:cTn id="32" dur="2000"/>
                                        <p:tgtEl>
                                          <p:spTgt spid="25">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xEl>
                                              <p:pRg st="1" end="1"/>
                                            </p:txEl>
                                          </p:spTgt>
                                        </p:tgtEl>
                                        <p:attrNameLst>
                                          <p:attrName>style.visibility</p:attrName>
                                        </p:attrNameLst>
                                      </p:cBhvr>
                                      <p:to>
                                        <p:strVal val="visible"/>
                                      </p:to>
                                    </p:set>
                                    <p:animEffect transition="in" filter="fade">
                                      <p:cBhvr>
                                        <p:cTn id="35" dur="2000"/>
                                        <p:tgtEl>
                                          <p:spTgt spid="25">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7">
                                            <p:txEl>
                                              <p:pRg st="0" end="0"/>
                                            </p:txEl>
                                          </p:spTgt>
                                        </p:tgtEl>
                                        <p:attrNameLst>
                                          <p:attrName>style.visibility</p:attrName>
                                        </p:attrNameLst>
                                      </p:cBhvr>
                                      <p:to>
                                        <p:strVal val="visible"/>
                                      </p:to>
                                    </p:set>
                                    <p:animEffect transition="in" filter="fade">
                                      <p:cBhvr>
                                        <p:cTn id="40" dur="2000"/>
                                        <p:tgtEl>
                                          <p:spTgt spid="37">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xEl>
                                              <p:pRg st="1" end="1"/>
                                            </p:txEl>
                                          </p:spTgt>
                                        </p:tgtEl>
                                        <p:attrNameLst>
                                          <p:attrName>style.visibility</p:attrName>
                                        </p:attrNameLst>
                                      </p:cBhvr>
                                      <p:to>
                                        <p:strVal val="visible"/>
                                      </p:to>
                                    </p:set>
                                    <p:animEffect transition="in" filter="fade">
                                      <p:cBhvr>
                                        <p:cTn id="43" dur="2000"/>
                                        <p:tgtEl>
                                          <p:spTgt spid="37">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8">
                                            <p:txEl>
                                              <p:pRg st="0" end="0"/>
                                            </p:txEl>
                                          </p:spTgt>
                                        </p:tgtEl>
                                        <p:attrNameLst>
                                          <p:attrName>style.visibility</p:attrName>
                                        </p:attrNameLst>
                                      </p:cBhvr>
                                      <p:to>
                                        <p:strVal val="visible"/>
                                      </p:to>
                                    </p:set>
                                    <p:animEffect transition="in" filter="fade">
                                      <p:cBhvr>
                                        <p:cTn id="48" dur="2000"/>
                                        <p:tgtEl>
                                          <p:spTgt spid="3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9">
                                            <p:txEl>
                                              <p:pRg st="0" end="0"/>
                                            </p:txEl>
                                          </p:spTgt>
                                        </p:tgtEl>
                                        <p:attrNameLst>
                                          <p:attrName>style.visibility</p:attrName>
                                        </p:attrNameLst>
                                      </p:cBhvr>
                                      <p:to>
                                        <p:strVal val="visible"/>
                                      </p:to>
                                    </p:set>
                                    <p:animEffect transition="in" filter="fade">
                                      <p:cBhvr>
                                        <p:cTn id="53" dur="2000"/>
                                        <p:tgtEl>
                                          <p:spTgt spid="39">
                                            <p:txEl>
                                              <p:pRg st="0" end="0"/>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9">
                                            <p:txEl>
                                              <p:pRg st="1" end="1"/>
                                            </p:txEl>
                                          </p:spTgt>
                                        </p:tgtEl>
                                        <p:attrNameLst>
                                          <p:attrName>style.visibility</p:attrName>
                                        </p:attrNameLst>
                                      </p:cBhvr>
                                      <p:to>
                                        <p:strVal val="visible"/>
                                      </p:to>
                                    </p:set>
                                    <p:animEffect transition="in" filter="fade">
                                      <p:cBhvr>
                                        <p:cTn id="56" dur="2000"/>
                                        <p:tgtEl>
                                          <p:spTgt spid="39">
                                            <p:txEl>
                                              <p:pRg st="1" end="1"/>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0">
                                            <p:txEl>
                                              <p:pRg st="0" end="0"/>
                                            </p:txEl>
                                          </p:spTgt>
                                        </p:tgtEl>
                                        <p:attrNameLst>
                                          <p:attrName>style.visibility</p:attrName>
                                        </p:attrNameLst>
                                      </p:cBhvr>
                                      <p:to>
                                        <p:strVal val="visible"/>
                                      </p:to>
                                    </p:set>
                                    <p:animEffect transition="in" filter="fade">
                                      <p:cBhvr>
                                        <p:cTn id="59" dur="2000"/>
                                        <p:tgtEl>
                                          <p:spTgt spid="40">
                                            <p:txEl>
                                              <p:pRg st="0" end="0"/>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0">
                                            <p:txEl>
                                              <p:pRg st="1" end="1"/>
                                            </p:txEl>
                                          </p:spTgt>
                                        </p:tgtEl>
                                        <p:attrNameLst>
                                          <p:attrName>style.visibility</p:attrName>
                                        </p:attrNameLst>
                                      </p:cBhvr>
                                      <p:to>
                                        <p:strVal val="visible"/>
                                      </p:to>
                                    </p:set>
                                    <p:animEffect transition="in" filter="fade">
                                      <p:cBhvr>
                                        <p:cTn id="62" dur="2000"/>
                                        <p:tgtEl>
                                          <p:spTgt spid="40">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1">
                                            <p:txEl>
                                              <p:pRg st="0" end="0"/>
                                            </p:txEl>
                                          </p:spTgt>
                                        </p:tgtEl>
                                        <p:attrNameLst>
                                          <p:attrName>style.visibility</p:attrName>
                                        </p:attrNameLst>
                                      </p:cBhvr>
                                      <p:to>
                                        <p:strVal val="visible"/>
                                      </p:to>
                                    </p:set>
                                    <p:animEffect transition="in" filter="fade">
                                      <p:cBhvr>
                                        <p:cTn id="67" dur="2000"/>
                                        <p:tgtEl>
                                          <p:spTgt spid="41">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2">
                                            <p:txEl>
                                              <p:pRg st="0" end="0"/>
                                            </p:txEl>
                                          </p:spTgt>
                                        </p:tgtEl>
                                        <p:attrNameLst>
                                          <p:attrName>style.visibility</p:attrName>
                                        </p:attrNameLst>
                                      </p:cBhvr>
                                      <p:to>
                                        <p:strVal val="visible"/>
                                      </p:to>
                                    </p:set>
                                    <p:animEffect transition="in" filter="fade">
                                      <p:cBhvr>
                                        <p:cTn id="72" dur="2000"/>
                                        <p:tgtEl>
                                          <p:spTgt spid="42">
                                            <p:txEl>
                                              <p:pRg st="0" end="0"/>
                                            </p:txEl>
                                          </p:spTgt>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2">
                                            <p:txEl>
                                              <p:pRg st="1" end="1"/>
                                            </p:txEl>
                                          </p:spTgt>
                                        </p:tgtEl>
                                        <p:attrNameLst>
                                          <p:attrName>style.visibility</p:attrName>
                                        </p:attrNameLst>
                                      </p:cBhvr>
                                      <p:to>
                                        <p:strVal val="visible"/>
                                      </p:to>
                                    </p:set>
                                    <p:animEffect transition="in" filter="fade">
                                      <p:cBhvr>
                                        <p:cTn id="75" dur="2000"/>
                                        <p:tgtEl>
                                          <p:spTgt spid="42">
                                            <p:txEl>
                                              <p:pRg st="1" end="1"/>
                                            </p:txEl>
                                          </p:spTgt>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xEl>
                                              <p:pRg st="0" end="0"/>
                                            </p:txEl>
                                          </p:spTgt>
                                        </p:tgtEl>
                                        <p:attrNameLst>
                                          <p:attrName>style.visibility</p:attrName>
                                        </p:attrNameLst>
                                      </p:cBhvr>
                                      <p:to>
                                        <p:strVal val="visible"/>
                                      </p:to>
                                    </p:set>
                                    <p:animEffect transition="in" filter="fade">
                                      <p:cBhvr>
                                        <p:cTn id="78" dur="2000"/>
                                        <p:tgtEl>
                                          <p:spTgt spid="43">
                                            <p:txEl>
                                              <p:pRg st="0" end="0"/>
                                            </p:txEl>
                                          </p:spTgt>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3">
                                            <p:txEl>
                                              <p:pRg st="1" end="1"/>
                                            </p:txEl>
                                          </p:spTgt>
                                        </p:tgtEl>
                                        <p:attrNameLst>
                                          <p:attrName>style.visibility</p:attrName>
                                        </p:attrNameLst>
                                      </p:cBhvr>
                                      <p:to>
                                        <p:strVal val="visible"/>
                                      </p:to>
                                    </p:set>
                                    <p:animEffect transition="in" filter="fade">
                                      <p:cBhvr>
                                        <p:cTn id="81" dur="2000"/>
                                        <p:tgtEl>
                                          <p:spTgt spid="43">
                                            <p:txEl>
                                              <p:pRg st="1" end="1"/>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4">
                                            <p:txEl>
                                              <p:pRg st="0" end="0"/>
                                            </p:txEl>
                                          </p:spTgt>
                                        </p:tgtEl>
                                        <p:attrNameLst>
                                          <p:attrName>style.visibility</p:attrName>
                                        </p:attrNameLst>
                                      </p:cBhvr>
                                      <p:to>
                                        <p:strVal val="visible"/>
                                      </p:to>
                                    </p:set>
                                    <p:animEffect transition="in" filter="fade">
                                      <p:cBhvr>
                                        <p:cTn id="86" dur="2000"/>
                                        <p:tgtEl>
                                          <p:spTgt spid="44">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7">
                                            <p:txEl>
                                              <p:pRg st="0" end="0"/>
                                            </p:txEl>
                                          </p:spTgt>
                                        </p:tgtEl>
                                        <p:attrNameLst>
                                          <p:attrName>style.visibility</p:attrName>
                                        </p:attrNameLst>
                                      </p:cBhvr>
                                      <p:to>
                                        <p:strVal val="visible"/>
                                      </p:to>
                                    </p:set>
                                    <p:animEffect transition="in" filter="fade">
                                      <p:cBhvr>
                                        <p:cTn id="91" dur="2000"/>
                                        <p:tgtEl>
                                          <p:spTgt spid="47">
                                            <p:txEl>
                                              <p:pRg st="0" end="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48">
                                            <p:txEl>
                                              <p:pRg st="0" end="0"/>
                                            </p:txEl>
                                          </p:spTgt>
                                        </p:tgtEl>
                                        <p:attrNameLst>
                                          <p:attrName>style.visibility</p:attrName>
                                        </p:attrNameLst>
                                      </p:cBhvr>
                                      <p:to>
                                        <p:strVal val="visible"/>
                                      </p:to>
                                    </p:set>
                                    <p:animEffect transition="in" filter="fade">
                                      <p:cBhvr>
                                        <p:cTn id="96" dur="2000"/>
                                        <p:tgtEl>
                                          <p:spTgt spid="48">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9">
                                            <p:txEl>
                                              <p:pRg st="0" end="0"/>
                                            </p:txEl>
                                          </p:spTgt>
                                        </p:tgtEl>
                                        <p:attrNameLst>
                                          <p:attrName>style.visibility</p:attrName>
                                        </p:attrNameLst>
                                      </p:cBhvr>
                                      <p:to>
                                        <p:strVal val="visible"/>
                                      </p:to>
                                    </p:set>
                                    <p:animEffect transition="in" filter="fade">
                                      <p:cBhvr>
                                        <p:cTn id="101" dur="2000"/>
                                        <p:tgtEl>
                                          <p:spTgt spid="49">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53"/>
                                        </p:tgtEl>
                                        <p:attrNameLst>
                                          <p:attrName>style.visibility</p:attrName>
                                        </p:attrNameLst>
                                      </p:cBhvr>
                                      <p:to>
                                        <p:strVal val="visible"/>
                                      </p:to>
                                    </p:set>
                                    <p:animEffect transition="in" filter="fade">
                                      <p:cBhvr>
                                        <p:cTn id="106" dur="2000"/>
                                        <p:tgtEl>
                                          <p:spTgt spid="53"/>
                                        </p:tgtEl>
                                      </p:cBhvr>
                                    </p:animEffect>
                                  </p:childTnLst>
                                </p:cTn>
                              </p:par>
                              <p:par>
                                <p:cTn id="107" presetID="10" presetClass="entr" presetSubtype="0" fill="hold" nodeType="withEffect">
                                  <p:stCondLst>
                                    <p:cond delay="0"/>
                                  </p:stCondLst>
                                  <p:childTnLst>
                                    <p:set>
                                      <p:cBhvr>
                                        <p:cTn id="108" dur="1" fill="hold">
                                          <p:stCondLst>
                                            <p:cond delay="0"/>
                                          </p:stCondLst>
                                        </p:cTn>
                                        <p:tgtEl>
                                          <p:spTgt spid="55"/>
                                        </p:tgtEl>
                                        <p:attrNameLst>
                                          <p:attrName>style.visibility</p:attrName>
                                        </p:attrNameLst>
                                      </p:cBhvr>
                                      <p:to>
                                        <p:strVal val="visible"/>
                                      </p:to>
                                    </p:set>
                                    <p:animEffect transition="in" filter="fade">
                                      <p:cBhvr>
                                        <p:cTn id="109" dur="2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3" grpId="0" build="allAtOnce"/>
      <p:bldP spid="24" grpId="0" build="allAtOnce"/>
      <p:bldP spid="25" grpId="0" build="allAtOnce"/>
      <p:bldP spid="37" grpId="0" build="allAtOnce"/>
      <p:bldP spid="38" grpId="0" build="allAtOnce"/>
      <p:bldP spid="39" grpId="0" build="allAtOnce"/>
      <p:bldP spid="40" grpId="0" build="allAtOnce"/>
      <p:bldP spid="41" grpId="0" build="allAtOnce"/>
      <p:bldP spid="42" grpId="0" build="allAtOnce"/>
      <p:bldP spid="43" grpId="0" build="allAtOnce"/>
      <p:bldP spid="44" grpId="0" build="allAtOnce"/>
      <p:bldP spid="47" grpId="0" build="allAtOnce"/>
      <p:bldP spid="48" grpId="0" build="allAtOnce"/>
      <p:bldP spid="49" grpId="0" build="allAtOnce"/>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Existentiële import</a:t>
            </a:r>
            <a:endParaRPr lang="nl-NL" sz="3600" dirty="0"/>
          </a:p>
        </p:txBody>
      </p:sp>
      <p:sp>
        <p:nvSpPr>
          <p:cNvPr id="3" name="Content Placeholder 2"/>
          <p:cNvSpPr>
            <a:spLocks noGrp="1"/>
          </p:cNvSpPr>
          <p:nvPr>
            <p:ph idx="1"/>
          </p:nvPr>
        </p:nvSpPr>
        <p:spPr>
          <a:xfrm>
            <a:off x="-252536" y="1528193"/>
            <a:ext cx="5904656" cy="676671"/>
          </a:xfrm>
        </p:spPr>
        <p:txBody>
          <a:bodyPr>
            <a:noAutofit/>
          </a:bodyPr>
          <a:lstStyle/>
          <a:p>
            <a:pPr>
              <a:buNone/>
            </a:pPr>
            <a:r>
              <a:rPr lang="nl-NL" sz="2000" dirty="0" smtClean="0"/>
              <a:t>      Aan het </a:t>
            </a:r>
            <a:r>
              <a:rPr lang="nl-NL" sz="2000" i="1" dirty="0" smtClean="0"/>
              <a:t>domein</a:t>
            </a:r>
            <a:r>
              <a:rPr lang="nl-NL" sz="2000" dirty="0" smtClean="0"/>
              <a:t> D komt existentiële                              import toe</a:t>
            </a:r>
            <a:endParaRPr lang="nl-NL" sz="2000" i="1" dirty="0" smtClean="0"/>
          </a:p>
          <a:p>
            <a:endParaRPr lang="nl-NL" sz="2000" dirty="0" smtClean="0"/>
          </a:p>
        </p:txBody>
      </p:sp>
      <p:sp>
        <p:nvSpPr>
          <p:cNvPr id="22" name="Rectangle 21"/>
          <p:cNvSpPr/>
          <p:nvPr/>
        </p:nvSpPr>
        <p:spPr>
          <a:xfrm>
            <a:off x="179512" y="4221088"/>
            <a:ext cx="3528392" cy="216024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TextBox 25"/>
          <p:cNvSpPr txBox="1"/>
          <p:nvPr/>
        </p:nvSpPr>
        <p:spPr>
          <a:xfrm>
            <a:off x="3923928" y="6381328"/>
            <a:ext cx="576064" cy="461665"/>
          </a:xfrm>
          <a:prstGeom prst="rect">
            <a:avLst/>
          </a:prstGeom>
          <a:noFill/>
        </p:spPr>
        <p:txBody>
          <a:bodyPr wrap="square" rtlCol="0">
            <a:spAutoFit/>
          </a:bodyPr>
          <a:lstStyle/>
          <a:p>
            <a:r>
              <a:rPr lang="nl-NL" sz="2400" b="1" dirty="0" smtClean="0"/>
              <a:t>D</a:t>
            </a:r>
            <a:endParaRPr lang="nl-NL" b="1" dirty="0"/>
          </a:p>
        </p:txBody>
      </p:sp>
      <p:sp>
        <p:nvSpPr>
          <p:cNvPr id="27" name="Content Placeholder 2"/>
          <p:cNvSpPr txBox="1">
            <a:spLocks/>
          </p:cNvSpPr>
          <p:nvPr/>
        </p:nvSpPr>
        <p:spPr>
          <a:xfrm>
            <a:off x="4788024" y="1484784"/>
            <a:ext cx="3851920" cy="648072"/>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Er is tenminste één object in D</a:t>
            </a:r>
          </a:p>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Verzameling D is niet leeg (D</a:t>
            </a:r>
            <a:r>
              <a:rPr lang="nl-NL" sz="2000" dirty="0" smtClean="0"/>
              <a:t> ≠ Ø)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252536" y="2248273"/>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individuconstanten</a:t>
            </a:r>
            <a:r>
              <a:rPr kumimoji="0" lang="nl-NL" sz="2000" b="0" i="0" u="none" strike="noStrike" kern="1200" cap="none" spc="0" normalizeH="0" noProof="0" dirty="0" smtClean="0">
                <a:ln>
                  <a:noFill/>
                </a:ln>
                <a:solidFill>
                  <a:schemeClr val="tx1"/>
                </a:solidFill>
                <a:effectLst/>
                <a:uLnTx/>
                <a:uFillTx/>
                <a:latin typeface="+mn-lt"/>
                <a:ea typeface="+mn-ea"/>
                <a:cs typeface="+mn-cs"/>
              </a:rPr>
              <a:t> komt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4427984" y="1988840"/>
            <a:ext cx="3851920"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Iedere individuconstante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wijst naar precies één object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fade">
                                      <p:cBhvr>
                                        <p:cTn id="12" dur="2000"/>
                                        <p:tgtEl>
                                          <p:spTgt spid="2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7">
                                            <p:txEl>
                                              <p:pRg st="1" end="1"/>
                                            </p:txEl>
                                          </p:spTgt>
                                        </p:tgtEl>
                                        <p:attrNameLst>
                                          <p:attrName>style.visibility</p:attrName>
                                        </p:attrNameLst>
                                      </p:cBhvr>
                                      <p:to>
                                        <p:strVal val="visible"/>
                                      </p:to>
                                    </p:set>
                                    <p:animEffect transition="in" filter="fade">
                                      <p:cBhvr>
                                        <p:cTn id="15" dur="2000"/>
                                        <p:tgtEl>
                                          <p:spTgt spid="2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2000"/>
                                        <p:tgtEl>
                                          <p:spTgt spid="2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20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
                                            <p:txEl>
                                              <p:pRg st="0" end="0"/>
                                            </p:txEl>
                                          </p:spTgt>
                                        </p:tgtEl>
                                        <p:attrNameLst>
                                          <p:attrName>style.visibility</p:attrName>
                                        </p:attrNameLst>
                                      </p:cBhvr>
                                      <p:to>
                                        <p:strVal val="visible"/>
                                      </p:to>
                                    </p:set>
                                    <p:animEffect transition="in" filter="fade">
                                      <p:cBhvr>
                                        <p:cTn id="28" dur="2000"/>
                                        <p:tgtEl>
                                          <p:spTgt spid="2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xEl>
                                              <p:pRg st="0" end="0"/>
                                            </p:txEl>
                                          </p:spTgt>
                                        </p:tgtEl>
                                        <p:attrNameLst>
                                          <p:attrName>style.visibility</p:attrName>
                                        </p:attrNameLst>
                                      </p:cBhvr>
                                      <p:to>
                                        <p:strVal val="visible"/>
                                      </p:to>
                                    </p:set>
                                    <p:animEffect transition="in" filter="fade">
                                      <p:cBhvr>
                                        <p:cTn id="33" dur="20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22" grpId="0" animBg="1"/>
      <p:bldP spid="26" grpId="0"/>
      <p:bldP spid="27" grpId="0" build="allAtOnce"/>
      <p:bldP spid="28" grpId="0" build="allAtOnce"/>
      <p:bldP spid="29" grpId="0" build="allAtOnce"/>
    </p:bld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Existentiële import</a:t>
            </a:r>
            <a:endParaRPr lang="nl-NL" sz="3600" dirty="0"/>
          </a:p>
        </p:txBody>
      </p:sp>
      <p:sp>
        <p:nvSpPr>
          <p:cNvPr id="3" name="Content Placeholder 2"/>
          <p:cNvSpPr>
            <a:spLocks noGrp="1"/>
          </p:cNvSpPr>
          <p:nvPr>
            <p:ph idx="1"/>
          </p:nvPr>
        </p:nvSpPr>
        <p:spPr>
          <a:xfrm>
            <a:off x="-252536" y="1528193"/>
            <a:ext cx="5904656" cy="676671"/>
          </a:xfrm>
        </p:spPr>
        <p:txBody>
          <a:bodyPr>
            <a:noAutofit/>
          </a:bodyPr>
          <a:lstStyle/>
          <a:p>
            <a:pPr>
              <a:buNone/>
            </a:pPr>
            <a:r>
              <a:rPr lang="nl-NL" sz="2000" dirty="0" smtClean="0"/>
              <a:t>      Aan het </a:t>
            </a:r>
            <a:r>
              <a:rPr lang="nl-NL" sz="2000" i="1" dirty="0" smtClean="0"/>
              <a:t>domein</a:t>
            </a:r>
            <a:r>
              <a:rPr lang="nl-NL" sz="2000" dirty="0" smtClean="0"/>
              <a:t> D komt existentiële                              import toe</a:t>
            </a:r>
            <a:endParaRPr lang="nl-NL" sz="2000" i="1" dirty="0" smtClean="0"/>
          </a:p>
          <a:p>
            <a:endParaRPr lang="nl-NL" sz="2000" dirty="0" smtClean="0"/>
          </a:p>
        </p:txBody>
      </p:sp>
      <p:sp>
        <p:nvSpPr>
          <p:cNvPr id="22" name="Rectangle 21"/>
          <p:cNvSpPr/>
          <p:nvPr/>
        </p:nvSpPr>
        <p:spPr>
          <a:xfrm>
            <a:off x="179512" y="4221088"/>
            <a:ext cx="3528392" cy="216024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TextBox 25"/>
          <p:cNvSpPr txBox="1"/>
          <p:nvPr/>
        </p:nvSpPr>
        <p:spPr>
          <a:xfrm>
            <a:off x="3923928" y="6381328"/>
            <a:ext cx="576064" cy="461665"/>
          </a:xfrm>
          <a:prstGeom prst="rect">
            <a:avLst/>
          </a:prstGeom>
          <a:noFill/>
        </p:spPr>
        <p:txBody>
          <a:bodyPr wrap="square" rtlCol="0">
            <a:spAutoFit/>
          </a:bodyPr>
          <a:lstStyle/>
          <a:p>
            <a:r>
              <a:rPr lang="nl-NL" sz="2400" b="1" dirty="0" smtClean="0"/>
              <a:t>D</a:t>
            </a:r>
            <a:endParaRPr lang="nl-NL" b="1" dirty="0"/>
          </a:p>
        </p:txBody>
      </p:sp>
      <p:sp>
        <p:nvSpPr>
          <p:cNvPr id="27" name="Content Placeholder 2"/>
          <p:cNvSpPr txBox="1">
            <a:spLocks/>
          </p:cNvSpPr>
          <p:nvPr/>
        </p:nvSpPr>
        <p:spPr>
          <a:xfrm>
            <a:off x="4788024" y="1484784"/>
            <a:ext cx="3851920" cy="648072"/>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Er is tenminste één object in D</a:t>
            </a:r>
          </a:p>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Verzameling D is niet leeg (D</a:t>
            </a:r>
            <a:r>
              <a:rPr lang="nl-NL" sz="2000" dirty="0" smtClean="0"/>
              <a:t> ≠ Ø)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252536" y="2248273"/>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individuconstanten</a:t>
            </a:r>
            <a:r>
              <a:rPr kumimoji="0" lang="nl-NL" sz="2000" b="0" i="0" u="none" strike="noStrike" kern="1200" cap="none" spc="0" normalizeH="0" noProof="0" dirty="0" smtClean="0">
                <a:ln>
                  <a:noFill/>
                </a:ln>
                <a:solidFill>
                  <a:schemeClr val="tx1"/>
                </a:solidFill>
                <a:effectLst/>
                <a:uLnTx/>
                <a:uFillTx/>
                <a:latin typeface="+mn-lt"/>
                <a:ea typeface="+mn-ea"/>
                <a:cs typeface="+mn-cs"/>
              </a:rPr>
              <a:t> komt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4427984" y="1988840"/>
            <a:ext cx="3851920"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Iedere individuconstante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wijst naar precies één object</a:t>
            </a:r>
          </a:p>
        </p:txBody>
      </p:sp>
      <p:sp>
        <p:nvSpPr>
          <p:cNvPr id="30" name="Content Placeholder 2"/>
          <p:cNvSpPr txBox="1">
            <a:spLocks/>
          </p:cNvSpPr>
          <p:nvPr/>
        </p:nvSpPr>
        <p:spPr>
          <a:xfrm>
            <a:off x="-252536" y="3040361"/>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predikaatletters</a:t>
            </a:r>
            <a:r>
              <a:rPr kumimoji="0" lang="nl-NL" sz="2000" b="0" i="0" u="none" strike="noStrike" kern="1200" cap="none" spc="0" normalizeH="0" noProof="0" dirty="0" smtClean="0">
                <a:ln>
                  <a:noFill/>
                </a:ln>
                <a:solidFill>
                  <a:schemeClr val="tx1"/>
                </a:solidFill>
                <a:effectLst/>
                <a:uLnTx/>
                <a:uFillTx/>
                <a:latin typeface="+mn-lt"/>
                <a:ea typeface="+mn-ea"/>
                <a:cs typeface="+mn-cs"/>
              </a:rPr>
              <a:t> komt </a:t>
            </a:r>
            <a:r>
              <a:rPr kumimoji="0" lang="nl-NL" sz="2000" b="0" i="0" u="sng" strike="noStrike" kern="1200" cap="none" spc="0" normalizeH="0" noProof="0" dirty="0" smtClean="0">
                <a:ln>
                  <a:noFill/>
                </a:ln>
                <a:solidFill>
                  <a:schemeClr val="tx1"/>
                </a:solidFill>
                <a:effectLst/>
                <a:uLnTx/>
                <a:uFillTx/>
                <a:latin typeface="+mn-lt"/>
                <a:ea typeface="+mn-ea"/>
                <a:cs typeface="+mn-cs"/>
              </a:rPr>
              <a:t>geen</a:t>
            </a:r>
            <a:r>
              <a:rPr kumimoji="0" lang="nl-NL" sz="2000" b="0" i="0" u="none" strike="noStrike" kern="1200" cap="none" spc="0" normalizeH="0" noProof="0" dirty="0" smtClean="0">
                <a:ln>
                  <a:noFill/>
                </a:ln>
                <a:solidFill>
                  <a:schemeClr val="tx1"/>
                </a:solidFill>
                <a:effectLst/>
                <a:uLnTx/>
                <a:uFillTx/>
                <a:latin typeface="+mn-lt"/>
                <a:ea typeface="+mn-ea"/>
                <a:cs typeface="+mn-cs"/>
              </a:rPr>
              <a: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Content Placeholder 2"/>
          <p:cNvSpPr txBox="1">
            <a:spLocks/>
          </p:cNvSpPr>
          <p:nvPr/>
        </p:nvSpPr>
        <p:spPr>
          <a:xfrm>
            <a:off x="4499992" y="2708920"/>
            <a:ext cx="4716016"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Er wordt </a:t>
            </a:r>
            <a:r>
              <a:rPr kumimoji="0" lang="nl-NL" sz="2000" b="0" i="0" u="sng" strike="noStrike" kern="1200" cap="none" spc="0" normalizeH="0" noProof="0" dirty="0" smtClean="0">
                <a:ln>
                  <a:noFill/>
                </a:ln>
                <a:solidFill>
                  <a:schemeClr val="tx1"/>
                </a:solidFill>
                <a:effectLst/>
                <a:uLnTx/>
                <a:uFillTx/>
                <a:latin typeface="+mn-lt"/>
                <a:ea typeface="+mn-ea"/>
                <a:cs typeface="+mn-cs"/>
              </a:rPr>
              <a:t>niet</a:t>
            </a:r>
            <a:r>
              <a:rPr kumimoji="0" lang="nl-NL" sz="2000" b="0" i="0" u="none" strike="noStrike" kern="1200" cap="none" spc="0" normalizeH="0" noProof="0" dirty="0" smtClean="0">
                <a:ln>
                  <a:noFill/>
                </a:ln>
                <a:solidFill>
                  <a:schemeClr val="tx1"/>
                </a:solidFill>
                <a:effectLst/>
                <a:uLnTx/>
                <a:uFillTx/>
                <a:latin typeface="+mn-lt"/>
                <a:ea typeface="+mn-ea"/>
                <a:cs typeface="+mn-cs"/>
              </a:rPr>
              <a:t> aangenomen dat een </a:t>
            </a:r>
            <a:r>
              <a:rPr kumimoji="0" lang="nl-NL" sz="2000" b="0" i="0" u="none" strike="noStrike" kern="1200" cap="none" spc="0" normalizeH="0" noProof="0" dirty="0" err="1" smtClean="0">
                <a:ln>
                  <a:noFill/>
                </a:ln>
                <a:solidFill>
                  <a:schemeClr val="tx1"/>
                </a:solidFill>
                <a:effectLst/>
                <a:uLnTx/>
                <a:uFillTx/>
                <a:latin typeface="+mn-lt"/>
                <a:ea typeface="+mn-ea"/>
                <a:cs typeface="+mn-cs"/>
              </a:rPr>
              <a:t>predikaatletter</a:t>
            </a:r>
            <a:r>
              <a:rPr kumimoji="0" lang="nl-NL" sz="2000" b="0" i="0" u="none" strike="noStrike" kern="1200" cap="none" spc="0" normalizeH="0" noProof="0" dirty="0" smtClean="0">
                <a:ln>
                  <a:noFill/>
                </a:ln>
                <a:solidFill>
                  <a:schemeClr val="tx1"/>
                </a:solidFill>
                <a:effectLst/>
                <a:uLnTx/>
                <a:uFillTx/>
                <a:latin typeface="+mn-lt"/>
                <a:ea typeface="+mn-ea"/>
                <a:cs typeface="+mn-cs"/>
              </a:rPr>
              <a:t> van toepassing is op tenminste </a:t>
            </a:r>
            <a:r>
              <a:rPr kumimoji="0" lang="nl-NL" sz="2000" b="0" i="0" u="none" strike="noStrike" kern="1200" cap="none" spc="0" normalizeH="0" noProof="0" dirty="0" err="1" smtClean="0">
                <a:ln>
                  <a:noFill/>
                </a:ln>
                <a:solidFill>
                  <a:schemeClr val="tx1"/>
                </a:solidFill>
                <a:effectLst/>
                <a:uLnTx/>
                <a:uFillTx/>
                <a:latin typeface="+mn-lt"/>
                <a:ea typeface="+mn-ea"/>
                <a:cs typeface="+mn-cs"/>
              </a:rPr>
              <a:t>éé</a:t>
            </a:r>
            <a:r>
              <a:rPr lang="nl-NL" sz="2000" dirty="0" smtClean="0"/>
              <a:t>n object. Indien </a:t>
            </a:r>
            <a:r>
              <a:rPr lang="nl-NL" sz="2000" b="1" dirty="0" smtClean="0"/>
              <a:t>F</a:t>
            </a:r>
            <a:r>
              <a:rPr lang="nl-NL" sz="2000" dirty="0" smtClean="0"/>
              <a:t> een </a:t>
            </a:r>
            <a:r>
              <a:rPr lang="nl-NL" sz="2000" dirty="0" err="1" smtClean="0"/>
              <a:t>predikaat</a:t>
            </a:r>
            <a:r>
              <a:rPr lang="nl-NL" sz="2000" dirty="0" smtClean="0"/>
              <a:t> is, dan kan </a:t>
            </a:r>
            <a:r>
              <a:rPr lang="nl-NL" sz="2000" b="1" dirty="0" smtClean="0"/>
              <a:t>F</a:t>
            </a:r>
            <a:r>
              <a:rPr lang="nl-NL" sz="2000" dirty="0" smtClean="0"/>
              <a:t> dus leeg zijn.</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p:txBody>
      </p:sp>
      <p:sp>
        <p:nvSpPr>
          <p:cNvPr id="11" name="TextBox 10"/>
          <p:cNvSpPr txBox="1"/>
          <p:nvPr/>
        </p:nvSpPr>
        <p:spPr>
          <a:xfrm>
            <a:off x="467544" y="4725144"/>
            <a:ext cx="432048" cy="400110"/>
          </a:xfrm>
          <a:prstGeom prst="rect">
            <a:avLst/>
          </a:prstGeom>
          <a:noFill/>
        </p:spPr>
        <p:txBody>
          <a:bodyPr wrap="square" rtlCol="0">
            <a:spAutoFit/>
          </a:bodyPr>
          <a:lstStyle/>
          <a:p>
            <a:r>
              <a:rPr lang="nl-NL" sz="2000" b="1" dirty="0" smtClean="0"/>
              <a:t>.</a:t>
            </a:r>
            <a:endParaRPr lang="nl-NL" b="1" dirty="0"/>
          </a:p>
        </p:txBody>
      </p:sp>
      <p:sp>
        <p:nvSpPr>
          <p:cNvPr id="12" name="TextBox 11"/>
          <p:cNvSpPr txBox="1"/>
          <p:nvPr/>
        </p:nvSpPr>
        <p:spPr>
          <a:xfrm>
            <a:off x="611560" y="4715852"/>
            <a:ext cx="576064" cy="369332"/>
          </a:xfrm>
          <a:prstGeom prst="rect">
            <a:avLst/>
          </a:prstGeom>
          <a:noFill/>
        </p:spPr>
        <p:txBody>
          <a:bodyPr wrap="square" rtlCol="0">
            <a:spAutoFit/>
          </a:bodyPr>
          <a:lstStyle/>
          <a:p>
            <a:r>
              <a:rPr lang="nl-NL" b="1" dirty="0" smtClean="0"/>
              <a:t>a</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2000"/>
                                        <p:tgtEl>
                                          <p:spTgt spid="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xEl>
                                              <p:pRg st="0" end="0"/>
                                            </p:txEl>
                                          </p:spTgt>
                                        </p:tgtEl>
                                        <p:attrNameLst>
                                          <p:attrName>style.visibility</p:attrName>
                                        </p:attrNameLst>
                                      </p:cBhvr>
                                      <p:to>
                                        <p:strVal val="visible"/>
                                      </p:to>
                                    </p:set>
                                    <p:animEffect transition="in" filter="fade">
                                      <p:cBhvr>
                                        <p:cTn id="12" dur="20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p:bldP spid="31" grpId="0" build="allAtOnce"/>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Existentiële import</a:t>
            </a:r>
            <a:endParaRPr lang="nl-NL" sz="3600" dirty="0"/>
          </a:p>
        </p:txBody>
      </p:sp>
      <p:sp>
        <p:nvSpPr>
          <p:cNvPr id="3" name="Content Placeholder 2"/>
          <p:cNvSpPr>
            <a:spLocks noGrp="1"/>
          </p:cNvSpPr>
          <p:nvPr>
            <p:ph idx="1"/>
          </p:nvPr>
        </p:nvSpPr>
        <p:spPr>
          <a:xfrm>
            <a:off x="-252536" y="1528193"/>
            <a:ext cx="5904656" cy="676671"/>
          </a:xfrm>
        </p:spPr>
        <p:txBody>
          <a:bodyPr>
            <a:noAutofit/>
          </a:bodyPr>
          <a:lstStyle/>
          <a:p>
            <a:pPr>
              <a:buNone/>
            </a:pPr>
            <a:r>
              <a:rPr lang="nl-NL" sz="2000" dirty="0" smtClean="0"/>
              <a:t>      Aan het </a:t>
            </a:r>
            <a:r>
              <a:rPr lang="nl-NL" sz="2000" i="1" dirty="0" smtClean="0"/>
              <a:t>domein</a:t>
            </a:r>
            <a:r>
              <a:rPr lang="nl-NL" sz="2000" dirty="0" smtClean="0"/>
              <a:t> D komt existentiële                              import toe</a:t>
            </a:r>
            <a:endParaRPr lang="nl-NL" sz="2000" i="1" dirty="0" smtClean="0"/>
          </a:p>
          <a:p>
            <a:endParaRPr lang="nl-NL" sz="2000" dirty="0" smtClean="0"/>
          </a:p>
        </p:txBody>
      </p:sp>
      <p:sp>
        <p:nvSpPr>
          <p:cNvPr id="22" name="Rectangle 21"/>
          <p:cNvSpPr/>
          <p:nvPr/>
        </p:nvSpPr>
        <p:spPr>
          <a:xfrm>
            <a:off x="179512" y="4221088"/>
            <a:ext cx="3528392" cy="216024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TextBox 25"/>
          <p:cNvSpPr txBox="1"/>
          <p:nvPr/>
        </p:nvSpPr>
        <p:spPr>
          <a:xfrm>
            <a:off x="3923928" y="6381328"/>
            <a:ext cx="576064" cy="461665"/>
          </a:xfrm>
          <a:prstGeom prst="rect">
            <a:avLst/>
          </a:prstGeom>
          <a:noFill/>
        </p:spPr>
        <p:txBody>
          <a:bodyPr wrap="square" rtlCol="0">
            <a:spAutoFit/>
          </a:bodyPr>
          <a:lstStyle/>
          <a:p>
            <a:r>
              <a:rPr lang="nl-NL" sz="2400" b="1" dirty="0" smtClean="0"/>
              <a:t>D</a:t>
            </a:r>
            <a:endParaRPr lang="nl-NL" b="1" dirty="0"/>
          </a:p>
        </p:txBody>
      </p:sp>
      <p:sp>
        <p:nvSpPr>
          <p:cNvPr id="27" name="Content Placeholder 2"/>
          <p:cNvSpPr txBox="1">
            <a:spLocks/>
          </p:cNvSpPr>
          <p:nvPr/>
        </p:nvSpPr>
        <p:spPr>
          <a:xfrm>
            <a:off x="4788024" y="1484784"/>
            <a:ext cx="3851920" cy="648072"/>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Er is tenminste één object in D</a:t>
            </a:r>
          </a:p>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Verzameling D is niet leeg (D</a:t>
            </a:r>
            <a:r>
              <a:rPr lang="nl-NL" sz="2000" dirty="0" smtClean="0"/>
              <a:t> ≠ Ø)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252536" y="2248273"/>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individuconstanten</a:t>
            </a:r>
            <a:r>
              <a:rPr kumimoji="0" lang="nl-NL" sz="2000" b="0" i="0" u="none" strike="noStrike" kern="1200" cap="none" spc="0" normalizeH="0" noProof="0" dirty="0" smtClean="0">
                <a:ln>
                  <a:noFill/>
                </a:ln>
                <a:solidFill>
                  <a:schemeClr val="tx1"/>
                </a:solidFill>
                <a:effectLst/>
                <a:uLnTx/>
                <a:uFillTx/>
                <a:latin typeface="+mn-lt"/>
                <a:ea typeface="+mn-ea"/>
                <a:cs typeface="+mn-cs"/>
              </a:rPr>
              <a:t> komt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4427984" y="1988840"/>
            <a:ext cx="3851920"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Iedere individuconstante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wijst naar precies één object</a:t>
            </a:r>
          </a:p>
        </p:txBody>
      </p:sp>
      <p:sp>
        <p:nvSpPr>
          <p:cNvPr id="30" name="Content Placeholder 2"/>
          <p:cNvSpPr txBox="1">
            <a:spLocks/>
          </p:cNvSpPr>
          <p:nvPr/>
        </p:nvSpPr>
        <p:spPr>
          <a:xfrm>
            <a:off x="-252536" y="3040361"/>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predikaatletters</a:t>
            </a:r>
            <a:r>
              <a:rPr kumimoji="0" lang="nl-NL" sz="2000" b="0" i="0" u="none" strike="noStrike" kern="1200" cap="none" spc="0" normalizeH="0" noProof="0" dirty="0" smtClean="0">
                <a:ln>
                  <a:noFill/>
                </a:ln>
                <a:solidFill>
                  <a:schemeClr val="tx1"/>
                </a:solidFill>
                <a:effectLst/>
                <a:uLnTx/>
                <a:uFillTx/>
                <a:latin typeface="+mn-lt"/>
                <a:ea typeface="+mn-ea"/>
                <a:cs typeface="+mn-cs"/>
              </a:rPr>
              <a:t> komt </a:t>
            </a:r>
            <a:r>
              <a:rPr kumimoji="0" lang="nl-NL" sz="2000" b="0" i="0" u="sng" strike="noStrike" kern="1200" cap="none" spc="0" normalizeH="0" noProof="0" dirty="0" smtClean="0">
                <a:ln>
                  <a:noFill/>
                </a:ln>
                <a:solidFill>
                  <a:schemeClr val="tx1"/>
                </a:solidFill>
                <a:effectLst/>
                <a:uLnTx/>
                <a:uFillTx/>
                <a:latin typeface="+mn-lt"/>
                <a:ea typeface="+mn-ea"/>
                <a:cs typeface="+mn-cs"/>
              </a:rPr>
              <a:t>geen</a:t>
            </a:r>
            <a:r>
              <a:rPr kumimoji="0" lang="nl-NL" sz="2000" b="0" i="0" u="none" strike="noStrike" kern="1200" cap="none" spc="0" normalizeH="0" noProof="0" dirty="0" smtClean="0">
                <a:ln>
                  <a:noFill/>
                </a:ln>
                <a:solidFill>
                  <a:schemeClr val="tx1"/>
                </a:solidFill>
                <a:effectLst/>
                <a:uLnTx/>
                <a:uFillTx/>
                <a:latin typeface="+mn-lt"/>
                <a:ea typeface="+mn-ea"/>
                <a:cs typeface="+mn-cs"/>
              </a:rPr>
              <a: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Content Placeholder 2"/>
          <p:cNvSpPr txBox="1">
            <a:spLocks/>
          </p:cNvSpPr>
          <p:nvPr/>
        </p:nvSpPr>
        <p:spPr>
          <a:xfrm>
            <a:off x="4499992" y="2708920"/>
            <a:ext cx="4716016"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Er wordt </a:t>
            </a:r>
            <a:r>
              <a:rPr kumimoji="0" lang="nl-NL" sz="2000" b="0" i="0" u="sng" strike="noStrike" kern="1200" cap="none" spc="0" normalizeH="0" noProof="0" dirty="0" smtClean="0">
                <a:ln>
                  <a:noFill/>
                </a:ln>
                <a:solidFill>
                  <a:schemeClr val="tx1"/>
                </a:solidFill>
                <a:effectLst/>
                <a:uLnTx/>
                <a:uFillTx/>
                <a:latin typeface="+mn-lt"/>
                <a:ea typeface="+mn-ea"/>
                <a:cs typeface="+mn-cs"/>
              </a:rPr>
              <a:t>niet</a:t>
            </a:r>
            <a:r>
              <a:rPr kumimoji="0" lang="nl-NL" sz="2000" b="0" i="0" u="none" strike="noStrike" kern="1200" cap="none" spc="0" normalizeH="0" noProof="0" dirty="0" smtClean="0">
                <a:ln>
                  <a:noFill/>
                </a:ln>
                <a:solidFill>
                  <a:schemeClr val="tx1"/>
                </a:solidFill>
                <a:effectLst/>
                <a:uLnTx/>
                <a:uFillTx/>
                <a:latin typeface="+mn-lt"/>
                <a:ea typeface="+mn-ea"/>
                <a:cs typeface="+mn-cs"/>
              </a:rPr>
              <a:t> aangenomen dat een </a:t>
            </a:r>
            <a:r>
              <a:rPr kumimoji="0" lang="nl-NL" sz="2000" b="0" i="0" u="none" strike="noStrike" kern="1200" cap="none" spc="0" normalizeH="0" noProof="0" dirty="0" err="1" smtClean="0">
                <a:ln>
                  <a:noFill/>
                </a:ln>
                <a:solidFill>
                  <a:schemeClr val="tx1"/>
                </a:solidFill>
                <a:effectLst/>
                <a:uLnTx/>
                <a:uFillTx/>
                <a:latin typeface="+mn-lt"/>
                <a:ea typeface="+mn-ea"/>
                <a:cs typeface="+mn-cs"/>
              </a:rPr>
              <a:t>predikaatletter</a:t>
            </a:r>
            <a:r>
              <a:rPr kumimoji="0" lang="nl-NL" sz="2000" b="0" i="0" u="none" strike="noStrike" kern="1200" cap="none" spc="0" normalizeH="0" noProof="0" dirty="0" smtClean="0">
                <a:ln>
                  <a:noFill/>
                </a:ln>
                <a:solidFill>
                  <a:schemeClr val="tx1"/>
                </a:solidFill>
                <a:effectLst/>
                <a:uLnTx/>
                <a:uFillTx/>
                <a:latin typeface="+mn-lt"/>
                <a:ea typeface="+mn-ea"/>
                <a:cs typeface="+mn-cs"/>
              </a:rPr>
              <a:t> van toepassing is op tenminste </a:t>
            </a:r>
            <a:r>
              <a:rPr kumimoji="0" lang="nl-NL" sz="2000" b="0" i="0" u="none" strike="noStrike" kern="1200" cap="none" spc="0" normalizeH="0" noProof="0" dirty="0" err="1" smtClean="0">
                <a:ln>
                  <a:noFill/>
                </a:ln>
                <a:solidFill>
                  <a:schemeClr val="tx1"/>
                </a:solidFill>
                <a:effectLst/>
                <a:uLnTx/>
                <a:uFillTx/>
                <a:latin typeface="+mn-lt"/>
                <a:ea typeface="+mn-ea"/>
                <a:cs typeface="+mn-cs"/>
              </a:rPr>
              <a:t>éé</a:t>
            </a:r>
            <a:r>
              <a:rPr lang="nl-NL" sz="2000" dirty="0" smtClean="0"/>
              <a:t>n object. Indien </a:t>
            </a:r>
            <a:r>
              <a:rPr lang="nl-NL" sz="2000" b="1" dirty="0" smtClean="0"/>
              <a:t>F</a:t>
            </a:r>
            <a:r>
              <a:rPr lang="nl-NL" sz="2000" dirty="0" smtClean="0"/>
              <a:t> een </a:t>
            </a:r>
            <a:r>
              <a:rPr lang="nl-NL" sz="2000" dirty="0" err="1" smtClean="0"/>
              <a:t>predikaat</a:t>
            </a:r>
            <a:r>
              <a:rPr lang="nl-NL" sz="2000" dirty="0" smtClean="0"/>
              <a:t> is, dan kan </a:t>
            </a:r>
            <a:r>
              <a:rPr lang="nl-NL" sz="2000" b="1" dirty="0" smtClean="0"/>
              <a:t>F</a:t>
            </a:r>
            <a:r>
              <a:rPr lang="nl-NL" sz="2000" dirty="0" smtClean="0"/>
              <a:t> dus leeg zijn.</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p:txBody>
      </p:sp>
      <p:sp>
        <p:nvSpPr>
          <p:cNvPr id="11" name="TextBox 10"/>
          <p:cNvSpPr txBox="1"/>
          <p:nvPr/>
        </p:nvSpPr>
        <p:spPr>
          <a:xfrm>
            <a:off x="467544" y="4725144"/>
            <a:ext cx="432048" cy="400110"/>
          </a:xfrm>
          <a:prstGeom prst="rect">
            <a:avLst/>
          </a:prstGeom>
          <a:noFill/>
        </p:spPr>
        <p:txBody>
          <a:bodyPr wrap="square" rtlCol="0">
            <a:spAutoFit/>
          </a:bodyPr>
          <a:lstStyle/>
          <a:p>
            <a:r>
              <a:rPr lang="nl-NL" sz="2000" b="1" dirty="0" smtClean="0"/>
              <a:t>.</a:t>
            </a:r>
            <a:endParaRPr lang="nl-NL" b="1" dirty="0"/>
          </a:p>
        </p:txBody>
      </p:sp>
      <p:sp>
        <p:nvSpPr>
          <p:cNvPr id="12" name="TextBox 11"/>
          <p:cNvSpPr txBox="1"/>
          <p:nvPr/>
        </p:nvSpPr>
        <p:spPr>
          <a:xfrm>
            <a:off x="611560" y="4715852"/>
            <a:ext cx="576064" cy="369332"/>
          </a:xfrm>
          <a:prstGeom prst="rect">
            <a:avLst/>
          </a:prstGeom>
          <a:noFill/>
        </p:spPr>
        <p:txBody>
          <a:bodyPr wrap="square" rtlCol="0">
            <a:spAutoFit/>
          </a:bodyPr>
          <a:lstStyle/>
          <a:p>
            <a:r>
              <a:rPr lang="nl-NL" b="1" dirty="0" smtClean="0"/>
              <a:t>a</a:t>
            </a:r>
            <a:endParaRPr lang="nl-NL" b="1" dirty="0"/>
          </a:p>
        </p:txBody>
      </p:sp>
      <p:sp>
        <p:nvSpPr>
          <p:cNvPr id="13" name="Oval 12"/>
          <p:cNvSpPr/>
          <p:nvPr/>
        </p:nvSpPr>
        <p:spPr>
          <a:xfrm>
            <a:off x="1835696" y="4581128"/>
            <a:ext cx="936104" cy="1008112"/>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TextBox 13"/>
          <p:cNvSpPr txBox="1"/>
          <p:nvPr/>
        </p:nvSpPr>
        <p:spPr>
          <a:xfrm>
            <a:off x="2627784" y="5373216"/>
            <a:ext cx="432048" cy="369332"/>
          </a:xfrm>
          <a:prstGeom prst="rect">
            <a:avLst/>
          </a:prstGeom>
          <a:noFill/>
        </p:spPr>
        <p:txBody>
          <a:bodyPr wrap="square" rtlCol="0">
            <a:spAutoFit/>
          </a:bodyPr>
          <a:lstStyle/>
          <a:p>
            <a:r>
              <a:rPr lang="nl-NL" b="1" dirty="0" smtClean="0"/>
              <a:t>F</a:t>
            </a:r>
            <a:endParaRPr lang="nl-NL" b="1" dirty="0"/>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Existentiële import</a:t>
            </a:r>
            <a:endParaRPr lang="nl-NL" sz="3600" dirty="0"/>
          </a:p>
        </p:txBody>
      </p:sp>
      <p:sp>
        <p:nvSpPr>
          <p:cNvPr id="3" name="Content Placeholder 2"/>
          <p:cNvSpPr>
            <a:spLocks noGrp="1"/>
          </p:cNvSpPr>
          <p:nvPr>
            <p:ph idx="1"/>
          </p:nvPr>
        </p:nvSpPr>
        <p:spPr>
          <a:xfrm>
            <a:off x="-252536" y="1528193"/>
            <a:ext cx="5904656" cy="676671"/>
          </a:xfrm>
        </p:spPr>
        <p:txBody>
          <a:bodyPr>
            <a:noAutofit/>
          </a:bodyPr>
          <a:lstStyle/>
          <a:p>
            <a:pPr>
              <a:buNone/>
            </a:pPr>
            <a:r>
              <a:rPr lang="nl-NL" sz="2000" dirty="0" smtClean="0"/>
              <a:t>      Aan het </a:t>
            </a:r>
            <a:r>
              <a:rPr lang="nl-NL" sz="2000" i="1" dirty="0" smtClean="0"/>
              <a:t>domein</a:t>
            </a:r>
            <a:r>
              <a:rPr lang="nl-NL" sz="2000" dirty="0" smtClean="0"/>
              <a:t> D komt existentiële                              import toe</a:t>
            </a:r>
            <a:endParaRPr lang="nl-NL" sz="2000" i="1" dirty="0" smtClean="0"/>
          </a:p>
          <a:p>
            <a:endParaRPr lang="nl-NL" sz="2000" dirty="0" smtClean="0"/>
          </a:p>
        </p:txBody>
      </p:sp>
      <p:sp>
        <p:nvSpPr>
          <p:cNvPr id="22" name="Rectangle 21"/>
          <p:cNvSpPr/>
          <p:nvPr/>
        </p:nvSpPr>
        <p:spPr>
          <a:xfrm>
            <a:off x="179512" y="4221088"/>
            <a:ext cx="3528392" cy="216024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TextBox 25"/>
          <p:cNvSpPr txBox="1"/>
          <p:nvPr/>
        </p:nvSpPr>
        <p:spPr>
          <a:xfrm>
            <a:off x="3923928" y="6381328"/>
            <a:ext cx="576064" cy="461665"/>
          </a:xfrm>
          <a:prstGeom prst="rect">
            <a:avLst/>
          </a:prstGeom>
          <a:noFill/>
        </p:spPr>
        <p:txBody>
          <a:bodyPr wrap="square" rtlCol="0">
            <a:spAutoFit/>
          </a:bodyPr>
          <a:lstStyle/>
          <a:p>
            <a:r>
              <a:rPr lang="nl-NL" sz="2400" b="1" dirty="0" smtClean="0"/>
              <a:t>D</a:t>
            </a:r>
            <a:endParaRPr lang="nl-NL" b="1" dirty="0"/>
          </a:p>
        </p:txBody>
      </p:sp>
      <p:sp>
        <p:nvSpPr>
          <p:cNvPr id="27" name="Content Placeholder 2"/>
          <p:cNvSpPr txBox="1">
            <a:spLocks/>
          </p:cNvSpPr>
          <p:nvPr/>
        </p:nvSpPr>
        <p:spPr>
          <a:xfrm>
            <a:off x="4788024" y="1484784"/>
            <a:ext cx="3851920" cy="648072"/>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Er is tenminste één object in D</a:t>
            </a:r>
          </a:p>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Verzameling D is niet leeg (D</a:t>
            </a:r>
            <a:r>
              <a:rPr lang="nl-NL" sz="2000" dirty="0" smtClean="0"/>
              <a:t> ≠ Ø)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252536" y="2248273"/>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individuconstanten</a:t>
            </a:r>
            <a:r>
              <a:rPr kumimoji="0" lang="nl-NL" sz="2000" b="0" i="0" u="none" strike="noStrike" kern="1200" cap="none" spc="0" normalizeH="0" noProof="0" dirty="0" smtClean="0">
                <a:ln>
                  <a:noFill/>
                </a:ln>
                <a:solidFill>
                  <a:schemeClr val="tx1"/>
                </a:solidFill>
                <a:effectLst/>
                <a:uLnTx/>
                <a:uFillTx/>
                <a:latin typeface="+mn-lt"/>
                <a:ea typeface="+mn-ea"/>
                <a:cs typeface="+mn-cs"/>
              </a:rPr>
              <a:t> komt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4427984" y="1988840"/>
            <a:ext cx="3851920"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Iedere individuconstante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wijst naar precies één object</a:t>
            </a:r>
          </a:p>
        </p:txBody>
      </p:sp>
      <p:sp>
        <p:nvSpPr>
          <p:cNvPr id="30" name="Content Placeholder 2"/>
          <p:cNvSpPr txBox="1">
            <a:spLocks/>
          </p:cNvSpPr>
          <p:nvPr/>
        </p:nvSpPr>
        <p:spPr>
          <a:xfrm>
            <a:off x="-252536" y="3040361"/>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predikaatletters</a:t>
            </a:r>
            <a:r>
              <a:rPr kumimoji="0" lang="nl-NL" sz="2000" b="0" i="0" u="none" strike="noStrike" kern="1200" cap="none" spc="0" normalizeH="0" noProof="0" dirty="0" smtClean="0">
                <a:ln>
                  <a:noFill/>
                </a:ln>
                <a:solidFill>
                  <a:schemeClr val="tx1"/>
                </a:solidFill>
                <a:effectLst/>
                <a:uLnTx/>
                <a:uFillTx/>
                <a:latin typeface="+mn-lt"/>
                <a:ea typeface="+mn-ea"/>
                <a:cs typeface="+mn-cs"/>
              </a:rPr>
              <a:t> komt </a:t>
            </a:r>
            <a:r>
              <a:rPr kumimoji="0" lang="nl-NL" sz="2000" b="0" i="0" u="sng" strike="noStrike" kern="1200" cap="none" spc="0" normalizeH="0" noProof="0" dirty="0" smtClean="0">
                <a:ln>
                  <a:noFill/>
                </a:ln>
                <a:solidFill>
                  <a:schemeClr val="tx1"/>
                </a:solidFill>
                <a:effectLst/>
                <a:uLnTx/>
                <a:uFillTx/>
                <a:latin typeface="+mn-lt"/>
                <a:ea typeface="+mn-ea"/>
                <a:cs typeface="+mn-cs"/>
              </a:rPr>
              <a:t>geen</a:t>
            </a:r>
            <a:r>
              <a:rPr kumimoji="0" lang="nl-NL" sz="2000" b="0" i="0" u="none" strike="noStrike" kern="1200" cap="none" spc="0" normalizeH="0" noProof="0" dirty="0" smtClean="0">
                <a:ln>
                  <a:noFill/>
                </a:ln>
                <a:solidFill>
                  <a:schemeClr val="tx1"/>
                </a:solidFill>
                <a:effectLst/>
                <a:uLnTx/>
                <a:uFillTx/>
                <a:latin typeface="+mn-lt"/>
                <a:ea typeface="+mn-ea"/>
                <a:cs typeface="+mn-cs"/>
              </a:rPr>
              <a: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Content Placeholder 2"/>
          <p:cNvSpPr txBox="1">
            <a:spLocks/>
          </p:cNvSpPr>
          <p:nvPr/>
        </p:nvSpPr>
        <p:spPr>
          <a:xfrm>
            <a:off x="4499992" y="2708920"/>
            <a:ext cx="4716016"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Er wordt </a:t>
            </a:r>
            <a:r>
              <a:rPr kumimoji="0" lang="nl-NL" sz="2000" b="0" i="0" u="sng" strike="noStrike" kern="1200" cap="none" spc="0" normalizeH="0" noProof="0" dirty="0" smtClean="0">
                <a:ln>
                  <a:noFill/>
                </a:ln>
                <a:solidFill>
                  <a:schemeClr val="tx1"/>
                </a:solidFill>
                <a:effectLst/>
                <a:uLnTx/>
                <a:uFillTx/>
                <a:latin typeface="+mn-lt"/>
                <a:ea typeface="+mn-ea"/>
                <a:cs typeface="+mn-cs"/>
              </a:rPr>
              <a:t>niet</a:t>
            </a:r>
            <a:r>
              <a:rPr kumimoji="0" lang="nl-NL" sz="2000" b="0" i="0" u="none" strike="noStrike" kern="1200" cap="none" spc="0" normalizeH="0" noProof="0" dirty="0" smtClean="0">
                <a:ln>
                  <a:noFill/>
                </a:ln>
                <a:solidFill>
                  <a:schemeClr val="tx1"/>
                </a:solidFill>
                <a:effectLst/>
                <a:uLnTx/>
                <a:uFillTx/>
                <a:latin typeface="+mn-lt"/>
                <a:ea typeface="+mn-ea"/>
                <a:cs typeface="+mn-cs"/>
              </a:rPr>
              <a:t> aangenomen dat een </a:t>
            </a:r>
            <a:r>
              <a:rPr kumimoji="0" lang="nl-NL" sz="2000" b="0" i="0" u="none" strike="noStrike" kern="1200" cap="none" spc="0" normalizeH="0" noProof="0" dirty="0" err="1" smtClean="0">
                <a:ln>
                  <a:noFill/>
                </a:ln>
                <a:solidFill>
                  <a:schemeClr val="tx1"/>
                </a:solidFill>
                <a:effectLst/>
                <a:uLnTx/>
                <a:uFillTx/>
                <a:latin typeface="+mn-lt"/>
                <a:ea typeface="+mn-ea"/>
                <a:cs typeface="+mn-cs"/>
              </a:rPr>
              <a:t>predikaatletter</a:t>
            </a:r>
            <a:r>
              <a:rPr kumimoji="0" lang="nl-NL" sz="2000" b="0" i="0" u="none" strike="noStrike" kern="1200" cap="none" spc="0" normalizeH="0" noProof="0" dirty="0" smtClean="0">
                <a:ln>
                  <a:noFill/>
                </a:ln>
                <a:solidFill>
                  <a:schemeClr val="tx1"/>
                </a:solidFill>
                <a:effectLst/>
                <a:uLnTx/>
                <a:uFillTx/>
                <a:latin typeface="+mn-lt"/>
                <a:ea typeface="+mn-ea"/>
                <a:cs typeface="+mn-cs"/>
              </a:rPr>
              <a:t> van toepassing is op tenminste </a:t>
            </a:r>
            <a:r>
              <a:rPr kumimoji="0" lang="nl-NL" sz="2000" b="0" i="0" u="none" strike="noStrike" kern="1200" cap="none" spc="0" normalizeH="0" noProof="0" dirty="0" err="1" smtClean="0">
                <a:ln>
                  <a:noFill/>
                </a:ln>
                <a:solidFill>
                  <a:schemeClr val="tx1"/>
                </a:solidFill>
                <a:effectLst/>
                <a:uLnTx/>
                <a:uFillTx/>
                <a:latin typeface="+mn-lt"/>
                <a:ea typeface="+mn-ea"/>
                <a:cs typeface="+mn-cs"/>
              </a:rPr>
              <a:t>éé</a:t>
            </a:r>
            <a:r>
              <a:rPr lang="nl-NL" sz="2000" dirty="0" smtClean="0"/>
              <a:t>n object. Indien </a:t>
            </a:r>
            <a:r>
              <a:rPr lang="nl-NL" sz="2000" b="1" dirty="0" smtClean="0"/>
              <a:t>F</a:t>
            </a:r>
            <a:r>
              <a:rPr lang="nl-NL" sz="2000" dirty="0" smtClean="0"/>
              <a:t> een </a:t>
            </a:r>
            <a:r>
              <a:rPr lang="nl-NL" sz="2000" dirty="0" err="1" smtClean="0"/>
              <a:t>predikaat</a:t>
            </a:r>
            <a:r>
              <a:rPr lang="nl-NL" sz="2000" dirty="0" smtClean="0"/>
              <a:t> is, dan kan </a:t>
            </a:r>
            <a:r>
              <a:rPr lang="nl-NL" sz="2000" b="1" dirty="0" smtClean="0"/>
              <a:t>F</a:t>
            </a:r>
            <a:r>
              <a:rPr lang="nl-NL" sz="2000" dirty="0" smtClean="0"/>
              <a:t> dus leeg zijn.</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p:txBody>
      </p:sp>
      <p:sp>
        <p:nvSpPr>
          <p:cNvPr id="11" name="TextBox 10"/>
          <p:cNvSpPr txBox="1"/>
          <p:nvPr/>
        </p:nvSpPr>
        <p:spPr>
          <a:xfrm>
            <a:off x="467544" y="4725144"/>
            <a:ext cx="432048" cy="400110"/>
          </a:xfrm>
          <a:prstGeom prst="rect">
            <a:avLst/>
          </a:prstGeom>
          <a:noFill/>
        </p:spPr>
        <p:txBody>
          <a:bodyPr wrap="square" rtlCol="0">
            <a:spAutoFit/>
          </a:bodyPr>
          <a:lstStyle/>
          <a:p>
            <a:r>
              <a:rPr lang="nl-NL" sz="2000" b="1" dirty="0" smtClean="0"/>
              <a:t>.</a:t>
            </a:r>
            <a:endParaRPr lang="nl-NL" b="1" dirty="0"/>
          </a:p>
        </p:txBody>
      </p:sp>
      <p:sp>
        <p:nvSpPr>
          <p:cNvPr id="12" name="TextBox 11"/>
          <p:cNvSpPr txBox="1"/>
          <p:nvPr/>
        </p:nvSpPr>
        <p:spPr>
          <a:xfrm>
            <a:off x="611560" y="4715852"/>
            <a:ext cx="576064" cy="369332"/>
          </a:xfrm>
          <a:prstGeom prst="rect">
            <a:avLst/>
          </a:prstGeom>
          <a:noFill/>
        </p:spPr>
        <p:txBody>
          <a:bodyPr wrap="square" rtlCol="0">
            <a:spAutoFit/>
          </a:bodyPr>
          <a:lstStyle/>
          <a:p>
            <a:r>
              <a:rPr lang="nl-NL" b="1" dirty="0" smtClean="0"/>
              <a:t>a</a:t>
            </a:r>
            <a:endParaRPr lang="nl-NL" b="1" dirty="0"/>
          </a:p>
        </p:txBody>
      </p:sp>
      <p:sp>
        <p:nvSpPr>
          <p:cNvPr id="14" name="TextBox 13"/>
          <p:cNvSpPr txBox="1"/>
          <p:nvPr/>
        </p:nvSpPr>
        <p:spPr>
          <a:xfrm>
            <a:off x="2627784" y="5373216"/>
            <a:ext cx="432048" cy="369332"/>
          </a:xfrm>
          <a:prstGeom prst="rect">
            <a:avLst/>
          </a:prstGeom>
          <a:noFill/>
        </p:spPr>
        <p:txBody>
          <a:bodyPr wrap="square" rtlCol="0">
            <a:spAutoFit/>
          </a:bodyPr>
          <a:lstStyle/>
          <a:p>
            <a:r>
              <a:rPr lang="nl-NL" b="1" dirty="0" smtClean="0"/>
              <a:t>F</a:t>
            </a:r>
            <a:endParaRPr lang="nl-NL" b="1" dirty="0"/>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Existentiële import</a:t>
            </a:r>
            <a:endParaRPr lang="nl-NL" sz="3600" dirty="0"/>
          </a:p>
        </p:txBody>
      </p:sp>
      <p:sp>
        <p:nvSpPr>
          <p:cNvPr id="3" name="Content Placeholder 2"/>
          <p:cNvSpPr>
            <a:spLocks noGrp="1"/>
          </p:cNvSpPr>
          <p:nvPr>
            <p:ph idx="1"/>
          </p:nvPr>
        </p:nvSpPr>
        <p:spPr>
          <a:xfrm>
            <a:off x="-252536" y="1528193"/>
            <a:ext cx="5904656" cy="676671"/>
          </a:xfrm>
        </p:spPr>
        <p:txBody>
          <a:bodyPr>
            <a:noAutofit/>
          </a:bodyPr>
          <a:lstStyle/>
          <a:p>
            <a:pPr>
              <a:buNone/>
            </a:pPr>
            <a:r>
              <a:rPr lang="nl-NL" sz="2000" dirty="0" smtClean="0"/>
              <a:t>      Aan het </a:t>
            </a:r>
            <a:r>
              <a:rPr lang="nl-NL" sz="2000" i="1" dirty="0" smtClean="0"/>
              <a:t>domein</a:t>
            </a:r>
            <a:r>
              <a:rPr lang="nl-NL" sz="2000" dirty="0" smtClean="0"/>
              <a:t> D komt existentiële                              import toe</a:t>
            </a:r>
            <a:endParaRPr lang="nl-NL" sz="2000" i="1" dirty="0" smtClean="0"/>
          </a:p>
          <a:p>
            <a:endParaRPr lang="nl-NL" sz="2000" dirty="0" smtClean="0"/>
          </a:p>
        </p:txBody>
      </p:sp>
      <p:sp>
        <p:nvSpPr>
          <p:cNvPr id="22" name="Rectangle 21"/>
          <p:cNvSpPr/>
          <p:nvPr/>
        </p:nvSpPr>
        <p:spPr>
          <a:xfrm>
            <a:off x="179512" y="4221088"/>
            <a:ext cx="3528392" cy="216024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6" name="TextBox 25"/>
          <p:cNvSpPr txBox="1"/>
          <p:nvPr/>
        </p:nvSpPr>
        <p:spPr>
          <a:xfrm>
            <a:off x="3923928" y="6381328"/>
            <a:ext cx="576064" cy="461665"/>
          </a:xfrm>
          <a:prstGeom prst="rect">
            <a:avLst/>
          </a:prstGeom>
          <a:noFill/>
        </p:spPr>
        <p:txBody>
          <a:bodyPr wrap="square" rtlCol="0">
            <a:spAutoFit/>
          </a:bodyPr>
          <a:lstStyle/>
          <a:p>
            <a:r>
              <a:rPr lang="nl-NL" sz="2400" b="1" dirty="0" smtClean="0"/>
              <a:t>D</a:t>
            </a:r>
            <a:endParaRPr lang="nl-NL" b="1" dirty="0"/>
          </a:p>
        </p:txBody>
      </p:sp>
      <p:sp>
        <p:nvSpPr>
          <p:cNvPr id="27" name="Content Placeholder 2"/>
          <p:cNvSpPr txBox="1">
            <a:spLocks/>
          </p:cNvSpPr>
          <p:nvPr/>
        </p:nvSpPr>
        <p:spPr>
          <a:xfrm>
            <a:off x="4788024" y="1484784"/>
            <a:ext cx="3851920" cy="648072"/>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Er is tenminste één object in D</a:t>
            </a:r>
          </a:p>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Verzameling D is niet leeg (D</a:t>
            </a:r>
            <a:r>
              <a:rPr lang="nl-NL" sz="2000" dirty="0" smtClean="0"/>
              <a:t> ≠ Ø)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Content Placeholder 2"/>
          <p:cNvSpPr txBox="1">
            <a:spLocks/>
          </p:cNvSpPr>
          <p:nvPr/>
        </p:nvSpPr>
        <p:spPr>
          <a:xfrm>
            <a:off x="-252536" y="2248273"/>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individuconstanten</a:t>
            </a:r>
            <a:r>
              <a:rPr kumimoji="0" lang="nl-NL" sz="2000" b="0" i="0" u="none" strike="noStrike" kern="1200" cap="none" spc="0" normalizeH="0" noProof="0" dirty="0" smtClean="0">
                <a:ln>
                  <a:noFill/>
                </a:ln>
                <a:solidFill>
                  <a:schemeClr val="tx1"/>
                </a:solidFill>
                <a:effectLst/>
                <a:uLnTx/>
                <a:uFillTx/>
                <a:latin typeface="+mn-lt"/>
                <a:ea typeface="+mn-ea"/>
                <a:cs typeface="+mn-cs"/>
              </a:rPr>
              <a:t> komt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Content Placeholder 2"/>
          <p:cNvSpPr txBox="1">
            <a:spLocks/>
          </p:cNvSpPr>
          <p:nvPr/>
        </p:nvSpPr>
        <p:spPr>
          <a:xfrm>
            <a:off x="4427984" y="1988840"/>
            <a:ext cx="3851920"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Iedere individuconstante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  wijst naar precies één object</a:t>
            </a:r>
          </a:p>
        </p:txBody>
      </p:sp>
      <p:sp>
        <p:nvSpPr>
          <p:cNvPr id="30" name="Content Placeholder 2"/>
          <p:cNvSpPr txBox="1">
            <a:spLocks/>
          </p:cNvSpPr>
          <p:nvPr/>
        </p:nvSpPr>
        <p:spPr>
          <a:xfrm>
            <a:off x="-252536" y="3040361"/>
            <a:ext cx="590465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Aan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predikaatletters</a:t>
            </a:r>
            <a:r>
              <a:rPr kumimoji="0" lang="nl-NL" sz="2000" b="0" i="0" u="none" strike="noStrike" kern="1200" cap="none" spc="0" normalizeH="0" noProof="0" dirty="0" smtClean="0">
                <a:ln>
                  <a:noFill/>
                </a:ln>
                <a:solidFill>
                  <a:schemeClr val="tx1"/>
                </a:solidFill>
                <a:effectLst/>
                <a:uLnTx/>
                <a:uFillTx/>
                <a:latin typeface="+mn-lt"/>
                <a:ea typeface="+mn-ea"/>
                <a:cs typeface="+mn-cs"/>
              </a:rPr>
              <a:t> komt </a:t>
            </a:r>
            <a:r>
              <a:rPr kumimoji="0" lang="nl-NL" sz="2000" b="0" i="0" u="sng" strike="noStrike" kern="1200" cap="none" spc="0" normalizeH="0" noProof="0" dirty="0" smtClean="0">
                <a:ln>
                  <a:noFill/>
                </a:ln>
                <a:solidFill>
                  <a:schemeClr val="tx1"/>
                </a:solidFill>
                <a:effectLst/>
                <a:uLnTx/>
                <a:uFillTx/>
                <a:latin typeface="+mn-lt"/>
                <a:ea typeface="+mn-ea"/>
                <a:cs typeface="+mn-cs"/>
              </a:rPr>
              <a:t>geen</a:t>
            </a:r>
            <a:r>
              <a:rPr kumimoji="0" lang="nl-NL" sz="2000" b="0" i="0" u="none" strike="noStrike" kern="1200" cap="none" spc="0" normalizeH="0" noProof="0" dirty="0" smtClean="0">
                <a:ln>
                  <a:noFill/>
                </a:ln>
                <a:solidFill>
                  <a:schemeClr val="tx1"/>
                </a:solidFill>
                <a:effectLst/>
                <a:uLnTx/>
                <a:uFillTx/>
                <a:latin typeface="+mn-lt"/>
                <a:ea typeface="+mn-ea"/>
                <a:cs typeface="+mn-cs"/>
              </a:rPr>
              <a:t> existentiële                    import toe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1" name="Content Placeholder 2"/>
          <p:cNvSpPr txBox="1">
            <a:spLocks/>
          </p:cNvSpPr>
          <p:nvPr/>
        </p:nvSpPr>
        <p:spPr>
          <a:xfrm>
            <a:off x="4499992" y="2708920"/>
            <a:ext cx="4716016" cy="936104"/>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noProof="0" dirty="0" smtClean="0">
                <a:ln>
                  <a:noFill/>
                </a:ln>
                <a:solidFill>
                  <a:schemeClr val="tx1"/>
                </a:solidFill>
                <a:effectLst/>
                <a:uLnTx/>
                <a:uFillTx/>
                <a:latin typeface="+mn-lt"/>
                <a:ea typeface="+mn-ea"/>
                <a:cs typeface="+mn-cs"/>
              </a:rPr>
              <a:t/>
            </a:r>
            <a:br>
              <a:rPr kumimoji="0" lang="nl-NL" sz="2000" b="0" i="0" u="none" strike="noStrike" kern="1200" cap="none" spc="0" normalizeH="0" noProof="0" dirty="0" smtClean="0">
                <a:ln>
                  <a:noFill/>
                </a:ln>
                <a:solidFill>
                  <a:schemeClr val="tx1"/>
                </a:solidFill>
                <a:effectLst/>
                <a:uLnTx/>
                <a:uFillTx/>
                <a:latin typeface="+mn-lt"/>
                <a:ea typeface="+mn-ea"/>
                <a:cs typeface="+mn-cs"/>
              </a:rPr>
            </a:br>
            <a:r>
              <a:rPr kumimoji="0" lang="nl-NL" sz="2000" b="0" i="0" u="none" strike="noStrike" kern="1200" cap="none" spc="0" normalizeH="0" noProof="0" dirty="0" smtClean="0">
                <a:ln>
                  <a:noFill/>
                </a:ln>
                <a:solidFill>
                  <a:schemeClr val="tx1"/>
                </a:solidFill>
                <a:effectLst/>
                <a:uLnTx/>
                <a:uFillTx/>
                <a:latin typeface="+mn-lt"/>
                <a:ea typeface="+mn-ea"/>
                <a:cs typeface="+mn-cs"/>
              </a:rPr>
              <a:t>Er wordt </a:t>
            </a:r>
            <a:r>
              <a:rPr kumimoji="0" lang="nl-NL" sz="2000" b="0" i="0" u="sng" strike="noStrike" kern="1200" cap="none" spc="0" normalizeH="0" noProof="0" dirty="0" smtClean="0">
                <a:ln>
                  <a:noFill/>
                </a:ln>
                <a:solidFill>
                  <a:schemeClr val="tx1"/>
                </a:solidFill>
                <a:effectLst/>
                <a:uLnTx/>
                <a:uFillTx/>
                <a:latin typeface="+mn-lt"/>
                <a:ea typeface="+mn-ea"/>
                <a:cs typeface="+mn-cs"/>
              </a:rPr>
              <a:t>niet</a:t>
            </a:r>
            <a:r>
              <a:rPr kumimoji="0" lang="nl-NL" sz="2000" b="0" i="0" u="none" strike="noStrike" kern="1200" cap="none" spc="0" normalizeH="0" noProof="0" dirty="0" smtClean="0">
                <a:ln>
                  <a:noFill/>
                </a:ln>
                <a:solidFill>
                  <a:schemeClr val="tx1"/>
                </a:solidFill>
                <a:effectLst/>
                <a:uLnTx/>
                <a:uFillTx/>
                <a:latin typeface="+mn-lt"/>
                <a:ea typeface="+mn-ea"/>
                <a:cs typeface="+mn-cs"/>
              </a:rPr>
              <a:t> aangenomen dat een </a:t>
            </a:r>
            <a:r>
              <a:rPr kumimoji="0" lang="nl-NL" sz="2000" b="0" i="0" u="none" strike="noStrike" kern="1200" cap="none" spc="0" normalizeH="0" noProof="0" dirty="0" err="1" smtClean="0">
                <a:ln>
                  <a:noFill/>
                </a:ln>
                <a:solidFill>
                  <a:schemeClr val="tx1"/>
                </a:solidFill>
                <a:effectLst/>
                <a:uLnTx/>
                <a:uFillTx/>
                <a:latin typeface="+mn-lt"/>
                <a:ea typeface="+mn-ea"/>
                <a:cs typeface="+mn-cs"/>
              </a:rPr>
              <a:t>predikaatletter</a:t>
            </a:r>
            <a:r>
              <a:rPr kumimoji="0" lang="nl-NL" sz="2000" b="0" i="0" u="none" strike="noStrike" kern="1200" cap="none" spc="0" normalizeH="0" noProof="0" dirty="0" smtClean="0">
                <a:ln>
                  <a:noFill/>
                </a:ln>
                <a:solidFill>
                  <a:schemeClr val="tx1"/>
                </a:solidFill>
                <a:effectLst/>
                <a:uLnTx/>
                <a:uFillTx/>
                <a:latin typeface="+mn-lt"/>
                <a:ea typeface="+mn-ea"/>
                <a:cs typeface="+mn-cs"/>
              </a:rPr>
              <a:t> van toepassing is op tenminste </a:t>
            </a:r>
            <a:r>
              <a:rPr kumimoji="0" lang="nl-NL" sz="2000" b="0" i="0" u="none" strike="noStrike" kern="1200" cap="none" spc="0" normalizeH="0" noProof="0" dirty="0" err="1" smtClean="0">
                <a:ln>
                  <a:noFill/>
                </a:ln>
                <a:solidFill>
                  <a:schemeClr val="tx1"/>
                </a:solidFill>
                <a:effectLst/>
                <a:uLnTx/>
                <a:uFillTx/>
                <a:latin typeface="+mn-lt"/>
                <a:ea typeface="+mn-ea"/>
                <a:cs typeface="+mn-cs"/>
              </a:rPr>
              <a:t>éé</a:t>
            </a:r>
            <a:r>
              <a:rPr lang="nl-NL" sz="2000" dirty="0" smtClean="0"/>
              <a:t>n object. Indien </a:t>
            </a:r>
            <a:r>
              <a:rPr lang="nl-NL" sz="2000" b="1" dirty="0" smtClean="0"/>
              <a:t>F</a:t>
            </a:r>
            <a:r>
              <a:rPr lang="nl-NL" sz="2000" dirty="0" smtClean="0"/>
              <a:t> een </a:t>
            </a:r>
            <a:r>
              <a:rPr lang="nl-NL" sz="2000" dirty="0" err="1" smtClean="0"/>
              <a:t>predikaat</a:t>
            </a:r>
            <a:r>
              <a:rPr lang="nl-NL" sz="2000" dirty="0" smtClean="0"/>
              <a:t> is, dan kan </a:t>
            </a:r>
            <a:r>
              <a:rPr lang="nl-NL" sz="2000" b="1" dirty="0" smtClean="0"/>
              <a:t>F</a:t>
            </a:r>
            <a:r>
              <a:rPr lang="nl-NL" sz="2000" dirty="0" smtClean="0"/>
              <a:t> dus leeg zijn.</a:t>
            </a:r>
            <a:endParaRPr kumimoji="0" lang="nl-NL" sz="2000" b="0" i="0" u="none" strike="noStrike" kern="1200" cap="none" spc="0" normalizeH="0" noProof="0" dirty="0" smtClean="0">
              <a:ln>
                <a:noFill/>
              </a:ln>
              <a:solidFill>
                <a:schemeClr val="tx1"/>
              </a:solidFill>
              <a:effectLst/>
              <a:uLnTx/>
              <a:uFillTx/>
              <a:latin typeface="+mn-lt"/>
              <a:ea typeface="+mn-ea"/>
              <a:cs typeface="+mn-cs"/>
            </a:endParaRPr>
          </a:p>
        </p:txBody>
      </p:sp>
      <p:sp>
        <p:nvSpPr>
          <p:cNvPr id="11" name="TextBox 10"/>
          <p:cNvSpPr txBox="1"/>
          <p:nvPr/>
        </p:nvSpPr>
        <p:spPr>
          <a:xfrm>
            <a:off x="467544" y="4725144"/>
            <a:ext cx="432048" cy="400110"/>
          </a:xfrm>
          <a:prstGeom prst="rect">
            <a:avLst/>
          </a:prstGeom>
          <a:noFill/>
        </p:spPr>
        <p:txBody>
          <a:bodyPr wrap="square" rtlCol="0">
            <a:spAutoFit/>
          </a:bodyPr>
          <a:lstStyle/>
          <a:p>
            <a:r>
              <a:rPr lang="nl-NL" sz="2000" b="1" dirty="0" smtClean="0"/>
              <a:t>.</a:t>
            </a:r>
            <a:endParaRPr lang="nl-NL" b="1" dirty="0"/>
          </a:p>
        </p:txBody>
      </p:sp>
      <p:sp>
        <p:nvSpPr>
          <p:cNvPr id="12" name="TextBox 11"/>
          <p:cNvSpPr txBox="1"/>
          <p:nvPr/>
        </p:nvSpPr>
        <p:spPr>
          <a:xfrm>
            <a:off x="611560" y="4715852"/>
            <a:ext cx="576064" cy="369332"/>
          </a:xfrm>
          <a:prstGeom prst="rect">
            <a:avLst/>
          </a:prstGeom>
          <a:noFill/>
        </p:spPr>
        <p:txBody>
          <a:bodyPr wrap="square" rtlCol="0">
            <a:spAutoFit/>
          </a:bodyPr>
          <a:lstStyle/>
          <a:p>
            <a:r>
              <a:rPr lang="nl-NL" b="1" dirty="0" smtClean="0"/>
              <a:t>a</a:t>
            </a:r>
            <a:endParaRPr lang="nl-NL" b="1" dirty="0"/>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 in de </a:t>
            </a:r>
            <a:r>
              <a:rPr lang="nl-NL" sz="3600" dirty="0" err="1" smtClean="0"/>
              <a:t>predikaatlogica</a:t>
            </a:r>
            <a:endParaRPr lang="nl-NL" sz="3600" dirty="0"/>
          </a:p>
        </p:txBody>
      </p:sp>
      <p:sp>
        <p:nvSpPr>
          <p:cNvPr id="3" name="Content Placeholder 2"/>
          <p:cNvSpPr>
            <a:spLocks noGrp="1"/>
          </p:cNvSpPr>
          <p:nvPr>
            <p:ph idx="1"/>
          </p:nvPr>
        </p:nvSpPr>
        <p:spPr>
          <a:xfrm>
            <a:off x="-180528" y="1528193"/>
            <a:ext cx="3744416" cy="676671"/>
          </a:xfrm>
        </p:spPr>
        <p:txBody>
          <a:bodyPr>
            <a:noAutofit/>
          </a:bodyPr>
          <a:lstStyle/>
          <a:p>
            <a:pPr>
              <a:buNone/>
            </a:pPr>
            <a:r>
              <a:rPr lang="nl-NL" sz="2000" dirty="0" smtClean="0"/>
              <a:t>      Jan is groter dan Piet</a:t>
            </a:r>
            <a:endParaRPr lang="nl-NL" sz="2000" i="1" dirty="0" smtClean="0"/>
          </a:p>
          <a:p>
            <a:endParaRPr lang="nl-NL" sz="2000" dirty="0" smtClean="0"/>
          </a:p>
        </p:txBody>
      </p:sp>
      <p:sp>
        <p:nvSpPr>
          <p:cNvPr id="18" name="Rectangle 17"/>
          <p:cNvSpPr/>
          <p:nvPr/>
        </p:nvSpPr>
        <p:spPr>
          <a:xfrm>
            <a:off x="4355976" y="1556792"/>
            <a:ext cx="1656184" cy="646331"/>
          </a:xfrm>
          <a:prstGeom prst="rect">
            <a:avLst/>
          </a:prstGeom>
        </p:spPr>
        <p:txBody>
          <a:bodyPr wrap="square">
            <a:spAutoFit/>
          </a:bodyPr>
          <a:lstStyle/>
          <a:p>
            <a:r>
              <a:rPr lang="nl-NL" b="1" dirty="0" err="1" smtClean="0"/>
              <a:t>Gjp</a:t>
            </a:r>
            <a:endParaRPr lang="nl-NL" dirty="0" smtClean="0"/>
          </a:p>
          <a:p>
            <a:r>
              <a:rPr lang="nl-NL" b="1" dirty="0" smtClean="0"/>
              <a:t> </a:t>
            </a:r>
            <a:endParaRPr lang="nl-NL" dirty="0"/>
          </a:p>
        </p:txBody>
      </p:sp>
      <p:sp>
        <p:nvSpPr>
          <p:cNvPr id="19" name="Rectangle 18"/>
          <p:cNvSpPr/>
          <p:nvPr/>
        </p:nvSpPr>
        <p:spPr>
          <a:xfrm>
            <a:off x="6300192" y="1556792"/>
            <a:ext cx="2448272" cy="923330"/>
          </a:xfrm>
          <a:prstGeom prst="rect">
            <a:avLst/>
          </a:prstGeom>
        </p:spPr>
        <p:txBody>
          <a:bodyPr wrap="square">
            <a:spAutoFit/>
          </a:bodyPr>
          <a:lstStyle/>
          <a:p>
            <a:r>
              <a:rPr lang="nl-NL" dirty="0" err="1" smtClean="0"/>
              <a:t>Gxy</a:t>
            </a:r>
            <a:r>
              <a:rPr lang="nl-NL" dirty="0" smtClean="0"/>
              <a:t>: x is groter dan y</a:t>
            </a:r>
          </a:p>
          <a:p>
            <a:r>
              <a:rPr lang="nl-NL" dirty="0" smtClean="0"/>
              <a:t>j: Jan</a:t>
            </a:r>
          </a:p>
          <a:p>
            <a:r>
              <a:rPr lang="nl-NL" dirty="0" smtClean="0"/>
              <a:t>p: Piet</a:t>
            </a:r>
            <a:endParaRPr lang="nl-NL" dirty="0"/>
          </a:p>
        </p:txBody>
      </p:sp>
      <p:sp>
        <p:nvSpPr>
          <p:cNvPr id="22" name="Content Placeholder 2"/>
          <p:cNvSpPr txBox="1">
            <a:spLocks/>
          </p:cNvSpPr>
          <p:nvPr/>
        </p:nvSpPr>
        <p:spPr>
          <a:xfrm>
            <a:off x="-180528" y="2536305"/>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België</a:t>
            </a:r>
            <a:r>
              <a:rPr kumimoji="0" lang="nl-NL" sz="2000" b="0" i="0" u="none" strike="noStrike" kern="1200" cap="none" spc="0" normalizeH="0" noProof="0" dirty="0" smtClean="0">
                <a:ln>
                  <a:noFill/>
                </a:ln>
                <a:solidFill>
                  <a:schemeClr val="tx1"/>
                </a:solidFill>
                <a:effectLst/>
                <a:uLnTx/>
                <a:uFillTx/>
                <a:latin typeface="+mn-lt"/>
                <a:ea typeface="+mn-ea"/>
                <a:cs typeface="+mn-cs"/>
              </a:rPr>
              <a:t> ligt tussen Nederland en Frankrijk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Rectangle 25"/>
          <p:cNvSpPr/>
          <p:nvPr/>
        </p:nvSpPr>
        <p:spPr>
          <a:xfrm>
            <a:off x="6300192" y="2505670"/>
            <a:ext cx="2448272" cy="1200329"/>
          </a:xfrm>
          <a:prstGeom prst="rect">
            <a:avLst/>
          </a:prstGeom>
        </p:spPr>
        <p:txBody>
          <a:bodyPr wrap="square">
            <a:spAutoFit/>
          </a:bodyPr>
          <a:lstStyle/>
          <a:p>
            <a:r>
              <a:rPr lang="nl-NL" dirty="0" err="1" smtClean="0"/>
              <a:t>Txyz</a:t>
            </a:r>
            <a:r>
              <a:rPr lang="nl-NL" dirty="0" smtClean="0"/>
              <a:t>: x ligt tussen y en z</a:t>
            </a:r>
          </a:p>
          <a:p>
            <a:r>
              <a:rPr lang="nl-NL" dirty="0" smtClean="0"/>
              <a:t>n: Nederland</a:t>
            </a:r>
          </a:p>
          <a:p>
            <a:r>
              <a:rPr lang="nl-NL" dirty="0" smtClean="0"/>
              <a:t>b: België</a:t>
            </a:r>
          </a:p>
          <a:p>
            <a:r>
              <a:rPr lang="nl-NL" dirty="0" smtClean="0"/>
              <a:t>f: Frankrijk</a:t>
            </a:r>
            <a:endParaRPr lang="nl-NL" dirty="0"/>
          </a:p>
        </p:txBody>
      </p:sp>
      <p:sp>
        <p:nvSpPr>
          <p:cNvPr id="27" name="Rectangle 26"/>
          <p:cNvSpPr/>
          <p:nvPr/>
        </p:nvSpPr>
        <p:spPr>
          <a:xfrm>
            <a:off x="4355976" y="2492896"/>
            <a:ext cx="1656184" cy="646331"/>
          </a:xfrm>
          <a:prstGeom prst="rect">
            <a:avLst/>
          </a:prstGeom>
        </p:spPr>
        <p:txBody>
          <a:bodyPr wrap="square">
            <a:spAutoFit/>
          </a:bodyPr>
          <a:lstStyle/>
          <a:p>
            <a:r>
              <a:rPr lang="nl-NL" b="1" dirty="0" err="1" smtClean="0"/>
              <a:t>Tbnf</a:t>
            </a:r>
            <a:endParaRPr lang="nl-NL" dirty="0" smtClean="0"/>
          </a:p>
          <a:p>
            <a:r>
              <a:rPr lang="nl-NL" b="1" dirty="0" smtClean="0"/>
              <a:t> </a:t>
            </a:r>
            <a:endParaRPr lang="nl-NL" dirty="0"/>
          </a:p>
        </p:txBody>
      </p:sp>
      <p:sp>
        <p:nvSpPr>
          <p:cNvPr id="28" name="Content Placeholder 2"/>
          <p:cNvSpPr txBox="1">
            <a:spLocks/>
          </p:cNvSpPr>
          <p:nvPr/>
        </p:nvSpPr>
        <p:spPr>
          <a:xfrm>
            <a:off x="-180528" y="3688433"/>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Iedereen die</a:t>
            </a:r>
            <a:r>
              <a:rPr kumimoji="0" lang="nl-NL" sz="2000" b="0" i="0" u="none" strike="noStrike" kern="1200" cap="none" spc="0" normalizeH="0" noProof="0" dirty="0" smtClean="0">
                <a:ln>
                  <a:noFill/>
                </a:ln>
                <a:solidFill>
                  <a:schemeClr val="tx1"/>
                </a:solidFill>
                <a:effectLst/>
                <a:uLnTx/>
                <a:uFillTx/>
                <a:latin typeface="+mn-lt"/>
                <a:ea typeface="+mn-ea"/>
                <a:cs typeface="+mn-cs"/>
              </a:rPr>
              <a:t> van Jan wint is heel sterk</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9" name="Rectangle 28"/>
          <p:cNvSpPr/>
          <p:nvPr/>
        </p:nvSpPr>
        <p:spPr>
          <a:xfrm>
            <a:off x="4283968" y="3707740"/>
            <a:ext cx="1656184" cy="369332"/>
          </a:xfrm>
          <a:prstGeom prst="rect">
            <a:avLst/>
          </a:prstGeom>
        </p:spPr>
        <p:txBody>
          <a:bodyPr wrap="square">
            <a:spAutoFit/>
          </a:bodyPr>
          <a:lstStyle/>
          <a:p>
            <a:r>
              <a:rPr lang="nl-NL" b="1" dirty="0" smtClean="0"/>
              <a:t>∀x (</a:t>
            </a:r>
            <a:r>
              <a:rPr lang="nl-NL" b="1" dirty="0" err="1" smtClean="0"/>
              <a:t>Wxj</a:t>
            </a:r>
            <a:r>
              <a:rPr lang="nl-NL" b="1" dirty="0" smtClean="0"/>
              <a:t> → </a:t>
            </a:r>
            <a:r>
              <a:rPr lang="nl-NL" b="1" dirty="0" err="1" smtClean="0"/>
              <a:t>Sx</a:t>
            </a:r>
            <a:r>
              <a:rPr lang="nl-NL" b="1" dirty="0" smtClean="0"/>
              <a:t>)  </a:t>
            </a:r>
            <a:endParaRPr lang="nl-NL" dirty="0"/>
          </a:p>
        </p:txBody>
      </p:sp>
      <p:sp>
        <p:nvSpPr>
          <p:cNvPr id="30" name="Rectangle 29"/>
          <p:cNvSpPr/>
          <p:nvPr/>
        </p:nvSpPr>
        <p:spPr>
          <a:xfrm>
            <a:off x="6300192" y="3717032"/>
            <a:ext cx="2448272" cy="923330"/>
          </a:xfrm>
          <a:prstGeom prst="rect">
            <a:avLst/>
          </a:prstGeom>
        </p:spPr>
        <p:txBody>
          <a:bodyPr wrap="square">
            <a:spAutoFit/>
          </a:bodyPr>
          <a:lstStyle/>
          <a:p>
            <a:r>
              <a:rPr lang="nl-NL" dirty="0" smtClean="0"/>
              <a:t>j: Jan</a:t>
            </a:r>
          </a:p>
          <a:p>
            <a:r>
              <a:rPr lang="nl-NL" dirty="0" err="1" smtClean="0"/>
              <a:t>Wxy</a:t>
            </a:r>
            <a:r>
              <a:rPr lang="nl-NL" dirty="0" smtClean="0"/>
              <a:t>: x wint van y</a:t>
            </a:r>
          </a:p>
          <a:p>
            <a:r>
              <a:rPr lang="nl-NL" dirty="0" err="1" smtClean="0"/>
              <a:t>Sx</a:t>
            </a:r>
            <a:r>
              <a:rPr lang="nl-NL" dirty="0" smtClean="0"/>
              <a:t>: x is heel sterk</a:t>
            </a:r>
          </a:p>
        </p:txBody>
      </p:sp>
      <p:sp>
        <p:nvSpPr>
          <p:cNvPr id="31" name="Content Placeholder 2"/>
          <p:cNvSpPr txBox="1">
            <a:spLocks/>
          </p:cNvSpPr>
          <p:nvPr/>
        </p:nvSpPr>
        <p:spPr>
          <a:xfrm>
            <a:off x="-180528" y="4768553"/>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Niets veroorzaakt</a:t>
            </a:r>
            <a:r>
              <a:rPr kumimoji="0" lang="nl-NL" sz="2000" b="0" i="0" u="none" strike="noStrike" kern="1200" cap="none" spc="0" normalizeH="0" noProof="0" dirty="0" smtClean="0">
                <a:ln>
                  <a:noFill/>
                </a:ln>
                <a:solidFill>
                  <a:schemeClr val="tx1"/>
                </a:solidFill>
                <a:effectLst/>
                <a:uLnTx/>
                <a:uFillTx/>
                <a:latin typeface="+mn-lt"/>
                <a:ea typeface="+mn-ea"/>
                <a:cs typeface="+mn-cs"/>
              </a:rPr>
              <a:t> zichzelf</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2" name="Rectangle 31"/>
          <p:cNvSpPr/>
          <p:nvPr/>
        </p:nvSpPr>
        <p:spPr>
          <a:xfrm>
            <a:off x="6300192" y="4737918"/>
            <a:ext cx="2448272" cy="369332"/>
          </a:xfrm>
          <a:prstGeom prst="rect">
            <a:avLst/>
          </a:prstGeom>
        </p:spPr>
        <p:txBody>
          <a:bodyPr wrap="square">
            <a:spAutoFit/>
          </a:bodyPr>
          <a:lstStyle/>
          <a:p>
            <a:r>
              <a:rPr lang="nl-NL" dirty="0" err="1" smtClean="0"/>
              <a:t>Oxy</a:t>
            </a:r>
            <a:r>
              <a:rPr lang="nl-NL" dirty="0" smtClean="0"/>
              <a:t>: x veroorzaakt y</a:t>
            </a:r>
          </a:p>
        </p:txBody>
      </p:sp>
      <p:sp>
        <p:nvSpPr>
          <p:cNvPr id="33" name="Rectangle 32"/>
          <p:cNvSpPr/>
          <p:nvPr/>
        </p:nvSpPr>
        <p:spPr>
          <a:xfrm>
            <a:off x="4283968" y="4715852"/>
            <a:ext cx="1656184" cy="369332"/>
          </a:xfrm>
          <a:prstGeom prst="rect">
            <a:avLst/>
          </a:prstGeom>
        </p:spPr>
        <p:txBody>
          <a:bodyPr wrap="square">
            <a:spAutoFit/>
          </a:bodyPr>
          <a:lstStyle/>
          <a:p>
            <a:r>
              <a:rPr lang="nl-NL" b="1" dirty="0" smtClean="0"/>
              <a:t>∀x ¬</a:t>
            </a:r>
            <a:r>
              <a:rPr lang="nl-NL" b="1" dirty="0" err="1" smtClean="0"/>
              <a:t>Oxx</a:t>
            </a:r>
            <a:endParaRPr lang="nl-NL" dirty="0"/>
          </a:p>
        </p:txBody>
      </p:sp>
      <p:sp>
        <p:nvSpPr>
          <p:cNvPr id="34" name="Content Placeholder 2"/>
          <p:cNvSpPr txBox="1">
            <a:spLocks/>
          </p:cNvSpPr>
          <p:nvPr/>
        </p:nvSpPr>
        <p:spPr>
          <a:xfrm>
            <a:off x="-180528" y="5344617"/>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Als iets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iets</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anders veroorzaakt,</a:t>
            </a:r>
            <a:r>
              <a:rPr kumimoji="0" lang="nl-NL" sz="2000" b="0" i="0" u="none" strike="noStrike" kern="1200" cap="none" spc="0" normalizeH="0" noProof="0" dirty="0" smtClean="0">
                <a:ln>
                  <a:noFill/>
                </a:ln>
                <a:solidFill>
                  <a:schemeClr val="tx1"/>
                </a:solidFill>
                <a:effectLst/>
                <a:uLnTx/>
                <a:uFillTx/>
                <a:latin typeface="+mn-lt"/>
                <a:ea typeface="+mn-ea"/>
                <a:cs typeface="+mn-cs"/>
              </a:rPr>
              <a:t> dan is het eerder dan dat andere</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5" name="Rectangle 34"/>
          <p:cNvSpPr/>
          <p:nvPr/>
        </p:nvSpPr>
        <p:spPr>
          <a:xfrm>
            <a:off x="6300192" y="5363924"/>
            <a:ext cx="2448272" cy="646331"/>
          </a:xfrm>
          <a:prstGeom prst="rect">
            <a:avLst/>
          </a:prstGeom>
        </p:spPr>
        <p:txBody>
          <a:bodyPr wrap="square">
            <a:spAutoFit/>
          </a:bodyPr>
          <a:lstStyle/>
          <a:p>
            <a:r>
              <a:rPr lang="nl-NL" dirty="0" err="1" smtClean="0"/>
              <a:t>Oxy</a:t>
            </a:r>
            <a:r>
              <a:rPr lang="nl-NL" dirty="0" smtClean="0"/>
              <a:t>: x veroorzaakt y</a:t>
            </a:r>
          </a:p>
          <a:p>
            <a:r>
              <a:rPr lang="nl-NL" dirty="0" err="1" smtClean="0"/>
              <a:t>Exy</a:t>
            </a:r>
            <a:r>
              <a:rPr lang="nl-NL" dirty="0" smtClean="0"/>
              <a:t>: x is eerder dan y</a:t>
            </a:r>
          </a:p>
        </p:txBody>
      </p:sp>
      <p:sp>
        <p:nvSpPr>
          <p:cNvPr id="36" name="Rectangle 35"/>
          <p:cNvSpPr/>
          <p:nvPr/>
        </p:nvSpPr>
        <p:spPr>
          <a:xfrm>
            <a:off x="3923928" y="5507940"/>
            <a:ext cx="2016224" cy="369332"/>
          </a:xfrm>
          <a:prstGeom prst="rect">
            <a:avLst/>
          </a:prstGeom>
        </p:spPr>
        <p:txBody>
          <a:bodyPr wrap="square">
            <a:spAutoFit/>
          </a:bodyPr>
          <a:lstStyle/>
          <a:p>
            <a:r>
              <a:rPr lang="nl-NL" b="1" dirty="0" smtClean="0"/>
              <a:t>∀x ∀y (</a:t>
            </a:r>
            <a:r>
              <a:rPr lang="nl-NL" b="1" dirty="0" err="1" smtClean="0"/>
              <a:t>Oxy</a:t>
            </a:r>
            <a:r>
              <a:rPr lang="nl-NL" b="1" dirty="0" smtClean="0"/>
              <a:t> → </a:t>
            </a:r>
            <a:r>
              <a:rPr lang="nl-NL" b="1" dirty="0" err="1" smtClean="0"/>
              <a:t>Exy</a:t>
            </a:r>
            <a:r>
              <a:rPr lang="nl-NL" b="1"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2000"/>
                                        <p:tgtEl>
                                          <p:spTgt spid="1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fade">
                                      <p:cBhvr>
                                        <p:cTn id="13" dur="2000"/>
                                        <p:tgtEl>
                                          <p:spTgt spid="19">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1" end="1"/>
                                            </p:txEl>
                                          </p:spTgt>
                                        </p:tgtEl>
                                        <p:attrNameLst>
                                          <p:attrName>style.visibility</p:attrName>
                                        </p:attrNameLst>
                                      </p:cBhvr>
                                      <p:to>
                                        <p:strVal val="visible"/>
                                      </p:to>
                                    </p:set>
                                    <p:animEffect transition="in" filter="fade">
                                      <p:cBhvr>
                                        <p:cTn id="16" dur="2000"/>
                                        <p:tgtEl>
                                          <p:spTgt spid="19">
                                            <p:txEl>
                                              <p:pRg st="1" end="1"/>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xEl>
                                              <p:pRg st="2" end="2"/>
                                            </p:txEl>
                                          </p:spTgt>
                                        </p:tgtEl>
                                        <p:attrNameLst>
                                          <p:attrName>style.visibility</p:attrName>
                                        </p:attrNameLst>
                                      </p:cBhvr>
                                      <p:to>
                                        <p:strVal val="visible"/>
                                      </p:to>
                                    </p:set>
                                    <p:animEffect transition="in" filter="fade">
                                      <p:cBhvr>
                                        <p:cTn id="19" dur="2000"/>
                                        <p:tgtEl>
                                          <p:spTgt spid="1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2">
                                            <p:txEl>
                                              <p:pRg st="0" end="0"/>
                                            </p:txEl>
                                          </p:spTgt>
                                        </p:tgtEl>
                                        <p:attrNameLst>
                                          <p:attrName>style.visibility</p:attrName>
                                        </p:attrNameLst>
                                      </p:cBhvr>
                                      <p:to>
                                        <p:strVal val="visible"/>
                                      </p:to>
                                    </p:set>
                                    <p:animEffect transition="in" filter="fade">
                                      <p:cBhvr>
                                        <p:cTn id="24" dur="2000"/>
                                        <p:tgtEl>
                                          <p:spTgt spid="22">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6">
                                            <p:txEl>
                                              <p:pRg st="0" end="0"/>
                                            </p:txEl>
                                          </p:spTgt>
                                        </p:tgtEl>
                                        <p:attrNameLst>
                                          <p:attrName>style.visibility</p:attrName>
                                        </p:attrNameLst>
                                      </p:cBhvr>
                                      <p:to>
                                        <p:strVal val="visible"/>
                                      </p:to>
                                    </p:set>
                                    <p:animEffect transition="in" filter="fade">
                                      <p:cBhvr>
                                        <p:cTn id="29" dur="2000"/>
                                        <p:tgtEl>
                                          <p:spTgt spid="26">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xEl>
                                              <p:pRg st="1" end="1"/>
                                            </p:txEl>
                                          </p:spTgt>
                                        </p:tgtEl>
                                        <p:attrNameLst>
                                          <p:attrName>style.visibility</p:attrName>
                                        </p:attrNameLst>
                                      </p:cBhvr>
                                      <p:to>
                                        <p:strVal val="visible"/>
                                      </p:to>
                                    </p:set>
                                    <p:animEffect transition="in" filter="fade">
                                      <p:cBhvr>
                                        <p:cTn id="32" dur="2000"/>
                                        <p:tgtEl>
                                          <p:spTgt spid="26">
                                            <p:txEl>
                                              <p:pRg st="1" end="1"/>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xEl>
                                              <p:pRg st="2" end="2"/>
                                            </p:txEl>
                                          </p:spTgt>
                                        </p:tgtEl>
                                        <p:attrNameLst>
                                          <p:attrName>style.visibility</p:attrName>
                                        </p:attrNameLst>
                                      </p:cBhvr>
                                      <p:to>
                                        <p:strVal val="visible"/>
                                      </p:to>
                                    </p:set>
                                    <p:animEffect transition="in" filter="fade">
                                      <p:cBhvr>
                                        <p:cTn id="35" dur="2000"/>
                                        <p:tgtEl>
                                          <p:spTgt spid="26">
                                            <p:txEl>
                                              <p:pRg st="2" end="2"/>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6">
                                            <p:txEl>
                                              <p:pRg st="3" end="3"/>
                                            </p:txEl>
                                          </p:spTgt>
                                        </p:tgtEl>
                                        <p:attrNameLst>
                                          <p:attrName>style.visibility</p:attrName>
                                        </p:attrNameLst>
                                      </p:cBhvr>
                                      <p:to>
                                        <p:strVal val="visible"/>
                                      </p:to>
                                    </p:set>
                                    <p:animEffect transition="in" filter="fade">
                                      <p:cBhvr>
                                        <p:cTn id="38" dur="2000"/>
                                        <p:tgtEl>
                                          <p:spTgt spid="26">
                                            <p:txEl>
                                              <p:pRg st="3" end="3"/>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7">
                                            <p:txEl>
                                              <p:pRg st="0" end="0"/>
                                            </p:txEl>
                                          </p:spTgt>
                                        </p:tgtEl>
                                        <p:attrNameLst>
                                          <p:attrName>style.visibility</p:attrName>
                                        </p:attrNameLst>
                                      </p:cBhvr>
                                      <p:to>
                                        <p:strVal val="visible"/>
                                      </p:to>
                                    </p:set>
                                    <p:animEffect transition="in" filter="fade">
                                      <p:cBhvr>
                                        <p:cTn id="41" dur="2000"/>
                                        <p:tgtEl>
                                          <p:spTgt spid="27">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7">
                                            <p:txEl>
                                              <p:pRg st="1" end="1"/>
                                            </p:txEl>
                                          </p:spTgt>
                                        </p:tgtEl>
                                        <p:attrNameLst>
                                          <p:attrName>style.visibility</p:attrName>
                                        </p:attrNameLst>
                                      </p:cBhvr>
                                      <p:to>
                                        <p:strVal val="visible"/>
                                      </p:to>
                                    </p:set>
                                    <p:animEffect transition="in" filter="fade">
                                      <p:cBhvr>
                                        <p:cTn id="44" dur="2000"/>
                                        <p:tgtEl>
                                          <p:spTgt spid="27">
                                            <p:txEl>
                                              <p:pRg st="1" end="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xEl>
                                              <p:pRg st="0" end="0"/>
                                            </p:txEl>
                                          </p:spTgt>
                                        </p:tgtEl>
                                        <p:attrNameLst>
                                          <p:attrName>style.visibility</p:attrName>
                                        </p:attrNameLst>
                                      </p:cBhvr>
                                      <p:to>
                                        <p:strVal val="visible"/>
                                      </p:to>
                                    </p:set>
                                    <p:animEffect transition="in" filter="fade">
                                      <p:cBhvr>
                                        <p:cTn id="49" dur="2000"/>
                                        <p:tgtEl>
                                          <p:spTgt spid="28">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9">
                                            <p:txEl>
                                              <p:pRg st="0" end="0"/>
                                            </p:txEl>
                                          </p:spTgt>
                                        </p:tgtEl>
                                        <p:attrNameLst>
                                          <p:attrName>style.visibility</p:attrName>
                                        </p:attrNameLst>
                                      </p:cBhvr>
                                      <p:to>
                                        <p:strVal val="visible"/>
                                      </p:to>
                                    </p:set>
                                    <p:animEffect transition="in" filter="fade">
                                      <p:cBhvr>
                                        <p:cTn id="54" dur="2000"/>
                                        <p:tgtEl>
                                          <p:spTgt spid="29">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0">
                                            <p:txEl>
                                              <p:pRg st="0" end="0"/>
                                            </p:txEl>
                                          </p:spTgt>
                                        </p:tgtEl>
                                        <p:attrNameLst>
                                          <p:attrName>style.visibility</p:attrName>
                                        </p:attrNameLst>
                                      </p:cBhvr>
                                      <p:to>
                                        <p:strVal val="visible"/>
                                      </p:to>
                                    </p:set>
                                    <p:animEffect transition="in" filter="fade">
                                      <p:cBhvr>
                                        <p:cTn id="57" dur="2000"/>
                                        <p:tgtEl>
                                          <p:spTgt spid="30">
                                            <p:txEl>
                                              <p:pRg st="0" end="0"/>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0">
                                            <p:txEl>
                                              <p:pRg st="1" end="1"/>
                                            </p:txEl>
                                          </p:spTgt>
                                        </p:tgtEl>
                                        <p:attrNameLst>
                                          <p:attrName>style.visibility</p:attrName>
                                        </p:attrNameLst>
                                      </p:cBhvr>
                                      <p:to>
                                        <p:strVal val="visible"/>
                                      </p:to>
                                    </p:set>
                                    <p:animEffect transition="in" filter="fade">
                                      <p:cBhvr>
                                        <p:cTn id="60" dur="2000"/>
                                        <p:tgtEl>
                                          <p:spTgt spid="30">
                                            <p:txEl>
                                              <p:pRg st="1" end="1"/>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xEl>
                                              <p:pRg st="2" end="2"/>
                                            </p:txEl>
                                          </p:spTgt>
                                        </p:tgtEl>
                                        <p:attrNameLst>
                                          <p:attrName>style.visibility</p:attrName>
                                        </p:attrNameLst>
                                      </p:cBhvr>
                                      <p:to>
                                        <p:strVal val="visible"/>
                                      </p:to>
                                    </p:set>
                                    <p:animEffect transition="in" filter="fade">
                                      <p:cBhvr>
                                        <p:cTn id="63" dur="2000"/>
                                        <p:tgtEl>
                                          <p:spTgt spid="30">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1">
                                            <p:txEl>
                                              <p:pRg st="0" end="0"/>
                                            </p:txEl>
                                          </p:spTgt>
                                        </p:tgtEl>
                                        <p:attrNameLst>
                                          <p:attrName>style.visibility</p:attrName>
                                        </p:attrNameLst>
                                      </p:cBhvr>
                                      <p:to>
                                        <p:strVal val="visible"/>
                                      </p:to>
                                    </p:set>
                                    <p:animEffect transition="in" filter="fade">
                                      <p:cBhvr>
                                        <p:cTn id="68" dur="2000"/>
                                        <p:tgtEl>
                                          <p:spTgt spid="31">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2">
                                            <p:txEl>
                                              <p:pRg st="0" end="0"/>
                                            </p:txEl>
                                          </p:spTgt>
                                        </p:tgtEl>
                                        <p:attrNameLst>
                                          <p:attrName>style.visibility</p:attrName>
                                        </p:attrNameLst>
                                      </p:cBhvr>
                                      <p:to>
                                        <p:strVal val="visible"/>
                                      </p:to>
                                    </p:set>
                                    <p:animEffect transition="in" filter="fade">
                                      <p:cBhvr>
                                        <p:cTn id="73" dur="2000"/>
                                        <p:tgtEl>
                                          <p:spTgt spid="32">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xEl>
                                              <p:pRg st="0" end="0"/>
                                            </p:txEl>
                                          </p:spTgt>
                                        </p:tgtEl>
                                        <p:attrNameLst>
                                          <p:attrName>style.visibility</p:attrName>
                                        </p:attrNameLst>
                                      </p:cBhvr>
                                      <p:to>
                                        <p:strVal val="visible"/>
                                      </p:to>
                                    </p:set>
                                    <p:animEffect transition="in" filter="fade">
                                      <p:cBhvr>
                                        <p:cTn id="76" dur="2000"/>
                                        <p:tgtEl>
                                          <p:spTgt spid="33">
                                            <p:txEl>
                                              <p:pRg st="0" end="0"/>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4">
                                            <p:txEl>
                                              <p:pRg st="0" end="0"/>
                                            </p:txEl>
                                          </p:spTgt>
                                        </p:tgtEl>
                                        <p:attrNameLst>
                                          <p:attrName>style.visibility</p:attrName>
                                        </p:attrNameLst>
                                      </p:cBhvr>
                                      <p:to>
                                        <p:strVal val="visible"/>
                                      </p:to>
                                    </p:set>
                                    <p:animEffect transition="in" filter="fade">
                                      <p:cBhvr>
                                        <p:cTn id="81" dur="2000"/>
                                        <p:tgtEl>
                                          <p:spTgt spid="34">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5">
                                            <p:txEl>
                                              <p:pRg st="0" end="0"/>
                                            </p:txEl>
                                          </p:spTgt>
                                        </p:tgtEl>
                                        <p:attrNameLst>
                                          <p:attrName>style.visibility</p:attrName>
                                        </p:attrNameLst>
                                      </p:cBhvr>
                                      <p:to>
                                        <p:strVal val="visible"/>
                                      </p:to>
                                    </p:set>
                                    <p:animEffect transition="in" filter="fade">
                                      <p:cBhvr>
                                        <p:cTn id="86" dur="2000"/>
                                        <p:tgtEl>
                                          <p:spTgt spid="35">
                                            <p:txEl>
                                              <p:pRg st="0" end="0"/>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5">
                                            <p:txEl>
                                              <p:pRg st="1" end="1"/>
                                            </p:txEl>
                                          </p:spTgt>
                                        </p:tgtEl>
                                        <p:attrNameLst>
                                          <p:attrName>style.visibility</p:attrName>
                                        </p:attrNameLst>
                                      </p:cBhvr>
                                      <p:to>
                                        <p:strVal val="visible"/>
                                      </p:to>
                                    </p:set>
                                    <p:animEffect transition="in" filter="fade">
                                      <p:cBhvr>
                                        <p:cTn id="89" dur="2000"/>
                                        <p:tgtEl>
                                          <p:spTgt spid="35">
                                            <p:txEl>
                                              <p:pRg st="1" end="1"/>
                                            </p:txEl>
                                          </p:spTgt>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6">
                                            <p:txEl>
                                              <p:pRg st="0" end="0"/>
                                            </p:txEl>
                                          </p:spTgt>
                                        </p:tgtEl>
                                        <p:attrNameLst>
                                          <p:attrName>style.visibility</p:attrName>
                                        </p:attrNameLst>
                                      </p:cBhvr>
                                      <p:to>
                                        <p:strVal val="visible"/>
                                      </p:to>
                                    </p:set>
                                    <p:animEffect transition="in" filter="fade">
                                      <p:cBhvr>
                                        <p:cTn id="92" dur="2000"/>
                                        <p:tgtEl>
                                          <p:spTgt spid="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2" grpId="0" build="allAtOnce"/>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 in de </a:t>
            </a:r>
            <a:r>
              <a:rPr lang="nl-NL" sz="3600" dirty="0" err="1" smtClean="0"/>
              <a:t>predikaatlogica</a:t>
            </a:r>
            <a:endParaRPr lang="nl-NL" sz="3600" dirty="0"/>
          </a:p>
        </p:txBody>
      </p:sp>
      <p:sp>
        <p:nvSpPr>
          <p:cNvPr id="3" name="Content Placeholder 2"/>
          <p:cNvSpPr>
            <a:spLocks noGrp="1"/>
          </p:cNvSpPr>
          <p:nvPr>
            <p:ph idx="1"/>
          </p:nvPr>
        </p:nvSpPr>
        <p:spPr>
          <a:xfrm>
            <a:off x="-180528" y="1528193"/>
            <a:ext cx="3744416" cy="676671"/>
          </a:xfrm>
        </p:spPr>
        <p:txBody>
          <a:bodyPr>
            <a:noAutofit/>
          </a:bodyPr>
          <a:lstStyle/>
          <a:p>
            <a:pPr>
              <a:buNone/>
            </a:pPr>
            <a:r>
              <a:rPr lang="nl-NL" sz="2000" dirty="0" smtClean="0"/>
              <a:t>      Jan heeft een vader</a:t>
            </a:r>
            <a:endParaRPr lang="nl-NL" sz="2000" i="1" dirty="0" smtClean="0"/>
          </a:p>
          <a:p>
            <a:endParaRPr lang="nl-NL" sz="2000" dirty="0" smtClean="0"/>
          </a:p>
        </p:txBody>
      </p:sp>
      <p:sp>
        <p:nvSpPr>
          <p:cNvPr id="18" name="Rectangle 17"/>
          <p:cNvSpPr/>
          <p:nvPr/>
        </p:nvSpPr>
        <p:spPr>
          <a:xfrm>
            <a:off x="4355976" y="1556792"/>
            <a:ext cx="1656184" cy="646331"/>
          </a:xfrm>
          <a:prstGeom prst="rect">
            <a:avLst/>
          </a:prstGeom>
        </p:spPr>
        <p:txBody>
          <a:bodyPr wrap="square">
            <a:spAutoFit/>
          </a:bodyPr>
          <a:lstStyle/>
          <a:p>
            <a:r>
              <a:rPr lang="nl-NL" b="1" dirty="0" smtClean="0"/>
              <a:t>Ga</a:t>
            </a:r>
            <a:endParaRPr lang="nl-NL" dirty="0" smtClean="0"/>
          </a:p>
          <a:p>
            <a:r>
              <a:rPr lang="nl-NL" b="1" dirty="0" smtClean="0"/>
              <a:t> </a:t>
            </a:r>
            <a:endParaRPr lang="nl-NL" dirty="0"/>
          </a:p>
        </p:txBody>
      </p:sp>
      <p:sp>
        <p:nvSpPr>
          <p:cNvPr id="19" name="Rectangle 18"/>
          <p:cNvSpPr/>
          <p:nvPr/>
        </p:nvSpPr>
        <p:spPr>
          <a:xfrm>
            <a:off x="6300192" y="1556792"/>
            <a:ext cx="2448272" cy="646331"/>
          </a:xfrm>
          <a:prstGeom prst="rect">
            <a:avLst/>
          </a:prstGeom>
        </p:spPr>
        <p:txBody>
          <a:bodyPr wrap="square">
            <a:spAutoFit/>
          </a:bodyPr>
          <a:lstStyle/>
          <a:p>
            <a:r>
              <a:rPr lang="nl-NL" dirty="0" err="1" smtClean="0"/>
              <a:t>Gx</a:t>
            </a:r>
            <a:r>
              <a:rPr lang="nl-NL" dirty="0" smtClean="0"/>
              <a:t>: x heeft een vader</a:t>
            </a:r>
          </a:p>
          <a:p>
            <a:r>
              <a:rPr lang="nl-NL" dirty="0" smtClean="0"/>
              <a:t>a: Jan</a:t>
            </a:r>
          </a:p>
        </p:txBody>
      </p:sp>
      <p:sp>
        <p:nvSpPr>
          <p:cNvPr id="20" name="Rectangle 19"/>
          <p:cNvSpPr/>
          <p:nvPr/>
        </p:nvSpPr>
        <p:spPr>
          <a:xfrm>
            <a:off x="4355976" y="2134597"/>
            <a:ext cx="1656184" cy="646331"/>
          </a:xfrm>
          <a:prstGeom prst="rect">
            <a:avLst/>
          </a:prstGeom>
        </p:spPr>
        <p:txBody>
          <a:bodyPr wrap="square">
            <a:spAutoFit/>
          </a:bodyPr>
          <a:lstStyle/>
          <a:p>
            <a:r>
              <a:rPr lang="nl-NL" b="1" dirty="0" smtClean="0"/>
              <a:t>∃x </a:t>
            </a:r>
            <a:r>
              <a:rPr lang="nl-NL" b="1" dirty="0" err="1" smtClean="0"/>
              <a:t>Vxa</a:t>
            </a:r>
            <a:endParaRPr lang="nl-NL" dirty="0" smtClean="0"/>
          </a:p>
          <a:p>
            <a:r>
              <a:rPr lang="nl-NL" b="1" dirty="0" smtClean="0"/>
              <a:t> </a:t>
            </a:r>
            <a:endParaRPr lang="nl-NL" dirty="0"/>
          </a:p>
        </p:txBody>
      </p:sp>
      <p:sp>
        <p:nvSpPr>
          <p:cNvPr id="21" name="Rectangle 20"/>
          <p:cNvSpPr/>
          <p:nvPr/>
        </p:nvSpPr>
        <p:spPr>
          <a:xfrm>
            <a:off x="6300192" y="2134597"/>
            <a:ext cx="2448272" cy="646331"/>
          </a:xfrm>
          <a:prstGeom prst="rect">
            <a:avLst/>
          </a:prstGeom>
        </p:spPr>
        <p:txBody>
          <a:bodyPr wrap="square">
            <a:spAutoFit/>
          </a:bodyPr>
          <a:lstStyle/>
          <a:p>
            <a:r>
              <a:rPr lang="nl-NL" dirty="0" err="1" smtClean="0"/>
              <a:t>Vxy</a:t>
            </a:r>
            <a:r>
              <a:rPr lang="nl-NL" dirty="0" smtClean="0"/>
              <a:t>: x is vader van y</a:t>
            </a:r>
          </a:p>
          <a:p>
            <a:r>
              <a:rPr lang="nl-NL" dirty="0" smtClean="0"/>
              <a:t>a: Jan</a:t>
            </a:r>
          </a:p>
        </p:txBody>
      </p:sp>
      <p:sp>
        <p:nvSpPr>
          <p:cNvPr id="23" name="Content Placeholder 2"/>
          <p:cNvSpPr txBox="1">
            <a:spLocks/>
          </p:cNvSpPr>
          <p:nvPr/>
        </p:nvSpPr>
        <p:spPr>
          <a:xfrm>
            <a:off x="-180528" y="2896345"/>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Piet is vader</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4" name="Rectangle 23"/>
          <p:cNvSpPr/>
          <p:nvPr/>
        </p:nvSpPr>
        <p:spPr>
          <a:xfrm>
            <a:off x="4355976" y="2852936"/>
            <a:ext cx="1656184" cy="646331"/>
          </a:xfrm>
          <a:prstGeom prst="rect">
            <a:avLst/>
          </a:prstGeom>
        </p:spPr>
        <p:txBody>
          <a:bodyPr wrap="square">
            <a:spAutoFit/>
          </a:bodyPr>
          <a:lstStyle/>
          <a:p>
            <a:r>
              <a:rPr lang="nl-NL" b="1" dirty="0" err="1" smtClean="0"/>
              <a:t>Hp</a:t>
            </a:r>
            <a:endParaRPr lang="nl-NL" dirty="0" smtClean="0"/>
          </a:p>
          <a:p>
            <a:r>
              <a:rPr lang="nl-NL" b="1" dirty="0" smtClean="0"/>
              <a:t> </a:t>
            </a:r>
            <a:endParaRPr lang="nl-NL" dirty="0"/>
          </a:p>
        </p:txBody>
      </p:sp>
      <p:sp>
        <p:nvSpPr>
          <p:cNvPr id="25" name="Rectangle 24"/>
          <p:cNvSpPr/>
          <p:nvPr/>
        </p:nvSpPr>
        <p:spPr>
          <a:xfrm>
            <a:off x="6300192" y="2852936"/>
            <a:ext cx="2448272" cy="646331"/>
          </a:xfrm>
          <a:prstGeom prst="rect">
            <a:avLst/>
          </a:prstGeom>
        </p:spPr>
        <p:txBody>
          <a:bodyPr wrap="square">
            <a:spAutoFit/>
          </a:bodyPr>
          <a:lstStyle/>
          <a:p>
            <a:r>
              <a:rPr lang="nl-NL" dirty="0" err="1" smtClean="0"/>
              <a:t>Hx</a:t>
            </a:r>
            <a:r>
              <a:rPr lang="nl-NL" dirty="0" smtClean="0"/>
              <a:t>: x is vader</a:t>
            </a:r>
          </a:p>
          <a:p>
            <a:r>
              <a:rPr lang="nl-NL" dirty="0" smtClean="0"/>
              <a:t>p: Piet</a:t>
            </a:r>
          </a:p>
        </p:txBody>
      </p:sp>
      <p:sp>
        <p:nvSpPr>
          <p:cNvPr id="37" name="Rectangle 36"/>
          <p:cNvSpPr/>
          <p:nvPr/>
        </p:nvSpPr>
        <p:spPr>
          <a:xfrm>
            <a:off x="4355976" y="3430741"/>
            <a:ext cx="1656184" cy="646331"/>
          </a:xfrm>
          <a:prstGeom prst="rect">
            <a:avLst/>
          </a:prstGeom>
        </p:spPr>
        <p:txBody>
          <a:bodyPr wrap="square">
            <a:spAutoFit/>
          </a:bodyPr>
          <a:lstStyle/>
          <a:p>
            <a:r>
              <a:rPr lang="nl-NL" b="1" dirty="0" smtClean="0"/>
              <a:t>∃y </a:t>
            </a:r>
            <a:r>
              <a:rPr lang="nl-NL" b="1" dirty="0" err="1" smtClean="0"/>
              <a:t>Vpy</a:t>
            </a:r>
            <a:endParaRPr lang="nl-NL" dirty="0" smtClean="0"/>
          </a:p>
          <a:p>
            <a:r>
              <a:rPr lang="nl-NL" b="1" dirty="0" smtClean="0"/>
              <a:t> </a:t>
            </a:r>
            <a:endParaRPr lang="nl-NL" dirty="0"/>
          </a:p>
        </p:txBody>
      </p:sp>
      <p:sp>
        <p:nvSpPr>
          <p:cNvPr id="38" name="Rectangle 37"/>
          <p:cNvSpPr/>
          <p:nvPr/>
        </p:nvSpPr>
        <p:spPr>
          <a:xfrm>
            <a:off x="6300192" y="3430741"/>
            <a:ext cx="2448272" cy="646331"/>
          </a:xfrm>
          <a:prstGeom prst="rect">
            <a:avLst/>
          </a:prstGeom>
        </p:spPr>
        <p:txBody>
          <a:bodyPr wrap="square">
            <a:spAutoFit/>
          </a:bodyPr>
          <a:lstStyle/>
          <a:p>
            <a:r>
              <a:rPr lang="nl-NL" dirty="0" err="1" smtClean="0"/>
              <a:t>Vxy</a:t>
            </a:r>
            <a:r>
              <a:rPr lang="nl-NL" dirty="0" smtClean="0"/>
              <a:t>: x is vader van y</a:t>
            </a:r>
          </a:p>
          <a:p>
            <a:r>
              <a:rPr lang="nl-NL" dirty="0" smtClean="0"/>
              <a:t>p: Piet</a:t>
            </a:r>
          </a:p>
        </p:txBody>
      </p:sp>
      <p:sp>
        <p:nvSpPr>
          <p:cNvPr id="39" name="Content Placeholder 2"/>
          <p:cNvSpPr txBox="1">
            <a:spLocks/>
          </p:cNvSpPr>
          <p:nvPr/>
        </p:nvSpPr>
        <p:spPr>
          <a:xfrm>
            <a:off x="-180528" y="3976465"/>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Piet is </a:t>
            </a:r>
            <a:r>
              <a:rPr lang="nl-NL" sz="2000" dirty="0" smtClean="0"/>
              <a:t>de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vader van Jan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0" name="Rectangle 39"/>
          <p:cNvSpPr/>
          <p:nvPr/>
        </p:nvSpPr>
        <p:spPr>
          <a:xfrm>
            <a:off x="4355976" y="4006805"/>
            <a:ext cx="1656184" cy="646331"/>
          </a:xfrm>
          <a:prstGeom prst="rect">
            <a:avLst/>
          </a:prstGeom>
        </p:spPr>
        <p:txBody>
          <a:bodyPr wrap="square">
            <a:spAutoFit/>
          </a:bodyPr>
          <a:lstStyle/>
          <a:p>
            <a:r>
              <a:rPr lang="nl-NL" b="1" dirty="0" err="1" smtClean="0"/>
              <a:t>Vpa</a:t>
            </a:r>
            <a:endParaRPr lang="nl-NL" dirty="0" smtClean="0"/>
          </a:p>
          <a:p>
            <a:r>
              <a:rPr lang="nl-NL" b="1" dirty="0" smtClean="0"/>
              <a:t> </a:t>
            </a:r>
            <a:endParaRPr lang="nl-NL" dirty="0"/>
          </a:p>
        </p:txBody>
      </p:sp>
      <p:sp>
        <p:nvSpPr>
          <p:cNvPr id="41" name="Content Placeholder 2"/>
          <p:cNvSpPr txBox="1">
            <a:spLocks/>
          </p:cNvSpPr>
          <p:nvPr/>
        </p:nvSpPr>
        <p:spPr>
          <a:xfrm>
            <a:off x="-180528" y="4696545"/>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Iedereen</a:t>
            </a:r>
            <a:r>
              <a:rPr kumimoji="0" lang="nl-NL" sz="2000" b="0" i="0" u="none" strike="noStrike" kern="1200" cap="none" spc="0" normalizeH="0" noProof="0" dirty="0" smtClean="0">
                <a:ln>
                  <a:noFill/>
                </a:ln>
                <a:solidFill>
                  <a:schemeClr val="tx1"/>
                </a:solidFill>
                <a:effectLst/>
                <a:uLnTx/>
                <a:uFillTx/>
                <a:latin typeface="+mn-lt"/>
                <a:ea typeface="+mn-ea"/>
                <a:cs typeface="+mn-cs"/>
              </a:rPr>
              <a:t> heeft een vader</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2" name="Rectangle 41"/>
          <p:cNvSpPr/>
          <p:nvPr/>
        </p:nvSpPr>
        <p:spPr>
          <a:xfrm>
            <a:off x="4355976" y="4653136"/>
            <a:ext cx="1656184" cy="646331"/>
          </a:xfrm>
          <a:prstGeom prst="rect">
            <a:avLst/>
          </a:prstGeom>
        </p:spPr>
        <p:txBody>
          <a:bodyPr wrap="square">
            <a:spAutoFit/>
          </a:bodyPr>
          <a:lstStyle/>
          <a:p>
            <a:r>
              <a:rPr lang="nl-NL" b="1" dirty="0" smtClean="0"/>
              <a:t>∀y ∃x </a:t>
            </a:r>
            <a:r>
              <a:rPr lang="nl-NL" b="1" dirty="0" err="1" smtClean="0"/>
              <a:t>Vxy</a:t>
            </a:r>
            <a:endParaRPr lang="nl-NL" dirty="0" smtClean="0"/>
          </a:p>
          <a:p>
            <a:r>
              <a:rPr lang="nl-NL" b="1" dirty="0" smtClean="0"/>
              <a:t> </a:t>
            </a:r>
            <a:endParaRPr lang="nl-NL" dirty="0"/>
          </a:p>
        </p:txBody>
      </p:sp>
      <p:sp>
        <p:nvSpPr>
          <p:cNvPr id="43" name="Content Placeholder 2"/>
          <p:cNvSpPr txBox="1">
            <a:spLocks/>
          </p:cNvSpPr>
          <p:nvPr/>
        </p:nvSpPr>
        <p:spPr>
          <a:xfrm>
            <a:off x="0" y="5373216"/>
            <a:ext cx="3744416" cy="676671"/>
          </a:xfrm>
          <a:prstGeom prst="rect">
            <a:avLst/>
          </a:prstGeom>
        </p:spPr>
        <p:txBody>
          <a:bodyPr vert="horz" lIns="91440" tIns="45720" rIns="91440" bIns="45720" rtlCol="0">
            <a:noAutofit/>
          </a:bodyPr>
          <a:lstStyle/>
          <a:p>
            <a:pPr marL="34290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∃x ∀y </a:t>
            </a:r>
            <a:r>
              <a:rPr lang="nl-NL" sz="2000" dirty="0" err="1" smtClean="0"/>
              <a:t>Vxy</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44" name="Content Placeholder 2"/>
          <p:cNvSpPr txBox="1">
            <a:spLocks/>
          </p:cNvSpPr>
          <p:nvPr/>
        </p:nvSpPr>
        <p:spPr>
          <a:xfrm>
            <a:off x="3923928" y="5344617"/>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Iemand is vader van iedereen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fade">
                                      <p:cBhvr>
                                        <p:cTn id="10" dur="2000"/>
                                        <p:tgtEl>
                                          <p:spTgt spid="1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0" end="0"/>
                                            </p:txEl>
                                          </p:spTgt>
                                        </p:tgtEl>
                                        <p:attrNameLst>
                                          <p:attrName>style.visibility</p:attrName>
                                        </p:attrNameLst>
                                      </p:cBhvr>
                                      <p:to>
                                        <p:strVal val="visible"/>
                                      </p:to>
                                    </p:set>
                                    <p:animEffect transition="in" filter="fade">
                                      <p:cBhvr>
                                        <p:cTn id="13" dur="2000"/>
                                        <p:tgtEl>
                                          <p:spTgt spid="19">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1" end="1"/>
                                            </p:txEl>
                                          </p:spTgt>
                                        </p:tgtEl>
                                        <p:attrNameLst>
                                          <p:attrName>style.visibility</p:attrName>
                                        </p:attrNameLst>
                                      </p:cBhvr>
                                      <p:to>
                                        <p:strVal val="visible"/>
                                      </p:to>
                                    </p:set>
                                    <p:animEffect transition="in" filter="fade">
                                      <p:cBhvr>
                                        <p:cTn id="16" dur="2000"/>
                                        <p:tgtEl>
                                          <p:spTgt spid="1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animEffect transition="in" filter="fade">
                                      <p:cBhvr>
                                        <p:cTn id="21" dur="2000"/>
                                        <p:tgtEl>
                                          <p:spTgt spid="20">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xEl>
                                              <p:pRg st="1" end="1"/>
                                            </p:txEl>
                                          </p:spTgt>
                                        </p:tgtEl>
                                        <p:attrNameLst>
                                          <p:attrName>style.visibility</p:attrName>
                                        </p:attrNameLst>
                                      </p:cBhvr>
                                      <p:to>
                                        <p:strVal val="visible"/>
                                      </p:to>
                                    </p:set>
                                    <p:animEffect transition="in" filter="fade">
                                      <p:cBhvr>
                                        <p:cTn id="24" dur="2000"/>
                                        <p:tgtEl>
                                          <p:spTgt spid="20">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xEl>
                                              <p:pRg st="0" end="0"/>
                                            </p:txEl>
                                          </p:spTgt>
                                        </p:tgtEl>
                                        <p:attrNameLst>
                                          <p:attrName>style.visibility</p:attrName>
                                        </p:attrNameLst>
                                      </p:cBhvr>
                                      <p:to>
                                        <p:strVal val="visible"/>
                                      </p:to>
                                    </p:set>
                                    <p:animEffect transition="in" filter="fade">
                                      <p:cBhvr>
                                        <p:cTn id="27" dur="2000"/>
                                        <p:tgtEl>
                                          <p:spTgt spid="21">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xEl>
                                              <p:pRg st="1" end="1"/>
                                            </p:txEl>
                                          </p:spTgt>
                                        </p:tgtEl>
                                        <p:attrNameLst>
                                          <p:attrName>style.visibility</p:attrName>
                                        </p:attrNameLst>
                                      </p:cBhvr>
                                      <p:to>
                                        <p:strVal val="visible"/>
                                      </p:to>
                                    </p:set>
                                    <p:animEffect transition="in" filter="fade">
                                      <p:cBhvr>
                                        <p:cTn id="30" dur="2000"/>
                                        <p:tgtEl>
                                          <p:spTgt spid="21">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3">
                                            <p:txEl>
                                              <p:pRg st="0" end="0"/>
                                            </p:txEl>
                                          </p:spTgt>
                                        </p:tgtEl>
                                        <p:attrNameLst>
                                          <p:attrName>style.visibility</p:attrName>
                                        </p:attrNameLst>
                                      </p:cBhvr>
                                      <p:to>
                                        <p:strVal val="visible"/>
                                      </p:to>
                                    </p:set>
                                    <p:animEffect transition="in" filter="fade">
                                      <p:cBhvr>
                                        <p:cTn id="35" dur="2000"/>
                                        <p:tgtEl>
                                          <p:spTgt spid="2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xEl>
                                              <p:pRg st="0" end="0"/>
                                            </p:txEl>
                                          </p:spTgt>
                                        </p:tgtEl>
                                        <p:attrNameLst>
                                          <p:attrName>style.visibility</p:attrName>
                                        </p:attrNameLst>
                                      </p:cBhvr>
                                      <p:to>
                                        <p:strVal val="visible"/>
                                      </p:to>
                                    </p:set>
                                    <p:animEffect transition="in" filter="fade">
                                      <p:cBhvr>
                                        <p:cTn id="40" dur="2000"/>
                                        <p:tgtEl>
                                          <p:spTgt spid="2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xEl>
                                              <p:pRg st="1" end="1"/>
                                            </p:txEl>
                                          </p:spTgt>
                                        </p:tgtEl>
                                        <p:attrNameLst>
                                          <p:attrName>style.visibility</p:attrName>
                                        </p:attrNameLst>
                                      </p:cBhvr>
                                      <p:to>
                                        <p:strVal val="visible"/>
                                      </p:to>
                                    </p:set>
                                    <p:animEffect transition="in" filter="fade">
                                      <p:cBhvr>
                                        <p:cTn id="43" dur="2000"/>
                                        <p:tgtEl>
                                          <p:spTgt spid="24">
                                            <p:txEl>
                                              <p:pRg st="1" end="1"/>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xEl>
                                              <p:pRg st="0" end="0"/>
                                            </p:txEl>
                                          </p:spTgt>
                                        </p:tgtEl>
                                        <p:attrNameLst>
                                          <p:attrName>style.visibility</p:attrName>
                                        </p:attrNameLst>
                                      </p:cBhvr>
                                      <p:to>
                                        <p:strVal val="visible"/>
                                      </p:to>
                                    </p:set>
                                    <p:animEffect transition="in" filter="fade">
                                      <p:cBhvr>
                                        <p:cTn id="46" dur="2000"/>
                                        <p:tgtEl>
                                          <p:spTgt spid="25">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xEl>
                                              <p:pRg st="1" end="1"/>
                                            </p:txEl>
                                          </p:spTgt>
                                        </p:tgtEl>
                                        <p:attrNameLst>
                                          <p:attrName>style.visibility</p:attrName>
                                        </p:attrNameLst>
                                      </p:cBhvr>
                                      <p:to>
                                        <p:strVal val="visible"/>
                                      </p:to>
                                    </p:set>
                                    <p:animEffect transition="in" filter="fade">
                                      <p:cBhvr>
                                        <p:cTn id="49" dur="2000"/>
                                        <p:tgtEl>
                                          <p:spTgt spid="25">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7">
                                            <p:txEl>
                                              <p:pRg st="0" end="0"/>
                                            </p:txEl>
                                          </p:spTgt>
                                        </p:tgtEl>
                                        <p:attrNameLst>
                                          <p:attrName>style.visibility</p:attrName>
                                        </p:attrNameLst>
                                      </p:cBhvr>
                                      <p:to>
                                        <p:strVal val="visible"/>
                                      </p:to>
                                    </p:set>
                                    <p:animEffect transition="in" filter="fade">
                                      <p:cBhvr>
                                        <p:cTn id="54" dur="2000"/>
                                        <p:tgtEl>
                                          <p:spTgt spid="37">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xEl>
                                              <p:pRg st="1" end="1"/>
                                            </p:txEl>
                                          </p:spTgt>
                                        </p:tgtEl>
                                        <p:attrNameLst>
                                          <p:attrName>style.visibility</p:attrName>
                                        </p:attrNameLst>
                                      </p:cBhvr>
                                      <p:to>
                                        <p:strVal val="visible"/>
                                      </p:to>
                                    </p:set>
                                    <p:animEffect transition="in" filter="fade">
                                      <p:cBhvr>
                                        <p:cTn id="57" dur="2000"/>
                                        <p:tgtEl>
                                          <p:spTgt spid="37">
                                            <p:txEl>
                                              <p:pRg st="1" end="1"/>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8">
                                            <p:txEl>
                                              <p:pRg st="0" end="0"/>
                                            </p:txEl>
                                          </p:spTgt>
                                        </p:tgtEl>
                                        <p:attrNameLst>
                                          <p:attrName>style.visibility</p:attrName>
                                        </p:attrNameLst>
                                      </p:cBhvr>
                                      <p:to>
                                        <p:strVal val="visible"/>
                                      </p:to>
                                    </p:set>
                                    <p:animEffect transition="in" filter="fade">
                                      <p:cBhvr>
                                        <p:cTn id="60" dur="2000"/>
                                        <p:tgtEl>
                                          <p:spTgt spid="38">
                                            <p:txEl>
                                              <p:pRg st="0" end="0"/>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8">
                                            <p:txEl>
                                              <p:pRg st="1" end="1"/>
                                            </p:txEl>
                                          </p:spTgt>
                                        </p:tgtEl>
                                        <p:attrNameLst>
                                          <p:attrName>style.visibility</p:attrName>
                                        </p:attrNameLst>
                                      </p:cBhvr>
                                      <p:to>
                                        <p:strVal val="visible"/>
                                      </p:to>
                                    </p:set>
                                    <p:animEffect transition="in" filter="fade">
                                      <p:cBhvr>
                                        <p:cTn id="63" dur="2000"/>
                                        <p:tgtEl>
                                          <p:spTgt spid="38">
                                            <p:txEl>
                                              <p:pRg st="1" end="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9">
                                            <p:txEl>
                                              <p:pRg st="0" end="0"/>
                                            </p:txEl>
                                          </p:spTgt>
                                        </p:tgtEl>
                                        <p:attrNameLst>
                                          <p:attrName>style.visibility</p:attrName>
                                        </p:attrNameLst>
                                      </p:cBhvr>
                                      <p:to>
                                        <p:strVal val="visible"/>
                                      </p:to>
                                    </p:set>
                                    <p:animEffect transition="in" filter="fade">
                                      <p:cBhvr>
                                        <p:cTn id="68" dur="2000"/>
                                        <p:tgtEl>
                                          <p:spTgt spid="39">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40">
                                            <p:txEl>
                                              <p:pRg st="0" end="0"/>
                                            </p:txEl>
                                          </p:spTgt>
                                        </p:tgtEl>
                                        <p:attrNameLst>
                                          <p:attrName>style.visibility</p:attrName>
                                        </p:attrNameLst>
                                      </p:cBhvr>
                                      <p:to>
                                        <p:strVal val="visible"/>
                                      </p:to>
                                    </p:set>
                                    <p:animEffect transition="in" filter="fade">
                                      <p:cBhvr>
                                        <p:cTn id="73" dur="2000"/>
                                        <p:tgtEl>
                                          <p:spTgt spid="40">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0">
                                            <p:txEl>
                                              <p:pRg st="1" end="1"/>
                                            </p:txEl>
                                          </p:spTgt>
                                        </p:tgtEl>
                                        <p:attrNameLst>
                                          <p:attrName>style.visibility</p:attrName>
                                        </p:attrNameLst>
                                      </p:cBhvr>
                                      <p:to>
                                        <p:strVal val="visible"/>
                                      </p:to>
                                    </p:set>
                                    <p:animEffect transition="in" filter="fade">
                                      <p:cBhvr>
                                        <p:cTn id="76" dur="2000"/>
                                        <p:tgtEl>
                                          <p:spTgt spid="40">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41">
                                            <p:txEl>
                                              <p:pRg st="0" end="0"/>
                                            </p:txEl>
                                          </p:spTgt>
                                        </p:tgtEl>
                                        <p:attrNameLst>
                                          <p:attrName>style.visibility</p:attrName>
                                        </p:attrNameLst>
                                      </p:cBhvr>
                                      <p:to>
                                        <p:strVal val="visible"/>
                                      </p:to>
                                    </p:set>
                                    <p:animEffect transition="in" filter="fade">
                                      <p:cBhvr>
                                        <p:cTn id="81" dur="2000"/>
                                        <p:tgtEl>
                                          <p:spTgt spid="41">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2">
                                            <p:txEl>
                                              <p:pRg st="0" end="0"/>
                                            </p:txEl>
                                          </p:spTgt>
                                        </p:tgtEl>
                                        <p:attrNameLst>
                                          <p:attrName>style.visibility</p:attrName>
                                        </p:attrNameLst>
                                      </p:cBhvr>
                                      <p:to>
                                        <p:strVal val="visible"/>
                                      </p:to>
                                    </p:set>
                                    <p:animEffect transition="in" filter="fade">
                                      <p:cBhvr>
                                        <p:cTn id="86" dur="2000"/>
                                        <p:tgtEl>
                                          <p:spTgt spid="42">
                                            <p:txEl>
                                              <p:pRg st="0" end="0"/>
                                            </p:txEl>
                                          </p:spTgt>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2">
                                            <p:txEl>
                                              <p:pRg st="1" end="1"/>
                                            </p:txEl>
                                          </p:spTgt>
                                        </p:tgtEl>
                                        <p:attrNameLst>
                                          <p:attrName>style.visibility</p:attrName>
                                        </p:attrNameLst>
                                      </p:cBhvr>
                                      <p:to>
                                        <p:strVal val="visible"/>
                                      </p:to>
                                    </p:set>
                                    <p:animEffect transition="in" filter="fade">
                                      <p:cBhvr>
                                        <p:cTn id="89" dur="2000"/>
                                        <p:tgtEl>
                                          <p:spTgt spid="42">
                                            <p:txEl>
                                              <p:pRg st="1" end="1"/>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3">
                                            <p:txEl>
                                              <p:pRg st="0" end="0"/>
                                            </p:txEl>
                                          </p:spTgt>
                                        </p:tgtEl>
                                        <p:attrNameLst>
                                          <p:attrName>style.visibility</p:attrName>
                                        </p:attrNameLst>
                                      </p:cBhvr>
                                      <p:to>
                                        <p:strVal val="visible"/>
                                      </p:to>
                                    </p:set>
                                    <p:animEffect transition="in" filter="fade">
                                      <p:cBhvr>
                                        <p:cTn id="94" dur="2000"/>
                                        <p:tgtEl>
                                          <p:spTgt spid="43">
                                            <p:txEl>
                                              <p:pRg st="0" end="0"/>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4">
                                            <p:txEl>
                                              <p:pRg st="0" end="0"/>
                                            </p:txEl>
                                          </p:spTgt>
                                        </p:tgtEl>
                                        <p:attrNameLst>
                                          <p:attrName>style.visibility</p:attrName>
                                        </p:attrNameLst>
                                      </p:cBhvr>
                                      <p:to>
                                        <p:strVal val="visible"/>
                                      </p:to>
                                    </p:set>
                                    <p:animEffect transition="in" filter="fade">
                                      <p:cBhvr>
                                        <p:cTn id="99" dur="20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0" grpId="0" build="allAtOnce"/>
      <p:bldP spid="21" grpId="0" build="allAtOnce"/>
      <p:bldP spid="23" grpId="0" build="allAtOnce"/>
      <p:bldP spid="24" grpId="0" build="allAtOnce"/>
      <p:bldP spid="25" grpId="0" build="allAtOnce"/>
      <p:bldP spid="37" grpId="0" build="allAtOnce"/>
      <p:bldP spid="38" grpId="0" build="allAtOnce"/>
      <p:bldP spid="39" grpId="0" build="allAtOnce"/>
      <p:bldP spid="40" grpId="0" build="allAtOnce"/>
      <p:bldP spid="41" grpId="0" build="allAtOnce"/>
      <p:bldP spid="42" grpId="0" build="allAtOnce"/>
      <p:bldP spid="43" grpId="0" build="allAtOnce"/>
      <p:bldP spid="44" grpId="0" build="allAtOnce"/>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 in de </a:t>
            </a:r>
            <a:r>
              <a:rPr lang="nl-NL" sz="3600" dirty="0" err="1" smtClean="0"/>
              <a:t>predikaatlogica</a:t>
            </a:r>
            <a:endParaRPr lang="nl-NL" sz="3600" dirty="0"/>
          </a:p>
        </p:txBody>
      </p:sp>
      <p:sp>
        <p:nvSpPr>
          <p:cNvPr id="3" name="Content Placeholder 2"/>
          <p:cNvSpPr>
            <a:spLocks noGrp="1"/>
          </p:cNvSpPr>
          <p:nvPr>
            <p:ph idx="1"/>
          </p:nvPr>
        </p:nvSpPr>
        <p:spPr>
          <a:xfrm>
            <a:off x="179512" y="1412776"/>
            <a:ext cx="2736304" cy="1512168"/>
          </a:xfrm>
        </p:spPr>
        <p:txBody>
          <a:bodyPr>
            <a:noAutofit/>
          </a:bodyPr>
          <a:lstStyle/>
          <a:p>
            <a:pPr>
              <a:buNone/>
            </a:pPr>
            <a:r>
              <a:rPr lang="nl-NL" sz="2000" dirty="0" smtClean="0"/>
              <a:t>      </a:t>
            </a:r>
            <a:r>
              <a:rPr lang="nl-NL" sz="2000" dirty="0" err="1" smtClean="0"/>
              <a:t>Hxy</a:t>
            </a:r>
            <a:r>
              <a:rPr lang="nl-NL" sz="2000" dirty="0" smtClean="0"/>
              <a:t>: x houdt van y</a:t>
            </a:r>
          </a:p>
          <a:p>
            <a:pPr>
              <a:buNone/>
            </a:pPr>
            <a:r>
              <a:rPr lang="nl-NL" sz="2000" dirty="0" smtClean="0"/>
              <a:t>	a: Piet</a:t>
            </a:r>
          </a:p>
          <a:p>
            <a:pPr>
              <a:buNone/>
            </a:pPr>
            <a:r>
              <a:rPr lang="nl-NL" sz="2000" dirty="0" smtClean="0"/>
              <a:t> 	b: Marie</a:t>
            </a:r>
          </a:p>
          <a:p>
            <a:pPr>
              <a:buNone/>
            </a:pPr>
            <a:endParaRPr lang="nl-NL" sz="2000" i="1" dirty="0" smtClean="0"/>
          </a:p>
          <a:p>
            <a:endParaRPr lang="nl-NL" sz="2000" dirty="0" smtClean="0"/>
          </a:p>
        </p:txBody>
      </p:sp>
      <p:sp>
        <p:nvSpPr>
          <p:cNvPr id="22" name="TextBox 21"/>
          <p:cNvSpPr txBox="1"/>
          <p:nvPr/>
        </p:nvSpPr>
        <p:spPr>
          <a:xfrm>
            <a:off x="611560" y="2852936"/>
            <a:ext cx="3528392" cy="369332"/>
          </a:xfrm>
          <a:prstGeom prst="rect">
            <a:avLst/>
          </a:prstGeom>
          <a:noFill/>
        </p:spPr>
        <p:txBody>
          <a:bodyPr wrap="square" rtlCol="0">
            <a:spAutoFit/>
          </a:bodyPr>
          <a:lstStyle/>
          <a:p>
            <a:r>
              <a:rPr lang="nl-NL" dirty="0" smtClean="0"/>
              <a:t>Marie houdt niet van Piet</a:t>
            </a:r>
          </a:p>
        </p:txBody>
      </p:sp>
      <p:sp>
        <p:nvSpPr>
          <p:cNvPr id="26" name="TextBox 25"/>
          <p:cNvSpPr txBox="1"/>
          <p:nvPr/>
        </p:nvSpPr>
        <p:spPr>
          <a:xfrm>
            <a:off x="611560" y="3203684"/>
            <a:ext cx="3528392" cy="369332"/>
          </a:xfrm>
          <a:prstGeom prst="rect">
            <a:avLst/>
          </a:prstGeom>
          <a:noFill/>
        </p:spPr>
        <p:txBody>
          <a:bodyPr wrap="square" rtlCol="0">
            <a:spAutoFit/>
          </a:bodyPr>
          <a:lstStyle/>
          <a:p>
            <a:r>
              <a:rPr lang="nl-NL" dirty="0" smtClean="0"/>
              <a:t>Iedereen houdt van Marie</a:t>
            </a:r>
          </a:p>
        </p:txBody>
      </p:sp>
      <p:sp>
        <p:nvSpPr>
          <p:cNvPr id="27" name="TextBox 26"/>
          <p:cNvSpPr txBox="1"/>
          <p:nvPr/>
        </p:nvSpPr>
        <p:spPr>
          <a:xfrm>
            <a:off x="611560" y="3563724"/>
            <a:ext cx="3528392" cy="369332"/>
          </a:xfrm>
          <a:prstGeom prst="rect">
            <a:avLst/>
          </a:prstGeom>
          <a:noFill/>
        </p:spPr>
        <p:txBody>
          <a:bodyPr wrap="square" rtlCol="0">
            <a:spAutoFit/>
          </a:bodyPr>
          <a:lstStyle/>
          <a:p>
            <a:r>
              <a:rPr lang="nl-NL" dirty="0" smtClean="0"/>
              <a:t>Niemand houdt van Marie</a:t>
            </a:r>
          </a:p>
        </p:txBody>
      </p:sp>
      <p:sp>
        <p:nvSpPr>
          <p:cNvPr id="28" name="TextBox 27"/>
          <p:cNvSpPr txBox="1"/>
          <p:nvPr/>
        </p:nvSpPr>
        <p:spPr>
          <a:xfrm>
            <a:off x="611560" y="3923764"/>
            <a:ext cx="3528392" cy="369332"/>
          </a:xfrm>
          <a:prstGeom prst="rect">
            <a:avLst/>
          </a:prstGeom>
          <a:noFill/>
        </p:spPr>
        <p:txBody>
          <a:bodyPr wrap="square" rtlCol="0">
            <a:spAutoFit/>
          </a:bodyPr>
          <a:lstStyle/>
          <a:p>
            <a:r>
              <a:rPr lang="nl-NL" dirty="0" smtClean="0"/>
              <a:t>Piet houdt van iemand</a:t>
            </a:r>
          </a:p>
        </p:txBody>
      </p:sp>
      <p:sp>
        <p:nvSpPr>
          <p:cNvPr id="29" name="TextBox 28"/>
          <p:cNvSpPr txBox="1"/>
          <p:nvPr/>
        </p:nvSpPr>
        <p:spPr>
          <a:xfrm>
            <a:off x="611560" y="4283804"/>
            <a:ext cx="3528392" cy="369332"/>
          </a:xfrm>
          <a:prstGeom prst="rect">
            <a:avLst/>
          </a:prstGeom>
          <a:noFill/>
        </p:spPr>
        <p:txBody>
          <a:bodyPr wrap="square" rtlCol="0">
            <a:spAutoFit/>
          </a:bodyPr>
          <a:lstStyle/>
          <a:p>
            <a:r>
              <a:rPr lang="nl-NL" dirty="0" smtClean="0"/>
              <a:t>Iedereen houdt van iemand</a:t>
            </a:r>
          </a:p>
        </p:txBody>
      </p:sp>
      <p:sp>
        <p:nvSpPr>
          <p:cNvPr id="30" name="TextBox 29"/>
          <p:cNvSpPr txBox="1"/>
          <p:nvPr/>
        </p:nvSpPr>
        <p:spPr>
          <a:xfrm>
            <a:off x="611560" y="4643844"/>
            <a:ext cx="3528392" cy="369332"/>
          </a:xfrm>
          <a:prstGeom prst="rect">
            <a:avLst/>
          </a:prstGeom>
          <a:noFill/>
        </p:spPr>
        <p:txBody>
          <a:bodyPr wrap="square" rtlCol="0">
            <a:spAutoFit/>
          </a:bodyPr>
          <a:lstStyle/>
          <a:p>
            <a:r>
              <a:rPr lang="nl-NL" dirty="0" smtClean="0"/>
              <a:t>Iemand houdt van iedereen</a:t>
            </a:r>
          </a:p>
        </p:txBody>
      </p:sp>
      <p:sp>
        <p:nvSpPr>
          <p:cNvPr id="31" name="TextBox 30"/>
          <p:cNvSpPr txBox="1"/>
          <p:nvPr/>
        </p:nvSpPr>
        <p:spPr>
          <a:xfrm>
            <a:off x="611560" y="5013176"/>
            <a:ext cx="3528392" cy="369332"/>
          </a:xfrm>
          <a:prstGeom prst="rect">
            <a:avLst/>
          </a:prstGeom>
          <a:noFill/>
        </p:spPr>
        <p:txBody>
          <a:bodyPr wrap="square" rtlCol="0">
            <a:spAutoFit/>
          </a:bodyPr>
          <a:lstStyle/>
          <a:p>
            <a:r>
              <a:rPr lang="nl-NL" dirty="0" smtClean="0"/>
              <a:t>Niemand houdt van iedereen</a:t>
            </a:r>
          </a:p>
        </p:txBody>
      </p:sp>
      <p:sp>
        <p:nvSpPr>
          <p:cNvPr id="32" name="TextBox 31"/>
          <p:cNvSpPr txBox="1"/>
          <p:nvPr/>
        </p:nvSpPr>
        <p:spPr>
          <a:xfrm>
            <a:off x="611560" y="5363924"/>
            <a:ext cx="3528392" cy="369332"/>
          </a:xfrm>
          <a:prstGeom prst="rect">
            <a:avLst/>
          </a:prstGeom>
          <a:noFill/>
        </p:spPr>
        <p:txBody>
          <a:bodyPr wrap="square" rtlCol="0">
            <a:spAutoFit/>
          </a:bodyPr>
          <a:lstStyle/>
          <a:p>
            <a:r>
              <a:rPr lang="nl-NL" dirty="0" smtClean="0"/>
              <a:t>Niemand houdt van iemand</a:t>
            </a:r>
          </a:p>
        </p:txBody>
      </p:sp>
      <p:sp>
        <p:nvSpPr>
          <p:cNvPr id="33" name="TextBox 32"/>
          <p:cNvSpPr txBox="1"/>
          <p:nvPr/>
        </p:nvSpPr>
        <p:spPr>
          <a:xfrm>
            <a:off x="611560" y="5723964"/>
            <a:ext cx="3528392" cy="369332"/>
          </a:xfrm>
          <a:prstGeom prst="rect">
            <a:avLst/>
          </a:prstGeom>
          <a:noFill/>
        </p:spPr>
        <p:txBody>
          <a:bodyPr wrap="square" rtlCol="0">
            <a:spAutoFit/>
          </a:bodyPr>
          <a:lstStyle/>
          <a:p>
            <a:r>
              <a:rPr lang="nl-NL" dirty="0" smtClean="0"/>
              <a:t>Niemand houdt van zichzelf</a:t>
            </a:r>
          </a:p>
        </p:txBody>
      </p:sp>
      <p:sp>
        <p:nvSpPr>
          <p:cNvPr id="34" name="TextBox 33"/>
          <p:cNvSpPr txBox="1"/>
          <p:nvPr/>
        </p:nvSpPr>
        <p:spPr>
          <a:xfrm>
            <a:off x="611560" y="6084004"/>
            <a:ext cx="3744416" cy="369332"/>
          </a:xfrm>
          <a:prstGeom prst="rect">
            <a:avLst/>
          </a:prstGeom>
          <a:noFill/>
        </p:spPr>
        <p:txBody>
          <a:bodyPr wrap="square" rtlCol="0">
            <a:spAutoFit/>
          </a:bodyPr>
          <a:lstStyle/>
          <a:p>
            <a:r>
              <a:rPr lang="nl-NL" dirty="0" smtClean="0"/>
              <a:t>Er is iemand van wie iedereen houdt</a:t>
            </a:r>
          </a:p>
        </p:txBody>
      </p:sp>
      <p:sp>
        <p:nvSpPr>
          <p:cNvPr id="35" name="Rectangle 34"/>
          <p:cNvSpPr/>
          <p:nvPr/>
        </p:nvSpPr>
        <p:spPr>
          <a:xfrm>
            <a:off x="4211960" y="2780929"/>
            <a:ext cx="1656184" cy="646331"/>
          </a:xfrm>
          <a:prstGeom prst="rect">
            <a:avLst/>
          </a:prstGeom>
        </p:spPr>
        <p:txBody>
          <a:bodyPr wrap="square">
            <a:spAutoFit/>
          </a:bodyPr>
          <a:lstStyle/>
          <a:p>
            <a:r>
              <a:rPr lang="nl-NL" b="1" dirty="0" smtClean="0"/>
              <a:t>¬</a:t>
            </a:r>
            <a:r>
              <a:rPr lang="nl-NL" b="1" dirty="0" err="1" smtClean="0"/>
              <a:t>Hba</a:t>
            </a:r>
            <a:endParaRPr lang="nl-NL" dirty="0" smtClean="0"/>
          </a:p>
          <a:p>
            <a:r>
              <a:rPr lang="nl-NL" b="1" dirty="0" smtClean="0"/>
              <a:t> </a:t>
            </a:r>
            <a:endParaRPr lang="nl-NL" dirty="0"/>
          </a:p>
        </p:txBody>
      </p:sp>
      <p:sp>
        <p:nvSpPr>
          <p:cNvPr id="36" name="Rectangle 35"/>
          <p:cNvSpPr/>
          <p:nvPr/>
        </p:nvSpPr>
        <p:spPr>
          <a:xfrm>
            <a:off x="4211960" y="3142709"/>
            <a:ext cx="1656184" cy="923330"/>
          </a:xfrm>
          <a:prstGeom prst="rect">
            <a:avLst/>
          </a:prstGeom>
        </p:spPr>
        <p:txBody>
          <a:bodyPr wrap="square">
            <a:spAutoFit/>
          </a:bodyPr>
          <a:lstStyle/>
          <a:p>
            <a:r>
              <a:rPr lang="nl-NL" b="1" dirty="0" smtClean="0"/>
              <a:t>∀x </a:t>
            </a:r>
            <a:r>
              <a:rPr lang="nl-NL" b="1" dirty="0" err="1" smtClean="0"/>
              <a:t>Hxb</a:t>
            </a:r>
            <a:endParaRPr lang="nl-NL" dirty="0" smtClean="0"/>
          </a:p>
          <a:p>
            <a:endParaRPr lang="nl-NL" dirty="0" smtClean="0"/>
          </a:p>
          <a:p>
            <a:r>
              <a:rPr lang="nl-NL" b="1" dirty="0" smtClean="0"/>
              <a:t> </a:t>
            </a:r>
            <a:endParaRPr lang="nl-NL" dirty="0"/>
          </a:p>
        </p:txBody>
      </p:sp>
      <p:sp>
        <p:nvSpPr>
          <p:cNvPr id="45" name="Rectangle 44"/>
          <p:cNvSpPr/>
          <p:nvPr/>
        </p:nvSpPr>
        <p:spPr>
          <a:xfrm>
            <a:off x="4160039" y="3501008"/>
            <a:ext cx="966931" cy="369332"/>
          </a:xfrm>
          <a:prstGeom prst="rect">
            <a:avLst/>
          </a:prstGeom>
        </p:spPr>
        <p:txBody>
          <a:bodyPr wrap="none">
            <a:spAutoFit/>
          </a:bodyPr>
          <a:lstStyle/>
          <a:p>
            <a:r>
              <a:rPr lang="nl-NL" b="1" dirty="0" smtClean="0"/>
              <a:t>¬∃x </a:t>
            </a:r>
            <a:r>
              <a:rPr lang="nl-NL" b="1" dirty="0" err="1" smtClean="0"/>
              <a:t>Hxb</a:t>
            </a:r>
            <a:endParaRPr lang="nl-NL" dirty="0" smtClean="0"/>
          </a:p>
        </p:txBody>
      </p:sp>
      <p:sp>
        <p:nvSpPr>
          <p:cNvPr id="46" name="Rectangle 45"/>
          <p:cNvSpPr/>
          <p:nvPr/>
        </p:nvSpPr>
        <p:spPr>
          <a:xfrm>
            <a:off x="5405269" y="3491716"/>
            <a:ext cx="976549" cy="369332"/>
          </a:xfrm>
          <a:prstGeom prst="rect">
            <a:avLst/>
          </a:prstGeom>
        </p:spPr>
        <p:txBody>
          <a:bodyPr wrap="none">
            <a:spAutoFit/>
          </a:bodyPr>
          <a:lstStyle/>
          <a:p>
            <a:r>
              <a:rPr lang="nl-NL" b="1" dirty="0" smtClean="0"/>
              <a:t>∀x ¬</a:t>
            </a:r>
            <a:r>
              <a:rPr lang="nl-NL" b="1" dirty="0" err="1" smtClean="0"/>
              <a:t>Hxb</a:t>
            </a:r>
            <a:endParaRPr lang="nl-NL" dirty="0" smtClean="0"/>
          </a:p>
        </p:txBody>
      </p:sp>
      <p:sp>
        <p:nvSpPr>
          <p:cNvPr id="47" name="Rectangle 46"/>
          <p:cNvSpPr/>
          <p:nvPr/>
        </p:nvSpPr>
        <p:spPr>
          <a:xfrm>
            <a:off x="4181133" y="3851756"/>
            <a:ext cx="839782" cy="369332"/>
          </a:xfrm>
          <a:prstGeom prst="rect">
            <a:avLst/>
          </a:prstGeom>
        </p:spPr>
        <p:txBody>
          <a:bodyPr wrap="none">
            <a:spAutoFit/>
          </a:bodyPr>
          <a:lstStyle/>
          <a:p>
            <a:r>
              <a:rPr lang="nl-NL" b="1" dirty="0" smtClean="0"/>
              <a:t>∃x </a:t>
            </a:r>
            <a:r>
              <a:rPr lang="nl-NL" b="1" dirty="0" err="1" smtClean="0"/>
              <a:t>Hax</a:t>
            </a:r>
            <a:endParaRPr lang="nl-NL" dirty="0" smtClean="0"/>
          </a:p>
        </p:txBody>
      </p:sp>
      <p:sp>
        <p:nvSpPr>
          <p:cNvPr id="48" name="Rectangle 47"/>
          <p:cNvSpPr/>
          <p:nvPr/>
        </p:nvSpPr>
        <p:spPr>
          <a:xfrm>
            <a:off x="4211960" y="4221088"/>
            <a:ext cx="1656184" cy="923330"/>
          </a:xfrm>
          <a:prstGeom prst="rect">
            <a:avLst/>
          </a:prstGeom>
        </p:spPr>
        <p:txBody>
          <a:bodyPr wrap="square">
            <a:spAutoFit/>
          </a:bodyPr>
          <a:lstStyle/>
          <a:p>
            <a:r>
              <a:rPr lang="nl-NL" b="1" dirty="0" smtClean="0"/>
              <a:t>∀x ∃y </a:t>
            </a:r>
            <a:r>
              <a:rPr lang="nl-NL" b="1" dirty="0" err="1" smtClean="0"/>
              <a:t>Hxy</a:t>
            </a:r>
            <a:endParaRPr lang="nl-NL" dirty="0" smtClean="0"/>
          </a:p>
          <a:p>
            <a:endParaRPr lang="nl-NL" dirty="0" smtClean="0"/>
          </a:p>
          <a:p>
            <a:r>
              <a:rPr lang="nl-NL" b="1" dirty="0" smtClean="0"/>
              <a:t> </a:t>
            </a:r>
            <a:endParaRPr lang="nl-NL" dirty="0"/>
          </a:p>
        </p:txBody>
      </p:sp>
      <p:sp>
        <p:nvSpPr>
          <p:cNvPr id="49" name="Rectangle 48"/>
          <p:cNvSpPr/>
          <p:nvPr/>
        </p:nvSpPr>
        <p:spPr>
          <a:xfrm>
            <a:off x="4211960" y="4593902"/>
            <a:ext cx="1656184" cy="923330"/>
          </a:xfrm>
          <a:prstGeom prst="rect">
            <a:avLst/>
          </a:prstGeom>
        </p:spPr>
        <p:txBody>
          <a:bodyPr wrap="square">
            <a:spAutoFit/>
          </a:bodyPr>
          <a:lstStyle/>
          <a:p>
            <a:r>
              <a:rPr lang="nl-NL" b="1" dirty="0" smtClean="0"/>
              <a:t>∃x ∀y </a:t>
            </a:r>
            <a:r>
              <a:rPr lang="nl-NL" b="1" dirty="0" err="1" smtClean="0"/>
              <a:t>Hxy</a:t>
            </a:r>
            <a:endParaRPr lang="nl-NL" dirty="0" smtClean="0"/>
          </a:p>
          <a:p>
            <a:endParaRPr lang="nl-NL" dirty="0" smtClean="0"/>
          </a:p>
          <a:p>
            <a:r>
              <a:rPr lang="nl-NL" b="1" dirty="0" smtClean="0"/>
              <a:t> </a:t>
            </a:r>
            <a:endParaRPr lang="nl-NL" dirty="0"/>
          </a:p>
        </p:txBody>
      </p:sp>
      <p:sp>
        <p:nvSpPr>
          <p:cNvPr id="50" name="Rectangle 49"/>
          <p:cNvSpPr/>
          <p:nvPr/>
        </p:nvSpPr>
        <p:spPr>
          <a:xfrm>
            <a:off x="4211960" y="5025950"/>
            <a:ext cx="1656184" cy="923330"/>
          </a:xfrm>
          <a:prstGeom prst="rect">
            <a:avLst/>
          </a:prstGeom>
        </p:spPr>
        <p:txBody>
          <a:bodyPr wrap="square">
            <a:spAutoFit/>
          </a:bodyPr>
          <a:lstStyle/>
          <a:p>
            <a:r>
              <a:rPr lang="nl-NL" b="1" dirty="0" smtClean="0"/>
              <a:t>¬∃x ∀y </a:t>
            </a:r>
            <a:r>
              <a:rPr lang="nl-NL" b="1" dirty="0" err="1" smtClean="0"/>
              <a:t>Hxy</a:t>
            </a:r>
            <a:endParaRPr lang="nl-NL" dirty="0" smtClean="0"/>
          </a:p>
          <a:p>
            <a:endParaRPr lang="nl-NL" dirty="0" smtClean="0"/>
          </a:p>
          <a:p>
            <a:r>
              <a:rPr lang="nl-NL" b="1" dirty="0" smtClean="0"/>
              <a:t> </a:t>
            </a:r>
            <a:endParaRPr lang="nl-NL" dirty="0"/>
          </a:p>
        </p:txBody>
      </p:sp>
      <p:sp>
        <p:nvSpPr>
          <p:cNvPr id="51" name="Rectangle 50"/>
          <p:cNvSpPr/>
          <p:nvPr/>
        </p:nvSpPr>
        <p:spPr>
          <a:xfrm>
            <a:off x="5652120" y="5013176"/>
            <a:ext cx="1656184" cy="923330"/>
          </a:xfrm>
          <a:prstGeom prst="rect">
            <a:avLst/>
          </a:prstGeom>
        </p:spPr>
        <p:txBody>
          <a:bodyPr wrap="square">
            <a:spAutoFit/>
          </a:bodyPr>
          <a:lstStyle/>
          <a:p>
            <a:r>
              <a:rPr lang="nl-NL" b="1" dirty="0" smtClean="0"/>
              <a:t>∀x ¬∀y </a:t>
            </a:r>
            <a:r>
              <a:rPr lang="nl-NL" b="1" dirty="0" err="1" smtClean="0"/>
              <a:t>Hxy</a:t>
            </a:r>
            <a:endParaRPr lang="nl-NL" dirty="0" smtClean="0"/>
          </a:p>
          <a:p>
            <a:endParaRPr lang="nl-NL" dirty="0" smtClean="0"/>
          </a:p>
          <a:p>
            <a:r>
              <a:rPr lang="nl-NL" b="1" dirty="0" smtClean="0"/>
              <a:t> </a:t>
            </a:r>
            <a:endParaRPr lang="nl-NL" dirty="0"/>
          </a:p>
        </p:txBody>
      </p:sp>
      <p:sp>
        <p:nvSpPr>
          <p:cNvPr id="52" name="Rectangle 51"/>
          <p:cNvSpPr/>
          <p:nvPr/>
        </p:nvSpPr>
        <p:spPr>
          <a:xfrm>
            <a:off x="4211960" y="5385990"/>
            <a:ext cx="1656184" cy="923330"/>
          </a:xfrm>
          <a:prstGeom prst="rect">
            <a:avLst/>
          </a:prstGeom>
        </p:spPr>
        <p:txBody>
          <a:bodyPr wrap="square">
            <a:spAutoFit/>
          </a:bodyPr>
          <a:lstStyle/>
          <a:p>
            <a:r>
              <a:rPr lang="nl-NL" b="1" dirty="0" smtClean="0"/>
              <a:t>¬∃x ∃y </a:t>
            </a:r>
            <a:r>
              <a:rPr lang="nl-NL" b="1" dirty="0" err="1" smtClean="0"/>
              <a:t>Hxy</a:t>
            </a:r>
            <a:endParaRPr lang="nl-NL" dirty="0" smtClean="0"/>
          </a:p>
          <a:p>
            <a:endParaRPr lang="nl-NL" dirty="0" smtClean="0"/>
          </a:p>
          <a:p>
            <a:r>
              <a:rPr lang="nl-NL" b="1" dirty="0" smtClean="0"/>
              <a:t> </a:t>
            </a:r>
            <a:endParaRPr lang="nl-NL" dirty="0"/>
          </a:p>
        </p:txBody>
      </p:sp>
      <p:sp>
        <p:nvSpPr>
          <p:cNvPr id="53" name="Rectangle 52"/>
          <p:cNvSpPr/>
          <p:nvPr/>
        </p:nvSpPr>
        <p:spPr>
          <a:xfrm>
            <a:off x="5580112" y="5373216"/>
            <a:ext cx="1656184" cy="923330"/>
          </a:xfrm>
          <a:prstGeom prst="rect">
            <a:avLst/>
          </a:prstGeom>
        </p:spPr>
        <p:txBody>
          <a:bodyPr wrap="square">
            <a:spAutoFit/>
          </a:bodyPr>
          <a:lstStyle/>
          <a:p>
            <a:r>
              <a:rPr lang="nl-NL" b="1" dirty="0" smtClean="0"/>
              <a:t> ∀x ¬∃y </a:t>
            </a:r>
            <a:r>
              <a:rPr lang="nl-NL" b="1" dirty="0" err="1" smtClean="0"/>
              <a:t>Hxy</a:t>
            </a:r>
            <a:endParaRPr lang="nl-NL" dirty="0" smtClean="0"/>
          </a:p>
          <a:p>
            <a:endParaRPr lang="nl-NL" dirty="0" smtClean="0"/>
          </a:p>
          <a:p>
            <a:r>
              <a:rPr lang="nl-NL" b="1" dirty="0" smtClean="0"/>
              <a:t> </a:t>
            </a:r>
            <a:endParaRPr lang="nl-NL" dirty="0"/>
          </a:p>
        </p:txBody>
      </p:sp>
      <p:sp>
        <p:nvSpPr>
          <p:cNvPr id="54" name="Rectangle 53"/>
          <p:cNvSpPr/>
          <p:nvPr/>
        </p:nvSpPr>
        <p:spPr>
          <a:xfrm>
            <a:off x="4211960" y="5746030"/>
            <a:ext cx="1656184" cy="923330"/>
          </a:xfrm>
          <a:prstGeom prst="rect">
            <a:avLst/>
          </a:prstGeom>
        </p:spPr>
        <p:txBody>
          <a:bodyPr wrap="square">
            <a:spAutoFit/>
          </a:bodyPr>
          <a:lstStyle/>
          <a:p>
            <a:r>
              <a:rPr lang="nl-NL" b="1" dirty="0" smtClean="0"/>
              <a:t>¬∃x </a:t>
            </a:r>
            <a:r>
              <a:rPr lang="nl-NL" b="1" dirty="0" err="1" smtClean="0"/>
              <a:t>Hxx</a:t>
            </a:r>
            <a:endParaRPr lang="nl-NL" dirty="0" smtClean="0"/>
          </a:p>
          <a:p>
            <a:endParaRPr lang="nl-NL" dirty="0" smtClean="0"/>
          </a:p>
          <a:p>
            <a:r>
              <a:rPr lang="nl-NL" b="1" dirty="0" smtClean="0"/>
              <a:t> </a:t>
            </a:r>
            <a:endParaRPr lang="nl-NL" dirty="0"/>
          </a:p>
        </p:txBody>
      </p:sp>
      <p:sp>
        <p:nvSpPr>
          <p:cNvPr id="55" name="Rectangle 54"/>
          <p:cNvSpPr/>
          <p:nvPr/>
        </p:nvSpPr>
        <p:spPr>
          <a:xfrm>
            <a:off x="5580112" y="5733256"/>
            <a:ext cx="1656184" cy="923330"/>
          </a:xfrm>
          <a:prstGeom prst="rect">
            <a:avLst/>
          </a:prstGeom>
        </p:spPr>
        <p:txBody>
          <a:bodyPr wrap="square">
            <a:spAutoFit/>
          </a:bodyPr>
          <a:lstStyle/>
          <a:p>
            <a:r>
              <a:rPr lang="nl-NL" b="1" dirty="0" smtClean="0"/>
              <a:t>∀x ¬</a:t>
            </a:r>
            <a:r>
              <a:rPr lang="nl-NL" b="1" dirty="0" err="1" smtClean="0"/>
              <a:t>Hxx</a:t>
            </a:r>
            <a:endParaRPr lang="nl-NL" dirty="0" smtClean="0"/>
          </a:p>
          <a:p>
            <a:endParaRPr lang="nl-NL" dirty="0" smtClean="0"/>
          </a:p>
          <a:p>
            <a:r>
              <a:rPr lang="nl-NL" b="1" dirty="0" smtClean="0"/>
              <a:t> </a:t>
            </a:r>
            <a:endParaRPr lang="nl-NL" dirty="0"/>
          </a:p>
        </p:txBody>
      </p:sp>
      <p:sp>
        <p:nvSpPr>
          <p:cNvPr id="57" name="Rectangle 56"/>
          <p:cNvSpPr/>
          <p:nvPr/>
        </p:nvSpPr>
        <p:spPr>
          <a:xfrm>
            <a:off x="4211960" y="6106070"/>
            <a:ext cx="1656184" cy="923330"/>
          </a:xfrm>
          <a:prstGeom prst="rect">
            <a:avLst/>
          </a:prstGeom>
        </p:spPr>
        <p:txBody>
          <a:bodyPr wrap="square">
            <a:spAutoFit/>
          </a:bodyPr>
          <a:lstStyle/>
          <a:p>
            <a:r>
              <a:rPr lang="nl-NL" b="1" dirty="0" smtClean="0"/>
              <a:t>∃x ∀y </a:t>
            </a:r>
            <a:r>
              <a:rPr lang="nl-NL" b="1" dirty="0" err="1" smtClean="0"/>
              <a:t>Hyx</a:t>
            </a:r>
            <a:endParaRPr lang="nl-NL" dirty="0" smtClean="0"/>
          </a:p>
          <a:p>
            <a:endParaRPr lang="nl-NL" dirty="0" smtClean="0"/>
          </a:p>
          <a:p>
            <a:r>
              <a:rPr lang="nl-NL" b="1"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animEffect transition="in" filter="fade">
                                      <p:cBhvr>
                                        <p:cTn id="7" dur="2000"/>
                                        <p:tgtEl>
                                          <p:spTgt spid="3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xEl>
                                              <p:pRg st="1" end="1"/>
                                            </p:txEl>
                                          </p:spTgt>
                                        </p:tgtEl>
                                        <p:attrNameLst>
                                          <p:attrName>style.visibility</p:attrName>
                                        </p:attrNameLst>
                                      </p:cBhvr>
                                      <p:to>
                                        <p:strVal val="visible"/>
                                      </p:to>
                                    </p:set>
                                    <p:animEffect transition="in" filter="fade">
                                      <p:cBhvr>
                                        <p:cTn id="10" dur="2000"/>
                                        <p:tgtEl>
                                          <p:spTgt spid="3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xEl>
                                              <p:pRg st="0" end="0"/>
                                            </p:txEl>
                                          </p:spTgt>
                                        </p:tgtEl>
                                        <p:attrNameLst>
                                          <p:attrName>style.visibility</p:attrName>
                                        </p:attrNameLst>
                                      </p:cBhvr>
                                      <p:to>
                                        <p:strVal val="visible"/>
                                      </p:to>
                                    </p:set>
                                    <p:animEffect transition="in" filter="fade">
                                      <p:cBhvr>
                                        <p:cTn id="15" dur="2000"/>
                                        <p:tgtEl>
                                          <p:spTgt spid="2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6">
                                            <p:txEl>
                                              <p:pRg st="0" end="0"/>
                                            </p:txEl>
                                          </p:spTgt>
                                        </p:tgtEl>
                                        <p:attrNameLst>
                                          <p:attrName>style.visibility</p:attrName>
                                        </p:attrNameLst>
                                      </p:cBhvr>
                                      <p:to>
                                        <p:strVal val="visible"/>
                                      </p:to>
                                    </p:set>
                                    <p:animEffect transition="in" filter="fade">
                                      <p:cBhvr>
                                        <p:cTn id="20" dur="2000"/>
                                        <p:tgtEl>
                                          <p:spTgt spid="36">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6">
                                            <p:txEl>
                                              <p:pRg st="2" end="2"/>
                                            </p:txEl>
                                          </p:spTgt>
                                        </p:tgtEl>
                                        <p:attrNameLst>
                                          <p:attrName>style.visibility</p:attrName>
                                        </p:attrNameLst>
                                      </p:cBhvr>
                                      <p:to>
                                        <p:strVal val="visible"/>
                                      </p:to>
                                    </p:set>
                                    <p:animEffect transition="in" filter="fade">
                                      <p:cBhvr>
                                        <p:cTn id="23" dur="2000"/>
                                        <p:tgtEl>
                                          <p:spTgt spid="3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
                                            <p:txEl>
                                              <p:pRg st="0" end="0"/>
                                            </p:txEl>
                                          </p:spTgt>
                                        </p:tgtEl>
                                        <p:attrNameLst>
                                          <p:attrName>style.visibility</p:attrName>
                                        </p:attrNameLst>
                                      </p:cBhvr>
                                      <p:to>
                                        <p:strVal val="visible"/>
                                      </p:to>
                                    </p:set>
                                    <p:animEffect transition="in" filter="fade">
                                      <p:cBhvr>
                                        <p:cTn id="28" dur="2000"/>
                                        <p:tgtEl>
                                          <p:spTgt spid="2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5">
                                            <p:txEl>
                                              <p:pRg st="0" end="0"/>
                                            </p:txEl>
                                          </p:spTgt>
                                        </p:tgtEl>
                                        <p:attrNameLst>
                                          <p:attrName>style.visibility</p:attrName>
                                        </p:attrNameLst>
                                      </p:cBhvr>
                                      <p:to>
                                        <p:strVal val="visible"/>
                                      </p:to>
                                    </p:set>
                                    <p:animEffect transition="in" filter="fade">
                                      <p:cBhvr>
                                        <p:cTn id="33" dur="2000"/>
                                        <p:tgtEl>
                                          <p:spTgt spid="45">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6">
                                            <p:txEl>
                                              <p:pRg st="0" end="0"/>
                                            </p:txEl>
                                          </p:spTgt>
                                        </p:tgtEl>
                                        <p:attrNameLst>
                                          <p:attrName>style.visibility</p:attrName>
                                        </p:attrNameLst>
                                      </p:cBhvr>
                                      <p:to>
                                        <p:strVal val="visible"/>
                                      </p:to>
                                    </p:set>
                                    <p:animEffect transition="in" filter="fade">
                                      <p:cBhvr>
                                        <p:cTn id="38" dur="2000"/>
                                        <p:tgtEl>
                                          <p:spTgt spid="46">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8">
                                            <p:txEl>
                                              <p:pRg st="0" end="0"/>
                                            </p:txEl>
                                          </p:spTgt>
                                        </p:tgtEl>
                                        <p:attrNameLst>
                                          <p:attrName>style.visibility</p:attrName>
                                        </p:attrNameLst>
                                      </p:cBhvr>
                                      <p:to>
                                        <p:strVal val="visible"/>
                                      </p:to>
                                    </p:set>
                                    <p:animEffect transition="in" filter="fade">
                                      <p:cBhvr>
                                        <p:cTn id="43" dur="2000"/>
                                        <p:tgtEl>
                                          <p:spTgt spid="2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7">
                                            <p:txEl>
                                              <p:pRg st="0" end="0"/>
                                            </p:txEl>
                                          </p:spTgt>
                                        </p:tgtEl>
                                        <p:attrNameLst>
                                          <p:attrName>style.visibility</p:attrName>
                                        </p:attrNameLst>
                                      </p:cBhvr>
                                      <p:to>
                                        <p:strVal val="visible"/>
                                      </p:to>
                                    </p:set>
                                    <p:animEffect transition="in" filter="fade">
                                      <p:cBhvr>
                                        <p:cTn id="48" dur="2000"/>
                                        <p:tgtEl>
                                          <p:spTgt spid="47">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xEl>
                                              <p:pRg st="0" end="0"/>
                                            </p:txEl>
                                          </p:spTgt>
                                        </p:tgtEl>
                                        <p:attrNameLst>
                                          <p:attrName>style.visibility</p:attrName>
                                        </p:attrNameLst>
                                      </p:cBhvr>
                                      <p:to>
                                        <p:strVal val="visible"/>
                                      </p:to>
                                    </p:set>
                                    <p:animEffect transition="in" filter="fade">
                                      <p:cBhvr>
                                        <p:cTn id="53" dur="2000"/>
                                        <p:tgtEl>
                                          <p:spTgt spid="29">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8">
                                            <p:txEl>
                                              <p:pRg st="0" end="0"/>
                                            </p:txEl>
                                          </p:spTgt>
                                        </p:tgtEl>
                                        <p:attrNameLst>
                                          <p:attrName>style.visibility</p:attrName>
                                        </p:attrNameLst>
                                      </p:cBhvr>
                                      <p:to>
                                        <p:strVal val="visible"/>
                                      </p:to>
                                    </p:set>
                                    <p:animEffect transition="in" filter="fade">
                                      <p:cBhvr>
                                        <p:cTn id="58" dur="2000"/>
                                        <p:tgtEl>
                                          <p:spTgt spid="48">
                                            <p:txEl>
                                              <p:pRg st="0" end="0"/>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8">
                                            <p:txEl>
                                              <p:pRg st="2" end="2"/>
                                            </p:txEl>
                                          </p:spTgt>
                                        </p:tgtEl>
                                        <p:attrNameLst>
                                          <p:attrName>style.visibility</p:attrName>
                                        </p:attrNameLst>
                                      </p:cBhvr>
                                      <p:to>
                                        <p:strVal val="visible"/>
                                      </p:to>
                                    </p:set>
                                    <p:animEffect transition="in" filter="fade">
                                      <p:cBhvr>
                                        <p:cTn id="61" dur="2000"/>
                                        <p:tgtEl>
                                          <p:spTgt spid="48">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0">
                                            <p:txEl>
                                              <p:pRg st="0" end="0"/>
                                            </p:txEl>
                                          </p:spTgt>
                                        </p:tgtEl>
                                        <p:attrNameLst>
                                          <p:attrName>style.visibility</p:attrName>
                                        </p:attrNameLst>
                                      </p:cBhvr>
                                      <p:to>
                                        <p:strVal val="visible"/>
                                      </p:to>
                                    </p:set>
                                    <p:animEffect transition="in" filter="fade">
                                      <p:cBhvr>
                                        <p:cTn id="66" dur="2000"/>
                                        <p:tgtEl>
                                          <p:spTgt spid="30">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9">
                                            <p:txEl>
                                              <p:pRg st="0" end="0"/>
                                            </p:txEl>
                                          </p:spTgt>
                                        </p:tgtEl>
                                        <p:attrNameLst>
                                          <p:attrName>style.visibility</p:attrName>
                                        </p:attrNameLst>
                                      </p:cBhvr>
                                      <p:to>
                                        <p:strVal val="visible"/>
                                      </p:to>
                                    </p:set>
                                    <p:animEffect transition="in" filter="fade">
                                      <p:cBhvr>
                                        <p:cTn id="71" dur="2000"/>
                                        <p:tgtEl>
                                          <p:spTgt spid="49">
                                            <p:txEl>
                                              <p:pRg st="0" end="0"/>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9">
                                            <p:txEl>
                                              <p:pRg st="2" end="2"/>
                                            </p:txEl>
                                          </p:spTgt>
                                        </p:tgtEl>
                                        <p:attrNameLst>
                                          <p:attrName>style.visibility</p:attrName>
                                        </p:attrNameLst>
                                      </p:cBhvr>
                                      <p:to>
                                        <p:strVal val="visible"/>
                                      </p:to>
                                    </p:set>
                                    <p:animEffect transition="in" filter="fade">
                                      <p:cBhvr>
                                        <p:cTn id="74" dur="2000"/>
                                        <p:tgtEl>
                                          <p:spTgt spid="49">
                                            <p:txEl>
                                              <p:pRg st="2" end="2"/>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31">
                                            <p:txEl>
                                              <p:pRg st="0" end="0"/>
                                            </p:txEl>
                                          </p:spTgt>
                                        </p:tgtEl>
                                        <p:attrNameLst>
                                          <p:attrName>style.visibility</p:attrName>
                                        </p:attrNameLst>
                                      </p:cBhvr>
                                      <p:to>
                                        <p:strVal val="visible"/>
                                      </p:to>
                                    </p:set>
                                    <p:animEffect transition="in" filter="fade">
                                      <p:cBhvr>
                                        <p:cTn id="79" dur="2000"/>
                                        <p:tgtEl>
                                          <p:spTgt spid="31">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50">
                                            <p:txEl>
                                              <p:pRg st="0" end="0"/>
                                            </p:txEl>
                                          </p:spTgt>
                                        </p:tgtEl>
                                        <p:attrNameLst>
                                          <p:attrName>style.visibility</p:attrName>
                                        </p:attrNameLst>
                                      </p:cBhvr>
                                      <p:to>
                                        <p:strVal val="visible"/>
                                      </p:to>
                                    </p:set>
                                    <p:animEffect transition="in" filter="fade">
                                      <p:cBhvr>
                                        <p:cTn id="84" dur="2000"/>
                                        <p:tgtEl>
                                          <p:spTgt spid="50">
                                            <p:txEl>
                                              <p:pRg st="0" end="0"/>
                                            </p:txEl>
                                          </p:spTgt>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0">
                                            <p:txEl>
                                              <p:pRg st="2" end="2"/>
                                            </p:txEl>
                                          </p:spTgt>
                                        </p:tgtEl>
                                        <p:attrNameLst>
                                          <p:attrName>style.visibility</p:attrName>
                                        </p:attrNameLst>
                                      </p:cBhvr>
                                      <p:to>
                                        <p:strVal val="visible"/>
                                      </p:to>
                                    </p:set>
                                    <p:animEffect transition="in" filter="fade">
                                      <p:cBhvr>
                                        <p:cTn id="87" dur="2000"/>
                                        <p:tgtEl>
                                          <p:spTgt spid="50">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1">
                                            <p:txEl>
                                              <p:pRg st="0" end="0"/>
                                            </p:txEl>
                                          </p:spTgt>
                                        </p:tgtEl>
                                        <p:attrNameLst>
                                          <p:attrName>style.visibility</p:attrName>
                                        </p:attrNameLst>
                                      </p:cBhvr>
                                      <p:to>
                                        <p:strVal val="visible"/>
                                      </p:to>
                                    </p:set>
                                    <p:animEffect transition="in" filter="fade">
                                      <p:cBhvr>
                                        <p:cTn id="92" dur="2000"/>
                                        <p:tgtEl>
                                          <p:spTgt spid="51">
                                            <p:txEl>
                                              <p:pRg st="0" end="0"/>
                                            </p:txEl>
                                          </p:spTgt>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1">
                                            <p:txEl>
                                              <p:pRg st="2" end="2"/>
                                            </p:txEl>
                                          </p:spTgt>
                                        </p:tgtEl>
                                        <p:attrNameLst>
                                          <p:attrName>style.visibility</p:attrName>
                                        </p:attrNameLst>
                                      </p:cBhvr>
                                      <p:to>
                                        <p:strVal val="visible"/>
                                      </p:to>
                                    </p:set>
                                    <p:animEffect transition="in" filter="fade">
                                      <p:cBhvr>
                                        <p:cTn id="95" dur="2000"/>
                                        <p:tgtEl>
                                          <p:spTgt spid="51">
                                            <p:txEl>
                                              <p:pRg st="2" end="2"/>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2">
                                            <p:txEl>
                                              <p:pRg st="0" end="0"/>
                                            </p:txEl>
                                          </p:spTgt>
                                        </p:tgtEl>
                                        <p:attrNameLst>
                                          <p:attrName>style.visibility</p:attrName>
                                        </p:attrNameLst>
                                      </p:cBhvr>
                                      <p:to>
                                        <p:strVal val="visible"/>
                                      </p:to>
                                    </p:set>
                                    <p:animEffect transition="in" filter="fade">
                                      <p:cBhvr>
                                        <p:cTn id="100" dur="2000"/>
                                        <p:tgtEl>
                                          <p:spTgt spid="32">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52">
                                            <p:txEl>
                                              <p:pRg st="0" end="0"/>
                                            </p:txEl>
                                          </p:spTgt>
                                        </p:tgtEl>
                                        <p:attrNameLst>
                                          <p:attrName>style.visibility</p:attrName>
                                        </p:attrNameLst>
                                      </p:cBhvr>
                                      <p:to>
                                        <p:strVal val="visible"/>
                                      </p:to>
                                    </p:set>
                                    <p:animEffect transition="in" filter="fade">
                                      <p:cBhvr>
                                        <p:cTn id="105" dur="2000"/>
                                        <p:tgtEl>
                                          <p:spTgt spid="52">
                                            <p:txEl>
                                              <p:pRg st="0" end="0"/>
                                            </p:txEl>
                                          </p:spTgt>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2">
                                            <p:txEl>
                                              <p:pRg st="2" end="2"/>
                                            </p:txEl>
                                          </p:spTgt>
                                        </p:tgtEl>
                                        <p:attrNameLst>
                                          <p:attrName>style.visibility</p:attrName>
                                        </p:attrNameLst>
                                      </p:cBhvr>
                                      <p:to>
                                        <p:strVal val="visible"/>
                                      </p:to>
                                    </p:set>
                                    <p:animEffect transition="in" filter="fade">
                                      <p:cBhvr>
                                        <p:cTn id="108" dur="2000"/>
                                        <p:tgtEl>
                                          <p:spTgt spid="52">
                                            <p:txEl>
                                              <p:pRg st="2" end="2"/>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10" presetClass="entr" presetSubtype="0" fill="hold" grpId="0" nodeType="clickEffect">
                                  <p:stCondLst>
                                    <p:cond delay="0"/>
                                  </p:stCondLst>
                                  <p:childTnLst>
                                    <p:set>
                                      <p:cBhvr>
                                        <p:cTn id="112" dur="1" fill="hold">
                                          <p:stCondLst>
                                            <p:cond delay="0"/>
                                          </p:stCondLst>
                                        </p:cTn>
                                        <p:tgtEl>
                                          <p:spTgt spid="53">
                                            <p:txEl>
                                              <p:pRg st="0" end="0"/>
                                            </p:txEl>
                                          </p:spTgt>
                                        </p:tgtEl>
                                        <p:attrNameLst>
                                          <p:attrName>style.visibility</p:attrName>
                                        </p:attrNameLst>
                                      </p:cBhvr>
                                      <p:to>
                                        <p:strVal val="visible"/>
                                      </p:to>
                                    </p:set>
                                    <p:animEffect transition="in" filter="fade">
                                      <p:cBhvr>
                                        <p:cTn id="113" dur="2000"/>
                                        <p:tgtEl>
                                          <p:spTgt spid="53">
                                            <p:txEl>
                                              <p:pRg st="0" end="0"/>
                                            </p:txEl>
                                          </p:spTgt>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3">
                                            <p:txEl>
                                              <p:pRg st="2" end="2"/>
                                            </p:txEl>
                                          </p:spTgt>
                                        </p:tgtEl>
                                        <p:attrNameLst>
                                          <p:attrName>style.visibility</p:attrName>
                                        </p:attrNameLst>
                                      </p:cBhvr>
                                      <p:to>
                                        <p:strVal val="visible"/>
                                      </p:to>
                                    </p:set>
                                    <p:animEffect transition="in" filter="fade">
                                      <p:cBhvr>
                                        <p:cTn id="116" dur="2000"/>
                                        <p:tgtEl>
                                          <p:spTgt spid="53">
                                            <p:txEl>
                                              <p:pRg st="2" end="2"/>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33">
                                            <p:txEl>
                                              <p:pRg st="0" end="0"/>
                                            </p:txEl>
                                          </p:spTgt>
                                        </p:tgtEl>
                                        <p:attrNameLst>
                                          <p:attrName>style.visibility</p:attrName>
                                        </p:attrNameLst>
                                      </p:cBhvr>
                                      <p:to>
                                        <p:strVal val="visible"/>
                                      </p:to>
                                    </p:set>
                                    <p:animEffect transition="in" filter="fade">
                                      <p:cBhvr>
                                        <p:cTn id="121" dur="2000"/>
                                        <p:tgtEl>
                                          <p:spTgt spid="33">
                                            <p:txEl>
                                              <p:pRg st="0" end="0"/>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54">
                                            <p:txEl>
                                              <p:pRg st="0" end="0"/>
                                            </p:txEl>
                                          </p:spTgt>
                                        </p:tgtEl>
                                        <p:attrNameLst>
                                          <p:attrName>style.visibility</p:attrName>
                                        </p:attrNameLst>
                                      </p:cBhvr>
                                      <p:to>
                                        <p:strVal val="visible"/>
                                      </p:to>
                                    </p:set>
                                    <p:animEffect transition="in" filter="fade">
                                      <p:cBhvr>
                                        <p:cTn id="126" dur="2000"/>
                                        <p:tgtEl>
                                          <p:spTgt spid="54">
                                            <p:txEl>
                                              <p:pRg st="0" end="0"/>
                                            </p:txEl>
                                          </p:spTgt>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4">
                                            <p:txEl>
                                              <p:pRg st="2" end="2"/>
                                            </p:txEl>
                                          </p:spTgt>
                                        </p:tgtEl>
                                        <p:attrNameLst>
                                          <p:attrName>style.visibility</p:attrName>
                                        </p:attrNameLst>
                                      </p:cBhvr>
                                      <p:to>
                                        <p:strVal val="visible"/>
                                      </p:to>
                                    </p:set>
                                    <p:animEffect transition="in" filter="fade">
                                      <p:cBhvr>
                                        <p:cTn id="129" dur="2000"/>
                                        <p:tgtEl>
                                          <p:spTgt spid="54">
                                            <p:txEl>
                                              <p:pRg st="2" end="2"/>
                                            </p:txEl>
                                          </p:spTgt>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55">
                                            <p:txEl>
                                              <p:pRg st="0" end="0"/>
                                            </p:txEl>
                                          </p:spTgt>
                                        </p:tgtEl>
                                        <p:attrNameLst>
                                          <p:attrName>style.visibility</p:attrName>
                                        </p:attrNameLst>
                                      </p:cBhvr>
                                      <p:to>
                                        <p:strVal val="visible"/>
                                      </p:to>
                                    </p:set>
                                    <p:animEffect transition="in" filter="fade">
                                      <p:cBhvr>
                                        <p:cTn id="134" dur="2000"/>
                                        <p:tgtEl>
                                          <p:spTgt spid="55">
                                            <p:txEl>
                                              <p:pRg st="0" end="0"/>
                                            </p:txEl>
                                          </p:spTgt>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5">
                                            <p:txEl>
                                              <p:pRg st="2" end="2"/>
                                            </p:txEl>
                                          </p:spTgt>
                                        </p:tgtEl>
                                        <p:attrNameLst>
                                          <p:attrName>style.visibility</p:attrName>
                                        </p:attrNameLst>
                                      </p:cBhvr>
                                      <p:to>
                                        <p:strVal val="visible"/>
                                      </p:to>
                                    </p:set>
                                    <p:animEffect transition="in" filter="fade">
                                      <p:cBhvr>
                                        <p:cTn id="137" dur="2000"/>
                                        <p:tgtEl>
                                          <p:spTgt spid="55">
                                            <p:txEl>
                                              <p:pRg st="2" end="2"/>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grpId="0" nodeType="clickEffect">
                                  <p:stCondLst>
                                    <p:cond delay="0"/>
                                  </p:stCondLst>
                                  <p:childTnLst>
                                    <p:set>
                                      <p:cBhvr>
                                        <p:cTn id="141" dur="1" fill="hold">
                                          <p:stCondLst>
                                            <p:cond delay="0"/>
                                          </p:stCondLst>
                                        </p:cTn>
                                        <p:tgtEl>
                                          <p:spTgt spid="34">
                                            <p:txEl>
                                              <p:pRg st="0" end="0"/>
                                            </p:txEl>
                                          </p:spTgt>
                                        </p:tgtEl>
                                        <p:attrNameLst>
                                          <p:attrName>style.visibility</p:attrName>
                                        </p:attrNameLst>
                                      </p:cBhvr>
                                      <p:to>
                                        <p:strVal val="visible"/>
                                      </p:to>
                                    </p:set>
                                    <p:animEffect transition="in" filter="fade">
                                      <p:cBhvr>
                                        <p:cTn id="142" dur="2000"/>
                                        <p:tgtEl>
                                          <p:spTgt spid="34">
                                            <p:txEl>
                                              <p:pRg st="0" end="0"/>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10" presetClass="entr" presetSubtype="0" fill="hold" grpId="0" nodeType="clickEffect">
                                  <p:stCondLst>
                                    <p:cond delay="0"/>
                                  </p:stCondLst>
                                  <p:childTnLst>
                                    <p:set>
                                      <p:cBhvr>
                                        <p:cTn id="146" dur="1" fill="hold">
                                          <p:stCondLst>
                                            <p:cond delay="0"/>
                                          </p:stCondLst>
                                        </p:cTn>
                                        <p:tgtEl>
                                          <p:spTgt spid="57">
                                            <p:txEl>
                                              <p:pRg st="0" end="0"/>
                                            </p:txEl>
                                          </p:spTgt>
                                        </p:tgtEl>
                                        <p:attrNameLst>
                                          <p:attrName>style.visibility</p:attrName>
                                        </p:attrNameLst>
                                      </p:cBhvr>
                                      <p:to>
                                        <p:strVal val="visible"/>
                                      </p:to>
                                    </p:set>
                                    <p:animEffect transition="in" filter="fade">
                                      <p:cBhvr>
                                        <p:cTn id="147" dur="2000"/>
                                        <p:tgtEl>
                                          <p:spTgt spid="57">
                                            <p:txEl>
                                              <p:pRg st="0" end="0"/>
                                            </p:txEl>
                                          </p:spTgt>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7">
                                            <p:txEl>
                                              <p:pRg st="2" end="2"/>
                                            </p:txEl>
                                          </p:spTgt>
                                        </p:tgtEl>
                                        <p:attrNameLst>
                                          <p:attrName>style.visibility</p:attrName>
                                        </p:attrNameLst>
                                      </p:cBhvr>
                                      <p:to>
                                        <p:strVal val="visible"/>
                                      </p:to>
                                    </p:set>
                                    <p:animEffect transition="in" filter="fade">
                                      <p:cBhvr>
                                        <p:cTn id="150" dur="2000"/>
                                        <p:tgtEl>
                                          <p:spTgt spid="5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45" grpId="0" build="allAtOnce"/>
      <p:bldP spid="46" grpId="0" build="allAtOnce"/>
      <p:bldP spid="47" grpId="0" build="allAtOnce"/>
      <p:bldP spid="48" grpId="0" build="allAtOnce"/>
      <p:bldP spid="49" grpId="0" build="allAtOnce"/>
      <p:bldP spid="50" grpId="0" build="allAtOnce"/>
      <p:bldP spid="51" grpId="0" build="allAtOnce"/>
      <p:bldP spid="52" grpId="0" build="allAtOnce"/>
      <p:bldP spid="53" grpId="0" build="allAtOnce"/>
      <p:bldP spid="54" grpId="0" build="allAtOnce"/>
      <p:bldP spid="55" grpId="0" build="allAtOnce"/>
      <p:bldP spid="57" grpId="0" build="allAtOnce"/>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Formele definitie van de taal                                           van de </a:t>
            </a:r>
            <a:r>
              <a:rPr lang="nl-NL" sz="3600" dirty="0" err="1" smtClean="0"/>
              <a:t>predikaatlogica</a:t>
            </a:r>
            <a:endParaRPr lang="nl-NL" sz="3600" dirty="0"/>
          </a:p>
        </p:txBody>
      </p:sp>
      <p:sp>
        <p:nvSpPr>
          <p:cNvPr id="4" name="TextBox 3"/>
          <p:cNvSpPr txBox="1"/>
          <p:nvPr/>
        </p:nvSpPr>
        <p:spPr>
          <a:xfrm>
            <a:off x="323528" y="1876762"/>
            <a:ext cx="8352928" cy="400110"/>
          </a:xfrm>
          <a:prstGeom prst="rect">
            <a:avLst/>
          </a:prstGeom>
          <a:noFill/>
        </p:spPr>
        <p:txBody>
          <a:bodyPr wrap="square" rtlCol="0">
            <a:spAutoFit/>
          </a:bodyPr>
          <a:lstStyle/>
          <a:p>
            <a:r>
              <a:rPr lang="nl-NL" sz="2000" dirty="0" smtClean="0"/>
              <a:t>i. </a:t>
            </a:r>
            <a:r>
              <a:rPr lang="nl-NL" sz="2000" dirty="0" err="1" smtClean="0"/>
              <a:t>predikaatletters</a:t>
            </a:r>
            <a:r>
              <a:rPr lang="nl-NL" sz="2000" b="1" dirty="0" smtClean="0"/>
              <a:t>		A, B, C, …; R, S, T, …; A</a:t>
            </a:r>
            <a:r>
              <a:rPr lang="nl-NL" sz="2000" b="1" baseline="-25000" dirty="0" smtClean="0"/>
              <a:t>1 </a:t>
            </a:r>
            <a:r>
              <a:rPr lang="nl-NL" sz="2000" b="1" dirty="0" smtClean="0"/>
              <a:t>, A</a:t>
            </a:r>
            <a:r>
              <a:rPr lang="nl-NL" sz="2000" b="1" baseline="-25000" dirty="0" smtClean="0"/>
              <a:t>2 </a:t>
            </a:r>
            <a:r>
              <a:rPr lang="nl-NL" sz="2000" b="1" dirty="0" smtClean="0"/>
              <a:t>, …; etc. </a:t>
            </a:r>
            <a:endParaRPr lang="nl-NL" sz="2000" dirty="0" smtClean="0"/>
          </a:p>
        </p:txBody>
      </p:sp>
      <p:sp>
        <p:nvSpPr>
          <p:cNvPr id="24" name="TextBox 23"/>
          <p:cNvSpPr txBox="1"/>
          <p:nvPr/>
        </p:nvSpPr>
        <p:spPr>
          <a:xfrm>
            <a:off x="323528" y="2420888"/>
            <a:ext cx="8352928" cy="400110"/>
          </a:xfrm>
          <a:prstGeom prst="rect">
            <a:avLst/>
          </a:prstGeom>
          <a:noFill/>
        </p:spPr>
        <p:txBody>
          <a:bodyPr wrap="square" rtlCol="0">
            <a:spAutoFit/>
          </a:bodyPr>
          <a:lstStyle/>
          <a:p>
            <a:r>
              <a:rPr lang="nl-NL" sz="2000" dirty="0" err="1" smtClean="0"/>
              <a:t>ii</a:t>
            </a:r>
            <a:r>
              <a:rPr lang="nl-NL" sz="2000" dirty="0" smtClean="0"/>
              <a:t>. individuvariabelen</a:t>
            </a:r>
            <a:r>
              <a:rPr lang="nl-NL" sz="2000" b="1" dirty="0" smtClean="0"/>
              <a:t>	x, y, z, …; x</a:t>
            </a:r>
            <a:r>
              <a:rPr lang="nl-NL" sz="2000" b="1" baseline="-25000" dirty="0" smtClean="0"/>
              <a:t>1</a:t>
            </a:r>
            <a:r>
              <a:rPr lang="nl-NL" sz="2000" b="1" dirty="0" smtClean="0"/>
              <a:t>, x</a:t>
            </a:r>
            <a:r>
              <a:rPr lang="nl-NL" sz="2000" b="1" baseline="-25000" dirty="0" smtClean="0"/>
              <a:t>2</a:t>
            </a:r>
            <a:r>
              <a:rPr lang="nl-NL" sz="2000" b="1" dirty="0" smtClean="0"/>
              <a:t>, …; y</a:t>
            </a:r>
            <a:r>
              <a:rPr lang="nl-NL" sz="2000" b="1" baseline="-25000" dirty="0" smtClean="0"/>
              <a:t>1 </a:t>
            </a:r>
            <a:r>
              <a:rPr lang="nl-NL" sz="2000" b="1" dirty="0" smtClean="0"/>
              <a:t>, y</a:t>
            </a:r>
            <a:r>
              <a:rPr lang="nl-NL" sz="2000" b="1" baseline="-25000" dirty="0" smtClean="0"/>
              <a:t>2 </a:t>
            </a:r>
            <a:r>
              <a:rPr lang="nl-NL" sz="2000" b="1" dirty="0" smtClean="0"/>
              <a:t>, …; etc. </a:t>
            </a:r>
            <a:endParaRPr lang="nl-NL" sz="2000" dirty="0" smtClean="0"/>
          </a:p>
        </p:txBody>
      </p:sp>
      <p:sp>
        <p:nvSpPr>
          <p:cNvPr id="25" name="TextBox 24"/>
          <p:cNvSpPr txBox="1"/>
          <p:nvPr/>
        </p:nvSpPr>
        <p:spPr>
          <a:xfrm>
            <a:off x="323528" y="3028890"/>
            <a:ext cx="8352928" cy="400110"/>
          </a:xfrm>
          <a:prstGeom prst="rect">
            <a:avLst/>
          </a:prstGeom>
          <a:noFill/>
        </p:spPr>
        <p:txBody>
          <a:bodyPr wrap="square" rtlCol="0">
            <a:spAutoFit/>
          </a:bodyPr>
          <a:lstStyle/>
          <a:p>
            <a:r>
              <a:rPr lang="nl-NL" sz="2000" dirty="0" err="1" smtClean="0"/>
              <a:t>iii</a:t>
            </a:r>
            <a:r>
              <a:rPr lang="nl-NL" sz="2000" dirty="0" smtClean="0"/>
              <a:t>. individuconstanten</a:t>
            </a:r>
            <a:r>
              <a:rPr lang="nl-NL" sz="2000" b="1" dirty="0" smtClean="0"/>
              <a:t>	a, b, c, …; u , v , w …; a</a:t>
            </a:r>
            <a:r>
              <a:rPr lang="nl-NL" sz="2000" b="1" baseline="-25000" dirty="0" smtClean="0"/>
              <a:t>1 </a:t>
            </a:r>
            <a:r>
              <a:rPr lang="nl-NL" sz="2000" b="1" dirty="0" smtClean="0"/>
              <a:t>, a</a:t>
            </a:r>
            <a:r>
              <a:rPr lang="nl-NL" sz="2000" b="1" baseline="-25000" dirty="0" smtClean="0"/>
              <a:t>2 </a:t>
            </a:r>
            <a:r>
              <a:rPr lang="nl-NL" sz="2000" b="1" dirty="0" smtClean="0"/>
              <a:t>, …; b</a:t>
            </a:r>
            <a:r>
              <a:rPr lang="nl-NL" sz="2000" b="1" baseline="-25000" dirty="0" smtClean="0"/>
              <a:t>1 </a:t>
            </a:r>
            <a:r>
              <a:rPr lang="nl-NL" sz="2000" b="1" dirty="0" smtClean="0"/>
              <a:t>, b</a:t>
            </a:r>
            <a:r>
              <a:rPr lang="nl-NL" sz="2000" b="1" baseline="-25000" dirty="0" smtClean="0"/>
              <a:t>2 </a:t>
            </a:r>
            <a:r>
              <a:rPr lang="nl-NL" sz="2000" b="1" dirty="0" smtClean="0"/>
              <a:t>, …  etc. </a:t>
            </a:r>
            <a:endParaRPr lang="nl-NL" sz="2000" dirty="0" smtClean="0"/>
          </a:p>
        </p:txBody>
      </p:sp>
      <p:sp>
        <p:nvSpPr>
          <p:cNvPr id="26" name="TextBox 25"/>
          <p:cNvSpPr txBox="1"/>
          <p:nvPr/>
        </p:nvSpPr>
        <p:spPr>
          <a:xfrm>
            <a:off x="323528" y="3604954"/>
            <a:ext cx="8352928" cy="400110"/>
          </a:xfrm>
          <a:prstGeom prst="rect">
            <a:avLst/>
          </a:prstGeom>
          <a:noFill/>
        </p:spPr>
        <p:txBody>
          <a:bodyPr wrap="square" rtlCol="0">
            <a:spAutoFit/>
          </a:bodyPr>
          <a:lstStyle/>
          <a:p>
            <a:r>
              <a:rPr lang="nl-NL" sz="2000" dirty="0" err="1" smtClean="0"/>
              <a:t>iv</a:t>
            </a:r>
            <a:r>
              <a:rPr lang="nl-NL" sz="2000" dirty="0" smtClean="0"/>
              <a:t>. logische constanten	</a:t>
            </a:r>
            <a:r>
              <a:rPr lang="nl-NL" sz="2000" b="1" dirty="0" smtClean="0"/>
              <a:t> ∀ , ∃, ∧ , V , → , ¬ , ↔    	</a:t>
            </a:r>
            <a:endParaRPr lang="nl-NL" sz="2000" dirty="0" smtClean="0"/>
          </a:p>
        </p:txBody>
      </p:sp>
      <p:sp>
        <p:nvSpPr>
          <p:cNvPr id="27" name="TextBox 26"/>
          <p:cNvSpPr txBox="1"/>
          <p:nvPr/>
        </p:nvSpPr>
        <p:spPr>
          <a:xfrm>
            <a:off x="323528" y="4109010"/>
            <a:ext cx="8352928" cy="400110"/>
          </a:xfrm>
          <a:prstGeom prst="rect">
            <a:avLst/>
          </a:prstGeom>
          <a:noFill/>
        </p:spPr>
        <p:txBody>
          <a:bodyPr wrap="square" rtlCol="0">
            <a:spAutoFit/>
          </a:bodyPr>
          <a:lstStyle/>
          <a:p>
            <a:r>
              <a:rPr lang="nl-NL" sz="2000" dirty="0" smtClean="0"/>
              <a:t>v. Hulptekens		</a:t>
            </a:r>
            <a:r>
              <a:rPr lang="nl-NL" sz="2000" b="1" dirty="0" smtClean="0"/>
              <a:t>( , )    	</a:t>
            </a:r>
            <a:endParaRPr lang="nl-NL"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xEl>
                                              <p:pRg st="0" end="0"/>
                                            </p:txEl>
                                          </p:spTgt>
                                        </p:tgtEl>
                                        <p:attrNameLst>
                                          <p:attrName>style.visibility</p:attrName>
                                        </p:attrNameLst>
                                      </p:cBhvr>
                                      <p:to>
                                        <p:strVal val="visible"/>
                                      </p:to>
                                    </p:set>
                                    <p:animEffect transition="in" filter="fade">
                                      <p:cBhvr>
                                        <p:cTn id="12" dur="2000"/>
                                        <p:tgtEl>
                                          <p:spTgt spid="2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xEl>
                                              <p:pRg st="0" end="0"/>
                                            </p:txEl>
                                          </p:spTgt>
                                        </p:tgtEl>
                                        <p:attrNameLst>
                                          <p:attrName>style.visibility</p:attrName>
                                        </p:attrNameLst>
                                      </p:cBhvr>
                                      <p:to>
                                        <p:strVal val="visible"/>
                                      </p:to>
                                    </p:set>
                                    <p:animEffect transition="in" filter="fade">
                                      <p:cBhvr>
                                        <p:cTn id="17" dur="2000"/>
                                        <p:tgtEl>
                                          <p:spTgt spid="2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xEl>
                                              <p:pRg st="0" end="0"/>
                                            </p:txEl>
                                          </p:spTgt>
                                        </p:tgtEl>
                                        <p:attrNameLst>
                                          <p:attrName>style.visibility</p:attrName>
                                        </p:attrNameLst>
                                      </p:cBhvr>
                                      <p:to>
                                        <p:strVal val="visible"/>
                                      </p:to>
                                    </p:set>
                                    <p:animEffect transition="in" filter="fade">
                                      <p:cBhvr>
                                        <p:cTn id="22" dur="2000"/>
                                        <p:tgtEl>
                                          <p:spTgt spid="2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animEffect transition="in" filter="fade">
                                      <p:cBhvr>
                                        <p:cTn id="27" dur="2000"/>
                                        <p:tgtEl>
                                          <p:spTgt spid="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24" grpId="0" build="allAtOnce"/>
      <p:bldP spid="25" grpId="0" build="allAtOnce"/>
      <p:bldP spid="26" grpId="0" build="allAtOnce"/>
      <p:bldP spid="27" grpId="0" build="allAtOnce"/>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4" name="TextBox 3"/>
          <p:cNvSpPr txBox="1"/>
          <p:nvPr/>
        </p:nvSpPr>
        <p:spPr>
          <a:xfrm>
            <a:off x="323528" y="1628800"/>
            <a:ext cx="3600400"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Myx</a:t>
            </a:r>
            <a:r>
              <a:rPr lang="nl-NL" b="1" dirty="0" smtClean="0"/>
              <a:t>) </a:t>
            </a:r>
            <a:endParaRPr lang="nl-NL" dirty="0" smtClean="0"/>
          </a:p>
        </p:txBody>
      </p:sp>
      <p:sp>
        <p:nvSpPr>
          <p:cNvPr id="5" name="TextBox 4"/>
          <p:cNvSpPr txBox="1"/>
          <p:nvPr/>
        </p:nvSpPr>
        <p:spPr>
          <a:xfrm>
            <a:off x="3347864" y="1619508"/>
            <a:ext cx="3600400"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Myx</a:t>
            </a:r>
            <a:r>
              <a:rPr lang="nl-NL" b="1" dirty="0" smtClean="0"/>
              <a:t>) </a:t>
            </a:r>
            <a:endParaRPr lang="nl-NL" dirty="0" smtClean="0"/>
          </a:p>
        </p:txBody>
      </p:sp>
      <p:cxnSp>
        <p:nvCxnSpPr>
          <p:cNvPr id="7" name="Straight Connector 6"/>
          <p:cNvCxnSpPr/>
          <p:nvPr/>
        </p:nvCxnSpPr>
        <p:spPr>
          <a:xfrm flipH="1">
            <a:off x="3419872" y="2132856"/>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211960" y="2132856"/>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203848" y="2843644"/>
            <a:ext cx="504056" cy="369332"/>
          </a:xfrm>
          <a:prstGeom prst="rect">
            <a:avLst/>
          </a:prstGeom>
          <a:noFill/>
        </p:spPr>
        <p:txBody>
          <a:bodyPr wrap="square" rtlCol="0">
            <a:spAutoFit/>
          </a:bodyPr>
          <a:lstStyle/>
          <a:p>
            <a:r>
              <a:rPr lang="nl-NL" b="1" dirty="0" smtClean="0"/>
              <a:t>∀x</a:t>
            </a:r>
            <a:endParaRPr lang="nl-NL" dirty="0" smtClean="0"/>
          </a:p>
        </p:txBody>
      </p:sp>
      <p:sp>
        <p:nvSpPr>
          <p:cNvPr id="11" name="TextBox 10"/>
          <p:cNvSpPr txBox="1"/>
          <p:nvPr/>
        </p:nvSpPr>
        <p:spPr>
          <a:xfrm>
            <a:off x="4499992" y="2843644"/>
            <a:ext cx="3600400" cy="369332"/>
          </a:xfrm>
          <a:prstGeom prst="rect">
            <a:avLst/>
          </a:prstGeom>
          <a:noFill/>
        </p:spPr>
        <p:txBody>
          <a:bodyPr wrap="square" rtlCol="0">
            <a:spAutoFit/>
          </a:bodyPr>
          <a:lstStyle/>
          <a:p>
            <a:r>
              <a:rPr lang="nl-NL" b="1" dirty="0" err="1" smtClean="0"/>
              <a:t>Kx</a:t>
            </a:r>
            <a:r>
              <a:rPr lang="nl-NL" b="1" dirty="0" smtClean="0"/>
              <a:t> → ∃y  </a:t>
            </a:r>
            <a:r>
              <a:rPr lang="nl-NL" b="1" dirty="0" err="1" smtClean="0"/>
              <a:t>Myx</a:t>
            </a:r>
            <a:r>
              <a:rPr lang="nl-NL" b="1" dirty="0" smtClean="0"/>
              <a:t> </a:t>
            </a:r>
            <a:endParaRPr lang="nl-NL" dirty="0" smtClean="0"/>
          </a:p>
        </p:txBody>
      </p:sp>
      <p:cxnSp>
        <p:nvCxnSpPr>
          <p:cNvPr id="12" name="Straight Connector 11"/>
          <p:cNvCxnSpPr/>
          <p:nvPr/>
        </p:nvCxnSpPr>
        <p:spPr>
          <a:xfrm>
            <a:off x="5220072" y="3284984"/>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4427984" y="3284984"/>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220072" y="3284984"/>
            <a:ext cx="0" cy="72008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139952" y="4005064"/>
            <a:ext cx="504056" cy="369332"/>
          </a:xfrm>
          <a:prstGeom prst="rect">
            <a:avLst/>
          </a:prstGeom>
          <a:noFill/>
        </p:spPr>
        <p:txBody>
          <a:bodyPr wrap="square" rtlCol="0">
            <a:spAutoFit/>
          </a:bodyPr>
          <a:lstStyle/>
          <a:p>
            <a:r>
              <a:rPr lang="nl-NL" b="1" dirty="0" err="1" smtClean="0"/>
              <a:t>Kx</a:t>
            </a:r>
            <a:endParaRPr lang="nl-NL" dirty="0" smtClean="0"/>
          </a:p>
        </p:txBody>
      </p:sp>
      <p:sp>
        <p:nvSpPr>
          <p:cNvPr id="18" name="TextBox 17"/>
          <p:cNvSpPr txBox="1"/>
          <p:nvPr/>
        </p:nvSpPr>
        <p:spPr>
          <a:xfrm>
            <a:off x="5004048" y="4005064"/>
            <a:ext cx="432048" cy="369332"/>
          </a:xfrm>
          <a:prstGeom prst="rect">
            <a:avLst/>
          </a:prstGeom>
          <a:noFill/>
        </p:spPr>
        <p:txBody>
          <a:bodyPr wrap="square" rtlCol="0">
            <a:spAutoFit/>
          </a:bodyPr>
          <a:lstStyle/>
          <a:p>
            <a:r>
              <a:rPr lang="nl-NL" b="1" dirty="0" smtClean="0"/>
              <a:t>→ </a:t>
            </a:r>
            <a:endParaRPr lang="nl-NL" dirty="0" smtClean="0"/>
          </a:p>
        </p:txBody>
      </p:sp>
      <p:sp>
        <p:nvSpPr>
          <p:cNvPr id="19" name="TextBox 18"/>
          <p:cNvSpPr txBox="1"/>
          <p:nvPr/>
        </p:nvSpPr>
        <p:spPr>
          <a:xfrm>
            <a:off x="5652120" y="3995772"/>
            <a:ext cx="1080120" cy="369332"/>
          </a:xfrm>
          <a:prstGeom prst="rect">
            <a:avLst/>
          </a:prstGeom>
          <a:noFill/>
        </p:spPr>
        <p:txBody>
          <a:bodyPr wrap="square" rtlCol="0">
            <a:spAutoFit/>
          </a:bodyPr>
          <a:lstStyle/>
          <a:p>
            <a:r>
              <a:rPr lang="nl-NL" b="1" dirty="0" smtClean="0"/>
              <a:t>∃y  </a:t>
            </a:r>
            <a:r>
              <a:rPr lang="nl-NL" b="1" dirty="0" err="1" smtClean="0"/>
              <a:t>Myx</a:t>
            </a:r>
            <a:r>
              <a:rPr lang="nl-NL" b="1" dirty="0" smtClean="0"/>
              <a:t> </a:t>
            </a:r>
            <a:endParaRPr lang="nl-NL" dirty="0" smtClean="0"/>
          </a:p>
        </p:txBody>
      </p:sp>
      <p:cxnSp>
        <p:nvCxnSpPr>
          <p:cNvPr id="20" name="Straight Connector 19"/>
          <p:cNvCxnSpPr/>
          <p:nvPr/>
        </p:nvCxnSpPr>
        <p:spPr>
          <a:xfrm>
            <a:off x="6228184" y="4437112"/>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5436096" y="4437112"/>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5220072" y="5085184"/>
            <a:ext cx="504056" cy="369332"/>
          </a:xfrm>
          <a:prstGeom prst="rect">
            <a:avLst/>
          </a:prstGeom>
          <a:noFill/>
        </p:spPr>
        <p:txBody>
          <a:bodyPr wrap="square" rtlCol="0">
            <a:spAutoFit/>
          </a:bodyPr>
          <a:lstStyle/>
          <a:p>
            <a:r>
              <a:rPr lang="nl-NL" b="1" dirty="0" smtClean="0"/>
              <a:t>∃y  </a:t>
            </a:r>
            <a:endParaRPr lang="nl-NL" dirty="0" smtClean="0"/>
          </a:p>
        </p:txBody>
      </p:sp>
      <p:sp>
        <p:nvSpPr>
          <p:cNvPr id="23" name="TextBox 22"/>
          <p:cNvSpPr txBox="1"/>
          <p:nvPr/>
        </p:nvSpPr>
        <p:spPr>
          <a:xfrm>
            <a:off x="6804248" y="5075892"/>
            <a:ext cx="648072" cy="369332"/>
          </a:xfrm>
          <a:prstGeom prst="rect">
            <a:avLst/>
          </a:prstGeom>
          <a:noFill/>
        </p:spPr>
        <p:txBody>
          <a:bodyPr wrap="square" rtlCol="0">
            <a:spAutoFit/>
          </a:bodyPr>
          <a:lstStyle/>
          <a:p>
            <a:r>
              <a:rPr lang="nl-NL" b="1" dirty="0" err="1" smtClean="0"/>
              <a:t>Myx</a:t>
            </a:r>
            <a:r>
              <a:rPr lang="nl-NL" b="1" dirty="0" smtClean="0"/>
              <a:t> </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20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20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20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20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20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20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20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20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2000"/>
                                        <p:tgtEl>
                                          <p:spTgt spid="19"/>
                                        </p:tgtEl>
                                      </p:cBhvr>
                                    </p:animEffect>
                                  </p:childTnLst>
                                </p:cTn>
                              </p:par>
                              <p:par>
                                <p:cTn id="38" presetID="10" presetClass="entr" presetSubtype="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2000"/>
                                        <p:tgtEl>
                                          <p:spTgt spid="20"/>
                                        </p:tgtEl>
                                      </p:cBhvr>
                                    </p:animEffect>
                                  </p:childTnLst>
                                </p:cTn>
                              </p:par>
                              <p:par>
                                <p:cTn id="41" presetID="10"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20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20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7" grpId="0"/>
      <p:bldP spid="18" grpId="0"/>
      <p:bldP spid="19" grpId="0"/>
      <p:bldP spid="22" grpId="0"/>
      <p:bldP spid="23"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5" name="TextBox 4"/>
          <p:cNvSpPr txBox="1"/>
          <p:nvPr/>
        </p:nvSpPr>
        <p:spPr>
          <a:xfrm>
            <a:off x="1331640" y="1619508"/>
            <a:ext cx="6336704" cy="369332"/>
          </a:xfrm>
          <a:prstGeom prst="rect">
            <a:avLst/>
          </a:prstGeom>
          <a:noFill/>
        </p:spPr>
        <p:txBody>
          <a:bodyPr wrap="square" rtlCol="0">
            <a:spAutoFit/>
          </a:bodyPr>
          <a:lstStyle/>
          <a:p>
            <a:r>
              <a:rPr lang="nl-NL" b="1" dirty="0" smtClean="0"/>
              <a:t>∀x ∃y (</a:t>
            </a:r>
            <a:r>
              <a:rPr lang="nl-NL" b="1" dirty="0" err="1" smtClean="0"/>
              <a:t>Rax</a:t>
            </a:r>
            <a:r>
              <a:rPr lang="nl-NL" b="1" dirty="0" smtClean="0"/>
              <a:t> → (∀z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cxnSp>
        <p:nvCxnSpPr>
          <p:cNvPr id="7" name="Straight Connector 6"/>
          <p:cNvCxnSpPr/>
          <p:nvPr/>
        </p:nvCxnSpPr>
        <p:spPr>
          <a:xfrm flipH="1">
            <a:off x="1979712" y="386104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292080" y="386104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923928" y="206084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484040" y="2555612"/>
            <a:ext cx="6336704" cy="369332"/>
          </a:xfrm>
          <a:prstGeom prst="rect">
            <a:avLst/>
          </a:prstGeom>
          <a:noFill/>
        </p:spPr>
        <p:txBody>
          <a:bodyPr wrap="square" rtlCol="0">
            <a:spAutoFit/>
          </a:bodyPr>
          <a:lstStyle/>
          <a:p>
            <a:r>
              <a:rPr lang="nl-NL" b="1" dirty="0" smtClean="0"/>
              <a:t>∃y (</a:t>
            </a:r>
            <a:r>
              <a:rPr lang="nl-NL" b="1" dirty="0" err="1" smtClean="0"/>
              <a:t>Rax</a:t>
            </a:r>
            <a:r>
              <a:rPr lang="nl-NL" b="1" dirty="0" smtClean="0"/>
              <a:t> → (∀z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cxnSp>
        <p:nvCxnSpPr>
          <p:cNvPr id="27" name="Straight Connector 26"/>
          <p:cNvCxnSpPr/>
          <p:nvPr/>
        </p:nvCxnSpPr>
        <p:spPr>
          <a:xfrm>
            <a:off x="3923928" y="299695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636440" y="3419708"/>
            <a:ext cx="6336704" cy="369332"/>
          </a:xfrm>
          <a:prstGeom prst="rect">
            <a:avLst/>
          </a:prstGeom>
          <a:noFill/>
        </p:spPr>
        <p:txBody>
          <a:bodyPr wrap="square" rtlCol="0">
            <a:spAutoFit/>
          </a:bodyPr>
          <a:lstStyle/>
          <a:p>
            <a:r>
              <a:rPr lang="nl-NL" b="1" dirty="0" smtClean="0"/>
              <a:t>(</a:t>
            </a:r>
            <a:r>
              <a:rPr lang="nl-NL" b="1" dirty="0" err="1" smtClean="0"/>
              <a:t>Rax</a:t>
            </a:r>
            <a:r>
              <a:rPr lang="nl-NL" b="1" dirty="0" smtClean="0"/>
              <a:t> → (∀z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sp>
        <p:nvSpPr>
          <p:cNvPr id="29" name="TextBox 28"/>
          <p:cNvSpPr txBox="1"/>
          <p:nvPr/>
        </p:nvSpPr>
        <p:spPr>
          <a:xfrm>
            <a:off x="1619672" y="4509120"/>
            <a:ext cx="576064" cy="369332"/>
          </a:xfrm>
          <a:prstGeom prst="rect">
            <a:avLst/>
          </a:prstGeom>
          <a:noFill/>
        </p:spPr>
        <p:txBody>
          <a:bodyPr wrap="square" rtlCol="0">
            <a:spAutoFit/>
          </a:bodyPr>
          <a:lstStyle/>
          <a:p>
            <a:r>
              <a:rPr lang="nl-NL" b="1" dirty="0" err="1" smtClean="0"/>
              <a:t>Rax</a:t>
            </a:r>
            <a:r>
              <a:rPr lang="nl-NL" b="1" dirty="0" smtClean="0"/>
              <a:t>     </a:t>
            </a:r>
            <a:endParaRPr lang="nl-NL" dirty="0" smtClean="0"/>
          </a:p>
        </p:txBody>
      </p:sp>
      <p:sp>
        <p:nvSpPr>
          <p:cNvPr id="30" name="TextBox 29"/>
          <p:cNvSpPr txBox="1"/>
          <p:nvPr/>
        </p:nvSpPr>
        <p:spPr>
          <a:xfrm>
            <a:off x="4355976" y="4509120"/>
            <a:ext cx="4104456" cy="369332"/>
          </a:xfrm>
          <a:prstGeom prst="rect">
            <a:avLst/>
          </a:prstGeom>
          <a:noFill/>
        </p:spPr>
        <p:txBody>
          <a:bodyPr wrap="square" rtlCol="0">
            <a:spAutoFit/>
          </a:bodyPr>
          <a:lstStyle/>
          <a:p>
            <a:r>
              <a:rPr lang="nl-NL" b="1" dirty="0" smtClean="0"/>
              <a:t>(∀z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cxnSp>
        <p:nvCxnSpPr>
          <p:cNvPr id="31" name="Straight Connector 30"/>
          <p:cNvCxnSpPr/>
          <p:nvPr/>
        </p:nvCxnSpPr>
        <p:spPr>
          <a:xfrm>
            <a:off x="6372200" y="494116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5580112" y="494116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63888" y="5589240"/>
            <a:ext cx="4104456" cy="369332"/>
          </a:xfrm>
          <a:prstGeom prst="rect">
            <a:avLst/>
          </a:prstGeom>
          <a:noFill/>
        </p:spPr>
        <p:txBody>
          <a:bodyPr wrap="square" rtlCol="0">
            <a:spAutoFit/>
          </a:bodyPr>
          <a:lstStyle/>
          <a:p>
            <a:r>
              <a:rPr lang="nl-NL" b="1" dirty="0" smtClean="0"/>
              <a:t>∀z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a:t>
            </a:r>
            <a:endParaRPr lang="nl-NL" dirty="0" smtClean="0"/>
          </a:p>
        </p:txBody>
      </p:sp>
      <p:sp>
        <p:nvSpPr>
          <p:cNvPr id="34" name="TextBox 33"/>
          <p:cNvSpPr txBox="1"/>
          <p:nvPr/>
        </p:nvSpPr>
        <p:spPr>
          <a:xfrm>
            <a:off x="6876256" y="5589240"/>
            <a:ext cx="855712" cy="369332"/>
          </a:xfrm>
          <a:prstGeom prst="rect">
            <a:avLst/>
          </a:prstGeom>
          <a:noFill/>
        </p:spPr>
        <p:txBody>
          <a:bodyPr wrap="square" rtlCol="0">
            <a:spAutoFit/>
          </a:bodyPr>
          <a:lstStyle/>
          <a:p>
            <a:r>
              <a:rPr lang="nl-NL" b="1" dirty="0" smtClean="0"/>
              <a:t>¬</a:t>
            </a:r>
            <a:r>
              <a:rPr lang="nl-NL" b="1" dirty="0" err="1" smtClean="0"/>
              <a:t>Raa</a:t>
            </a:r>
            <a:r>
              <a:rPr lang="nl-NL" b="1" dirty="0" smtClean="0"/>
              <a:t>     </a:t>
            </a:r>
            <a:endParaRPr lang="nl-NL" dirty="0" smtClean="0"/>
          </a:p>
        </p:txBody>
      </p:sp>
      <p:cxnSp>
        <p:nvCxnSpPr>
          <p:cNvPr id="35" name="Straight Connector 34"/>
          <p:cNvCxnSpPr/>
          <p:nvPr/>
        </p:nvCxnSpPr>
        <p:spPr>
          <a:xfrm>
            <a:off x="7308304" y="602128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948264" y="6381328"/>
            <a:ext cx="855712" cy="369332"/>
          </a:xfrm>
          <a:prstGeom prst="rect">
            <a:avLst/>
          </a:prstGeom>
          <a:noFill/>
        </p:spPr>
        <p:txBody>
          <a:bodyPr wrap="square" rtlCol="0">
            <a:spAutoFit/>
          </a:bodyPr>
          <a:lstStyle/>
          <a:p>
            <a:r>
              <a:rPr lang="nl-NL" b="1" dirty="0" smtClean="0"/>
              <a:t>  </a:t>
            </a:r>
            <a:r>
              <a:rPr lang="nl-NL" b="1" dirty="0" err="1" smtClean="0"/>
              <a:t>Raa</a:t>
            </a:r>
            <a:r>
              <a:rPr lang="nl-NL" b="1" dirty="0" smtClean="0"/>
              <a:t>     </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20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2000"/>
                                        <p:tgtEl>
                                          <p:spTgt spid="2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2000"/>
                                        <p:tgtEl>
                                          <p:spTgt spid="2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2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2000"/>
                                        <p:tgtEl>
                                          <p:spTgt spid="7"/>
                                        </p:tgtEl>
                                      </p:cBhvr>
                                    </p:animEffect>
                                  </p:childTnLst>
                                </p:cTn>
                              </p:par>
                              <p:par>
                                <p:cTn id="29" presetID="10"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20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2000"/>
                                        <p:tgtEl>
                                          <p:spTgt spid="2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20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2000"/>
                                        <p:tgtEl>
                                          <p:spTgt spid="31"/>
                                        </p:tgtEl>
                                      </p:cBhvr>
                                    </p:animEffect>
                                  </p:childTnLst>
                                </p:cTn>
                              </p:par>
                              <p:par>
                                <p:cTn id="43" presetID="10"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2000"/>
                                        <p:tgtEl>
                                          <p:spTgt spid="3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2000"/>
                                        <p:tgtEl>
                                          <p:spTgt spid="3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20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fade">
                                      <p:cBhvr>
                                        <p:cTn id="56" dur="2000"/>
                                        <p:tgtEl>
                                          <p:spTgt spid="35"/>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fade">
                                      <p:cBhvr>
                                        <p:cTn id="59" dur="2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28" grpId="0"/>
      <p:bldP spid="29" grpId="0"/>
      <p:bldP spid="30" grpId="0"/>
      <p:bldP spid="33" grpId="0"/>
      <p:bldP spid="34" grpId="0"/>
      <p:bldP spid="36" grpId="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5" name="TextBox 4"/>
          <p:cNvSpPr txBox="1"/>
          <p:nvPr/>
        </p:nvSpPr>
        <p:spPr>
          <a:xfrm>
            <a:off x="1331640" y="1619508"/>
            <a:ext cx="6336704" cy="369332"/>
          </a:xfrm>
          <a:prstGeom prst="rect">
            <a:avLst/>
          </a:prstGeom>
          <a:noFill/>
        </p:spPr>
        <p:txBody>
          <a:bodyPr wrap="square" rtlCol="0">
            <a:spAutoFit/>
          </a:bodyPr>
          <a:lstStyle/>
          <a:p>
            <a:r>
              <a:rPr lang="nl-NL" b="1" dirty="0" smtClean="0"/>
              <a:t>∀x ∃y (</a:t>
            </a:r>
            <a:r>
              <a:rPr lang="nl-NL" b="1" dirty="0" err="1" smtClean="0"/>
              <a:t>Rax</a:t>
            </a:r>
            <a:r>
              <a:rPr lang="nl-NL" b="1" dirty="0" smtClean="0"/>
              <a:t> → (∀z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cxnSp>
        <p:nvCxnSpPr>
          <p:cNvPr id="7" name="Straight Connector 6"/>
          <p:cNvCxnSpPr/>
          <p:nvPr/>
        </p:nvCxnSpPr>
        <p:spPr>
          <a:xfrm flipH="1">
            <a:off x="1979712" y="386104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292080" y="386104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3923928" y="206084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484040" y="2555612"/>
            <a:ext cx="6336704" cy="369332"/>
          </a:xfrm>
          <a:prstGeom prst="rect">
            <a:avLst/>
          </a:prstGeom>
          <a:noFill/>
        </p:spPr>
        <p:txBody>
          <a:bodyPr wrap="square" rtlCol="0">
            <a:spAutoFit/>
          </a:bodyPr>
          <a:lstStyle/>
          <a:p>
            <a:r>
              <a:rPr lang="nl-NL" b="1" dirty="0" smtClean="0"/>
              <a:t>∃y (</a:t>
            </a:r>
            <a:r>
              <a:rPr lang="nl-NL" b="1" dirty="0" err="1" smtClean="0"/>
              <a:t>Rax</a:t>
            </a:r>
            <a:r>
              <a:rPr lang="nl-NL" b="1" dirty="0" smtClean="0"/>
              <a:t> → (∀z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cxnSp>
        <p:nvCxnSpPr>
          <p:cNvPr id="27" name="Straight Connector 26"/>
          <p:cNvCxnSpPr/>
          <p:nvPr/>
        </p:nvCxnSpPr>
        <p:spPr>
          <a:xfrm>
            <a:off x="3923928" y="299695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636440" y="3419708"/>
            <a:ext cx="6336704" cy="369332"/>
          </a:xfrm>
          <a:prstGeom prst="rect">
            <a:avLst/>
          </a:prstGeom>
          <a:noFill/>
        </p:spPr>
        <p:txBody>
          <a:bodyPr wrap="square" rtlCol="0">
            <a:spAutoFit/>
          </a:bodyPr>
          <a:lstStyle/>
          <a:p>
            <a:r>
              <a:rPr lang="nl-NL" b="1" dirty="0" smtClean="0"/>
              <a:t>(</a:t>
            </a:r>
            <a:r>
              <a:rPr lang="nl-NL" b="1" dirty="0" err="1" smtClean="0"/>
              <a:t>Rax</a:t>
            </a:r>
            <a:r>
              <a:rPr lang="nl-NL" b="1" dirty="0" smtClean="0"/>
              <a:t> → (∀z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sp>
        <p:nvSpPr>
          <p:cNvPr id="29" name="TextBox 28"/>
          <p:cNvSpPr txBox="1"/>
          <p:nvPr/>
        </p:nvSpPr>
        <p:spPr>
          <a:xfrm>
            <a:off x="1619672" y="4509120"/>
            <a:ext cx="576064" cy="369332"/>
          </a:xfrm>
          <a:prstGeom prst="rect">
            <a:avLst/>
          </a:prstGeom>
          <a:noFill/>
        </p:spPr>
        <p:txBody>
          <a:bodyPr wrap="square" rtlCol="0">
            <a:spAutoFit/>
          </a:bodyPr>
          <a:lstStyle/>
          <a:p>
            <a:r>
              <a:rPr lang="nl-NL" b="1" dirty="0" err="1" smtClean="0"/>
              <a:t>Rax</a:t>
            </a:r>
            <a:r>
              <a:rPr lang="nl-NL" b="1" dirty="0" smtClean="0"/>
              <a:t>     </a:t>
            </a:r>
            <a:endParaRPr lang="nl-NL" dirty="0" smtClean="0"/>
          </a:p>
        </p:txBody>
      </p:sp>
      <p:sp>
        <p:nvSpPr>
          <p:cNvPr id="30" name="TextBox 29"/>
          <p:cNvSpPr txBox="1"/>
          <p:nvPr/>
        </p:nvSpPr>
        <p:spPr>
          <a:xfrm>
            <a:off x="4355976" y="4509120"/>
            <a:ext cx="4104456" cy="369332"/>
          </a:xfrm>
          <a:prstGeom prst="rect">
            <a:avLst/>
          </a:prstGeom>
          <a:noFill/>
        </p:spPr>
        <p:txBody>
          <a:bodyPr wrap="square" rtlCol="0">
            <a:spAutoFit/>
          </a:bodyPr>
          <a:lstStyle/>
          <a:p>
            <a:r>
              <a:rPr lang="nl-NL" b="1" dirty="0" smtClean="0"/>
              <a:t>(∀z (¬</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 V ¬</a:t>
            </a:r>
            <a:r>
              <a:rPr lang="nl-NL" b="1" dirty="0" err="1" smtClean="0"/>
              <a:t>Raa</a:t>
            </a:r>
            <a:r>
              <a:rPr lang="nl-NL" b="1" dirty="0" smtClean="0"/>
              <a:t>)     </a:t>
            </a:r>
            <a:endParaRPr lang="nl-NL" dirty="0" smtClean="0"/>
          </a:p>
        </p:txBody>
      </p:sp>
      <p:cxnSp>
        <p:nvCxnSpPr>
          <p:cNvPr id="31" name="Straight Connector 30"/>
          <p:cNvCxnSpPr/>
          <p:nvPr/>
        </p:nvCxnSpPr>
        <p:spPr>
          <a:xfrm>
            <a:off x="6372200" y="494116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5580112" y="4941168"/>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563888" y="5589240"/>
            <a:ext cx="4104456" cy="369332"/>
          </a:xfrm>
          <a:prstGeom prst="rect">
            <a:avLst/>
          </a:prstGeom>
          <a:noFill/>
        </p:spPr>
        <p:txBody>
          <a:bodyPr wrap="square" rtlCol="0">
            <a:spAutoFit/>
          </a:bodyPr>
          <a:lstStyle/>
          <a:p>
            <a:r>
              <a:rPr lang="nl-NL" b="1" dirty="0" smtClean="0">
                <a:solidFill>
                  <a:srgbClr val="0070C0"/>
                </a:solidFill>
              </a:rPr>
              <a:t>∀z (¬</a:t>
            </a:r>
            <a:r>
              <a:rPr lang="nl-NL" b="1" dirty="0" err="1" smtClean="0">
                <a:solidFill>
                  <a:srgbClr val="0070C0"/>
                </a:solidFill>
              </a:rPr>
              <a:t>Az</a:t>
            </a:r>
            <a:r>
              <a:rPr lang="nl-NL" b="1" dirty="0" smtClean="0">
                <a:solidFill>
                  <a:srgbClr val="0070C0"/>
                </a:solidFill>
              </a:rPr>
              <a:t> → ¬∃w(</a:t>
            </a:r>
            <a:r>
              <a:rPr lang="nl-NL" b="1" dirty="0" err="1" smtClean="0">
                <a:solidFill>
                  <a:srgbClr val="0070C0"/>
                </a:solidFill>
              </a:rPr>
              <a:t>Gazw</a:t>
            </a:r>
            <a:r>
              <a:rPr lang="nl-NL" b="1" dirty="0" smtClean="0">
                <a:solidFill>
                  <a:srgbClr val="0070C0"/>
                </a:solidFill>
              </a:rPr>
              <a:t> V </a:t>
            </a:r>
            <a:r>
              <a:rPr lang="nl-NL" b="1" dirty="0" err="1" smtClean="0">
                <a:solidFill>
                  <a:srgbClr val="0070C0"/>
                </a:solidFill>
              </a:rPr>
              <a:t>Hxyw</a:t>
            </a:r>
            <a:r>
              <a:rPr lang="nl-NL" b="1" dirty="0" smtClean="0">
                <a:solidFill>
                  <a:srgbClr val="0070C0"/>
                </a:solidFill>
              </a:rPr>
              <a:t>))     </a:t>
            </a:r>
            <a:endParaRPr lang="nl-NL" dirty="0" smtClean="0">
              <a:solidFill>
                <a:srgbClr val="0070C0"/>
              </a:solidFill>
            </a:endParaRPr>
          </a:p>
        </p:txBody>
      </p:sp>
      <p:sp>
        <p:nvSpPr>
          <p:cNvPr id="34" name="TextBox 33"/>
          <p:cNvSpPr txBox="1"/>
          <p:nvPr/>
        </p:nvSpPr>
        <p:spPr>
          <a:xfrm>
            <a:off x="6876256" y="5589240"/>
            <a:ext cx="855712" cy="369332"/>
          </a:xfrm>
          <a:prstGeom prst="rect">
            <a:avLst/>
          </a:prstGeom>
          <a:noFill/>
        </p:spPr>
        <p:txBody>
          <a:bodyPr wrap="square" rtlCol="0">
            <a:spAutoFit/>
          </a:bodyPr>
          <a:lstStyle/>
          <a:p>
            <a:r>
              <a:rPr lang="nl-NL" b="1" dirty="0" smtClean="0"/>
              <a:t>¬</a:t>
            </a:r>
            <a:r>
              <a:rPr lang="nl-NL" b="1" dirty="0" err="1" smtClean="0"/>
              <a:t>Raa</a:t>
            </a:r>
            <a:r>
              <a:rPr lang="nl-NL" b="1" dirty="0" smtClean="0"/>
              <a:t>     </a:t>
            </a:r>
            <a:endParaRPr lang="nl-NL" dirty="0" smtClean="0"/>
          </a:p>
        </p:txBody>
      </p:sp>
      <p:cxnSp>
        <p:nvCxnSpPr>
          <p:cNvPr id="35" name="Straight Connector 34"/>
          <p:cNvCxnSpPr/>
          <p:nvPr/>
        </p:nvCxnSpPr>
        <p:spPr>
          <a:xfrm>
            <a:off x="7308304" y="602128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948264" y="6381328"/>
            <a:ext cx="855712" cy="369332"/>
          </a:xfrm>
          <a:prstGeom prst="rect">
            <a:avLst/>
          </a:prstGeom>
          <a:noFill/>
        </p:spPr>
        <p:txBody>
          <a:bodyPr wrap="square" rtlCol="0">
            <a:spAutoFit/>
          </a:bodyPr>
          <a:lstStyle/>
          <a:p>
            <a:r>
              <a:rPr lang="nl-NL" b="1" dirty="0" smtClean="0"/>
              <a:t>  </a:t>
            </a:r>
            <a:r>
              <a:rPr lang="nl-NL" b="1" dirty="0" err="1" smtClean="0"/>
              <a:t>Raa</a:t>
            </a:r>
            <a:r>
              <a:rPr lang="nl-NL" b="1" dirty="0" smtClean="0"/>
              <a:t>     </a:t>
            </a:r>
            <a:endParaRPr lang="nl-NL" dirty="0" smtClean="0"/>
          </a:p>
        </p:txBody>
      </p:sp>
    </p:spTree>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18" name="TextBox 17"/>
          <p:cNvSpPr txBox="1"/>
          <p:nvPr/>
        </p:nvSpPr>
        <p:spPr>
          <a:xfrm>
            <a:off x="2123728" y="1556792"/>
            <a:ext cx="4104456" cy="369332"/>
          </a:xfrm>
          <a:prstGeom prst="rect">
            <a:avLst/>
          </a:prstGeom>
          <a:noFill/>
        </p:spPr>
        <p:txBody>
          <a:bodyPr wrap="square" rtlCol="0">
            <a:spAutoFit/>
          </a:bodyPr>
          <a:lstStyle/>
          <a:p>
            <a:r>
              <a:rPr lang="nl-NL" b="1" dirty="0" smtClean="0">
                <a:solidFill>
                  <a:srgbClr val="0070C0"/>
                </a:solidFill>
              </a:rPr>
              <a:t>∀z (¬</a:t>
            </a:r>
            <a:r>
              <a:rPr lang="nl-NL" b="1" dirty="0" err="1" smtClean="0">
                <a:solidFill>
                  <a:srgbClr val="0070C0"/>
                </a:solidFill>
              </a:rPr>
              <a:t>Az</a:t>
            </a:r>
            <a:r>
              <a:rPr lang="nl-NL" b="1" dirty="0" smtClean="0">
                <a:solidFill>
                  <a:srgbClr val="0070C0"/>
                </a:solidFill>
              </a:rPr>
              <a:t> → ¬∃w(</a:t>
            </a:r>
            <a:r>
              <a:rPr lang="nl-NL" b="1" dirty="0" err="1" smtClean="0">
                <a:solidFill>
                  <a:srgbClr val="0070C0"/>
                </a:solidFill>
              </a:rPr>
              <a:t>Gazw</a:t>
            </a:r>
            <a:r>
              <a:rPr lang="nl-NL" b="1" dirty="0" smtClean="0">
                <a:solidFill>
                  <a:srgbClr val="0070C0"/>
                </a:solidFill>
              </a:rPr>
              <a:t> V </a:t>
            </a:r>
            <a:r>
              <a:rPr lang="nl-NL" b="1" dirty="0" err="1" smtClean="0">
                <a:solidFill>
                  <a:srgbClr val="0070C0"/>
                </a:solidFill>
              </a:rPr>
              <a:t>Hxyw</a:t>
            </a:r>
            <a:r>
              <a:rPr lang="nl-NL" b="1" dirty="0" smtClean="0">
                <a:solidFill>
                  <a:srgbClr val="0070C0"/>
                </a:solidFill>
              </a:rPr>
              <a:t>))     </a:t>
            </a:r>
            <a:endParaRPr lang="nl-NL" dirty="0" smtClean="0">
              <a:solidFill>
                <a:srgbClr val="0070C0"/>
              </a:solidFill>
            </a:endParaRPr>
          </a:p>
        </p:txBody>
      </p:sp>
      <p:cxnSp>
        <p:nvCxnSpPr>
          <p:cNvPr id="19" name="Straight Connector 18"/>
          <p:cNvCxnSpPr/>
          <p:nvPr/>
        </p:nvCxnSpPr>
        <p:spPr>
          <a:xfrm>
            <a:off x="3635896" y="206084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339752" y="2555612"/>
            <a:ext cx="4104456" cy="369332"/>
          </a:xfrm>
          <a:prstGeom prst="rect">
            <a:avLst/>
          </a:prstGeom>
          <a:noFill/>
        </p:spPr>
        <p:txBody>
          <a:bodyPr wrap="square" rtlCol="0">
            <a:spAutoFit/>
          </a:bodyPr>
          <a:lstStyle/>
          <a:p>
            <a:r>
              <a:rPr lang="nl-NL" b="1" dirty="0" smtClean="0"/>
              <a:t>(¬</a:t>
            </a:r>
            <a:r>
              <a:rPr lang="nl-NL" b="1" dirty="0" err="1" smtClean="0"/>
              <a:t>Az</a:t>
            </a:r>
            <a:r>
              <a:rPr lang="nl-NL" b="1" dirty="0" smtClean="0"/>
              <a:t> → ¬∃w(</a:t>
            </a:r>
            <a:r>
              <a:rPr lang="nl-NL" b="1" dirty="0" err="1" smtClean="0"/>
              <a:t>Gazw</a:t>
            </a:r>
            <a:r>
              <a:rPr lang="nl-NL" b="1" dirty="0" smtClean="0"/>
              <a:t> V </a:t>
            </a:r>
            <a:r>
              <a:rPr lang="nl-NL" b="1" dirty="0" err="1" smtClean="0"/>
              <a:t>Hxyw</a:t>
            </a:r>
            <a:r>
              <a:rPr lang="nl-NL" b="1" dirty="0" smtClean="0"/>
              <a:t>))</a:t>
            </a:r>
            <a:r>
              <a:rPr lang="nl-NL" b="1" dirty="0" smtClean="0">
                <a:solidFill>
                  <a:srgbClr val="0070C0"/>
                </a:solidFill>
              </a:rPr>
              <a:t>     </a:t>
            </a:r>
            <a:endParaRPr lang="nl-NL" dirty="0" smtClean="0">
              <a:solidFill>
                <a:srgbClr val="0070C0"/>
              </a:solidFill>
            </a:endParaRPr>
          </a:p>
        </p:txBody>
      </p:sp>
      <p:cxnSp>
        <p:nvCxnSpPr>
          <p:cNvPr id="21" name="Straight Connector 20"/>
          <p:cNvCxnSpPr/>
          <p:nvPr/>
        </p:nvCxnSpPr>
        <p:spPr>
          <a:xfrm>
            <a:off x="3635896" y="2996952"/>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2843808" y="2996952"/>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411760" y="3707740"/>
            <a:ext cx="576064" cy="369332"/>
          </a:xfrm>
          <a:prstGeom prst="rect">
            <a:avLst/>
          </a:prstGeom>
          <a:noFill/>
        </p:spPr>
        <p:txBody>
          <a:bodyPr wrap="square" rtlCol="0">
            <a:spAutoFit/>
          </a:bodyPr>
          <a:lstStyle/>
          <a:p>
            <a:r>
              <a:rPr lang="nl-NL" b="1" dirty="0" smtClean="0"/>
              <a:t>¬</a:t>
            </a:r>
            <a:r>
              <a:rPr lang="nl-NL" b="1" dirty="0" err="1" smtClean="0"/>
              <a:t>Az</a:t>
            </a:r>
            <a:endParaRPr lang="nl-NL" dirty="0" smtClean="0">
              <a:solidFill>
                <a:srgbClr val="0070C0"/>
              </a:solidFill>
            </a:endParaRPr>
          </a:p>
        </p:txBody>
      </p:sp>
      <p:sp>
        <p:nvSpPr>
          <p:cNvPr id="26" name="TextBox 25"/>
          <p:cNvSpPr txBox="1"/>
          <p:nvPr/>
        </p:nvSpPr>
        <p:spPr>
          <a:xfrm>
            <a:off x="3644280" y="3707740"/>
            <a:ext cx="2223864" cy="369332"/>
          </a:xfrm>
          <a:prstGeom prst="rect">
            <a:avLst/>
          </a:prstGeom>
          <a:noFill/>
        </p:spPr>
        <p:txBody>
          <a:bodyPr wrap="square" rtlCol="0">
            <a:spAutoFit/>
          </a:bodyPr>
          <a:lstStyle/>
          <a:p>
            <a:r>
              <a:rPr lang="nl-NL" b="1" dirty="0" smtClean="0"/>
              <a:t>¬∃w(</a:t>
            </a:r>
            <a:r>
              <a:rPr lang="nl-NL" b="1" dirty="0" err="1" smtClean="0"/>
              <a:t>Gazw</a:t>
            </a:r>
            <a:r>
              <a:rPr lang="nl-NL" b="1" dirty="0" smtClean="0"/>
              <a:t> V </a:t>
            </a:r>
            <a:r>
              <a:rPr lang="nl-NL" b="1" dirty="0" err="1" smtClean="0"/>
              <a:t>Hxyw</a:t>
            </a:r>
            <a:r>
              <a:rPr lang="nl-NL" b="1" dirty="0" smtClean="0"/>
              <a:t>)</a:t>
            </a:r>
            <a:r>
              <a:rPr lang="nl-NL" b="1" dirty="0" smtClean="0">
                <a:solidFill>
                  <a:srgbClr val="0070C0"/>
                </a:solidFill>
              </a:rPr>
              <a:t>     </a:t>
            </a:r>
            <a:endParaRPr lang="nl-NL" dirty="0" smtClean="0">
              <a:solidFill>
                <a:srgbClr val="0070C0"/>
              </a:solidFill>
            </a:endParaRPr>
          </a:p>
        </p:txBody>
      </p:sp>
      <p:sp>
        <p:nvSpPr>
          <p:cNvPr id="37" name="TextBox 36"/>
          <p:cNvSpPr txBox="1"/>
          <p:nvPr/>
        </p:nvSpPr>
        <p:spPr>
          <a:xfrm>
            <a:off x="2483768" y="4571836"/>
            <a:ext cx="576064" cy="369332"/>
          </a:xfrm>
          <a:prstGeom prst="rect">
            <a:avLst/>
          </a:prstGeom>
          <a:noFill/>
        </p:spPr>
        <p:txBody>
          <a:bodyPr wrap="square" rtlCol="0">
            <a:spAutoFit/>
          </a:bodyPr>
          <a:lstStyle/>
          <a:p>
            <a:r>
              <a:rPr lang="nl-NL" b="1" dirty="0" err="1" smtClean="0"/>
              <a:t>Az</a:t>
            </a:r>
            <a:endParaRPr lang="nl-NL" dirty="0" smtClean="0">
              <a:solidFill>
                <a:srgbClr val="0070C0"/>
              </a:solidFill>
            </a:endParaRPr>
          </a:p>
        </p:txBody>
      </p:sp>
      <p:cxnSp>
        <p:nvCxnSpPr>
          <p:cNvPr id="38" name="Straight Connector 37"/>
          <p:cNvCxnSpPr/>
          <p:nvPr/>
        </p:nvCxnSpPr>
        <p:spPr>
          <a:xfrm>
            <a:off x="2699792" y="414908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779912" y="4571836"/>
            <a:ext cx="2223864" cy="369332"/>
          </a:xfrm>
          <a:prstGeom prst="rect">
            <a:avLst/>
          </a:prstGeom>
          <a:noFill/>
        </p:spPr>
        <p:txBody>
          <a:bodyPr wrap="square" rtlCol="0">
            <a:spAutoFit/>
          </a:bodyPr>
          <a:lstStyle/>
          <a:p>
            <a:r>
              <a:rPr lang="nl-NL" b="1" dirty="0" smtClean="0"/>
              <a:t>∃w(</a:t>
            </a:r>
            <a:r>
              <a:rPr lang="nl-NL" b="1" dirty="0" err="1" smtClean="0"/>
              <a:t>Gazw</a:t>
            </a:r>
            <a:r>
              <a:rPr lang="nl-NL" b="1" dirty="0" smtClean="0"/>
              <a:t> V </a:t>
            </a:r>
            <a:r>
              <a:rPr lang="nl-NL" b="1" dirty="0" err="1" smtClean="0"/>
              <a:t>Hxyw</a:t>
            </a:r>
            <a:r>
              <a:rPr lang="nl-NL" b="1" dirty="0" smtClean="0"/>
              <a:t>)</a:t>
            </a:r>
            <a:r>
              <a:rPr lang="nl-NL" b="1" dirty="0" smtClean="0">
                <a:solidFill>
                  <a:srgbClr val="0070C0"/>
                </a:solidFill>
              </a:rPr>
              <a:t>     </a:t>
            </a:r>
            <a:endParaRPr lang="nl-NL" dirty="0" smtClean="0">
              <a:solidFill>
                <a:srgbClr val="0070C0"/>
              </a:solidFill>
            </a:endParaRPr>
          </a:p>
        </p:txBody>
      </p:sp>
      <p:cxnSp>
        <p:nvCxnSpPr>
          <p:cNvPr id="40" name="Straight Connector 39"/>
          <p:cNvCxnSpPr/>
          <p:nvPr/>
        </p:nvCxnSpPr>
        <p:spPr>
          <a:xfrm>
            <a:off x="4427984" y="414908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3860304" y="5363924"/>
            <a:ext cx="2223864" cy="369332"/>
          </a:xfrm>
          <a:prstGeom prst="rect">
            <a:avLst/>
          </a:prstGeom>
          <a:noFill/>
        </p:spPr>
        <p:txBody>
          <a:bodyPr wrap="square" rtlCol="0">
            <a:spAutoFit/>
          </a:bodyPr>
          <a:lstStyle/>
          <a:p>
            <a:r>
              <a:rPr lang="nl-NL" b="1" dirty="0" smtClean="0"/>
              <a:t>(</a:t>
            </a:r>
            <a:r>
              <a:rPr lang="nl-NL" b="1" dirty="0" err="1" smtClean="0"/>
              <a:t>Gazw</a:t>
            </a:r>
            <a:r>
              <a:rPr lang="nl-NL" b="1" dirty="0" smtClean="0"/>
              <a:t> V </a:t>
            </a:r>
            <a:r>
              <a:rPr lang="nl-NL" b="1" dirty="0" err="1" smtClean="0"/>
              <a:t>Hxyw</a:t>
            </a:r>
            <a:r>
              <a:rPr lang="nl-NL" b="1" dirty="0" smtClean="0"/>
              <a:t>)</a:t>
            </a:r>
            <a:r>
              <a:rPr lang="nl-NL" b="1" dirty="0" smtClean="0">
                <a:solidFill>
                  <a:srgbClr val="0070C0"/>
                </a:solidFill>
              </a:rPr>
              <a:t>     </a:t>
            </a:r>
            <a:endParaRPr lang="nl-NL" dirty="0" smtClean="0">
              <a:solidFill>
                <a:srgbClr val="0070C0"/>
              </a:solidFill>
            </a:endParaRPr>
          </a:p>
        </p:txBody>
      </p:sp>
      <p:cxnSp>
        <p:nvCxnSpPr>
          <p:cNvPr id="42" name="Straight Connector 41"/>
          <p:cNvCxnSpPr/>
          <p:nvPr/>
        </p:nvCxnSpPr>
        <p:spPr>
          <a:xfrm>
            <a:off x="4427984" y="501317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4427984" y="5805264"/>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H="1">
            <a:off x="3635896" y="5805264"/>
            <a:ext cx="792088" cy="64807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3203848" y="6444044"/>
            <a:ext cx="720080" cy="369332"/>
          </a:xfrm>
          <a:prstGeom prst="rect">
            <a:avLst/>
          </a:prstGeom>
          <a:noFill/>
        </p:spPr>
        <p:txBody>
          <a:bodyPr wrap="square" rtlCol="0">
            <a:spAutoFit/>
          </a:bodyPr>
          <a:lstStyle/>
          <a:p>
            <a:r>
              <a:rPr lang="nl-NL" b="1" dirty="0" err="1" smtClean="0"/>
              <a:t>Gazw</a:t>
            </a:r>
            <a:r>
              <a:rPr lang="nl-NL" b="1" dirty="0" smtClean="0">
                <a:solidFill>
                  <a:srgbClr val="0070C0"/>
                </a:solidFill>
              </a:rPr>
              <a:t>     </a:t>
            </a:r>
            <a:endParaRPr lang="nl-NL" dirty="0" smtClean="0">
              <a:solidFill>
                <a:srgbClr val="0070C0"/>
              </a:solidFill>
            </a:endParaRPr>
          </a:p>
        </p:txBody>
      </p:sp>
      <p:sp>
        <p:nvSpPr>
          <p:cNvPr id="46" name="TextBox 45"/>
          <p:cNvSpPr txBox="1"/>
          <p:nvPr/>
        </p:nvSpPr>
        <p:spPr>
          <a:xfrm>
            <a:off x="4940424" y="6444044"/>
            <a:ext cx="783704" cy="369332"/>
          </a:xfrm>
          <a:prstGeom prst="rect">
            <a:avLst/>
          </a:prstGeom>
          <a:noFill/>
        </p:spPr>
        <p:txBody>
          <a:bodyPr wrap="square" rtlCol="0">
            <a:spAutoFit/>
          </a:bodyPr>
          <a:lstStyle/>
          <a:p>
            <a:r>
              <a:rPr lang="nl-NL" b="1" dirty="0" err="1" smtClean="0"/>
              <a:t>Hxyw</a:t>
            </a:r>
            <a:r>
              <a:rPr lang="nl-NL" b="1" dirty="0" smtClean="0">
                <a:solidFill>
                  <a:srgbClr val="0070C0"/>
                </a:solidFill>
              </a:rPr>
              <a:t>     </a:t>
            </a:r>
            <a:endParaRPr lang="nl-NL" dirty="0" smtClean="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000"/>
                                        <p:tgtEl>
                                          <p:spTgt spid="1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20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2000"/>
                                        <p:tgtEl>
                                          <p:spTgt spid="21"/>
                                        </p:tgtEl>
                                      </p:cBhvr>
                                    </p:animEffect>
                                  </p:childTnLst>
                                </p:cTn>
                              </p:par>
                              <p:par>
                                <p:cTn id="16" presetID="10" presetClass="entr" presetSubtype="0" fill="hold"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2000"/>
                                        <p:tgtEl>
                                          <p:spTgt spid="2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2000"/>
                                        <p:tgtEl>
                                          <p:spTgt spid="2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20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fade">
                                      <p:cBhvr>
                                        <p:cTn id="29" dur="2000"/>
                                        <p:tgtEl>
                                          <p:spTgt spid="37"/>
                                        </p:tgtEl>
                                      </p:cBhvr>
                                    </p:animEffect>
                                  </p:childTnLst>
                                </p:cTn>
                              </p:par>
                              <p:par>
                                <p:cTn id="30" presetID="10" presetClass="entr" presetSubtype="0" fill="hold"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20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2000"/>
                                        <p:tgtEl>
                                          <p:spTgt spid="39"/>
                                        </p:tgtEl>
                                      </p:cBhvr>
                                    </p:animEffect>
                                  </p:childTnLst>
                                </p:cTn>
                              </p:par>
                              <p:par>
                                <p:cTn id="38" presetID="10" presetClass="entr" presetSubtype="0" fill="hold" nodeType="withEffect">
                                  <p:stCondLst>
                                    <p:cond delay="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2000"/>
                                        <p:tgtEl>
                                          <p:spTgt spid="4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2000"/>
                                        <p:tgtEl>
                                          <p:spTgt spid="41"/>
                                        </p:tgtEl>
                                      </p:cBhvr>
                                    </p:animEffect>
                                  </p:childTnLst>
                                </p:cTn>
                              </p:par>
                              <p:par>
                                <p:cTn id="46" presetID="10" presetClass="entr" presetSubtype="0" fill="hold" nodeType="with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fade">
                                      <p:cBhvr>
                                        <p:cTn id="48" dur="20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fade">
                                      <p:cBhvr>
                                        <p:cTn id="53" dur="2000"/>
                                        <p:tgtEl>
                                          <p:spTgt spid="43"/>
                                        </p:tgtEl>
                                      </p:cBhvr>
                                    </p:animEffect>
                                  </p:childTnLst>
                                </p:cTn>
                              </p:par>
                              <p:par>
                                <p:cTn id="54" presetID="10" presetClass="entr" presetSubtype="0" fill="hold" nodeType="with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fade">
                                      <p:cBhvr>
                                        <p:cTn id="56" dur="2000"/>
                                        <p:tgtEl>
                                          <p:spTgt spid="4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fade">
                                      <p:cBhvr>
                                        <p:cTn id="59" dur="2000"/>
                                        <p:tgtEl>
                                          <p:spTgt spid="4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fade">
                                      <p:cBhvr>
                                        <p:cTn id="62" dur="2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6" grpId="0"/>
      <p:bldP spid="37" grpId="0"/>
      <p:bldP spid="39" grpId="0"/>
      <p:bldP spid="41" grpId="0"/>
      <p:bldP spid="45" grpId="0"/>
      <p:bldP spid="46" grpId="0"/>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Boomdiagrammen</a:t>
            </a:r>
            <a:endParaRPr lang="nl-NL" sz="3600" dirty="0"/>
          </a:p>
        </p:txBody>
      </p:sp>
      <p:sp>
        <p:nvSpPr>
          <p:cNvPr id="3" name="Content Placeholder 2"/>
          <p:cNvSpPr>
            <a:spLocks noGrp="1"/>
          </p:cNvSpPr>
          <p:nvPr>
            <p:ph idx="1"/>
          </p:nvPr>
        </p:nvSpPr>
        <p:spPr>
          <a:xfrm>
            <a:off x="457200" y="1600201"/>
            <a:ext cx="8686800" cy="1108720"/>
          </a:xfrm>
        </p:spPr>
        <p:txBody>
          <a:bodyPr>
            <a:noAutofit/>
          </a:bodyPr>
          <a:lstStyle/>
          <a:p>
            <a:r>
              <a:rPr lang="nl-NL" sz="2000" dirty="0" smtClean="0"/>
              <a:t>De onderste bladeren van de boom zijn formules waarin geen enkele      logische constante voorkomt: </a:t>
            </a:r>
            <a:r>
              <a:rPr lang="nl-NL" sz="2000" b="1" dirty="0" err="1" smtClean="0"/>
              <a:t>Rax</a:t>
            </a:r>
            <a:r>
              <a:rPr lang="nl-NL" sz="2000" dirty="0" smtClean="0"/>
              <a:t>,</a:t>
            </a:r>
            <a:r>
              <a:rPr lang="nl-NL" sz="2000" b="1" dirty="0" smtClean="0"/>
              <a:t> </a:t>
            </a:r>
            <a:r>
              <a:rPr lang="nl-NL" sz="2000" b="1" dirty="0" err="1" smtClean="0"/>
              <a:t>Raa</a:t>
            </a:r>
            <a:r>
              <a:rPr lang="nl-NL" sz="2000" dirty="0" smtClean="0"/>
              <a:t>,</a:t>
            </a:r>
            <a:r>
              <a:rPr lang="nl-NL" sz="2000" b="1" dirty="0" smtClean="0"/>
              <a:t> </a:t>
            </a:r>
            <a:r>
              <a:rPr lang="nl-NL" sz="2000" b="1" dirty="0" err="1" smtClean="0"/>
              <a:t>Az</a:t>
            </a:r>
            <a:r>
              <a:rPr lang="nl-NL" sz="2000" dirty="0" smtClean="0"/>
              <a:t>,</a:t>
            </a:r>
            <a:r>
              <a:rPr lang="nl-NL" sz="2000" b="1" dirty="0" smtClean="0"/>
              <a:t> </a:t>
            </a:r>
            <a:r>
              <a:rPr lang="nl-NL" sz="2000" b="1" dirty="0" err="1" smtClean="0"/>
              <a:t>Gazw</a:t>
            </a:r>
            <a:r>
              <a:rPr lang="nl-NL" sz="2000" b="1" dirty="0" smtClean="0"/>
              <a:t> </a:t>
            </a:r>
            <a:r>
              <a:rPr lang="nl-NL" sz="2000" dirty="0" smtClean="0"/>
              <a:t>en</a:t>
            </a:r>
            <a:r>
              <a:rPr lang="nl-NL" sz="2000" b="1" dirty="0" smtClean="0"/>
              <a:t> </a:t>
            </a:r>
            <a:r>
              <a:rPr lang="nl-NL" sz="2000" b="1" dirty="0" err="1" smtClean="0"/>
              <a:t>Hxyz</a:t>
            </a:r>
            <a:r>
              <a:rPr lang="nl-NL" sz="2000" dirty="0" smtClean="0"/>
              <a:t>. Dit zijn                                   de </a:t>
            </a:r>
            <a:r>
              <a:rPr lang="nl-NL" sz="2000" i="1" dirty="0" smtClean="0"/>
              <a:t>atomaire formules</a:t>
            </a:r>
            <a:r>
              <a:rPr lang="nl-NL" sz="2000" dirty="0" smtClean="0"/>
              <a:t>.</a:t>
            </a:r>
            <a:r>
              <a:rPr lang="nl-NL" sz="2000" b="1" dirty="0" smtClean="0"/>
              <a:t> </a:t>
            </a:r>
            <a:r>
              <a:rPr lang="nl-NL" sz="2000" dirty="0" smtClean="0"/>
              <a:t> </a:t>
            </a:r>
          </a:p>
          <a:p>
            <a:endParaRPr lang="nl-NL" sz="2000" dirty="0" smtClean="0"/>
          </a:p>
          <a:p>
            <a:endParaRPr lang="nl-NL" sz="2000" dirty="0" smtClean="0"/>
          </a:p>
        </p:txBody>
      </p:sp>
      <p:sp>
        <p:nvSpPr>
          <p:cNvPr id="6" name="Content Placeholder 2"/>
          <p:cNvSpPr txBox="1">
            <a:spLocks/>
          </p:cNvSpPr>
          <p:nvPr/>
        </p:nvSpPr>
        <p:spPr>
          <a:xfrm>
            <a:off x="457200" y="2752328"/>
            <a:ext cx="8363272" cy="7486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1" u="none" strike="noStrike" kern="1200" cap="none" spc="0" normalizeH="0" baseline="0" noProof="0" dirty="0" smtClean="0">
                <a:ln>
                  <a:noFill/>
                </a:ln>
                <a:solidFill>
                  <a:schemeClr val="tx1"/>
                </a:solidFill>
                <a:effectLst/>
                <a:uLnTx/>
                <a:uFillTx/>
                <a:latin typeface="+mn-lt"/>
                <a:ea typeface="+mn-ea"/>
                <a:cs typeface="+mn-cs"/>
              </a:rPr>
              <a:t>Atomaire formules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zijn dus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opgebouw</a:t>
            </a:r>
            <a:r>
              <a:rPr lang="nl-NL" sz="2000" dirty="0" smtClean="0"/>
              <a:t>d uit een </a:t>
            </a:r>
            <a:r>
              <a:rPr lang="nl-NL" sz="2000" dirty="0" err="1" smtClean="0"/>
              <a:t>predikaatletter</a:t>
            </a:r>
            <a:r>
              <a:rPr lang="nl-NL" sz="2000" dirty="0" smtClean="0"/>
              <a:t> gevolgd   door een of meer individuconstanten en/of individuvariabelen.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Definitie van de formules van de </a:t>
            </a:r>
            <a:r>
              <a:rPr lang="nl-NL" sz="3600" dirty="0" err="1" smtClean="0"/>
              <a:t>predikaatlogica</a:t>
            </a:r>
            <a:endParaRPr lang="nl-NL" sz="3600" dirty="0"/>
          </a:p>
        </p:txBody>
      </p:sp>
      <p:sp>
        <p:nvSpPr>
          <p:cNvPr id="7" name="TextBox 6"/>
          <p:cNvSpPr txBox="1"/>
          <p:nvPr/>
        </p:nvSpPr>
        <p:spPr>
          <a:xfrm>
            <a:off x="144016" y="1556792"/>
            <a:ext cx="8352928" cy="400110"/>
          </a:xfrm>
          <a:prstGeom prst="rect">
            <a:avLst/>
          </a:prstGeom>
          <a:noFill/>
        </p:spPr>
        <p:txBody>
          <a:bodyPr wrap="square" rtlCol="0">
            <a:spAutoFit/>
          </a:bodyPr>
          <a:lstStyle/>
          <a:p>
            <a:r>
              <a:rPr lang="nl-NL" sz="2000" dirty="0" smtClean="0"/>
              <a:t>i. Atomaire formules zijn formules.</a:t>
            </a:r>
          </a:p>
        </p:txBody>
      </p:sp>
      <p:sp>
        <p:nvSpPr>
          <p:cNvPr id="8" name="TextBox 7"/>
          <p:cNvSpPr txBox="1"/>
          <p:nvPr/>
        </p:nvSpPr>
        <p:spPr>
          <a:xfrm>
            <a:off x="144016" y="2204864"/>
            <a:ext cx="8352928" cy="400110"/>
          </a:xfrm>
          <a:prstGeom prst="rect">
            <a:avLst/>
          </a:prstGeom>
          <a:noFill/>
        </p:spPr>
        <p:txBody>
          <a:bodyPr wrap="square" rtlCol="0">
            <a:spAutoFit/>
          </a:bodyPr>
          <a:lstStyle/>
          <a:p>
            <a:r>
              <a:rPr lang="nl-NL" sz="2000" dirty="0" err="1" smtClean="0"/>
              <a:t>ii</a:t>
            </a:r>
            <a:r>
              <a:rPr lang="nl-NL" sz="2000" dirty="0" smtClean="0"/>
              <a:t>. Als </a:t>
            </a:r>
            <a:r>
              <a:rPr lang="el-GR" sz="2000" b="1" i="1" dirty="0" smtClean="0"/>
              <a:t>α </a:t>
            </a:r>
            <a:r>
              <a:rPr lang="nl-NL" sz="2000" dirty="0" smtClean="0"/>
              <a:t>een formule is, dan is ook </a:t>
            </a:r>
            <a:r>
              <a:rPr lang="nl-NL" sz="2000" b="1" dirty="0" smtClean="0"/>
              <a:t>¬</a:t>
            </a:r>
            <a:r>
              <a:rPr lang="el-GR" sz="2000" b="1" i="1" dirty="0" smtClean="0"/>
              <a:t>α</a:t>
            </a:r>
            <a:r>
              <a:rPr lang="nl-NL" sz="2000" b="1" dirty="0" smtClean="0"/>
              <a:t> </a:t>
            </a:r>
            <a:r>
              <a:rPr lang="nl-NL" sz="2000" dirty="0" smtClean="0"/>
              <a:t>een formule.</a:t>
            </a:r>
          </a:p>
        </p:txBody>
      </p:sp>
      <p:sp>
        <p:nvSpPr>
          <p:cNvPr id="9" name="TextBox 8"/>
          <p:cNvSpPr txBox="1"/>
          <p:nvPr/>
        </p:nvSpPr>
        <p:spPr>
          <a:xfrm>
            <a:off x="144016" y="2852936"/>
            <a:ext cx="8820472" cy="400110"/>
          </a:xfrm>
          <a:prstGeom prst="rect">
            <a:avLst/>
          </a:prstGeom>
          <a:noFill/>
        </p:spPr>
        <p:txBody>
          <a:bodyPr wrap="square" rtlCol="0">
            <a:spAutoFit/>
          </a:bodyPr>
          <a:lstStyle/>
          <a:p>
            <a:r>
              <a:rPr lang="nl-NL" sz="2000" dirty="0" err="1" smtClean="0"/>
              <a:t>iii</a:t>
            </a:r>
            <a:r>
              <a:rPr lang="nl-NL" sz="2000" dirty="0" smtClean="0"/>
              <a:t>. Als </a:t>
            </a:r>
            <a:r>
              <a:rPr lang="el-GR" sz="2000" b="1" i="1" dirty="0" smtClean="0"/>
              <a:t>α</a:t>
            </a:r>
            <a:r>
              <a:rPr lang="el-GR" sz="2000" dirty="0" smtClean="0"/>
              <a:t> </a:t>
            </a:r>
            <a:r>
              <a:rPr lang="nl-NL" sz="2000" dirty="0" smtClean="0"/>
              <a:t>en </a:t>
            </a:r>
            <a:r>
              <a:rPr lang="el-GR" sz="2000" b="1" i="1" dirty="0" smtClean="0"/>
              <a:t>β</a:t>
            </a:r>
            <a:r>
              <a:rPr lang="nl-NL" sz="2000" dirty="0" smtClean="0"/>
              <a:t> formules zijn, dan zijn </a:t>
            </a:r>
            <a:r>
              <a:rPr lang="nl-NL" sz="2000" b="1" dirty="0" smtClean="0">
                <a:solidFill>
                  <a:srgbClr val="0070C0"/>
                </a:solidFill>
              </a:rPr>
              <a:t>(</a:t>
            </a:r>
            <a:r>
              <a:rPr lang="el-GR" sz="2000" b="1" i="1" dirty="0" smtClean="0"/>
              <a:t>α</a:t>
            </a:r>
            <a:r>
              <a:rPr lang="nl-NL" sz="2000" b="1" dirty="0" smtClean="0">
                <a:solidFill>
                  <a:srgbClr val="0070C0"/>
                </a:solidFill>
              </a:rPr>
              <a:t> ∧ </a:t>
            </a:r>
            <a:r>
              <a:rPr lang="el-GR" sz="2000" b="1" i="1" dirty="0" smtClean="0"/>
              <a:t>β</a:t>
            </a:r>
            <a:r>
              <a:rPr lang="nl-NL" sz="2000" b="1" dirty="0" smtClean="0">
                <a:solidFill>
                  <a:srgbClr val="0070C0"/>
                </a:solidFill>
              </a:rPr>
              <a:t>)</a:t>
            </a:r>
            <a:r>
              <a:rPr lang="nl-NL" sz="2000" dirty="0" smtClean="0"/>
              <a:t>, </a:t>
            </a:r>
            <a:r>
              <a:rPr lang="nl-NL" sz="2000" b="1" dirty="0" smtClean="0">
                <a:solidFill>
                  <a:srgbClr val="0070C0"/>
                </a:solidFill>
              </a:rPr>
              <a:t>(</a:t>
            </a:r>
            <a:r>
              <a:rPr lang="el-GR" sz="2000" b="1" i="1" dirty="0" smtClean="0"/>
              <a:t>α</a:t>
            </a:r>
            <a:r>
              <a:rPr lang="nl-NL" sz="2000" b="1" dirty="0" smtClean="0">
                <a:solidFill>
                  <a:srgbClr val="0070C0"/>
                </a:solidFill>
              </a:rPr>
              <a:t> ∨ </a:t>
            </a:r>
            <a:r>
              <a:rPr lang="el-GR" sz="2000" b="1" i="1" dirty="0" smtClean="0"/>
              <a:t>β</a:t>
            </a:r>
            <a:r>
              <a:rPr lang="nl-NL" sz="2000" b="1" dirty="0" smtClean="0">
                <a:solidFill>
                  <a:srgbClr val="0070C0"/>
                </a:solidFill>
              </a:rPr>
              <a:t>)</a:t>
            </a:r>
            <a:r>
              <a:rPr lang="nl-NL" sz="2000" dirty="0" smtClean="0"/>
              <a:t>, </a:t>
            </a:r>
            <a:r>
              <a:rPr lang="nl-NL" sz="2000" b="1" dirty="0" smtClean="0">
                <a:solidFill>
                  <a:srgbClr val="0070C0"/>
                </a:solidFill>
              </a:rPr>
              <a:t>(</a:t>
            </a:r>
            <a:r>
              <a:rPr lang="el-GR" sz="2000" b="1" i="1" dirty="0" smtClean="0"/>
              <a:t>α </a:t>
            </a:r>
            <a:r>
              <a:rPr lang="nl-NL" sz="2000" b="1" dirty="0" smtClean="0">
                <a:solidFill>
                  <a:srgbClr val="0070C0"/>
                </a:solidFill>
              </a:rPr>
              <a:t>→ </a:t>
            </a:r>
            <a:r>
              <a:rPr lang="el-GR" sz="2000" b="1" i="1" dirty="0" smtClean="0"/>
              <a:t>β</a:t>
            </a:r>
            <a:r>
              <a:rPr lang="nl-NL" sz="2000" b="1" dirty="0" smtClean="0">
                <a:solidFill>
                  <a:srgbClr val="0070C0"/>
                </a:solidFill>
              </a:rPr>
              <a:t>)</a:t>
            </a:r>
            <a:r>
              <a:rPr lang="nl-NL" sz="2000" b="1" i="1" dirty="0" smtClean="0"/>
              <a:t>, </a:t>
            </a:r>
            <a:r>
              <a:rPr lang="nl-NL" sz="2000" b="1" dirty="0" smtClean="0">
                <a:solidFill>
                  <a:srgbClr val="0070C0"/>
                </a:solidFill>
              </a:rPr>
              <a:t>(</a:t>
            </a:r>
            <a:r>
              <a:rPr lang="el-GR" sz="2000" b="1" i="1" dirty="0" smtClean="0"/>
              <a:t>α</a:t>
            </a:r>
            <a:r>
              <a:rPr lang="nl-NL" sz="2000" b="1" dirty="0" smtClean="0">
                <a:solidFill>
                  <a:srgbClr val="0070C0"/>
                </a:solidFill>
              </a:rPr>
              <a:t> ↔</a:t>
            </a:r>
            <a:r>
              <a:rPr lang="el-GR" sz="2000" b="1" i="1" dirty="0" smtClean="0"/>
              <a:t> β</a:t>
            </a:r>
            <a:r>
              <a:rPr lang="nl-NL" sz="2000" b="1" dirty="0" smtClean="0">
                <a:solidFill>
                  <a:srgbClr val="0070C0"/>
                </a:solidFill>
              </a:rPr>
              <a:t>) </a:t>
            </a:r>
            <a:r>
              <a:rPr lang="nl-NL" sz="2000" dirty="0" smtClean="0"/>
              <a:t>ook formules</a:t>
            </a:r>
          </a:p>
        </p:txBody>
      </p:sp>
      <p:sp>
        <p:nvSpPr>
          <p:cNvPr id="12" name="TextBox 11"/>
          <p:cNvSpPr txBox="1"/>
          <p:nvPr/>
        </p:nvSpPr>
        <p:spPr>
          <a:xfrm>
            <a:off x="179512" y="3553272"/>
            <a:ext cx="8820472" cy="707886"/>
          </a:xfrm>
          <a:prstGeom prst="rect">
            <a:avLst/>
          </a:prstGeom>
          <a:noFill/>
        </p:spPr>
        <p:txBody>
          <a:bodyPr wrap="square" rtlCol="0">
            <a:spAutoFit/>
          </a:bodyPr>
          <a:lstStyle/>
          <a:p>
            <a:r>
              <a:rPr lang="nl-NL" sz="2000" dirty="0" err="1" smtClean="0"/>
              <a:t>iv</a:t>
            </a:r>
            <a:r>
              <a:rPr lang="nl-NL" sz="2000" dirty="0" smtClean="0"/>
              <a:t>. Als </a:t>
            </a:r>
            <a:r>
              <a:rPr lang="el-GR" sz="2000" b="1" i="1" dirty="0" smtClean="0"/>
              <a:t>α</a:t>
            </a:r>
            <a:r>
              <a:rPr lang="nl-NL" sz="2000" b="1" dirty="0" smtClean="0"/>
              <a:t>[x]</a:t>
            </a:r>
            <a:r>
              <a:rPr lang="el-GR" sz="2000" dirty="0" smtClean="0"/>
              <a:t> </a:t>
            </a:r>
            <a:r>
              <a:rPr lang="nl-NL" sz="2000" dirty="0" smtClean="0"/>
              <a:t>een formule is en de individu</a:t>
            </a:r>
            <a:r>
              <a:rPr lang="nl-NL" sz="2000" i="1" dirty="0" smtClean="0"/>
              <a:t>variabele</a:t>
            </a:r>
            <a:r>
              <a:rPr lang="nl-NL" sz="2000" dirty="0" smtClean="0"/>
              <a:t> </a:t>
            </a:r>
            <a:r>
              <a:rPr lang="nl-NL" sz="2000" b="1" dirty="0" smtClean="0"/>
              <a:t>x</a:t>
            </a:r>
            <a:r>
              <a:rPr lang="nl-NL" sz="2000" dirty="0" smtClean="0"/>
              <a:t> </a:t>
            </a:r>
            <a:r>
              <a:rPr lang="nl-NL" sz="2000" i="1" dirty="0" smtClean="0"/>
              <a:t>is vrij in</a:t>
            </a:r>
            <a:r>
              <a:rPr lang="nl-NL" sz="2000" dirty="0" smtClean="0"/>
              <a:t> </a:t>
            </a:r>
            <a:r>
              <a:rPr lang="el-GR" sz="2000" b="1" i="1" dirty="0" smtClean="0"/>
              <a:t>α</a:t>
            </a:r>
            <a:r>
              <a:rPr lang="nl-NL" sz="2000" b="1" dirty="0" smtClean="0"/>
              <a:t>[x]</a:t>
            </a:r>
            <a:r>
              <a:rPr lang="nl-NL" sz="2000" dirty="0" smtClean="0"/>
              <a:t>, dan zijn </a:t>
            </a:r>
            <a:r>
              <a:rPr lang="nl-NL" sz="2000" b="1" dirty="0" smtClean="0"/>
              <a:t>∀x </a:t>
            </a:r>
            <a:r>
              <a:rPr lang="el-GR" sz="2000" b="1" i="1" dirty="0" smtClean="0"/>
              <a:t>α</a:t>
            </a:r>
            <a:r>
              <a:rPr lang="nl-NL" sz="2000" b="1" dirty="0" smtClean="0"/>
              <a:t>[x]  </a:t>
            </a:r>
            <a:br>
              <a:rPr lang="nl-NL" sz="2000" b="1" dirty="0" smtClean="0"/>
            </a:br>
            <a:r>
              <a:rPr lang="nl-NL" sz="2000" b="1" dirty="0" smtClean="0"/>
              <a:t>    </a:t>
            </a:r>
            <a:r>
              <a:rPr lang="nl-NL" sz="2000" dirty="0" smtClean="0"/>
              <a:t>en </a:t>
            </a:r>
            <a:r>
              <a:rPr lang="nl-NL" sz="2000" b="1" dirty="0" smtClean="0"/>
              <a:t>∃x </a:t>
            </a:r>
            <a:r>
              <a:rPr lang="el-GR" sz="2000" b="1" i="1" dirty="0" smtClean="0"/>
              <a:t>α</a:t>
            </a:r>
            <a:r>
              <a:rPr lang="nl-NL" sz="2000" b="1" dirty="0" smtClean="0"/>
              <a:t>[x] </a:t>
            </a:r>
            <a:r>
              <a:rPr lang="nl-NL" sz="2000" dirty="0" smtClean="0"/>
              <a:t>ook formules</a:t>
            </a:r>
            <a:r>
              <a:rPr lang="nl-NL" sz="2000" b="1" dirty="0" smtClean="0"/>
              <a:t> </a:t>
            </a:r>
            <a:r>
              <a:rPr lang="nl-NL" sz="2000" dirty="0" smtClean="0"/>
              <a:t>  </a:t>
            </a:r>
          </a:p>
        </p:txBody>
      </p:sp>
      <p:sp>
        <p:nvSpPr>
          <p:cNvPr id="13" name="TextBox 12"/>
          <p:cNvSpPr txBox="1"/>
          <p:nvPr/>
        </p:nvSpPr>
        <p:spPr>
          <a:xfrm>
            <a:off x="144016" y="4469631"/>
            <a:ext cx="8820472" cy="1015663"/>
          </a:xfrm>
          <a:prstGeom prst="rect">
            <a:avLst/>
          </a:prstGeom>
          <a:noFill/>
        </p:spPr>
        <p:txBody>
          <a:bodyPr wrap="square" rtlCol="0">
            <a:spAutoFit/>
          </a:bodyPr>
          <a:lstStyle/>
          <a:p>
            <a:r>
              <a:rPr lang="nl-NL" sz="2000" dirty="0" smtClean="0"/>
              <a:t>v.  </a:t>
            </a:r>
            <a:r>
              <a:rPr lang="nl-NL" sz="2000" dirty="0" err="1" smtClean="0"/>
              <a:t>Alléén</a:t>
            </a:r>
            <a:r>
              <a:rPr lang="nl-NL" sz="2000" dirty="0" smtClean="0"/>
              <a:t> die eindige rijtjes van tekens die verkregen kunnen worden door </a:t>
            </a:r>
            <a:br>
              <a:rPr lang="nl-NL" sz="2000" dirty="0" smtClean="0"/>
            </a:br>
            <a:r>
              <a:rPr lang="nl-NL" sz="2000" dirty="0" smtClean="0"/>
              <a:t>    (herhaalde) toepassing van (i), (</a:t>
            </a:r>
            <a:r>
              <a:rPr lang="nl-NL" sz="2000" dirty="0" err="1" smtClean="0"/>
              <a:t>ii</a:t>
            </a:r>
            <a:r>
              <a:rPr lang="nl-NL" sz="2000" dirty="0" smtClean="0"/>
              <a:t>), (</a:t>
            </a:r>
            <a:r>
              <a:rPr lang="nl-NL" sz="2000" dirty="0" err="1" smtClean="0"/>
              <a:t>iii</a:t>
            </a:r>
            <a:r>
              <a:rPr lang="nl-NL" sz="2000" dirty="0" smtClean="0"/>
              <a:t>) en (</a:t>
            </a:r>
            <a:r>
              <a:rPr lang="nl-NL" sz="2000" dirty="0" err="1" smtClean="0"/>
              <a:t>iv</a:t>
            </a:r>
            <a:r>
              <a:rPr lang="nl-NL" sz="2000" dirty="0" smtClean="0"/>
              <a:t>), zijn formules van de taal                             </a:t>
            </a:r>
            <a:br>
              <a:rPr lang="nl-NL" sz="2000" dirty="0" smtClean="0"/>
            </a:br>
            <a:r>
              <a:rPr lang="nl-NL" sz="2000" dirty="0" smtClean="0"/>
              <a:t>    van de </a:t>
            </a:r>
            <a:r>
              <a:rPr lang="nl-NL" sz="2000" dirty="0" err="1" smtClean="0"/>
              <a:t>predikaatlogica</a:t>
            </a:r>
            <a:endParaRPr lang="nl-NL" sz="2000" dirty="0" smtClean="0"/>
          </a:p>
        </p:txBody>
      </p:sp>
      <p:sp>
        <p:nvSpPr>
          <p:cNvPr id="14" name="TextBox 13"/>
          <p:cNvSpPr txBox="1"/>
          <p:nvPr/>
        </p:nvSpPr>
        <p:spPr>
          <a:xfrm>
            <a:off x="179512" y="5807005"/>
            <a:ext cx="8964488" cy="646331"/>
          </a:xfrm>
          <a:prstGeom prst="rect">
            <a:avLst/>
          </a:prstGeom>
          <a:noFill/>
        </p:spPr>
        <p:txBody>
          <a:bodyPr wrap="square" rtlCol="0">
            <a:spAutoFit/>
          </a:bodyPr>
          <a:lstStyle/>
          <a:p>
            <a:r>
              <a:rPr lang="nl-NL" dirty="0" smtClean="0">
                <a:solidFill>
                  <a:srgbClr val="0070C0"/>
                </a:solidFill>
              </a:rPr>
              <a:t>Merk op: de notatie </a:t>
            </a:r>
            <a:r>
              <a:rPr lang="el-GR" b="1" dirty="0" smtClean="0">
                <a:solidFill>
                  <a:srgbClr val="0070C0"/>
                </a:solidFill>
              </a:rPr>
              <a:t>α</a:t>
            </a:r>
            <a:r>
              <a:rPr lang="nl-NL" b="1" dirty="0" smtClean="0">
                <a:solidFill>
                  <a:srgbClr val="0070C0"/>
                </a:solidFill>
              </a:rPr>
              <a:t>[x] </a:t>
            </a:r>
            <a:r>
              <a:rPr lang="nl-NL" dirty="0" smtClean="0">
                <a:solidFill>
                  <a:srgbClr val="0070C0"/>
                </a:solidFill>
              </a:rPr>
              <a:t>mag </a:t>
            </a:r>
            <a:r>
              <a:rPr lang="nl-NL" i="1" dirty="0" err="1" smtClean="0">
                <a:solidFill>
                  <a:srgbClr val="0070C0"/>
                </a:solidFill>
              </a:rPr>
              <a:t>alléén</a:t>
            </a:r>
            <a:r>
              <a:rPr lang="nl-NL" dirty="0" smtClean="0">
                <a:solidFill>
                  <a:srgbClr val="0070C0"/>
                </a:solidFill>
              </a:rPr>
              <a:t> gebruikt worden om in algemene zin een formule mee aan te duiden waarin de individuvariabele </a:t>
            </a:r>
            <a:r>
              <a:rPr lang="nl-NL" b="1" dirty="0" smtClean="0">
                <a:solidFill>
                  <a:srgbClr val="0070C0"/>
                </a:solidFill>
              </a:rPr>
              <a:t>x</a:t>
            </a:r>
            <a:r>
              <a:rPr lang="nl-NL" dirty="0" smtClean="0">
                <a:solidFill>
                  <a:srgbClr val="0070C0"/>
                </a:solidFill>
              </a:rPr>
              <a:t> ook echt voorkomt (dus e.g. </a:t>
            </a:r>
            <a:r>
              <a:rPr lang="nl-NL" i="1" dirty="0" smtClean="0">
                <a:solidFill>
                  <a:srgbClr val="0070C0"/>
                </a:solidFill>
              </a:rPr>
              <a:t>wel</a:t>
            </a:r>
            <a:r>
              <a:rPr lang="nl-NL" dirty="0" smtClean="0">
                <a:solidFill>
                  <a:srgbClr val="0070C0"/>
                </a:solidFill>
              </a:rPr>
              <a:t> </a:t>
            </a:r>
            <a:r>
              <a:rPr lang="nl-NL" b="1" dirty="0" err="1" smtClean="0">
                <a:solidFill>
                  <a:srgbClr val="0070C0"/>
                </a:solidFill>
              </a:rPr>
              <a:t>Fxa</a:t>
            </a:r>
            <a:r>
              <a:rPr lang="nl-NL" dirty="0" smtClean="0">
                <a:solidFill>
                  <a:srgbClr val="0070C0"/>
                </a:solidFill>
              </a:rPr>
              <a:t> en </a:t>
            </a:r>
            <a:r>
              <a:rPr lang="nl-NL" i="1" dirty="0" smtClean="0">
                <a:solidFill>
                  <a:srgbClr val="0070C0"/>
                </a:solidFill>
              </a:rPr>
              <a:t>niet</a:t>
            </a:r>
            <a:r>
              <a:rPr lang="nl-NL" dirty="0" smtClean="0">
                <a:solidFill>
                  <a:srgbClr val="0070C0"/>
                </a:solidFill>
              </a:rPr>
              <a:t> </a:t>
            </a:r>
            <a:r>
              <a:rPr lang="nl-NL" b="1" dirty="0" err="1" smtClean="0">
                <a:solidFill>
                  <a:srgbClr val="0070C0"/>
                </a:solidFill>
              </a:rPr>
              <a:t>Ayz</a:t>
            </a:r>
            <a:r>
              <a:rPr lang="nl-NL" dirty="0" smtClean="0">
                <a:solidFill>
                  <a:srgbClr val="0070C0"/>
                </a:solidFill>
              </a:rPr>
              <a:t>)</a:t>
            </a:r>
            <a:endParaRPr lang="nl-NL"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20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20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2000"/>
                                        <p:tgtEl>
                                          <p:spTgt spid="1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fade">
                                      <p:cBhvr>
                                        <p:cTn id="32"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P spid="9" grpId="0" build="allAtOnce"/>
      <p:bldP spid="12" grpId="0" build="allAtOnce"/>
      <p:bldP spid="13" grpId="0" build="allAtOnce"/>
      <p:bldP spid="14" grpId="0" build="allAtOnce"/>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a:t>
            </a:r>
            <a:r>
              <a:rPr lang="nl-NL" b="1" dirty="0" smtClean="0">
                <a:solidFill>
                  <a:srgbClr val="0070C0"/>
                </a:solidFill>
              </a:rPr>
              <a:t> </a:t>
            </a:r>
            <a:endParaRPr lang="nl-NL" dirty="0" smtClean="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solidFill>
                  <a:srgbClr val="FF0000"/>
                </a:solidFill>
              </a:rPr>
              <a:t>∀x</a:t>
            </a:r>
            <a:r>
              <a:rPr lang="nl-NL" b="1" dirty="0" smtClean="0"/>
              <a:t> (</a:t>
            </a:r>
            <a:r>
              <a:rPr lang="nl-NL" b="1" dirty="0" err="1" smtClean="0"/>
              <a:t>Kx</a:t>
            </a:r>
            <a:r>
              <a:rPr lang="nl-NL" b="1" dirty="0" smtClean="0"/>
              <a:t> → ∃y </a:t>
            </a:r>
            <a:r>
              <a:rPr lang="nl-NL" b="1" dirty="0" err="1" smtClean="0"/>
              <a:t>Mxy</a:t>
            </a:r>
            <a:r>
              <a:rPr lang="nl-NL" b="1" dirty="0" smtClean="0"/>
              <a:t>)</a:t>
            </a:r>
            <a:r>
              <a:rPr lang="nl-NL" b="1" dirty="0" smtClean="0">
                <a:solidFill>
                  <a:srgbClr val="0070C0"/>
                </a:solidFill>
              </a:rPr>
              <a:t> </a:t>
            </a:r>
            <a:endParaRPr lang="nl-NL" dirty="0" smtClean="0">
              <a:solidFill>
                <a:srgbClr val="0070C0"/>
              </a:solidFill>
            </a:endParaRPr>
          </a:p>
        </p:txBody>
      </p:sp>
    </p:spTree>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smtClean="0">
                <a:solidFill>
                  <a:srgbClr val="FF0000"/>
                </a:solidFill>
              </a:rPr>
              <a:t>(</a:t>
            </a:r>
            <a:r>
              <a:rPr lang="nl-NL" b="1" dirty="0" err="1" smtClean="0">
                <a:solidFill>
                  <a:srgbClr val="FF0000"/>
                </a:solidFill>
              </a:rPr>
              <a:t>Kx</a:t>
            </a:r>
            <a:r>
              <a:rPr lang="nl-NL" b="1" dirty="0" smtClean="0">
                <a:solidFill>
                  <a:srgbClr val="FF0000"/>
                </a:solidFill>
              </a:rPr>
              <a:t> → ∃y </a:t>
            </a:r>
            <a:r>
              <a:rPr lang="nl-NL" b="1" dirty="0" err="1" smtClean="0">
                <a:solidFill>
                  <a:srgbClr val="FF0000"/>
                </a:solidFill>
              </a:rPr>
              <a:t>Mxy</a:t>
            </a:r>
            <a:r>
              <a:rPr lang="nl-NL" b="1" dirty="0" smtClean="0">
                <a:solidFill>
                  <a:srgbClr val="FF0000"/>
                </a:solidFill>
              </a:rPr>
              <a:t>)</a:t>
            </a:r>
            <a:r>
              <a:rPr lang="nl-NL" b="1" dirty="0" smtClean="0">
                <a:solidFill>
                  <a:srgbClr val="0070C0"/>
                </a:solidFill>
              </a:rPr>
              <a:t> </a:t>
            </a:r>
            <a:endParaRPr lang="nl-NL" dirty="0" smtClean="0">
              <a:solidFill>
                <a:srgbClr val="0070C0"/>
              </a:solidFill>
            </a:endParaRPr>
          </a:p>
        </p:txBody>
      </p:sp>
    </p:spTree>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a:t>
            </a:r>
            <a:r>
              <a:rPr lang="nl-NL" b="1" dirty="0" smtClean="0">
                <a:solidFill>
                  <a:srgbClr val="FF0000"/>
                </a:solidFill>
              </a:rPr>
              <a:t>∃y</a:t>
            </a:r>
            <a:r>
              <a:rPr lang="nl-NL" b="1" dirty="0" smtClean="0"/>
              <a:t> </a:t>
            </a:r>
            <a:r>
              <a:rPr lang="nl-NL" b="1" dirty="0" err="1" smtClean="0"/>
              <a:t>Mxy</a:t>
            </a:r>
            <a:r>
              <a:rPr lang="nl-NL" b="1" dirty="0" smtClean="0"/>
              <a:t>)</a:t>
            </a:r>
            <a:r>
              <a:rPr lang="nl-NL" b="1" dirty="0" smtClean="0">
                <a:solidFill>
                  <a:srgbClr val="002060"/>
                </a:solidFill>
              </a:rPr>
              <a:t> </a:t>
            </a:r>
            <a:endParaRPr lang="nl-NL" dirty="0" smtClean="0">
              <a:solidFill>
                <a:srgbClr val="002060"/>
              </a:solidFill>
            </a:endParaRPr>
          </a:p>
        </p:txBody>
      </p:sp>
    </p:spTree>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solidFill>
                  <a:srgbClr val="FF0000"/>
                </a:solidFill>
              </a:rPr>
              <a:t>Mxy</a:t>
            </a:r>
            <a:r>
              <a:rPr lang="nl-NL" b="1" dirty="0" smtClean="0"/>
              <a:t>)</a:t>
            </a:r>
            <a:r>
              <a:rPr lang="nl-NL" b="1" dirty="0" smtClean="0">
                <a:solidFill>
                  <a:srgbClr val="002060"/>
                </a:solidFill>
              </a:rPr>
              <a:t> </a:t>
            </a:r>
            <a:endParaRPr lang="nl-NL" dirty="0" smtClean="0">
              <a:solidFill>
                <a:srgbClr val="002060"/>
              </a:solidFill>
            </a:endParaRPr>
          </a:p>
        </p:txBody>
      </p:sp>
    </p:spTree>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 </a:t>
            </a:r>
            <a:endParaRPr lang="nl-NL" dirty="0" smtClean="0"/>
          </a:p>
        </p:txBody>
      </p:sp>
      <p:sp>
        <p:nvSpPr>
          <p:cNvPr id="5" name="TextBox 4"/>
          <p:cNvSpPr txBox="1"/>
          <p:nvPr/>
        </p:nvSpPr>
        <p:spPr>
          <a:xfrm>
            <a:off x="899592" y="3419708"/>
            <a:ext cx="2016224" cy="369332"/>
          </a:xfrm>
          <a:prstGeom prst="rect">
            <a:avLst/>
          </a:prstGeom>
          <a:noFill/>
        </p:spPr>
        <p:txBody>
          <a:bodyPr wrap="square" rtlCol="0">
            <a:spAutoFit/>
          </a:bodyPr>
          <a:lstStyle/>
          <a:p>
            <a:r>
              <a:rPr lang="nl-NL" b="1" dirty="0" err="1" smtClean="0"/>
              <a:t>Ax</a:t>
            </a:r>
            <a:r>
              <a:rPr lang="nl-NL" b="1" dirty="0" smtClean="0"/>
              <a:t> → ∃x </a:t>
            </a:r>
            <a:r>
              <a:rPr lang="nl-NL" b="1" dirty="0" err="1" smtClean="0"/>
              <a:t>Rax</a:t>
            </a:r>
            <a:endParaRPr lang="nl-NL" dirty="0" smtClean="0">
              <a:solidFill>
                <a:srgbClr val="002060"/>
              </a:solidFill>
            </a:endParaRPr>
          </a:p>
        </p:txBody>
      </p:sp>
    </p:spTree>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 </a:t>
            </a:r>
            <a:endParaRPr lang="nl-NL" dirty="0" smtClean="0"/>
          </a:p>
        </p:txBody>
      </p:sp>
      <p:sp>
        <p:nvSpPr>
          <p:cNvPr id="5" name="TextBox 4"/>
          <p:cNvSpPr txBox="1"/>
          <p:nvPr/>
        </p:nvSpPr>
        <p:spPr>
          <a:xfrm>
            <a:off x="899592" y="3419708"/>
            <a:ext cx="2016224" cy="369332"/>
          </a:xfrm>
          <a:prstGeom prst="rect">
            <a:avLst/>
          </a:prstGeom>
          <a:noFill/>
        </p:spPr>
        <p:txBody>
          <a:bodyPr wrap="square" rtlCol="0">
            <a:spAutoFit/>
          </a:bodyPr>
          <a:lstStyle/>
          <a:p>
            <a:r>
              <a:rPr lang="nl-NL" b="1" dirty="0" err="1" smtClean="0"/>
              <a:t>Ax</a:t>
            </a:r>
            <a:r>
              <a:rPr lang="nl-NL" b="1" dirty="0" smtClean="0"/>
              <a:t> → </a:t>
            </a:r>
            <a:r>
              <a:rPr lang="nl-NL" b="1" dirty="0" smtClean="0">
                <a:solidFill>
                  <a:srgbClr val="FF0000"/>
                </a:solidFill>
              </a:rPr>
              <a:t>∃x</a:t>
            </a:r>
            <a:r>
              <a:rPr lang="nl-NL" b="1" dirty="0" smtClean="0"/>
              <a:t> </a:t>
            </a:r>
            <a:r>
              <a:rPr lang="nl-NL" b="1" dirty="0" err="1" smtClean="0"/>
              <a:t>Rax</a:t>
            </a:r>
            <a:endParaRPr lang="nl-NL" dirty="0" smtClean="0">
              <a:solidFill>
                <a:srgbClr val="002060"/>
              </a:solidFill>
            </a:endParaRPr>
          </a:p>
        </p:txBody>
      </p:sp>
    </p:spTree>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0" name="TextBox 9"/>
          <p:cNvSpPr txBox="1"/>
          <p:nvPr/>
        </p:nvSpPr>
        <p:spPr>
          <a:xfrm>
            <a:off x="1259632" y="1772816"/>
            <a:ext cx="7056784" cy="707886"/>
          </a:xfrm>
          <a:prstGeom prst="rect">
            <a:avLst/>
          </a:prstGeom>
          <a:noFill/>
        </p:spPr>
        <p:txBody>
          <a:bodyPr wrap="square" rtlCol="0">
            <a:spAutoFit/>
          </a:bodyPr>
          <a:lstStyle/>
          <a:p>
            <a:r>
              <a:rPr lang="nl-NL" sz="2000" dirty="0" smtClean="0"/>
              <a:t>Om deze vraag te kunnen beantwoorden moeten we eerst                             weten wat bedoeld wordt met </a:t>
            </a:r>
            <a:r>
              <a:rPr lang="nl-NL" sz="2000" i="1" dirty="0" smtClean="0"/>
              <a:t>het bereik van een </a:t>
            </a:r>
            <a:r>
              <a:rPr lang="nl-NL" sz="2000" i="1" dirty="0" err="1" smtClean="0"/>
              <a:t>kwantor</a:t>
            </a:r>
            <a:endParaRPr lang="nl-NL" sz="2000" dirty="0"/>
          </a:p>
        </p:txBody>
      </p:sp>
      <p:sp>
        <p:nvSpPr>
          <p:cNvPr id="11" name="TextBox 10"/>
          <p:cNvSpPr txBox="1"/>
          <p:nvPr/>
        </p:nvSpPr>
        <p:spPr>
          <a:xfrm>
            <a:off x="899592" y="2915652"/>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 </a:t>
            </a:r>
            <a:endParaRPr lang="nl-NL" dirty="0" smtClean="0"/>
          </a:p>
        </p:txBody>
      </p:sp>
      <p:sp>
        <p:nvSpPr>
          <p:cNvPr id="5" name="TextBox 4"/>
          <p:cNvSpPr txBox="1"/>
          <p:nvPr/>
        </p:nvSpPr>
        <p:spPr>
          <a:xfrm>
            <a:off x="899592" y="3419708"/>
            <a:ext cx="2016224" cy="369332"/>
          </a:xfrm>
          <a:prstGeom prst="rect">
            <a:avLst/>
          </a:prstGeom>
          <a:noFill/>
        </p:spPr>
        <p:txBody>
          <a:bodyPr wrap="square" rtlCol="0">
            <a:spAutoFit/>
          </a:bodyPr>
          <a:lstStyle/>
          <a:p>
            <a:r>
              <a:rPr lang="nl-NL" b="1" dirty="0" err="1" smtClean="0"/>
              <a:t>Ax</a:t>
            </a:r>
            <a:r>
              <a:rPr lang="nl-NL" b="1" dirty="0" smtClean="0"/>
              <a:t> → ∃x </a:t>
            </a:r>
            <a:r>
              <a:rPr lang="nl-NL" b="1" dirty="0" err="1" smtClean="0">
                <a:solidFill>
                  <a:srgbClr val="FF0000"/>
                </a:solidFill>
              </a:rPr>
              <a:t>Rax</a:t>
            </a:r>
            <a:endParaRPr lang="nl-NL" dirty="0" smtClean="0">
              <a:solidFill>
                <a:srgbClr val="FF0000"/>
              </a:solidFill>
            </a:endParaRPr>
          </a:p>
        </p:txBody>
      </p:sp>
      <p:sp>
        <p:nvSpPr>
          <p:cNvPr id="6" name="TextBox 5"/>
          <p:cNvSpPr txBox="1"/>
          <p:nvPr/>
        </p:nvSpPr>
        <p:spPr>
          <a:xfrm>
            <a:off x="1259632" y="4089266"/>
            <a:ext cx="7056784" cy="1015663"/>
          </a:xfrm>
          <a:prstGeom prst="rect">
            <a:avLst/>
          </a:prstGeom>
          <a:noFill/>
        </p:spPr>
        <p:txBody>
          <a:bodyPr wrap="square" rtlCol="0">
            <a:spAutoFit/>
          </a:bodyPr>
          <a:lstStyle/>
          <a:p>
            <a:r>
              <a:rPr lang="nl-NL" sz="2000" i="1" dirty="0" smtClean="0"/>
              <a:t>Het optreden van</a:t>
            </a:r>
            <a:r>
              <a:rPr lang="nl-NL" sz="2000" dirty="0" smtClean="0"/>
              <a:t> een individuvariabele </a:t>
            </a:r>
            <a:r>
              <a:rPr lang="nl-NL" sz="2000" b="1" dirty="0" smtClean="0"/>
              <a:t>x</a:t>
            </a:r>
            <a:r>
              <a:rPr lang="nl-NL" sz="2000" dirty="0" smtClean="0"/>
              <a:t> in een formule </a:t>
            </a:r>
            <a:r>
              <a:rPr lang="el-GR" sz="2000" b="1" i="1" dirty="0" smtClean="0"/>
              <a:t>α</a:t>
            </a:r>
            <a:r>
              <a:rPr lang="nl-NL" sz="2000" b="1" dirty="0" smtClean="0"/>
              <a:t>[x]                  </a:t>
            </a:r>
            <a:r>
              <a:rPr lang="nl-NL" sz="2000" dirty="0" smtClean="0"/>
              <a:t>is</a:t>
            </a:r>
            <a:r>
              <a:rPr lang="nl-NL" sz="2000" b="1" dirty="0" smtClean="0"/>
              <a:t> </a:t>
            </a:r>
            <a:r>
              <a:rPr lang="nl-NL" sz="2000" dirty="0" smtClean="0"/>
              <a:t>vrij wanneer </a:t>
            </a:r>
            <a:r>
              <a:rPr lang="nl-NL" sz="2000" i="1" dirty="0" smtClean="0"/>
              <a:t>dat optreden </a:t>
            </a:r>
            <a:r>
              <a:rPr lang="nl-NL" sz="2000" dirty="0" smtClean="0"/>
              <a:t>niet binnen het bereik van een  </a:t>
            </a:r>
            <a:r>
              <a:rPr lang="nl-NL" sz="2000" dirty="0" err="1" smtClean="0"/>
              <a:t>kwantor</a:t>
            </a:r>
            <a:r>
              <a:rPr lang="nl-NL" sz="2000" dirty="0" smtClean="0"/>
              <a:t> </a:t>
            </a:r>
            <a:r>
              <a:rPr lang="nl-NL" sz="2000" b="1" dirty="0" smtClean="0"/>
              <a:t>∀x </a:t>
            </a:r>
            <a:r>
              <a:rPr lang="nl-NL" sz="2000" dirty="0" smtClean="0"/>
              <a:t>of </a:t>
            </a:r>
            <a:r>
              <a:rPr lang="nl-NL" sz="2000" b="1" dirty="0" smtClean="0"/>
              <a:t>∃x </a:t>
            </a:r>
            <a:r>
              <a:rPr lang="nl-NL" sz="2000" dirty="0" smtClean="0"/>
              <a:t>valt. </a:t>
            </a:r>
            <a:endParaRPr lang="nl-NL" sz="2000" dirty="0"/>
          </a:p>
        </p:txBody>
      </p:sp>
      <p:sp>
        <p:nvSpPr>
          <p:cNvPr id="7" name="TextBox 6"/>
          <p:cNvSpPr txBox="1"/>
          <p:nvPr/>
        </p:nvSpPr>
        <p:spPr>
          <a:xfrm>
            <a:off x="1259632" y="5293657"/>
            <a:ext cx="7056784" cy="707886"/>
          </a:xfrm>
          <a:prstGeom prst="rect">
            <a:avLst/>
          </a:prstGeom>
          <a:noFill/>
        </p:spPr>
        <p:txBody>
          <a:bodyPr wrap="square" rtlCol="0">
            <a:spAutoFit/>
          </a:bodyPr>
          <a:lstStyle/>
          <a:p>
            <a:r>
              <a:rPr lang="nl-NL" sz="2000" dirty="0" smtClean="0"/>
              <a:t>Een individuvariabele </a:t>
            </a:r>
            <a:r>
              <a:rPr lang="nl-NL" sz="2000" b="1" dirty="0" smtClean="0"/>
              <a:t>x</a:t>
            </a:r>
            <a:r>
              <a:rPr lang="nl-NL" sz="2000" dirty="0" smtClean="0"/>
              <a:t> in een formule </a:t>
            </a:r>
            <a:r>
              <a:rPr lang="el-GR" sz="2000" b="1" i="1" dirty="0" smtClean="0"/>
              <a:t>α</a:t>
            </a:r>
            <a:r>
              <a:rPr lang="nl-NL" sz="2000" b="1" dirty="0" smtClean="0"/>
              <a:t>[x]</a:t>
            </a:r>
            <a:r>
              <a:rPr lang="nl-NL" sz="2000" dirty="0" smtClean="0"/>
              <a:t> is vrij wanneer </a:t>
            </a:r>
            <a:r>
              <a:rPr lang="nl-NL" sz="2000" i="1" dirty="0" smtClean="0"/>
              <a:t>elk optreden van</a:t>
            </a:r>
            <a:r>
              <a:rPr lang="nl-NL" sz="2000" dirty="0" smtClean="0"/>
              <a:t> </a:t>
            </a:r>
            <a:r>
              <a:rPr lang="nl-NL" sz="2000" b="1" dirty="0" smtClean="0"/>
              <a:t>x</a:t>
            </a:r>
            <a:r>
              <a:rPr lang="nl-NL" sz="2000" dirty="0" smtClean="0"/>
              <a:t> in de formule </a:t>
            </a:r>
            <a:r>
              <a:rPr lang="el-GR" sz="2000" b="1" i="1" dirty="0" smtClean="0"/>
              <a:t>α</a:t>
            </a:r>
            <a:r>
              <a:rPr lang="nl-NL" sz="2000" b="1" dirty="0" smtClean="0"/>
              <a:t>[x]</a:t>
            </a:r>
            <a:r>
              <a:rPr lang="nl-NL" sz="2000" dirty="0" smtClean="0"/>
              <a:t> vrij is.</a:t>
            </a:r>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1" name="TextBox 10"/>
          <p:cNvSpPr txBox="1"/>
          <p:nvPr/>
        </p:nvSpPr>
        <p:spPr>
          <a:xfrm>
            <a:off x="611560" y="1988840"/>
            <a:ext cx="2016224" cy="369332"/>
          </a:xfrm>
          <a:prstGeom prst="rect">
            <a:avLst/>
          </a:prstGeom>
          <a:noFill/>
        </p:spPr>
        <p:txBody>
          <a:bodyPr wrap="square" rtlCol="0">
            <a:spAutoFit/>
          </a:bodyPr>
          <a:lstStyle/>
          <a:p>
            <a:r>
              <a:rPr lang="nl-NL" b="1" dirty="0" err="1" smtClean="0"/>
              <a:t>Fx</a:t>
            </a:r>
            <a:endParaRPr lang="nl-NL" dirty="0" smtClean="0"/>
          </a:p>
        </p:txBody>
      </p:sp>
      <p:sp>
        <p:nvSpPr>
          <p:cNvPr id="8" name="TextBox 7"/>
          <p:cNvSpPr txBox="1"/>
          <p:nvPr/>
        </p:nvSpPr>
        <p:spPr>
          <a:xfrm>
            <a:off x="3347864" y="1979548"/>
            <a:ext cx="2520280" cy="369332"/>
          </a:xfrm>
          <a:prstGeom prst="rect">
            <a:avLst/>
          </a:prstGeom>
          <a:noFill/>
        </p:spPr>
        <p:txBody>
          <a:bodyPr wrap="square" rtlCol="0">
            <a:spAutoFit/>
          </a:bodyPr>
          <a:lstStyle/>
          <a:p>
            <a:r>
              <a:rPr lang="nl-NL" dirty="0" smtClean="0"/>
              <a:t>Is </a:t>
            </a:r>
            <a:r>
              <a:rPr lang="nl-NL" b="1" dirty="0" smtClean="0"/>
              <a:t>x</a:t>
            </a:r>
            <a:r>
              <a:rPr lang="nl-NL" dirty="0" smtClean="0"/>
              <a:t> vrij in deze formule?</a:t>
            </a:r>
            <a:endParaRPr lang="nl-NL" dirty="0"/>
          </a:p>
        </p:txBody>
      </p:sp>
      <p:sp>
        <p:nvSpPr>
          <p:cNvPr id="9" name="TextBox 8"/>
          <p:cNvSpPr txBox="1"/>
          <p:nvPr/>
        </p:nvSpPr>
        <p:spPr>
          <a:xfrm>
            <a:off x="6228184" y="1979548"/>
            <a:ext cx="2520280" cy="369332"/>
          </a:xfrm>
          <a:prstGeom prst="rect">
            <a:avLst/>
          </a:prstGeom>
          <a:noFill/>
        </p:spPr>
        <p:txBody>
          <a:bodyPr wrap="square" rtlCol="0">
            <a:spAutoFit/>
          </a:bodyPr>
          <a:lstStyle/>
          <a:p>
            <a:r>
              <a:rPr lang="nl-NL" dirty="0" smtClean="0"/>
              <a:t>Ja!</a:t>
            </a:r>
            <a:endParaRPr lang="nl-NL" dirty="0"/>
          </a:p>
        </p:txBody>
      </p:sp>
      <p:sp>
        <p:nvSpPr>
          <p:cNvPr id="12" name="TextBox 11"/>
          <p:cNvSpPr txBox="1"/>
          <p:nvPr/>
        </p:nvSpPr>
        <p:spPr>
          <a:xfrm>
            <a:off x="611560" y="2555612"/>
            <a:ext cx="2016224" cy="369332"/>
          </a:xfrm>
          <a:prstGeom prst="rect">
            <a:avLst/>
          </a:prstGeom>
          <a:noFill/>
        </p:spPr>
        <p:txBody>
          <a:bodyPr wrap="square" rtlCol="0">
            <a:spAutoFit/>
          </a:bodyPr>
          <a:lstStyle/>
          <a:p>
            <a:r>
              <a:rPr lang="nl-NL" b="1" dirty="0" err="1" smtClean="0"/>
              <a:t>Ayb</a:t>
            </a:r>
            <a:r>
              <a:rPr lang="nl-NL" b="1" dirty="0" smtClean="0"/>
              <a:t>  </a:t>
            </a:r>
            <a:endParaRPr lang="nl-NL" dirty="0" smtClean="0"/>
          </a:p>
        </p:txBody>
      </p:sp>
      <p:sp>
        <p:nvSpPr>
          <p:cNvPr id="13" name="TextBox 12"/>
          <p:cNvSpPr txBox="1"/>
          <p:nvPr/>
        </p:nvSpPr>
        <p:spPr>
          <a:xfrm>
            <a:off x="3347864" y="2546320"/>
            <a:ext cx="2520280" cy="369332"/>
          </a:xfrm>
          <a:prstGeom prst="rect">
            <a:avLst/>
          </a:prstGeom>
          <a:noFill/>
        </p:spPr>
        <p:txBody>
          <a:bodyPr wrap="square" rtlCol="0">
            <a:spAutoFit/>
          </a:bodyPr>
          <a:lstStyle/>
          <a:p>
            <a:r>
              <a:rPr lang="nl-NL" dirty="0" smtClean="0"/>
              <a:t>Is </a:t>
            </a:r>
            <a:r>
              <a:rPr lang="nl-NL" b="1" dirty="0" smtClean="0"/>
              <a:t>y</a:t>
            </a:r>
            <a:r>
              <a:rPr lang="nl-NL" dirty="0" smtClean="0"/>
              <a:t> vrij in deze formule?</a:t>
            </a:r>
            <a:endParaRPr lang="nl-NL" dirty="0"/>
          </a:p>
        </p:txBody>
      </p:sp>
      <p:sp>
        <p:nvSpPr>
          <p:cNvPr id="14" name="TextBox 13"/>
          <p:cNvSpPr txBox="1"/>
          <p:nvPr/>
        </p:nvSpPr>
        <p:spPr>
          <a:xfrm>
            <a:off x="6228184" y="2546320"/>
            <a:ext cx="2520280" cy="369332"/>
          </a:xfrm>
          <a:prstGeom prst="rect">
            <a:avLst/>
          </a:prstGeom>
          <a:noFill/>
        </p:spPr>
        <p:txBody>
          <a:bodyPr wrap="square" rtlCol="0">
            <a:spAutoFit/>
          </a:bodyPr>
          <a:lstStyle/>
          <a:p>
            <a:r>
              <a:rPr lang="nl-NL" dirty="0" smtClean="0"/>
              <a:t>Ja!</a:t>
            </a:r>
            <a:endParaRPr lang="nl-NL" dirty="0"/>
          </a:p>
        </p:txBody>
      </p:sp>
      <p:sp>
        <p:nvSpPr>
          <p:cNvPr id="15" name="TextBox 14"/>
          <p:cNvSpPr txBox="1"/>
          <p:nvPr/>
        </p:nvSpPr>
        <p:spPr>
          <a:xfrm>
            <a:off x="611560" y="3131676"/>
            <a:ext cx="2016224" cy="369332"/>
          </a:xfrm>
          <a:prstGeom prst="rect">
            <a:avLst/>
          </a:prstGeom>
          <a:noFill/>
        </p:spPr>
        <p:txBody>
          <a:bodyPr wrap="square" rtlCol="0">
            <a:spAutoFit/>
          </a:bodyPr>
          <a:lstStyle/>
          <a:p>
            <a:r>
              <a:rPr lang="nl-NL" b="1" dirty="0" smtClean="0"/>
              <a:t>  </a:t>
            </a:r>
            <a:endParaRPr lang="nl-NL" dirty="0" smtClean="0"/>
          </a:p>
        </p:txBody>
      </p:sp>
      <p:sp>
        <p:nvSpPr>
          <p:cNvPr id="16" name="TextBox 15"/>
          <p:cNvSpPr txBox="1"/>
          <p:nvPr/>
        </p:nvSpPr>
        <p:spPr>
          <a:xfrm>
            <a:off x="611560" y="3131676"/>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a:t>
            </a:r>
            <a:endParaRPr lang="nl-NL" dirty="0" smtClean="0"/>
          </a:p>
        </p:txBody>
      </p:sp>
      <p:sp>
        <p:nvSpPr>
          <p:cNvPr id="17" name="TextBox 16"/>
          <p:cNvSpPr txBox="1"/>
          <p:nvPr/>
        </p:nvSpPr>
        <p:spPr>
          <a:xfrm>
            <a:off x="3347864" y="3131676"/>
            <a:ext cx="2520280" cy="369332"/>
          </a:xfrm>
          <a:prstGeom prst="rect">
            <a:avLst/>
          </a:prstGeom>
          <a:noFill/>
        </p:spPr>
        <p:txBody>
          <a:bodyPr wrap="square" rtlCol="0">
            <a:spAutoFit/>
          </a:bodyPr>
          <a:lstStyle/>
          <a:p>
            <a:r>
              <a:rPr lang="nl-NL" dirty="0" smtClean="0"/>
              <a:t>Is </a:t>
            </a:r>
            <a:r>
              <a:rPr lang="nl-NL" b="1" dirty="0" smtClean="0"/>
              <a:t>x</a:t>
            </a:r>
            <a:r>
              <a:rPr lang="nl-NL" dirty="0" smtClean="0"/>
              <a:t> vrij in deze formule?</a:t>
            </a:r>
            <a:endParaRPr lang="nl-NL" dirty="0"/>
          </a:p>
        </p:txBody>
      </p:sp>
      <p:sp>
        <p:nvSpPr>
          <p:cNvPr id="18" name="TextBox 17"/>
          <p:cNvSpPr txBox="1"/>
          <p:nvPr/>
        </p:nvSpPr>
        <p:spPr>
          <a:xfrm>
            <a:off x="6228184" y="3131676"/>
            <a:ext cx="2520280" cy="369332"/>
          </a:xfrm>
          <a:prstGeom prst="rect">
            <a:avLst/>
          </a:prstGeom>
          <a:noFill/>
        </p:spPr>
        <p:txBody>
          <a:bodyPr wrap="square" rtlCol="0">
            <a:spAutoFit/>
          </a:bodyPr>
          <a:lstStyle/>
          <a:p>
            <a:r>
              <a:rPr lang="nl-NL" dirty="0" smtClean="0"/>
              <a:t>Nee!</a:t>
            </a:r>
            <a:endParaRPr lang="nl-NL" dirty="0"/>
          </a:p>
        </p:txBody>
      </p:sp>
      <p:sp>
        <p:nvSpPr>
          <p:cNvPr id="19" name="TextBox 18"/>
          <p:cNvSpPr txBox="1"/>
          <p:nvPr/>
        </p:nvSpPr>
        <p:spPr>
          <a:xfrm>
            <a:off x="611560" y="3707740"/>
            <a:ext cx="2016224"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a:t>
            </a:r>
            <a:endParaRPr lang="nl-NL" dirty="0" smtClean="0"/>
          </a:p>
        </p:txBody>
      </p:sp>
      <p:sp>
        <p:nvSpPr>
          <p:cNvPr id="20" name="TextBox 19"/>
          <p:cNvSpPr txBox="1"/>
          <p:nvPr/>
        </p:nvSpPr>
        <p:spPr>
          <a:xfrm>
            <a:off x="3347864" y="3707740"/>
            <a:ext cx="2520280" cy="369332"/>
          </a:xfrm>
          <a:prstGeom prst="rect">
            <a:avLst/>
          </a:prstGeom>
          <a:noFill/>
        </p:spPr>
        <p:txBody>
          <a:bodyPr wrap="square" rtlCol="0">
            <a:spAutoFit/>
          </a:bodyPr>
          <a:lstStyle/>
          <a:p>
            <a:r>
              <a:rPr lang="nl-NL" dirty="0" smtClean="0"/>
              <a:t>Is </a:t>
            </a:r>
            <a:r>
              <a:rPr lang="nl-NL" b="1" dirty="0" smtClean="0"/>
              <a:t>y</a:t>
            </a:r>
            <a:r>
              <a:rPr lang="nl-NL" dirty="0" smtClean="0"/>
              <a:t> vrij in deze formule?</a:t>
            </a:r>
            <a:endParaRPr lang="nl-NL" dirty="0"/>
          </a:p>
        </p:txBody>
      </p:sp>
      <p:sp>
        <p:nvSpPr>
          <p:cNvPr id="21" name="TextBox 20"/>
          <p:cNvSpPr txBox="1"/>
          <p:nvPr/>
        </p:nvSpPr>
        <p:spPr>
          <a:xfrm>
            <a:off x="6228184" y="3707740"/>
            <a:ext cx="2520280" cy="369332"/>
          </a:xfrm>
          <a:prstGeom prst="rect">
            <a:avLst/>
          </a:prstGeom>
          <a:noFill/>
        </p:spPr>
        <p:txBody>
          <a:bodyPr wrap="square" rtlCol="0">
            <a:spAutoFit/>
          </a:bodyPr>
          <a:lstStyle/>
          <a:p>
            <a:r>
              <a:rPr lang="nl-NL" dirty="0" smtClean="0"/>
              <a:t>Nee!</a:t>
            </a:r>
            <a:endParaRPr lang="nl-NL" dirty="0"/>
          </a:p>
        </p:txBody>
      </p:sp>
      <p:sp>
        <p:nvSpPr>
          <p:cNvPr id="22" name="TextBox 21"/>
          <p:cNvSpPr txBox="1"/>
          <p:nvPr/>
        </p:nvSpPr>
        <p:spPr>
          <a:xfrm>
            <a:off x="611560" y="4211796"/>
            <a:ext cx="2016224" cy="369332"/>
          </a:xfrm>
          <a:prstGeom prst="rect">
            <a:avLst/>
          </a:prstGeom>
          <a:noFill/>
        </p:spPr>
        <p:txBody>
          <a:bodyPr wrap="square" rtlCol="0">
            <a:spAutoFit/>
          </a:bodyPr>
          <a:lstStyle/>
          <a:p>
            <a:r>
              <a:rPr lang="nl-NL" b="1" dirty="0" smtClean="0"/>
              <a:t>∀y </a:t>
            </a:r>
            <a:r>
              <a:rPr lang="nl-NL" b="1" dirty="0" err="1" smtClean="0"/>
              <a:t>Hxy</a:t>
            </a:r>
            <a:endParaRPr lang="nl-NL" dirty="0" smtClean="0"/>
          </a:p>
        </p:txBody>
      </p:sp>
      <p:sp>
        <p:nvSpPr>
          <p:cNvPr id="23" name="TextBox 22"/>
          <p:cNvSpPr txBox="1"/>
          <p:nvPr/>
        </p:nvSpPr>
        <p:spPr>
          <a:xfrm>
            <a:off x="3347864" y="4211796"/>
            <a:ext cx="2520280" cy="369332"/>
          </a:xfrm>
          <a:prstGeom prst="rect">
            <a:avLst/>
          </a:prstGeom>
          <a:noFill/>
        </p:spPr>
        <p:txBody>
          <a:bodyPr wrap="square" rtlCol="0">
            <a:spAutoFit/>
          </a:bodyPr>
          <a:lstStyle/>
          <a:p>
            <a:r>
              <a:rPr lang="nl-NL" dirty="0" smtClean="0"/>
              <a:t>Is </a:t>
            </a:r>
            <a:r>
              <a:rPr lang="nl-NL" b="1" dirty="0" smtClean="0"/>
              <a:t>x </a:t>
            </a:r>
            <a:r>
              <a:rPr lang="nl-NL" dirty="0" smtClean="0"/>
              <a:t>vrij in deze formule?</a:t>
            </a:r>
            <a:endParaRPr lang="nl-NL" dirty="0"/>
          </a:p>
        </p:txBody>
      </p:sp>
      <p:sp>
        <p:nvSpPr>
          <p:cNvPr id="24" name="TextBox 23"/>
          <p:cNvSpPr txBox="1"/>
          <p:nvPr/>
        </p:nvSpPr>
        <p:spPr>
          <a:xfrm>
            <a:off x="6228184" y="4211796"/>
            <a:ext cx="2520280" cy="369332"/>
          </a:xfrm>
          <a:prstGeom prst="rect">
            <a:avLst/>
          </a:prstGeom>
          <a:noFill/>
        </p:spPr>
        <p:txBody>
          <a:bodyPr wrap="square" rtlCol="0">
            <a:spAutoFit/>
          </a:bodyPr>
          <a:lstStyle/>
          <a:p>
            <a:r>
              <a:rPr lang="nl-NL" dirty="0" smtClean="0"/>
              <a:t>Ja!</a:t>
            </a:r>
            <a:endParaRPr lang="nl-NL" dirty="0"/>
          </a:p>
        </p:txBody>
      </p:sp>
      <p:sp>
        <p:nvSpPr>
          <p:cNvPr id="25" name="TextBox 24"/>
          <p:cNvSpPr txBox="1"/>
          <p:nvPr/>
        </p:nvSpPr>
        <p:spPr>
          <a:xfrm>
            <a:off x="611560" y="4715852"/>
            <a:ext cx="2016224" cy="369332"/>
          </a:xfrm>
          <a:prstGeom prst="rect">
            <a:avLst/>
          </a:prstGeom>
          <a:noFill/>
        </p:spPr>
        <p:txBody>
          <a:bodyPr wrap="square" rtlCol="0">
            <a:spAutoFit/>
          </a:bodyPr>
          <a:lstStyle/>
          <a:p>
            <a:r>
              <a:rPr lang="nl-NL" b="1" dirty="0" smtClean="0"/>
              <a:t>∀y </a:t>
            </a:r>
            <a:r>
              <a:rPr lang="nl-NL" b="1" dirty="0" err="1" smtClean="0"/>
              <a:t>Hxy</a:t>
            </a:r>
            <a:endParaRPr lang="nl-NL" dirty="0" smtClean="0"/>
          </a:p>
        </p:txBody>
      </p:sp>
      <p:sp>
        <p:nvSpPr>
          <p:cNvPr id="26" name="TextBox 25"/>
          <p:cNvSpPr txBox="1"/>
          <p:nvPr/>
        </p:nvSpPr>
        <p:spPr>
          <a:xfrm>
            <a:off x="3347864" y="4715852"/>
            <a:ext cx="2520280" cy="369332"/>
          </a:xfrm>
          <a:prstGeom prst="rect">
            <a:avLst/>
          </a:prstGeom>
          <a:noFill/>
        </p:spPr>
        <p:txBody>
          <a:bodyPr wrap="square" rtlCol="0">
            <a:spAutoFit/>
          </a:bodyPr>
          <a:lstStyle/>
          <a:p>
            <a:r>
              <a:rPr lang="nl-NL" dirty="0" smtClean="0"/>
              <a:t>Is </a:t>
            </a:r>
            <a:r>
              <a:rPr lang="nl-NL" b="1" dirty="0" smtClean="0"/>
              <a:t>y </a:t>
            </a:r>
            <a:r>
              <a:rPr lang="nl-NL" dirty="0" smtClean="0"/>
              <a:t>vrij in deze formule?</a:t>
            </a:r>
            <a:endParaRPr lang="nl-NL" dirty="0"/>
          </a:p>
        </p:txBody>
      </p:sp>
      <p:sp>
        <p:nvSpPr>
          <p:cNvPr id="27" name="TextBox 26"/>
          <p:cNvSpPr txBox="1"/>
          <p:nvPr/>
        </p:nvSpPr>
        <p:spPr>
          <a:xfrm>
            <a:off x="6228184" y="4715852"/>
            <a:ext cx="2520280" cy="369332"/>
          </a:xfrm>
          <a:prstGeom prst="rect">
            <a:avLst/>
          </a:prstGeom>
          <a:noFill/>
        </p:spPr>
        <p:txBody>
          <a:bodyPr wrap="square" rtlCol="0">
            <a:spAutoFit/>
          </a:bodyPr>
          <a:lstStyle/>
          <a:p>
            <a:r>
              <a:rPr lang="nl-NL" dirty="0" smtClean="0"/>
              <a:t>Nee!</a:t>
            </a:r>
            <a:endParaRPr lang="nl-NL" dirty="0"/>
          </a:p>
        </p:txBody>
      </p:sp>
      <p:sp>
        <p:nvSpPr>
          <p:cNvPr id="28" name="TextBox 27"/>
          <p:cNvSpPr txBox="1"/>
          <p:nvPr/>
        </p:nvSpPr>
        <p:spPr>
          <a:xfrm>
            <a:off x="611560" y="5291916"/>
            <a:ext cx="2016224" cy="369332"/>
          </a:xfrm>
          <a:prstGeom prst="rect">
            <a:avLst/>
          </a:prstGeom>
          <a:noFill/>
        </p:spPr>
        <p:txBody>
          <a:bodyPr wrap="square" rtlCol="0">
            <a:spAutoFit/>
          </a:bodyPr>
          <a:lstStyle/>
          <a:p>
            <a:r>
              <a:rPr lang="nl-NL" b="1" dirty="0" err="1" smtClean="0"/>
              <a:t>Ax</a:t>
            </a:r>
            <a:r>
              <a:rPr lang="nl-NL" b="1" dirty="0" smtClean="0"/>
              <a:t> → ∃x </a:t>
            </a:r>
            <a:r>
              <a:rPr lang="nl-NL" b="1" dirty="0" err="1" smtClean="0"/>
              <a:t>Rax</a:t>
            </a:r>
            <a:endParaRPr lang="nl-NL" dirty="0" smtClean="0"/>
          </a:p>
        </p:txBody>
      </p:sp>
      <p:sp>
        <p:nvSpPr>
          <p:cNvPr id="29" name="TextBox 28"/>
          <p:cNvSpPr txBox="1"/>
          <p:nvPr/>
        </p:nvSpPr>
        <p:spPr>
          <a:xfrm>
            <a:off x="3347864" y="5229200"/>
            <a:ext cx="2520280" cy="369332"/>
          </a:xfrm>
          <a:prstGeom prst="rect">
            <a:avLst/>
          </a:prstGeom>
          <a:noFill/>
        </p:spPr>
        <p:txBody>
          <a:bodyPr wrap="square" rtlCol="0">
            <a:spAutoFit/>
          </a:bodyPr>
          <a:lstStyle/>
          <a:p>
            <a:r>
              <a:rPr lang="nl-NL" dirty="0" smtClean="0"/>
              <a:t>Is </a:t>
            </a:r>
            <a:r>
              <a:rPr lang="nl-NL" b="1" dirty="0" smtClean="0"/>
              <a:t>x </a:t>
            </a:r>
            <a:r>
              <a:rPr lang="nl-NL" dirty="0" smtClean="0"/>
              <a:t>vrij in deze formule?</a:t>
            </a:r>
            <a:endParaRPr lang="nl-NL" dirty="0"/>
          </a:p>
        </p:txBody>
      </p:sp>
      <p:sp>
        <p:nvSpPr>
          <p:cNvPr id="30" name="TextBox 29"/>
          <p:cNvSpPr txBox="1"/>
          <p:nvPr/>
        </p:nvSpPr>
        <p:spPr>
          <a:xfrm>
            <a:off x="6228184" y="5219908"/>
            <a:ext cx="2520280" cy="369332"/>
          </a:xfrm>
          <a:prstGeom prst="rect">
            <a:avLst/>
          </a:prstGeom>
          <a:noFill/>
        </p:spPr>
        <p:txBody>
          <a:bodyPr wrap="square" rtlCol="0">
            <a:spAutoFit/>
          </a:bodyPr>
          <a:lstStyle/>
          <a:p>
            <a:r>
              <a:rPr lang="nl-NL" dirty="0" smtClean="0"/>
              <a:t>Nee!</a:t>
            </a:r>
            <a:endParaRPr lang="nl-NL" dirty="0"/>
          </a:p>
        </p:txBody>
      </p:sp>
      <p:sp>
        <p:nvSpPr>
          <p:cNvPr id="31" name="TextBox 30"/>
          <p:cNvSpPr txBox="1"/>
          <p:nvPr/>
        </p:nvSpPr>
        <p:spPr>
          <a:xfrm>
            <a:off x="611560" y="5795972"/>
            <a:ext cx="2016224" cy="369332"/>
          </a:xfrm>
          <a:prstGeom prst="rect">
            <a:avLst/>
          </a:prstGeom>
          <a:noFill/>
        </p:spPr>
        <p:txBody>
          <a:bodyPr wrap="square" rtlCol="0">
            <a:spAutoFit/>
          </a:bodyPr>
          <a:lstStyle/>
          <a:p>
            <a:r>
              <a:rPr lang="nl-NL" b="1" dirty="0" err="1" smtClean="0"/>
              <a:t>Ax</a:t>
            </a:r>
            <a:r>
              <a:rPr lang="nl-NL" b="1" dirty="0" smtClean="0"/>
              <a:t> → ∃x </a:t>
            </a:r>
            <a:r>
              <a:rPr lang="nl-NL" b="1" dirty="0" err="1" smtClean="0"/>
              <a:t>Ryx</a:t>
            </a:r>
            <a:endParaRPr lang="nl-NL" dirty="0" smtClean="0"/>
          </a:p>
        </p:txBody>
      </p:sp>
      <p:sp>
        <p:nvSpPr>
          <p:cNvPr id="32" name="TextBox 31"/>
          <p:cNvSpPr txBox="1"/>
          <p:nvPr/>
        </p:nvSpPr>
        <p:spPr>
          <a:xfrm>
            <a:off x="3347864" y="5733256"/>
            <a:ext cx="2520280" cy="369332"/>
          </a:xfrm>
          <a:prstGeom prst="rect">
            <a:avLst/>
          </a:prstGeom>
          <a:noFill/>
        </p:spPr>
        <p:txBody>
          <a:bodyPr wrap="square" rtlCol="0">
            <a:spAutoFit/>
          </a:bodyPr>
          <a:lstStyle/>
          <a:p>
            <a:r>
              <a:rPr lang="nl-NL" dirty="0" smtClean="0"/>
              <a:t>Is </a:t>
            </a:r>
            <a:r>
              <a:rPr lang="nl-NL" b="1" dirty="0" smtClean="0"/>
              <a:t>y </a:t>
            </a:r>
            <a:r>
              <a:rPr lang="nl-NL" dirty="0" smtClean="0"/>
              <a:t>vrij in deze formule?</a:t>
            </a:r>
            <a:endParaRPr lang="nl-NL" dirty="0"/>
          </a:p>
        </p:txBody>
      </p:sp>
      <p:sp>
        <p:nvSpPr>
          <p:cNvPr id="33" name="TextBox 32"/>
          <p:cNvSpPr txBox="1"/>
          <p:nvPr/>
        </p:nvSpPr>
        <p:spPr>
          <a:xfrm>
            <a:off x="6228184" y="5723964"/>
            <a:ext cx="2520280" cy="369332"/>
          </a:xfrm>
          <a:prstGeom prst="rect">
            <a:avLst/>
          </a:prstGeom>
          <a:noFill/>
        </p:spPr>
        <p:txBody>
          <a:bodyPr wrap="square" rtlCol="0">
            <a:spAutoFit/>
          </a:bodyPr>
          <a:lstStyle/>
          <a:p>
            <a:r>
              <a:rPr lang="nl-NL" dirty="0" smtClean="0"/>
              <a:t>Ja!</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2000"/>
                                        <p:tgtEl>
                                          <p:spTgt spid="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2000"/>
                                        <p:tgtEl>
                                          <p:spTgt spid="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2000"/>
                                        <p:tgtEl>
                                          <p:spTgt spid="12">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xEl>
                                              <p:pRg st="0" end="0"/>
                                            </p:txEl>
                                          </p:spTgt>
                                        </p:tgtEl>
                                        <p:attrNameLst>
                                          <p:attrName>style.visibility</p:attrName>
                                        </p:attrNameLst>
                                      </p:cBhvr>
                                      <p:to>
                                        <p:strVal val="visible"/>
                                      </p:to>
                                    </p:set>
                                    <p:animEffect transition="in" filter="fade">
                                      <p:cBhvr>
                                        <p:cTn id="23" dur="2000"/>
                                        <p:tgtEl>
                                          <p:spTgt spid="13">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Effect transition="in" filter="fade">
                                      <p:cBhvr>
                                        <p:cTn id="28" dur="2000"/>
                                        <p:tgtEl>
                                          <p:spTgt spid="14">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xEl>
                                              <p:pRg st="0" end="0"/>
                                            </p:txEl>
                                          </p:spTgt>
                                        </p:tgtEl>
                                        <p:attrNameLst>
                                          <p:attrName>style.visibility</p:attrName>
                                        </p:attrNameLst>
                                      </p:cBhvr>
                                      <p:to>
                                        <p:strVal val="visible"/>
                                      </p:to>
                                    </p:set>
                                    <p:animEffect transition="in" filter="fade">
                                      <p:cBhvr>
                                        <p:cTn id="33" dur="2000"/>
                                        <p:tgtEl>
                                          <p:spTgt spid="15">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xEl>
                                              <p:pRg st="0" end="0"/>
                                            </p:txEl>
                                          </p:spTgt>
                                        </p:tgtEl>
                                        <p:attrNameLst>
                                          <p:attrName>style.visibility</p:attrName>
                                        </p:attrNameLst>
                                      </p:cBhvr>
                                      <p:to>
                                        <p:strVal val="visible"/>
                                      </p:to>
                                    </p:set>
                                    <p:animEffect transition="in" filter="fade">
                                      <p:cBhvr>
                                        <p:cTn id="36" dur="2000"/>
                                        <p:tgtEl>
                                          <p:spTgt spid="16">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xEl>
                                              <p:pRg st="0" end="0"/>
                                            </p:txEl>
                                          </p:spTgt>
                                        </p:tgtEl>
                                        <p:attrNameLst>
                                          <p:attrName>style.visibility</p:attrName>
                                        </p:attrNameLst>
                                      </p:cBhvr>
                                      <p:to>
                                        <p:strVal val="visible"/>
                                      </p:to>
                                    </p:set>
                                    <p:animEffect transition="in" filter="fade">
                                      <p:cBhvr>
                                        <p:cTn id="39" dur="2000"/>
                                        <p:tgtEl>
                                          <p:spTgt spid="17">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8">
                                            <p:txEl>
                                              <p:pRg st="0" end="0"/>
                                            </p:txEl>
                                          </p:spTgt>
                                        </p:tgtEl>
                                        <p:attrNameLst>
                                          <p:attrName>style.visibility</p:attrName>
                                        </p:attrNameLst>
                                      </p:cBhvr>
                                      <p:to>
                                        <p:strVal val="visible"/>
                                      </p:to>
                                    </p:set>
                                    <p:animEffect transition="in" filter="fade">
                                      <p:cBhvr>
                                        <p:cTn id="44" dur="2000"/>
                                        <p:tgtEl>
                                          <p:spTgt spid="18">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9">
                                            <p:txEl>
                                              <p:pRg st="0" end="0"/>
                                            </p:txEl>
                                          </p:spTgt>
                                        </p:tgtEl>
                                        <p:attrNameLst>
                                          <p:attrName>style.visibility</p:attrName>
                                        </p:attrNameLst>
                                      </p:cBhvr>
                                      <p:to>
                                        <p:strVal val="visible"/>
                                      </p:to>
                                    </p:set>
                                    <p:animEffect transition="in" filter="fade">
                                      <p:cBhvr>
                                        <p:cTn id="49" dur="2000"/>
                                        <p:tgtEl>
                                          <p:spTgt spid="19">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xEl>
                                              <p:pRg st="0" end="0"/>
                                            </p:txEl>
                                          </p:spTgt>
                                        </p:tgtEl>
                                        <p:attrNameLst>
                                          <p:attrName>style.visibility</p:attrName>
                                        </p:attrNameLst>
                                      </p:cBhvr>
                                      <p:to>
                                        <p:strVal val="visible"/>
                                      </p:to>
                                    </p:set>
                                    <p:animEffect transition="in" filter="fade">
                                      <p:cBhvr>
                                        <p:cTn id="52" dur="2000"/>
                                        <p:tgtEl>
                                          <p:spTgt spid="20">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1">
                                            <p:txEl>
                                              <p:pRg st="0" end="0"/>
                                            </p:txEl>
                                          </p:spTgt>
                                        </p:tgtEl>
                                        <p:attrNameLst>
                                          <p:attrName>style.visibility</p:attrName>
                                        </p:attrNameLst>
                                      </p:cBhvr>
                                      <p:to>
                                        <p:strVal val="visible"/>
                                      </p:to>
                                    </p:set>
                                    <p:animEffect transition="in" filter="fade">
                                      <p:cBhvr>
                                        <p:cTn id="57" dur="2000"/>
                                        <p:tgtEl>
                                          <p:spTgt spid="2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2">
                                            <p:txEl>
                                              <p:pRg st="0" end="0"/>
                                            </p:txEl>
                                          </p:spTgt>
                                        </p:tgtEl>
                                        <p:attrNameLst>
                                          <p:attrName>style.visibility</p:attrName>
                                        </p:attrNameLst>
                                      </p:cBhvr>
                                      <p:to>
                                        <p:strVal val="visible"/>
                                      </p:to>
                                    </p:set>
                                    <p:animEffect transition="in" filter="fade">
                                      <p:cBhvr>
                                        <p:cTn id="62" dur="2000"/>
                                        <p:tgtEl>
                                          <p:spTgt spid="22">
                                            <p:txEl>
                                              <p:pRg st="0" end="0"/>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xEl>
                                              <p:pRg st="0" end="0"/>
                                            </p:txEl>
                                          </p:spTgt>
                                        </p:tgtEl>
                                        <p:attrNameLst>
                                          <p:attrName>style.visibility</p:attrName>
                                        </p:attrNameLst>
                                      </p:cBhvr>
                                      <p:to>
                                        <p:strVal val="visible"/>
                                      </p:to>
                                    </p:set>
                                    <p:animEffect transition="in" filter="fade">
                                      <p:cBhvr>
                                        <p:cTn id="65" dur="2000"/>
                                        <p:tgtEl>
                                          <p:spTgt spid="23">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4">
                                            <p:txEl>
                                              <p:pRg st="0" end="0"/>
                                            </p:txEl>
                                          </p:spTgt>
                                        </p:tgtEl>
                                        <p:attrNameLst>
                                          <p:attrName>style.visibility</p:attrName>
                                        </p:attrNameLst>
                                      </p:cBhvr>
                                      <p:to>
                                        <p:strVal val="visible"/>
                                      </p:to>
                                    </p:set>
                                    <p:animEffect transition="in" filter="fade">
                                      <p:cBhvr>
                                        <p:cTn id="70" dur="2000"/>
                                        <p:tgtEl>
                                          <p:spTgt spid="24">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xEl>
                                              <p:pRg st="0" end="0"/>
                                            </p:txEl>
                                          </p:spTgt>
                                        </p:tgtEl>
                                        <p:attrNameLst>
                                          <p:attrName>style.visibility</p:attrName>
                                        </p:attrNameLst>
                                      </p:cBhvr>
                                      <p:to>
                                        <p:strVal val="visible"/>
                                      </p:to>
                                    </p:set>
                                    <p:animEffect transition="in" filter="fade">
                                      <p:cBhvr>
                                        <p:cTn id="75" dur="2000"/>
                                        <p:tgtEl>
                                          <p:spTgt spid="25">
                                            <p:txEl>
                                              <p:pRg st="0" end="0"/>
                                            </p:txEl>
                                          </p:spTgt>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xEl>
                                              <p:pRg st="0" end="0"/>
                                            </p:txEl>
                                          </p:spTgt>
                                        </p:tgtEl>
                                        <p:attrNameLst>
                                          <p:attrName>style.visibility</p:attrName>
                                        </p:attrNameLst>
                                      </p:cBhvr>
                                      <p:to>
                                        <p:strVal val="visible"/>
                                      </p:to>
                                    </p:set>
                                    <p:animEffect transition="in" filter="fade">
                                      <p:cBhvr>
                                        <p:cTn id="78" dur="2000"/>
                                        <p:tgtEl>
                                          <p:spTgt spid="26">
                                            <p:txEl>
                                              <p:pRg st="0" end="0"/>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7">
                                            <p:txEl>
                                              <p:pRg st="0" end="0"/>
                                            </p:txEl>
                                          </p:spTgt>
                                        </p:tgtEl>
                                        <p:attrNameLst>
                                          <p:attrName>style.visibility</p:attrName>
                                        </p:attrNameLst>
                                      </p:cBhvr>
                                      <p:to>
                                        <p:strVal val="visible"/>
                                      </p:to>
                                    </p:set>
                                    <p:animEffect transition="in" filter="fade">
                                      <p:cBhvr>
                                        <p:cTn id="83" dur="2000"/>
                                        <p:tgtEl>
                                          <p:spTgt spid="27">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8">
                                            <p:txEl>
                                              <p:pRg st="0" end="0"/>
                                            </p:txEl>
                                          </p:spTgt>
                                        </p:tgtEl>
                                        <p:attrNameLst>
                                          <p:attrName>style.visibility</p:attrName>
                                        </p:attrNameLst>
                                      </p:cBhvr>
                                      <p:to>
                                        <p:strVal val="visible"/>
                                      </p:to>
                                    </p:set>
                                    <p:animEffect transition="in" filter="fade">
                                      <p:cBhvr>
                                        <p:cTn id="88" dur="2000"/>
                                        <p:tgtEl>
                                          <p:spTgt spid="28">
                                            <p:txEl>
                                              <p:pRg st="0" end="0"/>
                                            </p:txEl>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9">
                                            <p:txEl>
                                              <p:pRg st="0" end="0"/>
                                            </p:txEl>
                                          </p:spTgt>
                                        </p:tgtEl>
                                        <p:attrNameLst>
                                          <p:attrName>style.visibility</p:attrName>
                                        </p:attrNameLst>
                                      </p:cBhvr>
                                      <p:to>
                                        <p:strVal val="visible"/>
                                      </p:to>
                                    </p:set>
                                    <p:animEffect transition="in" filter="fade">
                                      <p:cBhvr>
                                        <p:cTn id="91" dur="2000"/>
                                        <p:tgtEl>
                                          <p:spTgt spid="29">
                                            <p:txEl>
                                              <p:pRg st="0" end="0"/>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0">
                                            <p:txEl>
                                              <p:pRg st="0" end="0"/>
                                            </p:txEl>
                                          </p:spTgt>
                                        </p:tgtEl>
                                        <p:attrNameLst>
                                          <p:attrName>style.visibility</p:attrName>
                                        </p:attrNameLst>
                                      </p:cBhvr>
                                      <p:to>
                                        <p:strVal val="visible"/>
                                      </p:to>
                                    </p:set>
                                    <p:animEffect transition="in" filter="fade">
                                      <p:cBhvr>
                                        <p:cTn id="96" dur="2000"/>
                                        <p:tgtEl>
                                          <p:spTgt spid="30">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1">
                                            <p:txEl>
                                              <p:pRg st="0" end="0"/>
                                            </p:txEl>
                                          </p:spTgt>
                                        </p:tgtEl>
                                        <p:attrNameLst>
                                          <p:attrName>style.visibility</p:attrName>
                                        </p:attrNameLst>
                                      </p:cBhvr>
                                      <p:to>
                                        <p:strVal val="visible"/>
                                      </p:to>
                                    </p:set>
                                    <p:animEffect transition="in" filter="fade">
                                      <p:cBhvr>
                                        <p:cTn id="101" dur="2000"/>
                                        <p:tgtEl>
                                          <p:spTgt spid="31">
                                            <p:txEl>
                                              <p:pRg st="0" end="0"/>
                                            </p:txEl>
                                          </p:spTgt>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xEl>
                                              <p:pRg st="0" end="0"/>
                                            </p:txEl>
                                          </p:spTgt>
                                        </p:tgtEl>
                                        <p:attrNameLst>
                                          <p:attrName>style.visibility</p:attrName>
                                        </p:attrNameLst>
                                      </p:cBhvr>
                                      <p:to>
                                        <p:strVal val="visible"/>
                                      </p:to>
                                    </p:set>
                                    <p:animEffect transition="in" filter="fade">
                                      <p:cBhvr>
                                        <p:cTn id="104" dur="2000"/>
                                        <p:tgtEl>
                                          <p:spTgt spid="32">
                                            <p:txEl>
                                              <p:pRg st="0" end="0"/>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3">
                                            <p:txEl>
                                              <p:pRg st="0" end="0"/>
                                            </p:txEl>
                                          </p:spTgt>
                                        </p:tgtEl>
                                        <p:attrNameLst>
                                          <p:attrName>style.visibility</p:attrName>
                                        </p:attrNameLst>
                                      </p:cBhvr>
                                      <p:to>
                                        <p:strVal val="visible"/>
                                      </p:to>
                                    </p:set>
                                    <p:animEffect transition="in" filter="fade">
                                      <p:cBhvr>
                                        <p:cTn id="109" dur="20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8" grpId="0" build="allAtOnce"/>
      <p:bldP spid="9" grpId="0" build="allAtOnce"/>
      <p:bldP spid="12"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P spid="22" grpId="0" build="allAtOnce"/>
      <p:bldP spid="23" grpId="0" build="allAtOnce"/>
      <p:bldP spid="24" grpId="0" build="allAtOnce"/>
      <p:bldP spid="25" grpId="0" build="allAtOnce"/>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1" name="TextBox 10"/>
          <p:cNvSpPr txBox="1"/>
          <p:nvPr/>
        </p:nvSpPr>
        <p:spPr>
          <a:xfrm>
            <a:off x="611560" y="2051556"/>
            <a:ext cx="2016224" cy="369332"/>
          </a:xfrm>
          <a:prstGeom prst="rect">
            <a:avLst/>
          </a:prstGeom>
          <a:noFill/>
        </p:spPr>
        <p:txBody>
          <a:bodyPr wrap="square" rtlCol="0">
            <a:spAutoFit/>
          </a:bodyPr>
          <a:lstStyle/>
          <a:p>
            <a:r>
              <a:rPr lang="nl-NL" b="1" dirty="0" smtClean="0"/>
              <a:t>∃x (</a:t>
            </a:r>
            <a:r>
              <a:rPr lang="nl-NL" b="1" dirty="0" err="1" smtClean="0"/>
              <a:t>Fx</a:t>
            </a:r>
            <a:r>
              <a:rPr lang="nl-NL" b="1" dirty="0" smtClean="0"/>
              <a:t> → ∀x </a:t>
            </a:r>
            <a:r>
              <a:rPr lang="nl-NL" b="1" dirty="0" err="1" smtClean="0"/>
              <a:t>Rxx</a:t>
            </a:r>
            <a:r>
              <a:rPr lang="nl-NL" b="1" dirty="0" smtClean="0"/>
              <a:t>)  </a:t>
            </a:r>
            <a:endParaRPr lang="nl-NL" dirty="0" smtClean="0"/>
          </a:p>
        </p:txBody>
      </p:sp>
      <p:sp>
        <p:nvSpPr>
          <p:cNvPr id="8" name="TextBox 7"/>
          <p:cNvSpPr txBox="1"/>
          <p:nvPr/>
        </p:nvSpPr>
        <p:spPr>
          <a:xfrm>
            <a:off x="3347864" y="2051556"/>
            <a:ext cx="4608512" cy="369332"/>
          </a:xfrm>
          <a:prstGeom prst="rect">
            <a:avLst/>
          </a:prstGeom>
          <a:noFill/>
        </p:spPr>
        <p:txBody>
          <a:bodyPr wrap="square" rtlCol="0">
            <a:spAutoFit/>
          </a:bodyPr>
          <a:lstStyle/>
          <a:p>
            <a:r>
              <a:rPr lang="nl-NL" dirty="0" smtClean="0"/>
              <a:t>Is dit een formule van de </a:t>
            </a:r>
            <a:r>
              <a:rPr lang="nl-NL" dirty="0" err="1" smtClean="0"/>
              <a:t>predikaatlogica</a:t>
            </a:r>
            <a:r>
              <a:rPr lang="nl-NL" dirty="0" smtClean="0"/>
              <a:t>?</a:t>
            </a:r>
            <a:endParaRPr lang="nl-NL" dirty="0"/>
          </a:p>
        </p:txBody>
      </p:sp>
      <p:sp>
        <p:nvSpPr>
          <p:cNvPr id="9" name="TextBox 8"/>
          <p:cNvSpPr txBox="1"/>
          <p:nvPr/>
        </p:nvSpPr>
        <p:spPr>
          <a:xfrm>
            <a:off x="3347864" y="2780928"/>
            <a:ext cx="5472608" cy="1200329"/>
          </a:xfrm>
          <a:prstGeom prst="rect">
            <a:avLst/>
          </a:prstGeom>
          <a:noFill/>
        </p:spPr>
        <p:txBody>
          <a:bodyPr wrap="square" rtlCol="0">
            <a:spAutoFit/>
          </a:bodyPr>
          <a:lstStyle/>
          <a:p>
            <a:r>
              <a:rPr lang="nl-NL" dirty="0" smtClean="0"/>
              <a:t>Nee. Deze formule is immers verkregen door </a:t>
            </a:r>
            <a:r>
              <a:rPr lang="nl-NL" i="1" dirty="0" smtClean="0"/>
              <a:t>(</a:t>
            </a:r>
            <a:r>
              <a:rPr lang="nl-NL" i="1" dirty="0" err="1" smtClean="0"/>
              <a:t>iv</a:t>
            </a:r>
            <a:r>
              <a:rPr lang="nl-NL" i="1" dirty="0" smtClean="0"/>
              <a:t>)</a:t>
            </a:r>
            <a:r>
              <a:rPr lang="nl-NL" dirty="0" smtClean="0"/>
              <a:t> toe te passen op </a:t>
            </a:r>
            <a:r>
              <a:rPr lang="nl-NL" b="1" dirty="0" smtClean="0"/>
              <a:t>(</a:t>
            </a:r>
            <a:r>
              <a:rPr lang="nl-NL" b="1" dirty="0" err="1" smtClean="0"/>
              <a:t>Fx</a:t>
            </a:r>
            <a:r>
              <a:rPr lang="nl-NL" b="1" dirty="0" smtClean="0"/>
              <a:t> → ∀x </a:t>
            </a:r>
            <a:r>
              <a:rPr lang="nl-NL" b="1" dirty="0" err="1" smtClean="0"/>
              <a:t>Rxx</a:t>
            </a:r>
            <a:r>
              <a:rPr lang="nl-NL" b="1" dirty="0" smtClean="0"/>
              <a:t>)</a:t>
            </a:r>
            <a:r>
              <a:rPr lang="nl-NL" dirty="0" smtClean="0"/>
              <a:t>. Maar omdat variabele </a:t>
            </a:r>
            <a:r>
              <a:rPr lang="nl-NL" b="1" dirty="0" smtClean="0"/>
              <a:t>x</a:t>
            </a:r>
            <a:r>
              <a:rPr lang="nl-NL" dirty="0" smtClean="0"/>
              <a:t> niet vrij is in </a:t>
            </a:r>
            <a:r>
              <a:rPr lang="nl-NL" b="1" dirty="0" smtClean="0"/>
              <a:t>(</a:t>
            </a:r>
            <a:r>
              <a:rPr lang="nl-NL" b="1" dirty="0" err="1" smtClean="0"/>
              <a:t>Fx</a:t>
            </a:r>
            <a:r>
              <a:rPr lang="nl-NL" b="1" dirty="0" smtClean="0"/>
              <a:t> → ∀x </a:t>
            </a:r>
            <a:r>
              <a:rPr lang="nl-NL" b="1" dirty="0" err="1" smtClean="0"/>
              <a:t>Rxx</a:t>
            </a:r>
            <a:r>
              <a:rPr lang="nl-NL" b="1" dirty="0" smtClean="0"/>
              <a:t>)</a:t>
            </a:r>
            <a:r>
              <a:rPr lang="nl-NL" dirty="0" smtClean="0"/>
              <a:t>, had </a:t>
            </a:r>
            <a:r>
              <a:rPr lang="nl-NL" i="1" dirty="0" smtClean="0"/>
              <a:t>(</a:t>
            </a:r>
            <a:r>
              <a:rPr lang="nl-NL" i="1" dirty="0" err="1" smtClean="0"/>
              <a:t>iv</a:t>
            </a:r>
            <a:r>
              <a:rPr lang="nl-NL" i="1" dirty="0" smtClean="0"/>
              <a:t>)</a:t>
            </a:r>
            <a:r>
              <a:rPr lang="nl-NL" dirty="0" smtClean="0"/>
              <a:t> helemaal niet op deze formule toegepast mogen worden!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1" name="TextBox 10"/>
          <p:cNvSpPr txBox="1"/>
          <p:nvPr/>
        </p:nvSpPr>
        <p:spPr>
          <a:xfrm>
            <a:off x="611560" y="2051556"/>
            <a:ext cx="2016224" cy="369332"/>
          </a:xfrm>
          <a:prstGeom prst="rect">
            <a:avLst/>
          </a:prstGeom>
          <a:noFill/>
        </p:spPr>
        <p:txBody>
          <a:bodyPr wrap="square" rtlCol="0">
            <a:spAutoFit/>
          </a:bodyPr>
          <a:lstStyle/>
          <a:p>
            <a:r>
              <a:rPr lang="nl-NL" b="1" dirty="0" smtClean="0"/>
              <a:t>∃x </a:t>
            </a:r>
            <a:r>
              <a:rPr lang="nl-NL" b="1" dirty="0" err="1" smtClean="0"/>
              <a:t>Fx</a:t>
            </a:r>
            <a:r>
              <a:rPr lang="nl-NL" b="1" dirty="0" smtClean="0"/>
              <a:t> V ¬∀x </a:t>
            </a:r>
            <a:r>
              <a:rPr lang="nl-NL" b="1" dirty="0" err="1" smtClean="0"/>
              <a:t>Rxa</a:t>
            </a:r>
            <a:r>
              <a:rPr lang="nl-NL" b="1" dirty="0" smtClean="0"/>
              <a:t>  </a:t>
            </a:r>
            <a:endParaRPr lang="nl-NL" dirty="0" smtClean="0"/>
          </a:p>
        </p:txBody>
      </p:sp>
      <p:sp>
        <p:nvSpPr>
          <p:cNvPr id="8" name="TextBox 7"/>
          <p:cNvSpPr txBox="1"/>
          <p:nvPr/>
        </p:nvSpPr>
        <p:spPr>
          <a:xfrm>
            <a:off x="3347864" y="2051556"/>
            <a:ext cx="4608512" cy="369332"/>
          </a:xfrm>
          <a:prstGeom prst="rect">
            <a:avLst/>
          </a:prstGeom>
          <a:noFill/>
        </p:spPr>
        <p:txBody>
          <a:bodyPr wrap="square" rtlCol="0">
            <a:spAutoFit/>
          </a:bodyPr>
          <a:lstStyle/>
          <a:p>
            <a:r>
              <a:rPr lang="nl-NL" dirty="0" smtClean="0"/>
              <a:t>Is dit een formule van de </a:t>
            </a:r>
            <a:r>
              <a:rPr lang="nl-NL" dirty="0" err="1" smtClean="0"/>
              <a:t>predikaatlogica</a:t>
            </a:r>
            <a:r>
              <a:rPr lang="nl-NL" dirty="0" smtClean="0"/>
              <a:t>?</a:t>
            </a:r>
            <a:endParaRPr lang="nl-NL" dirty="0"/>
          </a:p>
        </p:txBody>
      </p:sp>
      <p:sp>
        <p:nvSpPr>
          <p:cNvPr id="9" name="TextBox 8"/>
          <p:cNvSpPr txBox="1"/>
          <p:nvPr/>
        </p:nvSpPr>
        <p:spPr>
          <a:xfrm>
            <a:off x="3347864" y="2780928"/>
            <a:ext cx="5472608" cy="1477328"/>
          </a:xfrm>
          <a:prstGeom prst="rect">
            <a:avLst/>
          </a:prstGeom>
          <a:noFill/>
        </p:spPr>
        <p:txBody>
          <a:bodyPr wrap="square" rtlCol="0">
            <a:spAutoFit/>
          </a:bodyPr>
          <a:lstStyle/>
          <a:p>
            <a:r>
              <a:rPr lang="nl-NL" dirty="0" smtClean="0"/>
              <a:t>Ja. Deze formule is immers verkregen door op grond van </a:t>
            </a:r>
            <a:r>
              <a:rPr lang="nl-NL" i="1" dirty="0" smtClean="0"/>
              <a:t>(</a:t>
            </a:r>
            <a:r>
              <a:rPr lang="nl-NL" i="1" dirty="0" err="1" smtClean="0"/>
              <a:t>iii</a:t>
            </a:r>
            <a:r>
              <a:rPr lang="nl-NL" i="1" dirty="0" smtClean="0"/>
              <a:t>)</a:t>
            </a:r>
            <a:r>
              <a:rPr lang="nl-NL" dirty="0" smtClean="0"/>
              <a:t> </a:t>
            </a:r>
            <a:r>
              <a:rPr lang="nl-NL" b="1" dirty="0" smtClean="0"/>
              <a:t>V</a:t>
            </a:r>
            <a:r>
              <a:rPr lang="nl-NL" dirty="0" smtClean="0"/>
              <a:t> correct toe te passen op </a:t>
            </a:r>
            <a:r>
              <a:rPr lang="nl-NL" b="1" dirty="0" smtClean="0"/>
              <a:t>∃x </a:t>
            </a:r>
            <a:r>
              <a:rPr lang="nl-NL" b="1" dirty="0" err="1" smtClean="0"/>
              <a:t>Fx</a:t>
            </a:r>
            <a:r>
              <a:rPr lang="nl-NL" b="1" dirty="0" smtClean="0"/>
              <a:t> </a:t>
            </a:r>
            <a:r>
              <a:rPr lang="nl-NL" dirty="0" smtClean="0"/>
              <a:t>en</a:t>
            </a:r>
            <a:r>
              <a:rPr lang="nl-NL" b="1" dirty="0" smtClean="0"/>
              <a:t> ¬∀x </a:t>
            </a:r>
            <a:r>
              <a:rPr lang="nl-NL" b="1" dirty="0" err="1" smtClean="0"/>
              <a:t>Rxa</a:t>
            </a:r>
            <a:r>
              <a:rPr lang="nl-NL" dirty="0" smtClean="0"/>
              <a:t>. En op hun beurt zijn </a:t>
            </a:r>
            <a:r>
              <a:rPr lang="nl-NL" b="1" dirty="0" smtClean="0"/>
              <a:t>∃x </a:t>
            </a:r>
            <a:r>
              <a:rPr lang="nl-NL" b="1" dirty="0" err="1" smtClean="0"/>
              <a:t>Fx</a:t>
            </a:r>
            <a:r>
              <a:rPr lang="nl-NL" b="1" dirty="0" smtClean="0"/>
              <a:t> </a:t>
            </a:r>
            <a:r>
              <a:rPr lang="nl-NL" dirty="0" smtClean="0"/>
              <a:t>en </a:t>
            </a:r>
            <a:r>
              <a:rPr lang="nl-NL" b="1" dirty="0" smtClean="0"/>
              <a:t>¬∀x </a:t>
            </a:r>
            <a:r>
              <a:rPr lang="nl-NL" b="1" dirty="0" err="1" smtClean="0"/>
              <a:t>Rxa</a:t>
            </a:r>
            <a:r>
              <a:rPr lang="nl-NL" b="1" dirty="0" smtClean="0"/>
              <a:t> </a:t>
            </a:r>
            <a:r>
              <a:rPr lang="nl-NL" dirty="0" smtClean="0"/>
              <a:t>verkregen door </a:t>
            </a:r>
            <a:r>
              <a:rPr lang="nl-NL" i="1" dirty="0" smtClean="0"/>
              <a:t>(</a:t>
            </a:r>
            <a:r>
              <a:rPr lang="nl-NL" i="1" dirty="0" err="1" smtClean="0"/>
              <a:t>iv</a:t>
            </a:r>
            <a:r>
              <a:rPr lang="nl-NL" i="1" dirty="0" smtClean="0"/>
              <a:t>)</a:t>
            </a:r>
            <a:r>
              <a:rPr lang="nl-NL" dirty="0" smtClean="0"/>
              <a:t> toe te passen op respectievelijk </a:t>
            </a:r>
            <a:r>
              <a:rPr lang="nl-NL" b="1" dirty="0" err="1" smtClean="0"/>
              <a:t>Fx</a:t>
            </a:r>
            <a:r>
              <a:rPr lang="nl-NL" b="1" dirty="0" smtClean="0"/>
              <a:t> </a:t>
            </a:r>
            <a:r>
              <a:rPr lang="nl-NL" dirty="0" smtClean="0"/>
              <a:t>en </a:t>
            </a:r>
            <a:r>
              <a:rPr lang="nl-NL" b="1" dirty="0" err="1" smtClean="0"/>
              <a:t>Rxa</a:t>
            </a:r>
            <a:r>
              <a:rPr lang="nl-NL" dirty="0" smtClean="0"/>
              <a:t>. En dit is eveneens correct omdat </a:t>
            </a:r>
            <a:r>
              <a:rPr lang="nl-NL" b="1" dirty="0" smtClean="0"/>
              <a:t>x </a:t>
            </a:r>
            <a:r>
              <a:rPr lang="nl-NL" dirty="0" smtClean="0"/>
              <a:t>vrij is in </a:t>
            </a:r>
            <a:r>
              <a:rPr lang="nl-NL" b="1" dirty="0" err="1" smtClean="0"/>
              <a:t>Fx</a:t>
            </a:r>
            <a:r>
              <a:rPr lang="nl-NL" dirty="0" smtClean="0"/>
              <a:t> en omdat </a:t>
            </a:r>
            <a:r>
              <a:rPr lang="nl-NL" b="1" dirty="0" smtClean="0"/>
              <a:t>x</a:t>
            </a:r>
            <a:r>
              <a:rPr lang="nl-NL" dirty="0" smtClean="0"/>
              <a:t> vrij is in </a:t>
            </a:r>
            <a:r>
              <a:rPr lang="nl-NL" b="1" dirty="0" err="1" smtClean="0"/>
              <a:t>Rxa</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1" name="TextBox 10"/>
          <p:cNvSpPr txBox="1"/>
          <p:nvPr/>
        </p:nvSpPr>
        <p:spPr>
          <a:xfrm>
            <a:off x="611560" y="2051556"/>
            <a:ext cx="2016224" cy="369332"/>
          </a:xfrm>
          <a:prstGeom prst="rect">
            <a:avLst/>
          </a:prstGeom>
          <a:noFill/>
        </p:spPr>
        <p:txBody>
          <a:bodyPr wrap="square" rtlCol="0">
            <a:spAutoFit/>
          </a:bodyPr>
          <a:lstStyle/>
          <a:p>
            <a:r>
              <a:rPr lang="nl-NL" b="1" dirty="0" smtClean="0"/>
              <a:t>∃x </a:t>
            </a:r>
            <a:r>
              <a:rPr lang="nl-NL" b="1" dirty="0" err="1" smtClean="0"/>
              <a:t>Fx</a:t>
            </a:r>
            <a:r>
              <a:rPr lang="nl-NL" b="1" dirty="0" smtClean="0"/>
              <a:t> V ¬∀x </a:t>
            </a:r>
            <a:r>
              <a:rPr lang="nl-NL" b="1" dirty="0" err="1" smtClean="0"/>
              <a:t>Rxa</a:t>
            </a:r>
            <a:r>
              <a:rPr lang="nl-NL" b="1" dirty="0" smtClean="0"/>
              <a:t>  </a:t>
            </a:r>
            <a:endParaRPr lang="nl-NL" dirty="0" smtClean="0"/>
          </a:p>
        </p:txBody>
      </p:sp>
      <p:sp>
        <p:nvSpPr>
          <p:cNvPr id="8" name="TextBox 7"/>
          <p:cNvSpPr txBox="1"/>
          <p:nvPr/>
        </p:nvSpPr>
        <p:spPr>
          <a:xfrm>
            <a:off x="3347864" y="2051556"/>
            <a:ext cx="4608512" cy="923330"/>
          </a:xfrm>
          <a:prstGeom prst="rect">
            <a:avLst/>
          </a:prstGeom>
          <a:noFill/>
        </p:spPr>
        <p:txBody>
          <a:bodyPr wrap="square" rtlCol="0">
            <a:spAutoFit/>
          </a:bodyPr>
          <a:lstStyle/>
          <a:p>
            <a:r>
              <a:rPr lang="nl-NL" dirty="0" smtClean="0"/>
              <a:t>Het bereik van </a:t>
            </a:r>
            <a:r>
              <a:rPr lang="nl-NL" b="1" dirty="0" smtClean="0"/>
              <a:t>∃x</a:t>
            </a:r>
            <a:r>
              <a:rPr lang="nl-NL" dirty="0" smtClean="0"/>
              <a:t> (zijnde </a:t>
            </a:r>
            <a:r>
              <a:rPr lang="nl-NL" b="1" dirty="0" err="1" smtClean="0"/>
              <a:t>Fx</a:t>
            </a:r>
            <a:r>
              <a:rPr lang="nl-NL" dirty="0" smtClean="0"/>
              <a:t>) overlapt niet met het bereik van </a:t>
            </a:r>
            <a:r>
              <a:rPr lang="nl-NL" b="1" dirty="0" smtClean="0"/>
              <a:t>∀x</a:t>
            </a:r>
            <a:r>
              <a:rPr lang="nl-NL" dirty="0" smtClean="0"/>
              <a:t> (zijnde </a:t>
            </a:r>
            <a:r>
              <a:rPr lang="nl-NL" b="1" dirty="0" err="1" smtClean="0"/>
              <a:t>Rxa</a:t>
            </a:r>
            <a:r>
              <a:rPr lang="nl-NL" dirty="0" smtClean="0"/>
              <a:t>).  In principe kan hier dus geen verwarring optreden. </a:t>
            </a:r>
            <a:endParaRPr lang="nl-NL" dirty="0"/>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1" name="TextBox 10"/>
          <p:cNvSpPr txBox="1"/>
          <p:nvPr/>
        </p:nvSpPr>
        <p:spPr>
          <a:xfrm>
            <a:off x="611560" y="2051556"/>
            <a:ext cx="2016224" cy="369332"/>
          </a:xfrm>
          <a:prstGeom prst="rect">
            <a:avLst/>
          </a:prstGeom>
          <a:noFill/>
        </p:spPr>
        <p:txBody>
          <a:bodyPr wrap="square" rtlCol="0">
            <a:spAutoFit/>
          </a:bodyPr>
          <a:lstStyle/>
          <a:p>
            <a:r>
              <a:rPr lang="nl-NL" b="1" dirty="0" smtClean="0"/>
              <a:t>∃</a:t>
            </a:r>
            <a:r>
              <a:rPr lang="nl-NL" b="1" dirty="0" smtClean="0">
                <a:solidFill>
                  <a:srgbClr val="0070C0"/>
                </a:solidFill>
              </a:rPr>
              <a:t>x</a:t>
            </a:r>
            <a:r>
              <a:rPr lang="nl-NL" dirty="0" smtClean="0">
                <a:solidFill>
                  <a:srgbClr val="0070C0"/>
                </a:solidFill>
              </a:rPr>
              <a:t> </a:t>
            </a:r>
            <a:r>
              <a:rPr lang="nl-NL" b="1" dirty="0" err="1" smtClean="0"/>
              <a:t>F</a:t>
            </a:r>
            <a:r>
              <a:rPr lang="nl-NL" b="1" dirty="0" err="1" smtClean="0">
                <a:solidFill>
                  <a:srgbClr val="0070C0"/>
                </a:solidFill>
              </a:rPr>
              <a:t>x</a:t>
            </a:r>
            <a:r>
              <a:rPr lang="nl-NL" b="1" dirty="0" smtClean="0"/>
              <a:t> V ¬∀</a:t>
            </a:r>
            <a:r>
              <a:rPr lang="nl-NL" b="1" dirty="0" smtClean="0">
                <a:solidFill>
                  <a:srgbClr val="FF0000"/>
                </a:solidFill>
              </a:rPr>
              <a:t>y</a:t>
            </a:r>
            <a:r>
              <a:rPr lang="nl-NL" b="1" dirty="0" smtClean="0"/>
              <a:t> </a:t>
            </a:r>
            <a:r>
              <a:rPr lang="nl-NL" b="1" dirty="0" err="1" smtClean="0"/>
              <a:t>R</a:t>
            </a:r>
            <a:r>
              <a:rPr lang="nl-NL" b="1" dirty="0" err="1" smtClean="0">
                <a:solidFill>
                  <a:srgbClr val="FF0000"/>
                </a:solidFill>
              </a:rPr>
              <a:t>y</a:t>
            </a:r>
            <a:r>
              <a:rPr lang="nl-NL" b="1" dirty="0" err="1" smtClean="0"/>
              <a:t>a</a:t>
            </a:r>
            <a:r>
              <a:rPr lang="nl-NL" b="1" dirty="0" smtClean="0"/>
              <a:t>  </a:t>
            </a:r>
            <a:endParaRPr lang="nl-NL" dirty="0" smtClean="0"/>
          </a:p>
        </p:txBody>
      </p:sp>
      <p:sp>
        <p:nvSpPr>
          <p:cNvPr id="8" name="TextBox 7"/>
          <p:cNvSpPr txBox="1"/>
          <p:nvPr/>
        </p:nvSpPr>
        <p:spPr>
          <a:xfrm>
            <a:off x="3347864" y="2051556"/>
            <a:ext cx="4608512" cy="923330"/>
          </a:xfrm>
          <a:prstGeom prst="rect">
            <a:avLst/>
          </a:prstGeom>
          <a:noFill/>
        </p:spPr>
        <p:txBody>
          <a:bodyPr wrap="square" rtlCol="0">
            <a:spAutoFit/>
          </a:bodyPr>
          <a:lstStyle/>
          <a:p>
            <a:r>
              <a:rPr lang="nl-NL" dirty="0" smtClean="0"/>
              <a:t>Toch kiezen we om misverstanden te voorkomen in zulke gevallen liever voor </a:t>
            </a:r>
            <a:r>
              <a:rPr lang="nl-NL" i="1" dirty="0" smtClean="0"/>
              <a:t>verschillende</a:t>
            </a:r>
            <a:r>
              <a:rPr lang="nl-NL" dirty="0" smtClean="0"/>
              <a:t> individuvariabelen </a:t>
            </a:r>
            <a:r>
              <a:rPr lang="nl-NL" b="1" dirty="0" smtClean="0">
                <a:solidFill>
                  <a:srgbClr val="0070C0"/>
                </a:solidFill>
              </a:rPr>
              <a:t>x</a:t>
            </a:r>
            <a:r>
              <a:rPr lang="nl-NL" dirty="0" smtClean="0"/>
              <a:t> en </a:t>
            </a:r>
            <a:r>
              <a:rPr lang="nl-NL" b="1" dirty="0" smtClean="0">
                <a:solidFill>
                  <a:srgbClr val="FF0000"/>
                </a:solidFill>
              </a:rPr>
              <a:t>y</a:t>
            </a:r>
            <a:r>
              <a:rPr lang="nl-NL" dirty="0" smtClean="0"/>
              <a:t>.</a:t>
            </a:r>
            <a:endParaRPr lang="nl-NL" dirty="0"/>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Wat wordt bedoeld met de uitspraak                            </a:t>
            </a:r>
            <a:r>
              <a:rPr lang="nl-NL" sz="3600" i="1" dirty="0" smtClean="0"/>
              <a:t>“Individuvariabele </a:t>
            </a:r>
            <a:r>
              <a:rPr lang="nl-NL" sz="3600" b="1" i="1" dirty="0" smtClean="0"/>
              <a:t>x</a:t>
            </a:r>
            <a:r>
              <a:rPr lang="nl-NL" sz="3600" i="1" dirty="0" smtClean="0"/>
              <a:t> treedt vrij op in </a:t>
            </a:r>
            <a:r>
              <a:rPr lang="el-GR" sz="3600" b="1" i="1" dirty="0" smtClean="0"/>
              <a:t>α</a:t>
            </a:r>
            <a:r>
              <a:rPr lang="nl-NL" sz="3600" b="1" i="1" dirty="0" smtClean="0"/>
              <a:t>[x]</a:t>
            </a:r>
            <a:r>
              <a:rPr lang="nl-NL" sz="3600" i="1" dirty="0" smtClean="0"/>
              <a:t>”</a:t>
            </a:r>
            <a:r>
              <a:rPr lang="nl-NL" sz="3600" dirty="0" smtClean="0"/>
              <a:t> ? </a:t>
            </a:r>
            <a:endParaRPr lang="nl-NL" sz="3600" dirty="0"/>
          </a:p>
        </p:txBody>
      </p:sp>
      <p:sp>
        <p:nvSpPr>
          <p:cNvPr id="11" name="TextBox 10"/>
          <p:cNvSpPr txBox="1"/>
          <p:nvPr/>
        </p:nvSpPr>
        <p:spPr>
          <a:xfrm>
            <a:off x="611560" y="2051556"/>
            <a:ext cx="2016224" cy="369332"/>
          </a:xfrm>
          <a:prstGeom prst="rect">
            <a:avLst/>
          </a:prstGeom>
          <a:noFill/>
        </p:spPr>
        <p:txBody>
          <a:bodyPr wrap="square" rtlCol="0">
            <a:spAutoFit/>
          </a:bodyPr>
          <a:lstStyle/>
          <a:p>
            <a:r>
              <a:rPr lang="nl-NL" b="1" dirty="0" smtClean="0"/>
              <a:t>∃x </a:t>
            </a:r>
            <a:r>
              <a:rPr lang="nl-NL" b="1" dirty="0" err="1" smtClean="0"/>
              <a:t>Fx</a:t>
            </a:r>
            <a:r>
              <a:rPr lang="nl-NL" b="1" dirty="0" smtClean="0"/>
              <a:t> V ¬∀y </a:t>
            </a:r>
            <a:r>
              <a:rPr lang="nl-NL" b="1" dirty="0" err="1" smtClean="0"/>
              <a:t>Rya</a:t>
            </a:r>
            <a:r>
              <a:rPr lang="nl-NL" b="1" dirty="0" smtClean="0"/>
              <a:t>  </a:t>
            </a:r>
            <a:endParaRPr lang="nl-NL" dirty="0" smtClean="0"/>
          </a:p>
        </p:txBody>
      </p:sp>
      <p:sp>
        <p:nvSpPr>
          <p:cNvPr id="8" name="TextBox 7"/>
          <p:cNvSpPr txBox="1"/>
          <p:nvPr/>
        </p:nvSpPr>
        <p:spPr>
          <a:xfrm>
            <a:off x="3347864" y="2051556"/>
            <a:ext cx="4608512" cy="923330"/>
          </a:xfrm>
          <a:prstGeom prst="rect">
            <a:avLst/>
          </a:prstGeom>
          <a:noFill/>
        </p:spPr>
        <p:txBody>
          <a:bodyPr wrap="square" rtlCol="0">
            <a:spAutoFit/>
          </a:bodyPr>
          <a:lstStyle/>
          <a:p>
            <a:r>
              <a:rPr lang="nl-NL" dirty="0" smtClean="0"/>
              <a:t>Toch kiezen we om misverstanden te voorkomen in zulke gevallen liever voor verschillende individuvariabelen.</a:t>
            </a:r>
            <a:endParaRPr lang="nl-NL" dirty="0"/>
          </a:p>
        </p:txBody>
      </p:sp>
    </p:spTree>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Proposities en formules</a:t>
            </a:r>
            <a:endParaRPr lang="nl-NL" sz="3600" dirty="0"/>
          </a:p>
        </p:txBody>
      </p:sp>
      <p:sp>
        <p:nvSpPr>
          <p:cNvPr id="5" name="Content Placeholder 2"/>
          <p:cNvSpPr>
            <a:spLocks noGrp="1"/>
          </p:cNvSpPr>
          <p:nvPr>
            <p:ph idx="1"/>
          </p:nvPr>
        </p:nvSpPr>
        <p:spPr>
          <a:xfrm>
            <a:off x="457200" y="1600201"/>
            <a:ext cx="8686800" cy="1108720"/>
          </a:xfrm>
        </p:spPr>
        <p:txBody>
          <a:bodyPr>
            <a:noAutofit/>
          </a:bodyPr>
          <a:lstStyle/>
          <a:p>
            <a:r>
              <a:rPr lang="nl-NL" sz="2000" dirty="0" smtClean="0"/>
              <a:t>Iedere propositie is een formule, maar niet iedere formule is een propositie</a:t>
            </a:r>
          </a:p>
          <a:p>
            <a:endParaRPr lang="nl-NL" sz="2000" dirty="0" smtClean="0"/>
          </a:p>
          <a:p>
            <a:endParaRPr lang="nl-NL" sz="2000" dirty="0" smtClean="0"/>
          </a:p>
        </p:txBody>
      </p:sp>
      <p:sp>
        <p:nvSpPr>
          <p:cNvPr id="4" name="Content Placeholder 2"/>
          <p:cNvSpPr txBox="1">
            <a:spLocks/>
          </p:cNvSpPr>
          <p:nvPr/>
        </p:nvSpPr>
        <p:spPr>
          <a:xfrm>
            <a:off x="421704" y="2132856"/>
            <a:ext cx="8686800"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Alleen een</a:t>
            </a:r>
            <a:r>
              <a:rPr kumimoji="0" lang="nl-NL" sz="2000" b="0" i="0" u="none" strike="noStrike" kern="1200" cap="none" spc="0" normalizeH="0" noProof="0" dirty="0" smtClean="0">
                <a:ln>
                  <a:noFill/>
                </a:ln>
                <a:solidFill>
                  <a:schemeClr val="tx1"/>
                </a:solidFill>
                <a:effectLst/>
                <a:uLnTx/>
                <a:uFillTx/>
                <a:latin typeface="+mn-lt"/>
                <a:ea typeface="+mn-ea"/>
                <a:cs typeface="+mn-cs"/>
              </a:rPr>
              <a:t> formule waarin geen variabelen optreden, of waarin geen enkel optreden van een variabele vrij is, is een propositie. Een formule met daarin tenminste één vrij optreden van een variabele is dus geen propositie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TextBox 5"/>
          <p:cNvSpPr txBox="1"/>
          <p:nvPr/>
        </p:nvSpPr>
        <p:spPr>
          <a:xfrm>
            <a:off x="467544" y="3501008"/>
            <a:ext cx="792088" cy="369332"/>
          </a:xfrm>
          <a:prstGeom prst="rect">
            <a:avLst/>
          </a:prstGeom>
          <a:noFill/>
        </p:spPr>
        <p:txBody>
          <a:bodyPr wrap="square" rtlCol="0">
            <a:spAutoFit/>
          </a:bodyPr>
          <a:lstStyle/>
          <a:p>
            <a:r>
              <a:rPr lang="nl-NL" b="1" dirty="0" smtClean="0"/>
              <a:t>Rab</a:t>
            </a:r>
            <a:endParaRPr lang="nl-NL" dirty="0" smtClean="0"/>
          </a:p>
        </p:txBody>
      </p:sp>
      <p:sp>
        <p:nvSpPr>
          <p:cNvPr id="7" name="TextBox 6"/>
          <p:cNvSpPr txBox="1"/>
          <p:nvPr/>
        </p:nvSpPr>
        <p:spPr>
          <a:xfrm>
            <a:off x="467544" y="4130496"/>
            <a:ext cx="1944216" cy="369332"/>
          </a:xfrm>
          <a:prstGeom prst="rect">
            <a:avLst/>
          </a:prstGeom>
          <a:noFill/>
        </p:spPr>
        <p:txBody>
          <a:bodyPr wrap="square" rtlCol="0">
            <a:spAutoFit/>
          </a:bodyPr>
          <a:lstStyle/>
          <a:p>
            <a:r>
              <a:rPr lang="nl-NL" b="1" dirty="0" smtClean="0"/>
              <a:t>∀x (</a:t>
            </a:r>
            <a:r>
              <a:rPr lang="nl-NL" b="1" dirty="0" err="1" smtClean="0"/>
              <a:t>Kx</a:t>
            </a:r>
            <a:r>
              <a:rPr lang="nl-NL" b="1" dirty="0" smtClean="0"/>
              <a:t> → ∃y </a:t>
            </a:r>
            <a:r>
              <a:rPr lang="nl-NL" b="1" dirty="0" err="1" smtClean="0"/>
              <a:t>Mxy</a:t>
            </a:r>
            <a:r>
              <a:rPr lang="nl-NL" b="1" dirty="0" smtClean="0"/>
              <a:t>)</a:t>
            </a:r>
            <a:endParaRPr lang="nl-NL" dirty="0" smtClean="0"/>
          </a:p>
        </p:txBody>
      </p:sp>
      <p:sp>
        <p:nvSpPr>
          <p:cNvPr id="8" name="TextBox 7"/>
          <p:cNvSpPr txBox="1"/>
          <p:nvPr/>
        </p:nvSpPr>
        <p:spPr>
          <a:xfrm>
            <a:off x="467544" y="4715852"/>
            <a:ext cx="1440160" cy="369332"/>
          </a:xfrm>
          <a:prstGeom prst="rect">
            <a:avLst/>
          </a:prstGeom>
          <a:noFill/>
        </p:spPr>
        <p:txBody>
          <a:bodyPr wrap="square" rtlCol="0">
            <a:spAutoFit/>
          </a:bodyPr>
          <a:lstStyle/>
          <a:p>
            <a:r>
              <a:rPr lang="nl-NL" b="1" dirty="0" smtClean="0"/>
              <a:t>∃x (</a:t>
            </a:r>
            <a:r>
              <a:rPr lang="nl-NL" b="1" dirty="0" err="1" smtClean="0"/>
              <a:t>Fx</a:t>
            </a:r>
            <a:r>
              <a:rPr lang="nl-NL" b="1" dirty="0" smtClean="0"/>
              <a:t> ∧ Ga) </a:t>
            </a:r>
            <a:endParaRPr lang="nl-NL" dirty="0" smtClean="0"/>
          </a:p>
        </p:txBody>
      </p:sp>
      <p:sp>
        <p:nvSpPr>
          <p:cNvPr id="9" name="TextBox 8"/>
          <p:cNvSpPr txBox="1"/>
          <p:nvPr/>
        </p:nvSpPr>
        <p:spPr>
          <a:xfrm>
            <a:off x="4355976" y="3501008"/>
            <a:ext cx="2232248" cy="369332"/>
          </a:xfrm>
          <a:prstGeom prst="rect">
            <a:avLst/>
          </a:prstGeom>
          <a:noFill/>
        </p:spPr>
        <p:txBody>
          <a:bodyPr wrap="square" rtlCol="0">
            <a:spAutoFit/>
          </a:bodyPr>
          <a:lstStyle/>
          <a:p>
            <a:r>
              <a:rPr lang="nl-NL" b="1" dirty="0" smtClean="0"/>
              <a:t>Fa  V  ∀x∃y∀z </a:t>
            </a:r>
            <a:r>
              <a:rPr lang="nl-NL" b="1" dirty="0" err="1" smtClean="0"/>
              <a:t>Rxyaz</a:t>
            </a:r>
            <a:endParaRPr lang="nl-NL" dirty="0" smtClean="0"/>
          </a:p>
        </p:txBody>
      </p:sp>
      <p:sp>
        <p:nvSpPr>
          <p:cNvPr id="10" name="TextBox 9"/>
          <p:cNvSpPr txBox="1"/>
          <p:nvPr/>
        </p:nvSpPr>
        <p:spPr>
          <a:xfrm>
            <a:off x="539552" y="5373216"/>
            <a:ext cx="1008112" cy="369332"/>
          </a:xfrm>
          <a:prstGeom prst="rect">
            <a:avLst/>
          </a:prstGeom>
          <a:noFill/>
        </p:spPr>
        <p:txBody>
          <a:bodyPr wrap="square" rtlCol="0">
            <a:spAutoFit/>
          </a:bodyPr>
          <a:lstStyle/>
          <a:p>
            <a:r>
              <a:rPr lang="nl-NL" b="1" dirty="0" smtClean="0"/>
              <a:t>∀y </a:t>
            </a:r>
            <a:r>
              <a:rPr lang="nl-NL" b="1" dirty="0" err="1" smtClean="0"/>
              <a:t>Hxy</a:t>
            </a:r>
            <a:endParaRPr lang="nl-NL" dirty="0" smtClean="0"/>
          </a:p>
        </p:txBody>
      </p:sp>
      <p:sp>
        <p:nvSpPr>
          <p:cNvPr id="11" name="TextBox 10"/>
          <p:cNvSpPr txBox="1"/>
          <p:nvPr/>
        </p:nvSpPr>
        <p:spPr>
          <a:xfrm>
            <a:off x="4355976" y="4715852"/>
            <a:ext cx="3096344" cy="369332"/>
          </a:xfrm>
          <a:prstGeom prst="rect">
            <a:avLst/>
          </a:prstGeom>
          <a:noFill/>
        </p:spPr>
        <p:txBody>
          <a:bodyPr wrap="square" rtlCol="0">
            <a:spAutoFit/>
          </a:bodyPr>
          <a:lstStyle/>
          <a:p>
            <a:r>
              <a:rPr lang="nl-NL" b="1" dirty="0" smtClean="0"/>
              <a:t>∀x ∀y (</a:t>
            </a:r>
            <a:r>
              <a:rPr lang="nl-NL" b="1" dirty="0" err="1" smtClean="0"/>
              <a:t>Rxy</a:t>
            </a:r>
            <a:r>
              <a:rPr lang="nl-NL" b="1" dirty="0" smtClean="0"/>
              <a:t> ∧ ∃z (</a:t>
            </a:r>
            <a:r>
              <a:rPr lang="nl-NL" b="1" dirty="0" err="1" smtClean="0"/>
              <a:t>Ryz</a:t>
            </a:r>
            <a:r>
              <a:rPr lang="nl-NL" b="1" dirty="0" smtClean="0"/>
              <a:t> → ¬</a:t>
            </a:r>
            <a:r>
              <a:rPr lang="nl-NL" b="1" dirty="0" err="1" smtClean="0"/>
              <a:t>Rxz</a:t>
            </a:r>
            <a:r>
              <a:rPr lang="nl-NL" b="1" dirty="0" smtClean="0"/>
              <a:t>))</a:t>
            </a:r>
            <a:endParaRPr lang="nl-NL" dirty="0" smtClean="0"/>
          </a:p>
        </p:txBody>
      </p:sp>
      <p:sp>
        <p:nvSpPr>
          <p:cNvPr id="12" name="TextBox 11"/>
          <p:cNvSpPr txBox="1"/>
          <p:nvPr/>
        </p:nvSpPr>
        <p:spPr>
          <a:xfrm>
            <a:off x="4355976" y="4077072"/>
            <a:ext cx="1728192" cy="369332"/>
          </a:xfrm>
          <a:prstGeom prst="rect">
            <a:avLst/>
          </a:prstGeom>
          <a:noFill/>
        </p:spPr>
        <p:txBody>
          <a:bodyPr wrap="square" rtlCol="0">
            <a:spAutoFit/>
          </a:bodyPr>
          <a:lstStyle/>
          <a:p>
            <a:r>
              <a:rPr lang="nl-NL" b="1" dirty="0" smtClean="0"/>
              <a:t>∀x </a:t>
            </a:r>
            <a:r>
              <a:rPr lang="nl-NL" b="1" dirty="0" err="1" smtClean="0"/>
              <a:t>Exy</a:t>
            </a:r>
            <a:r>
              <a:rPr lang="nl-NL" b="1" dirty="0" smtClean="0"/>
              <a:t> ∧ ∃</a:t>
            </a:r>
            <a:r>
              <a:rPr lang="nl-NL" b="1" dirty="0" err="1" smtClean="0"/>
              <a:t>zCbz</a:t>
            </a:r>
            <a:r>
              <a:rPr lang="nl-NL" b="1" dirty="0" smtClean="0"/>
              <a:t>  </a:t>
            </a:r>
            <a:endParaRPr lang="nl-NL" dirty="0" smtClean="0"/>
          </a:p>
        </p:txBody>
      </p:sp>
      <p:sp>
        <p:nvSpPr>
          <p:cNvPr id="13" name="TextBox 12"/>
          <p:cNvSpPr txBox="1"/>
          <p:nvPr/>
        </p:nvSpPr>
        <p:spPr>
          <a:xfrm>
            <a:off x="4355976" y="5382508"/>
            <a:ext cx="2520280" cy="369332"/>
          </a:xfrm>
          <a:prstGeom prst="rect">
            <a:avLst/>
          </a:prstGeom>
          <a:noFill/>
        </p:spPr>
        <p:txBody>
          <a:bodyPr wrap="square" rtlCol="0">
            <a:spAutoFit/>
          </a:bodyPr>
          <a:lstStyle/>
          <a:p>
            <a:r>
              <a:rPr lang="nl-NL" b="1" dirty="0" smtClean="0"/>
              <a:t>∃y </a:t>
            </a:r>
            <a:r>
              <a:rPr lang="nl-NL" b="1" dirty="0" err="1" smtClean="0"/>
              <a:t>Mby</a:t>
            </a:r>
            <a:r>
              <a:rPr lang="nl-NL" b="1" dirty="0" smtClean="0"/>
              <a:t> ∧ ∀z∀w </a:t>
            </a:r>
            <a:r>
              <a:rPr lang="nl-NL" b="1" dirty="0" err="1" smtClean="0"/>
              <a:t>Hazwy</a:t>
            </a:r>
            <a:r>
              <a:rPr lang="nl-NL" b="1" dirty="0" smtClean="0"/>
              <a:t> </a:t>
            </a:r>
            <a:endParaRPr lang="nl-NL" dirty="0" smtClean="0"/>
          </a:p>
        </p:txBody>
      </p:sp>
      <p:sp>
        <p:nvSpPr>
          <p:cNvPr id="14" name="TextBox 13"/>
          <p:cNvSpPr txBox="1"/>
          <p:nvPr/>
        </p:nvSpPr>
        <p:spPr>
          <a:xfrm>
            <a:off x="1187624" y="3501008"/>
            <a:ext cx="1512168" cy="369332"/>
          </a:xfrm>
          <a:prstGeom prst="rect">
            <a:avLst/>
          </a:prstGeom>
          <a:noFill/>
        </p:spPr>
        <p:txBody>
          <a:bodyPr wrap="square" rtlCol="0">
            <a:spAutoFit/>
          </a:bodyPr>
          <a:lstStyle/>
          <a:p>
            <a:r>
              <a:rPr lang="nl-NL" i="1" dirty="0" smtClean="0"/>
              <a:t>Propositie</a:t>
            </a:r>
          </a:p>
        </p:txBody>
      </p:sp>
      <p:sp>
        <p:nvSpPr>
          <p:cNvPr id="15" name="TextBox 14"/>
          <p:cNvSpPr txBox="1"/>
          <p:nvPr/>
        </p:nvSpPr>
        <p:spPr>
          <a:xfrm>
            <a:off x="2411760" y="4139788"/>
            <a:ext cx="1224136" cy="369332"/>
          </a:xfrm>
          <a:prstGeom prst="rect">
            <a:avLst/>
          </a:prstGeom>
          <a:noFill/>
        </p:spPr>
        <p:txBody>
          <a:bodyPr wrap="square" rtlCol="0">
            <a:spAutoFit/>
          </a:bodyPr>
          <a:lstStyle/>
          <a:p>
            <a:r>
              <a:rPr lang="nl-NL" i="1" dirty="0" smtClean="0"/>
              <a:t>Propositie</a:t>
            </a:r>
          </a:p>
        </p:txBody>
      </p:sp>
      <p:sp>
        <p:nvSpPr>
          <p:cNvPr id="16" name="TextBox 15"/>
          <p:cNvSpPr txBox="1"/>
          <p:nvPr/>
        </p:nvSpPr>
        <p:spPr>
          <a:xfrm>
            <a:off x="1979712" y="4725144"/>
            <a:ext cx="1224136" cy="369332"/>
          </a:xfrm>
          <a:prstGeom prst="rect">
            <a:avLst/>
          </a:prstGeom>
          <a:noFill/>
        </p:spPr>
        <p:txBody>
          <a:bodyPr wrap="square" rtlCol="0">
            <a:spAutoFit/>
          </a:bodyPr>
          <a:lstStyle/>
          <a:p>
            <a:r>
              <a:rPr lang="nl-NL" i="1" dirty="0" smtClean="0"/>
              <a:t>Propositie</a:t>
            </a:r>
          </a:p>
        </p:txBody>
      </p:sp>
      <p:sp>
        <p:nvSpPr>
          <p:cNvPr id="17" name="TextBox 16"/>
          <p:cNvSpPr txBox="1"/>
          <p:nvPr/>
        </p:nvSpPr>
        <p:spPr>
          <a:xfrm>
            <a:off x="1619672" y="5373216"/>
            <a:ext cx="1944216" cy="369332"/>
          </a:xfrm>
          <a:prstGeom prst="rect">
            <a:avLst/>
          </a:prstGeom>
          <a:noFill/>
        </p:spPr>
        <p:txBody>
          <a:bodyPr wrap="square" rtlCol="0">
            <a:spAutoFit/>
          </a:bodyPr>
          <a:lstStyle/>
          <a:p>
            <a:r>
              <a:rPr lang="nl-NL" i="1" dirty="0" smtClean="0"/>
              <a:t>Geen propositie</a:t>
            </a:r>
          </a:p>
        </p:txBody>
      </p:sp>
      <p:sp>
        <p:nvSpPr>
          <p:cNvPr id="18" name="TextBox 17"/>
          <p:cNvSpPr txBox="1"/>
          <p:nvPr/>
        </p:nvSpPr>
        <p:spPr>
          <a:xfrm>
            <a:off x="6732240" y="3491716"/>
            <a:ext cx="1224136" cy="369332"/>
          </a:xfrm>
          <a:prstGeom prst="rect">
            <a:avLst/>
          </a:prstGeom>
          <a:noFill/>
        </p:spPr>
        <p:txBody>
          <a:bodyPr wrap="square" rtlCol="0">
            <a:spAutoFit/>
          </a:bodyPr>
          <a:lstStyle/>
          <a:p>
            <a:r>
              <a:rPr lang="nl-NL" i="1" dirty="0" smtClean="0"/>
              <a:t>Propositie</a:t>
            </a:r>
          </a:p>
        </p:txBody>
      </p:sp>
      <p:sp>
        <p:nvSpPr>
          <p:cNvPr id="19" name="TextBox 18"/>
          <p:cNvSpPr txBox="1"/>
          <p:nvPr/>
        </p:nvSpPr>
        <p:spPr>
          <a:xfrm>
            <a:off x="6372200" y="4077072"/>
            <a:ext cx="1728192" cy="369332"/>
          </a:xfrm>
          <a:prstGeom prst="rect">
            <a:avLst/>
          </a:prstGeom>
          <a:noFill/>
        </p:spPr>
        <p:txBody>
          <a:bodyPr wrap="square" rtlCol="0">
            <a:spAutoFit/>
          </a:bodyPr>
          <a:lstStyle/>
          <a:p>
            <a:r>
              <a:rPr lang="nl-NL" i="1" dirty="0" smtClean="0"/>
              <a:t>Geen propositie</a:t>
            </a:r>
          </a:p>
        </p:txBody>
      </p:sp>
      <p:sp>
        <p:nvSpPr>
          <p:cNvPr id="20" name="TextBox 19"/>
          <p:cNvSpPr txBox="1"/>
          <p:nvPr/>
        </p:nvSpPr>
        <p:spPr>
          <a:xfrm>
            <a:off x="7524328" y="4715852"/>
            <a:ext cx="1224136" cy="369332"/>
          </a:xfrm>
          <a:prstGeom prst="rect">
            <a:avLst/>
          </a:prstGeom>
          <a:noFill/>
        </p:spPr>
        <p:txBody>
          <a:bodyPr wrap="square" rtlCol="0">
            <a:spAutoFit/>
          </a:bodyPr>
          <a:lstStyle/>
          <a:p>
            <a:r>
              <a:rPr lang="nl-NL" i="1" dirty="0" smtClean="0"/>
              <a:t>Propositie</a:t>
            </a:r>
          </a:p>
        </p:txBody>
      </p:sp>
      <p:sp>
        <p:nvSpPr>
          <p:cNvPr id="21" name="TextBox 20"/>
          <p:cNvSpPr txBox="1"/>
          <p:nvPr/>
        </p:nvSpPr>
        <p:spPr>
          <a:xfrm>
            <a:off x="6948264" y="5363924"/>
            <a:ext cx="1800200" cy="369332"/>
          </a:xfrm>
          <a:prstGeom prst="rect">
            <a:avLst/>
          </a:prstGeom>
          <a:noFill/>
        </p:spPr>
        <p:txBody>
          <a:bodyPr wrap="square" rtlCol="0">
            <a:spAutoFit/>
          </a:bodyPr>
          <a:lstStyle/>
          <a:p>
            <a:r>
              <a:rPr lang="nl-NL" i="1" dirty="0" smtClean="0"/>
              <a:t>Geen propositie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2000"/>
                                        <p:tgtEl>
                                          <p:spTgt spid="1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fade">
                                      <p:cBhvr>
                                        <p:cTn id="22" dur="20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20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xEl>
                                              <p:pRg st="0" end="0"/>
                                            </p:txEl>
                                          </p:spTgt>
                                        </p:tgtEl>
                                        <p:attrNameLst>
                                          <p:attrName>style.visibility</p:attrName>
                                        </p:attrNameLst>
                                      </p:cBhvr>
                                      <p:to>
                                        <p:strVal val="visible"/>
                                      </p:to>
                                    </p:set>
                                    <p:animEffect transition="in" filter="fade">
                                      <p:cBhvr>
                                        <p:cTn id="32" dur="2000"/>
                                        <p:tgtEl>
                                          <p:spTgt spid="1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fade">
                                      <p:cBhvr>
                                        <p:cTn id="37" dur="20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
                                            <p:txEl>
                                              <p:pRg st="0" end="0"/>
                                            </p:txEl>
                                          </p:spTgt>
                                        </p:tgtEl>
                                        <p:attrNameLst>
                                          <p:attrName>style.visibility</p:attrName>
                                        </p:attrNameLst>
                                      </p:cBhvr>
                                      <p:to>
                                        <p:strVal val="visible"/>
                                      </p:to>
                                    </p:set>
                                    <p:animEffect transition="in" filter="fade">
                                      <p:cBhvr>
                                        <p:cTn id="42" dur="2000"/>
                                        <p:tgtEl>
                                          <p:spTgt spid="1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animEffect transition="in" filter="fade">
                                      <p:cBhvr>
                                        <p:cTn id="47" dur="2000"/>
                                        <p:tgtEl>
                                          <p:spTgt spid="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xEl>
                                              <p:pRg st="0" end="0"/>
                                            </p:txEl>
                                          </p:spTgt>
                                        </p:tgtEl>
                                        <p:attrNameLst>
                                          <p:attrName>style.visibility</p:attrName>
                                        </p:attrNameLst>
                                      </p:cBhvr>
                                      <p:to>
                                        <p:strVal val="visible"/>
                                      </p:to>
                                    </p:set>
                                    <p:animEffect transition="in" filter="fade">
                                      <p:cBhvr>
                                        <p:cTn id="52" dur="2000"/>
                                        <p:tgtEl>
                                          <p:spTgt spid="18">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2">
                                            <p:txEl>
                                              <p:pRg st="0" end="0"/>
                                            </p:txEl>
                                          </p:spTgt>
                                        </p:tgtEl>
                                        <p:attrNameLst>
                                          <p:attrName>style.visibility</p:attrName>
                                        </p:attrNameLst>
                                      </p:cBhvr>
                                      <p:to>
                                        <p:strVal val="visible"/>
                                      </p:to>
                                    </p:set>
                                    <p:animEffect transition="in" filter="fade">
                                      <p:cBhvr>
                                        <p:cTn id="57" dur="2000"/>
                                        <p:tgtEl>
                                          <p:spTgt spid="12">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9">
                                            <p:txEl>
                                              <p:pRg st="0" end="0"/>
                                            </p:txEl>
                                          </p:spTgt>
                                        </p:tgtEl>
                                        <p:attrNameLst>
                                          <p:attrName>style.visibility</p:attrName>
                                        </p:attrNameLst>
                                      </p:cBhvr>
                                      <p:to>
                                        <p:strVal val="visible"/>
                                      </p:to>
                                    </p:set>
                                    <p:animEffect transition="in" filter="fade">
                                      <p:cBhvr>
                                        <p:cTn id="62" dur="2000"/>
                                        <p:tgtEl>
                                          <p:spTgt spid="19">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1">
                                            <p:txEl>
                                              <p:pRg st="0" end="0"/>
                                            </p:txEl>
                                          </p:spTgt>
                                        </p:tgtEl>
                                        <p:attrNameLst>
                                          <p:attrName>style.visibility</p:attrName>
                                        </p:attrNameLst>
                                      </p:cBhvr>
                                      <p:to>
                                        <p:strVal val="visible"/>
                                      </p:to>
                                    </p:set>
                                    <p:animEffect transition="in" filter="fade">
                                      <p:cBhvr>
                                        <p:cTn id="67" dur="2000"/>
                                        <p:tgtEl>
                                          <p:spTgt spid="11">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0">
                                            <p:txEl>
                                              <p:pRg st="0" end="0"/>
                                            </p:txEl>
                                          </p:spTgt>
                                        </p:tgtEl>
                                        <p:attrNameLst>
                                          <p:attrName>style.visibility</p:attrName>
                                        </p:attrNameLst>
                                      </p:cBhvr>
                                      <p:to>
                                        <p:strVal val="visible"/>
                                      </p:to>
                                    </p:set>
                                    <p:animEffect transition="in" filter="fade">
                                      <p:cBhvr>
                                        <p:cTn id="72" dur="2000"/>
                                        <p:tgtEl>
                                          <p:spTgt spid="20">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3">
                                            <p:txEl>
                                              <p:pRg st="0" end="0"/>
                                            </p:txEl>
                                          </p:spTgt>
                                        </p:tgtEl>
                                        <p:attrNameLst>
                                          <p:attrName>style.visibility</p:attrName>
                                        </p:attrNameLst>
                                      </p:cBhvr>
                                      <p:to>
                                        <p:strVal val="visible"/>
                                      </p:to>
                                    </p:set>
                                    <p:animEffect transition="in" filter="fade">
                                      <p:cBhvr>
                                        <p:cTn id="77" dur="2000"/>
                                        <p:tgtEl>
                                          <p:spTgt spid="13">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1">
                                            <p:txEl>
                                              <p:pRg st="0" end="0"/>
                                            </p:txEl>
                                          </p:spTgt>
                                        </p:tgtEl>
                                        <p:attrNameLst>
                                          <p:attrName>style.visibility</p:attrName>
                                        </p:attrNameLst>
                                      </p:cBhvr>
                                      <p:to>
                                        <p:strVal val="visible"/>
                                      </p:to>
                                    </p:set>
                                    <p:animEffect transition="in" filter="fade">
                                      <p:cBhvr>
                                        <p:cTn id="82" dur="2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build="allAtOnce"/>
      <p:bldP spid="10" grpId="0" build="allAtOnce"/>
      <p:bldP spid="11" grpId="0" build="allAtOnce"/>
      <p:bldP spid="12" grpId="0" build="allAtOnce"/>
      <p:bldP spid="13" grpId="0" build="allAtOnce"/>
      <p:bldP spid="14" grpId="0" build="allAtOnce"/>
      <p:bldP spid="15" grpId="0" build="allAtOnce"/>
      <p:bldP spid="16" grpId="0" build="allAtOnce"/>
      <p:bldP spid="17" grpId="0" build="allAtOnce"/>
      <p:bldP spid="18" grpId="0" build="allAtOnce"/>
      <p:bldP spid="19" grpId="0" build="allAtOnce"/>
      <p:bldP spid="20" grpId="0" build="allAtOnce"/>
      <p:bldP spid="21" grpId="0" build="allAtOnce"/>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Complexere vertalingen</a:t>
            </a:r>
            <a:endParaRPr lang="nl-NL" sz="3600" dirty="0"/>
          </a:p>
        </p:txBody>
      </p:sp>
      <p:sp>
        <p:nvSpPr>
          <p:cNvPr id="3" name="Content Placeholder 2"/>
          <p:cNvSpPr>
            <a:spLocks noGrp="1"/>
          </p:cNvSpPr>
          <p:nvPr>
            <p:ph idx="1"/>
          </p:nvPr>
        </p:nvSpPr>
        <p:spPr>
          <a:xfrm>
            <a:off x="-180528" y="1528193"/>
            <a:ext cx="3744416" cy="676671"/>
          </a:xfrm>
        </p:spPr>
        <p:txBody>
          <a:bodyPr>
            <a:noAutofit/>
          </a:bodyPr>
          <a:lstStyle/>
          <a:p>
            <a:pPr>
              <a:buNone/>
            </a:pPr>
            <a:r>
              <a:rPr lang="nl-NL" sz="2000" dirty="0" smtClean="0"/>
              <a:t>      Piet krijgt een CD</a:t>
            </a:r>
            <a:endParaRPr lang="nl-NL" sz="2000" i="1" dirty="0" smtClean="0"/>
          </a:p>
          <a:p>
            <a:endParaRPr lang="nl-NL" sz="2000" dirty="0" smtClean="0"/>
          </a:p>
        </p:txBody>
      </p:sp>
      <p:sp>
        <p:nvSpPr>
          <p:cNvPr id="18" name="Rectangle 17"/>
          <p:cNvSpPr/>
          <p:nvPr/>
        </p:nvSpPr>
        <p:spPr>
          <a:xfrm>
            <a:off x="4355976" y="1556792"/>
            <a:ext cx="1656184" cy="369332"/>
          </a:xfrm>
          <a:prstGeom prst="rect">
            <a:avLst/>
          </a:prstGeom>
        </p:spPr>
        <p:txBody>
          <a:bodyPr wrap="square">
            <a:spAutoFit/>
          </a:bodyPr>
          <a:lstStyle/>
          <a:p>
            <a:r>
              <a:rPr lang="nl-NL" b="1" dirty="0" smtClean="0"/>
              <a:t>∃x (</a:t>
            </a:r>
            <a:r>
              <a:rPr lang="nl-NL" b="1" dirty="0" err="1" smtClean="0"/>
              <a:t>Kpx</a:t>
            </a:r>
            <a:r>
              <a:rPr lang="nl-NL" b="1" dirty="0" smtClean="0"/>
              <a:t> ∧ </a:t>
            </a:r>
            <a:r>
              <a:rPr lang="nl-NL" b="1" dirty="0" err="1" smtClean="0"/>
              <a:t>Cx</a:t>
            </a:r>
            <a:r>
              <a:rPr lang="nl-NL" b="1" dirty="0" smtClean="0"/>
              <a:t>)  </a:t>
            </a:r>
            <a:endParaRPr lang="nl-NL" dirty="0"/>
          </a:p>
        </p:txBody>
      </p:sp>
      <p:sp>
        <p:nvSpPr>
          <p:cNvPr id="19" name="Rectangle 18"/>
          <p:cNvSpPr/>
          <p:nvPr/>
        </p:nvSpPr>
        <p:spPr>
          <a:xfrm>
            <a:off x="6300192" y="1556792"/>
            <a:ext cx="2448272" cy="923330"/>
          </a:xfrm>
          <a:prstGeom prst="rect">
            <a:avLst/>
          </a:prstGeom>
        </p:spPr>
        <p:txBody>
          <a:bodyPr wrap="square">
            <a:spAutoFit/>
          </a:bodyPr>
          <a:lstStyle/>
          <a:p>
            <a:r>
              <a:rPr lang="nl-NL" dirty="0" err="1" smtClean="0"/>
              <a:t>Kxy</a:t>
            </a:r>
            <a:r>
              <a:rPr lang="nl-NL" dirty="0" smtClean="0"/>
              <a:t>: x krijgt y</a:t>
            </a:r>
          </a:p>
          <a:p>
            <a:r>
              <a:rPr lang="nl-NL" dirty="0" smtClean="0"/>
              <a:t>p: Piet</a:t>
            </a:r>
          </a:p>
          <a:p>
            <a:r>
              <a:rPr lang="nl-NL" dirty="0" err="1" smtClean="0"/>
              <a:t>Cx</a:t>
            </a:r>
            <a:r>
              <a:rPr lang="nl-NL" dirty="0" smtClean="0"/>
              <a:t>: x is een CD </a:t>
            </a:r>
            <a:endParaRPr lang="nl-NL" dirty="0"/>
          </a:p>
        </p:txBody>
      </p:sp>
      <p:sp>
        <p:nvSpPr>
          <p:cNvPr id="22" name="Content Placeholder 2"/>
          <p:cNvSpPr txBox="1">
            <a:spLocks/>
          </p:cNvSpPr>
          <p:nvPr/>
        </p:nvSpPr>
        <p:spPr>
          <a:xfrm>
            <a:off x="-180528" y="2420888"/>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Iedereen krijgt een CD</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Rectangle 25"/>
          <p:cNvSpPr/>
          <p:nvPr/>
        </p:nvSpPr>
        <p:spPr>
          <a:xfrm>
            <a:off x="6300192" y="2505670"/>
            <a:ext cx="2448272" cy="923330"/>
          </a:xfrm>
          <a:prstGeom prst="rect">
            <a:avLst/>
          </a:prstGeom>
        </p:spPr>
        <p:txBody>
          <a:bodyPr wrap="square">
            <a:spAutoFit/>
          </a:bodyPr>
          <a:lstStyle/>
          <a:p>
            <a:r>
              <a:rPr lang="nl-NL" dirty="0" err="1" smtClean="0"/>
              <a:t>Kxy</a:t>
            </a:r>
            <a:r>
              <a:rPr lang="nl-NL" dirty="0" smtClean="0"/>
              <a:t>: x krijgt y</a:t>
            </a:r>
          </a:p>
          <a:p>
            <a:r>
              <a:rPr lang="nl-NL" dirty="0" err="1" smtClean="0"/>
              <a:t>Mx</a:t>
            </a:r>
            <a:r>
              <a:rPr lang="nl-NL" dirty="0" smtClean="0"/>
              <a:t>: x is een mens</a:t>
            </a:r>
          </a:p>
          <a:p>
            <a:r>
              <a:rPr lang="nl-NL" dirty="0" err="1" smtClean="0"/>
              <a:t>Cx</a:t>
            </a:r>
            <a:r>
              <a:rPr lang="nl-NL" dirty="0" smtClean="0"/>
              <a:t>: x is een CD</a:t>
            </a:r>
            <a:endParaRPr lang="nl-NL" dirty="0"/>
          </a:p>
        </p:txBody>
      </p:sp>
      <p:sp>
        <p:nvSpPr>
          <p:cNvPr id="27" name="Rectangle 26"/>
          <p:cNvSpPr/>
          <p:nvPr/>
        </p:nvSpPr>
        <p:spPr>
          <a:xfrm>
            <a:off x="4355976" y="2492896"/>
            <a:ext cx="1656184" cy="369332"/>
          </a:xfrm>
          <a:prstGeom prst="rect">
            <a:avLst/>
          </a:prstGeom>
        </p:spPr>
        <p:txBody>
          <a:bodyPr wrap="square">
            <a:spAutoFit/>
          </a:bodyPr>
          <a:lstStyle/>
          <a:p>
            <a:r>
              <a:rPr lang="nl-NL" b="1" dirty="0" smtClean="0"/>
              <a:t> </a:t>
            </a:r>
            <a:endParaRPr lang="nl-NL" dirty="0"/>
          </a:p>
        </p:txBody>
      </p:sp>
      <p:sp>
        <p:nvSpPr>
          <p:cNvPr id="28" name="Content Placeholder 2"/>
          <p:cNvSpPr txBox="1">
            <a:spLocks/>
          </p:cNvSpPr>
          <p:nvPr/>
        </p:nvSpPr>
        <p:spPr>
          <a:xfrm>
            <a:off x="-180528" y="3688433"/>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Frits</a:t>
            </a:r>
            <a:r>
              <a:rPr kumimoji="0" lang="nl-NL" sz="2000" b="0" i="0" u="none" strike="noStrike" kern="1200" cap="none" spc="0" normalizeH="0" noProof="0" dirty="0" smtClean="0">
                <a:ln>
                  <a:noFill/>
                </a:ln>
                <a:solidFill>
                  <a:schemeClr val="tx1"/>
                </a:solidFill>
                <a:effectLst/>
                <a:uLnTx/>
                <a:uFillTx/>
                <a:latin typeface="+mn-lt"/>
                <a:ea typeface="+mn-ea"/>
                <a:cs typeface="+mn-cs"/>
              </a:rPr>
              <a:t> heeft iets gevonden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0" name="Rectangle 29"/>
          <p:cNvSpPr/>
          <p:nvPr/>
        </p:nvSpPr>
        <p:spPr>
          <a:xfrm>
            <a:off x="6300192" y="3717032"/>
            <a:ext cx="2448272" cy="923330"/>
          </a:xfrm>
          <a:prstGeom prst="rect">
            <a:avLst/>
          </a:prstGeom>
        </p:spPr>
        <p:txBody>
          <a:bodyPr wrap="square">
            <a:spAutoFit/>
          </a:bodyPr>
          <a:lstStyle/>
          <a:p>
            <a:r>
              <a:rPr lang="nl-NL" dirty="0" smtClean="0"/>
              <a:t>f: Frits</a:t>
            </a:r>
          </a:p>
          <a:p>
            <a:r>
              <a:rPr lang="nl-NL" dirty="0" err="1" smtClean="0"/>
              <a:t>Gxy</a:t>
            </a:r>
            <a:r>
              <a:rPr lang="nl-NL" dirty="0" smtClean="0"/>
              <a:t>: x heeft y gevonden</a:t>
            </a:r>
          </a:p>
          <a:p>
            <a:r>
              <a:rPr lang="nl-NL" dirty="0" err="1" smtClean="0"/>
              <a:t>Dx</a:t>
            </a:r>
            <a:r>
              <a:rPr lang="nl-NL" dirty="0" smtClean="0"/>
              <a:t>: x is een ding</a:t>
            </a:r>
          </a:p>
        </p:txBody>
      </p:sp>
      <p:sp>
        <p:nvSpPr>
          <p:cNvPr id="31" name="Content Placeholder 2"/>
          <p:cNvSpPr txBox="1">
            <a:spLocks/>
          </p:cNvSpPr>
          <p:nvPr/>
        </p:nvSpPr>
        <p:spPr>
          <a:xfrm>
            <a:off x="-180528" y="4768553"/>
            <a:ext cx="2232248"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Het kwadraat                                      van een oneven                              getal is oneven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2" name="Rectangle 31"/>
          <p:cNvSpPr/>
          <p:nvPr/>
        </p:nvSpPr>
        <p:spPr>
          <a:xfrm>
            <a:off x="6300192" y="4798893"/>
            <a:ext cx="2843808" cy="1200329"/>
          </a:xfrm>
          <a:prstGeom prst="rect">
            <a:avLst/>
          </a:prstGeom>
        </p:spPr>
        <p:txBody>
          <a:bodyPr wrap="square">
            <a:spAutoFit/>
          </a:bodyPr>
          <a:lstStyle/>
          <a:p>
            <a:r>
              <a:rPr lang="nl-NL" dirty="0" err="1" smtClean="0"/>
              <a:t>Kxy</a:t>
            </a:r>
            <a:r>
              <a:rPr lang="nl-NL" dirty="0" smtClean="0"/>
              <a:t>: x is het kwadraat van y</a:t>
            </a:r>
          </a:p>
          <a:p>
            <a:r>
              <a:rPr lang="nl-NL" dirty="0" smtClean="0"/>
              <a:t>Ex: x is even</a:t>
            </a:r>
          </a:p>
          <a:p>
            <a:r>
              <a:rPr lang="nl-NL" dirty="0" err="1" smtClean="0"/>
              <a:t>Gx</a:t>
            </a:r>
            <a:r>
              <a:rPr lang="nl-NL" dirty="0" smtClean="0"/>
              <a:t>: x is een getal</a:t>
            </a:r>
          </a:p>
          <a:p>
            <a:endParaRPr lang="nl-NL" dirty="0" smtClean="0"/>
          </a:p>
        </p:txBody>
      </p:sp>
      <p:sp>
        <p:nvSpPr>
          <p:cNvPr id="33" name="Rectangle 32"/>
          <p:cNvSpPr/>
          <p:nvPr/>
        </p:nvSpPr>
        <p:spPr>
          <a:xfrm>
            <a:off x="2267744" y="4787860"/>
            <a:ext cx="3888432" cy="369332"/>
          </a:xfrm>
          <a:prstGeom prst="rect">
            <a:avLst/>
          </a:prstGeom>
        </p:spPr>
        <p:txBody>
          <a:bodyPr wrap="square">
            <a:spAutoFit/>
          </a:bodyPr>
          <a:lstStyle/>
          <a:p>
            <a:r>
              <a:rPr lang="nl-NL" b="1" dirty="0" smtClean="0"/>
              <a:t>∀x ((</a:t>
            </a:r>
            <a:r>
              <a:rPr lang="nl-NL" b="1" dirty="0" err="1" smtClean="0"/>
              <a:t>Gx</a:t>
            </a:r>
            <a:r>
              <a:rPr lang="nl-NL" b="1" dirty="0" smtClean="0"/>
              <a:t> ∧ ∃y (</a:t>
            </a:r>
            <a:r>
              <a:rPr lang="nl-NL" b="1" dirty="0" err="1" smtClean="0"/>
              <a:t>Gy</a:t>
            </a:r>
            <a:r>
              <a:rPr lang="nl-NL" b="1" dirty="0" smtClean="0"/>
              <a:t> ∧ </a:t>
            </a:r>
            <a:r>
              <a:rPr lang="nl-NL" b="1" dirty="0" err="1" smtClean="0"/>
              <a:t>Kxy</a:t>
            </a:r>
            <a:r>
              <a:rPr lang="nl-NL" b="1" dirty="0" smtClean="0"/>
              <a:t> ∧ ¬</a:t>
            </a:r>
            <a:r>
              <a:rPr lang="nl-NL" b="1" dirty="0" err="1" smtClean="0"/>
              <a:t>Ey</a:t>
            </a:r>
            <a:r>
              <a:rPr lang="nl-NL" b="1" dirty="0" smtClean="0"/>
              <a:t>)) → ¬Ex)    </a:t>
            </a:r>
            <a:endParaRPr lang="nl-NL" dirty="0"/>
          </a:p>
        </p:txBody>
      </p:sp>
      <p:sp>
        <p:nvSpPr>
          <p:cNvPr id="20" name="Rectangle 19"/>
          <p:cNvSpPr/>
          <p:nvPr/>
        </p:nvSpPr>
        <p:spPr>
          <a:xfrm>
            <a:off x="3419872" y="2492896"/>
            <a:ext cx="2448272" cy="369332"/>
          </a:xfrm>
          <a:prstGeom prst="rect">
            <a:avLst/>
          </a:prstGeom>
        </p:spPr>
        <p:txBody>
          <a:bodyPr wrap="square">
            <a:spAutoFit/>
          </a:bodyPr>
          <a:lstStyle/>
          <a:p>
            <a:r>
              <a:rPr lang="nl-NL" b="1" dirty="0" smtClean="0"/>
              <a:t>∀y (My → ∃x(</a:t>
            </a:r>
            <a:r>
              <a:rPr lang="nl-NL" b="1" dirty="0" err="1" smtClean="0"/>
              <a:t>Kyx</a:t>
            </a:r>
            <a:r>
              <a:rPr lang="nl-NL" b="1" dirty="0" smtClean="0"/>
              <a:t> ∧ </a:t>
            </a:r>
            <a:r>
              <a:rPr lang="nl-NL" b="1" dirty="0" err="1" smtClean="0"/>
              <a:t>Cx</a:t>
            </a:r>
            <a:r>
              <a:rPr lang="nl-NL" b="1" dirty="0" smtClean="0"/>
              <a:t>))  </a:t>
            </a:r>
            <a:endParaRPr lang="nl-NL" dirty="0"/>
          </a:p>
        </p:txBody>
      </p:sp>
      <p:sp>
        <p:nvSpPr>
          <p:cNvPr id="21" name="Rectangle 20"/>
          <p:cNvSpPr/>
          <p:nvPr/>
        </p:nvSpPr>
        <p:spPr>
          <a:xfrm>
            <a:off x="4283968" y="3707740"/>
            <a:ext cx="1512168" cy="369332"/>
          </a:xfrm>
          <a:prstGeom prst="rect">
            <a:avLst/>
          </a:prstGeom>
        </p:spPr>
        <p:txBody>
          <a:bodyPr wrap="square">
            <a:spAutoFit/>
          </a:bodyPr>
          <a:lstStyle/>
          <a:p>
            <a:r>
              <a:rPr lang="nl-NL" b="1" dirty="0" smtClean="0"/>
              <a:t>∃y (Dy ∧ </a:t>
            </a:r>
            <a:r>
              <a:rPr lang="nl-NL" b="1" dirty="0" err="1" smtClean="0"/>
              <a:t>Gfy</a:t>
            </a:r>
            <a:r>
              <a:rPr lang="nl-NL" b="1"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2000"/>
                                        <p:tgtEl>
                                          <p:spTgt spid="1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Effect transition="in" filter="fade">
                                      <p:cBhvr>
                                        <p:cTn id="13" dur="2000"/>
                                        <p:tgtEl>
                                          <p:spTgt spid="19">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2" end="2"/>
                                            </p:txEl>
                                          </p:spTgt>
                                        </p:tgtEl>
                                        <p:attrNameLst>
                                          <p:attrName>style.visibility</p:attrName>
                                        </p:attrNameLst>
                                      </p:cBhvr>
                                      <p:to>
                                        <p:strVal val="visible"/>
                                      </p:to>
                                    </p:set>
                                    <p:animEffect transition="in" filter="fade">
                                      <p:cBhvr>
                                        <p:cTn id="16" dur="2000"/>
                                        <p:tgtEl>
                                          <p:spTgt spid="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
                                            <p:txEl>
                                              <p:pRg st="0" end="0"/>
                                            </p:txEl>
                                          </p:spTgt>
                                        </p:tgtEl>
                                        <p:attrNameLst>
                                          <p:attrName>style.visibility</p:attrName>
                                        </p:attrNameLst>
                                      </p:cBhvr>
                                      <p:to>
                                        <p:strVal val="visible"/>
                                      </p:to>
                                    </p:set>
                                    <p:animEffect transition="in" filter="fade">
                                      <p:cBhvr>
                                        <p:cTn id="21" dur="2000"/>
                                        <p:tgtEl>
                                          <p:spTgt spid="2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6">
                                            <p:txEl>
                                              <p:pRg st="0" end="0"/>
                                            </p:txEl>
                                          </p:spTgt>
                                        </p:tgtEl>
                                        <p:attrNameLst>
                                          <p:attrName>style.visibility</p:attrName>
                                        </p:attrNameLst>
                                      </p:cBhvr>
                                      <p:to>
                                        <p:strVal val="visible"/>
                                      </p:to>
                                    </p:set>
                                    <p:animEffect transition="in" filter="fade">
                                      <p:cBhvr>
                                        <p:cTn id="26" dur="2000"/>
                                        <p:tgtEl>
                                          <p:spTgt spid="26">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6">
                                            <p:txEl>
                                              <p:pRg st="1" end="1"/>
                                            </p:txEl>
                                          </p:spTgt>
                                        </p:tgtEl>
                                        <p:attrNameLst>
                                          <p:attrName>style.visibility</p:attrName>
                                        </p:attrNameLst>
                                      </p:cBhvr>
                                      <p:to>
                                        <p:strVal val="visible"/>
                                      </p:to>
                                    </p:set>
                                    <p:animEffect transition="in" filter="fade">
                                      <p:cBhvr>
                                        <p:cTn id="29" dur="2000"/>
                                        <p:tgtEl>
                                          <p:spTgt spid="26">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6">
                                            <p:txEl>
                                              <p:pRg st="2" end="2"/>
                                            </p:txEl>
                                          </p:spTgt>
                                        </p:tgtEl>
                                        <p:attrNameLst>
                                          <p:attrName>style.visibility</p:attrName>
                                        </p:attrNameLst>
                                      </p:cBhvr>
                                      <p:to>
                                        <p:strVal val="visible"/>
                                      </p:to>
                                    </p:set>
                                    <p:animEffect transition="in" filter="fade">
                                      <p:cBhvr>
                                        <p:cTn id="32" dur="2000"/>
                                        <p:tgtEl>
                                          <p:spTgt spid="26">
                                            <p:txEl>
                                              <p:pRg st="2" end="2"/>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xEl>
                                              <p:pRg st="0" end="0"/>
                                            </p:txEl>
                                          </p:spTgt>
                                        </p:tgtEl>
                                        <p:attrNameLst>
                                          <p:attrName>style.visibility</p:attrName>
                                        </p:attrNameLst>
                                      </p:cBhvr>
                                      <p:to>
                                        <p:strVal val="visible"/>
                                      </p:to>
                                    </p:set>
                                    <p:animEffect transition="in" filter="fade">
                                      <p:cBhvr>
                                        <p:cTn id="35" dur="2000"/>
                                        <p:tgtEl>
                                          <p:spTgt spid="27">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xEl>
                                              <p:pRg st="0" end="0"/>
                                            </p:txEl>
                                          </p:spTgt>
                                        </p:tgtEl>
                                        <p:attrNameLst>
                                          <p:attrName>style.visibility</p:attrName>
                                        </p:attrNameLst>
                                      </p:cBhvr>
                                      <p:to>
                                        <p:strVal val="visible"/>
                                      </p:to>
                                    </p:set>
                                    <p:animEffect transition="in" filter="fade">
                                      <p:cBhvr>
                                        <p:cTn id="38" dur="2000"/>
                                        <p:tgtEl>
                                          <p:spTgt spid="2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8">
                                            <p:txEl>
                                              <p:pRg st="0" end="0"/>
                                            </p:txEl>
                                          </p:spTgt>
                                        </p:tgtEl>
                                        <p:attrNameLst>
                                          <p:attrName>style.visibility</p:attrName>
                                        </p:attrNameLst>
                                      </p:cBhvr>
                                      <p:to>
                                        <p:strVal val="visible"/>
                                      </p:to>
                                    </p:set>
                                    <p:animEffect transition="in" filter="fade">
                                      <p:cBhvr>
                                        <p:cTn id="43" dur="2000"/>
                                        <p:tgtEl>
                                          <p:spTgt spid="2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0">
                                            <p:txEl>
                                              <p:pRg st="0" end="0"/>
                                            </p:txEl>
                                          </p:spTgt>
                                        </p:tgtEl>
                                        <p:attrNameLst>
                                          <p:attrName>style.visibility</p:attrName>
                                        </p:attrNameLst>
                                      </p:cBhvr>
                                      <p:to>
                                        <p:strVal val="visible"/>
                                      </p:to>
                                    </p:set>
                                    <p:animEffect transition="in" filter="fade">
                                      <p:cBhvr>
                                        <p:cTn id="48" dur="2000"/>
                                        <p:tgtEl>
                                          <p:spTgt spid="30">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0">
                                            <p:txEl>
                                              <p:pRg st="1" end="1"/>
                                            </p:txEl>
                                          </p:spTgt>
                                        </p:tgtEl>
                                        <p:attrNameLst>
                                          <p:attrName>style.visibility</p:attrName>
                                        </p:attrNameLst>
                                      </p:cBhvr>
                                      <p:to>
                                        <p:strVal val="visible"/>
                                      </p:to>
                                    </p:set>
                                    <p:animEffect transition="in" filter="fade">
                                      <p:cBhvr>
                                        <p:cTn id="51" dur="2000"/>
                                        <p:tgtEl>
                                          <p:spTgt spid="30">
                                            <p:txEl>
                                              <p:pRg st="1" end="1"/>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0">
                                            <p:txEl>
                                              <p:pRg st="2" end="2"/>
                                            </p:txEl>
                                          </p:spTgt>
                                        </p:tgtEl>
                                        <p:attrNameLst>
                                          <p:attrName>style.visibility</p:attrName>
                                        </p:attrNameLst>
                                      </p:cBhvr>
                                      <p:to>
                                        <p:strVal val="visible"/>
                                      </p:to>
                                    </p:set>
                                    <p:animEffect transition="in" filter="fade">
                                      <p:cBhvr>
                                        <p:cTn id="54" dur="2000"/>
                                        <p:tgtEl>
                                          <p:spTgt spid="30">
                                            <p:txEl>
                                              <p:pRg st="2" end="2"/>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xEl>
                                              <p:pRg st="0" end="0"/>
                                            </p:txEl>
                                          </p:spTgt>
                                        </p:tgtEl>
                                        <p:attrNameLst>
                                          <p:attrName>style.visibility</p:attrName>
                                        </p:attrNameLst>
                                      </p:cBhvr>
                                      <p:to>
                                        <p:strVal val="visible"/>
                                      </p:to>
                                    </p:set>
                                    <p:animEffect transition="in" filter="fade">
                                      <p:cBhvr>
                                        <p:cTn id="57" dur="2000"/>
                                        <p:tgtEl>
                                          <p:spTgt spid="2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1">
                                            <p:txEl>
                                              <p:pRg st="0" end="0"/>
                                            </p:txEl>
                                          </p:spTgt>
                                        </p:tgtEl>
                                        <p:attrNameLst>
                                          <p:attrName>style.visibility</p:attrName>
                                        </p:attrNameLst>
                                      </p:cBhvr>
                                      <p:to>
                                        <p:strVal val="visible"/>
                                      </p:to>
                                    </p:set>
                                    <p:animEffect transition="in" filter="fade">
                                      <p:cBhvr>
                                        <p:cTn id="62" dur="2000"/>
                                        <p:tgtEl>
                                          <p:spTgt spid="31">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2">
                                            <p:txEl>
                                              <p:pRg st="0" end="0"/>
                                            </p:txEl>
                                          </p:spTgt>
                                        </p:tgtEl>
                                        <p:attrNameLst>
                                          <p:attrName>style.visibility</p:attrName>
                                        </p:attrNameLst>
                                      </p:cBhvr>
                                      <p:to>
                                        <p:strVal val="visible"/>
                                      </p:to>
                                    </p:set>
                                    <p:animEffect transition="in" filter="fade">
                                      <p:cBhvr>
                                        <p:cTn id="67" dur="2000"/>
                                        <p:tgtEl>
                                          <p:spTgt spid="32">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xEl>
                                              <p:pRg st="1" end="1"/>
                                            </p:txEl>
                                          </p:spTgt>
                                        </p:tgtEl>
                                        <p:attrNameLst>
                                          <p:attrName>style.visibility</p:attrName>
                                        </p:attrNameLst>
                                      </p:cBhvr>
                                      <p:to>
                                        <p:strVal val="visible"/>
                                      </p:to>
                                    </p:set>
                                    <p:animEffect transition="in" filter="fade">
                                      <p:cBhvr>
                                        <p:cTn id="70" dur="2000"/>
                                        <p:tgtEl>
                                          <p:spTgt spid="32">
                                            <p:txEl>
                                              <p:pRg st="1" end="1"/>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2">
                                            <p:txEl>
                                              <p:pRg st="2" end="2"/>
                                            </p:txEl>
                                          </p:spTgt>
                                        </p:tgtEl>
                                        <p:attrNameLst>
                                          <p:attrName>style.visibility</p:attrName>
                                        </p:attrNameLst>
                                      </p:cBhvr>
                                      <p:to>
                                        <p:strVal val="visible"/>
                                      </p:to>
                                    </p:set>
                                    <p:animEffect transition="in" filter="fade">
                                      <p:cBhvr>
                                        <p:cTn id="73" dur="2000"/>
                                        <p:tgtEl>
                                          <p:spTgt spid="32">
                                            <p:txEl>
                                              <p:pRg st="2" end="2"/>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3">
                                            <p:txEl>
                                              <p:pRg st="0" end="0"/>
                                            </p:txEl>
                                          </p:spTgt>
                                        </p:tgtEl>
                                        <p:attrNameLst>
                                          <p:attrName>style.visibility</p:attrName>
                                        </p:attrNameLst>
                                      </p:cBhvr>
                                      <p:to>
                                        <p:strVal val="visible"/>
                                      </p:to>
                                    </p:set>
                                    <p:animEffect transition="in" filter="fade">
                                      <p:cBhvr>
                                        <p:cTn id="76" dur="20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2" grpId="0" build="allAtOnce"/>
      <p:bldP spid="26" grpId="0" build="allAtOnce"/>
      <p:bldP spid="27" grpId="0" build="allAtOnce"/>
      <p:bldP spid="28" grpId="0" build="allAtOnce"/>
      <p:bldP spid="30" grpId="0" build="allAtOnce"/>
      <p:bldP spid="31" grpId="0" build="allAtOnce"/>
      <p:bldP spid="32" grpId="0" build="allAtOnce"/>
      <p:bldP spid="33" grpId="0" build="allAtOnce"/>
      <p:bldP spid="20" grpId="0" build="allAtOnce"/>
      <p:bldP spid="21" grpId="0" build="allAtOnce"/>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Complexere vertalingen</a:t>
            </a:r>
            <a:endParaRPr lang="nl-NL" sz="3600" dirty="0"/>
          </a:p>
        </p:txBody>
      </p:sp>
      <p:sp>
        <p:nvSpPr>
          <p:cNvPr id="3" name="Content Placeholder 2"/>
          <p:cNvSpPr>
            <a:spLocks noGrp="1"/>
          </p:cNvSpPr>
          <p:nvPr>
            <p:ph idx="1"/>
          </p:nvPr>
        </p:nvSpPr>
        <p:spPr>
          <a:xfrm>
            <a:off x="-180528" y="1528193"/>
            <a:ext cx="3744416" cy="676671"/>
          </a:xfrm>
        </p:spPr>
        <p:txBody>
          <a:bodyPr>
            <a:noAutofit/>
          </a:bodyPr>
          <a:lstStyle/>
          <a:p>
            <a:pPr>
              <a:buNone/>
            </a:pPr>
            <a:r>
              <a:rPr lang="nl-NL" sz="2000" dirty="0" smtClean="0"/>
              <a:t>      Piet krijgt een CD</a:t>
            </a:r>
            <a:endParaRPr lang="nl-NL" sz="2000" i="1" dirty="0" smtClean="0"/>
          </a:p>
          <a:p>
            <a:endParaRPr lang="nl-NL" sz="2000" dirty="0" smtClean="0"/>
          </a:p>
        </p:txBody>
      </p:sp>
      <p:sp>
        <p:nvSpPr>
          <p:cNvPr id="18" name="Rectangle 17"/>
          <p:cNvSpPr/>
          <p:nvPr/>
        </p:nvSpPr>
        <p:spPr>
          <a:xfrm>
            <a:off x="4355976" y="1556792"/>
            <a:ext cx="1656184" cy="369332"/>
          </a:xfrm>
          <a:prstGeom prst="rect">
            <a:avLst/>
          </a:prstGeom>
        </p:spPr>
        <p:txBody>
          <a:bodyPr wrap="square">
            <a:spAutoFit/>
          </a:bodyPr>
          <a:lstStyle/>
          <a:p>
            <a:r>
              <a:rPr lang="nl-NL" b="1" dirty="0" smtClean="0"/>
              <a:t>∃x (</a:t>
            </a:r>
            <a:r>
              <a:rPr lang="nl-NL" b="1" dirty="0" err="1" smtClean="0"/>
              <a:t>Kpx</a:t>
            </a:r>
            <a:r>
              <a:rPr lang="nl-NL" b="1" dirty="0" smtClean="0"/>
              <a:t> ∧ </a:t>
            </a:r>
            <a:r>
              <a:rPr lang="nl-NL" b="1" dirty="0" err="1" smtClean="0"/>
              <a:t>Cx</a:t>
            </a:r>
            <a:r>
              <a:rPr lang="nl-NL" b="1" dirty="0" smtClean="0"/>
              <a:t>)  </a:t>
            </a:r>
            <a:endParaRPr lang="nl-NL" dirty="0"/>
          </a:p>
        </p:txBody>
      </p:sp>
      <p:sp>
        <p:nvSpPr>
          <p:cNvPr id="19" name="Rectangle 18"/>
          <p:cNvSpPr/>
          <p:nvPr/>
        </p:nvSpPr>
        <p:spPr>
          <a:xfrm>
            <a:off x="6300192" y="1556792"/>
            <a:ext cx="2448272" cy="923330"/>
          </a:xfrm>
          <a:prstGeom prst="rect">
            <a:avLst/>
          </a:prstGeom>
        </p:spPr>
        <p:txBody>
          <a:bodyPr wrap="square">
            <a:spAutoFit/>
          </a:bodyPr>
          <a:lstStyle/>
          <a:p>
            <a:r>
              <a:rPr lang="nl-NL" dirty="0" err="1" smtClean="0"/>
              <a:t>Kxy</a:t>
            </a:r>
            <a:r>
              <a:rPr lang="nl-NL" dirty="0" smtClean="0"/>
              <a:t>: x krijgt y</a:t>
            </a:r>
          </a:p>
          <a:p>
            <a:r>
              <a:rPr lang="nl-NL" dirty="0" smtClean="0"/>
              <a:t>p: Piet</a:t>
            </a:r>
          </a:p>
          <a:p>
            <a:r>
              <a:rPr lang="nl-NL" dirty="0" err="1" smtClean="0"/>
              <a:t>Cx</a:t>
            </a:r>
            <a:r>
              <a:rPr lang="nl-NL" dirty="0" smtClean="0"/>
              <a:t>: x is een CD </a:t>
            </a:r>
            <a:endParaRPr lang="nl-NL" dirty="0"/>
          </a:p>
        </p:txBody>
      </p:sp>
      <p:sp>
        <p:nvSpPr>
          <p:cNvPr id="22" name="Content Placeholder 2"/>
          <p:cNvSpPr txBox="1">
            <a:spLocks/>
          </p:cNvSpPr>
          <p:nvPr/>
        </p:nvSpPr>
        <p:spPr>
          <a:xfrm>
            <a:off x="-180528" y="2420888"/>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Iedereen krijgt een CD</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6" name="Rectangle 25"/>
          <p:cNvSpPr/>
          <p:nvPr/>
        </p:nvSpPr>
        <p:spPr>
          <a:xfrm>
            <a:off x="6300192" y="2505670"/>
            <a:ext cx="2448272" cy="923330"/>
          </a:xfrm>
          <a:prstGeom prst="rect">
            <a:avLst/>
          </a:prstGeom>
        </p:spPr>
        <p:txBody>
          <a:bodyPr wrap="square">
            <a:spAutoFit/>
          </a:bodyPr>
          <a:lstStyle/>
          <a:p>
            <a:r>
              <a:rPr lang="nl-NL" dirty="0" err="1" smtClean="0"/>
              <a:t>Kxy</a:t>
            </a:r>
            <a:r>
              <a:rPr lang="nl-NL" dirty="0" smtClean="0"/>
              <a:t>: x krijgt y</a:t>
            </a:r>
          </a:p>
          <a:p>
            <a:r>
              <a:rPr lang="nl-NL" dirty="0" err="1" smtClean="0"/>
              <a:t>Mx</a:t>
            </a:r>
            <a:r>
              <a:rPr lang="nl-NL" dirty="0" smtClean="0"/>
              <a:t>: x is een mens</a:t>
            </a:r>
          </a:p>
          <a:p>
            <a:r>
              <a:rPr lang="nl-NL" dirty="0" err="1" smtClean="0"/>
              <a:t>Cx</a:t>
            </a:r>
            <a:r>
              <a:rPr lang="nl-NL" dirty="0" smtClean="0"/>
              <a:t>: x is een CD</a:t>
            </a:r>
            <a:endParaRPr lang="nl-NL" dirty="0"/>
          </a:p>
        </p:txBody>
      </p:sp>
      <p:sp>
        <p:nvSpPr>
          <p:cNvPr id="27" name="Rectangle 26"/>
          <p:cNvSpPr/>
          <p:nvPr/>
        </p:nvSpPr>
        <p:spPr>
          <a:xfrm>
            <a:off x="4355976" y="2492896"/>
            <a:ext cx="1656184" cy="369332"/>
          </a:xfrm>
          <a:prstGeom prst="rect">
            <a:avLst/>
          </a:prstGeom>
        </p:spPr>
        <p:txBody>
          <a:bodyPr wrap="square">
            <a:spAutoFit/>
          </a:bodyPr>
          <a:lstStyle/>
          <a:p>
            <a:r>
              <a:rPr lang="nl-NL" b="1" dirty="0" smtClean="0"/>
              <a:t> </a:t>
            </a:r>
            <a:endParaRPr lang="nl-NL" dirty="0"/>
          </a:p>
        </p:txBody>
      </p:sp>
      <p:sp>
        <p:nvSpPr>
          <p:cNvPr id="28" name="Content Placeholder 2"/>
          <p:cNvSpPr txBox="1">
            <a:spLocks/>
          </p:cNvSpPr>
          <p:nvPr/>
        </p:nvSpPr>
        <p:spPr>
          <a:xfrm>
            <a:off x="-180528" y="3688433"/>
            <a:ext cx="374441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Frits</a:t>
            </a:r>
            <a:r>
              <a:rPr kumimoji="0" lang="nl-NL" sz="2000" b="0" i="0" u="none" strike="noStrike" kern="1200" cap="none" spc="0" normalizeH="0" noProof="0" dirty="0" smtClean="0">
                <a:ln>
                  <a:noFill/>
                </a:ln>
                <a:solidFill>
                  <a:schemeClr val="tx1"/>
                </a:solidFill>
                <a:effectLst/>
                <a:uLnTx/>
                <a:uFillTx/>
                <a:latin typeface="+mn-lt"/>
                <a:ea typeface="+mn-ea"/>
                <a:cs typeface="+mn-cs"/>
              </a:rPr>
              <a:t> heeft iets gevonden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0" name="Rectangle 29"/>
          <p:cNvSpPr/>
          <p:nvPr/>
        </p:nvSpPr>
        <p:spPr>
          <a:xfrm>
            <a:off x="6300192" y="3717032"/>
            <a:ext cx="2448272" cy="923330"/>
          </a:xfrm>
          <a:prstGeom prst="rect">
            <a:avLst/>
          </a:prstGeom>
        </p:spPr>
        <p:txBody>
          <a:bodyPr wrap="square">
            <a:spAutoFit/>
          </a:bodyPr>
          <a:lstStyle/>
          <a:p>
            <a:r>
              <a:rPr lang="nl-NL" dirty="0" smtClean="0"/>
              <a:t>f: Frits</a:t>
            </a:r>
          </a:p>
          <a:p>
            <a:r>
              <a:rPr lang="nl-NL" dirty="0" err="1" smtClean="0"/>
              <a:t>Gxy</a:t>
            </a:r>
            <a:r>
              <a:rPr lang="nl-NL" dirty="0" smtClean="0"/>
              <a:t>: x heeft y gevonden</a:t>
            </a:r>
          </a:p>
          <a:p>
            <a:r>
              <a:rPr lang="nl-NL" dirty="0" err="1" smtClean="0"/>
              <a:t>Dx</a:t>
            </a:r>
            <a:r>
              <a:rPr lang="nl-NL" dirty="0" smtClean="0"/>
              <a:t>: x is een ding</a:t>
            </a:r>
          </a:p>
        </p:txBody>
      </p:sp>
      <p:sp>
        <p:nvSpPr>
          <p:cNvPr id="31" name="Content Placeholder 2"/>
          <p:cNvSpPr txBox="1">
            <a:spLocks/>
          </p:cNvSpPr>
          <p:nvPr/>
        </p:nvSpPr>
        <p:spPr>
          <a:xfrm>
            <a:off x="-180528" y="4768553"/>
            <a:ext cx="2232248"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lang="nl-NL" sz="2000" dirty="0" smtClean="0"/>
              <a:t>Het kwadraat                                      van een oneven                              getal is oneven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2" name="Rectangle 31"/>
          <p:cNvSpPr/>
          <p:nvPr/>
        </p:nvSpPr>
        <p:spPr>
          <a:xfrm>
            <a:off x="6300192" y="4798893"/>
            <a:ext cx="2843808" cy="1200329"/>
          </a:xfrm>
          <a:prstGeom prst="rect">
            <a:avLst/>
          </a:prstGeom>
        </p:spPr>
        <p:txBody>
          <a:bodyPr wrap="square">
            <a:spAutoFit/>
          </a:bodyPr>
          <a:lstStyle/>
          <a:p>
            <a:r>
              <a:rPr lang="nl-NL" dirty="0" err="1" smtClean="0"/>
              <a:t>Kxy</a:t>
            </a:r>
            <a:r>
              <a:rPr lang="nl-NL" dirty="0" smtClean="0"/>
              <a:t>: x is het kwadraat van y</a:t>
            </a:r>
          </a:p>
          <a:p>
            <a:r>
              <a:rPr lang="nl-NL" dirty="0" smtClean="0"/>
              <a:t>Ex: x is even</a:t>
            </a:r>
          </a:p>
          <a:p>
            <a:r>
              <a:rPr lang="nl-NL" b="1" dirty="0" smtClean="0"/>
              <a:t>Domein: getallen</a:t>
            </a:r>
          </a:p>
          <a:p>
            <a:endParaRPr lang="nl-NL" dirty="0" smtClean="0"/>
          </a:p>
        </p:txBody>
      </p:sp>
      <p:sp>
        <p:nvSpPr>
          <p:cNvPr id="33" name="Rectangle 32"/>
          <p:cNvSpPr/>
          <p:nvPr/>
        </p:nvSpPr>
        <p:spPr>
          <a:xfrm>
            <a:off x="3131840" y="4787860"/>
            <a:ext cx="3888432" cy="369332"/>
          </a:xfrm>
          <a:prstGeom prst="rect">
            <a:avLst/>
          </a:prstGeom>
        </p:spPr>
        <p:txBody>
          <a:bodyPr wrap="square">
            <a:spAutoFit/>
          </a:bodyPr>
          <a:lstStyle/>
          <a:p>
            <a:r>
              <a:rPr lang="nl-NL" b="1" dirty="0" smtClean="0"/>
              <a:t>∀x (∃y (</a:t>
            </a:r>
            <a:r>
              <a:rPr lang="nl-NL" b="1" dirty="0" err="1" smtClean="0"/>
              <a:t>Kxy</a:t>
            </a:r>
            <a:r>
              <a:rPr lang="nl-NL" b="1" dirty="0" smtClean="0"/>
              <a:t> ∧ ¬</a:t>
            </a:r>
            <a:r>
              <a:rPr lang="nl-NL" b="1" dirty="0" err="1" smtClean="0"/>
              <a:t>Ey</a:t>
            </a:r>
            <a:r>
              <a:rPr lang="nl-NL" b="1" dirty="0" smtClean="0"/>
              <a:t>) → ¬Ex)    </a:t>
            </a:r>
            <a:endParaRPr lang="nl-NL" dirty="0"/>
          </a:p>
        </p:txBody>
      </p:sp>
      <p:sp>
        <p:nvSpPr>
          <p:cNvPr id="20" name="Rectangle 19"/>
          <p:cNvSpPr/>
          <p:nvPr/>
        </p:nvSpPr>
        <p:spPr>
          <a:xfrm>
            <a:off x="3419872" y="2492896"/>
            <a:ext cx="2520280" cy="369332"/>
          </a:xfrm>
          <a:prstGeom prst="rect">
            <a:avLst/>
          </a:prstGeom>
        </p:spPr>
        <p:txBody>
          <a:bodyPr wrap="square">
            <a:spAutoFit/>
          </a:bodyPr>
          <a:lstStyle/>
          <a:p>
            <a:r>
              <a:rPr lang="nl-NL" b="1" dirty="0" smtClean="0"/>
              <a:t>∀y (My → ∃x(</a:t>
            </a:r>
            <a:r>
              <a:rPr lang="nl-NL" b="1" dirty="0" err="1" smtClean="0"/>
              <a:t>Kyx</a:t>
            </a:r>
            <a:r>
              <a:rPr lang="nl-NL" b="1" dirty="0" smtClean="0"/>
              <a:t> ∧ </a:t>
            </a:r>
            <a:r>
              <a:rPr lang="nl-NL" b="1" dirty="0" err="1" smtClean="0"/>
              <a:t>Cx</a:t>
            </a:r>
            <a:r>
              <a:rPr lang="nl-NL" b="1" dirty="0" smtClean="0"/>
              <a:t>))  </a:t>
            </a:r>
            <a:endParaRPr lang="nl-NL" dirty="0"/>
          </a:p>
        </p:txBody>
      </p:sp>
      <p:sp>
        <p:nvSpPr>
          <p:cNvPr id="21" name="Rectangle 20"/>
          <p:cNvSpPr/>
          <p:nvPr/>
        </p:nvSpPr>
        <p:spPr>
          <a:xfrm>
            <a:off x="4283968" y="3707740"/>
            <a:ext cx="1512168" cy="369332"/>
          </a:xfrm>
          <a:prstGeom prst="rect">
            <a:avLst/>
          </a:prstGeom>
        </p:spPr>
        <p:txBody>
          <a:bodyPr wrap="square">
            <a:spAutoFit/>
          </a:bodyPr>
          <a:lstStyle/>
          <a:p>
            <a:r>
              <a:rPr lang="nl-NL" b="1" dirty="0" smtClean="0"/>
              <a:t>∃y (Dy ∧ </a:t>
            </a:r>
            <a:r>
              <a:rPr lang="nl-NL" b="1" dirty="0" err="1" smtClean="0"/>
              <a:t>Gfy</a:t>
            </a:r>
            <a:r>
              <a:rPr lang="nl-NL" b="1" dirty="0" smtClean="0"/>
              <a:t>)  </a:t>
            </a:r>
            <a:endParaRPr lang="nl-NL" dirty="0"/>
          </a:p>
        </p:txBody>
      </p:sp>
    </p:spTree>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Complexere vertalingen</a:t>
            </a:r>
            <a:endParaRPr lang="nl-NL" sz="3600" dirty="0"/>
          </a:p>
        </p:txBody>
      </p:sp>
      <p:sp>
        <p:nvSpPr>
          <p:cNvPr id="3" name="Content Placeholder 2"/>
          <p:cNvSpPr>
            <a:spLocks noGrp="1"/>
          </p:cNvSpPr>
          <p:nvPr>
            <p:ph idx="1"/>
          </p:nvPr>
        </p:nvSpPr>
        <p:spPr>
          <a:xfrm>
            <a:off x="-324544" y="1467218"/>
            <a:ext cx="2664296" cy="676671"/>
          </a:xfrm>
        </p:spPr>
        <p:txBody>
          <a:bodyPr>
            <a:noAutofit/>
          </a:bodyPr>
          <a:lstStyle/>
          <a:p>
            <a:pPr>
              <a:buNone/>
            </a:pPr>
            <a:r>
              <a:rPr lang="nl-NL" sz="2000" dirty="0" smtClean="0"/>
              <a:t>      Sommige honden                      hebben een been                              om op te kluiven</a:t>
            </a:r>
            <a:endParaRPr lang="nl-NL" sz="2000" i="1" dirty="0" smtClean="0"/>
          </a:p>
          <a:p>
            <a:pPr>
              <a:buNone/>
            </a:pPr>
            <a:endParaRPr lang="nl-NL" sz="2000" dirty="0" smtClean="0"/>
          </a:p>
        </p:txBody>
      </p:sp>
      <p:sp>
        <p:nvSpPr>
          <p:cNvPr id="18" name="Rectangle 17"/>
          <p:cNvSpPr/>
          <p:nvPr/>
        </p:nvSpPr>
        <p:spPr>
          <a:xfrm>
            <a:off x="3059832" y="1486525"/>
            <a:ext cx="2664296" cy="369332"/>
          </a:xfrm>
          <a:prstGeom prst="rect">
            <a:avLst/>
          </a:prstGeom>
        </p:spPr>
        <p:txBody>
          <a:bodyPr wrap="square">
            <a:spAutoFit/>
          </a:bodyPr>
          <a:lstStyle/>
          <a:p>
            <a:r>
              <a:rPr lang="nl-NL" b="1" dirty="0" smtClean="0"/>
              <a:t>∃x (</a:t>
            </a:r>
            <a:r>
              <a:rPr lang="nl-NL" b="1" dirty="0" err="1" smtClean="0"/>
              <a:t>Hx</a:t>
            </a:r>
            <a:r>
              <a:rPr lang="nl-NL" b="1" dirty="0" smtClean="0"/>
              <a:t> ∧ ∃y (</a:t>
            </a:r>
            <a:r>
              <a:rPr lang="nl-NL" b="1" dirty="0" err="1" smtClean="0"/>
              <a:t>By</a:t>
            </a:r>
            <a:r>
              <a:rPr lang="nl-NL" b="1" dirty="0" smtClean="0"/>
              <a:t> ∧ </a:t>
            </a:r>
            <a:r>
              <a:rPr lang="nl-NL" b="1" dirty="0" err="1" smtClean="0"/>
              <a:t>Kxy</a:t>
            </a:r>
            <a:r>
              <a:rPr lang="nl-NL" b="1" dirty="0" smtClean="0"/>
              <a:t>))     </a:t>
            </a:r>
            <a:endParaRPr lang="nl-NL" dirty="0"/>
          </a:p>
        </p:txBody>
      </p:sp>
      <p:sp>
        <p:nvSpPr>
          <p:cNvPr id="19" name="Rectangle 18"/>
          <p:cNvSpPr/>
          <p:nvPr/>
        </p:nvSpPr>
        <p:spPr>
          <a:xfrm>
            <a:off x="6084168" y="1423809"/>
            <a:ext cx="3059832" cy="923330"/>
          </a:xfrm>
          <a:prstGeom prst="rect">
            <a:avLst/>
          </a:prstGeom>
        </p:spPr>
        <p:txBody>
          <a:bodyPr wrap="square">
            <a:spAutoFit/>
          </a:bodyPr>
          <a:lstStyle/>
          <a:p>
            <a:r>
              <a:rPr lang="nl-NL" dirty="0" err="1" smtClean="0"/>
              <a:t>Hx</a:t>
            </a:r>
            <a:r>
              <a:rPr lang="nl-NL" dirty="0" smtClean="0"/>
              <a:t>: x is een hond</a:t>
            </a:r>
          </a:p>
          <a:p>
            <a:r>
              <a:rPr lang="nl-NL" dirty="0" err="1" smtClean="0"/>
              <a:t>By</a:t>
            </a:r>
            <a:r>
              <a:rPr lang="nl-NL" dirty="0" smtClean="0"/>
              <a:t>: y is een been</a:t>
            </a:r>
          </a:p>
          <a:p>
            <a:r>
              <a:rPr lang="nl-NL" dirty="0" err="1" smtClean="0"/>
              <a:t>Kxy</a:t>
            </a:r>
            <a:r>
              <a:rPr lang="nl-NL" dirty="0" smtClean="0"/>
              <a:t>: x heeft y om op te kluiven</a:t>
            </a:r>
            <a:endParaRPr lang="nl-NL" dirty="0"/>
          </a:p>
        </p:txBody>
      </p:sp>
      <p:sp>
        <p:nvSpPr>
          <p:cNvPr id="16" name="Content Placeholder 2"/>
          <p:cNvSpPr txBox="1">
            <a:spLocks/>
          </p:cNvSpPr>
          <p:nvPr/>
        </p:nvSpPr>
        <p:spPr>
          <a:xfrm>
            <a:off x="-324544" y="2564904"/>
            <a:ext cx="2664296"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Elke student die    een beetje gewerkt heeft</a:t>
            </a:r>
            <a:r>
              <a:rPr kumimoji="0" lang="nl-NL" sz="2000" b="0" i="0" u="none" strike="noStrike" kern="1200" cap="none" spc="0" normalizeH="0" noProof="0" dirty="0" smtClean="0">
                <a:ln>
                  <a:noFill/>
                </a:ln>
                <a:solidFill>
                  <a:schemeClr val="tx1"/>
                </a:solidFill>
                <a:effectLst/>
                <a:uLnTx/>
                <a:uFillTx/>
                <a:latin typeface="+mn-lt"/>
                <a:ea typeface="+mn-ea"/>
                <a:cs typeface="+mn-cs"/>
              </a:rPr>
              <a:t> slaagt</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7" name="Rectangle 16"/>
          <p:cNvSpPr/>
          <p:nvPr/>
        </p:nvSpPr>
        <p:spPr>
          <a:xfrm>
            <a:off x="6119664" y="2575937"/>
            <a:ext cx="3168352" cy="923330"/>
          </a:xfrm>
          <a:prstGeom prst="rect">
            <a:avLst/>
          </a:prstGeom>
        </p:spPr>
        <p:txBody>
          <a:bodyPr wrap="square">
            <a:spAutoFit/>
          </a:bodyPr>
          <a:lstStyle/>
          <a:p>
            <a:r>
              <a:rPr lang="nl-NL" dirty="0" err="1" smtClean="0"/>
              <a:t>Sx</a:t>
            </a:r>
            <a:r>
              <a:rPr lang="nl-NL" dirty="0" smtClean="0"/>
              <a:t>: x is een student</a:t>
            </a:r>
          </a:p>
          <a:p>
            <a:r>
              <a:rPr lang="nl-NL" dirty="0" err="1" smtClean="0"/>
              <a:t>Wx</a:t>
            </a:r>
            <a:r>
              <a:rPr lang="nl-NL" dirty="0" smtClean="0"/>
              <a:t>: x heeft een beetje gewerkt</a:t>
            </a:r>
          </a:p>
          <a:p>
            <a:r>
              <a:rPr lang="nl-NL" dirty="0" smtClean="0"/>
              <a:t>Lx: x slaagt</a:t>
            </a:r>
          </a:p>
        </p:txBody>
      </p:sp>
      <p:sp>
        <p:nvSpPr>
          <p:cNvPr id="23" name="Rectangle 22"/>
          <p:cNvSpPr/>
          <p:nvPr/>
        </p:nvSpPr>
        <p:spPr>
          <a:xfrm>
            <a:off x="3059832" y="2638653"/>
            <a:ext cx="3888432" cy="369332"/>
          </a:xfrm>
          <a:prstGeom prst="rect">
            <a:avLst/>
          </a:prstGeom>
        </p:spPr>
        <p:txBody>
          <a:bodyPr wrap="square">
            <a:spAutoFit/>
          </a:bodyPr>
          <a:lstStyle/>
          <a:p>
            <a:r>
              <a:rPr lang="nl-NL" b="1" dirty="0" smtClean="0"/>
              <a:t>∀x ((</a:t>
            </a:r>
            <a:r>
              <a:rPr lang="nl-NL" b="1" dirty="0" err="1" smtClean="0"/>
              <a:t>Sx</a:t>
            </a:r>
            <a:r>
              <a:rPr lang="nl-NL" b="1" dirty="0" smtClean="0"/>
              <a:t> ∧ </a:t>
            </a:r>
            <a:r>
              <a:rPr lang="nl-NL" b="1" dirty="0" err="1" smtClean="0"/>
              <a:t>Wx</a:t>
            </a:r>
            <a:r>
              <a:rPr lang="nl-NL" b="1" dirty="0" smtClean="0"/>
              <a:t>) → Lx)    </a:t>
            </a:r>
            <a:endParaRPr lang="nl-NL" dirty="0"/>
          </a:p>
        </p:txBody>
      </p:sp>
      <p:sp>
        <p:nvSpPr>
          <p:cNvPr id="24" name="Content Placeholder 2"/>
          <p:cNvSpPr txBox="1">
            <a:spLocks/>
          </p:cNvSpPr>
          <p:nvPr/>
        </p:nvSpPr>
        <p:spPr>
          <a:xfrm>
            <a:off x="-324544" y="3717032"/>
            <a:ext cx="3168352"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Iedere dierenliefhebber is dol op honden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5" name="Rectangle 24"/>
          <p:cNvSpPr/>
          <p:nvPr/>
        </p:nvSpPr>
        <p:spPr>
          <a:xfrm>
            <a:off x="6119664" y="3668831"/>
            <a:ext cx="3168352" cy="923330"/>
          </a:xfrm>
          <a:prstGeom prst="rect">
            <a:avLst/>
          </a:prstGeom>
        </p:spPr>
        <p:txBody>
          <a:bodyPr wrap="square">
            <a:spAutoFit/>
          </a:bodyPr>
          <a:lstStyle/>
          <a:p>
            <a:r>
              <a:rPr lang="nl-NL" dirty="0" err="1" smtClean="0"/>
              <a:t>Dx</a:t>
            </a:r>
            <a:r>
              <a:rPr lang="nl-NL" dirty="0" smtClean="0"/>
              <a:t>: x is dierenliefhebber            </a:t>
            </a:r>
            <a:r>
              <a:rPr lang="nl-NL" dirty="0" err="1" smtClean="0"/>
              <a:t>Hx</a:t>
            </a:r>
            <a:r>
              <a:rPr lang="nl-NL" dirty="0" smtClean="0"/>
              <a:t>: x is een hond</a:t>
            </a:r>
          </a:p>
          <a:p>
            <a:r>
              <a:rPr lang="nl-NL" dirty="0" err="1" smtClean="0"/>
              <a:t>Axy</a:t>
            </a:r>
            <a:r>
              <a:rPr lang="nl-NL" dirty="0" smtClean="0"/>
              <a:t>: x is dol op y</a:t>
            </a:r>
          </a:p>
        </p:txBody>
      </p:sp>
      <p:sp>
        <p:nvSpPr>
          <p:cNvPr id="29" name="Rectangle 28"/>
          <p:cNvSpPr/>
          <p:nvPr/>
        </p:nvSpPr>
        <p:spPr>
          <a:xfrm>
            <a:off x="2987824" y="3790781"/>
            <a:ext cx="3888432" cy="369332"/>
          </a:xfrm>
          <a:prstGeom prst="rect">
            <a:avLst/>
          </a:prstGeom>
        </p:spPr>
        <p:txBody>
          <a:bodyPr wrap="square">
            <a:spAutoFit/>
          </a:bodyPr>
          <a:lstStyle/>
          <a:p>
            <a:r>
              <a:rPr lang="nl-NL" b="1" dirty="0" smtClean="0"/>
              <a:t>∀x (</a:t>
            </a:r>
            <a:r>
              <a:rPr lang="nl-NL" b="1" dirty="0" err="1" smtClean="0"/>
              <a:t>Dx</a:t>
            </a:r>
            <a:r>
              <a:rPr lang="nl-NL" b="1" dirty="0" smtClean="0"/>
              <a:t> → ∀y (</a:t>
            </a:r>
            <a:r>
              <a:rPr lang="nl-NL" b="1" dirty="0" err="1" smtClean="0"/>
              <a:t>Hy</a:t>
            </a:r>
            <a:r>
              <a:rPr lang="nl-NL" b="1" dirty="0" smtClean="0"/>
              <a:t> → </a:t>
            </a:r>
            <a:r>
              <a:rPr lang="nl-NL" b="1" dirty="0" err="1" smtClean="0"/>
              <a:t>Axy</a:t>
            </a:r>
            <a:r>
              <a:rPr lang="nl-NL" b="1" dirty="0" smtClean="0"/>
              <a:t>))     </a:t>
            </a:r>
            <a:endParaRPr lang="nl-NL" dirty="0"/>
          </a:p>
        </p:txBody>
      </p:sp>
      <p:sp>
        <p:nvSpPr>
          <p:cNvPr id="34" name="Rectangle 33"/>
          <p:cNvSpPr/>
          <p:nvPr/>
        </p:nvSpPr>
        <p:spPr>
          <a:xfrm>
            <a:off x="3059832" y="4211796"/>
            <a:ext cx="3888432" cy="369332"/>
          </a:xfrm>
          <a:prstGeom prst="rect">
            <a:avLst/>
          </a:prstGeom>
        </p:spPr>
        <p:txBody>
          <a:bodyPr wrap="square">
            <a:spAutoFit/>
          </a:bodyPr>
          <a:lstStyle/>
          <a:p>
            <a:r>
              <a:rPr lang="nl-NL" b="1" dirty="0" smtClean="0"/>
              <a:t>∀x∀y ((</a:t>
            </a:r>
            <a:r>
              <a:rPr lang="nl-NL" b="1" dirty="0" err="1" smtClean="0"/>
              <a:t>Dx</a:t>
            </a:r>
            <a:r>
              <a:rPr lang="nl-NL" b="1" dirty="0" smtClean="0"/>
              <a:t> ∧ </a:t>
            </a:r>
            <a:r>
              <a:rPr lang="nl-NL" b="1" dirty="0" err="1" smtClean="0"/>
              <a:t>Hy</a:t>
            </a:r>
            <a:r>
              <a:rPr lang="nl-NL" b="1" dirty="0" smtClean="0"/>
              <a:t>) → </a:t>
            </a:r>
            <a:r>
              <a:rPr lang="nl-NL" b="1" dirty="0" err="1" smtClean="0"/>
              <a:t>Axy</a:t>
            </a:r>
            <a:r>
              <a:rPr lang="nl-NL" b="1" dirty="0" smtClean="0"/>
              <a:t>)     </a:t>
            </a:r>
            <a:endParaRPr lang="nl-NL" dirty="0"/>
          </a:p>
        </p:txBody>
      </p:sp>
      <p:sp>
        <p:nvSpPr>
          <p:cNvPr id="35" name="Content Placeholder 2"/>
          <p:cNvSpPr txBox="1">
            <a:spLocks/>
          </p:cNvSpPr>
          <p:nvPr/>
        </p:nvSpPr>
        <p:spPr>
          <a:xfrm>
            <a:off x="-324544" y="4779586"/>
            <a:ext cx="3168352"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Iedere dierenliefhebber is dol op </a:t>
            </a:r>
            <a:r>
              <a:rPr lang="nl-NL" sz="2000" dirty="0" smtClean="0"/>
              <a:t>zijn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honden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36" name="Rectangle 35"/>
          <p:cNvSpPr/>
          <p:nvPr/>
        </p:nvSpPr>
        <p:spPr>
          <a:xfrm>
            <a:off x="6119664" y="4676943"/>
            <a:ext cx="3168352" cy="1200329"/>
          </a:xfrm>
          <a:prstGeom prst="rect">
            <a:avLst/>
          </a:prstGeom>
        </p:spPr>
        <p:txBody>
          <a:bodyPr wrap="square">
            <a:spAutoFit/>
          </a:bodyPr>
          <a:lstStyle/>
          <a:p>
            <a:r>
              <a:rPr lang="nl-NL" dirty="0" err="1" smtClean="0"/>
              <a:t>Dx</a:t>
            </a:r>
            <a:r>
              <a:rPr lang="nl-NL" dirty="0" smtClean="0"/>
              <a:t>: x is dierenliefhebber            </a:t>
            </a:r>
            <a:r>
              <a:rPr lang="nl-NL" dirty="0" err="1" smtClean="0"/>
              <a:t>Hx</a:t>
            </a:r>
            <a:r>
              <a:rPr lang="nl-NL" dirty="0" smtClean="0"/>
              <a:t>: x is een hond</a:t>
            </a:r>
          </a:p>
          <a:p>
            <a:r>
              <a:rPr lang="nl-NL" dirty="0" err="1" smtClean="0"/>
              <a:t>Axy</a:t>
            </a:r>
            <a:r>
              <a:rPr lang="nl-NL" dirty="0" smtClean="0"/>
              <a:t>: x is dol op y</a:t>
            </a:r>
          </a:p>
          <a:p>
            <a:r>
              <a:rPr lang="nl-NL" dirty="0" err="1" smtClean="0"/>
              <a:t>Vxy</a:t>
            </a:r>
            <a:r>
              <a:rPr lang="nl-NL" dirty="0" smtClean="0"/>
              <a:t>: x is van y</a:t>
            </a:r>
          </a:p>
        </p:txBody>
      </p:sp>
      <p:sp>
        <p:nvSpPr>
          <p:cNvPr id="37" name="Rectangle 36"/>
          <p:cNvSpPr/>
          <p:nvPr/>
        </p:nvSpPr>
        <p:spPr>
          <a:xfrm>
            <a:off x="2699792" y="4870901"/>
            <a:ext cx="3888432" cy="369332"/>
          </a:xfrm>
          <a:prstGeom prst="rect">
            <a:avLst/>
          </a:prstGeom>
        </p:spPr>
        <p:txBody>
          <a:bodyPr wrap="square">
            <a:spAutoFit/>
          </a:bodyPr>
          <a:lstStyle/>
          <a:p>
            <a:r>
              <a:rPr lang="nl-NL" b="1" dirty="0" smtClean="0"/>
              <a:t>∀x∀y (((</a:t>
            </a:r>
            <a:r>
              <a:rPr lang="nl-NL" b="1" dirty="0" err="1" smtClean="0"/>
              <a:t>Dx</a:t>
            </a:r>
            <a:r>
              <a:rPr lang="nl-NL" b="1" dirty="0" smtClean="0"/>
              <a:t> ∧ </a:t>
            </a:r>
            <a:r>
              <a:rPr lang="nl-NL" b="1" dirty="0" err="1" smtClean="0"/>
              <a:t>Hy</a:t>
            </a:r>
            <a:r>
              <a:rPr lang="nl-NL" b="1" dirty="0" smtClean="0"/>
              <a:t>) ∧ </a:t>
            </a:r>
            <a:r>
              <a:rPr lang="nl-NL" b="1" dirty="0" err="1" smtClean="0"/>
              <a:t>Vyx</a:t>
            </a:r>
            <a:r>
              <a:rPr lang="nl-NL" b="1" dirty="0" smtClean="0"/>
              <a:t>) → </a:t>
            </a:r>
            <a:r>
              <a:rPr lang="nl-NL" b="1" dirty="0" err="1" smtClean="0"/>
              <a:t>Axy</a:t>
            </a:r>
            <a:r>
              <a:rPr lang="nl-NL" b="1" dirty="0" smtClean="0"/>
              <a:t>)     </a:t>
            </a:r>
            <a:endParaRPr lang="nl-NL" dirty="0"/>
          </a:p>
        </p:txBody>
      </p:sp>
      <p:sp>
        <p:nvSpPr>
          <p:cNvPr id="38" name="Rectangle 37"/>
          <p:cNvSpPr/>
          <p:nvPr/>
        </p:nvSpPr>
        <p:spPr>
          <a:xfrm>
            <a:off x="2771800" y="5291916"/>
            <a:ext cx="3888432" cy="369332"/>
          </a:xfrm>
          <a:prstGeom prst="rect">
            <a:avLst/>
          </a:prstGeom>
        </p:spPr>
        <p:txBody>
          <a:bodyPr wrap="square">
            <a:spAutoFit/>
          </a:bodyPr>
          <a:lstStyle/>
          <a:p>
            <a:r>
              <a:rPr lang="nl-NL" b="1" dirty="0" smtClean="0"/>
              <a:t>∀x∀y ((</a:t>
            </a:r>
            <a:r>
              <a:rPr lang="nl-NL" b="1" dirty="0" err="1" smtClean="0"/>
              <a:t>Dx</a:t>
            </a:r>
            <a:r>
              <a:rPr lang="nl-NL" b="1" dirty="0" smtClean="0"/>
              <a:t> ∧ </a:t>
            </a:r>
            <a:r>
              <a:rPr lang="nl-NL" b="1" dirty="0" err="1" smtClean="0"/>
              <a:t>Hy</a:t>
            </a:r>
            <a:r>
              <a:rPr lang="nl-NL" b="1" dirty="0" smtClean="0"/>
              <a:t> ∧ </a:t>
            </a:r>
            <a:r>
              <a:rPr lang="nl-NL" b="1" dirty="0" err="1" smtClean="0"/>
              <a:t>Vyx</a:t>
            </a:r>
            <a:r>
              <a:rPr lang="nl-NL" b="1" dirty="0" smtClean="0"/>
              <a:t>) → </a:t>
            </a:r>
            <a:r>
              <a:rPr lang="nl-NL" b="1" dirty="0" err="1" smtClean="0"/>
              <a:t>Axy</a:t>
            </a:r>
            <a:r>
              <a:rPr lang="nl-NL" b="1" dirty="0" smtClean="0"/>
              <a:t>)     </a:t>
            </a:r>
            <a:endParaRPr lang="nl-NL" dirty="0"/>
          </a:p>
        </p:txBody>
      </p:sp>
      <p:sp>
        <p:nvSpPr>
          <p:cNvPr id="39" name="Rectangle 38"/>
          <p:cNvSpPr/>
          <p:nvPr/>
        </p:nvSpPr>
        <p:spPr>
          <a:xfrm>
            <a:off x="2771800" y="5949280"/>
            <a:ext cx="3888432" cy="369332"/>
          </a:xfrm>
          <a:prstGeom prst="rect">
            <a:avLst/>
          </a:prstGeom>
        </p:spPr>
        <p:txBody>
          <a:bodyPr wrap="square">
            <a:spAutoFit/>
          </a:bodyPr>
          <a:lstStyle/>
          <a:p>
            <a:r>
              <a:rPr lang="nl-NL" b="1" dirty="0" smtClean="0"/>
              <a:t>∀x∀y ((</a:t>
            </a:r>
            <a:r>
              <a:rPr lang="nl-NL" b="1" dirty="0" err="1" smtClean="0"/>
              <a:t>Vx</a:t>
            </a:r>
            <a:r>
              <a:rPr lang="nl-NL" b="1" dirty="0" smtClean="0"/>
              <a:t> ∧ </a:t>
            </a:r>
            <a:r>
              <a:rPr lang="nl-NL" b="1" dirty="0" err="1" smtClean="0"/>
              <a:t>Kxy</a:t>
            </a:r>
            <a:r>
              <a:rPr lang="nl-NL" b="1" dirty="0" smtClean="0"/>
              <a:t>) → </a:t>
            </a:r>
            <a:r>
              <a:rPr lang="nl-NL" b="1" dirty="0" err="1" smtClean="0"/>
              <a:t>Hxy</a:t>
            </a:r>
            <a:r>
              <a:rPr lang="nl-NL" b="1" dirty="0" smtClean="0"/>
              <a:t>)     </a:t>
            </a:r>
            <a:endParaRPr lang="nl-NL" dirty="0"/>
          </a:p>
        </p:txBody>
      </p:sp>
      <p:sp>
        <p:nvSpPr>
          <p:cNvPr id="40" name="Rectangle 39"/>
          <p:cNvSpPr/>
          <p:nvPr/>
        </p:nvSpPr>
        <p:spPr>
          <a:xfrm>
            <a:off x="6084168" y="5901079"/>
            <a:ext cx="3168352" cy="923330"/>
          </a:xfrm>
          <a:prstGeom prst="rect">
            <a:avLst/>
          </a:prstGeom>
        </p:spPr>
        <p:txBody>
          <a:bodyPr wrap="square">
            <a:spAutoFit/>
          </a:bodyPr>
          <a:lstStyle/>
          <a:p>
            <a:r>
              <a:rPr lang="nl-NL" dirty="0" err="1" smtClean="0"/>
              <a:t>Hxy</a:t>
            </a:r>
            <a:r>
              <a:rPr lang="nl-NL" dirty="0" smtClean="0"/>
              <a:t>: x houdt van y</a:t>
            </a:r>
          </a:p>
          <a:p>
            <a:r>
              <a:rPr lang="nl-NL" dirty="0" err="1" smtClean="0"/>
              <a:t>Kxy</a:t>
            </a:r>
            <a:r>
              <a:rPr lang="nl-NL" dirty="0" smtClean="0"/>
              <a:t>: y is een kind van x</a:t>
            </a:r>
          </a:p>
          <a:p>
            <a:r>
              <a:rPr lang="nl-NL" dirty="0" err="1" smtClean="0"/>
              <a:t>Vx</a:t>
            </a:r>
            <a:r>
              <a:rPr lang="nl-NL" dirty="0" smtClean="0"/>
              <a:t>: x is vader</a:t>
            </a:r>
          </a:p>
        </p:txBody>
      </p:sp>
      <p:sp>
        <p:nvSpPr>
          <p:cNvPr id="41" name="Content Placeholder 2"/>
          <p:cNvSpPr txBox="1">
            <a:spLocks/>
          </p:cNvSpPr>
          <p:nvPr/>
        </p:nvSpPr>
        <p:spPr>
          <a:xfrm>
            <a:off x="-324544" y="5776665"/>
            <a:ext cx="3168352" cy="676671"/>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nl-NL" sz="2000" dirty="0" smtClean="0"/>
              <a:t>      Elke vader houdt van     zijn kinderen</a:t>
            </a:r>
            <a:endParaRPr kumimoji="0" lang="nl-NL" sz="20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xEl>
                                              <p:pRg st="0" end="0"/>
                                            </p:txEl>
                                          </p:spTgt>
                                        </p:tgtEl>
                                        <p:attrNameLst>
                                          <p:attrName>style.visibility</p:attrName>
                                        </p:attrNameLst>
                                      </p:cBhvr>
                                      <p:to>
                                        <p:strVal val="visible"/>
                                      </p:to>
                                    </p:set>
                                    <p:animEffect transition="in" filter="fade">
                                      <p:cBhvr>
                                        <p:cTn id="10" dur="2000"/>
                                        <p:tgtEl>
                                          <p:spTgt spid="1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xEl>
                                              <p:pRg st="1" end="1"/>
                                            </p:txEl>
                                          </p:spTgt>
                                        </p:tgtEl>
                                        <p:attrNameLst>
                                          <p:attrName>style.visibility</p:attrName>
                                        </p:attrNameLst>
                                      </p:cBhvr>
                                      <p:to>
                                        <p:strVal val="visible"/>
                                      </p:to>
                                    </p:set>
                                    <p:animEffect transition="in" filter="fade">
                                      <p:cBhvr>
                                        <p:cTn id="13" dur="2000"/>
                                        <p:tgtEl>
                                          <p:spTgt spid="19">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2" end="2"/>
                                            </p:txEl>
                                          </p:spTgt>
                                        </p:tgtEl>
                                        <p:attrNameLst>
                                          <p:attrName>style.visibility</p:attrName>
                                        </p:attrNameLst>
                                      </p:cBhvr>
                                      <p:to>
                                        <p:strVal val="visible"/>
                                      </p:to>
                                    </p:set>
                                    <p:animEffect transition="in" filter="fade">
                                      <p:cBhvr>
                                        <p:cTn id="16" dur="2000"/>
                                        <p:tgtEl>
                                          <p:spTgt spid="1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animEffect transition="in" filter="fade">
                                      <p:cBhvr>
                                        <p:cTn id="21" dur="2000"/>
                                        <p:tgtEl>
                                          <p:spTgt spid="1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7">
                                            <p:txEl>
                                              <p:pRg st="0" end="0"/>
                                            </p:txEl>
                                          </p:spTgt>
                                        </p:tgtEl>
                                        <p:attrNameLst>
                                          <p:attrName>style.visibility</p:attrName>
                                        </p:attrNameLst>
                                      </p:cBhvr>
                                      <p:to>
                                        <p:strVal val="visible"/>
                                      </p:to>
                                    </p:set>
                                    <p:animEffect transition="in" filter="fade">
                                      <p:cBhvr>
                                        <p:cTn id="26" dur="2000"/>
                                        <p:tgtEl>
                                          <p:spTgt spid="17">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xEl>
                                              <p:pRg st="1" end="1"/>
                                            </p:txEl>
                                          </p:spTgt>
                                        </p:tgtEl>
                                        <p:attrNameLst>
                                          <p:attrName>style.visibility</p:attrName>
                                        </p:attrNameLst>
                                      </p:cBhvr>
                                      <p:to>
                                        <p:strVal val="visible"/>
                                      </p:to>
                                    </p:set>
                                    <p:animEffect transition="in" filter="fade">
                                      <p:cBhvr>
                                        <p:cTn id="29" dur="2000"/>
                                        <p:tgtEl>
                                          <p:spTgt spid="17">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xEl>
                                              <p:pRg st="2" end="2"/>
                                            </p:txEl>
                                          </p:spTgt>
                                        </p:tgtEl>
                                        <p:attrNameLst>
                                          <p:attrName>style.visibility</p:attrName>
                                        </p:attrNameLst>
                                      </p:cBhvr>
                                      <p:to>
                                        <p:strVal val="visible"/>
                                      </p:to>
                                    </p:set>
                                    <p:animEffect transition="in" filter="fade">
                                      <p:cBhvr>
                                        <p:cTn id="32" dur="2000"/>
                                        <p:tgtEl>
                                          <p:spTgt spid="17">
                                            <p:txEl>
                                              <p:pRg st="2" end="2"/>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xEl>
                                              <p:pRg st="0" end="0"/>
                                            </p:txEl>
                                          </p:spTgt>
                                        </p:tgtEl>
                                        <p:attrNameLst>
                                          <p:attrName>style.visibility</p:attrName>
                                        </p:attrNameLst>
                                      </p:cBhvr>
                                      <p:to>
                                        <p:strVal val="visible"/>
                                      </p:to>
                                    </p:set>
                                    <p:animEffect transition="in" filter="fade">
                                      <p:cBhvr>
                                        <p:cTn id="35" dur="2000"/>
                                        <p:tgtEl>
                                          <p:spTgt spid="23">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
                                            <p:txEl>
                                              <p:pRg st="0" end="0"/>
                                            </p:txEl>
                                          </p:spTgt>
                                        </p:tgtEl>
                                        <p:attrNameLst>
                                          <p:attrName>style.visibility</p:attrName>
                                        </p:attrNameLst>
                                      </p:cBhvr>
                                      <p:to>
                                        <p:strVal val="visible"/>
                                      </p:to>
                                    </p:set>
                                    <p:animEffect transition="in" filter="fade">
                                      <p:cBhvr>
                                        <p:cTn id="40" dur="2000"/>
                                        <p:tgtEl>
                                          <p:spTgt spid="24">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xEl>
                                              <p:pRg st="0" end="0"/>
                                            </p:txEl>
                                          </p:spTgt>
                                        </p:tgtEl>
                                        <p:attrNameLst>
                                          <p:attrName>style.visibility</p:attrName>
                                        </p:attrNameLst>
                                      </p:cBhvr>
                                      <p:to>
                                        <p:strVal val="visible"/>
                                      </p:to>
                                    </p:set>
                                    <p:animEffect transition="in" filter="fade">
                                      <p:cBhvr>
                                        <p:cTn id="45" dur="2000"/>
                                        <p:tgtEl>
                                          <p:spTgt spid="25">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xEl>
                                              <p:pRg st="1" end="1"/>
                                            </p:txEl>
                                          </p:spTgt>
                                        </p:tgtEl>
                                        <p:attrNameLst>
                                          <p:attrName>style.visibility</p:attrName>
                                        </p:attrNameLst>
                                      </p:cBhvr>
                                      <p:to>
                                        <p:strVal val="visible"/>
                                      </p:to>
                                    </p:set>
                                    <p:animEffect transition="in" filter="fade">
                                      <p:cBhvr>
                                        <p:cTn id="48" dur="2000"/>
                                        <p:tgtEl>
                                          <p:spTgt spid="25">
                                            <p:txEl>
                                              <p:pRg st="1" end="1"/>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9">
                                            <p:txEl>
                                              <p:pRg st="0" end="0"/>
                                            </p:txEl>
                                          </p:spTgt>
                                        </p:tgtEl>
                                        <p:attrNameLst>
                                          <p:attrName>style.visibility</p:attrName>
                                        </p:attrNameLst>
                                      </p:cBhvr>
                                      <p:to>
                                        <p:strVal val="visible"/>
                                      </p:to>
                                    </p:set>
                                    <p:animEffect transition="in" filter="fade">
                                      <p:cBhvr>
                                        <p:cTn id="51" dur="2000"/>
                                        <p:tgtEl>
                                          <p:spTgt spid="29">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4">
                                            <p:txEl>
                                              <p:pRg st="0" end="0"/>
                                            </p:txEl>
                                          </p:spTgt>
                                        </p:tgtEl>
                                        <p:attrNameLst>
                                          <p:attrName>style.visibility</p:attrName>
                                        </p:attrNameLst>
                                      </p:cBhvr>
                                      <p:to>
                                        <p:strVal val="visible"/>
                                      </p:to>
                                    </p:set>
                                    <p:animEffect transition="in" filter="fade">
                                      <p:cBhvr>
                                        <p:cTn id="56" dur="2000"/>
                                        <p:tgtEl>
                                          <p:spTgt spid="34">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5">
                                            <p:txEl>
                                              <p:pRg st="0" end="0"/>
                                            </p:txEl>
                                          </p:spTgt>
                                        </p:tgtEl>
                                        <p:attrNameLst>
                                          <p:attrName>style.visibility</p:attrName>
                                        </p:attrNameLst>
                                      </p:cBhvr>
                                      <p:to>
                                        <p:strVal val="visible"/>
                                      </p:to>
                                    </p:set>
                                    <p:animEffect transition="in" filter="fade">
                                      <p:cBhvr>
                                        <p:cTn id="61" dur="2000"/>
                                        <p:tgtEl>
                                          <p:spTgt spid="35">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36">
                                            <p:txEl>
                                              <p:pRg st="0" end="0"/>
                                            </p:txEl>
                                          </p:spTgt>
                                        </p:tgtEl>
                                        <p:attrNameLst>
                                          <p:attrName>style.visibility</p:attrName>
                                        </p:attrNameLst>
                                      </p:cBhvr>
                                      <p:to>
                                        <p:strVal val="visible"/>
                                      </p:to>
                                    </p:set>
                                    <p:animEffect transition="in" filter="fade">
                                      <p:cBhvr>
                                        <p:cTn id="66" dur="2000"/>
                                        <p:tgtEl>
                                          <p:spTgt spid="36">
                                            <p:txEl>
                                              <p:pRg st="0" end="0"/>
                                            </p:txEl>
                                          </p:spTgt>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xEl>
                                              <p:pRg st="1" end="1"/>
                                            </p:txEl>
                                          </p:spTgt>
                                        </p:tgtEl>
                                        <p:attrNameLst>
                                          <p:attrName>style.visibility</p:attrName>
                                        </p:attrNameLst>
                                      </p:cBhvr>
                                      <p:to>
                                        <p:strVal val="visible"/>
                                      </p:to>
                                    </p:set>
                                    <p:animEffect transition="in" filter="fade">
                                      <p:cBhvr>
                                        <p:cTn id="69" dur="2000"/>
                                        <p:tgtEl>
                                          <p:spTgt spid="36">
                                            <p:txEl>
                                              <p:pRg st="1" end="1"/>
                                            </p:txEl>
                                          </p:spTgt>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xEl>
                                              <p:pRg st="2" end="2"/>
                                            </p:txEl>
                                          </p:spTgt>
                                        </p:tgtEl>
                                        <p:attrNameLst>
                                          <p:attrName>style.visibility</p:attrName>
                                        </p:attrNameLst>
                                      </p:cBhvr>
                                      <p:to>
                                        <p:strVal val="visible"/>
                                      </p:to>
                                    </p:set>
                                    <p:animEffect transition="in" filter="fade">
                                      <p:cBhvr>
                                        <p:cTn id="72" dur="2000"/>
                                        <p:tgtEl>
                                          <p:spTgt spid="36">
                                            <p:txEl>
                                              <p:pRg st="2" end="2"/>
                                            </p:txEl>
                                          </p:spTgt>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7">
                                            <p:txEl>
                                              <p:pRg st="0" end="0"/>
                                            </p:txEl>
                                          </p:spTgt>
                                        </p:tgtEl>
                                        <p:attrNameLst>
                                          <p:attrName>style.visibility</p:attrName>
                                        </p:attrNameLst>
                                      </p:cBhvr>
                                      <p:to>
                                        <p:strVal val="visible"/>
                                      </p:to>
                                    </p:set>
                                    <p:animEffect transition="in" filter="fade">
                                      <p:cBhvr>
                                        <p:cTn id="75" dur="2000"/>
                                        <p:tgtEl>
                                          <p:spTgt spid="37">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8">
                                            <p:txEl>
                                              <p:pRg st="0" end="0"/>
                                            </p:txEl>
                                          </p:spTgt>
                                        </p:tgtEl>
                                        <p:attrNameLst>
                                          <p:attrName>style.visibility</p:attrName>
                                        </p:attrNameLst>
                                      </p:cBhvr>
                                      <p:to>
                                        <p:strVal val="visible"/>
                                      </p:to>
                                    </p:set>
                                    <p:animEffect transition="in" filter="fade">
                                      <p:cBhvr>
                                        <p:cTn id="80" dur="2000"/>
                                        <p:tgtEl>
                                          <p:spTgt spid="38">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1">
                                            <p:txEl>
                                              <p:pRg st="0" end="0"/>
                                            </p:txEl>
                                          </p:spTgt>
                                        </p:tgtEl>
                                        <p:attrNameLst>
                                          <p:attrName>style.visibility</p:attrName>
                                        </p:attrNameLst>
                                      </p:cBhvr>
                                      <p:to>
                                        <p:strVal val="visible"/>
                                      </p:to>
                                    </p:set>
                                    <p:animEffect transition="in" filter="fade">
                                      <p:cBhvr>
                                        <p:cTn id="85" dur="2000"/>
                                        <p:tgtEl>
                                          <p:spTgt spid="41">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9">
                                            <p:txEl>
                                              <p:pRg st="0" end="0"/>
                                            </p:txEl>
                                          </p:spTgt>
                                        </p:tgtEl>
                                        <p:attrNameLst>
                                          <p:attrName>style.visibility</p:attrName>
                                        </p:attrNameLst>
                                      </p:cBhvr>
                                      <p:to>
                                        <p:strVal val="visible"/>
                                      </p:to>
                                    </p:set>
                                    <p:animEffect transition="in" filter="fade">
                                      <p:cBhvr>
                                        <p:cTn id="90" dur="2000"/>
                                        <p:tgtEl>
                                          <p:spTgt spid="39">
                                            <p:txEl>
                                              <p:pRg st="0" end="0"/>
                                            </p:txEl>
                                          </p:spTgt>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0">
                                            <p:txEl>
                                              <p:pRg st="0" end="0"/>
                                            </p:txEl>
                                          </p:spTgt>
                                        </p:tgtEl>
                                        <p:attrNameLst>
                                          <p:attrName>style.visibility</p:attrName>
                                        </p:attrNameLst>
                                      </p:cBhvr>
                                      <p:to>
                                        <p:strVal val="visible"/>
                                      </p:to>
                                    </p:set>
                                    <p:animEffect transition="in" filter="fade">
                                      <p:cBhvr>
                                        <p:cTn id="93" dur="2000"/>
                                        <p:tgtEl>
                                          <p:spTgt spid="40">
                                            <p:txEl>
                                              <p:pRg st="0" end="0"/>
                                            </p:txEl>
                                          </p:spTgt>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xEl>
                                              <p:pRg st="1" end="1"/>
                                            </p:txEl>
                                          </p:spTgt>
                                        </p:tgtEl>
                                        <p:attrNameLst>
                                          <p:attrName>style.visibility</p:attrName>
                                        </p:attrNameLst>
                                      </p:cBhvr>
                                      <p:to>
                                        <p:strVal val="visible"/>
                                      </p:to>
                                    </p:set>
                                    <p:animEffect transition="in" filter="fade">
                                      <p:cBhvr>
                                        <p:cTn id="96" dur="2000"/>
                                        <p:tgtEl>
                                          <p:spTgt spid="40">
                                            <p:txEl>
                                              <p:pRg st="1" end="1"/>
                                            </p:txEl>
                                          </p:spTgt>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0">
                                            <p:txEl>
                                              <p:pRg st="2" end="2"/>
                                            </p:txEl>
                                          </p:spTgt>
                                        </p:tgtEl>
                                        <p:attrNameLst>
                                          <p:attrName>style.visibility</p:attrName>
                                        </p:attrNameLst>
                                      </p:cBhvr>
                                      <p:to>
                                        <p:strVal val="visible"/>
                                      </p:to>
                                    </p:set>
                                    <p:animEffect transition="in" filter="fade">
                                      <p:cBhvr>
                                        <p:cTn id="99" dur="2000"/>
                                        <p:tgtEl>
                                          <p:spTgt spid="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16" grpId="0" build="allAtOnce"/>
      <p:bldP spid="17" grpId="0" build="allAtOnce"/>
      <p:bldP spid="23" grpId="0" build="allAtOnce"/>
      <p:bldP spid="24" grpId="0" build="allAtOnce"/>
      <p:bldP spid="25" grpId="0" build="allAtOnce"/>
      <p:bldP spid="29" grpId="0" build="allAtOnce"/>
      <p:bldP spid="34" grpId="0" build="allAtOnce"/>
      <p:bldP spid="35" grpId="0" build="allAtOnce"/>
      <p:bldP spid="36" grpId="0" build="allAtOnce"/>
      <p:bldP spid="37" grpId="0" build="allAtOnce"/>
      <p:bldP spid="38" grpId="0" build="allAtOnce"/>
      <p:bldP spid="39" grpId="0" build="allAtOnce"/>
      <p:bldP spid="40" grpId="0" build="allAtOnce"/>
      <p:bldP spid="41" grpId="0" build="allAtOnce"/>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Natuurlijke deductie</a:t>
            </a:r>
            <a:endParaRPr lang="nl-NL" sz="3600" dirty="0"/>
          </a:p>
        </p:txBody>
      </p:sp>
      <p:sp>
        <p:nvSpPr>
          <p:cNvPr id="3" name="Content Placeholder 2"/>
          <p:cNvSpPr>
            <a:spLocks noGrp="1"/>
          </p:cNvSpPr>
          <p:nvPr>
            <p:ph idx="1"/>
          </p:nvPr>
        </p:nvSpPr>
        <p:spPr>
          <a:xfrm>
            <a:off x="457200" y="1600201"/>
            <a:ext cx="8686800" cy="1108720"/>
          </a:xfrm>
        </p:spPr>
        <p:txBody>
          <a:bodyPr>
            <a:noAutofit/>
          </a:bodyPr>
          <a:lstStyle/>
          <a:p>
            <a:r>
              <a:rPr lang="nl-NL" sz="2000" dirty="0" smtClean="0"/>
              <a:t>We breiden </a:t>
            </a:r>
            <a:r>
              <a:rPr lang="nl-NL" sz="2000" i="1" dirty="0" smtClean="0"/>
              <a:t>het systeem van natuurlijke deductie voor de propositielogica        </a:t>
            </a:r>
            <a:r>
              <a:rPr lang="nl-NL" sz="2000" dirty="0" smtClean="0"/>
              <a:t>uit voor de </a:t>
            </a:r>
            <a:r>
              <a:rPr lang="nl-NL" sz="2000" dirty="0" err="1" smtClean="0"/>
              <a:t>predikatenlogica</a:t>
            </a:r>
            <a:r>
              <a:rPr lang="nl-NL" sz="2000" dirty="0" smtClean="0"/>
              <a:t>. Dit betekent dat we vier extra afleidingsregels moeten invoeren bovenop de al bestaande tien regels. Welke?</a:t>
            </a:r>
          </a:p>
          <a:p>
            <a:endParaRPr lang="nl-NL" sz="2000" dirty="0" smtClean="0"/>
          </a:p>
          <a:p>
            <a:endParaRPr lang="nl-NL" sz="2000" dirty="0" smtClean="0"/>
          </a:p>
        </p:txBody>
      </p:sp>
      <p:sp>
        <p:nvSpPr>
          <p:cNvPr id="6" name="Content Placeholder 2"/>
          <p:cNvSpPr txBox="1">
            <a:spLocks/>
          </p:cNvSpPr>
          <p:nvPr/>
        </p:nvSpPr>
        <p:spPr>
          <a:xfrm>
            <a:off x="457200" y="2752328"/>
            <a:ext cx="8507288" cy="1108720"/>
          </a:xfrm>
          <a:prstGeom prst="rect">
            <a:avLst/>
          </a:prstGeom>
        </p:spPr>
        <p:txBody>
          <a:bodyPr vert="horz" lIns="91440" tIns="45720" rIns="91440" bIns="45720" rtlCol="0">
            <a:noAutofit/>
          </a:bodyPr>
          <a:lstStyle/>
          <a:p>
            <a:pPr marL="342900" lvl="0" indent="-342900">
              <a:spcBef>
                <a:spcPct val="20000"/>
              </a:spcBef>
              <a:defRPr/>
            </a:pPr>
            <a:r>
              <a:rPr lang="nl-NL" sz="2000" dirty="0" smtClean="0"/>
              <a:t>	- Introductieregel voor de existentiële </a:t>
            </a:r>
            <a:r>
              <a:rPr lang="nl-NL" sz="2000" dirty="0" err="1" smtClean="0"/>
              <a:t>kwantor</a:t>
            </a:r>
            <a:r>
              <a:rPr lang="nl-NL" sz="2000" dirty="0" smtClean="0"/>
              <a:t> </a:t>
            </a:r>
            <a:r>
              <a:rPr lang="nl-NL" sz="2000" b="1" dirty="0" smtClean="0"/>
              <a:t>∃</a:t>
            </a:r>
          </a:p>
          <a:p>
            <a:pPr marL="342900" lvl="0" indent="-342900">
              <a:spcBef>
                <a:spcPct val="20000"/>
              </a:spcBef>
              <a:defRPr/>
            </a:pPr>
            <a:r>
              <a:rPr lang="nl-NL" sz="2000" noProof="0" dirty="0" smtClean="0"/>
              <a:t>	- Gebruiksregel voor de existentiële </a:t>
            </a:r>
            <a:r>
              <a:rPr lang="nl-NL" sz="2000" noProof="0" dirty="0" err="1" smtClean="0"/>
              <a:t>kwantor</a:t>
            </a:r>
            <a:r>
              <a:rPr lang="nl-NL" sz="2000" noProof="0" dirty="0" smtClean="0"/>
              <a:t> </a:t>
            </a:r>
            <a:r>
              <a:rPr lang="nl-NL" sz="2000" b="1" dirty="0" smtClean="0"/>
              <a:t>∃</a:t>
            </a:r>
          </a:p>
          <a:p>
            <a:pPr marL="342900" lvl="0" indent="-342900">
              <a:spcBef>
                <a:spcPct val="20000"/>
              </a:spcBef>
              <a:defRPr/>
            </a:pPr>
            <a:r>
              <a:rPr kumimoji="0" lang="nl-NL" sz="2000" b="1" i="0" u="none" strike="noStrike" kern="1200" cap="none" spc="0" normalizeH="0" baseline="0" noProof="0" dirty="0" smtClean="0">
                <a:ln>
                  <a:noFill/>
                </a:ln>
                <a:solidFill>
                  <a:schemeClr val="tx1"/>
                </a:solidFill>
                <a:effectLst/>
                <a:uLnTx/>
                <a:uFillTx/>
                <a:latin typeface="+mn-lt"/>
                <a:ea typeface="+mn-ea"/>
                <a:cs typeface="+mn-cs"/>
              </a:rPr>
              <a:t>	</a:t>
            </a:r>
            <a:r>
              <a:rPr lang="nl-NL" sz="2000" noProof="0" dirty="0" smtClean="0"/>
              <a:t>- Introductieregel voor de universele </a:t>
            </a:r>
            <a:r>
              <a:rPr lang="nl-NL" sz="2000" noProof="0" dirty="0" err="1" smtClean="0"/>
              <a:t>kwantor</a:t>
            </a:r>
            <a:r>
              <a:rPr lang="nl-NL" sz="2000" noProof="0" dirty="0" smtClean="0"/>
              <a:t> </a:t>
            </a:r>
            <a:r>
              <a:rPr lang="nl-NL" sz="2000" b="1" dirty="0" smtClean="0"/>
              <a:t>∀</a:t>
            </a:r>
          </a:p>
          <a:p>
            <a:pPr marL="342900" lvl="0" indent="-342900">
              <a:spcBef>
                <a:spcPct val="20000"/>
              </a:spcBef>
              <a:defRPr/>
            </a:pPr>
            <a:r>
              <a:rPr lang="nl-NL" sz="2000" b="1" noProof="0" dirty="0" smtClean="0"/>
              <a:t>	</a:t>
            </a:r>
            <a:r>
              <a:rPr lang="nl-NL" sz="2000" dirty="0" smtClean="0"/>
              <a:t>- Gebruiksregel voor de universele </a:t>
            </a:r>
            <a:r>
              <a:rPr lang="nl-NL" sz="2000" dirty="0" err="1" smtClean="0"/>
              <a:t>kwantor</a:t>
            </a:r>
            <a:r>
              <a:rPr lang="nl-NL" sz="2000" dirty="0" smtClean="0"/>
              <a:t> </a:t>
            </a:r>
            <a:r>
              <a:rPr lang="nl-NL" sz="2000" b="1" dirty="0" smtClean="0"/>
              <a:t>∀</a:t>
            </a:r>
          </a:p>
          <a:p>
            <a:pPr marL="342900" lvl="0" indent="-342900">
              <a:spcBef>
                <a:spcPct val="20000"/>
              </a:spcBef>
              <a:defRPr/>
            </a:pPr>
            <a:r>
              <a:rPr lang="nl-NL" sz="2000" noProof="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2000"/>
                                        <p:tgtEl>
                                          <p:spTgt spid="6">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2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3" name="Content Placeholder 2"/>
          <p:cNvSpPr>
            <a:spLocks noGrp="1"/>
          </p:cNvSpPr>
          <p:nvPr>
            <p:ph idx="1"/>
          </p:nvPr>
        </p:nvSpPr>
        <p:spPr>
          <a:xfrm>
            <a:off x="288032" y="1600201"/>
            <a:ext cx="8892480" cy="1108720"/>
          </a:xfrm>
        </p:spPr>
        <p:txBody>
          <a:bodyPr>
            <a:noAutofit/>
          </a:bodyPr>
          <a:lstStyle/>
          <a:p>
            <a:r>
              <a:rPr lang="nl-NL" sz="2000" dirty="0" smtClean="0"/>
              <a:t>2 is een even priemgetal. Er is dus tenminste één even priemgetal</a:t>
            </a:r>
          </a:p>
          <a:p>
            <a:r>
              <a:rPr lang="nl-NL" sz="2000" dirty="0" smtClean="0"/>
              <a:t>12 is een getal groter dan 10. Er is dus tenminste één getal groter dan tien</a:t>
            </a:r>
          </a:p>
          <a:p>
            <a:r>
              <a:rPr lang="nl-NL" sz="2000" dirty="0" err="1" smtClean="0"/>
              <a:t>Sixto</a:t>
            </a:r>
            <a:r>
              <a:rPr lang="nl-NL" sz="2000" dirty="0" smtClean="0"/>
              <a:t> </a:t>
            </a:r>
            <a:r>
              <a:rPr lang="nl-NL" sz="2000" dirty="0" err="1" smtClean="0"/>
              <a:t>Rodriquez</a:t>
            </a:r>
            <a:r>
              <a:rPr lang="nl-NL" sz="2000" dirty="0" smtClean="0"/>
              <a:t> is een muzikant. Er is dus tenminste één muzikant</a:t>
            </a:r>
          </a:p>
          <a:p>
            <a:r>
              <a:rPr lang="nl-NL" sz="2000" dirty="0" smtClean="0"/>
              <a:t>Amsterdam is een stad in Nederland. Er is dus tenminste één stad in Nederland</a:t>
            </a:r>
          </a:p>
          <a:p>
            <a:pPr>
              <a:buNone/>
            </a:pPr>
            <a:endParaRPr lang="nl-NL" sz="2000" dirty="0" smtClean="0"/>
          </a:p>
          <a:p>
            <a:endParaRPr lang="nl-NL" sz="2000" dirty="0" smtClean="0"/>
          </a:p>
          <a:p>
            <a:endParaRPr lang="nl-NL" sz="2000" dirty="0" smtClean="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21704" y="3429000"/>
            <a:ext cx="2998168" cy="30243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pPr>
            <a:r>
              <a:rPr lang="nl-NL" sz="2000" dirty="0" smtClean="0"/>
              <a:t>3. </a:t>
            </a:r>
            <a:r>
              <a:rPr lang="el-GR" sz="2000" b="1" i="1" dirty="0" smtClean="0"/>
              <a:t>α</a:t>
            </a:r>
            <a:r>
              <a:rPr lang="nl-NL" sz="2000" b="1" dirty="0" smtClean="0"/>
              <a:t>[a]</a:t>
            </a:r>
          </a:p>
          <a:p>
            <a:pPr marL="342900" lvl="0" indent="-342900">
              <a:spcBef>
                <a:spcPct val="20000"/>
              </a:spcBef>
            </a:pPr>
            <a:r>
              <a:rPr lang="nl-NL" sz="2000" dirty="0" smtClean="0"/>
              <a:t>….</a:t>
            </a:r>
          </a:p>
          <a:p>
            <a:pPr marL="342900" lvl="0" indent="-342900">
              <a:spcBef>
                <a:spcPct val="20000"/>
              </a:spcBef>
            </a:pPr>
            <a:r>
              <a:rPr lang="nl-NL" sz="2000" dirty="0" smtClean="0"/>
              <a:t>….</a:t>
            </a:r>
          </a:p>
          <a:p>
            <a:pPr marL="342900" lvl="0" indent="-342900">
              <a:spcBef>
                <a:spcPct val="20000"/>
              </a:spcBef>
            </a:pPr>
            <a:r>
              <a:rPr lang="nl-NL" sz="2000" dirty="0" smtClean="0"/>
              <a:t>7. </a:t>
            </a:r>
            <a:r>
              <a:rPr lang="nl-NL" sz="2000" b="1" dirty="0" smtClean="0"/>
              <a:t>∃x </a:t>
            </a:r>
            <a:r>
              <a:rPr lang="el-GR" sz="2000" b="1" i="1" dirty="0" smtClean="0"/>
              <a:t>α</a:t>
            </a:r>
            <a:r>
              <a:rPr lang="nl-NL" sz="2000" b="1" dirty="0" smtClean="0"/>
              <a:t>[x]	I ∃ (3)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4572000" y="3707740"/>
            <a:ext cx="4176464" cy="1754326"/>
          </a:xfrm>
          <a:prstGeom prst="rect">
            <a:avLst/>
          </a:prstGeom>
        </p:spPr>
        <p:txBody>
          <a:bodyPr wrap="square">
            <a:spAutoFit/>
          </a:bodyPr>
          <a:lstStyle/>
          <a:p>
            <a:r>
              <a:rPr lang="nl-NL" dirty="0" smtClean="0"/>
              <a:t>1.</a:t>
            </a:r>
            <a:r>
              <a:rPr lang="nl-NL" b="1" dirty="0" smtClean="0"/>
              <a:t>   Aa ∧ </a:t>
            </a:r>
            <a:r>
              <a:rPr lang="nl-NL" b="1" dirty="0" err="1" smtClean="0"/>
              <a:t>Bb</a:t>
            </a:r>
            <a:r>
              <a:rPr lang="nl-NL" b="1" dirty="0" smtClean="0"/>
              <a:t>	</a:t>
            </a:r>
            <a:r>
              <a:rPr lang="nl-NL" dirty="0" smtClean="0"/>
              <a:t>Prem.</a:t>
            </a:r>
          </a:p>
          <a:p>
            <a:r>
              <a:rPr lang="nl-NL" dirty="0" smtClean="0"/>
              <a:t>2.   </a:t>
            </a:r>
            <a:r>
              <a:rPr lang="nl-NL" b="1" dirty="0" smtClean="0"/>
              <a:t>Aa		</a:t>
            </a:r>
            <a:r>
              <a:rPr lang="nl-NL" dirty="0" smtClean="0"/>
              <a:t>G ∧ (1)</a:t>
            </a:r>
          </a:p>
          <a:p>
            <a:r>
              <a:rPr lang="nl-NL" dirty="0" smtClean="0"/>
              <a:t>3.  </a:t>
            </a:r>
            <a:r>
              <a:rPr lang="nl-NL" b="1" dirty="0" smtClean="0"/>
              <a:t>∃x</a:t>
            </a:r>
            <a:r>
              <a:rPr lang="nl-NL" dirty="0" smtClean="0"/>
              <a:t> </a:t>
            </a:r>
            <a:r>
              <a:rPr lang="nl-NL" b="1" dirty="0" err="1" smtClean="0"/>
              <a:t>Ax</a:t>
            </a:r>
            <a:r>
              <a:rPr lang="nl-NL" b="1" dirty="0" smtClean="0"/>
              <a:t>		</a:t>
            </a:r>
            <a:r>
              <a:rPr lang="nl-NL" dirty="0" smtClean="0"/>
              <a:t>I ∃ (2)</a:t>
            </a:r>
          </a:p>
          <a:p>
            <a:r>
              <a:rPr lang="nl-NL" dirty="0" smtClean="0"/>
              <a:t>4.  </a:t>
            </a:r>
            <a:r>
              <a:rPr lang="nl-NL" b="1" dirty="0" err="1" smtClean="0"/>
              <a:t>Bb</a:t>
            </a:r>
            <a:r>
              <a:rPr lang="nl-NL" b="1" dirty="0" smtClean="0"/>
              <a:t>		</a:t>
            </a:r>
            <a:r>
              <a:rPr lang="nl-NL" dirty="0" smtClean="0"/>
              <a:t>G ∧ (1)</a:t>
            </a:r>
            <a:r>
              <a:rPr lang="nl-NL" b="1" dirty="0" smtClean="0"/>
              <a:t> 	</a:t>
            </a:r>
          </a:p>
          <a:p>
            <a:r>
              <a:rPr lang="nl-NL" dirty="0" smtClean="0"/>
              <a:t>5.  </a:t>
            </a:r>
            <a:r>
              <a:rPr lang="nl-NL" b="1" dirty="0" smtClean="0"/>
              <a:t>∃y</a:t>
            </a:r>
            <a:r>
              <a:rPr lang="nl-NL" dirty="0" smtClean="0"/>
              <a:t> </a:t>
            </a:r>
            <a:r>
              <a:rPr lang="nl-NL" b="1" dirty="0" err="1" smtClean="0"/>
              <a:t>By</a:t>
            </a:r>
            <a:r>
              <a:rPr lang="nl-NL" dirty="0" smtClean="0"/>
              <a:t>    	I ∃ (4)</a:t>
            </a:r>
          </a:p>
          <a:p>
            <a:r>
              <a:rPr lang="nl-NL" dirty="0" smtClean="0"/>
              <a:t>6.  </a:t>
            </a:r>
            <a:r>
              <a:rPr lang="nl-NL" b="1" dirty="0" smtClean="0"/>
              <a:t>∃x</a:t>
            </a:r>
            <a:r>
              <a:rPr lang="nl-NL" dirty="0" smtClean="0"/>
              <a:t> </a:t>
            </a:r>
            <a:r>
              <a:rPr lang="nl-NL" b="1" dirty="0" err="1" smtClean="0"/>
              <a:t>Ax</a:t>
            </a:r>
            <a:r>
              <a:rPr lang="nl-NL" b="1" dirty="0" smtClean="0"/>
              <a:t>  ∧ ∃y</a:t>
            </a:r>
            <a:r>
              <a:rPr lang="nl-NL" dirty="0" smtClean="0"/>
              <a:t> </a:t>
            </a:r>
            <a:r>
              <a:rPr lang="nl-NL" b="1" dirty="0" err="1" smtClean="0"/>
              <a:t>By</a:t>
            </a:r>
            <a:r>
              <a:rPr lang="nl-NL" b="1" dirty="0" smtClean="0"/>
              <a:t>	</a:t>
            </a:r>
            <a:r>
              <a:rPr lang="nl-NL" dirty="0" smtClean="0"/>
              <a:t>I</a:t>
            </a:r>
            <a:r>
              <a:rPr lang="nl-NL" b="1" dirty="0" smtClean="0"/>
              <a:t> </a:t>
            </a:r>
            <a:r>
              <a:rPr lang="nl-NL" dirty="0" smtClean="0"/>
              <a:t>∧ (3,5)</a:t>
            </a:r>
            <a:r>
              <a:rPr lang="nl-NL" b="1" dirty="0" smtClean="0"/>
              <a:t>  </a:t>
            </a:r>
            <a:r>
              <a:rPr lang="nl-NL" dirty="0" smtClean="0"/>
              <a:t>  	 </a:t>
            </a:r>
            <a:endParaRPr lang="nl-NL" dirty="0"/>
          </a:p>
        </p:txBody>
      </p:sp>
      <p:sp>
        <p:nvSpPr>
          <p:cNvPr id="9" name="Rectangle 8"/>
          <p:cNvSpPr/>
          <p:nvPr/>
        </p:nvSpPr>
        <p:spPr>
          <a:xfrm>
            <a:off x="4572000" y="5867980"/>
            <a:ext cx="4176464" cy="369332"/>
          </a:xfrm>
          <a:prstGeom prst="rect">
            <a:avLst/>
          </a:prstGeom>
        </p:spPr>
        <p:txBody>
          <a:bodyPr wrap="square">
            <a:spAutoFit/>
          </a:bodyPr>
          <a:lstStyle/>
          <a:p>
            <a:r>
              <a:rPr lang="nl-NL" b="1" dirty="0" smtClean="0"/>
              <a:t>Aa ∧ </a:t>
            </a:r>
            <a:r>
              <a:rPr lang="nl-NL" b="1" dirty="0" err="1" smtClean="0"/>
              <a:t>Bb</a:t>
            </a:r>
            <a:r>
              <a:rPr lang="nl-NL" b="1" dirty="0" smtClean="0"/>
              <a:t>	Ⱶ  ∃x</a:t>
            </a:r>
            <a:r>
              <a:rPr lang="nl-NL" dirty="0" smtClean="0"/>
              <a:t> </a:t>
            </a:r>
            <a:r>
              <a:rPr lang="nl-NL" b="1" dirty="0" err="1" smtClean="0"/>
              <a:t>Ax</a:t>
            </a:r>
            <a:r>
              <a:rPr lang="nl-NL" b="1" dirty="0" smtClean="0"/>
              <a:t>  ∧ ∃y</a:t>
            </a:r>
            <a:r>
              <a:rPr lang="nl-NL" dirty="0" smtClean="0"/>
              <a:t> </a:t>
            </a:r>
            <a:r>
              <a:rPr lang="nl-NL" b="1" dirty="0" err="1" smtClean="0"/>
              <a:t>By</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2000"/>
                                        <p:tgtEl>
                                          <p:spTgt spid="7">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1" end="1"/>
                                            </p:txEl>
                                          </p:spTgt>
                                        </p:tgtEl>
                                        <p:attrNameLst>
                                          <p:attrName>style.visibility</p:attrName>
                                        </p:attrNameLst>
                                      </p:cBhvr>
                                      <p:to>
                                        <p:strVal val="visible"/>
                                      </p:to>
                                    </p:set>
                                    <p:animEffect transition="in" filter="fade">
                                      <p:cBhvr>
                                        <p:cTn id="24" dur="2000"/>
                                        <p:tgtEl>
                                          <p:spTgt spid="7">
                                            <p:txEl>
                                              <p:pRg st="1" end="1"/>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2000"/>
                                        <p:tgtEl>
                                          <p:spTgt spid="7">
                                            <p:txEl>
                                              <p:pRg st="2" end="2"/>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xEl>
                                              <p:pRg st="3" end="3"/>
                                            </p:txEl>
                                          </p:spTgt>
                                        </p:tgtEl>
                                        <p:attrNameLst>
                                          <p:attrName>style.visibility</p:attrName>
                                        </p:attrNameLst>
                                      </p:cBhvr>
                                      <p:to>
                                        <p:strVal val="visible"/>
                                      </p:to>
                                    </p:set>
                                    <p:animEffect transition="in" filter="fade">
                                      <p:cBhvr>
                                        <p:cTn id="30" dur="2000"/>
                                        <p:tgtEl>
                                          <p:spTgt spid="7">
                                            <p:txEl>
                                              <p:pRg st="3" end="3"/>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2000"/>
                                        <p:tgtEl>
                                          <p:spTgt spid="7">
                                            <p:txEl>
                                              <p:pRg st="4" end="4"/>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animEffect transition="in" filter="fade">
                                      <p:cBhvr>
                                        <p:cTn id="36" dur="2000"/>
                                        <p:tgtEl>
                                          <p:spTgt spid="7">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
                                            <p:txEl>
                                              <p:pRg st="0" end="0"/>
                                            </p:txEl>
                                          </p:spTgt>
                                        </p:tgtEl>
                                        <p:attrNameLst>
                                          <p:attrName>style.visibility</p:attrName>
                                        </p:attrNameLst>
                                      </p:cBhvr>
                                      <p:to>
                                        <p:strVal val="visible"/>
                                      </p:to>
                                    </p:set>
                                    <p:animEffect transition="in" filter="fade">
                                      <p:cBhvr>
                                        <p:cTn id="41" dur="2000"/>
                                        <p:tgtEl>
                                          <p:spTgt spid="8">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8">
                                            <p:txEl>
                                              <p:pRg st="1" end="1"/>
                                            </p:txEl>
                                          </p:spTgt>
                                        </p:tgtEl>
                                        <p:attrNameLst>
                                          <p:attrName>style.visibility</p:attrName>
                                        </p:attrNameLst>
                                      </p:cBhvr>
                                      <p:to>
                                        <p:strVal val="visible"/>
                                      </p:to>
                                    </p:set>
                                    <p:animEffect transition="in" filter="fade">
                                      <p:cBhvr>
                                        <p:cTn id="44" dur="2000"/>
                                        <p:tgtEl>
                                          <p:spTgt spid="8">
                                            <p:txEl>
                                              <p:pRg st="1" end="1"/>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animEffect transition="in" filter="fade">
                                      <p:cBhvr>
                                        <p:cTn id="47" dur="2000"/>
                                        <p:tgtEl>
                                          <p:spTgt spid="8">
                                            <p:txEl>
                                              <p:pRg st="2" end="2"/>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
                                            <p:txEl>
                                              <p:pRg st="3" end="3"/>
                                            </p:txEl>
                                          </p:spTgt>
                                        </p:tgtEl>
                                        <p:attrNameLst>
                                          <p:attrName>style.visibility</p:attrName>
                                        </p:attrNameLst>
                                      </p:cBhvr>
                                      <p:to>
                                        <p:strVal val="visible"/>
                                      </p:to>
                                    </p:set>
                                    <p:animEffect transition="in" filter="fade">
                                      <p:cBhvr>
                                        <p:cTn id="50" dur="2000"/>
                                        <p:tgtEl>
                                          <p:spTgt spid="8">
                                            <p:txEl>
                                              <p:pRg st="3" end="3"/>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
                                            <p:txEl>
                                              <p:pRg st="4" end="4"/>
                                            </p:txEl>
                                          </p:spTgt>
                                        </p:tgtEl>
                                        <p:attrNameLst>
                                          <p:attrName>style.visibility</p:attrName>
                                        </p:attrNameLst>
                                      </p:cBhvr>
                                      <p:to>
                                        <p:strVal val="visible"/>
                                      </p:to>
                                    </p:set>
                                    <p:animEffect transition="in" filter="fade">
                                      <p:cBhvr>
                                        <p:cTn id="53" dur="2000"/>
                                        <p:tgtEl>
                                          <p:spTgt spid="8">
                                            <p:txEl>
                                              <p:pRg st="4" end="4"/>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8">
                                            <p:txEl>
                                              <p:pRg st="5" end="5"/>
                                            </p:txEl>
                                          </p:spTgt>
                                        </p:tgtEl>
                                        <p:attrNameLst>
                                          <p:attrName>style.visibility</p:attrName>
                                        </p:attrNameLst>
                                      </p:cBhvr>
                                      <p:to>
                                        <p:strVal val="visible"/>
                                      </p:to>
                                    </p:set>
                                    <p:animEffect transition="in" filter="fade">
                                      <p:cBhvr>
                                        <p:cTn id="56" dur="2000"/>
                                        <p:tgtEl>
                                          <p:spTgt spid="8">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9">
                                            <p:txEl>
                                              <p:pRg st="0" end="0"/>
                                            </p:txEl>
                                          </p:spTgt>
                                        </p:tgtEl>
                                        <p:attrNameLst>
                                          <p:attrName>style.visibility</p:attrName>
                                        </p:attrNameLst>
                                      </p:cBhvr>
                                      <p:to>
                                        <p:strVal val="visible"/>
                                      </p:to>
                                    </p:set>
                                    <p:animEffect transition="in" filter="fade">
                                      <p:cBhvr>
                                        <p:cTn id="61"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7" grpId="0" build="allAtOnce"/>
      <p:bldP spid="8" grpId="0" build="allAtOnce"/>
      <p:bldP spid="9" grpId="0" build="allAtOnce"/>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3" name="Content Placeholder 2"/>
          <p:cNvSpPr>
            <a:spLocks noGrp="1"/>
          </p:cNvSpPr>
          <p:nvPr>
            <p:ph idx="1"/>
          </p:nvPr>
        </p:nvSpPr>
        <p:spPr>
          <a:xfrm>
            <a:off x="288032" y="1600201"/>
            <a:ext cx="8892480" cy="1108720"/>
          </a:xfrm>
        </p:spPr>
        <p:txBody>
          <a:bodyPr>
            <a:noAutofit/>
          </a:bodyPr>
          <a:lstStyle/>
          <a:p>
            <a:r>
              <a:rPr lang="nl-NL" sz="2000" dirty="0" smtClean="0"/>
              <a:t>De introductieregel voor </a:t>
            </a:r>
            <a:r>
              <a:rPr lang="nl-NL" sz="2000" b="1" dirty="0" smtClean="0"/>
              <a:t>∃ </a:t>
            </a:r>
            <a:r>
              <a:rPr lang="nl-NL" sz="2000" dirty="0" smtClean="0"/>
              <a:t>komt neer op het vervangen van </a:t>
            </a:r>
            <a:r>
              <a:rPr lang="nl-NL" sz="2000" i="1" dirty="0" smtClean="0"/>
              <a:t>een of meerdere optredens </a:t>
            </a:r>
            <a:r>
              <a:rPr lang="nl-NL" sz="2000" dirty="0" smtClean="0"/>
              <a:t>van een individuconstante in een formule door een individuvariabele en het plaatsen van een existentiële </a:t>
            </a:r>
            <a:r>
              <a:rPr lang="nl-NL" sz="2000" dirty="0" err="1" smtClean="0"/>
              <a:t>kwantor</a:t>
            </a:r>
            <a:r>
              <a:rPr lang="nl-NL" sz="2000" dirty="0" smtClean="0"/>
              <a:t> </a:t>
            </a:r>
            <a:r>
              <a:rPr lang="nl-NL" sz="2000" b="1" dirty="0" smtClean="0"/>
              <a:t>∃  </a:t>
            </a:r>
            <a:r>
              <a:rPr lang="nl-NL" sz="2000" dirty="0" smtClean="0"/>
              <a:t>voor de formule. We hoeven         dus </a:t>
            </a:r>
            <a:r>
              <a:rPr lang="nl-NL" sz="2000" i="1" dirty="0" smtClean="0"/>
              <a:t>niet ieder optreden</a:t>
            </a:r>
            <a:r>
              <a:rPr lang="nl-NL" sz="2000" dirty="0" smtClean="0"/>
              <a:t> van de desbetreffende constante te vervangen! </a:t>
            </a:r>
          </a:p>
          <a:p>
            <a:pPr>
              <a:buNone/>
            </a:pPr>
            <a:endParaRPr lang="nl-NL" sz="2000" dirty="0" smtClean="0"/>
          </a:p>
          <a:p>
            <a:endParaRPr lang="nl-NL" sz="2000" dirty="0" smtClean="0"/>
          </a:p>
          <a:p>
            <a:endParaRPr lang="nl-NL" sz="2000" dirty="0" smtClean="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467544" y="3212976"/>
            <a:ext cx="4176464" cy="646331"/>
          </a:xfrm>
          <a:prstGeom prst="rect">
            <a:avLst/>
          </a:prstGeom>
        </p:spPr>
        <p:txBody>
          <a:bodyPr wrap="square">
            <a:spAutoFit/>
          </a:bodyPr>
          <a:lstStyle/>
          <a:p>
            <a:r>
              <a:rPr lang="nl-NL" dirty="0" smtClean="0"/>
              <a:t>1.</a:t>
            </a:r>
            <a:r>
              <a:rPr lang="nl-NL" b="1" dirty="0" smtClean="0"/>
              <a:t>   </a:t>
            </a:r>
            <a:r>
              <a:rPr lang="nl-NL" b="1" dirty="0" err="1" smtClean="0"/>
              <a:t>Fab</a:t>
            </a:r>
            <a:r>
              <a:rPr lang="nl-NL" b="1" dirty="0" smtClean="0"/>
              <a:t>		</a:t>
            </a:r>
            <a:r>
              <a:rPr lang="nl-NL" dirty="0" smtClean="0"/>
              <a:t>Prem.</a:t>
            </a:r>
          </a:p>
          <a:p>
            <a:r>
              <a:rPr lang="nl-NL" dirty="0" smtClean="0"/>
              <a:t>2.   </a:t>
            </a:r>
            <a:r>
              <a:rPr lang="nl-NL" b="1" dirty="0" smtClean="0"/>
              <a:t>∃x</a:t>
            </a:r>
            <a:r>
              <a:rPr lang="nl-NL" dirty="0" smtClean="0"/>
              <a:t> </a:t>
            </a:r>
            <a:r>
              <a:rPr lang="nl-NL" b="1" dirty="0" smtClean="0"/>
              <a:t>Fax 	</a:t>
            </a:r>
            <a:r>
              <a:rPr lang="nl-NL" dirty="0" smtClean="0"/>
              <a:t>I ∃ (1)</a:t>
            </a:r>
            <a:r>
              <a:rPr lang="nl-NL" b="1" dirty="0" smtClean="0"/>
              <a:t>	</a:t>
            </a:r>
            <a:r>
              <a:rPr lang="nl-NL" dirty="0" smtClean="0"/>
              <a:t>	 </a:t>
            </a:r>
            <a:endParaRPr lang="nl-NL" dirty="0"/>
          </a:p>
        </p:txBody>
      </p:sp>
      <p:sp>
        <p:nvSpPr>
          <p:cNvPr id="11" name="Rectangle 10"/>
          <p:cNvSpPr/>
          <p:nvPr/>
        </p:nvSpPr>
        <p:spPr>
          <a:xfrm>
            <a:off x="467544" y="4006805"/>
            <a:ext cx="4176464" cy="646331"/>
          </a:xfrm>
          <a:prstGeom prst="rect">
            <a:avLst/>
          </a:prstGeom>
        </p:spPr>
        <p:txBody>
          <a:bodyPr wrap="square">
            <a:spAutoFit/>
          </a:bodyPr>
          <a:lstStyle/>
          <a:p>
            <a:r>
              <a:rPr lang="nl-NL" dirty="0" smtClean="0"/>
              <a:t>1.</a:t>
            </a:r>
            <a:r>
              <a:rPr lang="nl-NL" b="1" dirty="0" smtClean="0"/>
              <a:t>   </a:t>
            </a:r>
            <a:r>
              <a:rPr lang="nl-NL" b="1" dirty="0" err="1" smtClean="0"/>
              <a:t>Fac</a:t>
            </a:r>
            <a:r>
              <a:rPr lang="nl-NL" b="1" dirty="0" smtClean="0"/>
              <a:t>		</a:t>
            </a:r>
            <a:r>
              <a:rPr lang="nl-NL" dirty="0" smtClean="0"/>
              <a:t>Prem.</a:t>
            </a:r>
          </a:p>
          <a:p>
            <a:r>
              <a:rPr lang="nl-NL" dirty="0" smtClean="0"/>
              <a:t>2.   </a:t>
            </a:r>
            <a:r>
              <a:rPr lang="nl-NL" b="1" dirty="0" smtClean="0"/>
              <a:t>∃z</a:t>
            </a:r>
            <a:r>
              <a:rPr lang="nl-NL" dirty="0" smtClean="0"/>
              <a:t> </a:t>
            </a:r>
            <a:r>
              <a:rPr lang="nl-NL" b="1" dirty="0" err="1" smtClean="0"/>
              <a:t>Faz</a:t>
            </a:r>
            <a:r>
              <a:rPr lang="nl-NL" b="1" dirty="0" smtClean="0"/>
              <a:t> 	</a:t>
            </a:r>
            <a:r>
              <a:rPr lang="nl-NL" dirty="0" smtClean="0"/>
              <a:t>I ∃ (1)</a:t>
            </a:r>
            <a:r>
              <a:rPr lang="nl-NL" b="1" dirty="0" smtClean="0"/>
              <a:t>	</a:t>
            </a:r>
            <a:r>
              <a:rPr lang="nl-NL" dirty="0" smtClean="0"/>
              <a:t>	 </a:t>
            </a:r>
            <a:endParaRPr lang="nl-NL" dirty="0"/>
          </a:p>
        </p:txBody>
      </p:sp>
      <p:sp>
        <p:nvSpPr>
          <p:cNvPr id="12" name="Rectangle 11"/>
          <p:cNvSpPr/>
          <p:nvPr/>
        </p:nvSpPr>
        <p:spPr>
          <a:xfrm>
            <a:off x="467544" y="4797152"/>
            <a:ext cx="4176464" cy="646331"/>
          </a:xfrm>
          <a:prstGeom prst="rect">
            <a:avLst/>
          </a:prstGeom>
        </p:spPr>
        <p:txBody>
          <a:bodyPr wrap="square">
            <a:spAutoFit/>
          </a:bodyPr>
          <a:lstStyle/>
          <a:p>
            <a:r>
              <a:rPr lang="nl-NL" dirty="0" smtClean="0"/>
              <a:t>1.</a:t>
            </a:r>
            <a:r>
              <a:rPr lang="nl-NL" b="1" dirty="0" smtClean="0"/>
              <a:t>   </a:t>
            </a:r>
            <a:r>
              <a:rPr lang="nl-NL" b="1" dirty="0" err="1" smtClean="0"/>
              <a:t>Faa</a:t>
            </a:r>
            <a:r>
              <a:rPr lang="nl-NL" b="1" dirty="0" smtClean="0"/>
              <a:t>		</a:t>
            </a:r>
            <a:r>
              <a:rPr lang="nl-NL" dirty="0" smtClean="0"/>
              <a:t>Prem.</a:t>
            </a:r>
          </a:p>
          <a:p>
            <a:r>
              <a:rPr lang="nl-NL" dirty="0" smtClean="0"/>
              <a:t>2.   </a:t>
            </a:r>
            <a:r>
              <a:rPr lang="nl-NL" b="1" dirty="0" smtClean="0"/>
              <a:t>∃x</a:t>
            </a:r>
            <a:r>
              <a:rPr lang="nl-NL" dirty="0" smtClean="0"/>
              <a:t> </a:t>
            </a:r>
            <a:r>
              <a:rPr lang="nl-NL" b="1" dirty="0" err="1" smtClean="0"/>
              <a:t>Fxx</a:t>
            </a:r>
            <a:r>
              <a:rPr lang="nl-NL" b="1" dirty="0" smtClean="0"/>
              <a:t> 	</a:t>
            </a:r>
            <a:r>
              <a:rPr lang="nl-NL" dirty="0" smtClean="0"/>
              <a:t>I ∃ (1)</a:t>
            </a:r>
            <a:r>
              <a:rPr lang="nl-NL" b="1" dirty="0" smtClean="0"/>
              <a:t>	</a:t>
            </a:r>
            <a:r>
              <a:rPr lang="nl-NL" dirty="0" smtClean="0"/>
              <a:t>	 </a:t>
            </a:r>
            <a:endParaRPr lang="nl-NL" dirty="0"/>
          </a:p>
        </p:txBody>
      </p:sp>
      <p:sp>
        <p:nvSpPr>
          <p:cNvPr id="13" name="Rectangle 12"/>
          <p:cNvSpPr/>
          <p:nvPr/>
        </p:nvSpPr>
        <p:spPr>
          <a:xfrm>
            <a:off x="3635896" y="3212976"/>
            <a:ext cx="4176464" cy="646331"/>
          </a:xfrm>
          <a:prstGeom prst="rect">
            <a:avLst/>
          </a:prstGeom>
        </p:spPr>
        <p:txBody>
          <a:bodyPr wrap="square">
            <a:spAutoFit/>
          </a:bodyPr>
          <a:lstStyle/>
          <a:p>
            <a:r>
              <a:rPr lang="nl-NL" dirty="0" smtClean="0"/>
              <a:t>1.</a:t>
            </a:r>
            <a:r>
              <a:rPr lang="nl-NL" b="1" dirty="0" smtClean="0"/>
              <a:t>   </a:t>
            </a:r>
            <a:r>
              <a:rPr lang="nl-NL" b="1" dirty="0" err="1" smtClean="0"/>
              <a:t>Faa</a:t>
            </a:r>
            <a:r>
              <a:rPr lang="nl-NL" b="1" dirty="0" smtClean="0"/>
              <a:t>		</a:t>
            </a:r>
            <a:r>
              <a:rPr lang="nl-NL" dirty="0" smtClean="0"/>
              <a:t>Prem.</a:t>
            </a:r>
          </a:p>
          <a:p>
            <a:r>
              <a:rPr lang="nl-NL" dirty="0" smtClean="0"/>
              <a:t>2.   </a:t>
            </a:r>
            <a:r>
              <a:rPr lang="nl-NL" b="1" dirty="0" smtClean="0"/>
              <a:t>∃x</a:t>
            </a:r>
            <a:r>
              <a:rPr lang="nl-NL" dirty="0" smtClean="0"/>
              <a:t> </a:t>
            </a:r>
            <a:r>
              <a:rPr lang="nl-NL" b="1" dirty="0" err="1" smtClean="0"/>
              <a:t>Fxa</a:t>
            </a:r>
            <a:r>
              <a:rPr lang="nl-NL" b="1" dirty="0" smtClean="0"/>
              <a:t> 	</a:t>
            </a:r>
            <a:r>
              <a:rPr lang="nl-NL" dirty="0" smtClean="0"/>
              <a:t>I ∃ (1)</a:t>
            </a:r>
            <a:r>
              <a:rPr lang="nl-NL" b="1" dirty="0" smtClean="0"/>
              <a:t>	</a:t>
            </a:r>
            <a:r>
              <a:rPr lang="nl-NL" dirty="0" smtClean="0"/>
              <a:t>	 </a:t>
            </a:r>
            <a:endParaRPr lang="nl-NL" dirty="0"/>
          </a:p>
        </p:txBody>
      </p:sp>
      <p:sp>
        <p:nvSpPr>
          <p:cNvPr id="14" name="Rectangle 13"/>
          <p:cNvSpPr/>
          <p:nvPr/>
        </p:nvSpPr>
        <p:spPr>
          <a:xfrm>
            <a:off x="3635896" y="4005064"/>
            <a:ext cx="4176464" cy="646331"/>
          </a:xfrm>
          <a:prstGeom prst="rect">
            <a:avLst/>
          </a:prstGeom>
        </p:spPr>
        <p:txBody>
          <a:bodyPr wrap="square">
            <a:spAutoFit/>
          </a:bodyPr>
          <a:lstStyle/>
          <a:p>
            <a:r>
              <a:rPr lang="nl-NL" dirty="0" smtClean="0"/>
              <a:t>1.</a:t>
            </a:r>
            <a:r>
              <a:rPr lang="nl-NL" b="1" dirty="0" smtClean="0"/>
              <a:t>   </a:t>
            </a:r>
            <a:r>
              <a:rPr lang="nl-NL" b="1" dirty="0" err="1" smtClean="0"/>
              <a:t>Faa</a:t>
            </a:r>
            <a:r>
              <a:rPr lang="nl-NL" b="1" dirty="0" smtClean="0"/>
              <a:t>		</a:t>
            </a:r>
            <a:r>
              <a:rPr lang="nl-NL" dirty="0" smtClean="0"/>
              <a:t>Prem.</a:t>
            </a:r>
          </a:p>
          <a:p>
            <a:r>
              <a:rPr lang="nl-NL" dirty="0" smtClean="0"/>
              <a:t>2.   </a:t>
            </a:r>
            <a:r>
              <a:rPr lang="nl-NL" b="1" dirty="0" smtClean="0"/>
              <a:t>∃y</a:t>
            </a:r>
            <a:r>
              <a:rPr lang="nl-NL" dirty="0" smtClean="0"/>
              <a:t> </a:t>
            </a:r>
            <a:r>
              <a:rPr lang="nl-NL" b="1" dirty="0" err="1" smtClean="0"/>
              <a:t>Fya</a:t>
            </a:r>
            <a:r>
              <a:rPr lang="nl-NL" b="1" dirty="0" smtClean="0"/>
              <a:t> 	</a:t>
            </a:r>
            <a:r>
              <a:rPr lang="nl-NL" dirty="0" smtClean="0"/>
              <a:t>I ∃ (1)</a:t>
            </a:r>
            <a:r>
              <a:rPr lang="nl-NL" b="1" dirty="0" smtClean="0"/>
              <a:t>	</a:t>
            </a:r>
            <a:r>
              <a:rPr lang="nl-NL" dirty="0" smtClean="0"/>
              <a:t>	 </a:t>
            </a:r>
            <a:endParaRPr lang="nl-NL" dirty="0"/>
          </a:p>
        </p:txBody>
      </p:sp>
      <p:sp>
        <p:nvSpPr>
          <p:cNvPr id="15" name="Rectangle 14"/>
          <p:cNvSpPr/>
          <p:nvPr/>
        </p:nvSpPr>
        <p:spPr>
          <a:xfrm>
            <a:off x="3635896" y="4798893"/>
            <a:ext cx="4176464" cy="646331"/>
          </a:xfrm>
          <a:prstGeom prst="rect">
            <a:avLst/>
          </a:prstGeom>
        </p:spPr>
        <p:txBody>
          <a:bodyPr wrap="square">
            <a:spAutoFit/>
          </a:bodyPr>
          <a:lstStyle/>
          <a:p>
            <a:r>
              <a:rPr lang="nl-NL" dirty="0" smtClean="0"/>
              <a:t>1.</a:t>
            </a:r>
            <a:r>
              <a:rPr lang="nl-NL" b="1" dirty="0" smtClean="0"/>
              <a:t>   </a:t>
            </a:r>
            <a:r>
              <a:rPr lang="nl-NL" b="1" dirty="0" err="1" smtClean="0"/>
              <a:t>Fab</a:t>
            </a:r>
            <a:r>
              <a:rPr lang="nl-NL" b="1" dirty="0" smtClean="0"/>
              <a:t>		</a:t>
            </a:r>
            <a:r>
              <a:rPr lang="nl-NL" dirty="0" smtClean="0"/>
              <a:t>Prem.</a:t>
            </a:r>
          </a:p>
          <a:p>
            <a:r>
              <a:rPr lang="nl-NL" dirty="0" smtClean="0"/>
              <a:t>2.   </a:t>
            </a:r>
            <a:r>
              <a:rPr lang="nl-NL" b="1" dirty="0" smtClean="0"/>
              <a:t>∃x</a:t>
            </a:r>
            <a:r>
              <a:rPr lang="nl-NL" dirty="0" smtClean="0"/>
              <a:t> </a:t>
            </a:r>
            <a:r>
              <a:rPr lang="nl-NL" b="1" dirty="0" err="1" smtClean="0"/>
              <a:t>Fxb</a:t>
            </a:r>
            <a:r>
              <a:rPr lang="nl-NL" b="1" dirty="0" smtClean="0"/>
              <a:t> 	</a:t>
            </a:r>
            <a:r>
              <a:rPr lang="nl-NL" dirty="0" smtClean="0"/>
              <a:t>I ∃ (1)</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20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2000"/>
                                        <p:tgtEl>
                                          <p:spTgt spid="11">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fade">
                                      <p:cBhvr>
                                        <p:cTn id="23" dur="2000"/>
                                        <p:tgtEl>
                                          <p:spTgt spid="1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fade">
                                      <p:cBhvr>
                                        <p:cTn id="28" dur="2000"/>
                                        <p:tgtEl>
                                          <p:spTgt spid="12">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xEl>
                                              <p:pRg st="1" end="1"/>
                                            </p:txEl>
                                          </p:spTgt>
                                        </p:tgtEl>
                                        <p:attrNameLst>
                                          <p:attrName>style.visibility</p:attrName>
                                        </p:attrNameLst>
                                      </p:cBhvr>
                                      <p:to>
                                        <p:strVal val="visible"/>
                                      </p:to>
                                    </p:set>
                                    <p:animEffect transition="in" filter="fade">
                                      <p:cBhvr>
                                        <p:cTn id="31" dur="2000"/>
                                        <p:tgtEl>
                                          <p:spTgt spid="12">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xEl>
                                              <p:pRg st="0" end="0"/>
                                            </p:txEl>
                                          </p:spTgt>
                                        </p:tgtEl>
                                        <p:attrNameLst>
                                          <p:attrName>style.visibility</p:attrName>
                                        </p:attrNameLst>
                                      </p:cBhvr>
                                      <p:to>
                                        <p:strVal val="visible"/>
                                      </p:to>
                                    </p:set>
                                    <p:animEffect transition="in" filter="fade">
                                      <p:cBhvr>
                                        <p:cTn id="36" dur="2000"/>
                                        <p:tgtEl>
                                          <p:spTgt spid="13">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xEl>
                                              <p:pRg st="1" end="1"/>
                                            </p:txEl>
                                          </p:spTgt>
                                        </p:tgtEl>
                                        <p:attrNameLst>
                                          <p:attrName>style.visibility</p:attrName>
                                        </p:attrNameLst>
                                      </p:cBhvr>
                                      <p:to>
                                        <p:strVal val="visible"/>
                                      </p:to>
                                    </p:set>
                                    <p:animEffect transition="in" filter="fade">
                                      <p:cBhvr>
                                        <p:cTn id="39" dur="2000"/>
                                        <p:tgtEl>
                                          <p:spTgt spid="13">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xEl>
                                              <p:pRg st="0" end="0"/>
                                            </p:txEl>
                                          </p:spTgt>
                                        </p:tgtEl>
                                        <p:attrNameLst>
                                          <p:attrName>style.visibility</p:attrName>
                                        </p:attrNameLst>
                                      </p:cBhvr>
                                      <p:to>
                                        <p:strVal val="visible"/>
                                      </p:to>
                                    </p:set>
                                    <p:animEffect transition="in" filter="fade">
                                      <p:cBhvr>
                                        <p:cTn id="44" dur="2000"/>
                                        <p:tgtEl>
                                          <p:spTgt spid="14">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
                                            <p:txEl>
                                              <p:pRg st="1" end="1"/>
                                            </p:txEl>
                                          </p:spTgt>
                                        </p:tgtEl>
                                        <p:attrNameLst>
                                          <p:attrName>style.visibility</p:attrName>
                                        </p:attrNameLst>
                                      </p:cBhvr>
                                      <p:to>
                                        <p:strVal val="visible"/>
                                      </p:to>
                                    </p:set>
                                    <p:animEffect transition="in" filter="fade">
                                      <p:cBhvr>
                                        <p:cTn id="47" dur="2000"/>
                                        <p:tgtEl>
                                          <p:spTgt spid="14">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xEl>
                                              <p:pRg st="0" end="0"/>
                                            </p:txEl>
                                          </p:spTgt>
                                        </p:tgtEl>
                                        <p:attrNameLst>
                                          <p:attrName>style.visibility</p:attrName>
                                        </p:attrNameLst>
                                      </p:cBhvr>
                                      <p:to>
                                        <p:strVal val="visible"/>
                                      </p:to>
                                    </p:set>
                                    <p:animEffect transition="in" filter="fade">
                                      <p:cBhvr>
                                        <p:cTn id="52" dur="2000"/>
                                        <p:tgtEl>
                                          <p:spTgt spid="15">
                                            <p:txEl>
                                              <p:pRg st="0" end="0"/>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xEl>
                                              <p:pRg st="1" end="1"/>
                                            </p:txEl>
                                          </p:spTgt>
                                        </p:tgtEl>
                                        <p:attrNameLst>
                                          <p:attrName>style.visibility</p:attrName>
                                        </p:attrNameLst>
                                      </p:cBhvr>
                                      <p:to>
                                        <p:strVal val="visible"/>
                                      </p:to>
                                    </p:set>
                                    <p:animEffect transition="in" filter="fade">
                                      <p:cBhvr>
                                        <p:cTn id="55" dur="20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8" grpId="0" build="allAtOnce"/>
      <p:bldP spid="11" grpId="0" build="allAtOnce"/>
      <p:bldP spid="12" grpId="0" build="allAtOnce"/>
      <p:bldP spid="13" grpId="0" build="allAtOnce"/>
      <p:bldP spid="14" grpId="0" build="allAtOnce"/>
      <p:bldP spid="15" grpId="0" build="allAtOnce"/>
    </p:bld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3528" y="1772816"/>
            <a:ext cx="4176464" cy="1200329"/>
          </a:xfrm>
          <a:prstGeom prst="rect">
            <a:avLst/>
          </a:prstGeom>
        </p:spPr>
        <p:txBody>
          <a:bodyPr wrap="square">
            <a:spAutoFit/>
          </a:bodyPr>
          <a:lstStyle/>
          <a:p>
            <a:r>
              <a:rPr lang="nl-NL" dirty="0" smtClean="0"/>
              <a:t>1.</a:t>
            </a:r>
            <a:r>
              <a:rPr lang="nl-NL" b="1" dirty="0" smtClean="0"/>
              <a:t>   Aa		</a:t>
            </a:r>
            <a:r>
              <a:rPr lang="nl-NL" dirty="0" smtClean="0"/>
              <a:t>Prem.</a:t>
            </a:r>
          </a:p>
          <a:p>
            <a:r>
              <a:rPr lang="nl-NL" dirty="0" smtClean="0"/>
              <a:t>2.   </a:t>
            </a:r>
            <a:r>
              <a:rPr lang="nl-NL" b="1" dirty="0" smtClean="0"/>
              <a:t>Ba		</a:t>
            </a:r>
            <a:r>
              <a:rPr lang="nl-NL" dirty="0" smtClean="0"/>
              <a:t>Prem.</a:t>
            </a:r>
          </a:p>
          <a:p>
            <a:r>
              <a:rPr lang="nl-NL" dirty="0" smtClean="0"/>
              <a:t>3.   </a:t>
            </a:r>
            <a:r>
              <a:rPr lang="nl-NL" b="1" dirty="0" smtClean="0"/>
              <a:t>Aa ∧ Ba 	</a:t>
            </a:r>
            <a:r>
              <a:rPr lang="nl-NL" dirty="0" smtClean="0"/>
              <a:t>I ∧ (1,2)</a:t>
            </a:r>
          </a:p>
          <a:p>
            <a:r>
              <a:rPr lang="nl-NL" dirty="0" smtClean="0"/>
              <a:t>4.   </a:t>
            </a:r>
            <a:r>
              <a:rPr lang="nl-NL" b="1" dirty="0" smtClean="0"/>
              <a:t>∃x</a:t>
            </a:r>
            <a:r>
              <a:rPr lang="nl-NL" dirty="0" smtClean="0"/>
              <a:t> </a:t>
            </a:r>
            <a:r>
              <a:rPr lang="nl-NL" b="1" dirty="0" smtClean="0"/>
              <a:t>(</a:t>
            </a:r>
            <a:r>
              <a:rPr lang="nl-NL" b="1" dirty="0" err="1" smtClean="0"/>
              <a:t>Ax</a:t>
            </a:r>
            <a:r>
              <a:rPr lang="nl-NL" b="1" dirty="0" smtClean="0"/>
              <a:t> ∧ </a:t>
            </a:r>
            <a:r>
              <a:rPr lang="nl-NL" b="1" dirty="0" err="1" smtClean="0"/>
              <a:t>Bx</a:t>
            </a:r>
            <a:r>
              <a:rPr lang="nl-NL" b="1" dirty="0" smtClean="0"/>
              <a:t>)	</a:t>
            </a:r>
            <a:r>
              <a:rPr lang="nl-NL" dirty="0" smtClean="0"/>
              <a:t>I</a:t>
            </a:r>
            <a:r>
              <a:rPr lang="nl-NL" b="1" dirty="0" smtClean="0"/>
              <a:t> </a:t>
            </a:r>
            <a:r>
              <a:rPr lang="nl-NL" dirty="0" smtClean="0"/>
              <a:t>∃ (3)</a:t>
            </a:r>
            <a:r>
              <a:rPr lang="nl-NL" b="1" dirty="0" smtClean="0"/>
              <a:t>  </a:t>
            </a:r>
            <a:r>
              <a:rPr lang="nl-NL" dirty="0" smtClean="0"/>
              <a:t>  	 </a:t>
            </a:r>
            <a:endParaRPr lang="nl-NL" dirty="0"/>
          </a:p>
        </p:txBody>
      </p:sp>
      <p:sp>
        <p:nvSpPr>
          <p:cNvPr id="12" name="Rectangle 11"/>
          <p:cNvSpPr/>
          <p:nvPr/>
        </p:nvSpPr>
        <p:spPr>
          <a:xfrm>
            <a:off x="395536" y="3501008"/>
            <a:ext cx="3240360" cy="1477328"/>
          </a:xfrm>
          <a:prstGeom prst="rect">
            <a:avLst/>
          </a:prstGeom>
        </p:spPr>
        <p:txBody>
          <a:bodyPr wrap="square">
            <a:spAutoFit/>
          </a:bodyPr>
          <a:lstStyle/>
          <a:p>
            <a:r>
              <a:rPr lang="nl-NL" dirty="0" smtClean="0"/>
              <a:t>1.</a:t>
            </a:r>
            <a:r>
              <a:rPr lang="nl-NL" b="1" dirty="0" smtClean="0"/>
              <a:t>   ∀y </a:t>
            </a:r>
            <a:r>
              <a:rPr lang="nl-NL" b="1" dirty="0" err="1" smtClean="0"/>
              <a:t>Bay</a:t>
            </a:r>
            <a:r>
              <a:rPr lang="nl-NL" b="1" dirty="0" smtClean="0"/>
              <a:t> 	     </a:t>
            </a:r>
            <a:r>
              <a:rPr lang="nl-NL" dirty="0" smtClean="0"/>
              <a:t>Prem.</a:t>
            </a:r>
          </a:p>
          <a:p>
            <a:r>
              <a:rPr lang="nl-NL" dirty="0" smtClean="0"/>
              <a:t>2.   </a:t>
            </a:r>
            <a:r>
              <a:rPr lang="nl-NL" b="1" dirty="0" smtClean="0"/>
              <a:t>Aa		     </a:t>
            </a:r>
            <a:r>
              <a:rPr lang="nl-NL" dirty="0" err="1" smtClean="0"/>
              <a:t>Ass</a:t>
            </a:r>
            <a:r>
              <a:rPr lang="nl-NL" dirty="0" smtClean="0"/>
              <a:t>.</a:t>
            </a:r>
          </a:p>
          <a:p>
            <a:r>
              <a:rPr lang="nl-NL" dirty="0" smtClean="0"/>
              <a:t>3.   </a:t>
            </a:r>
            <a:r>
              <a:rPr lang="nl-NL" b="1" dirty="0" smtClean="0"/>
              <a:t>∀y </a:t>
            </a:r>
            <a:r>
              <a:rPr lang="nl-NL" b="1" dirty="0" err="1" smtClean="0"/>
              <a:t>Bay</a:t>
            </a:r>
            <a:r>
              <a:rPr lang="nl-NL" b="1" dirty="0" smtClean="0"/>
              <a:t> 	     </a:t>
            </a:r>
            <a:r>
              <a:rPr lang="nl-NL" dirty="0" err="1" smtClean="0"/>
              <a:t>Herh</a:t>
            </a:r>
            <a:r>
              <a:rPr lang="nl-NL" dirty="0" smtClean="0"/>
              <a:t>. (1)</a:t>
            </a:r>
          </a:p>
          <a:p>
            <a:r>
              <a:rPr lang="nl-NL" dirty="0" smtClean="0"/>
              <a:t>4.   </a:t>
            </a:r>
            <a:r>
              <a:rPr lang="nl-NL" b="1" dirty="0" smtClean="0"/>
              <a:t>Aa</a:t>
            </a:r>
            <a:r>
              <a:rPr lang="nl-NL" dirty="0" smtClean="0"/>
              <a:t> </a:t>
            </a:r>
            <a:r>
              <a:rPr lang="nl-NL" b="1" dirty="0" smtClean="0"/>
              <a:t>→ ∀y </a:t>
            </a:r>
            <a:r>
              <a:rPr lang="nl-NL" b="1" dirty="0" err="1" smtClean="0"/>
              <a:t>Bay</a:t>
            </a:r>
            <a:r>
              <a:rPr lang="nl-NL" b="1" dirty="0" smtClean="0"/>
              <a:t> 	     </a:t>
            </a:r>
            <a:r>
              <a:rPr lang="nl-NL" dirty="0" smtClean="0"/>
              <a:t>I</a:t>
            </a:r>
            <a:r>
              <a:rPr lang="nl-NL" b="1" dirty="0" smtClean="0"/>
              <a:t> </a:t>
            </a:r>
            <a:r>
              <a:rPr lang="nl-NL" dirty="0" smtClean="0"/>
              <a:t>→</a:t>
            </a:r>
            <a:r>
              <a:rPr lang="nl-NL" b="1" dirty="0" smtClean="0"/>
              <a:t> </a:t>
            </a:r>
            <a:r>
              <a:rPr lang="nl-NL" dirty="0" smtClean="0"/>
              <a:t>(3)</a:t>
            </a:r>
          </a:p>
          <a:p>
            <a:r>
              <a:rPr lang="nl-NL" dirty="0" smtClean="0"/>
              <a:t>5.   </a:t>
            </a:r>
            <a:r>
              <a:rPr lang="nl-NL" b="1" dirty="0" smtClean="0"/>
              <a:t>∃x (</a:t>
            </a:r>
            <a:r>
              <a:rPr lang="nl-NL" b="1" dirty="0" err="1" smtClean="0"/>
              <a:t>Ax</a:t>
            </a:r>
            <a:r>
              <a:rPr lang="nl-NL" b="1" dirty="0" smtClean="0"/>
              <a:t> → ∀y </a:t>
            </a:r>
            <a:r>
              <a:rPr lang="nl-NL" b="1" dirty="0" err="1" smtClean="0"/>
              <a:t>Bxy</a:t>
            </a:r>
            <a:r>
              <a:rPr lang="nl-NL" b="1" dirty="0" smtClean="0"/>
              <a:t>)    </a:t>
            </a:r>
            <a:r>
              <a:rPr lang="nl-NL" dirty="0" smtClean="0"/>
              <a:t>I</a:t>
            </a:r>
            <a:r>
              <a:rPr lang="nl-NL" b="1" dirty="0" smtClean="0"/>
              <a:t> </a:t>
            </a:r>
            <a:r>
              <a:rPr lang="nl-NL" dirty="0" smtClean="0"/>
              <a:t>∃ (4)	 </a:t>
            </a:r>
            <a:endParaRPr lang="nl-NL" dirty="0"/>
          </a:p>
        </p:txBody>
      </p:sp>
      <p:cxnSp>
        <p:nvCxnSpPr>
          <p:cNvPr id="14" name="Straight Connector 13"/>
          <p:cNvCxnSpPr/>
          <p:nvPr/>
        </p:nvCxnSpPr>
        <p:spPr>
          <a:xfrm flipH="1">
            <a:off x="395536" y="3861048"/>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395536" y="3861048"/>
            <a:ext cx="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395536" y="4365104"/>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395536" y="5013176"/>
            <a:ext cx="4176464" cy="646331"/>
          </a:xfrm>
          <a:prstGeom prst="rect">
            <a:avLst/>
          </a:prstGeom>
        </p:spPr>
        <p:txBody>
          <a:bodyPr wrap="square">
            <a:spAutoFit/>
          </a:bodyPr>
          <a:lstStyle/>
          <a:p>
            <a:r>
              <a:rPr lang="nl-NL" dirty="0" smtClean="0">
                <a:solidFill>
                  <a:srgbClr val="0070C0"/>
                </a:solidFill>
              </a:rPr>
              <a:t>5.   </a:t>
            </a:r>
            <a:r>
              <a:rPr lang="nl-NL" b="1" dirty="0" smtClean="0">
                <a:solidFill>
                  <a:srgbClr val="0070C0"/>
                </a:solidFill>
              </a:rPr>
              <a:t>∃x (Aa → ∀y </a:t>
            </a:r>
            <a:r>
              <a:rPr lang="nl-NL" b="1" dirty="0" err="1" smtClean="0">
                <a:solidFill>
                  <a:srgbClr val="0070C0"/>
                </a:solidFill>
              </a:rPr>
              <a:t>Bxy</a:t>
            </a:r>
            <a:r>
              <a:rPr lang="nl-NL" b="1" dirty="0" smtClean="0">
                <a:solidFill>
                  <a:srgbClr val="0070C0"/>
                </a:solidFill>
              </a:rPr>
              <a:t>)    </a:t>
            </a:r>
            <a:r>
              <a:rPr lang="nl-NL" dirty="0" smtClean="0">
                <a:solidFill>
                  <a:srgbClr val="0070C0"/>
                </a:solidFill>
              </a:rPr>
              <a:t>I</a:t>
            </a:r>
            <a:r>
              <a:rPr lang="nl-NL" b="1" dirty="0" smtClean="0">
                <a:solidFill>
                  <a:srgbClr val="0070C0"/>
                </a:solidFill>
              </a:rPr>
              <a:t> </a:t>
            </a:r>
            <a:r>
              <a:rPr lang="nl-NL" dirty="0" smtClean="0">
                <a:solidFill>
                  <a:srgbClr val="0070C0"/>
                </a:solidFill>
              </a:rPr>
              <a:t>∃ (4)</a:t>
            </a:r>
          </a:p>
          <a:p>
            <a:r>
              <a:rPr lang="nl-NL" b="1" dirty="0" smtClean="0"/>
              <a:t>   </a:t>
            </a:r>
            <a:r>
              <a:rPr lang="nl-NL" dirty="0" smtClean="0"/>
              <a:t>  	 </a:t>
            </a:r>
            <a:endParaRPr lang="nl-NL" dirty="0"/>
          </a:p>
        </p:txBody>
      </p:sp>
      <p:sp>
        <p:nvSpPr>
          <p:cNvPr id="24" name="Rectangle 23"/>
          <p:cNvSpPr/>
          <p:nvPr/>
        </p:nvSpPr>
        <p:spPr>
          <a:xfrm>
            <a:off x="395536" y="5446965"/>
            <a:ext cx="4176464" cy="646331"/>
          </a:xfrm>
          <a:prstGeom prst="rect">
            <a:avLst/>
          </a:prstGeom>
        </p:spPr>
        <p:txBody>
          <a:bodyPr wrap="square">
            <a:spAutoFit/>
          </a:bodyPr>
          <a:lstStyle/>
          <a:p>
            <a:r>
              <a:rPr lang="nl-NL" dirty="0" smtClean="0">
                <a:solidFill>
                  <a:srgbClr val="C00000"/>
                </a:solidFill>
              </a:rPr>
              <a:t>5.   </a:t>
            </a:r>
            <a:r>
              <a:rPr lang="nl-NL" b="1" dirty="0" smtClean="0">
                <a:solidFill>
                  <a:srgbClr val="C00000"/>
                </a:solidFill>
              </a:rPr>
              <a:t>∃x (</a:t>
            </a:r>
            <a:r>
              <a:rPr lang="nl-NL" b="1" dirty="0" err="1" smtClean="0">
                <a:solidFill>
                  <a:srgbClr val="C00000"/>
                </a:solidFill>
              </a:rPr>
              <a:t>Ax</a:t>
            </a:r>
            <a:r>
              <a:rPr lang="nl-NL" b="1" dirty="0" smtClean="0">
                <a:solidFill>
                  <a:srgbClr val="C00000"/>
                </a:solidFill>
              </a:rPr>
              <a:t> → ∀y </a:t>
            </a:r>
            <a:r>
              <a:rPr lang="nl-NL" b="1" dirty="0" err="1" smtClean="0">
                <a:solidFill>
                  <a:srgbClr val="C00000"/>
                </a:solidFill>
              </a:rPr>
              <a:t>Bay</a:t>
            </a:r>
            <a:r>
              <a:rPr lang="nl-NL" b="1" dirty="0" smtClean="0">
                <a:solidFill>
                  <a:srgbClr val="C00000"/>
                </a:solidFill>
              </a:rPr>
              <a:t>)    </a:t>
            </a:r>
            <a:r>
              <a:rPr lang="nl-NL" dirty="0" smtClean="0">
                <a:solidFill>
                  <a:srgbClr val="C00000"/>
                </a:solidFill>
              </a:rPr>
              <a:t>I</a:t>
            </a:r>
            <a:r>
              <a:rPr lang="nl-NL" b="1" dirty="0" smtClean="0">
                <a:solidFill>
                  <a:srgbClr val="C00000"/>
                </a:solidFill>
              </a:rPr>
              <a:t> </a:t>
            </a:r>
            <a:r>
              <a:rPr lang="nl-NL" dirty="0" smtClean="0">
                <a:solidFill>
                  <a:srgbClr val="C00000"/>
                </a:solidFill>
              </a:rPr>
              <a:t>∃ (4)</a:t>
            </a:r>
          </a:p>
          <a:p>
            <a:r>
              <a:rPr lang="nl-NL" b="1" dirty="0" smtClean="0"/>
              <a:t>   </a:t>
            </a:r>
            <a:r>
              <a:rPr lang="nl-NL" dirty="0" smtClean="0"/>
              <a:t>  	 </a:t>
            </a:r>
            <a:endParaRPr lang="nl-NL" dirty="0"/>
          </a:p>
        </p:txBody>
      </p:sp>
      <p:sp>
        <p:nvSpPr>
          <p:cNvPr id="25" name="Rectangle 24"/>
          <p:cNvSpPr/>
          <p:nvPr/>
        </p:nvSpPr>
        <p:spPr>
          <a:xfrm>
            <a:off x="4139952" y="1772816"/>
            <a:ext cx="4176464" cy="646331"/>
          </a:xfrm>
          <a:prstGeom prst="rect">
            <a:avLst/>
          </a:prstGeom>
        </p:spPr>
        <p:txBody>
          <a:bodyPr wrap="square">
            <a:spAutoFit/>
          </a:bodyPr>
          <a:lstStyle/>
          <a:p>
            <a:r>
              <a:rPr lang="nl-NL" dirty="0" smtClean="0"/>
              <a:t>1.</a:t>
            </a:r>
            <a:r>
              <a:rPr lang="nl-NL" b="1" dirty="0" smtClean="0"/>
              <a:t>   Aa V ¬Ga  	</a:t>
            </a:r>
            <a:r>
              <a:rPr lang="nl-NL" dirty="0" smtClean="0"/>
              <a:t>Prem.</a:t>
            </a:r>
          </a:p>
          <a:p>
            <a:r>
              <a:rPr lang="nl-NL" dirty="0" smtClean="0"/>
              <a:t>2.   </a:t>
            </a:r>
            <a:r>
              <a:rPr lang="nl-NL" b="1" dirty="0" smtClean="0"/>
              <a:t>∃x</a:t>
            </a:r>
            <a:r>
              <a:rPr lang="nl-NL" dirty="0" smtClean="0"/>
              <a:t> </a:t>
            </a:r>
            <a:r>
              <a:rPr lang="nl-NL" b="1" dirty="0" smtClean="0"/>
              <a:t>(</a:t>
            </a:r>
            <a:r>
              <a:rPr lang="nl-NL" b="1" dirty="0" err="1" smtClean="0"/>
              <a:t>Ax</a:t>
            </a:r>
            <a:r>
              <a:rPr lang="nl-NL" b="1" dirty="0" smtClean="0"/>
              <a:t> V ¬ </a:t>
            </a:r>
            <a:r>
              <a:rPr lang="nl-NL" b="1" dirty="0" err="1" smtClean="0"/>
              <a:t>Gx</a:t>
            </a:r>
            <a:r>
              <a:rPr lang="nl-NL" b="1" dirty="0" smtClean="0"/>
              <a:t>) 	</a:t>
            </a:r>
            <a:r>
              <a:rPr lang="nl-NL" dirty="0" smtClean="0"/>
              <a:t>I</a:t>
            </a:r>
            <a:r>
              <a:rPr lang="nl-NL" b="1" dirty="0" smtClean="0"/>
              <a:t> </a:t>
            </a:r>
            <a:r>
              <a:rPr lang="nl-NL" dirty="0" smtClean="0"/>
              <a:t>∃ (1)</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20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2000"/>
                                        <p:tgtEl>
                                          <p:spTgt spid="14"/>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20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
                                            <p:txEl>
                                              <p:pRg st="0" end="0"/>
                                            </p:txEl>
                                          </p:spTgt>
                                        </p:tgtEl>
                                        <p:attrNameLst>
                                          <p:attrName>style.visibility</p:attrName>
                                        </p:attrNameLst>
                                      </p:cBhvr>
                                      <p:to>
                                        <p:strVal val="visible"/>
                                      </p:to>
                                    </p:set>
                                    <p:animEffect transition="in" filter="fade">
                                      <p:cBhvr>
                                        <p:cTn id="21" dur="2000"/>
                                        <p:tgtEl>
                                          <p:spTgt spid="23">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xEl>
                                              <p:pRg st="1" end="1"/>
                                            </p:txEl>
                                          </p:spTgt>
                                        </p:tgtEl>
                                        <p:attrNameLst>
                                          <p:attrName>style.visibility</p:attrName>
                                        </p:attrNameLst>
                                      </p:cBhvr>
                                      <p:to>
                                        <p:strVal val="visible"/>
                                      </p:to>
                                    </p:set>
                                    <p:animEffect transition="in" filter="fade">
                                      <p:cBhvr>
                                        <p:cTn id="24" dur="2000"/>
                                        <p:tgtEl>
                                          <p:spTgt spid="2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xEl>
                                              <p:pRg st="0" end="0"/>
                                            </p:txEl>
                                          </p:spTgt>
                                        </p:tgtEl>
                                        <p:attrNameLst>
                                          <p:attrName>style.visibility</p:attrName>
                                        </p:attrNameLst>
                                      </p:cBhvr>
                                      <p:to>
                                        <p:strVal val="visible"/>
                                      </p:to>
                                    </p:set>
                                    <p:animEffect transition="in" filter="fade">
                                      <p:cBhvr>
                                        <p:cTn id="29" dur="2000"/>
                                        <p:tgtEl>
                                          <p:spTgt spid="24">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xEl>
                                              <p:pRg st="1" end="1"/>
                                            </p:txEl>
                                          </p:spTgt>
                                        </p:tgtEl>
                                        <p:attrNameLst>
                                          <p:attrName>style.visibility</p:attrName>
                                        </p:attrNameLst>
                                      </p:cBhvr>
                                      <p:to>
                                        <p:strVal val="visible"/>
                                      </p:to>
                                    </p:set>
                                    <p:animEffect transition="in" filter="fade">
                                      <p:cBhvr>
                                        <p:cTn id="32" dur="2000"/>
                                        <p:tgtEl>
                                          <p:spTgt spid="24">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5">
                                            <p:txEl>
                                              <p:pRg st="0" end="0"/>
                                            </p:txEl>
                                          </p:spTgt>
                                        </p:tgtEl>
                                        <p:attrNameLst>
                                          <p:attrName>style.visibility</p:attrName>
                                        </p:attrNameLst>
                                      </p:cBhvr>
                                      <p:to>
                                        <p:strVal val="visible"/>
                                      </p:to>
                                    </p:set>
                                    <p:animEffect transition="in" filter="fade">
                                      <p:cBhvr>
                                        <p:cTn id="37" dur="2000"/>
                                        <p:tgtEl>
                                          <p:spTgt spid="25">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xEl>
                                              <p:pRg st="1" end="1"/>
                                            </p:txEl>
                                          </p:spTgt>
                                        </p:tgtEl>
                                        <p:attrNameLst>
                                          <p:attrName>style.visibility</p:attrName>
                                        </p:attrNameLst>
                                      </p:cBhvr>
                                      <p:to>
                                        <p:strVal val="visible"/>
                                      </p:to>
                                    </p:set>
                                    <p:animEffect transition="in" filter="fade">
                                      <p:cBhvr>
                                        <p:cTn id="40" dur="20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3" grpId="0" build="allAtOnce"/>
      <p:bldP spid="24" grpId="0" build="allAtOnce"/>
      <p:bldP spid="25" grpId="0" build="allAtOnce"/>
    </p:bld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r>
              <a:rPr lang="nl-NL" sz="3600" dirty="0" smtClean="0"/>
              <a:t>  </a:t>
            </a:r>
            <a:endParaRPr lang="nl-NL" sz="3600" dirty="0"/>
          </a:p>
        </p:txBody>
      </p:sp>
      <p:sp>
        <p:nvSpPr>
          <p:cNvPr id="3" name="Content Placeholder 2"/>
          <p:cNvSpPr>
            <a:spLocks noGrp="1"/>
          </p:cNvSpPr>
          <p:nvPr>
            <p:ph idx="1"/>
          </p:nvPr>
        </p:nvSpPr>
        <p:spPr>
          <a:xfrm>
            <a:off x="288032" y="1600201"/>
            <a:ext cx="8892480" cy="1108720"/>
          </a:xfrm>
        </p:spPr>
        <p:txBody>
          <a:bodyPr>
            <a:noAutofit/>
          </a:bodyPr>
          <a:lstStyle/>
          <a:p>
            <a:r>
              <a:rPr lang="nl-NL" sz="2000" dirty="0" smtClean="0"/>
              <a:t>Alle mensen zijn sterfelijk. Dus Jan is sterfelijk</a:t>
            </a:r>
          </a:p>
          <a:p>
            <a:r>
              <a:rPr lang="nl-NL" sz="2000" dirty="0" smtClean="0"/>
              <a:t>Alle materiële objecten hebben een massa. Dus </a:t>
            </a:r>
            <a:r>
              <a:rPr lang="nl-NL" sz="2000" i="1" dirty="0" smtClean="0"/>
              <a:t>deze</a:t>
            </a:r>
            <a:r>
              <a:rPr lang="nl-NL" sz="2000" dirty="0" smtClean="0"/>
              <a:t> tafel heeft een massa</a:t>
            </a:r>
          </a:p>
          <a:p>
            <a:r>
              <a:rPr lang="nl-NL" sz="2000" dirty="0" smtClean="0"/>
              <a:t>Alle steden hebben een burgemeester. Dus Rotterdam heeft een burgemeester</a:t>
            </a:r>
          </a:p>
          <a:p>
            <a:r>
              <a:rPr lang="nl-NL" sz="2000" dirty="0" smtClean="0"/>
              <a:t>Alle filosofen hebben logica bestudeerd. Dus </a:t>
            </a:r>
            <a:r>
              <a:rPr lang="nl-NL" sz="2000" dirty="0" err="1" smtClean="0"/>
              <a:t>Nietzsche</a:t>
            </a:r>
            <a:r>
              <a:rPr lang="nl-NL" sz="2000" dirty="0" smtClean="0"/>
              <a:t> heeft logica bestudeerd </a:t>
            </a:r>
          </a:p>
          <a:p>
            <a:endParaRPr lang="nl-NL" sz="2000" dirty="0" smtClean="0"/>
          </a:p>
          <a:p>
            <a:pPr>
              <a:buNone/>
            </a:pPr>
            <a:endParaRPr lang="nl-NL" sz="2000" dirty="0" smtClean="0"/>
          </a:p>
          <a:p>
            <a:endParaRPr lang="nl-NL" sz="2000" dirty="0" smtClean="0"/>
          </a:p>
          <a:p>
            <a:endParaRPr lang="nl-NL" sz="2000" dirty="0" smtClean="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21704" y="3429000"/>
            <a:ext cx="2998168" cy="30243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pPr>
            <a:r>
              <a:rPr lang="nl-NL" sz="2000" dirty="0" smtClean="0"/>
              <a:t>3. </a:t>
            </a:r>
            <a:r>
              <a:rPr lang="nl-NL" sz="2000" b="1" dirty="0" smtClean="0"/>
              <a:t>∀x </a:t>
            </a:r>
            <a:r>
              <a:rPr lang="el-GR" sz="2000" b="1" i="1" dirty="0" smtClean="0"/>
              <a:t>α</a:t>
            </a:r>
            <a:r>
              <a:rPr lang="nl-NL" sz="2000" b="1" dirty="0" smtClean="0"/>
              <a:t>[x]</a:t>
            </a:r>
          </a:p>
          <a:p>
            <a:pPr marL="342900" lvl="0" indent="-342900">
              <a:spcBef>
                <a:spcPct val="20000"/>
              </a:spcBef>
            </a:pPr>
            <a:r>
              <a:rPr lang="nl-NL" sz="2000" dirty="0" smtClean="0"/>
              <a:t>….</a:t>
            </a:r>
          </a:p>
          <a:p>
            <a:pPr marL="342900" lvl="0" indent="-342900">
              <a:spcBef>
                <a:spcPct val="20000"/>
              </a:spcBef>
            </a:pPr>
            <a:r>
              <a:rPr lang="nl-NL" sz="2000" dirty="0" smtClean="0"/>
              <a:t>….</a:t>
            </a:r>
          </a:p>
          <a:p>
            <a:pPr marL="342900" lvl="0" indent="-342900">
              <a:spcBef>
                <a:spcPct val="20000"/>
              </a:spcBef>
            </a:pPr>
            <a:r>
              <a:rPr lang="nl-NL" sz="2000" dirty="0" smtClean="0"/>
              <a:t>7. </a:t>
            </a:r>
            <a:r>
              <a:rPr lang="el-GR" sz="2000" b="1" i="1" dirty="0" smtClean="0"/>
              <a:t>α</a:t>
            </a:r>
            <a:r>
              <a:rPr lang="nl-NL" sz="2000" b="1" dirty="0" smtClean="0"/>
              <a:t>[a]	        G ∀ (3)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4499992" y="4582869"/>
            <a:ext cx="4176464" cy="646331"/>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V ¬</a:t>
            </a:r>
            <a:r>
              <a:rPr lang="nl-NL" b="1" dirty="0" err="1" smtClean="0"/>
              <a:t>Bx</a:t>
            </a:r>
            <a:r>
              <a:rPr lang="nl-NL" b="1" dirty="0" smtClean="0"/>
              <a:t>)  	</a:t>
            </a:r>
            <a:r>
              <a:rPr lang="nl-NL" dirty="0" smtClean="0"/>
              <a:t>Prem.</a:t>
            </a:r>
          </a:p>
          <a:p>
            <a:r>
              <a:rPr lang="nl-NL" dirty="0" smtClean="0"/>
              <a:t>2.  </a:t>
            </a:r>
            <a:r>
              <a:rPr lang="nl-NL" b="1" dirty="0" smtClean="0"/>
              <a:t>Aa V</a:t>
            </a:r>
            <a:r>
              <a:rPr lang="nl-NL" dirty="0" smtClean="0"/>
              <a:t> </a:t>
            </a:r>
            <a:r>
              <a:rPr lang="nl-NL" b="1" dirty="0" smtClean="0"/>
              <a:t>¬Ba</a:t>
            </a:r>
            <a:r>
              <a:rPr lang="nl-NL" dirty="0" smtClean="0"/>
              <a:t> </a:t>
            </a:r>
            <a:r>
              <a:rPr lang="nl-NL" b="1" dirty="0" smtClean="0"/>
              <a:t> 	</a:t>
            </a:r>
            <a:r>
              <a:rPr lang="nl-NL" dirty="0" smtClean="0"/>
              <a:t>G ∀ (1)	 </a:t>
            </a:r>
            <a:endParaRPr lang="nl-NL" dirty="0"/>
          </a:p>
        </p:txBody>
      </p:sp>
      <p:sp>
        <p:nvSpPr>
          <p:cNvPr id="11" name="Rectangle 10"/>
          <p:cNvSpPr/>
          <p:nvPr/>
        </p:nvSpPr>
        <p:spPr>
          <a:xfrm>
            <a:off x="4499992" y="3645024"/>
            <a:ext cx="4176464" cy="646331"/>
          </a:xfrm>
          <a:prstGeom prst="rect">
            <a:avLst/>
          </a:prstGeom>
        </p:spPr>
        <p:txBody>
          <a:bodyPr wrap="square">
            <a:spAutoFit/>
          </a:bodyPr>
          <a:lstStyle/>
          <a:p>
            <a:r>
              <a:rPr lang="nl-NL" dirty="0" smtClean="0"/>
              <a:t>1.</a:t>
            </a:r>
            <a:r>
              <a:rPr lang="nl-NL" b="1" dirty="0" smtClean="0"/>
              <a:t>  ∀x </a:t>
            </a:r>
            <a:r>
              <a:rPr lang="nl-NL" b="1" dirty="0" err="1" smtClean="0"/>
              <a:t>Kx</a:t>
            </a:r>
            <a:r>
              <a:rPr lang="nl-NL" b="1" dirty="0" smtClean="0"/>
              <a:t>  		</a:t>
            </a:r>
            <a:r>
              <a:rPr lang="nl-NL" dirty="0" smtClean="0"/>
              <a:t>Prem.</a:t>
            </a:r>
          </a:p>
          <a:p>
            <a:r>
              <a:rPr lang="nl-NL" dirty="0" smtClean="0"/>
              <a:t>2.  </a:t>
            </a:r>
            <a:r>
              <a:rPr lang="nl-NL" b="1" dirty="0" err="1" smtClean="0"/>
              <a:t>Kc</a:t>
            </a:r>
            <a:r>
              <a:rPr lang="nl-NL" b="1" dirty="0" smtClean="0"/>
              <a:t>		</a:t>
            </a:r>
            <a:r>
              <a:rPr lang="nl-NL" dirty="0" smtClean="0"/>
              <a:t>G ∀ (1)	 </a:t>
            </a:r>
            <a:endParaRPr lang="nl-NL" dirty="0"/>
          </a:p>
        </p:txBody>
      </p:sp>
      <p:sp>
        <p:nvSpPr>
          <p:cNvPr id="12" name="Content Placeholder 2"/>
          <p:cNvSpPr txBox="1">
            <a:spLocks/>
          </p:cNvSpPr>
          <p:nvPr/>
        </p:nvSpPr>
        <p:spPr>
          <a:xfrm>
            <a:off x="2987824" y="5733256"/>
            <a:ext cx="640871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We dienen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smtClean="0">
                <a:ln>
                  <a:noFill/>
                </a:ln>
                <a:solidFill>
                  <a:schemeClr val="tx1"/>
                </a:solidFill>
                <a:effectLst/>
                <a:uLnTx/>
                <a:uFillTx/>
                <a:latin typeface="+mn-lt"/>
                <a:ea typeface="+mn-ea"/>
                <a:cs typeface="+mn-cs"/>
              </a:rPr>
              <a:t>ieder</a:t>
            </a:r>
            <a:r>
              <a:rPr kumimoji="0" lang="nl-NL" sz="2000" b="0" i="0" u="none" strike="noStrike" kern="1200" cap="none" spc="0" normalizeH="0" noProof="0" dirty="0" smtClean="0">
                <a:ln>
                  <a:noFill/>
                </a:ln>
                <a:solidFill>
                  <a:schemeClr val="tx1"/>
                </a:solidFill>
                <a:effectLst/>
                <a:uLnTx/>
                <a:uFillTx/>
                <a:latin typeface="+mn-lt"/>
                <a:ea typeface="+mn-ea"/>
                <a:cs typeface="+mn-cs"/>
              </a:rPr>
              <a:t> optreden van de individuvariabele te vervangen door een individuconstante. En we mogen </a:t>
            </a:r>
            <a:r>
              <a:rPr kumimoji="0" lang="nl-NL" sz="2000" b="0" i="1" u="none" strike="noStrike" kern="1200" cap="none" spc="0" normalizeH="0" noProof="0" dirty="0" smtClean="0">
                <a:ln>
                  <a:noFill/>
                </a:ln>
                <a:solidFill>
                  <a:schemeClr val="tx1"/>
                </a:solidFill>
                <a:effectLst/>
                <a:uLnTx/>
                <a:uFillTx/>
                <a:latin typeface="+mn-lt"/>
                <a:ea typeface="+mn-ea"/>
                <a:cs typeface="+mn-cs"/>
              </a:rPr>
              <a:t>iedere</a:t>
            </a:r>
            <a:r>
              <a:rPr kumimoji="0" lang="nl-NL" sz="2000" b="0" i="0" u="none" strike="noStrike" kern="1200" cap="none" spc="0" normalizeH="0" noProof="0" dirty="0" smtClean="0">
                <a:ln>
                  <a:noFill/>
                </a:ln>
                <a:solidFill>
                  <a:schemeClr val="tx1"/>
                </a:solidFill>
                <a:effectLst/>
                <a:uLnTx/>
                <a:uFillTx/>
                <a:latin typeface="+mn-lt"/>
                <a:ea typeface="+mn-ea"/>
                <a:cs typeface="+mn-cs"/>
              </a:rPr>
              <a:t> individuconstante nemen die we maar willen.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2000"/>
                                        <p:tgtEl>
                                          <p:spTgt spid="7">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Effect transition="in" filter="fade">
                                      <p:cBhvr>
                                        <p:cTn id="29" dur="2000"/>
                                        <p:tgtEl>
                                          <p:spTgt spid="7">
                                            <p:txEl>
                                              <p:pRg st="1" end="1"/>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fade">
                                      <p:cBhvr>
                                        <p:cTn id="32" dur="2000"/>
                                        <p:tgtEl>
                                          <p:spTgt spid="7">
                                            <p:txEl>
                                              <p:pRg st="2" end="2"/>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2000"/>
                                        <p:tgtEl>
                                          <p:spTgt spid="7">
                                            <p:txEl>
                                              <p:pRg st="3" end="3"/>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2000"/>
                                        <p:tgtEl>
                                          <p:spTgt spid="7">
                                            <p:txEl>
                                              <p:pRg st="4" end="4"/>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fade">
                                      <p:cBhvr>
                                        <p:cTn id="41" dur="2000"/>
                                        <p:tgtEl>
                                          <p:spTgt spid="7">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1">
                                            <p:txEl>
                                              <p:pRg st="0" end="0"/>
                                            </p:txEl>
                                          </p:spTgt>
                                        </p:tgtEl>
                                        <p:attrNameLst>
                                          <p:attrName>style.visibility</p:attrName>
                                        </p:attrNameLst>
                                      </p:cBhvr>
                                      <p:to>
                                        <p:strVal val="visible"/>
                                      </p:to>
                                    </p:set>
                                    <p:animEffect transition="in" filter="fade">
                                      <p:cBhvr>
                                        <p:cTn id="46" dur="2000"/>
                                        <p:tgtEl>
                                          <p:spTgt spid="11">
                                            <p:txEl>
                                              <p:pRg st="0" end="0"/>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1">
                                            <p:txEl>
                                              <p:pRg st="1" end="1"/>
                                            </p:txEl>
                                          </p:spTgt>
                                        </p:tgtEl>
                                        <p:attrNameLst>
                                          <p:attrName>style.visibility</p:attrName>
                                        </p:attrNameLst>
                                      </p:cBhvr>
                                      <p:to>
                                        <p:strVal val="visible"/>
                                      </p:to>
                                    </p:set>
                                    <p:animEffect transition="in" filter="fade">
                                      <p:cBhvr>
                                        <p:cTn id="49" dur="2000"/>
                                        <p:tgtEl>
                                          <p:spTgt spid="11">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8">
                                            <p:txEl>
                                              <p:pRg st="0" end="0"/>
                                            </p:txEl>
                                          </p:spTgt>
                                        </p:tgtEl>
                                        <p:attrNameLst>
                                          <p:attrName>style.visibility</p:attrName>
                                        </p:attrNameLst>
                                      </p:cBhvr>
                                      <p:to>
                                        <p:strVal val="visible"/>
                                      </p:to>
                                    </p:set>
                                    <p:animEffect transition="in" filter="fade">
                                      <p:cBhvr>
                                        <p:cTn id="54" dur="2000"/>
                                        <p:tgtEl>
                                          <p:spTgt spid="8">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xEl>
                                              <p:pRg st="1" end="1"/>
                                            </p:txEl>
                                          </p:spTgt>
                                        </p:tgtEl>
                                        <p:attrNameLst>
                                          <p:attrName>style.visibility</p:attrName>
                                        </p:attrNameLst>
                                      </p:cBhvr>
                                      <p:to>
                                        <p:strVal val="visible"/>
                                      </p:to>
                                    </p:set>
                                    <p:animEffect transition="in" filter="fade">
                                      <p:cBhvr>
                                        <p:cTn id="57" dur="2000"/>
                                        <p:tgtEl>
                                          <p:spTgt spid="8">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xEl>
                                              <p:pRg st="0" end="0"/>
                                            </p:txEl>
                                          </p:spTgt>
                                        </p:tgtEl>
                                        <p:attrNameLst>
                                          <p:attrName>style.visibility</p:attrName>
                                        </p:attrNameLst>
                                      </p:cBhvr>
                                      <p:to>
                                        <p:strVal val="visible"/>
                                      </p:to>
                                    </p:set>
                                    <p:animEffect transition="in" filter="fade">
                                      <p:cBhvr>
                                        <p:cTn id="62"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10" grpId="0" build="allAtOnce"/>
      <p:bldP spid="7" grpId="0" build="allAtOnce"/>
      <p:bldP spid="8" grpId="0" build="allAtOnce"/>
      <p:bldP spid="11" grpId="0" build="allAtOnce"/>
      <p:bldP spid="12" grpId="0" build="allAtOnce"/>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636912"/>
            <a:ext cx="7848872" cy="3416320"/>
          </a:xfrm>
          <a:prstGeom prst="rect">
            <a:avLst/>
          </a:prstGeom>
        </p:spPr>
        <p:txBody>
          <a:bodyPr wrap="square">
            <a:spAutoFit/>
          </a:bodyPr>
          <a:lstStyle/>
          <a:p>
            <a:r>
              <a:rPr lang="nl-NL" dirty="0" smtClean="0"/>
              <a:t>1.</a:t>
            </a:r>
            <a:r>
              <a:rPr lang="nl-NL" b="1" dirty="0" smtClean="0"/>
              <a:t>   </a:t>
            </a:r>
            <a:r>
              <a:rPr lang="nl-NL" b="1" dirty="0" err="1" smtClean="0"/>
              <a:t>Ub</a:t>
            </a:r>
            <a:r>
              <a:rPr lang="nl-NL" b="1" dirty="0" smtClean="0"/>
              <a:t>				</a:t>
            </a:r>
            <a:r>
              <a:rPr lang="nl-NL" dirty="0" smtClean="0"/>
              <a:t>Prem.</a:t>
            </a:r>
          </a:p>
          <a:p>
            <a:r>
              <a:rPr lang="nl-NL" dirty="0" smtClean="0"/>
              <a:t>2.   </a:t>
            </a:r>
            <a:r>
              <a:rPr lang="nl-NL" b="1" dirty="0" smtClean="0"/>
              <a:t>∀x (</a:t>
            </a:r>
            <a:r>
              <a:rPr lang="nl-NL" b="1" dirty="0" err="1" smtClean="0"/>
              <a:t>Ux</a:t>
            </a:r>
            <a:r>
              <a:rPr lang="nl-NL" b="1" dirty="0" smtClean="0"/>
              <a:t> → </a:t>
            </a:r>
            <a:r>
              <a:rPr lang="nl-NL" b="1" dirty="0" err="1" smtClean="0"/>
              <a:t>Sx</a:t>
            </a:r>
            <a:r>
              <a:rPr lang="nl-NL" b="1" dirty="0" smtClean="0"/>
              <a:t>)	 		</a:t>
            </a:r>
            <a:r>
              <a:rPr lang="nl-NL" dirty="0" smtClean="0"/>
              <a:t>Prem.</a:t>
            </a:r>
          </a:p>
          <a:p>
            <a:r>
              <a:rPr lang="nl-NL" dirty="0" smtClean="0"/>
              <a:t>3.   </a:t>
            </a:r>
            <a:r>
              <a:rPr lang="nl-NL" b="1" dirty="0" smtClean="0"/>
              <a:t>∀x ((</a:t>
            </a:r>
            <a:r>
              <a:rPr lang="nl-NL" b="1" dirty="0" err="1" smtClean="0"/>
              <a:t>Sx</a:t>
            </a:r>
            <a:r>
              <a:rPr lang="nl-NL" b="1" dirty="0" smtClean="0"/>
              <a:t> ∧ </a:t>
            </a:r>
            <a:r>
              <a:rPr lang="nl-NL" b="1" dirty="0" err="1" smtClean="0"/>
              <a:t>Gx</a:t>
            </a:r>
            <a:r>
              <a:rPr lang="nl-NL" b="1" dirty="0" smtClean="0"/>
              <a:t>) → </a:t>
            </a:r>
            <a:r>
              <a:rPr lang="nl-NL" b="1" dirty="0" err="1" smtClean="0"/>
              <a:t>Vx</a:t>
            </a:r>
            <a:r>
              <a:rPr lang="nl-NL" b="1" dirty="0" smtClean="0"/>
              <a:t>)		</a:t>
            </a:r>
            <a:r>
              <a:rPr lang="nl-NL" dirty="0" smtClean="0"/>
              <a:t>Prem.</a:t>
            </a:r>
            <a:r>
              <a:rPr lang="nl-NL" b="1" dirty="0" smtClean="0"/>
              <a:t>	</a:t>
            </a:r>
            <a:endParaRPr lang="nl-NL" dirty="0" smtClean="0"/>
          </a:p>
          <a:p>
            <a:r>
              <a:rPr lang="nl-NL" dirty="0" smtClean="0"/>
              <a:t>4.   </a:t>
            </a:r>
            <a:r>
              <a:rPr lang="nl-NL" b="1" dirty="0" smtClean="0"/>
              <a:t>¬</a:t>
            </a:r>
            <a:r>
              <a:rPr lang="nl-NL" b="1" dirty="0" err="1" smtClean="0"/>
              <a:t>Vb</a:t>
            </a:r>
            <a:r>
              <a:rPr lang="nl-NL" b="1" dirty="0" smtClean="0"/>
              <a:t>				</a:t>
            </a:r>
            <a:r>
              <a:rPr lang="nl-NL" dirty="0" smtClean="0"/>
              <a:t>Prem.</a:t>
            </a:r>
          </a:p>
          <a:p>
            <a:r>
              <a:rPr lang="nl-NL" dirty="0" smtClean="0"/>
              <a:t>5.   </a:t>
            </a:r>
            <a:r>
              <a:rPr lang="nl-NL" b="1" dirty="0" err="1" smtClean="0"/>
              <a:t>Gb</a:t>
            </a:r>
            <a:r>
              <a:rPr lang="nl-NL" b="1" dirty="0" smtClean="0"/>
              <a:t>				</a:t>
            </a:r>
            <a:r>
              <a:rPr lang="nl-NL" dirty="0" err="1" smtClean="0"/>
              <a:t>Ass</a:t>
            </a:r>
            <a:r>
              <a:rPr lang="nl-NL" dirty="0" smtClean="0"/>
              <a:t>.</a:t>
            </a:r>
          </a:p>
          <a:p>
            <a:r>
              <a:rPr lang="nl-NL" dirty="0" smtClean="0"/>
              <a:t>6.   </a:t>
            </a:r>
            <a:r>
              <a:rPr lang="nl-NL" b="1" dirty="0" err="1" smtClean="0"/>
              <a:t>Ub</a:t>
            </a:r>
            <a:r>
              <a:rPr lang="nl-NL" b="1" dirty="0" smtClean="0"/>
              <a:t> → Sb			</a:t>
            </a:r>
            <a:r>
              <a:rPr lang="nl-NL" dirty="0" smtClean="0"/>
              <a:t>G ∀ (2)</a:t>
            </a:r>
            <a:r>
              <a:rPr lang="nl-NL" b="1" dirty="0" smtClean="0"/>
              <a:t> </a:t>
            </a:r>
          </a:p>
          <a:p>
            <a:r>
              <a:rPr lang="nl-NL" dirty="0" smtClean="0"/>
              <a:t>7.   </a:t>
            </a:r>
            <a:r>
              <a:rPr lang="nl-NL" b="1" dirty="0" smtClean="0"/>
              <a:t>Sb				</a:t>
            </a:r>
            <a:r>
              <a:rPr lang="nl-NL" dirty="0" smtClean="0"/>
              <a:t>G → (1,6)</a:t>
            </a:r>
            <a:r>
              <a:rPr lang="nl-NL" b="1" dirty="0" smtClean="0"/>
              <a:t> 	</a:t>
            </a:r>
          </a:p>
          <a:p>
            <a:r>
              <a:rPr lang="nl-NL" dirty="0" smtClean="0"/>
              <a:t>8.   </a:t>
            </a:r>
            <a:r>
              <a:rPr lang="nl-NL" b="1" dirty="0" smtClean="0"/>
              <a:t>Sb ∧ </a:t>
            </a:r>
            <a:r>
              <a:rPr lang="nl-NL" b="1" dirty="0" err="1" smtClean="0"/>
              <a:t>Gb</a:t>
            </a:r>
            <a:r>
              <a:rPr lang="nl-NL" b="1" dirty="0" smtClean="0"/>
              <a:t>			</a:t>
            </a:r>
            <a:r>
              <a:rPr lang="nl-NL" dirty="0" smtClean="0"/>
              <a:t>I ∧ (5,7) </a:t>
            </a:r>
          </a:p>
          <a:p>
            <a:r>
              <a:rPr lang="nl-NL" dirty="0" smtClean="0"/>
              <a:t>9.   </a:t>
            </a:r>
            <a:r>
              <a:rPr lang="nl-NL" b="1" dirty="0" smtClean="0"/>
              <a:t>(Sb ∧ </a:t>
            </a:r>
            <a:r>
              <a:rPr lang="nl-NL" b="1" dirty="0" err="1" smtClean="0"/>
              <a:t>Gb</a:t>
            </a:r>
            <a:r>
              <a:rPr lang="nl-NL" b="1" dirty="0" smtClean="0"/>
              <a:t>) → </a:t>
            </a:r>
            <a:r>
              <a:rPr lang="nl-NL" b="1" dirty="0" err="1" smtClean="0"/>
              <a:t>Vb</a:t>
            </a:r>
            <a:r>
              <a:rPr lang="nl-NL" b="1" dirty="0" smtClean="0"/>
              <a:t>			</a:t>
            </a:r>
            <a:r>
              <a:rPr lang="nl-NL" dirty="0" smtClean="0"/>
              <a:t>G ∀ (3) </a:t>
            </a:r>
            <a:r>
              <a:rPr lang="nl-NL" b="1" dirty="0" smtClean="0"/>
              <a:t>	</a:t>
            </a:r>
          </a:p>
          <a:p>
            <a:r>
              <a:rPr lang="nl-NL" dirty="0" smtClean="0"/>
              <a:t>10. </a:t>
            </a:r>
            <a:r>
              <a:rPr lang="nl-NL" b="1" dirty="0" err="1" smtClean="0"/>
              <a:t>Vb</a:t>
            </a:r>
            <a:r>
              <a:rPr lang="nl-NL" b="1" dirty="0" smtClean="0"/>
              <a:t>				</a:t>
            </a:r>
            <a:r>
              <a:rPr lang="nl-NL" dirty="0" smtClean="0"/>
              <a:t>G → (8,9)</a:t>
            </a:r>
            <a:endParaRPr lang="nl-NL" b="1" dirty="0" smtClean="0"/>
          </a:p>
          <a:p>
            <a:r>
              <a:rPr lang="nl-NL" dirty="0" smtClean="0"/>
              <a:t>11. </a:t>
            </a:r>
            <a:r>
              <a:rPr lang="nl-NL" b="1" dirty="0" err="1" smtClean="0"/>
              <a:t>Vb</a:t>
            </a:r>
            <a:r>
              <a:rPr lang="nl-NL" dirty="0" smtClean="0"/>
              <a:t> </a:t>
            </a:r>
            <a:r>
              <a:rPr lang="nl-NL" b="1" dirty="0" smtClean="0"/>
              <a:t>∧ ¬</a:t>
            </a:r>
            <a:r>
              <a:rPr lang="nl-NL" b="1" dirty="0" err="1" smtClean="0"/>
              <a:t>Vb</a:t>
            </a:r>
            <a:r>
              <a:rPr lang="nl-NL" b="1" dirty="0" smtClean="0"/>
              <a:t>			</a:t>
            </a:r>
            <a:r>
              <a:rPr lang="nl-NL" dirty="0" smtClean="0"/>
              <a:t>I ∧ (4,10)</a:t>
            </a:r>
            <a:endParaRPr lang="nl-NL" b="1" dirty="0" smtClean="0"/>
          </a:p>
          <a:p>
            <a:r>
              <a:rPr lang="nl-NL" dirty="0" smtClean="0"/>
              <a:t>12. </a:t>
            </a:r>
            <a:r>
              <a:rPr lang="nl-NL" b="1" dirty="0" smtClean="0"/>
              <a:t>¬</a:t>
            </a:r>
            <a:r>
              <a:rPr lang="nl-NL" b="1" dirty="0" err="1" smtClean="0"/>
              <a:t>Gb</a:t>
            </a:r>
            <a:r>
              <a:rPr lang="nl-NL" b="1" dirty="0" smtClean="0"/>
              <a:t> </a:t>
            </a:r>
            <a:r>
              <a:rPr lang="nl-NL" dirty="0" smtClean="0"/>
              <a:t>  </a:t>
            </a:r>
            <a:r>
              <a:rPr lang="nl-NL" b="1" dirty="0" smtClean="0"/>
              <a:t>	</a:t>
            </a:r>
            <a:r>
              <a:rPr lang="nl-NL" dirty="0" smtClean="0"/>
              <a:t>     </a:t>
            </a:r>
            <a:r>
              <a:rPr lang="nl-NL" b="1" dirty="0" smtClean="0"/>
              <a:t> 	</a:t>
            </a:r>
            <a:r>
              <a:rPr lang="nl-NL" dirty="0" smtClean="0"/>
              <a:t> 	 	I ¬ (5,11)</a:t>
            </a:r>
            <a:endParaRPr lang="nl-NL" dirty="0"/>
          </a:p>
        </p:txBody>
      </p:sp>
      <p:cxnSp>
        <p:nvCxnSpPr>
          <p:cNvPr id="13" name="Straight Connector 12"/>
          <p:cNvCxnSpPr/>
          <p:nvPr/>
        </p:nvCxnSpPr>
        <p:spPr>
          <a:xfrm flipH="1">
            <a:off x="323528" y="3789040"/>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3528" y="3789040"/>
            <a:ext cx="0" cy="194421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23528" y="5733256"/>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5536" y="1846565"/>
            <a:ext cx="7848872" cy="646331"/>
          </a:xfrm>
          <a:prstGeom prst="rect">
            <a:avLst/>
          </a:prstGeom>
        </p:spPr>
        <p:txBody>
          <a:bodyPr wrap="square">
            <a:spAutoFit/>
          </a:bodyPr>
          <a:lstStyle/>
          <a:p>
            <a:r>
              <a:rPr lang="nl-NL" b="1" dirty="0" err="1" smtClean="0"/>
              <a:t>Ub</a:t>
            </a:r>
            <a:r>
              <a:rPr lang="nl-NL" b="1" dirty="0" smtClean="0"/>
              <a:t> </a:t>
            </a:r>
            <a:r>
              <a:rPr lang="nl-NL" dirty="0" smtClean="0"/>
              <a:t>,</a:t>
            </a:r>
            <a:r>
              <a:rPr lang="nl-NL" b="1" dirty="0" smtClean="0"/>
              <a:t> ∀x (</a:t>
            </a:r>
            <a:r>
              <a:rPr lang="nl-NL" b="1" dirty="0" err="1" smtClean="0"/>
              <a:t>Ux</a:t>
            </a:r>
            <a:r>
              <a:rPr lang="nl-NL" b="1" dirty="0" smtClean="0"/>
              <a:t> → </a:t>
            </a:r>
            <a:r>
              <a:rPr lang="nl-NL" b="1" dirty="0" err="1" smtClean="0"/>
              <a:t>Sx</a:t>
            </a:r>
            <a:r>
              <a:rPr lang="nl-NL" b="1" dirty="0" smtClean="0"/>
              <a:t>) </a:t>
            </a:r>
            <a:r>
              <a:rPr lang="nl-NL" dirty="0" smtClean="0"/>
              <a:t>,</a:t>
            </a:r>
            <a:r>
              <a:rPr lang="nl-NL" b="1" dirty="0" smtClean="0"/>
              <a:t> ∀x ((</a:t>
            </a:r>
            <a:r>
              <a:rPr lang="nl-NL" b="1" dirty="0" err="1" smtClean="0"/>
              <a:t>Sx</a:t>
            </a:r>
            <a:r>
              <a:rPr lang="nl-NL" b="1" dirty="0" smtClean="0"/>
              <a:t> ∧ </a:t>
            </a:r>
            <a:r>
              <a:rPr lang="nl-NL" b="1" dirty="0" err="1" smtClean="0"/>
              <a:t>Gx</a:t>
            </a:r>
            <a:r>
              <a:rPr lang="nl-NL" b="1" dirty="0" smtClean="0"/>
              <a:t>) → </a:t>
            </a:r>
            <a:r>
              <a:rPr lang="nl-NL" b="1" dirty="0" err="1" smtClean="0"/>
              <a:t>Vx</a:t>
            </a:r>
            <a:r>
              <a:rPr lang="nl-NL" b="1" dirty="0" smtClean="0"/>
              <a:t>) </a:t>
            </a:r>
            <a:r>
              <a:rPr lang="nl-NL" dirty="0" smtClean="0"/>
              <a:t>,</a:t>
            </a:r>
            <a:r>
              <a:rPr lang="nl-NL" b="1" dirty="0" smtClean="0"/>
              <a:t> ¬</a:t>
            </a:r>
            <a:r>
              <a:rPr lang="nl-NL" b="1" dirty="0" err="1" smtClean="0"/>
              <a:t>Vb</a:t>
            </a:r>
            <a:r>
              <a:rPr lang="nl-NL" b="1" dirty="0" smtClean="0"/>
              <a:t>   Ⱶ   ¬</a:t>
            </a:r>
            <a:r>
              <a:rPr lang="nl-NL" b="1" dirty="0" err="1" smtClean="0"/>
              <a:t>Gb</a:t>
            </a:r>
            <a:r>
              <a:rPr lang="nl-NL" b="1" dirty="0" smtClean="0"/>
              <a:t> </a:t>
            </a:r>
            <a:r>
              <a:rPr lang="nl-NL" dirty="0" smtClean="0"/>
              <a:t>  </a:t>
            </a:r>
            <a:r>
              <a:rPr lang="nl-NL" b="1" dirty="0" smtClean="0"/>
              <a:t>	</a:t>
            </a:r>
            <a:r>
              <a:rPr lang="nl-NL" dirty="0" smtClean="0"/>
              <a:t>     </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636912"/>
            <a:ext cx="7848872" cy="2862322"/>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V ∃y </a:t>
            </a:r>
            <a:r>
              <a:rPr lang="nl-NL" b="1" dirty="0" err="1" smtClean="0"/>
              <a:t>By</a:t>
            </a:r>
            <a:r>
              <a:rPr lang="nl-NL" b="1" dirty="0" smtClean="0"/>
              <a:t>) 			</a:t>
            </a:r>
            <a:r>
              <a:rPr lang="nl-NL" dirty="0" smtClean="0"/>
              <a:t>Prem.</a:t>
            </a:r>
          </a:p>
          <a:p>
            <a:r>
              <a:rPr lang="nl-NL" dirty="0" smtClean="0"/>
              <a:t>2.  </a:t>
            </a:r>
            <a:r>
              <a:rPr lang="nl-NL" b="1" dirty="0" smtClean="0"/>
              <a:t>¬∃y </a:t>
            </a:r>
            <a:r>
              <a:rPr lang="nl-NL" b="1" dirty="0" err="1" smtClean="0"/>
              <a:t>By</a:t>
            </a:r>
            <a:r>
              <a:rPr lang="nl-NL" b="1" dirty="0" smtClean="0"/>
              <a:t> 	 		</a:t>
            </a:r>
            <a:r>
              <a:rPr lang="nl-NL" dirty="0" smtClean="0"/>
              <a:t>Prem.</a:t>
            </a:r>
          </a:p>
          <a:p>
            <a:r>
              <a:rPr lang="nl-NL" dirty="0" smtClean="0"/>
              <a:t>3.   </a:t>
            </a:r>
            <a:r>
              <a:rPr lang="nl-NL" b="1" dirty="0" smtClean="0"/>
              <a:t>Ac V ∃y </a:t>
            </a:r>
            <a:r>
              <a:rPr lang="nl-NL" b="1" dirty="0" err="1" smtClean="0"/>
              <a:t>By</a:t>
            </a:r>
            <a:r>
              <a:rPr lang="nl-NL" b="1" dirty="0" smtClean="0"/>
              <a:t> 		</a:t>
            </a:r>
            <a:r>
              <a:rPr lang="nl-NL" dirty="0" smtClean="0"/>
              <a:t>	G ∀ (1)</a:t>
            </a:r>
            <a:r>
              <a:rPr lang="nl-NL" b="1" dirty="0" smtClean="0"/>
              <a:t> 	</a:t>
            </a:r>
            <a:endParaRPr lang="nl-NL" dirty="0" smtClean="0"/>
          </a:p>
          <a:p>
            <a:r>
              <a:rPr lang="nl-NL" dirty="0" smtClean="0"/>
              <a:t>4.   </a:t>
            </a:r>
            <a:r>
              <a:rPr lang="nl-NL" b="1" dirty="0" smtClean="0"/>
              <a:t>Ac				</a:t>
            </a:r>
            <a:r>
              <a:rPr lang="nl-NL" dirty="0" err="1" smtClean="0"/>
              <a:t>Ass</a:t>
            </a:r>
            <a:r>
              <a:rPr lang="nl-NL" dirty="0" smtClean="0"/>
              <a:t>.</a:t>
            </a:r>
          </a:p>
          <a:p>
            <a:r>
              <a:rPr lang="nl-NL" dirty="0" smtClean="0"/>
              <a:t>5.   </a:t>
            </a:r>
            <a:r>
              <a:rPr lang="nl-NL" b="1" dirty="0" smtClean="0"/>
              <a:t>Ac				</a:t>
            </a:r>
            <a:r>
              <a:rPr lang="nl-NL" dirty="0" err="1" smtClean="0"/>
              <a:t>Herh</a:t>
            </a:r>
            <a:r>
              <a:rPr lang="nl-NL" dirty="0" smtClean="0"/>
              <a:t>. (4)</a:t>
            </a:r>
          </a:p>
          <a:p>
            <a:r>
              <a:rPr lang="nl-NL" dirty="0" smtClean="0"/>
              <a:t>6.   </a:t>
            </a:r>
            <a:r>
              <a:rPr lang="nl-NL" b="1" dirty="0" smtClean="0"/>
              <a:t>Ac → Ac			</a:t>
            </a:r>
            <a:r>
              <a:rPr lang="nl-NL" dirty="0" smtClean="0"/>
              <a:t>I → (4,5)</a:t>
            </a:r>
            <a:r>
              <a:rPr lang="nl-NL" b="1" dirty="0" smtClean="0"/>
              <a:t> </a:t>
            </a:r>
          </a:p>
          <a:p>
            <a:r>
              <a:rPr lang="nl-NL" dirty="0" smtClean="0"/>
              <a:t>7.  </a:t>
            </a:r>
            <a:r>
              <a:rPr lang="nl-NL" b="1" dirty="0" smtClean="0"/>
              <a:t>∃y </a:t>
            </a:r>
            <a:r>
              <a:rPr lang="nl-NL" b="1" dirty="0" err="1" smtClean="0"/>
              <a:t>By</a:t>
            </a:r>
            <a:r>
              <a:rPr lang="nl-NL" b="1" dirty="0" smtClean="0"/>
              <a:t> 				</a:t>
            </a:r>
            <a:r>
              <a:rPr lang="nl-NL" dirty="0" err="1" smtClean="0"/>
              <a:t>Ass</a:t>
            </a:r>
            <a:r>
              <a:rPr lang="nl-NL" dirty="0" smtClean="0"/>
              <a:t>.</a:t>
            </a:r>
            <a:r>
              <a:rPr lang="nl-NL" b="1" dirty="0" smtClean="0"/>
              <a:t>	</a:t>
            </a:r>
          </a:p>
          <a:p>
            <a:r>
              <a:rPr lang="nl-NL" dirty="0" smtClean="0"/>
              <a:t>8.  </a:t>
            </a:r>
            <a:r>
              <a:rPr lang="nl-NL" b="1" dirty="0" smtClean="0"/>
              <a:t>Ac</a:t>
            </a:r>
            <a:r>
              <a:rPr lang="nl-NL" dirty="0" smtClean="0"/>
              <a:t>		</a:t>
            </a:r>
            <a:r>
              <a:rPr lang="nl-NL" b="1" dirty="0" smtClean="0"/>
              <a:t>		</a:t>
            </a:r>
            <a:r>
              <a:rPr lang="nl-NL" dirty="0" smtClean="0"/>
              <a:t>G¬ (2,7) </a:t>
            </a:r>
          </a:p>
          <a:p>
            <a:r>
              <a:rPr lang="nl-NL" dirty="0" smtClean="0"/>
              <a:t>9.  </a:t>
            </a:r>
            <a:r>
              <a:rPr lang="nl-NL" b="1" dirty="0" smtClean="0"/>
              <a:t>∃y </a:t>
            </a:r>
            <a:r>
              <a:rPr lang="nl-NL" b="1" dirty="0" err="1" smtClean="0"/>
              <a:t>By</a:t>
            </a:r>
            <a:r>
              <a:rPr lang="nl-NL" b="1" dirty="0" smtClean="0"/>
              <a:t> → Ac			</a:t>
            </a:r>
            <a:r>
              <a:rPr lang="nl-NL" dirty="0" smtClean="0"/>
              <a:t>I → (7,8) </a:t>
            </a:r>
            <a:r>
              <a:rPr lang="nl-NL" b="1" dirty="0" smtClean="0"/>
              <a:t>	</a:t>
            </a:r>
          </a:p>
          <a:p>
            <a:r>
              <a:rPr lang="nl-NL" dirty="0" smtClean="0"/>
              <a:t>10. </a:t>
            </a:r>
            <a:r>
              <a:rPr lang="nl-NL" b="1" dirty="0" smtClean="0"/>
              <a:t>Ac				</a:t>
            </a:r>
            <a:r>
              <a:rPr lang="nl-NL" dirty="0" smtClean="0"/>
              <a:t>G V (3,6,9)</a:t>
            </a:r>
            <a:endParaRPr lang="nl-NL" dirty="0"/>
          </a:p>
        </p:txBody>
      </p:sp>
      <p:cxnSp>
        <p:nvCxnSpPr>
          <p:cNvPr id="13" name="Straight Connector 12"/>
          <p:cNvCxnSpPr/>
          <p:nvPr/>
        </p:nvCxnSpPr>
        <p:spPr>
          <a:xfrm flipH="1">
            <a:off x="323528" y="3501008"/>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3528" y="3501008"/>
            <a:ext cx="0" cy="57606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23528" y="4077072"/>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5536" y="1846565"/>
            <a:ext cx="7848872" cy="369332"/>
          </a:xfrm>
          <a:prstGeom prst="rect">
            <a:avLst/>
          </a:prstGeom>
        </p:spPr>
        <p:txBody>
          <a:bodyPr wrap="square">
            <a:spAutoFit/>
          </a:bodyPr>
          <a:lstStyle/>
          <a:p>
            <a:r>
              <a:rPr lang="nl-NL" b="1" dirty="0" smtClean="0"/>
              <a:t>∀x (</a:t>
            </a:r>
            <a:r>
              <a:rPr lang="nl-NL" b="1" dirty="0" err="1" smtClean="0"/>
              <a:t>Ax</a:t>
            </a:r>
            <a:r>
              <a:rPr lang="nl-NL" b="1" dirty="0" smtClean="0"/>
              <a:t> V ∃y </a:t>
            </a:r>
            <a:r>
              <a:rPr lang="nl-NL" b="1" dirty="0" err="1" smtClean="0"/>
              <a:t>By</a:t>
            </a:r>
            <a:r>
              <a:rPr lang="nl-NL" b="1" dirty="0" smtClean="0"/>
              <a:t>)  </a:t>
            </a:r>
            <a:r>
              <a:rPr lang="nl-NL" dirty="0" smtClean="0"/>
              <a:t>,</a:t>
            </a:r>
            <a:r>
              <a:rPr lang="nl-NL" b="1" dirty="0" smtClean="0"/>
              <a:t>  ¬∃y </a:t>
            </a:r>
            <a:r>
              <a:rPr lang="nl-NL" b="1" dirty="0" err="1" smtClean="0"/>
              <a:t>By</a:t>
            </a:r>
            <a:r>
              <a:rPr lang="nl-NL" b="1" dirty="0" smtClean="0"/>
              <a:t>   Ⱶ  Ac	</a:t>
            </a:r>
            <a:r>
              <a:rPr lang="nl-NL" dirty="0" smtClean="0"/>
              <a:t>     </a:t>
            </a:r>
            <a:r>
              <a:rPr lang="nl-NL" b="1" dirty="0" smtClean="0"/>
              <a:t> 	</a:t>
            </a:r>
            <a:r>
              <a:rPr lang="nl-NL" dirty="0" smtClean="0"/>
              <a:t> 	 	</a:t>
            </a:r>
            <a:endParaRPr lang="nl-NL" dirty="0"/>
          </a:p>
        </p:txBody>
      </p:sp>
      <p:cxnSp>
        <p:nvCxnSpPr>
          <p:cNvPr id="11" name="Straight Connector 10"/>
          <p:cNvCxnSpPr/>
          <p:nvPr/>
        </p:nvCxnSpPr>
        <p:spPr>
          <a:xfrm flipH="1">
            <a:off x="323528" y="4365104"/>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23528" y="4365104"/>
            <a:ext cx="0" cy="57606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H="1">
            <a:off x="323528" y="4941168"/>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200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0"/>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3" name="Content Placeholder 2"/>
          <p:cNvSpPr>
            <a:spLocks noGrp="1"/>
          </p:cNvSpPr>
          <p:nvPr>
            <p:ph idx="1"/>
          </p:nvPr>
        </p:nvSpPr>
        <p:spPr>
          <a:xfrm>
            <a:off x="288032" y="1600201"/>
            <a:ext cx="8892480" cy="1108720"/>
          </a:xfrm>
        </p:spPr>
        <p:txBody>
          <a:bodyPr>
            <a:noAutofit/>
          </a:bodyPr>
          <a:lstStyle/>
          <a:p>
            <a:r>
              <a:rPr lang="nl-NL" sz="2000" dirty="0" smtClean="0"/>
              <a:t>Als een </a:t>
            </a:r>
            <a:r>
              <a:rPr lang="nl-NL" sz="2000" i="1" dirty="0" smtClean="0"/>
              <a:t>willekeurige</a:t>
            </a:r>
            <a:r>
              <a:rPr lang="nl-NL" sz="2000" dirty="0" smtClean="0"/>
              <a:t> driehoek de eigenschap heeft dat de som van de hoeken  180 graden is, dan is voor </a:t>
            </a:r>
            <a:r>
              <a:rPr lang="nl-NL" sz="2000" i="1" dirty="0" smtClean="0"/>
              <a:t>alle</a:t>
            </a:r>
            <a:r>
              <a:rPr lang="nl-NL" sz="2000" dirty="0" smtClean="0"/>
              <a:t> driehoeken de som van de hoeken 180 graden. </a:t>
            </a:r>
          </a:p>
          <a:p>
            <a:r>
              <a:rPr lang="nl-NL" sz="2000" dirty="0" smtClean="0"/>
              <a:t>Als een </a:t>
            </a:r>
            <a:r>
              <a:rPr lang="nl-NL" sz="2000" i="1" dirty="0" smtClean="0"/>
              <a:t>willekeurig</a:t>
            </a:r>
            <a:r>
              <a:rPr lang="nl-NL" sz="2000" dirty="0" smtClean="0"/>
              <a:t> oneven getal bij zichzelf opgeteld even is, dan is het voor    </a:t>
            </a:r>
            <a:r>
              <a:rPr lang="nl-NL" sz="2000" i="1" dirty="0" smtClean="0"/>
              <a:t>alle</a:t>
            </a:r>
            <a:r>
              <a:rPr lang="nl-NL" sz="2000" dirty="0" smtClean="0"/>
              <a:t> oneven getallen zo dat ze bij zichzelf opgeteld even zijn.</a:t>
            </a:r>
          </a:p>
          <a:p>
            <a:endParaRPr lang="nl-NL" sz="2000" dirty="0" smtClean="0"/>
          </a:p>
          <a:p>
            <a:pPr>
              <a:buNone/>
            </a:pPr>
            <a:endParaRPr lang="nl-NL" sz="2000" dirty="0" smtClean="0"/>
          </a:p>
          <a:p>
            <a:endParaRPr lang="nl-NL" sz="2000" dirty="0" smtClean="0"/>
          </a:p>
          <a:p>
            <a:endParaRPr lang="nl-NL" sz="2000" dirty="0" smtClean="0"/>
          </a:p>
        </p:txBody>
      </p:sp>
      <p:sp>
        <p:nvSpPr>
          <p:cNvPr id="10" name="Content Placeholder 2"/>
          <p:cNvSpPr txBox="1">
            <a:spLocks/>
          </p:cNvSpPr>
          <p:nvPr/>
        </p:nvSpPr>
        <p:spPr>
          <a:xfrm>
            <a:off x="780728" y="49411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21704" y="3429000"/>
            <a:ext cx="3358208" cy="30243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pPr>
            <a:r>
              <a:rPr lang="nl-NL" sz="2000" dirty="0" smtClean="0"/>
              <a:t>3. </a:t>
            </a:r>
            <a:r>
              <a:rPr lang="el-GR" sz="2000" b="1" i="1" dirty="0" smtClean="0"/>
              <a:t>α</a:t>
            </a:r>
            <a:r>
              <a:rPr lang="nl-NL" sz="2000" b="1" dirty="0" smtClean="0"/>
              <a:t>[a]</a:t>
            </a:r>
          </a:p>
          <a:p>
            <a:pPr marL="342900" lvl="0" indent="-342900">
              <a:spcBef>
                <a:spcPct val="20000"/>
              </a:spcBef>
            </a:pPr>
            <a:r>
              <a:rPr lang="nl-NL" sz="2000" dirty="0" smtClean="0"/>
              <a:t>….</a:t>
            </a:r>
          </a:p>
          <a:p>
            <a:pPr marL="342900" lvl="0" indent="-342900">
              <a:spcBef>
                <a:spcPct val="20000"/>
              </a:spcBef>
            </a:pPr>
            <a:r>
              <a:rPr lang="nl-NL" sz="2000" dirty="0" smtClean="0"/>
              <a:t>….</a:t>
            </a:r>
          </a:p>
          <a:p>
            <a:pPr marL="342900" lvl="0" indent="-342900">
              <a:spcBef>
                <a:spcPct val="20000"/>
              </a:spcBef>
            </a:pPr>
            <a:r>
              <a:rPr lang="nl-NL" sz="2000" dirty="0" smtClean="0"/>
              <a:t>7. </a:t>
            </a:r>
            <a:r>
              <a:rPr lang="nl-NL" sz="2000" b="1" dirty="0" smtClean="0"/>
              <a:t>∀x</a:t>
            </a:r>
            <a:r>
              <a:rPr lang="el-GR" sz="2000" b="1" i="1" dirty="0" smtClean="0"/>
              <a:t>α</a:t>
            </a:r>
            <a:r>
              <a:rPr lang="nl-NL" sz="2000" b="1" dirty="0" smtClean="0"/>
              <a:t>[x]	        I ∀ (3)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2411760" y="5877272"/>
            <a:ext cx="5760640" cy="748680"/>
          </a:xfrm>
          <a:prstGeom prst="rect">
            <a:avLst/>
          </a:prstGeom>
        </p:spPr>
        <p:txBody>
          <a:bodyPr vert="horz" lIns="91440" tIns="45720" rIns="91440" bIns="45720" rtlCol="0">
            <a:noAutofit/>
          </a:bodyPr>
          <a:lstStyle/>
          <a:p>
            <a:pPr marL="342900" lvl="0" indent="-342900">
              <a:spcBef>
                <a:spcPct val="20000"/>
              </a:spcBef>
              <a:defRPr/>
            </a:pPr>
            <a:r>
              <a:rPr lang="nl-NL" sz="2000" dirty="0" smtClean="0"/>
              <a:t>      Mits </a:t>
            </a:r>
            <a:r>
              <a:rPr lang="nl-NL" sz="2000" b="1" dirty="0" smtClean="0"/>
              <a:t>a</a:t>
            </a:r>
            <a:r>
              <a:rPr lang="nl-NL" sz="2000" dirty="0" smtClean="0"/>
              <a:t> niet optreedt in </a:t>
            </a:r>
            <a:r>
              <a:rPr lang="nl-NL" sz="2000" b="1" dirty="0" smtClean="0"/>
              <a:t>∀</a:t>
            </a:r>
            <a:r>
              <a:rPr lang="el-GR" sz="2000" b="1" i="1" dirty="0" smtClean="0"/>
              <a:t>α</a:t>
            </a:r>
            <a:r>
              <a:rPr lang="nl-NL" sz="2000" b="1" dirty="0" smtClean="0"/>
              <a:t>[x] </a:t>
            </a:r>
            <a:r>
              <a:rPr lang="nl-NL" sz="2000" dirty="0" smtClean="0"/>
              <a:t>en evenmin in een premisse of niet-vervallen assumptie.</a:t>
            </a:r>
            <a:endParaRPr kumimoji="0" lang="nl-NL" sz="20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4644008" y="3419708"/>
            <a:ext cx="2808312" cy="369332"/>
          </a:xfrm>
          <a:prstGeom prst="rect">
            <a:avLst/>
          </a:prstGeom>
          <a:noFill/>
        </p:spPr>
        <p:txBody>
          <a:bodyPr wrap="square" rtlCol="0">
            <a:spAutoFit/>
          </a:bodyPr>
          <a:lstStyle/>
          <a:p>
            <a:r>
              <a:rPr lang="nl-NL" dirty="0" smtClean="0"/>
              <a:t>Vanwaar dit ‘mits’?</a:t>
            </a:r>
            <a:endParaRPr lang="nl-NL" dirty="0"/>
          </a:p>
        </p:txBody>
      </p:sp>
      <p:sp>
        <p:nvSpPr>
          <p:cNvPr id="13" name="TextBox 12"/>
          <p:cNvSpPr txBox="1"/>
          <p:nvPr/>
        </p:nvSpPr>
        <p:spPr>
          <a:xfrm>
            <a:off x="4644008" y="3923764"/>
            <a:ext cx="4032448" cy="646331"/>
          </a:xfrm>
          <a:prstGeom prst="rect">
            <a:avLst/>
          </a:prstGeom>
          <a:noFill/>
        </p:spPr>
        <p:txBody>
          <a:bodyPr wrap="square" rtlCol="0">
            <a:spAutoFit/>
          </a:bodyPr>
          <a:lstStyle/>
          <a:p>
            <a:r>
              <a:rPr lang="nl-NL" dirty="0" smtClean="0"/>
              <a:t>Omdat </a:t>
            </a:r>
            <a:r>
              <a:rPr lang="nl-NL" b="1" dirty="0" smtClean="0"/>
              <a:t>a</a:t>
            </a:r>
            <a:r>
              <a:rPr lang="nl-NL" dirty="0" smtClean="0"/>
              <a:t> </a:t>
            </a:r>
            <a:r>
              <a:rPr lang="nl-NL" i="1" dirty="0" smtClean="0"/>
              <a:t>willekeurig</a:t>
            </a:r>
            <a:r>
              <a:rPr lang="nl-NL" dirty="0" smtClean="0"/>
              <a:t> moet zijn, mag er </a:t>
            </a:r>
            <a:r>
              <a:rPr lang="nl-NL" i="1" dirty="0" smtClean="0"/>
              <a:t>niets specifieks </a:t>
            </a:r>
            <a:r>
              <a:rPr lang="nl-NL" dirty="0" smtClean="0"/>
              <a:t>over </a:t>
            </a:r>
            <a:r>
              <a:rPr lang="nl-NL" b="1" dirty="0" smtClean="0"/>
              <a:t>a</a:t>
            </a:r>
            <a:r>
              <a:rPr lang="nl-NL" dirty="0" smtClean="0"/>
              <a:t> gezegd worden!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2000"/>
                                        <p:tgtEl>
                                          <p:spTgt spid="7">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Effect transition="in" filter="fade">
                                      <p:cBhvr>
                                        <p:cTn id="23" dur="2000"/>
                                        <p:tgtEl>
                                          <p:spTgt spid="7">
                                            <p:txEl>
                                              <p:pRg st="1" end="1"/>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fade">
                                      <p:cBhvr>
                                        <p:cTn id="26" dur="2000"/>
                                        <p:tgtEl>
                                          <p:spTgt spid="7">
                                            <p:txEl>
                                              <p:pRg st="2" end="2"/>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2000"/>
                                        <p:tgtEl>
                                          <p:spTgt spid="7">
                                            <p:txEl>
                                              <p:pRg st="3" end="3"/>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fade">
                                      <p:cBhvr>
                                        <p:cTn id="32" dur="2000"/>
                                        <p:tgtEl>
                                          <p:spTgt spid="7">
                                            <p:txEl>
                                              <p:pRg st="4" end="4"/>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fade">
                                      <p:cBhvr>
                                        <p:cTn id="35" dur="2000"/>
                                        <p:tgtEl>
                                          <p:spTgt spid="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xEl>
                                              <p:pRg st="0" end="0"/>
                                            </p:txEl>
                                          </p:spTgt>
                                        </p:tgtEl>
                                        <p:attrNameLst>
                                          <p:attrName>style.visibility</p:attrName>
                                        </p:attrNameLst>
                                      </p:cBhvr>
                                      <p:to>
                                        <p:strVal val="visible"/>
                                      </p:to>
                                    </p:set>
                                    <p:animEffect transition="in" filter="fade">
                                      <p:cBhvr>
                                        <p:cTn id="40" dur="2000"/>
                                        <p:tgtEl>
                                          <p:spTgt spid="12">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animEffect transition="in" filter="fade">
                                      <p:cBhvr>
                                        <p:cTn id="45" dur="2000"/>
                                        <p:tgtEl>
                                          <p:spTgt spid="9">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
                                            <p:txEl>
                                              <p:pRg st="0" end="0"/>
                                            </p:txEl>
                                          </p:spTgt>
                                        </p:tgtEl>
                                        <p:attrNameLst>
                                          <p:attrName>style.visibility</p:attrName>
                                        </p:attrNameLst>
                                      </p:cBhvr>
                                      <p:to>
                                        <p:strVal val="visible"/>
                                      </p:to>
                                    </p:set>
                                    <p:animEffect transition="in" filter="fade">
                                      <p:cBhvr>
                                        <p:cTn id="50"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10" grpId="0" build="allAtOnce"/>
      <p:bldP spid="7" grpId="0" build="allAtOnce"/>
      <p:bldP spid="12" grpId="0" build="allAtOnce"/>
      <p:bldP spid="9" grpId="0" build="allAtOnce"/>
      <p:bldP spid="13" grpId="0" build="allAtOnce"/>
    </p:bld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3528" y="1772816"/>
            <a:ext cx="4176464" cy="646331"/>
          </a:xfrm>
          <a:prstGeom prst="rect">
            <a:avLst/>
          </a:prstGeom>
        </p:spPr>
        <p:txBody>
          <a:bodyPr wrap="square">
            <a:spAutoFit/>
          </a:bodyPr>
          <a:lstStyle/>
          <a:p>
            <a:r>
              <a:rPr lang="nl-NL" dirty="0" smtClean="0"/>
              <a:t>1.</a:t>
            </a:r>
            <a:r>
              <a:rPr lang="nl-NL" b="1" dirty="0" smtClean="0"/>
              <a:t>   Aa		</a:t>
            </a:r>
            <a:r>
              <a:rPr lang="nl-NL" dirty="0" smtClean="0"/>
              <a:t>Prem.</a:t>
            </a:r>
          </a:p>
          <a:p>
            <a:r>
              <a:rPr lang="nl-NL" dirty="0" smtClean="0"/>
              <a:t>2.   </a:t>
            </a:r>
            <a:r>
              <a:rPr lang="nl-NL" b="1" dirty="0" smtClean="0"/>
              <a:t>∀x </a:t>
            </a:r>
            <a:r>
              <a:rPr lang="nl-NL" b="1" dirty="0" err="1" smtClean="0"/>
              <a:t>Ax</a:t>
            </a:r>
            <a:r>
              <a:rPr lang="nl-NL" b="1" dirty="0" smtClean="0"/>
              <a:t>  	</a:t>
            </a:r>
            <a:r>
              <a:rPr lang="nl-NL" dirty="0" smtClean="0"/>
              <a:t>I ∀ (1) 	 </a:t>
            </a:r>
            <a:endParaRPr lang="nl-NL" dirty="0"/>
          </a:p>
        </p:txBody>
      </p:sp>
      <p:sp>
        <p:nvSpPr>
          <p:cNvPr id="13" name="TextBox 12"/>
          <p:cNvSpPr txBox="1"/>
          <p:nvPr/>
        </p:nvSpPr>
        <p:spPr>
          <a:xfrm>
            <a:off x="3563888" y="1772816"/>
            <a:ext cx="2304256" cy="369332"/>
          </a:xfrm>
          <a:prstGeom prst="rect">
            <a:avLst/>
          </a:prstGeom>
          <a:noFill/>
        </p:spPr>
        <p:txBody>
          <a:bodyPr wrap="square" rtlCol="0">
            <a:spAutoFit/>
          </a:bodyPr>
          <a:lstStyle/>
          <a:p>
            <a:r>
              <a:rPr lang="nl-NL" dirty="0" smtClean="0"/>
              <a:t>Correcte afleiding?</a:t>
            </a:r>
            <a:endParaRPr lang="nl-NL" dirty="0"/>
          </a:p>
        </p:txBody>
      </p:sp>
    </p:spTree>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3528" y="1772816"/>
            <a:ext cx="4176464" cy="646331"/>
          </a:xfrm>
          <a:prstGeom prst="rect">
            <a:avLst/>
          </a:prstGeom>
        </p:spPr>
        <p:txBody>
          <a:bodyPr wrap="square">
            <a:spAutoFit/>
          </a:bodyPr>
          <a:lstStyle/>
          <a:p>
            <a:r>
              <a:rPr lang="nl-NL" dirty="0" smtClean="0"/>
              <a:t>1.</a:t>
            </a:r>
            <a:r>
              <a:rPr lang="nl-NL" b="1" dirty="0" smtClean="0"/>
              <a:t>   Aa		</a:t>
            </a:r>
            <a:r>
              <a:rPr lang="nl-NL" dirty="0" smtClean="0"/>
              <a:t>Prem.</a:t>
            </a:r>
          </a:p>
          <a:p>
            <a:r>
              <a:rPr lang="nl-NL" dirty="0" smtClean="0">
                <a:solidFill>
                  <a:srgbClr val="FF0000"/>
                </a:solidFill>
              </a:rPr>
              <a:t>2.   </a:t>
            </a:r>
            <a:r>
              <a:rPr lang="nl-NL" b="1" dirty="0" smtClean="0">
                <a:solidFill>
                  <a:srgbClr val="FF0000"/>
                </a:solidFill>
              </a:rPr>
              <a:t>∀x </a:t>
            </a:r>
            <a:r>
              <a:rPr lang="nl-NL" b="1" dirty="0" err="1" smtClean="0">
                <a:solidFill>
                  <a:srgbClr val="FF0000"/>
                </a:solidFill>
              </a:rPr>
              <a:t>Ax</a:t>
            </a:r>
            <a:r>
              <a:rPr lang="nl-NL" b="1" dirty="0" smtClean="0">
                <a:solidFill>
                  <a:srgbClr val="FF0000"/>
                </a:solidFill>
              </a:rPr>
              <a:t>  	</a:t>
            </a:r>
            <a:r>
              <a:rPr lang="nl-NL" dirty="0" smtClean="0">
                <a:solidFill>
                  <a:srgbClr val="FF0000"/>
                </a:solidFill>
              </a:rPr>
              <a:t>I ∀ (1) </a:t>
            </a:r>
            <a:r>
              <a:rPr lang="nl-NL" dirty="0" smtClean="0"/>
              <a:t>	 </a:t>
            </a:r>
            <a:endParaRPr lang="nl-NL" dirty="0"/>
          </a:p>
        </p:txBody>
      </p:sp>
      <p:sp>
        <p:nvSpPr>
          <p:cNvPr id="13" name="TextBox 12"/>
          <p:cNvSpPr txBox="1"/>
          <p:nvPr/>
        </p:nvSpPr>
        <p:spPr>
          <a:xfrm>
            <a:off x="3563888" y="1772816"/>
            <a:ext cx="2304256" cy="369332"/>
          </a:xfrm>
          <a:prstGeom prst="rect">
            <a:avLst/>
          </a:prstGeom>
          <a:noFill/>
        </p:spPr>
        <p:txBody>
          <a:bodyPr wrap="square" rtlCol="0">
            <a:spAutoFit/>
          </a:bodyPr>
          <a:lstStyle/>
          <a:p>
            <a:r>
              <a:rPr lang="nl-NL" dirty="0" smtClean="0"/>
              <a:t>Correcte afleiding?</a:t>
            </a:r>
            <a:endParaRPr lang="nl-NL" dirty="0"/>
          </a:p>
        </p:txBody>
      </p:sp>
      <p:sp>
        <p:nvSpPr>
          <p:cNvPr id="6" name="TextBox 5"/>
          <p:cNvSpPr txBox="1"/>
          <p:nvPr/>
        </p:nvSpPr>
        <p:spPr>
          <a:xfrm>
            <a:off x="3563888" y="2411596"/>
            <a:ext cx="3672408" cy="646331"/>
          </a:xfrm>
          <a:prstGeom prst="rect">
            <a:avLst/>
          </a:prstGeom>
          <a:noFill/>
        </p:spPr>
        <p:txBody>
          <a:bodyPr wrap="square" rtlCol="0">
            <a:spAutoFit/>
          </a:bodyPr>
          <a:lstStyle/>
          <a:p>
            <a:r>
              <a:rPr lang="nl-NL" dirty="0" smtClean="0">
                <a:solidFill>
                  <a:srgbClr val="FF0000"/>
                </a:solidFill>
              </a:rPr>
              <a:t>Nee</a:t>
            </a:r>
            <a:r>
              <a:rPr lang="nl-NL" dirty="0" smtClean="0"/>
              <a:t>, </a:t>
            </a:r>
            <a:r>
              <a:rPr lang="nl-NL" b="1" dirty="0" smtClean="0"/>
              <a:t>a</a:t>
            </a:r>
            <a:r>
              <a:rPr lang="nl-NL" dirty="0" smtClean="0"/>
              <a:t> komt immers voor in de premisse, en is dus niet willekeurig. </a:t>
            </a:r>
            <a:endParaRPr lang="nl-NL" dirty="0"/>
          </a:p>
        </p:txBody>
      </p:sp>
    </p:spTree>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3528" y="1772816"/>
            <a:ext cx="4176464" cy="646331"/>
          </a:xfrm>
          <a:prstGeom prst="rect">
            <a:avLst/>
          </a:prstGeom>
        </p:spPr>
        <p:txBody>
          <a:bodyPr wrap="square">
            <a:spAutoFit/>
          </a:bodyPr>
          <a:lstStyle/>
          <a:p>
            <a:r>
              <a:rPr lang="nl-NL" dirty="0" smtClean="0"/>
              <a:t>1.</a:t>
            </a:r>
            <a:r>
              <a:rPr lang="nl-NL" b="1" dirty="0" smtClean="0"/>
              <a:t>   Aa		</a:t>
            </a:r>
            <a:r>
              <a:rPr lang="nl-NL" dirty="0" smtClean="0"/>
              <a:t>Prem.</a:t>
            </a:r>
          </a:p>
          <a:p>
            <a:r>
              <a:rPr lang="nl-NL" dirty="0" smtClean="0">
                <a:solidFill>
                  <a:srgbClr val="FF0000"/>
                </a:solidFill>
              </a:rPr>
              <a:t>2.   </a:t>
            </a:r>
            <a:r>
              <a:rPr lang="nl-NL" b="1" dirty="0" smtClean="0">
                <a:solidFill>
                  <a:srgbClr val="FF0000"/>
                </a:solidFill>
              </a:rPr>
              <a:t>∀x </a:t>
            </a:r>
            <a:r>
              <a:rPr lang="nl-NL" b="1" dirty="0" err="1" smtClean="0">
                <a:solidFill>
                  <a:srgbClr val="FF0000"/>
                </a:solidFill>
              </a:rPr>
              <a:t>Ax</a:t>
            </a:r>
            <a:r>
              <a:rPr lang="nl-NL" b="1" dirty="0" smtClean="0">
                <a:solidFill>
                  <a:srgbClr val="FF0000"/>
                </a:solidFill>
              </a:rPr>
              <a:t>  	</a:t>
            </a:r>
            <a:r>
              <a:rPr lang="nl-NL" dirty="0" smtClean="0">
                <a:solidFill>
                  <a:srgbClr val="FF0000"/>
                </a:solidFill>
              </a:rPr>
              <a:t>I ∀ (1) </a:t>
            </a:r>
            <a:r>
              <a:rPr lang="nl-NL" dirty="0" smtClean="0"/>
              <a:t>	 </a:t>
            </a:r>
            <a:endParaRPr lang="nl-NL" dirty="0"/>
          </a:p>
        </p:txBody>
      </p:sp>
      <p:sp>
        <p:nvSpPr>
          <p:cNvPr id="13" name="TextBox 12"/>
          <p:cNvSpPr txBox="1"/>
          <p:nvPr/>
        </p:nvSpPr>
        <p:spPr>
          <a:xfrm>
            <a:off x="3563888" y="1772816"/>
            <a:ext cx="2304256" cy="369332"/>
          </a:xfrm>
          <a:prstGeom prst="rect">
            <a:avLst/>
          </a:prstGeom>
          <a:noFill/>
        </p:spPr>
        <p:txBody>
          <a:bodyPr wrap="square" rtlCol="0">
            <a:spAutoFit/>
          </a:bodyPr>
          <a:lstStyle/>
          <a:p>
            <a:r>
              <a:rPr lang="nl-NL" dirty="0" smtClean="0"/>
              <a:t>Correcte afleiding?</a:t>
            </a:r>
            <a:endParaRPr lang="nl-NL" dirty="0"/>
          </a:p>
        </p:txBody>
      </p:sp>
      <p:sp>
        <p:nvSpPr>
          <p:cNvPr id="6" name="TextBox 5"/>
          <p:cNvSpPr txBox="1"/>
          <p:nvPr/>
        </p:nvSpPr>
        <p:spPr>
          <a:xfrm>
            <a:off x="3563888" y="2411596"/>
            <a:ext cx="3672408" cy="646331"/>
          </a:xfrm>
          <a:prstGeom prst="rect">
            <a:avLst/>
          </a:prstGeom>
          <a:noFill/>
        </p:spPr>
        <p:txBody>
          <a:bodyPr wrap="square" rtlCol="0">
            <a:spAutoFit/>
          </a:bodyPr>
          <a:lstStyle/>
          <a:p>
            <a:r>
              <a:rPr lang="nl-NL" dirty="0" smtClean="0">
                <a:solidFill>
                  <a:srgbClr val="FF0000"/>
                </a:solidFill>
              </a:rPr>
              <a:t>Nee</a:t>
            </a:r>
            <a:r>
              <a:rPr lang="nl-NL" dirty="0" smtClean="0"/>
              <a:t>, </a:t>
            </a:r>
            <a:r>
              <a:rPr lang="nl-NL" b="1" dirty="0" smtClean="0"/>
              <a:t>a</a:t>
            </a:r>
            <a:r>
              <a:rPr lang="nl-NL" dirty="0" smtClean="0"/>
              <a:t> komt immers voor in de premisse, en is dus niet willekeurig. </a:t>
            </a:r>
            <a:endParaRPr lang="nl-NL" dirty="0"/>
          </a:p>
        </p:txBody>
      </p:sp>
      <p:sp>
        <p:nvSpPr>
          <p:cNvPr id="7" name="Rectangle 6"/>
          <p:cNvSpPr/>
          <p:nvPr/>
        </p:nvSpPr>
        <p:spPr>
          <a:xfrm>
            <a:off x="251520" y="3430741"/>
            <a:ext cx="4176464" cy="923330"/>
          </a:xfrm>
          <a:prstGeom prst="rect">
            <a:avLst/>
          </a:prstGeom>
        </p:spPr>
        <p:txBody>
          <a:bodyPr wrap="square">
            <a:spAutoFit/>
          </a:bodyPr>
          <a:lstStyle/>
          <a:p>
            <a:r>
              <a:rPr lang="nl-NL" dirty="0" smtClean="0"/>
              <a:t>1.</a:t>
            </a:r>
            <a:r>
              <a:rPr lang="nl-NL" b="1" dirty="0" smtClean="0"/>
              <a:t>  ∀x </a:t>
            </a:r>
            <a:r>
              <a:rPr lang="nl-NL" b="1" dirty="0" err="1" smtClean="0"/>
              <a:t>Rxx</a:t>
            </a:r>
            <a:r>
              <a:rPr lang="nl-NL" b="1" dirty="0" smtClean="0"/>
              <a:t> 	</a:t>
            </a:r>
            <a:r>
              <a:rPr lang="nl-NL" dirty="0" smtClean="0"/>
              <a:t>Prem.</a:t>
            </a:r>
          </a:p>
          <a:p>
            <a:r>
              <a:rPr lang="nl-NL" dirty="0" smtClean="0"/>
              <a:t>2.  </a:t>
            </a:r>
            <a:r>
              <a:rPr lang="nl-NL" b="1" dirty="0" err="1" smtClean="0"/>
              <a:t>Raa</a:t>
            </a:r>
            <a:r>
              <a:rPr lang="nl-NL" b="1" dirty="0" smtClean="0"/>
              <a:t>  		</a:t>
            </a:r>
            <a:r>
              <a:rPr lang="nl-NL" dirty="0" smtClean="0"/>
              <a:t>G ∀ (1)</a:t>
            </a:r>
          </a:p>
          <a:p>
            <a:r>
              <a:rPr lang="nl-NL" dirty="0" smtClean="0"/>
              <a:t>3.  </a:t>
            </a:r>
            <a:r>
              <a:rPr lang="nl-NL" b="1" dirty="0" smtClean="0"/>
              <a:t>∀x </a:t>
            </a:r>
            <a:r>
              <a:rPr lang="nl-NL" b="1" dirty="0" err="1" smtClean="0"/>
              <a:t>Rxa</a:t>
            </a:r>
            <a:r>
              <a:rPr lang="nl-NL" b="1" dirty="0" smtClean="0"/>
              <a:t>	</a:t>
            </a:r>
            <a:r>
              <a:rPr lang="nl-NL" dirty="0" smtClean="0"/>
              <a:t>I ∀ (2) 	 </a:t>
            </a:r>
            <a:endParaRPr lang="nl-NL" dirty="0"/>
          </a:p>
        </p:txBody>
      </p:sp>
      <p:sp>
        <p:nvSpPr>
          <p:cNvPr id="12" name="TextBox 11"/>
          <p:cNvSpPr txBox="1"/>
          <p:nvPr/>
        </p:nvSpPr>
        <p:spPr>
          <a:xfrm>
            <a:off x="3563888" y="3429000"/>
            <a:ext cx="2304256" cy="369332"/>
          </a:xfrm>
          <a:prstGeom prst="rect">
            <a:avLst/>
          </a:prstGeom>
          <a:noFill/>
        </p:spPr>
        <p:txBody>
          <a:bodyPr wrap="square" rtlCol="0">
            <a:spAutoFit/>
          </a:bodyPr>
          <a:lstStyle/>
          <a:p>
            <a:r>
              <a:rPr lang="nl-NL" dirty="0" smtClean="0"/>
              <a:t>Correcte afleiding?</a:t>
            </a:r>
            <a:endParaRPr lang="nl-NL" dirty="0"/>
          </a:p>
        </p:txBody>
      </p:sp>
    </p:spTree>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r>
              <a:rPr lang="nl-NL" sz="3600" dirty="0" smtClean="0"/>
              <a:t>   </a:t>
            </a:r>
            <a:endParaRPr lang="nl-NL" sz="3600" dirty="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23528" y="1772816"/>
            <a:ext cx="4176464" cy="646331"/>
          </a:xfrm>
          <a:prstGeom prst="rect">
            <a:avLst/>
          </a:prstGeom>
        </p:spPr>
        <p:txBody>
          <a:bodyPr wrap="square">
            <a:spAutoFit/>
          </a:bodyPr>
          <a:lstStyle/>
          <a:p>
            <a:r>
              <a:rPr lang="nl-NL" dirty="0" smtClean="0"/>
              <a:t>1.</a:t>
            </a:r>
            <a:r>
              <a:rPr lang="nl-NL" b="1" dirty="0" smtClean="0"/>
              <a:t>   Aa		</a:t>
            </a:r>
            <a:r>
              <a:rPr lang="nl-NL" dirty="0" smtClean="0"/>
              <a:t>Prem.</a:t>
            </a:r>
          </a:p>
          <a:p>
            <a:r>
              <a:rPr lang="nl-NL" dirty="0" smtClean="0">
                <a:solidFill>
                  <a:srgbClr val="FF0000"/>
                </a:solidFill>
              </a:rPr>
              <a:t>2.   </a:t>
            </a:r>
            <a:r>
              <a:rPr lang="nl-NL" b="1" dirty="0" smtClean="0">
                <a:solidFill>
                  <a:srgbClr val="FF0000"/>
                </a:solidFill>
              </a:rPr>
              <a:t>∀x </a:t>
            </a:r>
            <a:r>
              <a:rPr lang="nl-NL" b="1" dirty="0" err="1" smtClean="0">
                <a:solidFill>
                  <a:srgbClr val="FF0000"/>
                </a:solidFill>
              </a:rPr>
              <a:t>Ax</a:t>
            </a:r>
            <a:r>
              <a:rPr lang="nl-NL" b="1" dirty="0" smtClean="0">
                <a:solidFill>
                  <a:srgbClr val="FF0000"/>
                </a:solidFill>
              </a:rPr>
              <a:t>  	</a:t>
            </a:r>
            <a:r>
              <a:rPr lang="nl-NL" dirty="0" smtClean="0">
                <a:solidFill>
                  <a:srgbClr val="FF0000"/>
                </a:solidFill>
              </a:rPr>
              <a:t>I ∀ (1) </a:t>
            </a:r>
            <a:r>
              <a:rPr lang="nl-NL" dirty="0" smtClean="0"/>
              <a:t>	 </a:t>
            </a:r>
            <a:endParaRPr lang="nl-NL" dirty="0"/>
          </a:p>
        </p:txBody>
      </p:sp>
      <p:sp>
        <p:nvSpPr>
          <p:cNvPr id="13" name="TextBox 12"/>
          <p:cNvSpPr txBox="1"/>
          <p:nvPr/>
        </p:nvSpPr>
        <p:spPr>
          <a:xfrm>
            <a:off x="3563888" y="1772816"/>
            <a:ext cx="2304256" cy="369332"/>
          </a:xfrm>
          <a:prstGeom prst="rect">
            <a:avLst/>
          </a:prstGeom>
          <a:noFill/>
        </p:spPr>
        <p:txBody>
          <a:bodyPr wrap="square" rtlCol="0">
            <a:spAutoFit/>
          </a:bodyPr>
          <a:lstStyle/>
          <a:p>
            <a:r>
              <a:rPr lang="nl-NL" dirty="0" smtClean="0"/>
              <a:t>Correcte afleiding?</a:t>
            </a:r>
            <a:endParaRPr lang="nl-NL" dirty="0"/>
          </a:p>
        </p:txBody>
      </p:sp>
      <p:sp>
        <p:nvSpPr>
          <p:cNvPr id="6" name="TextBox 5"/>
          <p:cNvSpPr txBox="1"/>
          <p:nvPr/>
        </p:nvSpPr>
        <p:spPr>
          <a:xfrm>
            <a:off x="3563888" y="2411596"/>
            <a:ext cx="3672408" cy="646331"/>
          </a:xfrm>
          <a:prstGeom prst="rect">
            <a:avLst/>
          </a:prstGeom>
          <a:noFill/>
        </p:spPr>
        <p:txBody>
          <a:bodyPr wrap="square" rtlCol="0">
            <a:spAutoFit/>
          </a:bodyPr>
          <a:lstStyle/>
          <a:p>
            <a:r>
              <a:rPr lang="nl-NL" dirty="0" smtClean="0">
                <a:solidFill>
                  <a:srgbClr val="FF0000"/>
                </a:solidFill>
              </a:rPr>
              <a:t>Nee</a:t>
            </a:r>
            <a:r>
              <a:rPr lang="nl-NL" dirty="0" smtClean="0"/>
              <a:t>, </a:t>
            </a:r>
            <a:r>
              <a:rPr lang="nl-NL" b="1" dirty="0" smtClean="0"/>
              <a:t>a</a:t>
            </a:r>
            <a:r>
              <a:rPr lang="nl-NL" dirty="0" smtClean="0"/>
              <a:t> komt immers voor in de premisse, en is dus niet willekeurig. </a:t>
            </a:r>
            <a:endParaRPr lang="nl-NL" dirty="0"/>
          </a:p>
        </p:txBody>
      </p:sp>
      <p:sp>
        <p:nvSpPr>
          <p:cNvPr id="7" name="Rectangle 6"/>
          <p:cNvSpPr/>
          <p:nvPr/>
        </p:nvSpPr>
        <p:spPr>
          <a:xfrm>
            <a:off x="251520" y="3430741"/>
            <a:ext cx="4176464" cy="923330"/>
          </a:xfrm>
          <a:prstGeom prst="rect">
            <a:avLst/>
          </a:prstGeom>
        </p:spPr>
        <p:txBody>
          <a:bodyPr wrap="square">
            <a:spAutoFit/>
          </a:bodyPr>
          <a:lstStyle/>
          <a:p>
            <a:r>
              <a:rPr lang="nl-NL" dirty="0" smtClean="0"/>
              <a:t>1.</a:t>
            </a:r>
            <a:r>
              <a:rPr lang="nl-NL" b="1" dirty="0" smtClean="0"/>
              <a:t>  ∀x </a:t>
            </a:r>
            <a:r>
              <a:rPr lang="nl-NL" b="1" dirty="0" err="1" smtClean="0"/>
              <a:t>Rxx</a:t>
            </a:r>
            <a:r>
              <a:rPr lang="nl-NL" b="1" dirty="0" smtClean="0"/>
              <a:t> 	</a:t>
            </a:r>
            <a:r>
              <a:rPr lang="nl-NL" dirty="0" smtClean="0"/>
              <a:t>Prem.</a:t>
            </a:r>
          </a:p>
          <a:p>
            <a:r>
              <a:rPr lang="nl-NL" dirty="0" smtClean="0"/>
              <a:t>2.  </a:t>
            </a:r>
            <a:r>
              <a:rPr lang="nl-NL" b="1" dirty="0" err="1" smtClean="0"/>
              <a:t>Raa</a:t>
            </a:r>
            <a:r>
              <a:rPr lang="nl-NL" b="1" dirty="0" smtClean="0"/>
              <a:t>  		</a:t>
            </a:r>
            <a:r>
              <a:rPr lang="nl-NL" dirty="0" smtClean="0"/>
              <a:t>G ∀ (1)</a:t>
            </a:r>
          </a:p>
          <a:p>
            <a:r>
              <a:rPr lang="nl-NL" dirty="0" smtClean="0">
                <a:solidFill>
                  <a:srgbClr val="FF0000"/>
                </a:solidFill>
              </a:rPr>
              <a:t>3. </a:t>
            </a:r>
            <a:r>
              <a:rPr lang="nl-NL" dirty="0" smtClean="0"/>
              <a:t> </a:t>
            </a:r>
            <a:r>
              <a:rPr lang="nl-NL" b="1" dirty="0" smtClean="0">
                <a:solidFill>
                  <a:srgbClr val="FF0000"/>
                </a:solidFill>
              </a:rPr>
              <a:t>∀x </a:t>
            </a:r>
            <a:r>
              <a:rPr lang="nl-NL" b="1" dirty="0" err="1" smtClean="0">
                <a:solidFill>
                  <a:srgbClr val="FF0000"/>
                </a:solidFill>
              </a:rPr>
              <a:t>Rxa</a:t>
            </a:r>
            <a:r>
              <a:rPr lang="nl-NL" b="1" dirty="0" smtClean="0">
                <a:solidFill>
                  <a:srgbClr val="FF0000"/>
                </a:solidFill>
              </a:rPr>
              <a:t>	</a:t>
            </a:r>
            <a:r>
              <a:rPr lang="nl-NL" dirty="0" smtClean="0">
                <a:solidFill>
                  <a:srgbClr val="FF0000"/>
                </a:solidFill>
              </a:rPr>
              <a:t>I ∀ (2) </a:t>
            </a:r>
            <a:r>
              <a:rPr lang="nl-NL" dirty="0" smtClean="0"/>
              <a:t>	 </a:t>
            </a:r>
            <a:endParaRPr lang="nl-NL" dirty="0"/>
          </a:p>
        </p:txBody>
      </p:sp>
      <p:sp>
        <p:nvSpPr>
          <p:cNvPr id="12" name="TextBox 11"/>
          <p:cNvSpPr txBox="1"/>
          <p:nvPr/>
        </p:nvSpPr>
        <p:spPr>
          <a:xfrm>
            <a:off x="3563888" y="3429000"/>
            <a:ext cx="2304256" cy="369332"/>
          </a:xfrm>
          <a:prstGeom prst="rect">
            <a:avLst/>
          </a:prstGeom>
          <a:noFill/>
        </p:spPr>
        <p:txBody>
          <a:bodyPr wrap="square" rtlCol="0">
            <a:spAutoFit/>
          </a:bodyPr>
          <a:lstStyle/>
          <a:p>
            <a:r>
              <a:rPr lang="nl-NL" dirty="0" smtClean="0"/>
              <a:t>Correcte afleiding?</a:t>
            </a:r>
            <a:endParaRPr lang="nl-NL" dirty="0"/>
          </a:p>
        </p:txBody>
      </p:sp>
      <p:sp>
        <p:nvSpPr>
          <p:cNvPr id="11" name="TextBox 10"/>
          <p:cNvSpPr txBox="1"/>
          <p:nvPr/>
        </p:nvSpPr>
        <p:spPr>
          <a:xfrm>
            <a:off x="3563888" y="4222829"/>
            <a:ext cx="4680520" cy="1200329"/>
          </a:xfrm>
          <a:prstGeom prst="rect">
            <a:avLst/>
          </a:prstGeom>
          <a:noFill/>
        </p:spPr>
        <p:txBody>
          <a:bodyPr wrap="square" rtlCol="0">
            <a:spAutoFit/>
          </a:bodyPr>
          <a:lstStyle/>
          <a:p>
            <a:r>
              <a:rPr lang="nl-NL" dirty="0" smtClean="0">
                <a:solidFill>
                  <a:srgbClr val="FF0000"/>
                </a:solidFill>
              </a:rPr>
              <a:t>Nee</a:t>
            </a:r>
            <a:r>
              <a:rPr lang="nl-NL" dirty="0" smtClean="0"/>
              <a:t>, </a:t>
            </a:r>
            <a:r>
              <a:rPr lang="nl-NL" b="1" dirty="0" smtClean="0"/>
              <a:t>a</a:t>
            </a:r>
            <a:r>
              <a:rPr lang="nl-NL" dirty="0" smtClean="0"/>
              <a:t> komt immers voor in </a:t>
            </a:r>
            <a:r>
              <a:rPr lang="nl-NL" b="1" dirty="0" smtClean="0"/>
              <a:t>∀x </a:t>
            </a:r>
            <a:r>
              <a:rPr lang="nl-NL" b="1" dirty="0" err="1" smtClean="0"/>
              <a:t>Rxa</a:t>
            </a:r>
            <a:r>
              <a:rPr lang="nl-NL" dirty="0" smtClean="0"/>
              <a:t>, en dat mag ook niet. We dienen dus altijd </a:t>
            </a:r>
            <a:r>
              <a:rPr lang="nl-NL" i="1" dirty="0" smtClean="0"/>
              <a:t>alle</a:t>
            </a:r>
            <a:r>
              <a:rPr lang="nl-NL" dirty="0" smtClean="0"/>
              <a:t> voorkomens van </a:t>
            </a:r>
            <a:r>
              <a:rPr lang="nl-NL" b="1" dirty="0" smtClean="0"/>
              <a:t>a</a:t>
            </a:r>
            <a:r>
              <a:rPr lang="nl-NL" dirty="0" smtClean="0"/>
              <a:t> te vervangen door een individuvariabele als we de introductieregel voo</a:t>
            </a:r>
            <a:r>
              <a:rPr lang="nl-NL" b="1" dirty="0" smtClean="0"/>
              <a:t>r </a:t>
            </a:r>
            <a:r>
              <a:rPr lang="nl-NL" dirty="0" smtClean="0"/>
              <a:t>∀ toepassen.</a:t>
            </a:r>
            <a:endParaRPr lang="nl-NL" dirty="0"/>
          </a:p>
        </p:txBody>
      </p:sp>
    </p:spTree>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837835"/>
            <a:ext cx="7848872" cy="2031325"/>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 </a:t>
            </a:r>
            <a:r>
              <a:rPr lang="nl-NL" b="1" dirty="0" err="1" smtClean="0"/>
              <a:t>Bx</a:t>
            </a:r>
            <a:r>
              <a:rPr lang="nl-NL" b="1" dirty="0" smtClean="0"/>
              <a:t>) 			</a:t>
            </a:r>
            <a:r>
              <a:rPr lang="nl-NL" dirty="0" smtClean="0"/>
              <a:t>Prem.</a:t>
            </a:r>
          </a:p>
          <a:p>
            <a:r>
              <a:rPr lang="nl-NL" dirty="0" smtClean="0"/>
              <a:t>2.  </a:t>
            </a:r>
            <a:r>
              <a:rPr lang="nl-NL" b="1" dirty="0" smtClean="0"/>
              <a:t>Aa ∧  Ba</a:t>
            </a:r>
            <a:r>
              <a:rPr lang="nl-NL" dirty="0" smtClean="0"/>
              <a:t>	</a:t>
            </a:r>
            <a:r>
              <a:rPr lang="nl-NL" b="1" dirty="0" smtClean="0"/>
              <a:t>	 	</a:t>
            </a:r>
            <a:r>
              <a:rPr lang="nl-NL" dirty="0" smtClean="0"/>
              <a:t>G ∀ (1)</a:t>
            </a:r>
          </a:p>
          <a:p>
            <a:r>
              <a:rPr lang="nl-NL" dirty="0" smtClean="0"/>
              <a:t>3.  </a:t>
            </a:r>
            <a:r>
              <a:rPr lang="nl-NL" b="1" dirty="0" smtClean="0"/>
              <a:t>Aa 			</a:t>
            </a:r>
            <a:r>
              <a:rPr lang="nl-NL" dirty="0" smtClean="0"/>
              <a:t>	G ∧ (2)</a:t>
            </a:r>
            <a:r>
              <a:rPr lang="nl-NL" b="1" dirty="0" smtClean="0"/>
              <a:t> 	</a:t>
            </a:r>
            <a:endParaRPr lang="nl-NL" dirty="0" smtClean="0"/>
          </a:p>
          <a:p>
            <a:r>
              <a:rPr lang="nl-NL" dirty="0" smtClean="0"/>
              <a:t>4.  </a:t>
            </a:r>
            <a:r>
              <a:rPr lang="nl-NL" b="1" dirty="0" smtClean="0"/>
              <a:t>∀x </a:t>
            </a:r>
            <a:r>
              <a:rPr lang="nl-NL" b="1" dirty="0" err="1" smtClean="0"/>
              <a:t>Ax</a:t>
            </a:r>
            <a:r>
              <a:rPr lang="nl-NL" b="1" dirty="0" smtClean="0"/>
              <a:t> 				</a:t>
            </a:r>
            <a:r>
              <a:rPr lang="nl-NL" dirty="0" smtClean="0"/>
              <a:t>I ∀ (3)</a:t>
            </a:r>
          </a:p>
          <a:p>
            <a:r>
              <a:rPr lang="nl-NL" dirty="0" smtClean="0"/>
              <a:t>5.  </a:t>
            </a:r>
            <a:r>
              <a:rPr lang="nl-NL" b="1" dirty="0" smtClean="0"/>
              <a:t>Ba				</a:t>
            </a:r>
            <a:r>
              <a:rPr lang="nl-NL" dirty="0" smtClean="0"/>
              <a:t>G ∧ (2)</a:t>
            </a:r>
            <a:r>
              <a:rPr lang="nl-NL" b="1" dirty="0" smtClean="0"/>
              <a:t> </a:t>
            </a:r>
            <a:endParaRPr lang="nl-NL" dirty="0" smtClean="0"/>
          </a:p>
          <a:p>
            <a:r>
              <a:rPr lang="nl-NL" dirty="0" smtClean="0"/>
              <a:t>6.  </a:t>
            </a:r>
            <a:r>
              <a:rPr lang="nl-NL" b="1" dirty="0" smtClean="0"/>
              <a:t>∀y </a:t>
            </a:r>
            <a:r>
              <a:rPr lang="nl-NL" b="1" dirty="0" err="1" smtClean="0"/>
              <a:t>By</a:t>
            </a:r>
            <a:r>
              <a:rPr lang="nl-NL" b="1" dirty="0" smtClean="0"/>
              <a:t> 				</a:t>
            </a:r>
            <a:r>
              <a:rPr lang="nl-NL" dirty="0" smtClean="0"/>
              <a:t>I ∀ (5)</a:t>
            </a:r>
            <a:endParaRPr lang="nl-NL" b="1" dirty="0" smtClean="0"/>
          </a:p>
          <a:p>
            <a:r>
              <a:rPr lang="nl-NL" dirty="0" smtClean="0"/>
              <a:t>7.  </a:t>
            </a:r>
            <a:r>
              <a:rPr lang="nl-NL" b="1" dirty="0" smtClean="0"/>
              <a:t>∀x </a:t>
            </a:r>
            <a:r>
              <a:rPr lang="nl-NL" b="1" dirty="0" err="1" smtClean="0"/>
              <a:t>Ax</a:t>
            </a:r>
            <a:r>
              <a:rPr lang="nl-NL" b="1" dirty="0" smtClean="0"/>
              <a:t>  ∧  ∀y </a:t>
            </a:r>
            <a:r>
              <a:rPr lang="nl-NL" b="1" dirty="0" err="1" smtClean="0"/>
              <a:t>By</a:t>
            </a:r>
            <a:r>
              <a:rPr lang="nl-NL" b="1" dirty="0" smtClean="0"/>
              <a:t> 			</a:t>
            </a:r>
            <a:r>
              <a:rPr lang="nl-NL" dirty="0" smtClean="0"/>
              <a:t>I ∧ (4,6)</a:t>
            </a:r>
            <a:r>
              <a:rPr lang="nl-NL" b="1" dirty="0" smtClean="0"/>
              <a:t> 	</a:t>
            </a:r>
          </a:p>
        </p:txBody>
      </p:sp>
      <p:sp>
        <p:nvSpPr>
          <p:cNvPr id="20" name="Rectangle 19"/>
          <p:cNvSpPr/>
          <p:nvPr/>
        </p:nvSpPr>
        <p:spPr>
          <a:xfrm>
            <a:off x="395536" y="1846565"/>
            <a:ext cx="7848872" cy="369332"/>
          </a:xfrm>
          <a:prstGeom prst="rect">
            <a:avLst/>
          </a:prstGeom>
        </p:spPr>
        <p:txBody>
          <a:bodyPr wrap="square">
            <a:spAutoFit/>
          </a:bodyPr>
          <a:lstStyle/>
          <a:p>
            <a:r>
              <a:rPr lang="nl-NL" b="1" dirty="0" smtClean="0"/>
              <a:t>∀x (</a:t>
            </a:r>
            <a:r>
              <a:rPr lang="nl-NL" b="1" dirty="0" err="1" smtClean="0"/>
              <a:t>Ax</a:t>
            </a:r>
            <a:r>
              <a:rPr lang="nl-NL" b="1" dirty="0" smtClean="0"/>
              <a:t> ∧ </a:t>
            </a:r>
            <a:r>
              <a:rPr lang="nl-NL" b="1" dirty="0" err="1" smtClean="0"/>
              <a:t>Bx</a:t>
            </a:r>
            <a:r>
              <a:rPr lang="nl-NL" b="1" dirty="0" smtClean="0"/>
              <a:t>)   Ⱶ    ∀x </a:t>
            </a:r>
            <a:r>
              <a:rPr lang="nl-NL" b="1" dirty="0" err="1" smtClean="0"/>
              <a:t>Ax</a:t>
            </a:r>
            <a:r>
              <a:rPr lang="nl-NL" b="1" dirty="0" smtClean="0"/>
              <a:t>  ∧  ∀y </a:t>
            </a:r>
            <a:r>
              <a:rPr lang="nl-NL" b="1" dirty="0" err="1" smtClean="0"/>
              <a:t>By</a:t>
            </a:r>
            <a:r>
              <a:rPr lang="nl-NL" dirty="0" smtClean="0"/>
              <a:t>     </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898810"/>
            <a:ext cx="7848872" cy="1754326"/>
          </a:xfrm>
          <a:prstGeom prst="rect">
            <a:avLst/>
          </a:prstGeom>
        </p:spPr>
        <p:txBody>
          <a:bodyPr wrap="square">
            <a:spAutoFit/>
          </a:bodyPr>
          <a:lstStyle/>
          <a:p>
            <a:r>
              <a:rPr lang="nl-NL" dirty="0" smtClean="0"/>
              <a:t>1.</a:t>
            </a:r>
            <a:r>
              <a:rPr lang="nl-NL" b="1" dirty="0" smtClean="0"/>
              <a:t>  ∀x ∀y </a:t>
            </a:r>
            <a:r>
              <a:rPr lang="nl-NL" b="1" dirty="0" err="1" smtClean="0"/>
              <a:t>Bxy</a:t>
            </a:r>
            <a:r>
              <a:rPr lang="nl-NL" b="1" dirty="0" smtClean="0"/>
              <a:t> 			</a:t>
            </a:r>
            <a:r>
              <a:rPr lang="nl-NL" dirty="0" err="1" smtClean="0"/>
              <a:t>Ass</a:t>
            </a:r>
            <a:r>
              <a:rPr lang="nl-NL" dirty="0" smtClean="0"/>
              <a:t>.</a:t>
            </a:r>
          </a:p>
          <a:p>
            <a:r>
              <a:rPr lang="nl-NL" dirty="0" smtClean="0"/>
              <a:t>2.  </a:t>
            </a:r>
            <a:r>
              <a:rPr lang="nl-NL" b="1" dirty="0" smtClean="0"/>
              <a:t>∀y </a:t>
            </a:r>
            <a:r>
              <a:rPr lang="nl-NL" b="1" dirty="0" err="1" smtClean="0"/>
              <a:t>Bay</a:t>
            </a:r>
            <a:r>
              <a:rPr lang="nl-NL" b="1" dirty="0" smtClean="0"/>
              <a:t> 	 		</a:t>
            </a:r>
            <a:r>
              <a:rPr lang="nl-NL" dirty="0" smtClean="0"/>
              <a:t>G ∀ (1)</a:t>
            </a:r>
          </a:p>
          <a:p>
            <a:r>
              <a:rPr lang="nl-NL" dirty="0" smtClean="0"/>
              <a:t>3.  </a:t>
            </a:r>
            <a:r>
              <a:rPr lang="nl-NL" b="1" dirty="0" err="1" smtClean="0"/>
              <a:t>Bab</a:t>
            </a:r>
            <a:r>
              <a:rPr lang="nl-NL" b="1" dirty="0" smtClean="0"/>
              <a:t>	 		</a:t>
            </a:r>
            <a:r>
              <a:rPr lang="nl-NL" dirty="0" smtClean="0"/>
              <a:t>	G ∀ (2)</a:t>
            </a:r>
            <a:r>
              <a:rPr lang="nl-NL" b="1" dirty="0" smtClean="0"/>
              <a:t> 	</a:t>
            </a:r>
            <a:endParaRPr lang="nl-NL" dirty="0" smtClean="0"/>
          </a:p>
          <a:p>
            <a:r>
              <a:rPr lang="nl-NL" dirty="0" smtClean="0"/>
              <a:t>4.  </a:t>
            </a:r>
            <a:r>
              <a:rPr lang="nl-NL" b="1" dirty="0" smtClean="0"/>
              <a:t>∃y </a:t>
            </a:r>
            <a:r>
              <a:rPr lang="nl-NL" b="1" dirty="0" err="1" smtClean="0"/>
              <a:t>Bay</a:t>
            </a:r>
            <a:r>
              <a:rPr lang="nl-NL" b="1" dirty="0" smtClean="0"/>
              <a:t> 			</a:t>
            </a:r>
            <a:r>
              <a:rPr lang="nl-NL" dirty="0" smtClean="0"/>
              <a:t>I ∃ (3)</a:t>
            </a:r>
            <a:r>
              <a:rPr lang="nl-NL" b="1" dirty="0" smtClean="0"/>
              <a:t> </a:t>
            </a:r>
            <a:endParaRPr lang="nl-NL" dirty="0" smtClean="0"/>
          </a:p>
          <a:p>
            <a:r>
              <a:rPr lang="nl-NL" dirty="0" smtClean="0"/>
              <a:t>5.  </a:t>
            </a:r>
            <a:r>
              <a:rPr lang="nl-NL" b="1" dirty="0" smtClean="0"/>
              <a:t>∀x ∃y </a:t>
            </a:r>
            <a:r>
              <a:rPr lang="nl-NL" b="1" dirty="0" err="1" smtClean="0"/>
              <a:t>Bxy</a:t>
            </a:r>
            <a:r>
              <a:rPr lang="nl-NL" b="1" dirty="0" smtClean="0"/>
              <a:t> 			</a:t>
            </a:r>
            <a:r>
              <a:rPr lang="nl-NL" dirty="0" smtClean="0"/>
              <a:t>I ∀ (4) </a:t>
            </a:r>
          </a:p>
          <a:p>
            <a:r>
              <a:rPr lang="nl-NL" dirty="0" smtClean="0"/>
              <a:t>6.  </a:t>
            </a:r>
            <a:r>
              <a:rPr lang="nl-NL" b="1" dirty="0" smtClean="0"/>
              <a:t>∀x ∀y </a:t>
            </a:r>
            <a:r>
              <a:rPr lang="nl-NL" b="1" dirty="0" err="1" smtClean="0"/>
              <a:t>Bxy</a:t>
            </a:r>
            <a:r>
              <a:rPr lang="nl-NL" b="1" dirty="0" smtClean="0"/>
              <a:t> → ∀x ∃y </a:t>
            </a:r>
            <a:r>
              <a:rPr lang="nl-NL" b="1" dirty="0" err="1" smtClean="0"/>
              <a:t>Bxy</a:t>
            </a:r>
            <a:r>
              <a:rPr lang="nl-NL" b="1" dirty="0" smtClean="0"/>
              <a:t> 		</a:t>
            </a:r>
            <a:r>
              <a:rPr lang="nl-NL" dirty="0" smtClean="0"/>
              <a:t>I → (1,5)</a:t>
            </a:r>
            <a:r>
              <a:rPr lang="nl-NL" b="1" dirty="0" smtClean="0"/>
              <a:t> 	</a:t>
            </a:r>
            <a:endParaRPr lang="nl-NL" dirty="0"/>
          </a:p>
        </p:txBody>
      </p:sp>
      <p:cxnSp>
        <p:nvCxnSpPr>
          <p:cNvPr id="13" name="Straight Connector 12"/>
          <p:cNvCxnSpPr/>
          <p:nvPr/>
        </p:nvCxnSpPr>
        <p:spPr>
          <a:xfrm flipH="1">
            <a:off x="323528" y="2970818"/>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3528" y="2970818"/>
            <a:ext cx="0" cy="136815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23528" y="4338970"/>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5536" y="1846565"/>
            <a:ext cx="7848872" cy="369332"/>
          </a:xfrm>
          <a:prstGeom prst="rect">
            <a:avLst/>
          </a:prstGeom>
        </p:spPr>
        <p:txBody>
          <a:bodyPr wrap="square">
            <a:spAutoFit/>
          </a:bodyPr>
          <a:lstStyle/>
          <a:p>
            <a:r>
              <a:rPr lang="nl-NL" b="1" dirty="0" smtClean="0"/>
              <a:t>      Ⱶ  ∀x ∀y </a:t>
            </a:r>
            <a:r>
              <a:rPr lang="nl-NL" b="1" dirty="0" err="1" smtClean="0"/>
              <a:t>Bxy</a:t>
            </a:r>
            <a:r>
              <a:rPr lang="nl-NL" b="1" dirty="0" smtClean="0"/>
              <a:t> → ∀x ∃y </a:t>
            </a:r>
            <a:r>
              <a:rPr lang="nl-NL" b="1" dirty="0" err="1" smtClean="0"/>
              <a:t>Bxy</a:t>
            </a:r>
            <a:r>
              <a:rPr lang="nl-NL" b="1" dirty="0" smtClean="0"/>
              <a:t>  	</a:t>
            </a:r>
            <a:r>
              <a:rPr lang="nl-NL" dirty="0" smtClean="0"/>
              <a:t>     </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898810"/>
            <a:ext cx="7848872" cy="2031325"/>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¬Aa	 	 		</a:t>
            </a:r>
            <a:r>
              <a:rPr lang="nl-NL" dirty="0" err="1" smtClean="0"/>
              <a:t>Ass</a:t>
            </a:r>
            <a:r>
              <a:rPr lang="nl-NL" dirty="0" smtClean="0"/>
              <a:t>.</a:t>
            </a:r>
          </a:p>
          <a:p>
            <a:r>
              <a:rPr lang="nl-NL" dirty="0" smtClean="0"/>
              <a:t>3. </a:t>
            </a:r>
            <a:r>
              <a:rPr lang="nl-NL" b="1" dirty="0" smtClean="0"/>
              <a:t>∃x ¬</a:t>
            </a:r>
            <a:r>
              <a:rPr lang="nl-NL" b="1" dirty="0" err="1" smtClean="0"/>
              <a:t>Ax</a:t>
            </a:r>
            <a:r>
              <a:rPr lang="nl-NL" b="1" dirty="0" smtClean="0"/>
              <a:t> 	 		</a:t>
            </a:r>
            <a:r>
              <a:rPr lang="nl-NL" dirty="0" smtClean="0"/>
              <a:t>I ∃ (2)</a:t>
            </a:r>
            <a:r>
              <a:rPr lang="nl-NL" b="1" dirty="0" smtClean="0"/>
              <a:t> 	</a:t>
            </a:r>
            <a:endParaRPr lang="nl-NL" dirty="0" smtClean="0"/>
          </a:p>
          <a:p>
            <a:r>
              <a:rPr lang="nl-NL" dirty="0" smtClean="0"/>
              <a:t>4. </a:t>
            </a:r>
            <a:r>
              <a:rPr lang="nl-NL" b="1" dirty="0" smtClean="0"/>
              <a:t>∃x ¬</a:t>
            </a:r>
            <a:r>
              <a:rPr lang="nl-NL" b="1" dirty="0" err="1" smtClean="0"/>
              <a:t>Ax</a:t>
            </a:r>
            <a:r>
              <a:rPr lang="nl-NL" b="1" dirty="0" smtClean="0"/>
              <a:t> ∧ ¬∃x ¬</a:t>
            </a:r>
            <a:r>
              <a:rPr lang="nl-NL" b="1" dirty="0" err="1" smtClean="0"/>
              <a:t>Ax</a:t>
            </a:r>
            <a:r>
              <a:rPr lang="nl-NL" b="1" dirty="0" smtClean="0"/>
              <a:t> 		</a:t>
            </a:r>
            <a:r>
              <a:rPr lang="nl-NL" dirty="0" smtClean="0"/>
              <a:t>I ∧ (1,3)</a:t>
            </a:r>
            <a:r>
              <a:rPr lang="nl-NL" b="1" dirty="0" smtClean="0"/>
              <a:t> </a:t>
            </a:r>
            <a:endParaRPr lang="nl-NL" dirty="0" smtClean="0"/>
          </a:p>
          <a:p>
            <a:r>
              <a:rPr lang="nl-NL" dirty="0" smtClean="0"/>
              <a:t>5. </a:t>
            </a:r>
            <a:r>
              <a:rPr lang="nl-NL" b="1" dirty="0" smtClean="0"/>
              <a:t>¬¬Aa	 			</a:t>
            </a:r>
            <a:r>
              <a:rPr lang="nl-NL" dirty="0" smtClean="0"/>
              <a:t>I ¬ (2,4) </a:t>
            </a:r>
          </a:p>
          <a:p>
            <a:r>
              <a:rPr lang="nl-NL" dirty="0" smtClean="0"/>
              <a:t>6. </a:t>
            </a:r>
            <a:r>
              <a:rPr lang="nl-NL" b="1" dirty="0" smtClean="0"/>
              <a:t>Aa</a:t>
            </a:r>
            <a:r>
              <a:rPr lang="nl-NL" dirty="0" smtClean="0"/>
              <a:t>		</a:t>
            </a:r>
            <a:r>
              <a:rPr lang="nl-NL" b="1" dirty="0" smtClean="0"/>
              <a:t>		</a:t>
            </a:r>
            <a:r>
              <a:rPr lang="nl-NL" dirty="0" err="1" smtClean="0"/>
              <a:t>Elim</a:t>
            </a:r>
            <a:r>
              <a:rPr lang="nl-NL" dirty="0" smtClean="0"/>
              <a:t>¬¬(5)</a:t>
            </a:r>
            <a:r>
              <a:rPr lang="nl-NL" b="1" dirty="0" smtClean="0"/>
              <a:t>	</a:t>
            </a:r>
          </a:p>
          <a:p>
            <a:r>
              <a:rPr lang="nl-NL" dirty="0" smtClean="0"/>
              <a:t>7. </a:t>
            </a:r>
            <a:r>
              <a:rPr lang="nl-NL" b="1" dirty="0" smtClean="0"/>
              <a:t>∀x </a:t>
            </a:r>
            <a:r>
              <a:rPr lang="nl-NL" b="1" dirty="0" err="1" smtClean="0"/>
              <a:t>Ax</a:t>
            </a:r>
            <a:r>
              <a:rPr lang="nl-NL" b="1" dirty="0" smtClean="0"/>
              <a:t>				</a:t>
            </a:r>
            <a:r>
              <a:rPr lang="nl-NL" dirty="0" smtClean="0"/>
              <a:t>I ∀(6)</a:t>
            </a:r>
            <a:endParaRPr lang="nl-NL" dirty="0"/>
          </a:p>
        </p:txBody>
      </p:sp>
      <p:cxnSp>
        <p:nvCxnSpPr>
          <p:cNvPr id="13" name="Straight Connector 12"/>
          <p:cNvCxnSpPr/>
          <p:nvPr/>
        </p:nvCxnSpPr>
        <p:spPr>
          <a:xfrm flipH="1">
            <a:off x="323528" y="3212976"/>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323528"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323528" y="4077072"/>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395536" y="1846565"/>
            <a:ext cx="7848872" cy="369332"/>
          </a:xfrm>
          <a:prstGeom prst="rect">
            <a:avLst/>
          </a:prstGeom>
        </p:spPr>
        <p:txBody>
          <a:bodyPr wrap="square">
            <a:spAutoFit/>
          </a:bodyPr>
          <a:lstStyle/>
          <a:p>
            <a:r>
              <a:rPr lang="nl-NL" b="1" dirty="0" smtClean="0"/>
              <a:t> ¬∃x ¬</a:t>
            </a:r>
            <a:r>
              <a:rPr lang="nl-NL" b="1" dirty="0" err="1" smtClean="0"/>
              <a:t>Ax</a:t>
            </a:r>
            <a:r>
              <a:rPr lang="nl-NL" b="1" dirty="0" smtClean="0"/>
              <a:t>  Ⱶ  ∀x </a:t>
            </a:r>
            <a:r>
              <a:rPr lang="nl-NL" b="1" dirty="0" err="1" smtClean="0"/>
              <a:t>Ax</a:t>
            </a:r>
            <a:r>
              <a:rPr lang="nl-NL" b="1" dirty="0" smtClean="0"/>
              <a:t>	</a:t>
            </a:r>
            <a:r>
              <a:rPr lang="nl-NL" dirty="0" smtClean="0"/>
              <a:t>     </a:t>
            </a:r>
            <a:r>
              <a:rPr lang="nl-NL" b="1" dirty="0" smtClean="0"/>
              <a:t> 	</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Introductieregel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852936"/>
            <a:ext cx="7848872" cy="2585323"/>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 ¬</a:t>
            </a:r>
            <a:r>
              <a:rPr lang="nl-NL" b="1" dirty="0" err="1" smtClean="0"/>
              <a:t>Bx</a:t>
            </a:r>
            <a:r>
              <a:rPr lang="nl-NL" b="1" dirty="0" smtClean="0"/>
              <a:t>) 			</a:t>
            </a:r>
            <a:r>
              <a:rPr lang="nl-NL" dirty="0" smtClean="0"/>
              <a:t>Prem.</a:t>
            </a:r>
          </a:p>
          <a:p>
            <a:r>
              <a:rPr lang="nl-NL" dirty="0" smtClean="0"/>
              <a:t>2.  </a:t>
            </a:r>
            <a:r>
              <a:rPr lang="nl-NL" b="1" dirty="0" err="1" smtClean="0"/>
              <a:t>Bc</a:t>
            </a:r>
            <a:r>
              <a:rPr lang="nl-NL" b="1" dirty="0" smtClean="0"/>
              <a:t>	</a:t>
            </a:r>
            <a:r>
              <a:rPr lang="nl-NL" dirty="0" smtClean="0"/>
              <a:t>	</a:t>
            </a:r>
            <a:r>
              <a:rPr lang="nl-NL" b="1" dirty="0" smtClean="0"/>
              <a:t>	 	</a:t>
            </a:r>
            <a:r>
              <a:rPr lang="nl-NL" dirty="0" err="1" smtClean="0"/>
              <a:t>Ass</a:t>
            </a:r>
            <a:r>
              <a:rPr lang="nl-NL" dirty="0" smtClean="0"/>
              <a:t>.</a:t>
            </a:r>
          </a:p>
          <a:p>
            <a:r>
              <a:rPr lang="nl-NL" dirty="0" smtClean="0"/>
              <a:t>3.  </a:t>
            </a:r>
            <a:r>
              <a:rPr lang="nl-NL" b="1" dirty="0" smtClean="0"/>
              <a:t>Ac 			</a:t>
            </a:r>
            <a:r>
              <a:rPr lang="nl-NL" dirty="0" smtClean="0"/>
              <a:t>	</a:t>
            </a:r>
            <a:r>
              <a:rPr lang="nl-NL" dirty="0" err="1" smtClean="0"/>
              <a:t>Ass</a:t>
            </a:r>
            <a:r>
              <a:rPr lang="nl-NL" dirty="0" smtClean="0"/>
              <a:t>.</a:t>
            </a:r>
            <a:r>
              <a:rPr lang="nl-NL" b="1" dirty="0" smtClean="0"/>
              <a:t> 	</a:t>
            </a:r>
            <a:endParaRPr lang="nl-NL" dirty="0" smtClean="0"/>
          </a:p>
          <a:p>
            <a:r>
              <a:rPr lang="nl-NL" dirty="0" smtClean="0"/>
              <a:t>4.  </a:t>
            </a:r>
            <a:r>
              <a:rPr lang="nl-NL" b="1" dirty="0" smtClean="0"/>
              <a:t>Ac → ¬</a:t>
            </a:r>
            <a:r>
              <a:rPr lang="nl-NL" b="1" dirty="0" err="1" smtClean="0"/>
              <a:t>Bc</a:t>
            </a:r>
            <a:r>
              <a:rPr lang="nl-NL" b="1" dirty="0" smtClean="0"/>
              <a:t>  			</a:t>
            </a:r>
            <a:r>
              <a:rPr lang="nl-NL" dirty="0" smtClean="0"/>
              <a:t>G ∀ (1)</a:t>
            </a:r>
          </a:p>
          <a:p>
            <a:r>
              <a:rPr lang="nl-NL" dirty="0" smtClean="0"/>
              <a:t>5.  </a:t>
            </a:r>
            <a:r>
              <a:rPr lang="nl-NL" b="1" dirty="0" smtClean="0"/>
              <a:t>¬</a:t>
            </a:r>
            <a:r>
              <a:rPr lang="nl-NL" b="1" dirty="0" err="1" smtClean="0"/>
              <a:t>Bc</a:t>
            </a:r>
            <a:r>
              <a:rPr lang="nl-NL" b="1" dirty="0" smtClean="0"/>
              <a:t> 				</a:t>
            </a:r>
            <a:r>
              <a:rPr lang="nl-NL" dirty="0" smtClean="0"/>
              <a:t>G → (3,4)</a:t>
            </a:r>
            <a:r>
              <a:rPr lang="nl-NL" b="1" dirty="0" smtClean="0"/>
              <a:t> </a:t>
            </a:r>
            <a:endParaRPr lang="nl-NL" dirty="0" smtClean="0"/>
          </a:p>
          <a:p>
            <a:r>
              <a:rPr lang="nl-NL" dirty="0" smtClean="0"/>
              <a:t>6.  </a:t>
            </a:r>
            <a:r>
              <a:rPr lang="nl-NL" b="1" dirty="0" err="1" smtClean="0"/>
              <a:t>Bc</a:t>
            </a:r>
            <a:r>
              <a:rPr lang="nl-NL" dirty="0" smtClean="0"/>
              <a:t> </a:t>
            </a:r>
            <a:r>
              <a:rPr lang="nl-NL" b="1" dirty="0" smtClean="0"/>
              <a:t>∧</a:t>
            </a:r>
            <a:r>
              <a:rPr lang="nl-NL" dirty="0" smtClean="0"/>
              <a:t> </a:t>
            </a:r>
            <a:r>
              <a:rPr lang="nl-NL" b="1" dirty="0" smtClean="0"/>
              <a:t>¬</a:t>
            </a:r>
            <a:r>
              <a:rPr lang="nl-NL" b="1" dirty="0" err="1" smtClean="0"/>
              <a:t>Bc</a:t>
            </a:r>
            <a:r>
              <a:rPr lang="nl-NL" b="1" dirty="0" smtClean="0"/>
              <a:t> 			</a:t>
            </a:r>
            <a:r>
              <a:rPr lang="nl-NL" dirty="0" smtClean="0"/>
              <a:t>I ∧ (2,5)</a:t>
            </a:r>
            <a:endParaRPr lang="nl-NL" b="1" dirty="0" smtClean="0"/>
          </a:p>
          <a:p>
            <a:r>
              <a:rPr lang="nl-NL" dirty="0" smtClean="0"/>
              <a:t>7.  </a:t>
            </a:r>
            <a:r>
              <a:rPr lang="nl-NL" b="1" dirty="0" smtClean="0"/>
              <a:t>¬Ac		 		</a:t>
            </a:r>
            <a:r>
              <a:rPr lang="nl-NL" dirty="0" smtClean="0"/>
              <a:t>I ¬</a:t>
            </a:r>
            <a:r>
              <a:rPr lang="nl-NL" b="1" dirty="0" smtClean="0"/>
              <a:t> </a:t>
            </a:r>
            <a:r>
              <a:rPr lang="nl-NL" dirty="0" smtClean="0"/>
              <a:t>(3,6)</a:t>
            </a:r>
          </a:p>
          <a:p>
            <a:r>
              <a:rPr lang="nl-NL" dirty="0" smtClean="0"/>
              <a:t>8.  </a:t>
            </a:r>
            <a:r>
              <a:rPr lang="nl-NL" b="1" dirty="0" err="1" smtClean="0"/>
              <a:t>Bc</a:t>
            </a:r>
            <a:r>
              <a:rPr lang="nl-NL" b="1" dirty="0" smtClean="0"/>
              <a:t> → ¬Ac			</a:t>
            </a:r>
            <a:r>
              <a:rPr lang="nl-NL" dirty="0" smtClean="0"/>
              <a:t>I</a:t>
            </a:r>
            <a:r>
              <a:rPr lang="nl-NL" b="1" dirty="0" smtClean="0"/>
              <a:t> </a:t>
            </a:r>
            <a:r>
              <a:rPr lang="nl-NL" dirty="0" smtClean="0"/>
              <a:t>→ (2,7)</a:t>
            </a:r>
          </a:p>
          <a:p>
            <a:r>
              <a:rPr lang="nl-NL" dirty="0" smtClean="0"/>
              <a:t>9.  </a:t>
            </a:r>
            <a:r>
              <a:rPr lang="nl-NL" b="1" dirty="0" smtClean="0"/>
              <a:t>∀x (</a:t>
            </a:r>
            <a:r>
              <a:rPr lang="nl-NL" b="1" dirty="0" err="1" smtClean="0"/>
              <a:t>Bx</a:t>
            </a:r>
            <a:r>
              <a:rPr lang="nl-NL" b="1" dirty="0" smtClean="0"/>
              <a:t> → ¬</a:t>
            </a:r>
            <a:r>
              <a:rPr lang="nl-NL" b="1" dirty="0" err="1" smtClean="0"/>
              <a:t>Ax</a:t>
            </a:r>
            <a:r>
              <a:rPr lang="nl-NL" b="1" dirty="0" smtClean="0"/>
              <a:t>) 			</a:t>
            </a:r>
            <a:r>
              <a:rPr lang="nl-NL" dirty="0" smtClean="0"/>
              <a:t>I</a:t>
            </a:r>
            <a:r>
              <a:rPr lang="nl-NL" b="1" dirty="0" smtClean="0"/>
              <a:t> </a:t>
            </a:r>
            <a:r>
              <a:rPr lang="nl-NL" dirty="0" smtClean="0"/>
              <a:t>∀ (8)</a:t>
            </a:r>
            <a:r>
              <a:rPr lang="nl-NL" b="1" dirty="0" smtClean="0"/>
              <a:t> 	</a:t>
            </a:r>
          </a:p>
        </p:txBody>
      </p:sp>
      <p:sp>
        <p:nvSpPr>
          <p:cNvPr id="20" name="Rectangle 19"/>
          <p:cNvSpPr/>
          <p:nvPr/>
        </p:nvSpPr>
        <p:spPr>
          <a:xfrm>
            <a:off x="395536" y="1846565"/>
            <a:ext cx="7848872" cy="369332"/>
          </a:xfrm>
          <a:prstGeom prst="rect">
            <a:avLst/>
          </a:prstGeom>
        </p:spPr>
        <p:txBody>
          <a:bodyPr wrap="square">
            <a:spAutoFit/>
          </a:bodyPr>
          <a:lstStyle/>
          <a:p>
            <a:r>
              <a:rPr lang="nl-NL" b="1" dirty="0" smtClean="0"/>
              <a:t>∀x (</a:t>
            </a:r>
            <a:r>
              <a:rPr lang="nl-NL" b="1" dirty="0" err="1" smtClean="0"/>
              <a:t>Ax</a:t>
            </a:r>
            <a:r>
              <a:rPr lang="nl-NL" b="1" dirty="0" smtClean="0"/>
              <a:t> → ¬</a:t>
            </a:r>
            <a:r>
              <a:rPr lang="nl-NL" b="1" dirty="0" err="1" smtClean="0"/>
              <a:t>Bx</a:t>
            </a:r>
            <a:r>
              <a:rPr lang="nl-NL" b="1" dirty="0" smtClean="0"/>
              <a:t>)    Ⱶ    ∀x (</a:t>
            </a:r>
            <a:r>
              <a:rPr lang="nl-NL" b="1" dirty="0" err="1" smtClean="0"/>
              <a:t>Bx</a:t>
            </a:r>
            <a:r>
              <a:rPr lang="nl-NL" b="1" dirty="0" smtClean="0"/>
              <a:t> → ¬</a:t>
            </a:r>
            <a:r>
              <a:rPr lang="nl-NL" b="1" dirty="0" err="1" smtClean="0"/>
              <a:t>Ax</a:t>
            </a:r>
            <a:r>
              <a:rPr lang="nl-NL" b="1" dirty="0" smtClean="0"/>
              <a:t>) 	</a:t>
            </a:r>
            <a:r>
              <a:rPr lang="nl-NL" dirty="0" smtClean="0"/>
              <a:t> 	 	</a:t>
            </a:r>
            <a:endParaRPr lang="nl-NL" dirty="0"/>
          </a:p>
        </p:txBody>
      </p:sp>
      <p:cxnSp>
        <p:nvCxnSpPr>
          <p:cNvPr id="6" name="Straight Connector 5"/>
          <p:cNvCxnSpPr/>
          <p:nvPr/>
        </p:nvCxnSpPr>
        <p:spPr>
          <a:xfrm flipH="1">
            <a:off x="179512" y="3212976"/>
            <a:ext cx="86409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95536" y="3429000"/>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3429000"/>
            <a:ext cx="0" cy="10801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4509120"/>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79512" y="3212976"/>
            <a:ext cx="0" cy="158417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79512" y="4797152"/>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20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20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20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200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r>
              <a:rPr lang="nl-NL" sz="3600" dirty="0" smtClean="0"/>
              <a:t>  </a:t>
            </a:r>
            <a:endParaRPr lang="nl-NL" sz="3600" dirty="0"/>
          </a:p>
        </p:txBody>
      </p:sp>
      <p:sp>
        <p:nvSpPr>
          <p:cNvPr id="3" name="Content Placeholder 2"/>
          <p:cNvSpPr>
            <a:spLocks noGrp="1"/>
          </p:cNvSpPr>
          <p:nvPr>
            <p:ph idx="1"/>
          </p:nvPr>
        </p:nvSpPr>
        <p:spPr>
          <a:xfrm>
            <a:off x="288032" y="1600201"/>
            <a:ext cx="8892480" cy="1108720"/>
          </a:xfrm>
        </p:spPr>
        <p:txBody>
          <a:bodyPr>
            <a:noAutofit/>
          </a:bodyPr>
          <a:lstStyle/>
          <a:p>
            <a:r>
              <a:rPr lang="nl-NL" sz="2000" dirty="0" smtClean="0"/>
              <a:t>Als willekeurig deeltje </a:t>
            </a:r>
            <a:r>
              <a:rPr lang="nl-NL" sz="2000" b="1" dirty="0" smtClean="0"/>
              <a:t>a</a:t>
            </a:r>
            <a:r>
              <a:rPr lang="nl-NL" sz="2000" dirty="0" smtClean="0"/>
              <a:t> massa heeft, dan bestaat er zwaartekracht. Er                 bestaat tenminste één deeltje met massa. Dus zwaartekracht bestaat.</a:t>
            </a:r>
          </a:p>
          <a:p>
            <a:r>
              <a:rPr lang="nl-NL" sz="2000" dirty="0" smtClean="0"/>
              <a:t>Als willekeurige morele waarde </a:t>
            </a:r>
            <a:r>
              <a:rPr lang="nl-NL" sz="2000" b="1" dirty="0" smtClean="0"/>
              <a:t>a</a:t>
            </a:r>
            <a:r>
              <a:rPr lang="nl-NL" sz="2000" dirty="0" smtClean="0"/>
              <a:t> objectief is, dan is restloos materialisme onwaar. Er bestaat tenminste één objectieve morele waarde. Dus restloos materialisme is onwaar.</a:t>
            </a:r>
          </a:p>
          <a:p>
            <a:endParaRPr lang="nl-NL" sz="2000" dirty="0" smtClean="0"/>
          </a:p>
          <a:p>
            <a:pPr>
              <a:buNone/>
            </a:pPr>
            <a:endParaRPr lang="nl-NL" sz="2000" dirty="0" smtClean="0"/>
          </a:p>
          <a:p>
            <a:endParaRPr lang="nl-NL" sz="2000" dirty="0" smtClean="0"/>
          </a:p>
          <a:p>
            <a:endParaRPr lang="nl-NL" sz="2000" dirty="0" smtClean="0"/>
          </a:p>
        </p:txBody>
      </p:sp>
      <p:sp>
        <p:nvSpPr>
          <p:cNvPr id="10" name="Content Placeholder 2"/>
          <p:cNvSpPr txBox="1">
            <a:spLocks/>
          </p:cNvSpPr>
          <p:nvPr/>
        </p:nvSpPr>
        <p:spPr>
          <a:xfrm>
            <a:off x="457200" y="4912568"/>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421704" y="3429000"/>
            <a:ext cx="2998168" cy="30243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pPr>
            <a:r>
              <a:rPr lang="nl-NL" sz="2000" dirty="0" smtClean="0"/>
              <a:t>3. </a:t>
            </a:r>
            <a:r>
              <a:rPr lang="nl-NL" sz="2000" b="1" dirty="0" smtClean="0"/>
              <a:t>∃x</a:t>
            </a:r>
            <a:r>
              <a:rPr lang="el-GR" sz="2000" b="1" i="1" dirty="0" smtClean="0"/>
              <a:t> α</a:t>
            </a:r>
            <a:r>
              <a:rPr lang="nl-NL" sz="2000" b="1" dirty="0" smtClean="0"/>
              <a:t>[x]</a:t>
            </a:r>
          </a:p>
          <a:p>
            <a:pPr marL="342900" lvl="0" indent="-342900">
              <a:spcBef>
                <a:spcPct val="20000"/>
              </a:spcBef>
            </a:pPr>
            <a:r>
              <a:rPr lang="nl-NL" sz="2000" dirty="0" smtClean="0"/>
              <a:t>….</a:t>
            </a:r>
          </a:p>
          <a:p>
            <a:pPr marL="342900" lvl="0" indent="-342900">
              <a:spcBef>
                <a:spcPct val="20000"/>
              </a:spcBef>
            </a:pPr>
            <a:r>
              <a:rPr lang="nl-NL" sz="2000" dirty="0" smtClean="0"/>
              <a:t>6. </a:t>
            </a:r>
            <a:r>
              <a:rPr lang="el-GR" sz="2000" b="1" i="1" dirty="0" smtClean="0"/>
              <a:t>α</a:t>
            </a:r>
            <a:r>
              <a:rPr lang="nl-NL" sz="2000" b="1" dirty="0" smtClean="0"/>
              <a:t>[a] → </a:t>
            </a:r>
            <a:r>
              <a:rPr lang="el-GR" sz="2000" b="1" dirty="0" smtClean="0"/>
              <a:t>β</a:t>
            </a:r>
            <a:r>
              <a:rPr lang="nl-NL" sz="2000" b="1" dirty="0" smtClean="0"/>
              <a:t> </a:t>
            </a:r>
            <a:endParaRPr lang="nl-NL" sz="2000" dirty="0" smtClean="0"/>
          </a:p>
          <a:p>
            <a:pPr marL="342900" lvl="0" indent="-342900">
              <a:spcBef>
                <a:spcPct val="20000"/>
              </a:spcBef>
            </a:pPr>
            <a:r>
              <a:rPr lang="nl-NL" sz="2000" dirty="0" smtClean="0"/>
              <a:t>….</a:t>
            </a:r>
          </a:p>
          <a:p>
            <a:pPr marL="342900" lvl="0" indent="-342900">
              <a:spcBef>
                <a:spcPct val="20000"/>
              </a:spcBef>
            </a:pPr>
            <a:r>
              <a:rPr lang="nl-NL" sz="2000" dirty="0" smtClean="0"/>
              <a:t>7. </a:t>
            </a:r>
            <a:r>
              <a:rPr lang="el-GR" sz="2000" b="1" dirty="0" smtClean="0"/>
              <a:t>β </a:t>
            </a:r>
            <a:r>
              <a:rPr lang="nl-NL" sz="2000" b="1" dirty="0" smtClean="0"/>
              <a:t>	   G ∃ (3,6)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2627784" y="5416624"/>
            <a:ext cx="6048672" cy="748680"/>
          </a:xfrm>
          <a:prstGeom prst="rect">
            <a:avLst/>
          </a:prstGeom>
        </p:spPr>
        <p:txBody>
          <a:bodyPr vert="horz" lIns="91440" tIns="45720" rIns="91440" bIns="45720" rtlCol="0">
            <a:noAutofit/>
          </a:bodyPr>
          <a:lstStyle/>
          <a:p>
            <a:pPr marL="342900" lvl="0" indent="-342900">
              <a:spcBef>
                <a:spcPct val="20000"/>
              </a:spcBef>
              <a:defRPr/>
            </a:pPr>
            <a:r>
              <a:rPr lang="nl-NL" sz="2000" dirty="0" smtClean="0"/>
              <a:t>      Mits </a:t>
            </a:r>
            <a:r>
              <a:rPr lang="nl-NL" sz="2000" b="1" dirty="0" smtClean="0"/>
              <a:t>a</a:t>
            </a:r>
            <a:r>
              <a:rPr lang="nl-NL" sz="2000" dirty="0" smtClean="0"/>
              <a:t> niet optreedt in </a:t>
            </a:r>
            <a:r>
              <a:rPr lang="el-GR" sz="2000" b="1" dirty="0" smtClean="0"/>
              <a:t>β</a:t>
            </a:r>
            <a:r>
              <a:rPr lang="nl-NL" sz="2000" dirty="0" smtClean="0"/>
              <a:t>, niet in </a:t>
            </a:r>
            <a:r>
              <a:rPr lang="nl-NL" sz="2000" b="1" dirty="0" smtClean="0"/>
              <a:t>∃x</a:t>
            </a:r>
            <a:r>
              <a:rPr lang="el-GR" sz="2000" b="1" i="1" dirty="0" smtClean="0"/>
              <a:t> α</a:t>
            </a:r>
            <a:r>
              <a:rPr lang="nl-NL" sz="2000" b="1" dirty="0" smtClean="0"/>
              <a:t>[x]</a:t>
            </a:r>
            <a:r>
              <a:rPr lang="nl-NL" sz="2000" dirty="0" smtClean="0"/>
              <a:t> en evenmin in een premisse of niet-vervallen assumptie.</a:t>
            </a:r>
            <a:endParaRPr kumimoji="0" lang="nl-NL" sz="200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TextBox 8"/>
          <p:cNvSpPr txBox="1"/>
          <p:nvPr/>
        </p:nvSpPr>
        <p:spPr>
          <a:xfrm>
            <a:off x="4644008" y="3419708"/>
            <a:ext cx="2808312" cy="369332"/>
          </a:xfrm>
          <a:prstGeom prst="rect">
            <a:avLst/>
          </a:prstGeom>
          <a:noFill/>
        </p:spPr>
        <p:txBody>
          <a:bodyPr wrap="square" rtlCol="0">
            <a:spAutoFit/>
          </a:bodyPr>
          <a:lstStyle/>
          <a:p>
            <a:r>
              <a:rPr lang="nl-NL" dirty="0" smtClean="0"/>
              <a:t>Vanwaar dit ‘mits’?</a:t>
            </a:r>
            <a:endParaRPr lang="nl-NL" dirty="0"/>
          </a:p>
        </p:txBody>
      </p:sp>
      <p:sp>
        <p:nvSpPr>
          <p:cNvPr id="13" name="TextBox 12"/>
          <p:cNvSpPr txBox="1"/>
          <p:nvPr/>
        </p:nvSpPr>
        <p:spPr>
          <a:xfrm>
            <a:off x="4644008" y="3923764"/>
            <a:ext cx="4032448" cy="646331"/>
          </a:xfrm>
          <a:prstGeom prst="rect">
            <a:avLst/>
          </a:prstGeom>
          <a:noFill/>
        </p:spPr>
        <p:txBody>
          <a:bodyPr wrap="square" rtlCol="0">
            <a:spAutoFit/>
          </a:bodyPr>
          <a:lstStyle/>
          <a:p>
            <a:r>
              <a:rPr lang="nl-NL" dirty="0" smtClean="0"/>
              <a:t>Omdat </a:t>
            </a:r>
            <a:r>
              <a:rPr lang="nl-NL" b="1" dirty="0" smtClean="0"/>
              <a:t>a</a:t>
            </a:r>
            <a:r>
              <a:rPr lang="nl-NL" dirty="0" smtClean="0"/>
              <a:t> </a:t>
            </a:r>
            <a:r>
              <a:rPr lang="nl-NL" i="1" dirty="0" smtClean="0"/>
              <a:t>willekeurig</a:t>
            </a:r>
            <a:r>
              <a:rPr lang="nl-NL" dirty="0" smtClean="0"/>
              <a:t> moet zijn, mag er </a:t>
            </a:r>
            <a:r>
              <a:rPr lang="nl-NL" i="1" dirty="0" smtClean="0"/>
              <a:t>niets specifieks </a:t>
            </a:r>
            <a:r>
              <a:rPr lang="nl-NL" dirty="0" smtClean="0"/>
              <a:t>over </a:t>
            </a:r>
            <a:r>
              <a:rPr lang="nl-NL" b="1" dirty="0" smtClean="0"/>
              <a:t>a</a:t>
            </a:r>
            <a:r>
              <a:rPr lang="nl-NL" dirty="0" smtClean="0"/>
              <a:t> gezegd worden!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2000"/>
                                        <p:tgtEl>
                                          <p:spTgt spid="7">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Effect transition="in" filter="fade">
                                      <p:cBhvr>
                                        <p:cTn id="18" dur="2000"/>
                                        <p:tgtEl>
                                          <p:spTgt spid="7">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2000"/>
                                        <p:tgtEl>
                                          <p:spTgt spid="7">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2000"/>
                                        <p:tgtEl>
                                          <p:spTgt spid="7">
                                            <p:txEl>
                                              <p:pRg st="3" end="3"/>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2000"/>
                                        <p:tgtEl>
                                          <p:spTgt spid="7">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fade">
                                      <p:cBhvr>
                                        <p:cTn id="30" dur="2000"/>
                                        <p:tgtEl>
                                          <p:spTgt spid="7">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fade">
                                      <p:cBhvr>
                                        <p:cTn id="33" dur="2000"/>
                                        <p:tgtEl>
                                          <p:spTgt spid="7">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fade">
                                      <p:cBhvr>
                                        <p:cTn id="38" dur="2000"/>
                                        <p:tgtEl>
                                          <p:spTgt spid="1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2000"/>
                                        <p:tgtEl>
                                          <p:spTgt spid="9">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fade">
                                      <p:cBhvr>
                                        <p:cTn id="48"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7" grpId="0" build="allAtOnce"/>
      <p:bldP spid="12" grpId="0" build="allAtOnce"/>
      <p:bldP spid="9" grpId="0" build="allAtOnce"/>
      <p:bldP spid="13" grpId="0" build="allAtOnce"/>
    </p:bld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916832"/>
            <a:ext cx="7848872" cy="2893100"/>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∃x </a:t>
            </a:r>
            <a:r>
              <a:rPr lang="nl-NL" b="1" dirty="0" err="1" smtClean="0"/>
              <a:t>Bx</a:t>
            </a:r>
            <a:r>
              <a:rPr lang="nl-NL" b="1" dirty="0" smtClean="0"/>
              <a:t>				</a:t>
            </a:r>
            <a:r>
              <a:rPr lang="nl-NL" dirty="0" smtClean="0"/>
              <a:t>Prem.</a:t>
            </a:r>
          </a:p>
          <a:p>
            <a:r>
              <a:rPr lang="nl-NL" dirty="0" smtClean="0"/>
              <a:t>3.  </a:t>
            </a:r>
            <a:r>
              <a:rPr lang="nl-NL" b="1" dirty="0" smtClean="0"/>
              <a:t>Aa	</a:t>
            </a:r>
            <a:r>
              <a:rPr lang="nl-NL" dirty="0" smtClean="0"/>
              <a:t>	</a:t>
            </a:r>
            <a:r>
              <a:rPr lang="nl-NL" b="1" dirty="0" smtClean="0"/>
              <a:t>	 	</a:t>
            </a:r>
            <a:r>
              <a:rPr lang="nl-NL" dirty="0" err="1" smtClean="0"/>
              <a:t>Ass</a:t>
            </a:r>
            <a:r>
              <a:rPr lang="nl-NL" dirty="0" smtClean="0"/>
              <a:t>.</a:t>
            </a:r>
          </a:p>
          <a:p>
            <a:r>
              <a:rPr lang="nl-NL" dirty="0" smtClean="0"/>
              <a:t>4.  </a:t>
            </a:r>
            <a:r>
              <a:rPr lang="nl-NL" b="1" dirty="0" smtClean="0"/>
              <a:t>Ba 			</a:t>
            </a:r>
            <a:r>
              <a:rPr lang="nl-NL" dirty="0" smtClean="0"/>
              <a:t>	</a:t>
            </a:r>
            <a:r>
              <a:rPr lang="nl-NL" dirty="0" err="1" smtClean="0"/>
              <a:t>Ass</a:t>
            </a:r>
            <a:r>
              <a:rPr lang="nl-NL" dirty="0" smtClean="0"/>
              <a:t>.</a:t>
            </a:r>
            <a:r>
              <a:rPr lang="nl-NL" b="1" dirty="0" smtClean="0"/>
              <a:t> 	</a:t>
            </a:r>
            <a:endParaRPr lang="nl-NL" dirty="0" smtClean="0"/>
          </a:p>
          <a:p>
            <a:r>
              <a:rPr lang="nl-NL" dirty="0" smtClean="0"/>
              <a:t>5.  </a:t>
            </a:r>
            <a:r>
              <a:rPr lang="nl-NL" b="1" dirty="0" smtClean="0"/>
              <a:t>Aa ∧ Ba	  		</a:t>
            </a:r>
            <a:r>
              <a:rPr lang="nl-NL" dirty="0" smtClean="0"/>
              <a:t>I ∧ (3,4)</a:t>
            </a:r>
          </a:p>
          <a:p>
            <a:r>
              <a:rPr lang="nl-NL" dirty="0" smtClean="0"/>
              <a:t>6.  </a:t>
            </a:r>
            <a:r>
              <a:rPr lang="nl-NL" b="1" dirty="0" smtClean="0"/>
              <a:t>∃x (</a:t>
            </a:r>
            <a:r>
              <a:rPr lang="nl-NL" b="1" dirty="0" err="1" smtClean="0"/>
              <a:t>Ax</a:t>
            </a:r>
            <a:r>
              <a:rPr lang="nl-NL" b="1" dirty="0" smtClean="0"/>
              <a:t> ∧ </a:t>
            </a:r>
            <a:r>
              <a:rPr lang="nl-NL" b="1" dirty="0" err="1" smtClean="0"/>
              <a:t>Bx</a:t>
            </a:r>
            <a:r>
              <a:rPr lang="nl-NL" b="1" dirty="0" smtClean="0"/>
              <a:t>)  			</a:t>
            </a:r>
            <a:r>
              <a:rPr lang="nl-NL" dirty="0" smtClean="0"/>
              <a:t>I ∃ (5)</a:t>
            </a:r>
            <a:r>
              <a:rPr lang="nl-NL" b="1" dirty="0" smtClean="0"/>
              <a:t> </a:t>
            </a:r>
            <a:endParaRPr lang="nl-NL" dirty="0" smtClean="0"/>
          </a:p>
          <a:p>
            <a:r>
              <a:rPr lang="nl-NL" dirty="0" smtClean="0"/>
              <a:t>7.  </a:t>
            </a:r>
            <a:r>
              <a:rPr lang="nl-NL" b="1" dirty="0" smtClean="0"/>
              <a:t>Ba → ∃x (</a:t>
            </a:r>
            <a:r>
              <a:rPr lang="nl-NL" b="1" dirty="0" err="1" smtClean="0"/>
              <a:t>Ax</a:t>
            </a:r>
            <a:r>
              <a:rPr lang="nl-NL" b="1" dirty="0" smtClean="0"/>
              <a:t> ∧ </a:t>
            </a:r>
            <a:r>
              <a:rPr lang="nl-NL" b="1" dirty="0" err="1" smtClean="0"/>
              <a:t>Bx</a:t>
            </a:r>
            <a:r>
              <a:rPr lang="nl-NL" b="1" dirty="0" smtClean="0"/>
              <a:t>) 		</a:t>
            </a:r>
            <a:r>
              <a:rPr lang="nl-NL" dirty="0" smtClean="0"/>
              <a:t>I → (4,6)</a:t>
            </a:r>
            <a:endParaRPr lang="nl-NL" b="1" dirty="0" smtClean="0"/>
          </a:p>
          <a:p>
            <a:r>
              <a:rPr lang="nl-NL" dirty="0" smtClean="0"/>
              <a:t>8.  </a:t>
            </a:r>
            <a:r>
              <a:rPr lang="nl-NL" b="1" dirty="0" smtClean="0"/>
              <a:t>∃x (</a:t>
            </a:r>
            <a:r>
              <a:rPr lang="nl-NL" b="1" dirty="0" err="1" smtClean="0"/>
              <a:t>Ax</a:t>
            </a:r>
            <a:r>
              <a:rPr lang="nl-NL" b="1" dirty="0" smtClean="0"/>
              <a:t> ∧ </a:t>
            </a:r>
            <a:r>
              <a:rPr lang="nl-NL" b="1" dirty="0" err="1" smtClean="0"/>
              <a:t>Bx</a:t>
            </a:r>
            <a:r>
              <a:rPr lang="nl-NL" b="1" dirty="0" smtClean="0"/>
              <a:t>)</a:t>
            </a:r>
            <a:r>
              <a:rPr lang="nl-NL" dirty="0" smtClean="0"/>
              <a:t> </a:t>
            </a:r>
            <a:r>
              <a:rPr lang="nl-NL" b="1" dirty="0" smtClean="0"/>
              <a:t>		 	</a:t>
            </a:r>
            <a:r>
              <a:rPr lang="nl-NL" dirty="0" smtClean="0"/>
              <a:t>G ∃</a:t>
            </a:r>
            <a:r>
              <a:rPr lang="nl-NL" b="1" dirty="0" smtClean="0"/>
              <a:t> </a:t>
            </a:r>
            <a:r>
              <a:rPr lang="nl-NL" dirty="0" smtClean="0"/>
              <a:t>(2,7)</a:t>
            </a:r>
          </a:p>
          <a:p>
            <a:r>
              <a:rPr lang="nl-NL" dirty="0" smtClean="0"/>
              <a:t>9.  </a:t>
            </a:r>
            <a:r>
              <a:rPr lang="nl-NL" b="1" dirty="0" smtClean="0"/>
              <a:t>Aa → ∃x (</a:t>
            </a:r>
            <a:r>
              <a:rPr lang="nl-NL" b="1" dirty="0" err="1" smtClean="0"/>
              <a:t>Ax</a:t>
            </a:r>
            <a:r>
              <a:rPr lang="nl-NL" b="1" dirty="0" smtClean="0"/>
              <a:t> ∧ </a:t>
            </a:r>
            <a:r>
              <a:rPr lang="nl-NL" b="1" dirty="0" err="1" smtClean="0"/>
              <a:t>Bx</a:t>
            </a:r>
            <a:r>
              <a:rPr lang="nl-NL" b="1" dirty="0" smtClean="0"/>
              <a:t>) 		</a:t>
            </a:r>
            <a:r>
              <a:rPr lang="nl-NL" dirty="0" smtClean="0"/>
              <a:t>I</a:t>
            </a:r>
            <a:r>
              <a:rPr lang="nl-NL" b="1" dirty="0" smtClean="0"/>
              <a:t> </a:t>
            </a:r>
            <a:r>
              <a:rPr lang="nl-NL" dirty="0" smtClean="0"/>
              <a:t>→ (3,8)</a:t>
            </a:r>
          </a:p>
          <a:p>
            <a:r>
              <a:rPr lang="nl-NL" dirty="0" smtClean="0"/>
              <a:t>10. </a:t>
            </a:r>
            <a:r>
              <a:rPr lang="nl-NL" b="1" dirty="0" smtClean="0"/>
              <a:t>∃x (</a:t>
            </a:r>
            <a:r>
              <a:rPr lang="nl-NL" b="1" dirty="0" err="1" smtClean="0"/>
              <a:t>Ax</a:t>
            </a:r>
            <a:r>
              <a:rPr lang="nl-NL" b="1" dirty="0" smtClean="0"/>
              <a:t> ∧ </a:t>
            </a:r>
            <a:r>
              <a:rPr lang="nl-NL" b="1" dirty="0" err="1" smtClean="0"/>
              <a:t>Bx</a:t>
            </a:r>
            <a:r>
              <a:rPr lang="nl-NL" b="1" dirty="0" smtClean="0"/>
              <a:t>)</a:t>
            </a:r>
            <a:r>
              <a:rPr lang="nl-NL" dirty="0" smtClean="0"/>
              <a:t> </a:t>
            </a:r>
            <a:r>
              <a:rPr lang="nl-NL" b="1" dirty="0" smtClean="0"/>
              <a:t> 			</a:t>
            </a:r>
            <a:r>
              <a:rPr lang="nl-NL" dirty="0" smtClean="0"/>
              <a:t>G</a:t>
            </a:r>
            <a:r>
              <a:rPr lang="nl-NL" b="1" dirty="0" smtClean="0"/>
              <a:t> </a:t>
            </a:r>
            <a:r>
              <a:rPr lang="nl-NL" dirty="0" smtClean="0"/>
              <a:t>∃ (1,9)</a:t>
            </a:r>
            <a:r>
              <a:rPr lang="nl-NL" b="1" dirty="0" smtClean="0"/>
              <a:t> 	</a:t>
            </a:r>
          </a:p>
        </p:txBody>
      </p:sp>
      <p:cxnSp>
        <p:nvCxnSpPr>
          <p:cNvPr id="6" name="Straight Connector 5"/>
          <p:cNvCxnSpPr/>
          <p:nvPr/>
        </p:nvCxnSpPr>
        <p:spPr>
          <a:xfrm flipH="1">
            <a:off x="179512" y="2492896"/>
            <a:ext cx="86409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95536" y="2780928"/>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2780928"/>
            <a:ext cx="0" cy="7920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3573016"/>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79512" y="2492896"/>
            <a:ext cx="0" cy="165618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79512" y="41490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a:t>
            </a:r>
            <a:r>
              <a:rPr lang="nl-NL" sz="3600" b="1" dirty="0" smtClean="0"/>
              <a:t> ∃</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916832"/>
            <a:ext cx="7848872" cy="2893100"/>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∃x </a:t>
            </a:r>
            <a:r>
              <a:rPr lang="nl-NL" b="1" dirty="0" err="1" smtClean="0"/>
              <a:t>Bx</a:t>
            </a:r>
            <a:r>
              <a:rPr lang="nl-NL" b="1" dirty="0" smtClean="0"/>
              <a:t>				</a:t>
            </a:r>
            <a:r>
              <a:rPr lang="nl-NL" dirty="0" smtClean="0"/>
              <a:t>Prem.</a:t>
            </a:r>
          </a:p>
          <a:p>
            <a:r>
              <a:rPr lang="nl-NL" dirty="0" smtClean="0"/>
              <a:t>3.  </a:t>
            </a:r>
            <a:r>
              <a:rPr lang="nl-NL" b="1" dirty="0" smtClean="0"/>
              <a:t>Aa	</a:t>
            </a:r>
            <a:r>
              <a:rPr lang="nl-NL" dirty="0" smtClean="0"/>
              <a:t>	</a:t>
            </a:r>
            <a:r>
              <a:rPr lang="nl-NL" b="1" dirty="0" smtClean="0"/>
              <a:t>	 	</a:t>
            </a:r>
            <a:r>
              <a:rPr lang="nl-NL" dirty="0" err="1" smtClean="0"/>
              <a:t>Ass</a:t>
            </a:r>
            <a:r>
              <a:rPr lang="nl-NL" dirty="0" smtClean="0"/>
              <a:t>.</a:t>
            </a:r>
          </a:p>
          <a:p>
            <a:r>
              <a:rPr lang="nl-NL" dirty="0" smtClean="0"/>
              <a:t>4.  </a:t>
            </a:r>
            <a:r>
              <a:rPr lang="nl-NL" b="1" dirty="0" smtClean="0"/>
              <a:t>Ba 			</a:t>
            </a:r>
            <a:r>
              <a:rPr lang="nl-NL" dirty="0" smtClean="0"/>
              <a:t>	</a:t>
            </a:r>
            <a:r>
              <a:rPr lang="nl-NL" dirty="0" err="1" smtClean="0"/>
              <a:t>Ass</a:t>
            </a:r>
            <a:r>
              <a:rPr lang="nl-NL" dirty="0" smtClean="0"/>
              <a:t>.</a:t>
            </a:r>
            <a:r>
              <a:rPr lang="nl-NL" b="1" dirty="0" smtClean="0"/>
              <a:t> 	</a:t>
            </a:r>
            <a:endParaRPr lang="nl-NL" dirty="0" smtClean="0"/>
          </a:p>
          <a:p>
            <a:r>
              <a:rPr lang="nl-NL" dirty="0" smtClean="0"/>
              <a:t>5.  </a:t>
            </a:r>
            <a:r>
              <a:rPr lang="nl-NL" b="1" dirty="0" smtClean="0"/>
              <a:t>Aa ∧ Ba	  		</a:t>
            </a:r>
            <a:r>
              <a:rPr lang="nl-NL" dirty="0" smtClean="0"/>
              <a:t>I ∧ (3,4)</a:t>
            </a:r>
          </a:p>
          <a:p>
            <a:r>
              <a:rPr lang="nl-NL" dirty="0" smtClean="0"/>
              <a:t>6.  </a:t>
            </a:r>
            <a:r>
              <a:rPr lang="nl-NL" b="1" dirty="0" smtClean="0"/>
              <a:t>∃x (</a:t>
            </a:r>
            <a:r>
              <a:rPr lang="nl-NL" b="1" dirty="0" err="1" smtClean="0"/>
              <a:t>Ax</a:t>
            </a:r>
            <a:r>
              <a:rPr lang="nl-NL" b="1" dirty="0" smtClean="0"/>
              <a:t> ∧ </a:t>
            </a:r>
            <a:r>
              <a:rPr lang="nl-NL" b="1" dirty="0" err="1" smtClean="0"/>
              <a:t>Bx</a:t>
            </a:r>
            <a:r>
              <a:rPr lang="nl-NL" b="1" dirty="0" smtClean="0"/>
              <a:t>)  			</a:t>
            </a:r>
            <a:r>
              <a:rPr lang="nl-NL" dirty="0" smtClean="0"/>
              <a:t>I ∃ (5)</a:t>
            </a:r>
            <a:r>
              <a:rPr lang="nl-NL" b="1" dirty="0" smtClean="0"/>
              <a:t> </a:t>
            </a:r>
            <a:endParaRPr lang="nl-NL" dirty="0" smtClean="0"/>
          </a:p>
          <a:p>
            <a:r>
              <a:rPr lang="nl-NL" dirty="0" smtClean="0"/>
              <a:t>7.  </a:t>
            </a:r>
            <a:r>
              <a:rPr lang="nl-NL" b="1" dirty="0" smtClean="0"/>
              <a:t>Ba → ∃x (</a:t>
            </a:r>
            <a:r>
              <a:rPr lang="nl-NL" b="1" dirty="0" err="1" smtClean="0"/>
              <a:t>Ax</a:t>
            </a:r>
            <a:r>
              <a:rPr lang="nl-NL" b="1" dirty="0" smtClean="0"/>
              <a:t> ∧ </a:t>
            </a:r>
            <a:r>
              <a:rPr lang="nl-NL" b="1" dirty="0" err="1" smtClean="0"/>
              <a:t>Bx</a:t>
            </a:r>
            <a:r>
              <a:rPr lang="nl-NL" b="1" dirty="0" smtClean="0"/>
              <a:t>) 		</a:t>
            </a:r>
            <a:r>
              <a:rPr lang="nl-NL" dirty="0" smtClean="0"/>
              <a:t>I → (4,6)</a:t>
            </a:r>
            <a:endParaRPr lang="nl-NL" b="1" dirty="0" smtClean="0"/>
          </a:p>
          <a:p>
            <a:r>
              <a:rPr lang="nl-NL" b="1" dirty="0" smtClean="0">
                <a:solidFill>
                  <a:srgbClr val="FF0000"/>
                </a:solidFill>
              </a:rPr>
              <a:t>8.  ∃x (</a:t>
            </a:r>
            <a:r>
              <a:rPr lang="nl-NL" b="1" dirty="0" err="1" smtClean="0">
                <a:solidFill>
                  <a:srgbClr val="FF0000"/>
                </a:solidFill>
              </a:rPr>
              <a:t>Ax</a:t>
            </a:r>
            <a:r>
              <a:rPr lang="nl-NL" b="1" dirty="0" smtClean="0">
                <a:solidFill>
                  <a:srgbClr val="FF0000"/>
                </a:solidFill>
              </a:rPr>
              <a:t> ∧ </a:t>
            </a:r>
            <a:r>
              <a:rPr lang="nl-NL" b="1" dirty="0" err="1" smtClean="0">
                <a:solidFill>
                  <a:srgbClr val="FF0000"/>
                </a:solidFill>
              </a:rPr>
              <a:t>Bx</a:t>
            </a:r>
            <a:r>
              <a:rPr lang="nl-NL" b="1" dirty="0" smtClean="0">
                <a:solidFill>
                  <a:srgbClr val="FF0000"/>
                </a:solidFill>
              </a:rPr>
              <a:t>) 		 	G ∃ (2,7)</a:t>
            </a:r>
          </a:p>
          <a:p>
            <a:r>
              <a:rPr lang="nl-NL" dirty="0" smtClean="0"/>
              <a:t>9.  </a:t>
            </a:r>
            <a:r>
              <a:rPr lang="nl-NL" b="1" dirty="0" smtClean="0"/>
              <a:t>Aa → ∃x (</a:t>
            </a:r>
            <a:r>
              <a:rPr lang="nl-NL" b="1" dirty="0" err="1" smtClean="0"/>
              <a:t>Ax</a:t>
            </a:r>
            <a:r>
              <a:rPr lang="nl-NL" b="1" dirty="0" smtClean="0"/>
              <a:t> ∧ </a:t>
            </a:r>
            <a:r>
              <a:rPr lang="nl-NL" b="1" dirty="0" err="1" smtClean="0"/>
              <a:t>Bx</a:t>
            </a:r>
            <a:r>
              <a:rPr lang="nl-NL" b="1" dirty="0" smtClean="0"/>
              <a:t>) 		</a:t>
            </a:r>
            <a:r>
              <a:rPr lang="nl-NL" dirty="0" smtClean="0"/>
              <a:t>I</a:t>
            </a:r>
            <a:r>
              <a:rPr lang="nl-NL" b="1" dirty="0" smtClean="0"/>
              <a:t> </a:t>
            </a:r>
            <a:r>
              <a:rPr lang="nl-NL" dirty="0" smtClean="0"/>
              <a:t>→ (3,8)</a:t>
            </a:r>
          </a:p>
          <a:p>
            <a:r>
              <a:rPr lang="nl-NL" dirty="0" smtClean="0"/>
              <a:t>10. </a:t>
            </a:r>
            <a:r>
              <a:rPr lang="nl-NL" b="1" dirty="0" smtClean="0"/>
              <a:t>∃x (</a:t>
            </a:r>
            <a:r>
              <a:rPr lang="nl-NL" b="1" dirty="0" err="1" smtClean="0"/>
              <a:t>Ax</a:t>
            </a:r>
            <a:r>
              <a:rPr lang="nl-NL" b="1" dirty="0" smtClean="0"/>
              <a:t> ∧ </a:t>
            </a:r>
            <a:r>
              <a:rPr lang="nl-NL" b="1" dirty="0" err="1" smtClean="0"/>
              <a:t>Bx</a:t>
            </a:r>
            <a:r>
              <a:rPr lang="nl-NL" b="1" dirty="0" smtClean="0"/>
              <a:t>)</a:t>
            </a:r>
            <a:r>
              <a:rPr lang="nl-NL" dirty="0" smtClean="0"/>
              <a:t> </a:t>
            </a:r>
            <a:r>
              <a:rPr lang="nl-NL" b="1" dirty="0" smtClean="0"/>
              <a:t> 			</a:t>
            </a:r>
            <a:r>
              <a:rPr lang="nl-NL" dirty="0" smtClean="0"/>
              <a:t>G</a:t>
            </a:r>
            <a:r>
              <a:rPr lang="nl-NL" b="1" dirty="0" smtClean="0"/>
              <a:t> </a:t>
            </a:r>
            <a:r>
              <a:rPr lang="nl-NL" dirty="0" smtClean="0"/>
              <a:t>∃ (1,9)</a:t>
            </a:r>
            <a:r>
              <a:rPr lang="nl-NL" b="1" dirty="0" smtClean="0"/>
              <a:t> 	</a:t>
            </a:r>
          </a:p>
        </p:txBody>
      </p:sp>
      <p:cxnSp>
        <p:nvCxnSpPr>
          <p:cNvPr id="6" name="Straight Connector 5"/>
          <p:cNvCxnSpPr/>
          <p:nvPr/>
        </p:nvCxnSpPr>
        <p:spPr>
          <a:xfrm flipH="1">
            <a:off x="179512" y="2492896"/>
            <a:ext cx="86409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395536" y="2780928"/>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2780928"/>
            <a:ext cx="0" cy="7920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3573016"/>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79512" y="2492896"/>
            <a:ext cx="0" cy="165618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79512" y="41490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47864" y="5229200"/>
            <a:ext cx="4608512" cy="923330"/>
          </a:xfrm>
          <a:prstGeom prst="rect">
            <a:avLst/>
          </a:prstGeom>
          <a:noFill/>
        </p:spPr>
        <p:txBody>
          <a:bodyPr wrap="square" rtlCol="0">
            <a:spAutoFit/>
          </a:bodyPr>
          <a:lstStyle/>
          <a:p>
            <a:r>
              <a:rPr lang="nl-NL" dirty="0" smtClean="0"/>
              <a:t>Gebruiksregel voor </a:t>
            </a:r>
            <a:r>
              <a:rPr lang="nl-NL" b="1" dirty="0" smtClean="0"/>
              <a:t>∃ </a:t>
            </a:r>
            <a:r>
              <a:rPr lang="nl-NL" dirty="0" smtClean="0"/>
              <a:t>wordt hier </a:t>
            </a:r>
            <a:r>
              <a:rPr lang="nl-NL" i="1" dirty="0" smtClean="0"/>
              <a:t>in</a:t>
            </a:r>
            <a:r>
              <a:rPr lang="nl-NL" dirty="0" smtClean="0"/>
              <a:t>correct toegepast omdat </a:t>
            </a:r>
            <a:r>
              <a:rPr lang="nl-NL" b="1" dirty="0" smtClean="0"/>
              <a:t>a </a:t>
            </a:r>
            <a:r>
              <a:rPr lang="nl-NL" dirty="0" smtClean="0"/>
              <a:t>optreedt in de niet-vervallen assumptie (3)</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uild="allAtOnce"/>
    </p:bld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890698"/>
            <a:ext cx="7848872" cy="1754326"/>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Aa				</a:t>
            </a:r>
            <a:r>
              <a:rPr lang="nl-NL" dirty="0" err="1" smtClean="0"/>
              <a:t>Ass</a:t>
            </a:r>
            <a:r>
              <a:rPr lang="nl-NL" dirty="0" smtClean="0"/>
              <a:t>.</a:t>
            </a:r>
          </a:p>
          <a:p>
            <a:r>
              <a:rPr lang="nl-NL" dirty="0" smtClean="0"/>
              <a:t>3. </a:t>
            </a:r>
            <a:r>
              <a:rPr lang="nl-NL" b="1" dirty="0" smtClean="0"/>
              <a:t>Aa	</a:t>
            </a:r>
            <a:r>
              <a:rPr lang="nl-NL" dirty="0" smtClean="0"/>
              <a:t>	</a:t>
            </a:r>
            <a:r>
              <a:rPr lang="nl-NL" b="1" dirty="0" smtClean="0"/>
              <a:t>	 	</a:t>
            </a:r>
            <a:r>
              <a:rPr lang="nl-NL" dirty="0" err="1" smtClean="0"/>
              <a:t>Herh</a:t>
            </a:r>
            <a:r>
              <a:rPr lang="nl-NL" dirty="0" smtClean="0"/>
              <a:t>.(2)</a:t>
            </a:r>
          </a:p>
          <a:p>
            <a:r>
              <a:rPr lang="nl-NL" dirty="0" smtClean="0"/>
              <a:t>4. </a:t>
            </a:r>
            <a:r>
              <a:rPr lang="nl-NL" b="1" dirty="0" smtClean="0"/>
              <a:t>Aa</a:t>
            </a:r>
            <a:r>
              <a:rPr lang="nl-NL" dirty="0" smtClean="0"/>
              <a:t> </a:t>
            </a:r>
            <a:r>
              <a:rPr lang="nl-NL" b="1" dirty="0" smtClean="0"/>
              <a:t>→ Aa</a:t>
            </a:r>
            <a:r>
              <a:rPr lang="nl-NL" dirty="0" smtClean="0"/>
              <a:t> </a:t>
            </a:r>
            <a:r>
              <a:rPr lang="nl-NL" b="1" dirty="0" smtClean="0"/>
              <a:t> 			</a:t>
            </a:r>
            <a:r>
              <a:rPr lang="nl-NL" dirty="0" smtClean="0"/>
              <a:t>I → (2,3)</a:t>
            </a:r>
            <a:r>
              <a:rPr lang="nl-NL" b="1" dirty="0" smtClean="0"/>
              <a:t>	</a:t>
            </a:r>
            <a:endParaRPr lang="nl-NL" dirty="0" smtClean="0"/>
          </a:p>
          <a:p>
            <a:r>
              <a:rPr lang="nl-NL" dirty="0" smtClean="0"/>
              <a:t>5. </a:t>
            </a:r>
            <a:r>
              <a:rPr lang="nl-NL" b="1" dirty="0" smtClean="0"/>
              <a:t>Aa		  		</a:t>
            </a:r>
            <a:r>
              <a:rPr lang="nl-NL" dirty="0" smtClean="0"/>
              <a:t>G ∃ (1,4)</a:t>
            </a:r>
          </a:p>
          <a:p>
            <a:r>
              <a:rPr lang="nl-NL" dirty="0" smtClean="0"/>
              <a:t>6. </a:t>
            </a:r>
            <a:r>
              <a:rPr lang="nl-NL" b="1" dirty="0" smtClean="0"/>
              <a:t>∀x </a:t>
            </a:r>
            <a:r>
              <a:rPr lang="nl-NL" b="1" dirty="0" err="1" smtClean="0"/>
              <a:t>Ax</a:t>
            </a:r>
            <a:r>
              <a:rPr lang="nl-NL" b="1" dirty="0" smtClean="0"/>
              <a:t>				</a:t>
            </a:r>
            <a:r>
              <a:rPr lang="nl-NL" dirty="0" smtClean="0"/>
              <a:t>I ∀ (5)</a:t>
            </a:r>
            <a:r>
              <a:rPr lang="nl-NL" b="1" dirty="0" smtClean="0"/>
              <a:t>	</a:t>
            </a:r>
          </a:p>
        </p:txBody>
      </p:sp>
      <p:cxnSp>
        <p:nvCxnSpPr>
          <p:cNvPr id="9" name="Straight Connector 8"/>
          <p:cNvCxnSpPr/>
          <p:nvPr/>
        </p:nvCxnSpPr>
        <p:spPr>
          <a:xfrm flipH="1">
            <a:off x="395536" y="2204864"/>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1"/>
          </p:cNvCxnSpPr>
          <p:nvPr/>
        </p:nvCxnSpPr>
        <p:spPr>
          <a:xfrm>
            <a:off x="395536" y="2204864"/>
            <a:ext cx="0" cy="56299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2780928"/>
            <a:ext cx="1224136"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890698"/>
            <a:ext cx="7848872" cy="1754326"/>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Aa				</a:t>
            </a:r>
            <a:r>
              <a:rPr lang="nl-NL" dirty="0" err="1" smtClean="0"/>
              <a:t>Ass</a:t>
            </a:r>
            <a:r>
              <a:rPr lang="nl-NL" dirty="0" smtClean="0"/>
              <a:t>.</a:t>
            </a:r>
          </a:p>
          <a:p>
            <a:r>
              <a:rPr lang="nl-NL" dirty="0" smtClean="0"/>
              <a:t>3. </a:t>
            </a:r>
            <a:r>
              <a:rPr lang="nl-NL" b="1" dirty="0" smtClean="0"/>
              <a:t>Aa	</a:t>
            </a:r>
            <a:r>
              <a:rPr lang="nl-NL" dirty="0" smtClean="0"/>
              <a:t>	</a:t>
            </a:r>
            <a:r>
              <a:rPr lang="nl-NL" b="1" dirty="0" smtClean="0"/>
              <a:t>	 	</a:t>
            </a:r>
            <a:r>
              <a:rPr lang="nl-NL" dirty="0" err="1" smtClean="0"/>
              <a:t>Herh</a:t>
            </a:r>
            <a:r>
              <a:rPr lang="nl-NL" dirty="0" smtClean="0"/>
              <a:t>.(2)</a:t>
            </a:r>
          </a:p>
          <a:p>
            <a:r>
              <a:rPr lang="nl-NL" dirty="0" smtClean="0"/>
              <a:t>4. </a:t>
            </a:r>
            <a:r>
              <a:rPr lang="nl-NL" b="1" dirty="0" smtClean="0"/>
              <a:t>Aa</a:t>
            </a:r>
            <a:r>
              <a:rPr lang="nl-NL" dirty="0" smtClean="0"/>
              <a:t> </a:t>
            </a:r>
            <a:r>
              <a:rPr lang="nl-NL" b="1" dirty="0" smtClean="0"/>
              <a:t>→ Aa</a:t>
            </a:r>
            <a:r>
              <a:rPr lang="nl-NL" dirty="0" smtClean="0"/>
              <a:t> </a:t>
            </a:r>
            <a:r>
              <a:rPr lang="nl-NL" b="1" dirty="0" smtClean="0"/>
              <a:t> 			</a:t>
            </a:r>
            <a:r>
              <a:rPr lang="nl-NL" dirty="0" smtClean="0"/>
              <a:t>I → (2,3)</a:t>
            </a:r>
            <a:r>
              <a:rPr lang="nl-NL" b="1" dirty="0" smtClean="0"/>
              <a:t>	</a:t>
            </a:r>
            <a:endParaRPr lang="nl-NL" dirty="0" smtClean="0"/>
          </a:p>
          <a:p>
            <a:r>
              <a:rPr lang="nl-NL" b="1" dirty="0" smtClean="0">
                <a:solidFill>
                  <a:srgbClr val="FF0000"/>
                </a:solidFill>
              </a:rPr>
              <a:t>5. Aa		  		G ∃ (1,4)</a:t>
            </a:r>
          </a:p>
          <a:p>
            <a:r>
              <a:rPr lang="nl-NL" dirty="0" smtClean="0"/>
              <a:t>6. </a:t>
            </a:r>
            <a:r>
              <a:rPr lang="nl-NL" b="1" dirty="0" smtClean="0"/>
              <a:t>∀x </a:t>
            </a:r>
            <a:r>
              <a:rPr lang="nl-NL" b="1" dirty="0" err="1" smtClean="0"/>
              <a:t>Ax</a:t>
            </a:r>
            <a:r>
              <a:rPr lang="nl-NL" b="1" dirty="0" smtClean="0"/>
              <a:t>				</a:t>
            </a:r>
            <a:r>
              <a:rPr lang="nl-NL" dirty="0" smtClean="0"/>
              <a:t>I ∀ (5)</a:t>
            </a:r>
            <a:r>
              <a:rPr lang="nl-NL" b="1" dirty="0" smtClean="0"/>
              <a:t>	</a:t>
            </a:r>
          </a:p>
        </p:txBody>
      </p:sp>
      <p:cxnSp>
        <p:nvCxnSpPr>
          <p:cNvPr id="9" name="Straight Connector 8"/>
          <p:cNvCxnSpPr/>
          <p:nvPr/>
        </p:nvCxnSpPr>
        <p:spPr>
          <a:xfrm flipH="1">
            <a:off x="395536" y="2204864"/>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1"/>
          </p:cNvCxnSpPr>
          <p:nvPr/>
        </p:nvCxnSpPr>
        <p:spPr>
          <a:xfrm>
            <a:off x="395536" y="2204864"/>
            <a:ext cx="0" cy="56299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2780928"/>
            <a:ext cx="122413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47864" y="5229200"/>
            <a:ext cx="4608512" cy="646331"/>
          </a:xfrm>
          <a:prstGeom prst="rect">
            <a:avLst/>
          </a:prstGeom>
          <a:noFill/>
        </p:spPr>
        <p:txBody>
          <a:bodyPr wrap="square" rtlCol="0">
            <a:spAutoFit/>
          </a:bodyPr>
          <a:lstStyle/>
          <a:p>
            <a:r>
              <a:rPr lang="nl-NL" dirty="0" smtClean="0"/>
              <a:t>Gebruiksregel voor </a:t>
            </a:r>
            <a:r>
              <a:rPr lang="nl-NL" b="1" dirty="0" smtClean="0"/>
              <a:t>∃ </a:t>
            </a:r>
            <a:r>
              <a:rPr lang="nl-NL" dirty="0" smtClean="0"/>
              <a:t>wordt hier </a:t>
            </a:r>
            <a:r>
              <a:rPr lang="nl-NL" i="1" dirty="0" smtClean="0"/>
              <a:t>in</a:t>
            </a:r>
            <a:r>
              <a:rPr lang="nl-NL" dirty="0" smtClean="0"/>
              <a:t>correct toegepast omdat </a:t>
            </a:r>
            <a:r>
              <a:rPr lang="nl-NL" b="1" dirty="0" smtClean="0"/>
              <a:t>a </a:t>
            </a:r>
            <a:r>
              <a:rPr lang="nl-NL" dirty="0" smtClean="0"/>
              <a:t>optreedt in </a:t>
            </a:r>
            <a:r>
              <a:rPr lang="nl-NL" b="1" dirty="0" smtClean="0"/>
              <a:t>Aa </a:t>
            </a:r>
            <a:r>
              <a:rPr lang="nl-NL" dirty="0" smtClean="0"/>
              <a:t>(i.e. in </a:t>
            </a:r>
            <a:r>
              <a:rPr lang="el-GR" i="1" dirty="0" smtClean="0"/>
              <a:t>β</a:t>
            </a:r>
            <a:r>
              <a:rPr lang="nl-NL"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uild="allAtOnce"/>
    </p:bld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890698"/>
            <a:ext cx="7848872" cy="1754326"/>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Aa				</a:t>
            </a:r>
            <a:r>
              <a:rPr lang="nl-NL" dirty="0" err="1" smtClean="0"/>
              <a:t>Ass</a:t>
            </a:r>
            <a:r>
              <a:rPr lang="nl-NL" dirty="0" smtClean="0"/>
              <a:t>.</a:t>
            </a:r>
          </a:p>
          <a:p>
            <a:r>
              <a:rPr lang="nl-NL" dirty="0" smtClean="0"/>
              <a:t>3. </a:t>
            </a:r>
            <a:r>
              <a:rPr lang="nl-NL" b="1" dirty="0" smtClean="0"/>
              <a:t>Aa	</a:t>
            </a:r>
            <a:r>
              <a:rPr lang="nl-NL" dirty="0" smtClean="0"/>
              <a:t>	</a:t>
            </a:r>
            <a:r>
              <a:rPr lang="nl-NL" b="1" dirty="0" smtClean="0"/>
              <a:t>	 	</a:t>
            </a:r>
            <a:r>
              <a:rPr lang="nl-NL" dirty="0" err="1" smtClean="0"/>
              <a:t>Herh</a:t>
            </a:r>
            <a:r>
              <a:rPr lang="nl-NL" dirty="0" smtClean="0"/>
              <a:t>.(2)</a:t>
            </a:r>
          </a:p>
          <a:p>
            <a:r>
              <a:rPr lang="nl-NL" dirty="0" smtClean="0"/>
              <a:t>4. </a:t>
            </a:r>
            <a:r>
              <a:rPr lang="nl-NL" b="1" dirty="0" smtClean="0"/>
              <a:t>Aa</a:t>
            </a:r>
            <a:r>
              <a:rPr lang="nl-NL" dirty="0" smtClean="0"/>
              <a:t> </a:t>
            </a:r>
            <a:r>
              <a:rPr lang="nl-NL" b="1" dirty="0" smtClean="0"/>
              <a:t>→ </a:t>
            </a:r>
            <a:r>
              <a:rPr lang="nl-NL" b="1" dirty="0" smtClean="0">
                <a:solidFill>
                  <a:srgbClr val="00B0F0"/>
                </a:solidFill>
              </a:rPr>
              <a:t>Aa</a:t>
            </a:r>
            <a:r>
              <a:rPr lang="nl-NL" dirty="0" smtClean="0"/>
              <a:t> </a:t>
            </a:r>
            <a:r>
              <a:rPr lang="nl-NL" b="1" dirty="0" smtClean="0"/>
              <a:t> 			</a:t>
            </a:r>
            <a:r>
              <a:rPr lang="nl-NL" dirty="0" smtClean="0"/>
              <a:t>I → (2,3)</a:t>
            </a:r>
            <a:r>
              <a:rPr lang="nl-NL" b="1" dirty="0" smtClean="0"/>
              <a:t>	</a:t>
            </a:r>
            <a:endParaRPr lang="nl-NL" dirty="0" smtClean="0"/>
          </a:p>
          <a:p>
            <a:r>
              <a:rPr lang="nl-NL" b="1" dirty="0" smtClean="0">
                <a:solidFill>
                  <a:srgbClr val="FF0000"/>
                </a:solidFill>
              </a:rPr>
              <a:t>5. Aa		  		G ∃ (1,4)</a:t>
            </a:r>
          </a:p>
          <a:p>
            <a:r>
              <a:rPr lang="nl-NL" dirty="0" smtClean="0"/>
              <a:t>6. </a:t>
            </a:r>
            <a:r>
              <a:rPr lang="nl-NL" b="1" dirty="0" smtClean="0"/>
              <a:t>∀x </a:t>
            </a:r>
            <a:r>
              <a:rPr lang="nl-NL" b="1" dirty="0" err="1" smtClean="0"/>
              <a:t>Ax</a:t>
            </a:r>
            <a:r>
              <a:rPr lang="nl-NL" b="1" dirty="0" smtClean="0"/>
              <a:t>				</a:t>
            </a:r>
            <a:r>
              <a:rPr lang="nl-NL" dirty="0" smtClean="0"/>
              <a:t>I ∀ (5)</a:t>
            </a:r>
            <a:r>
              <a:rPr lang="nl-NL" b="1" dirty="0" smtClean="0"/>
              <a:t>	</a:t>
            </a:r>
          </a:p>
        </p:txBody>
      </p:sp>
      <p:cxnSp>
        <p:nvCxnSpPr>
          <p:cNvPr id="9" name="Straight Connector 8"/>
          <p:cNvCxnSpPr/>
          <p:nvPr/>
        </p:nvCxnSpPr>
        <p:spPr>
          <a:xfrm flipH="1">
            <a:off x="395536" y="2204864"/>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8" idx="1"/>
          </p:cNvCxnSpPr>
          <p:nvPr/>
        </p:nvCxnSpPr>
        <p:spPr>
          <a:xfrm>
            <a:off x="395536" y="2204864"/>
            <a:ext cx="0" cy="56299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2780928"/>
            <a:ext cx="122413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47864" y="5229200"/>
            <a:ext cx="4608512" cy="646331"/>
          </a:xfrm>
          <a:prstGeom prst="rect">
            <a:avLst/>
          </a:prstGeom>
          <a:noFill/>
        </p:spPr>
        <p:txBody>
          <a:bodyPr wrap="square" rtlCol="0">
            <a:spAutoFit/>
          </a:bodyPr>
          <a:lstStyle/>
          <a:p>
            <a:r>
              <a:rPr lang="nl-NL" dirty="0" smtClean="0"/>
              <a:t>Gebruiksregel voor </a:t>
            </a:r>
            <a:r>
              <a:rPr lang="nl-NL" b="1" dirty="0" smtClean="0"/>
              <a:t>∃ </a:t>
            </a:r>
            <a:r>
              <a:rPr lang="nl-NL" dirty="0" smtClean="0"/>
              <a:t>wordt hier </a:t>
            </a:r>
            <a:r>
              <a:rPr lang="nl-NL" i="1" dirty="0" smtClean="0"/>
              <a:t>in</a:t>
            </a:r>
            <a:r>
              <a:rPr lang="nl-NL" dirty="0" smtClean="0"/>
              <a:t>correct toegepast omdat </a:t>
            </a:r>
            <a:r>
              <a:rPr lang="nl-NL" b="1" dirty="0" smtClean="0"/>
              <a:t>a </a:t>
            </a:r>
            <a:r>
              <a:rPr lang="nl-NL" dirty="0" smtClean="0"/>
              <a:t>optreedt in </a:t>
            </a:r>
            <a:r>
              <a:rPr lang="nl-NL" b="1" dirty="0" smtClean="0">
                <a:solidFill>
                  <a:srgbClr val="0070C0"/>
                </a:solidFill>
              </a:rPr>
              <a:t>Aa</a:t>
            </a:r>
            <a:r>
              <a:rPr lang="nl-NL" b="1" dirty="0" smtClean="0"/>
              <a:t> </a:t>
            </a:r>
            <a:r>
              <a:rPr lang="nl-NL" dirty="0" smtClean="0"/>
              <a:t>(i.e. in </a:t>
            </a:r>
            <a:r>
              <a:rPr lang="el-GR" i="1" dirty="0" smtClean="0">
                <a:solidFill>
                  <a:srgbClr val="0070C0"/>
                </a:solidFill>
              </a:rPr>
              <a:t>β</a:t>
            </a:r>
            <a:r>
              <a:rPr lang="nl-NL" dirty="0" smtClean="0"/>
              <a:t>)</a:t>
            </a:r>
            <a:endParaRPr lang="nl-NL" dirty="0"/>
          </a:p>
        </p:txBody>
      </p:sp>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904052"/>
            <a:ext cx="7848872" cy="1754326"/>
          </a:xfrm>
          <a:prstGeom prst="rect">
            <a:avLst/>
          </a:prstGeom>
        </p:spPr>
        <p:txBody>
          <a:bodyPr wrap="square">
            <a:spAutoFit/>
          </a:bodyPr>
          <a:lstStyle/>
          <a:p>
            <a:r>
              <a:rPr lang="nl-NL" dirty="0" smtClean="0"/>
              <a:t>1.</a:t>
            </a:r>
            <a:r>
              <a:rPr lang="nl-NL" b="1" dirty="0" smtClean="0"/>
              <a:t> ∀y ∃x </a:t>
            </a:r>
            <a:r>
              <a:rPr lang="nl-NL" b="1" dirty="0" err="1" smtClean="0"/>
              <a:t>Vxy</a:t>
            </a:r>
            <a:r>
              <a:rPr lang="nl-NL" b="1" dirty="0" smtClean="0"/>
              <a:t>			</a:t>
            </a:r>
            <a:r>
              <a:rPr lang="nl-NL" dirty="0" smtClean="0"/>
              <a:t>Prem.</a:t>
            </a:r>
          </a:p>
          <a:p>
            <a:r>
              <a:rPr lang="nl-NL" dirty="0" smtClean="0"/>
              <a:t>2. </a:t>
            </a:r>
            <a:r>
              <a:rPr lang="nl-NL" b="1" dirty="0" smtClean="0"/>
              <a:t>∃x </a:t>
            </a:r>
            <a:r>
              <a:rPr lang="nl-NL" b="1" dirty="0" err="1" smtClean="0"/>
              <a:t>Vxa</a:t>
            </a:r>
            <a:r>
              <a:rPr lang="nl-NL" b="1" dirty="0" smtClean="0"/>
              <a:t>				</a:t>
            </a:r>
            <a:r>
              <a:rPr lang="nl-NL" dirty="0" smtClean="0"/>
              <a:t>G ∀ (1)</a:t>
            </a:r>
          </a:p>
          <a:p>
            <a:r>
              <a:rPr lang="nl-NL" dirty="0" smtClean="0"/>
              <a:t>3.  </a:t>
            </a:r>
            <a:r>
              <a:rPr lang="nl-NL" b="1" dirty="0" err="1" smtClean="0"/>
              <a:t>Vaa</a:t>
            </a:r>
            <a:r>
              <a:rPr lang="nl-NL" b="1" dirty="0" smtClean="0"/>
              <a:t>	</a:t>
            </a:r>
            <a:r>
              <a:rPr lang="nl-NL" dirty="0" smtClean="0"/>
              <a:t>	</a:t>
            </a:r>
            <a:r>
              <a:rPr lang="nl-NL" b="1" dirty="0" smtClean="0"/>
              <a:t>	 	</a:t>
            </a:r>
            <a:r>
              <a:rPr lang="nl-NL" dirty="0" err="1" smtClean="0"/>
              <a:t>Ass</a:t>
            </a:r>
            <a:r>
              <a:rPr lang="nl-NL" dirty="0" smtClean="0"/>
              <a:t>.</a:t>
            </a:r>
          </a:p>
          <a:p>
            <a:r>
              <a:rPr lang="nl-NL" dirty="0" smtClean="0"/>
              <a:t>4.  </a:t>
            </a:r>
            <a:r>
              <a:rPr lang="nl-NL" b="1" dirty="0" smtClean="0"/>
              <a:t>∃x </a:t>
            </a:r>
            <a:r>
              <a:rPr lang="nl-NL" b="1" dirty="0" err="1" smtClean="0"/>
              <a:t>Vxx</a:t>
            </a:r>
            <a:r>
              <a:rPr lang="nl-NL" b="1" dirty="0" smtClean="0"/>
              <a:t> 			</a:t>
            </a:r>
            <a:r>
              <a:rPr lang="nl-NL" dirty="0" smtClean="0"/>
              <a:t>I ∃ (3)</a:t>
            </a:r>
            <a:r>
              <a:rPr lang="nl-NL" b="1" dirty="0" smtClean="0"/>
              <a:t>	</a:t>
            </a:r>
            <a:endParaRPr lang="nl-NL" dirty="0" smtClean="0"/>
          </a:p>
          <a:p>
            <a:r>
              <a:rPr lang="nl-NL" dirty="0" smtClean="0"/>
              <a:t>5.  </a:t>
            </a:r>
            <a:r>
              <a:rPr lang="nl-NL" b="1" dirty="0" err="1" smtClean="0"/>
              <a:t>Vaa</a:t>
            </a:r>
            <a:r>
              <a:rPr lang="nl-NL" b="1" dirty="0" smtClean="0"/>
              <a:t> → ∃x </a:t>
            </a:r>
            <a:r>
              <a:rPr lang="nl-NL" b="1" dirty="0" err="1" smtClean="0"/>
              <a:t>Vxx</a:t>
            </a:r>
            <a:r>
              <a:rPr lang="nl-NL" b="1" dirty="0" smtClean="0"/>
              <a:t> 	  		</a:t>
            </a:r>
            <a:r>
              <a:rPr lang="nl-NL" dirty="0" smtClean="0"/>
              <a:t>I → (3,4)</a:t>
            </a:r>
          </a:p>
          <a:p>
            <a:r>
              <a:rPr lang="nl-NL" dirty="0" smtClean="0"/>
              <a:t>6.  </a:t>
            </a:r>
            <a:r>
              <a:rPr lang="nl-NL" b="1" dirty="0" smtClean="0"/>
              <a:t>∃x </a:t>
            </a:r>
            <a:r>
              <a:rPr lang="nl-NL" b="1" dirty="0" err="1" smtClean="0"/>
              <a:t>Vxx</a:t>
            </a:r>
            <a:r>
              <a:rPr lang="nl-NL" b="1" dirty="0" smtClean="0"/>
              <a:t>				</a:t>
            </a:r>
            <a:r>
              <a:rPr lang="nl-NL" dirty="0" smtClean="0"/>
              <a:t>G ∃ (2,5)</a:t>
            </a:r>
            <a:endParaRPr lang="nl-NL" b="1" dirty="0" smtClean="0"/>
          </a:p>
        </p:txBody>
      </p:sp>
      <p:cxnSp>
        <p:nvCxnSpPr>
          <p:cNvPr id="9" name="Straight Connector 8"/>
          <p:cNvCxnSpPr/>
          <p:nvPr/>
        </p:nvCxnSpPr>
        <p:spPr>
          <a:xfrm flipH="1">
            <a:off x="395536" y="2492896"/>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2492896"/>
            <a:ext cx="0" cy="57606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3068960"/>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904052"/>
            <a:ext cx="7848872" cy="1754326"/>
          </a:xfrm>
          <a:prstGeom prst="rect">
            <a:avLst/>
          </a:prstGeom>
        </p:spPr>
        <p:txBody>
          <a:bodyPr wrap="square">
            <a:spAutoFit/>
          </a:bodyPr>
          <a:lstStyle/>
          <a:p>
            <a:r>
              <a:rPr lang="nl-NL" dirty="0" smtClean="0"/>
              <a:t>1.</a:t>
            </a:r>
            <a:r>
              <a:rPr lang="nl-NL" b="1" dirty="0" smtClean="0"/>
              <a:t> ∀y ∃x </a:t>
            </a:r>
            <a:r>
              <a:rPr lang="nl-NL" b="1" dirty="0" err="1" smtClean="0"/>
              <a:t>Vxy</a:t>
            </a:r>
            <a:r>
              <a:rPr lang="nl-NL" b="1" dirty="0" smtClean="0"/>
              <a:t>			</a:t>
            </a:r>
            <a:r>
              <a:rPr lang="nl-NL" dirty="0" smtClean="0"/>
              <a:t>Prem.</a:t>
            </a:r>
          </a:p>
          <a:p>
            <a:r>
              <a:rPr lang="nl-NL" dirty="0" smtClean="0"/>
              <a:t>2. </a:t>
            </a:r>
            <a:r>
              <a:rPr lang="nl-NL" b="1" dirty="0" smtClean="0"/>
              <a:t>∃x </a:t>
            </a:r>
            <a:r>
              <a:rPr lang="nl-NL" b="1" dirty="0" err="1" smtClean="0"/>
              <a:t>Vxa</a:t>
            </a:r>
            <a:r>
              <a:rPr lang="nl-NL" b="1" dirty="0" smtClean="0"/>
              <a:t>				</a:t>
            </a:r>
            <a:r>
              <a:rPr lang="nl-NL" dirty="0" smtClean="0"/>
              <a:t>G ∀ (1)</a:t>
            </a:r>
          </a:p>
          <a:p>
            <a:r>
              <a:rPr lang="nl-NL" dirty="0" smtClean="0"/>
              <a:t>3.  </a:t>
            </a:r>
            <a:r>
              <a:rPr lang="nl-NL" b="1" dirty="0" err="1" smtClean="0"/>
              <a:t>Vaa</a:t>
            </a:r>
            <a:r>
              <a:rPr lang="nl-NL" b="1" dirty="0" smtClean="0"/>
              <a:t>	</a:t>
            </a:r>
            <a:r>
              <a:rPr lang="nl-NL" dirty="0" smtClean="0"/>
              <a:t>	</a:t>
            </a:r>
            <a:r>
              <a:rPr lang="nl-NL" b="1" dirty="0" smtClean="0"/>
              <a:t>	 	</a:t>
            </a:r>
            <a:r>
              <a:rPr lang="nl-NL" dirty="0" err="1" smtClean="0"/>
              <a:t>Ass</a:t>
            </a:r>
            <a:r>
              <a:rPr lang="nl-NL" dirty="0" smtClean="0"/>
              <a:t>.</a:t>
            </a:r>
          </a:p>
          <a:p>
            <a:r>
              <a:rPr lang="nl-NL" dirty="0" smtClean="0"/>
              <a:t>4.  </a:t>
            </a:r>
            <a:r>
              <a:rPr lang="nl-NL" b="1" dirty="0" smtClean="0"/>
              <a:t>∃x </a:t>
            </a:r>
            <a:r>
              <a:rPr lang="nl-NL" b="1" dirty="0" err="1" smtClean="0"/>
              <a:t>Vxx</a:t>
            </a:r>
            <a:r>
              <a:rPr lang="nl-NL" b="1" dirty="0" smtClean="0"/>
              <a:t> 			</a:t>
            </a:r>
            <a:r>
              <a:rPr lang="nl-NL" dirty="0" smtClean="0"/>
              <a:t>I ∃ (3)</a:t>
            </a:r>
            <a:r>
              <a:rPr lang="nl-NL" b="1" dirty="0" smtClean="0"/>
              <a:t>	</a:t>
            </a:r>
            <a:endParaRPr lang="nl-NL" dirty="0" smtClean="0"/>
          </a:p>
          <a:p>
            <a:r>
              <a:rPr lang="nl-NL" dirty="0" smtClean="0"/>
              <a:t>5. </a:t>
            </a:r>
            <a:r>
              <a:rPr lang="nl-NL" b="1" dirty="0" smtClean="0"/>
              <a:t> </a:t>
            </a:r>
            <a:r>
              <a:rPr lang="nl-NL" b="1" dirty="0" err="1" smtClean="0"/>
              <a:t>Vaa</a:t>
            </a:r>
            <a:r>
              <a:rPr lang="nl-NL" b="1" dirty="0" smtClean="0"/>
              <a:t> → ∃x </a:t>
            </a:r>
            <a:r>
              <a:rPr lang="nl-NL" b="1" dirty="0" err="1" smtClean="0"/>
              <a:t>Vxx</a:t>
            </a:r>
            <a:r>
              <a:rPr lang="nl-NL" b="1" dirty="0" smtClean="0"/>
              <a:t> </a:t>
            </a:r>
            <a:r>
              <a:rPr lang="nl-NL" dirty="0" smtClean="0"/>
              <a:t>	  		I → (3,4)</a:t>
            </a:r>
          </a:p>
          <a:p>
            <a:r>
              <a:rPr lang="nl-NL" b="1" dirty="0" smtClean="0">
                <a:solidFill>
                  <a:srgbClr val="FF0000"/>
                </a:solidFill>
              </a:rPr>
              <a:t>6.  ∃x </a:t>
            </a:r>
            <a:r>
              <a:rPr lang="nl-NL" b="1" dirty="0" err="1" smtClean="0">
                <a:solidFill>
                  <a:srgbClr val="FF0000"/>
                </a:solidFill>
              </a:rPr>
              <a:t>Vxx</a:t>
            </a:r>
            <a:r>
              <a:rPr lang="nl-NL" b="1" dirty="0" smtClean="0">
                <a:solidFill>
                  <a:srgbClr val="FF0000"/>
                </a:solidFill>
              </a:rPr>
              <a:t>			G ∃ (2,5)</a:t>
            </a:r>
          </a:p>
        </p:txBody>
      </p:sp>
      <p:cxnSp>
        <p:nvCxnSpPr>
          <p:cNvPr id="9" name="Straight Connector 8"/>
          <p:cNvCxnSpPr/>
          <p:nvPr/>
        </p:nvCxnSpPr>
        <p:spPr>
          <a:xfrm flipH="1">
            <a:off x="395536" y="2492896"/>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2492896"/>
            <a:ext cx="0" cy="57606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3068960"/>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47864" y="5229200"/>
            <a:ext cx="5040560" cy="646331"/>
          </a:xfrm>
          <a:prstGeom prst="rect">
            <a:avLst/>
          </a:prstGeom>
          <a:noFill/>
        </p:spPr>
        <p:txBody>
          <a:bodyPr wrap="square" rtlCol="0">
            <a:spAutoFit/>
          </a:bodyPr>
          <a:lstStyle/>
          <a:p>
            <a:r>
              <a:rPr lang="nl-NL" dirty="0" smtClean="0"/>
              <a:t>Gebruiksregel voor </a:t>
            </a:r>
            <a:r>
              <a:rPr lang="nl-NL" b="1" dirty="0" smtClean="0"/>
              <a:t>∃ </a:t>
            </a:r>
            <a:r>
              <a:rPr lang="nl-NL" dirty="0" smtClean="0"/>
              <a:t>wordt hier </a:t>
            </a:r>
            <a:r>
              <a:rPr lang="nl-NL" i="1" dirty="0" smtClean="0"/>
              <a:t>in</a:t>
            </a:r>
            <a:r>
              <a:rPr lang="nl-NL" dirty="0" smtClean="0"/>
              <a:t>correct toegepast omdat </a:t>
            </a:r>
            <a:r>
              <a:rPr lang="nl-NL" b="1" dirty="0" smtClean="0"/>
              <a:t>a </a:t>
            </a:r>
            <a:r>
              <a:rPr lang="nl-NL" dirty="0" smtClean="0"/>
              <a:t>optreedt in </a:t>
            </a:r>
            <a:r>
              <a:rPr lang="nl-NL" b="1" dirty="0" smtClean="0"/>
              <a:t>∃x </a:t>
            </a:r>
            <a:r>
              <a:rPr lang="nl-NL" b="1" dirty="0" err="1" smtClean="0"/>
              <a:t>Vxa</a:t>
            </a:r>
            <a:r>
              <a:rPr lang="nl-NL" b="1" dirty="0" smtClean="0"/>
              <a:t> </a:t>
            </a:r>
            <a:r>
              <a:rPr lang="nl-NL" dirty="0" smtClean="0"/>
              <a:t>(i.e. in ∃x</a:t>
            </a:r>
            <a:r>
              <a:rPr lang="el-GR" i="1" dirty="0" smtClean="0"/>
              <a:t> α</a:t>
            </a:r>
            <a:r>
              <a:rPr lang="nl-NL" dirty="0" smtClean="0"/>
              <a:t>[x])</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904052"/>
            <a:ext cx="7848872" cy="1754326"/>
          </a:xfrm>
          <a:prstGeom prst="rect">
            <a:avLst/>
          </a:prstGeom>
        </p:spPr>
        <p:txBody>
          <a:bodyPr wrap="square">
            <a:spAutoFit/>
          </a:bodyPr>
          <a:lstStyle/>
          <a:p>
            <a:r>
              <a:rPr lang="nl-NL" dirty="0" smtClean="0"/>
              <a:t>1.</a:t>
            </a:r>
            <a:r>
              <a:rPr lang="nl-NL" b="1" dirty="0" smtClean="0"/>
              <a:t> ∀y ∃x </a:t>
            </a:r>
            <a:r>
              <a:rPr lang="nl-NL" b="1" dirty="0" err="1" smtClean="0"/>
              <a:t>Vxy</a:t>
            </a:r>
            <a:r>
              <a:rPr lang="nl-NL" b="1" dirty="0" smtClean="0"/>
              <a:t>			</a:t>
            </a:r>
            <a:r>
              <a:rPr lang="nl-NL" dirty="0" smtClean="0"/>
              <a:t>Prem.</a:t>
            </a:r>
          </a:p>
          <a:p>
            <a:r>
              <a:rPr lang="nl-NL" dirty="0" smtClean="0"/>
              <a:t>2. </a:t>
            </a:r>
            <a:r>
              <a:rPr lang="nl-NL" b="1" dirty="0" smtClean="0">
                <a:solidFill>
                  <a:srgbClr val="0070C0"/>
                </a:solidFill>
              </a:rPr>
              <a:t>∃x </a:t>
            </a:r>
            <a:r>
              <a:rPr lang="nl-NL" b="1" dirty="0" err="1" smtClean="0">
                <a:solidFill>
                  <a:srgbClr val="0070C0"/>
                </a:solidFill>
              </a:rPr>
              <a:t>Vxa</a:t>
            </a:r>
            <a:r>
              <a:rPr lang="nl-NL" b="1" dirty="0" smtClean="0"/>
              <a:t>				</a:t>
            </a:r>
            <a:r>
              <a:rPr lang="nl-NL" dirty="0" smtClean="0"/>
              <a:t>G ∀ (1)</a:t>
            </a:r>
          </a:p>
          <a:p>
            <a:r>
              <a:rPr lang="nl-NL" dirty="0" smtClean="0"/>
              <a:t>3.  </a:t>
            </a:r>
            <a:r>
              <a:rPr lang="nl-NL" b="1" dirty="0" err="1" smtClean="0"/>
              <a:t>Vaa</a:t>
            </a:r>
            <a:r>
              <a:rPr lang="nl-NL" b="1" dirty="0" smtClean="0"/>
              <a:t>	</a:t>
            </a:r>
            <a:r>
              <a:rPr lang="nl-NL" dirty="0" smtClean="0"/>
              <a:t>	</a:t>
            </a:r>
            <a:r>
              <a:rPr lang="nl-NL" b="1" dirty="0" smtClean="0"/>
              <a:t>	 	</a:t>
            </a:r>
            <a:r>
              <a:rPr lang="nl-NL" dirty="0" err="1" smtClean="0"/>
              <a:t>Ass</a:t>
            </a:r>
            <a:r>
              <a:rPr lang="nl-NL" dirty="0" smtClean="0"/>
              <a:t>.</a:t>
            </a:r>
          </a:p>
          <a:p>
            <a:r>
              <a:rPr lang="nl-NL" dirty="0" smtClean="0"/>
              <a:t>4.  </a:t>
            </a:r>
            <a:r>
              <a:rPr lang="nl-NL" b="1" dirty="0" smtClean="0"/>
              <a:t>∃x </a:t>
            </a:r>
            <a:r>
              <a:rPr lang="nl-NL" b="1" dirty="0" err="1" smtClean="0"/>
              <a:t>Vxx</a:t>
            </a:r>
            <a:r>
              <a:rPr lang="nl-NL" b="1" dirty="0" smtClean="0"/>
              <a:t> 			</a:t>
            </a:r>
            <a:r>
              <a:rPr lang="nl-NL" dirty="0" smtClean="0"/>
              <a:t>I ∃ (3)</a:t>
            </a:r>
            <a:r>
              <a:rPr lang="nl-NL" b="1" dirty="0" smtClean="0"/>
              <a:t>	</a:t>
            </a:r>
            <a:endParaRPr lang="nl-NL" dirty="0" smtClean="0"/>
          </a:p>
          <a:p>
            <a:r>
              <a:rPr lang="nl-NL" dirty="0" smtClean="0"/>
              <a:t>5.  </a:t>
            </a:r>
            <a:r>
              <a:rPr lang="nl-NL" b="1" dirty="0" err="1" smtClean="0"/>
              <a:t>Vaa</a:t>
            </a:r>
            <a:r>
              <a:rPr lang="nl-NL" b="1" dirty="0" smtClean="0"/>
              <a:t> → ∃x </a:t>
            </a:r>
            <a:r>
              <a:rPr lang="nl-NL" b="1" dirty="0" err="1" smtClean="0"/>
              <a:t>Vxx</a:t>
            </a:r>
            <a:r>
              <a:rPr lang="nl-NL" dirty="0" smtClean="0"/>
              <a:t> 	  		I → (3,4)</a:t>
            </a:r>
          </a:p>
          <a:p>
            <a:r>
              <a:rPr lang="nl-NL" b="1" dirty="0" smtClean="0">
                <a:solidFill>
                  <a:srgbClr val="FF0000"/>
                </a:solidFill>
              </a:rPr>
              <a:t>6.  ∃x </a:t>
            </a:r>
            <a:r>
              <a:rPr lang="nl-NL" b="1" dirty="0" err="1" smtClean="0">
                <a:solidFill>
                  <a:srgbClr val="FF0000"/>
                </a:solidFill>
              </a:rPr>
              <a:t>Vxx</a:t>
            </a:r>
            <a:r>
              <a:rPr lang="nl-NL" b="1" dirty="0" smtClean="0">
                <a:solidFill>
                  <a:srgbClr val="FF0000"/>
                </a:solidFill>
              </a:rPr>
              <a:t>			G ∃ (2,5)</a:t>
            </a:r>
          </a:p>
        </p:txBody>
      </p:sp>
      <p:cxnSp>
        <p:nvCxnSpPr>
          <p:cNvPr id="9" name="Straight Connector 8"/>
          <p:cNvCxnSpPr/>
          <p:nvPr/>
        </p:nvCxnSpPr>
        <p:spPr>
          <a:xfrm flipH="1">
            <a:off x="395536" y="2492896"/>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2492896"/>
            <a:ext cx="0" cy="57606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3068960"/>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347864" y="5229200"/>
            <a:ext cx="5040560" cy="646331"/>
          </a:xfrm>
          <a:prstGeom prst="rect">
            <a:avLst/>
          </a:prstGeom>
          <a:noFill/>
        </p:spPr>
        <p:txBody>
          <a:bodyPr wrap="square" rtlCol="0">
            <a:spAutoFit/>
          </a:bodyPr>
          <a:lstStyle/>
          <a:p>
            <a:r>
              <a:rPr lang="nl-NL" dirty="0" smtClean="0"/>
              <a:t>Gebruiksregel voor </a:t>
            </a:r>
            <a:r>
              <a:rPr lang="nl-NL" b="1" dirty="0" smtClean="0"/>
              <a:t>∃ </a:t>
            </a:r>
            <a:r>
              <a:rPr lang="nl-NL" dirty="0" smtClean="0"/>
              <a:t>wordt hier </a:t>
            </a:r>
            <a:r>
              <a:rPr lang="nl-NL" i="1" dirty="0" smtClean="0"/>
              <a:t>in</a:t>
            </a:r>
            <a:r>
              <a:rPr lang="nl-NL" dirty="0" smtClean="0"/>
              <a:t>correct toegepast omdat </a:t>
            </a:r>
            <a:r>
              <a:rPr lang="nl-NL" b="1" dirty="0" smtClean="0"/>
              <a:t>a </a:t>
            </a:r>
            <a:r>
              <a:rPr lang="nl-NL" dirty="0" smtClean="0"/>
              <a:t>optreedt in </a:t>
            </a:r>
            <a:r>
              <a:rPr lang="nl-NL" b="1" dirty="0" smtClean="0">
                <a:solidFill>
                  <a:srgbClr val="0070C0"/>
                </a:solidFill>
              </a:rPr>
              <a:t>∃x </a:t>
            </a:r>
            <a:r>
              <a:rPr lang="nl-NL" b="1" dirty="0" err="1" smtClean="0">
                <a:solidFill>
                  <a:srgbClr val="0070C0"/>
                </a:solidFill>
              </a:rPr>
              <a:t>Vxa</a:t>
            </a:r>
            <a:r>
              <a:rPr lang="nl-NL" b="1" dirty="0" smtClean="0">
                <a:solidFill>
                  <a:srgbClr val="00B0F0"/>
                </a:solidFill>
              </a:rPr>
              <a:t> </a:t>
            </a:r>
            <a:r>
              <a:rPr lang="nl-NL" dirty="0" smtClean="0"/>
              <a:t>(i.e. in </a:t>
            </a:r>
            <a:r>
              <a:rPr lang="nl-NL" dirty="0" smtClean="0">
                <a:solidFill>
                  <a:srgbClr val="0070C0"/>
                </a:solidFill>
              </a:rPr>
              <a:t>∃x</a:t>
            </a:r>
            <a:r>
              <a:rPr lang="el-GR" i="1" dirty="0" smtClean="0">
                <a:solidFill>
                  <a:srgbClr val="0070C0"/>
                </a:solidFill>
              </a:rPr>
              <a:t> α</a:t>
            </a:r>
            <a:r>
              <a:rPr lang="nl-NL" dirty="0" smtClean="0">
                <a:solidFill>
                  <a:srgbClr val="0070C0"/>
                </a:solidFill>
              </a:rPr>
              <a:t>[x]</a:t>
            </a:r>
            <a:r>
              <a:rPr lang="nl-NL"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Gebruiksregel voor </a:t>
            </a:r>
            <a:r>
              <a:rPr lang="nl-NL" sz="3600" b="1" dirty="0" smtClean="0"/>
              <a:t>∃</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1916832"/>
            <a:ext cx="7848872" cy="2308324"/>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a:t>
            </a:r>
            <a:r>
              <a:rPr lang="nl-NL" dirty="0" smtClean="0"/>
              <a:t>Prem.</a:t>
            </a:r>
          </a:p>
          <a:p>
            <a:r>
              <a:rPr lang="nl-NL" dirty="0" smtClean="0"/>
              <a:t>2. </a:t>
            </a:r>
            <a:r>
              <a:rPr lang="nl-NL" b="1" dirty="0" smtClean="0"/>
              <a:t>∃x (</a:t>
            </a:r>
            <a:r>
              <a:rPr lang="nl-NL" b="1" dirty="0" err="1" smtClean="0"/>
              <a:t>Ax</a:t>
            </a:r>
            <a:r>
              <a:rPr lang="nl-NL" b="1" dirty="0" smtClean="0"/>
              <a:t> → </a:t>
            </a:r>
            <a:r>
              <a:rPr lang="nl-NL" b="1" dirty="0" err="1" smtClean="0"/>
              <a:t>Bx</a:t>
            </a:r>
            <a:r>
              <a:rPr lang="nl-NL" b="1" dirty="0" smtClean="0"/>
              <a:t>) 			</a:t>
            </a:r>
            <a:r>
              <a:rPr lang="nl-NL" dirty="0" smtClean="0"/>
              <a:t>Prem.</a:t>
            </a:r>
          </a:p>
          <a:p>
            <a:r>
              <a:rPr lang="nl-NL" dirty="0" smtClean="0"/>
              <a:t>3.  </a:t>
            </a:r>
            <a:r>
              <a:rPr lang="nl-NL" b="1" dirty="0" smtClean="0"/>
              <a:t>Aa → Ba	</a:t>
            </a:r>
            <a:r>
              <a:rPr lang="nl-NL" dirty="0" smtClean="0"/>
              <a:t>	</a:t>
            </a:r>
            <a:r>
              <a:rPr lang="nl-NL" b="1" dirty="0" smtClean="0"/>
              <a:t>	</a:t>
            </a:r>
            <a:r>
              <a:rPr lang="nl-NL" dirty="0" err="1" smtClean="0"/>
              <a:t>Ass</a:t>
            </a:r>
            <a:r>
              <a:rPr lang="nl-NL" dirty="0" smtClean="0"/>
              <a:t>.</a:t>
            </a:r>
          </a:p>
          <a:p>
            <a:r>
              <a:rPr lang="nl-NL" dirty="0" smtClean="0"/>
              <a:t>4.  </a:t>
            </a:r>
            <a:r>
              <a:rPr lang="nl-NL" b="1" dirty="0" smtClean="0"/>
              <a:t>Aa 			</a:t>
            </a:r>
            <a:r>
              <a:rPr lang="nl-NL" dirty="0" smtClean="0"/>
              <a:t>	G ∀ (1) </a:t>
            </a:r>
            <a:r>
              <a:rPr lang="nl-NL" b="1" dirty="0" smtClean="0"/>
              <a:t>	</a:t>
            </a:r>
            <a:endParaRPr lang="nl-NL" dirty="0" smtClean="0"/>
          </a:p>
          <a:p>
            <a:r>
              <a:rPr lang="nl-NL" dirty="0" smtClean="0"/>
              <a:t>5.  </a:t>
            </a:r>
            <a:r>
              <a:rPr lang="nl-NL" b="1" dirty="0" smtClean="0"/>
              <a:t>Ba	  			</a:t>
            </a:r>
            <a:r>
              <a:rPr lang="nl-NL" dirty="0" smtClean="0"/>
              <a:t>G → (3,4)</a:t>
            </a:r>
          </a:p>
          <a:p>
            <a:r>
              <a:rPr lang="nl-NL" dirty="0" smtClean="0"/>
              <a:t>6.  </a:t>
            </a:r>
            <a:r>
              <a:rPr lang="nl-NL" b="1" dirty="0" smtClean="0"/>
              <a:t>∃x </a:t>
            </a:r>
            <a:r>
              <a:rPr lang="nl-NL" b="1" dirty="0" err="1" smtClean="0"/>
              <a:t>Bx</a:t>
            </a:r>
            <a:r>
              <a:rPr lang="nl-NL" b="1" dirty="0" smtClean="0"/>
              <a:t>  				</a:t>
            </a:r>
            <a:r>
              <a:rPr lang="nl-NL" dirty="0" smtClean="0"/>
              <a:t>I ∃ (5)</a:t>
            </a:r>
            <a:r>
              <a:rPr lang="nl-NL" b="1" dirty="0" smtClean="0"/>
              <a:t> </a:t>
            </a:r>
            <a:endParaRPr lang="nl-NL" dirty="0" smtClean="0"/>
          </a:p>
          <a:p>
            <a:r>
              <a:rPr lang="nl-NL" dirty="0" smtClean="0"/>
              <a:t>7.  (</a:t>
            </a:r>
            <a:r>
              <a:rPr lang="nl-NL" b="1" dirty="0" smtClean="0"/>
              <a:t>Aa</a:t>
            </a:r>
            <a:r>
              <a:rPr lang="nl-NL" dirty="0" smtClean="0"/>
              <a:t> </a:t>
            </a:r>
            <a:r>
              <a:rPr lang="nl-NL" b="1" dirty="0" smtClean="0"/>
              <a:t>→ Ba) → ∃x </a:t>
            </a:r>
            <a:r>
              <a:rPr lang="nl-NL" b="1" dirty="0" err="1" smtClean="0"/>
              <a:t>Bx</a:t>
            </a:r>
            <a:r>
              <a:rPr lang="nl-NL" b="1" dirty="0" smtClean="0"/>
              <a:t> 		</a:t>
            </a:r>
            <a:r>
              <a:rPr lang="nl-NL" dirty="0" smtClean="0"/>
              <a:t>I → (3,6)</a:t>
            </a:r>
            <a:endParaRPr lang="nl-NL" b="1" dirty="0" smtClean="0"/>
          </a:p>
          <a:p>
            <a:r>
              <a:rPr lang="nl-NL" dirty="0" smtClean="0"/>
              <a:t>8.  </a:t>
            </a:r>
            <a:r>
              <a:rPr lang="nl-NL" b="1" dirty="0" smtClean="0"/>
              <a:t>∃x </a:t>
            </a:r>
            <a:r>
              <a:rPr lang="nl-NL" b="1" dirty="0" err="1" smtClean="0"/>
              <a:t>Bx</a:t>
            </a:r>
            <a:r>
              <a:rPr lang="nl-NL" b="1" dirty="0" smtClean="0"/>
              <a:t>	</a:t>
            </a:r>
            <a:r>
              <a:rPr lang="nl-NL" dirty="0" smtClean="0"/>
              <a:t> </a:t>
            </a:r>
            <a:r>
              <a:rPr lang="nl-NL" b="1" dirty="0" smtClean="0"/>
              <a:t>		 	</a:t>
            </a:r>
            <a:r>
              <a:rPr lang="nl-NL" dirty="0" smtClean="0"/>
              <a:t>G ∃</a:t>
            </a:r>
            <a:r>
              <a:rPr lang="nl-NL" b="1" dirty="0" smtClean="0"/>
              <a:t> </a:t>
            </a:r>
            <a:r>
              <a:rPr lang="nl-NL" dirty="0" smtClean="0"/>
              <a:t>(2,7)</a:t>
            </a:r>
            <a:r>
              <a:rPr lang="nl-NL" b="1" dirty="0" smtClean="0"/>
              <a:t> 	</a:t>
            </a:r>
          </a:p>
        </p:txBody>
      </p:sp>
      <p:cxnSp>
        <p:nvCxnSpPr>
          <p:cNvPr id="9" name="Straight Connector 8"/>
          <p:cNvCxnSpPr/>
          <p:nvPr/>
        </p:nvCxnSpPr>
        <p:spPr>
          <a:xfrm flipH="1">
            <a:off x="395536" y="2492896"/>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5536" y="2492896"/>
            <a:ext cx="0" cy="10801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3573016"/>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012160" y="4509120"/>
            <a:ext cx="1152128" cy="369332"/>
          </a:xfrm>
          <a:prstGeom prst="rect">
            <a:avLst/>
          </a:prstGeom>
          <a:noFill/>
        </p:spPr>
        <p:txBody>
          <a:bodyPr wrap="square" rtlCol="0">
            <a:spAutoFit/>
          </a:bodyPr>
          <a:lstStyle/>
          <a:p>
            <a:r>
              <a:rPr lang="nl-NL" dirty="0" smtClean="0"/>
              <a:t>Correct!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uild="allAtOnce"/>
    </p:bld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De vier aanvullende afleidingsregels op een rijtje                                        </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26" name="Text Box 2"/>
          <p:cNvSpPr txBox="1">
            <a:spLocks noChangeArrowheads="1"/>
          </p:cNvSpPr>
          <p:nvPr/>
        </p:nvSpPr>
        <p:spPr bwMode="auto">
          <a:xfrm>
            <a:off x="827584" y="1628800"/>
            <a:ext cx="7352234" cy="4752528"/>
          </a:xfrm>
          <a:prstGeom prst="rect">
            <a:avLst/>
          </a:prstGeom>
          <a:solidFill>
            <a:srgbClr val="FFFFFF"/>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Introductie universele </a:t>
            </a:r>
            <a:r>
              <a:rPr kumimoji="0" lang="nl-NL" sz="1200" b="1" i="0" u="none" strike="noStrike" cap="none" normalizeH="0" baseline="0" dirty="0" err="1" smtClean="0">
                <a:ln>
                  <a:noFill/>
                </a:ln>
                <a:solidFill>
                  <a:schemeClr val="tx1"/>
                </a:solidFill>
                <a:effectLst/>
                <a:latin typeface="Calibri" pitchFamily="34" charset="0"/>
                <a:cs typeface="Arial" pitchFamily="34" charset="0"/>
              </a:rPr>
              <a:t>kwantor</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Gebruik universele </a:t>
            </a:r>
            <a:r>
              <a:rPr kumimoji="0" lang="nl-NL" sz="1200" b="1" i="0" u="none" strike="noStrike" cap="none" normalizeH="0" baseline="0" dirty="0" err="1" smtClean="0">
                <a:ln>
                  <a:noFill/>
                </a:ln>
                <a:solidFill>
                  <a:schemeClr val="tx1"/>
                </a:solidFill>
                <a:effectLst/>
                <a:latin typeface="Calibri" pitchFamily="34" charset="0"/>
                <a:cs typeface="Arial" pitchFamily="34" charset="0"/>
              </a:rPr>
              <a:t>kwantor</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  m.</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a</a:t>
            </a:r>
            <a:r>
              <a:rPr kumimoji="0" lang="nl-NL" sz="1200" b="1" i="0" u="none" strike="noStrike" cap="none" normalizeH="0" baseline="0" dirty="0" smtClean="0">
                <a:ln>
                  <a:noFill/>
                </a:ln>
                <a:solidFill>
                  <a:schemeClr val="tx1"/>
                </a:solidFill>
                <a:effectLst/>
                <a:latin typeface="Calibri" pitchFamily="34" charset="0"/>
                <a:cs typeface="Arial" pitchFamily="34" charset="0"/>
              </a:rPr>
              <a:t>)		 	 m.</a:t>
            </a:r>
            <a:r>
              <a:rPr kumimoji="0" lang="nl-NL" sz="1200" b="1" i="0" u="none" strike="noStrike" cap="none" normalizeH="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endParaRPr kumimoji="0" lang="nl-NL" sz="1200" b="1"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  n.</a:t>
            </a:r>
            <a:r>
              <a:rPr kumimoji="0" lang="nl-NL" sz="1200" b="1" i="0" u="none" strike="noStrike" cap="none" normalizeH="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I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 (m)	  	 n.</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a</a:t>
            </a:r>
            <a:r>
              <a:rPr kumimoji="0" lang="nl-NL" sz="1200" b="1" i="0" u="none" strike="noStrike" cap="none" normalizeH="0" baseline="0" dirty="0" smtClean="0">
                <a:ln>
                  <a:noFill/>
                </a:ln>
                <a:solidFill>
                  <a:schemeClr val="tx1"/>
                </a:solidFill>
                <a:effectLst/>
                <a:latin typeface="Calibri" pitchFamily="34" charset="0"/>
                <a:cs typeface="Arial" pitchFamily="34" charset="0"/>
              </a:rPr>
              <a:t>)	       G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 (m)	</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Calibri" pitchFamily="34" charset="0"/>
                <a:cs typeface="Arial" pitchFamily="34" charset="0"/>
              </a:rPr>
              <a:t>Mits</a:t>
            </a:r>
            <a:r>
              <a:rPr kumimoji="0" lang="nl-NL" sz="1200" b="0" i="0" u="none" strike="noStrike" cap="none" normalizeH="0" dirty="0" smtClean="0">
                <a:ln>
                  <a:noFill/>
                </a:ln>
                <a:solidFill>
                  <a:schemeClr val="tx1"/>
                </a:solidFill>
                <a:effectLst/>
                <a:latin typeface="Calibri" pitchFamily="34" charset="0"/>
                <a:cs typeface="Arial" pitchFamily="34" charset="0"/>
              </a:rPr>
              <a:t>  </a:t>
            </a:r>
            <a:r>
              <a:rPr kumimoji="0" lang="nl-NL" sz="1200" b="1" i="1" u="none" strike="noStrike" cap="none" normalizeH="0" baseline="0" dirty="0" smtClean="0">
                <a:ln>
                  <a:noFill/>
                </a:ln>
                <a:solidFill>
                  <a:schemeClr val="tx1"/>
                </a:solidFill>
                <a:effectLst/>
                <a:latin typeface="Calibri" pitchFamily="34" charset="0"/>
                <a:cs typeface="Arial" pitchFamily="34" charset="0"/>
              </a:rPr>
              <a:t>a</a:t>
            </a:r>
            <a:r>
              <a:rPr kumimoji="0" lang="nl-NL" sz="1200" b="0" i="1" u="none" strike="noStrike" cap="none" normalizeH="0" dirty="0" smtClean="0">
                <a:ln>
                  <a:noFill/>
                </a:ln>
                <a:solidFill>
                  <a:schemeClr val="tx1"/>
                </a:solidFill>
                <a:effectLst/>
                <a:latin typeface="Calibri" pitchFamily="34"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niet optreedt in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en             Voor elke individuconstante </a:t>
            </a:r>
            <a:r>
              <a:rPr kumimoji="0" lang="nl-NL" sz="1200" b="0" i="1" u="none" strike="noStrike" cap="none" normalizeH="0" baseline="0" dirty="0" smtClean="0">
                <a:ln>
                  <a:noFill/>
                </a:ln>
                <a:solidFill>
                  <a:schemeClr val="tx1"/>
                </a:solidFill>
                <a:effectLst/>
                <a:latin typeface="Calibri" pitchFamily="34" charset="0"/>
                <a:cs typeface="Arial" pitchFamily="34" charset="0"/>
              </a:rPr>
              <a:t>a</a:t>
            </a:r>
            <a:r>
              <a:rPr kumimoji="0" lang="nl-NL" sz="1200" b="0" i="0" u="none" strike="noStrike" cap="none" normalizeH="0" baseline="0" dirty="0" smtClean="0">
                <a:ln>
                  <a:noFill/>
                </a:ln>
                <a:solidFill>
                  <a:schemeClr val="tx1"/>
                </a:solidFill>
                <a:effectLst/>
                <a:latin typeface="Calibri" pitchFamily="34" charset="0"/>
                <a:cs typeface="Arial" pitchFamily="34" charset="0"/>
              </a:rPr>
              <a:t>                                                                                                                                         evenmin in een premisse of niet-                                                                                                                                                       vervallen assumptie	</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Introductie existentiële </a:t>
            </a:r>
            <a:r>
              <a:rPr kumimoji="0" lang="nl-NL" sz="1200" b="1" i="0" u="none" strike="noStrike" cap="none" normalizeH="0" baseline="0" dirty="0" err="1" smtClean="0">
                <a:ln>
                  <a:noFill/>
                </a:ln>
                <a:solidFill>
                  <a:schemeClr val="tx1"/>
                </a:solidFill>
                <a:effectLst/>
                <a:latin typeface="Calibri" pitchFamily="34" charset="0"/>
                <a:cs typeface="Arial" pitchFamily="34" charset="0"/>
              </a:rPr>
              <a:t>kwantor</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Gebruik existentiële </a:t>
            </a:r>
            <a:r>
              <a:rPr kumimoji="0" lang="nl-NL" sz="1200" b="1" i="0" u="none" strike="noStrike" cap="none" normalizeH="0" baseline="0" dirty="0" err="1" smtClean="0">
                <a:ln>
                  <a:noFill/>
                </a:ln>
                <a:solidFill>
                  <a:schemeClr val="tx1"/>
                </a:solidFill>
                <a:effectLst/>
                <a:latin typeface="Calibri" pitchFamily="34" charset="0"/>
                <a:cs typeface="Arial" pitchFamily="34" charset="0"/>
              </a:rPr>
              <a:t>kwantor</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  m.</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a</a:t>
            </a:r>
            <a:r>
              <a:rPr kumimoji="0" lang="nl-NL" sz="1200" b="1" i="0" u="none" strike="noStrike" cap="none" normalizeH="0" baseline="0" dirty="0" smtClean="0">
                <a:ln>
                  <a:noFill/>
                </a:ln>
                <a:solidFill>
                  <a:schemeClr val="tx1"/>
                </a:solidFill>
                <a:effectLst/>
                <a:latin typeface="Calibri" pitchFamily="34" charset="0"/>
                <a:cs typeface="Arial" pitchFamily="34" charset="0"/>
              </a:rPr>
              <a:t>)		  	m.</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endParaRPr kumimoji="0" lang="nl-NL" sz="1200" b="1"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Calibri" pitchFamily="34" charset="0"/>
                <a:cs typeface="Arial" pitchFamily="34" charset="0"/>
              </a:rPr>
              <a:t>  n.</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I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 (m)	  	n.</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a</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nl-NL" sz="1200" b="1"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o.</a:t>
            </a:r>
            <a:r>
              <a:rPr lang="nl-NL" sz="1200" b="1" dirty="0" smtClean="0">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Times New Roman" pitchFamily="18" charset="0"/>
                <a:cs typeface="Arial" pitchFamily="34" charset="0"/>
              </a:rPr>
              <a:t>	         </a:t>
            </a:r>
            <a:r>
              <a:rPr kumimoji="0" lang="nl-NL" sz="1200" b="1" i="0" u="none" strike="noStrike" cap="none" normalizeH="0" baseline="0" dirty="0" smtClean="0">
                <a:ln>
                  <a:noFill/>
                </a:ln>
                <a:solidFill>
                  <a:schemeClr val="tx1"/>
                </a:solidFill>
                <a:effectLst/>
                <a:latin typeface="Calibri" pitchFamily="34" charset="0"/>
                <a:cs typeface="Arial" pitchFamily="34" charset="0"/>
              </a:rPr>
              <a:t>G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 (m, n)	</a:t>
            </a:r>
            <a:r>
              <a:rPr kumimoji="0" lang="nl-NL" sz="1200" b="0" i="0" u="none" strike="noStrike" cap="none" normalizeH="0" baseline="0" dirty="0" smtClean="0">
                <a:ln>
                  <a:noFill/>
                </a:ln>
                <a:solidFill>
                  <a:schemeClr val="tx1"/>
                </a:solidFill>
                <a:effectLst/>
                <a:latin typeface="Times New Roman" pitchFamily="18" charset="0"/>
                <a:cs typeface="Arial" pitchFamily="34" charset="0"/>
              </a:rPr>
              <a:t>	</a:t>
            </a:r>
          </a:p>
          <a:p>
            <a:pPr marL="0" marR="0" lvl="0" indent="0" algn="l" defTabSz="914400" rtl="0" eaLnBrk="1" fontAlgn="base" latinLnBrk="0" hangingPunct="1">
              <a:lnSpc>
                <a:spcPct val="100000"/>
              </a:lnSpc>
              <a:spcBef>
                <a:spcPct val="0"/>
              </a:spcBef>
              <a:spcAft>
                <a:spcPts val="1000"/>
              </a:spcAft>
              <a:buClrTx/>
              <a:buSzTx/>
              <a:buFontTx/>
              <a:buNone/>
              <a:tabLst/>
            </a:pPr>
            <a:r>
              <a:rPr lang="nl-NL" sz="1200" dirty="0" smtClean="0">
                <a:latin typeface="Times New Roman" pitchFamily="18" charset="0"/>
                <a:cs typeface="Arial" pitchFamily="34" charset="0"/>
              </a:rPr>
              <a:t>			</a:t>
            </a:r>
            <a:r>
              <a:rPr kumimoji="0" lang="nl-NL" sz="1200" b="0" i="0" u="none" strike="noStrike" cap="none" normalizeH="0" baseline="0" dirty="0" smtClean="0">
                <a:ln>
                  <a:noFill/>
                </a:ln>
                <a:solidFill>
                  <a:schemeClr val="tx1"/>
                </a:solidFill>
                <a:effectLst/>
                <a:latin typeface="Calibri" pitchFamily="34" charset="0"/>
                <a:cs typeface="Arial" pitchFamily="34" charset="0"/>
              </a:rPr>
              <a:t>Mits  </a:t>
            </a:r>
            <a:r>
              <a:rPr kumimoji="0" lang="nl-NL" sz="1200" b="1" i="1" u="none" strike="noStrike" cap="none" normalizeH="0" baseline="0" dirty="0" smtClean="0">
                <a:ln>
                  <a:noFill/>
                </a:ln>
                <a:solidFill>
                  <a:schemeClr val="tx1"/>
                </a:solidFill>
                <a:effectLst/>
                <a:latin typeface="Calibri" pitchFamily="34" charset="0"/>
                <a:cs typeface="Arial" pitchFamily="34" charset="0"/>
              </a:rPr>
              <a:t>a</a:t>
            </a:r>
            <a:r>
              <a:rPr kumimoji="0" lang="nl-NL" sz="1200" b="0" i="0" u="none" strike="noStrike" cap="none" normalizeH="0" baseline="0" dirty="0" smtClean="0">
                <a:ln>
                  <a:noFill/>
                </a:ln>
                <a:solidFill>
                  <a:schemeClr val="tx1"/>
                </a:solidFill>
                <a:effectLst/>
                <a:latin typeface="Calibri" pitchFamily="34" charset="0"/>
                <a:cs typeface="Arial" pitchFamily="34" charset="0"/>
              </a:rPr>
              <a:t>  niet optreedt in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niet in                                                                              </a:t>
            </a:r>
            <a:br>
              <a:rPr kumimoji="0" lang="nl-NL" sz="1200" b="0" i="0" u="none" strike="noStrike" cap="none" normalizeH="0" baseline="0" dirty="0" smtClean="0">
                <a:ln>
                  <a:noFill/>
                </a:ln>
                <a:solidFill>
                  <a:schemeClr val="tx1"/>
                </a:solidFill>
                <a:effectLst/>
                <a:latin typeface="Calibri" pitchFamily="34" charset="0"/>
                <a:cs typeface="Arial" pitchFamily="34" charset="0"/>
              </a:rPr>
            </a:b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 </a:t>
            </a:r>
            <a:r>
              <a:rPr kumimoji="0" lang="nl-NL" sz="1200" b="1" i="0" u="none" strike="noStrike" cap="none" normalizeH="0" baseline="0" dirty="0" smtClean="0">
                <a:ln>
                  <a:noFill/>
                </a:ln>
                <a:solidFill>
                  <a:schemeClr val="tx1"/>
                </a:solidFill>
                <a:effectLst/>
                <a:latin typeface="Times New Roman" pitchFamily="18" charset="0"/>
                <a:cs typeface="Arial" pitchFamily="34" charset="0"/>
                <a:sym typeface="Symbol" pitchFamily="18" charset="2"/>
              </a:rPr>
              <a:t></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1" i="1" u="none" strike="noStrike" cap="none" normalizeH="0" baseline="0" dirty="0" smtClean="0">
                <a:ln>
                  <a:noFill/>
                </a:ln>
                <a:solidFill>
                  <a:schemeClr val="tx1"/>
                </a:solidFill>
                <a:effectLst/>
                <a:latin typeface="Calibri" pitchFamily="34" charset="0"/>
                <a:cs typeface="Arial" pitchFamily="34" charset="0"/>
              </a:rPr>
              <a:t>x</a:t>
            </a:r>
            <a:r>
              <a:rPr kumimoji="0" lang="nl-NL" sz="1200" b="1" i="0" u="none" strike="noStrike" cap="none" normalizeH="0" baseline="0" dirty="0" smtClean="0">
                <a:ln>
                  <a:noFill/>
                </a:ln>
                <a:solidFill>
                  <a:schemeClr val="tx1"/>
                </a:solidFill>
                <a:effectLst/>
                <a:latin typeface="Calibri" pitchFamily="34" charset="0"/>
                <a:cs typeface="Arial" pitchFamily="34" charset="0"/>
              </a:rPr>
              <a:t>)</a:t>
            </a:r>
            <a:r>
              <a:rPr kumimoji="0" lang="nl-NL" sz="1200" b="0" i="0" u="none" strike="noStrike" cap="none" normalizeH="0" baseline="0" dirty="0" smtClean="0">
                <a:ln>
                  <a:noFill/>
                </a:ln>
                <a:solidFill>
                  <a:schemeClr val="tx1"/>
                </a:solidFill>
                <a:effectLst/>
                <a:latin typeface="Calibri" pitchFamily="34" charset="0"/>
                <a:cs typeface="Arial" pitchFamily="34" charset="0"/>
              </a:rPr>
              <a:t> en niet in een premisse of                                                                       </a:t>
            </a:r>
            <a:br>
              <a:rPr kumimoji="0" lang="nl-NL" sz="1200" b="0" i="0" u="none" strike="noStrike" cap="none" normalizeH="0" baseline="0" dirty="0" smtClean="0">
                <a:ln>
                  <a:noFill/>
                </a:ln>
                <a:solidFill>
                  <a:schemeClr val="tx1"/>
                </a:solidFill>
                <a:effectLst/>
                <a:latin typeface="Calibri" pitchFamily="34" charset="0"/>
                <a:cs typeface="Arial" pitchFamily="34" charset="0"/>
              </a:rPr>
            </a:br>
            <a:r>
              <a:rPr kumimoji="0" lang="nl-NL" sz="1200" b="0" i="0" u="none" strike="noStrike" cap="none" normalizeH="0" baseline="0" dirty="0" smtClean="0">
                <a:ln>
                  <a:noFill/>
                </a:ln>
                <a:solidFill>
                  <a:schemeClr val="tx1"/>
                </a:solidFill>
                <a:effectLst/>
                <a:latin typeface="Calibri" pitchFamily="34" charset="0"/>
                <a:cs typeface="Arial" pitchFamily="34" charset="0"/>
              </a:rPr>
              <a:t>                                                                               niet-vervallen assumptie	</a:t>
            </a:r>
            <a:endParaRPr kumimoji="0" lang="nl-NL" sz="1200" b="0" i="0" u="none" strike="noStrike" cap="none" normalizeH="0" baseline="0" dirty="0" smtClean="0">
              <a:ln>
                <a:noFill/>
              </a:ln>
              <a:solidFill>
                <a:schemeClr val="tx1"/>
              </a:solidFill>
              <a:effectLst/>
              <a:latin typeface="Times New Roman" pitchFamily="18"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nl-NL"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Tot slot nog twee voorbeelden</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416820"/>
            <a:ext cx="7848872" cy="2585323"/>
          </a:xfrm>
          <a:prstGeom prst="rect">
            <a:avLst/>
          </a:prstGeom>
        </p:spPr>
        <p:txBody>
          <a:bodyPr wrap="square">
            <a:spAutoFit/>
          </a:bodyPr>
          <a:lstStyle/>
          <a:p>
            <a:r>
              <a:rPr lang="nl-NL" dirty="0" smtClean="0"/>
              <a:t>1.</a:t>
            </a:r>
            <a:r>
              <a:rPr lang="nl-NL" b="1" dirty="0" smtClean="0"/>
              <a:t> ¬∃x (</a:t>
            </a:r>
            <a:r>
              <a:rPr lang="nl-NL" b="1" dirty="0" err="1" smtClean="0"/>
              <a:t>Ax</a:t>
            </a:r>
            <a:r>
              <a:rPr lang="nl-NL" b="1" dirty="0" smtClean="0"/>
              <a:t> ∧ </a:t>
            </a:r>
            <a:r>
              <a:rPr lang="nl-NL" b="1" dirty="0" err="1" smtClean="0"/>
              <a:t>Bx</a:t>
            </a:r>
            <a:r>
              <a:rPr lang="nl-NL" b="1" dirty="0" smtClean="0"/>
              <a:t>) 			</a:t>
            </a:r>
            <a:r>
              <a:rPr lang="nl-NL" dirty="0" smtClean="0"/>
              <a:t>Prem.</a:t>
            </a:r>
          </a:p>
          <a:p>
            <a:r>
              <a:rPr lang="nl-NL" dirty="0" smtClean="0"/>
              <a:t>2. </a:t>
            </a:r>
            <a:r>
              <a:rPr lang="nl-NL" b="1" dirty="0" smtClean="0"/>
              <a:t>Ba				</a:t>
            </a:r>
            <a:r>
              <a:rPr lang="nl-NL" dirty="0" err="1" smtClean="0"/>
              <a:t>Ass</a:t>
            </a:r>
            <a:r>
              <a:rPr lang="nl-NL" dirty="0" smtClean="0"/>
              <a:t>.</a:t>
            </a:r>
          </a:p>
          <a:p>
            <a:r>
              <a:rPr lang="nl-NL" dirty="0" smtClean="0"/>
              <a:t>3. </a:t>
            </a:r>
            <a:r>
              <a:rPr lang="nl-NL" b="1" dirty="0" smtClean="0"/>
              <a:t>Aa 		</a:t>
            </a:r>
            <a:r>
              <a:rPr lang="nl-NL" dirty="0" smtClean="0"/>
              <a:t>	</a:t>
            </a:r>
            <a:r>
              <a:rPr lang="nl-NL" b="1" dirty="0" smtClean="0"/>
              <a:t>	</a:t>
            </a:r>
            <a:r>
              <a:rPr lang="nl-NL" dirty="0" err="1" smtClean="0"/>
              <a:t>Ass</a:t>
            </a:r>
            <a:r>
              <a:rPr lang="nl-NL" dirty="0" smtClean="0"/>
              <a:t>.</a:t>
            </a:r>
          </a:p>
          <a:p>
            <a:r>
              <a:rPr lang="nl-NL" dirty="0" smtClean="0"/>
              <a:t>4. </a:t>
            </a:r>
            <a:r>
              <a:rPr lang="nl-NL" b="1" dirty="0" smtClean="0"/>
              <a:t>Aa ∧ Ba			</a:t>
            </a:r>
            <a:r>
              <a:rPr lang="nl-NL" dirty="0" smtClean="0"/>
              <a:t>I ∧ (2,3) </a:t>
            </a:r>
            <a:r>
              <a:rPr lang="nl-NL" b="1" dirty="0" smtClean="0"/>
              <a:t>	</a:t>
            </a:r>
            <a:endParaRPr lang="nl-NL" dirty="0" smtClean="0"/>
          </a:p>
          <a:p>
            <a:r>
              <a:rPr lang="nl-NL" dirty="0" smtClean="0"/>
              <a:t>5. </a:t>
            </a:r>
            <a:r>
              <a:rPr lang="nl-NL" b="1" dirty="0" smtClean="0"/>
              <a:t>∃x (</a:t>
            </a:r>
            <a:r>
              <a:rPr lang="nl-NL" b="1" dirty="0" err="1" smtClean="0"/>
              <a:t>Ax</a:t>
            </a:r>
            <a:r>
              <a:rPr lang="nl-NL" b="1" dirty="0" smtClean="0"/>
              <a:t> ∧ </a:t>
            </a:r>
            <a:r>
              <a:rPr lang="nl-NL" b="1" dirty="0" err="1" smtClean="0"/>
              <a:t>Bx</a:t>
            </a:r>
            <a:r>
              <a:rPr lang="nl-NL" b="1" dirty="0" smtClean="0"/>
              <a:t>) 	  		</a:t>
            </a:r>
            <a:r>
              <a:rPr lang="nl-NL" dirty="0" smtClean="0"/>
              <a:t>I ∃ (4)</a:t>
            </a:r>
          </a:p>
          <a:p>
            <a:r>
              <a:rPr lang="nl-NL" dirty="0" smtClean="0"/>
              <a:t>6. </a:t>
            </a:r>
            <a:r>
              <a:rPr lang="nl-NL" b="1" dirty="0" smtClean="0"/>
              <a:t>∃x (</a:t>
            </a:r>
            <a:r>
              <a:rPr lang="nl-NL" b="1" dirty="0" err="1" smtClean="0"/>
              <a:t>Ax</a:t>
            </a:r>
            <a:r>
              <a:rPr lang="nl-NL" b="1" dirty="0" smtClean="0"/>
              <a:t> ∧ </a:t>
            </a:r>
            <a:r>
              <a:rPr lang="nl-NL" b="1" dirty="0" err="1" smtClean="0"/>
              <a:t>Bx</a:t>
            </a:r>
            <a:r>
              <a:rPr lang="nl-NL" b="1" dirty="0" smtClean="0"/>
              <a:t>) ∧ ¬∃x (</a:t>
            </a:r>
            <a:r>
              <a:rPr lang="nl-NL" b="1" dirty="0" err="1" smtClean="0"/>
              <a:t>Ax</a:t>
            </a:r>
            <a:r>
              <a:rPr lang="nl-NL" b="1" dirty="0" smtClean="0"/>
              <a:t> ∧ </a:t>
            </a:r>
            <a:r>
              <a:rPr lang="nl-NL" b="1" dirty="0" err="1" smtClean="0"/>
              <a:t>Bx</a:t>
            </a:r>
            <a:r>
              <a:rPr lang="nl-NL" b="1" dirty="0" smtClean="0"/>
              <a:t>) 	</a:t>
            </a:r>
            <a:r>
              <a:rPr lang="nl-NL" dirty="0" smtClean="0"/>
              <a:t>I ∧ (1,5)</a:t>
            </a:r>
            <a:r>
              <a:rPr lang="nl-NL" b="1" dirty="0" smtClean="0"/>
              <a:t> </a:t>
            </a:r>
            <a:endParaRPr lang="nl-NL" dirty="0" smtClean="0"/>
          </a:p>
          <a:p>
            <a:r>
              <a:rPr lang="nl-NL" dirty="0" smtClean="0"/>
              <a:t>7. </a:t>
            </a:r>
            <a:r>
              <a:rPr lang="nl-NL" b="1" dirty="0" smtClean="0"/>
              <a:t>¬Aa 				</a:t>
            </a:r>
            <a:r>
              <a:rPr lang="nl-NL" dirty="0" smtClean="0"/>
              <a:t>I ¬ (3,6)</a:t>
            </a:r>
            <a:endParaRPr lang="nl-NL" b="1" dirty="0" smtClean="0"/>
          </a:p>
          <a:p>
            <a:r>
              <a:rPr lang="nl-NL" dirty="0" smtClean="0"/>
              <a:t>8. </a:t>
            </a:r>
            <a:r>
              <a:rPr lang="nl-NL" b="1" dirty="0" smtClean="0"/>
              <a:t>Ba → ¬Aa  	</a:t>
            </a:r>
            <a:r>
              <a:rPr lang="nl-NL" dirty="0" smtClean="0"/>
              <a:t> </a:t>
            </a:r>
            <a:r>
              <a:rPr lang="nl-NL" b="1" dirty="0" smtClean="0"/>
              <a:t>		</a:t>
            </a:r>
            <a:r>
              <a:rPr lang="nl-NL" dirty="0" smtClean="0"/>
              <a:t>I →</a:t>
            </a:r>
            <a:r>
              <a:rPr lang="nl-NL" b="1" dirty="0" smtClean="0"/>
              <a:t> </a:t>
            </a:r>
            <a:r>
              <a:rPr lang="nl-NL" dirty="0" smtClean="0"/>
              <a:t>(2,7)</a:t>
            </a:r>
          </a:p>
          <a:p>
            <a:r>
              <a:rPr lang="nl-NL" dirty="0" smtClean="0"/>
              <a:t>9. </a:t>
            </a:r>
            <a:r>
              <a:rPr lang="nl-NL" b="1" dirty="0" smtClean="0"/>
              <a:t>∀x (</a:t>
            </a:r>
            <a:r>
              <a:rPr lang="nl-NL" b="1" dirty="0" err="1" smtClean="0"/>
              <a:t>Bx</a:t>
            </a:r>
            <a:r>
              <a:rPr lang="nl-NL" b="1" dirty="0" smtClean="0"/>
              <a:t> → ¬</a:t>
            </a:r>
            <a:r>
              <a:rPr lang="nl-NL" b="1" dirty="0" err="1" smtClean="0"/>
              <a:t>Ax</a:t>
            </a:r>
            <a:r>
              <a:rPr lang="nl-NL" b="1" dirty="0" smtClean="0"/>
              <a:t>)			</a:t>
            </a:r>
            <a:r>
              <a:rPr lang="nl-NL" dirty="0" smtClean="0"/>
              <a:t>I ∀ (8)  </a:t>
            </a:r>
            <a:r>
              <a:rPr lang="nl-NL" b="1" dirty="0" smtClean="0"/>
              <a:t>	</a:t>
            </a:r>
          </a:p>
        </p:txBody>
      </p:sp>
      <p:cxnSp>
        <p:nvCxnSpPr>
          <p:cNvPr id="9" name="Straight Connector 8"/>
          <p:cNvCxnSpPr/>
          <p:nvPr/>
        </p:nvCxnSpPr>
        <p:spPr>
          <a:xfrm flipH="1">
            <a:off x="179512" y="2780928"/>
            <a:ext cx="86409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79512" y="2780928"/>
            <a:ext cx="0" cy="158417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4077072"/>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5536" y="1628800"/>
            <a:ext cx="7848872" cy="369332"/>
          </a:xfrm>
          <a:prstGeom prst="rect">
            <a:avLst/>
          </a:prstGeom>
        </p:spPr>
        <p:txBody>
          <a:bodyPr wrap="square">
            <a:spAutoFit/>
          </a:bodyPr>
          <a:lstStyle/>
          <a:p>
            <a:r>
              <a:rPr lang="nl-NL" b="1" dirty="0" smtClean="0"/>
              <a:t>¬∃x (</a:t>
            </a:r>
            <a:r>
              <a:rPr lang="nl-NL" b="1" dirty="0" err="1" smtClean="0"/>
              <a:t>Ax</a:t>
            </a:r>
            <a:r>
              <a:rPr lang="nl-NL" b="1" dirty="0" smtClean="0"/>
              <a:t> ∧ </a:t>
            </a:r>
            <a:r>
              <a:rPr lang="nl-NL" b="1" dirty="0" err="1" smtClean="0"/>
              <a:t>Bx</a:t>
            </a:r>
            <a:r>
              <a:rPr lang="nl-NL" b="1" dirty="0" smtClean="0"/>
              <a:t>)    Ⱶ    ∀x (</a:t>
            </a:r>
            <a:r>
              <a:rPr lang="nl-NL" b="1" dirty="0" err="1" smtClean="0"/>
              <a:t>Bx</a:t>
            </a:r>
            <a:r>
              <a:rPr lang="nl-NL" b="1" dirty="0" smtClean="0"/>
              <a:t> → ¬</a:t>
            </a:r>
            <a:r>
              <a:rPr lang="nl-NL" b="1" dirty="0" err="1" smtClean="0"/>
              <a:t>Ax</a:t>
            </a:r>
            <a:r>
              <a:rPr lang="nl-NL" b="1" dirty="0" smtClean="0"/>
              <a:t>) 	</a:t>
            </a:r>
            <a:r>
              <a:rPr lang="nl-NL" dirty="0" smtClean="0"/>
              <a:t> 	 	</a:t>
            </a:r>
            <a:endParaRPr lang="nl-NL" dirty="0"/>
          </a:p>
        </p:txBody>
      </p:sp>
      <p:cxnSp>
        <p:nvCxnSpPr>
          <p:cNvPr id="16" name="Straight Connector 15"/>
          <p:cNvCxnSpPr/>
          <p:nvPr/>
        </p:nvCxnSpPr>
        <p:spPr>
          <a:xfrm flipH="1">
            <a:off x="395536" y="2996952"/>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95536" y="2996952"/>
            <a:ext cx="0" cy="10801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179512" y="4365104"/>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0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20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20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Tot slot nog twee voorbeelden</a:t>
            </a:r>
            <a:endParaRPr lang="nl-NL" sz="3600" dirty="0"/>
          </a:p>
        </p:txBody>
      </p:sp>
      <p:sp>
        <p:nvSpPr>
          <p:cNvPr id="10" name="Content Placeholder 2"/>
          <p:cNvSpPr txBox="1">
            <a:spLocks/>
          </p:cNvSpPr>
          <p:nvPr/>
        </p:nvSpPr>
        <p:spPr>
          <a:xfrm>
            <a:off x="457200" y="5776664"/>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Rectangle 7"/>
          <p:cNvSpPr/>
          <p:nvPr/>
        </p:nvSpPr>
        <p:spPr>
          <a:xfrm>
            <a:off x="395536" y="2427853"/>
            <a:ext cx="7848872" cy="3139321"/>
          </a:xfrm>
          <a:prstGeom prst="rect">
            <a:avLst/>
          </a:prstGeom>
        </p:spPr>
        <p:txBody>
          <a:bodyPr wrap="square">
            <a:spAutoFit/>
          </a:bodyPr>
          <a:lstStyle/>
          <a:p>
            <a:r>
              <a:rPr lang="nl-NL" dirty="0" smtClean="0"/>
              <a:t>1. </a:t>
            </a:r>
            <a:r>
              <a:rPr lang="nl-NL" b="1" dirty="0" smtClean="0"/>
              <a:t>∀x (</a:t>
            </a:r>
            <a:r>
              <a:rPr lang="nl-NL" b="1" dirty="0" err="1" smtClean="0"/>
              <a:t>Ax</a:t>
            </a:r>
            <a:r>
              <a:rPr lang="nl-NL" b="1" dirty="0" smtClean="0"/>
              <a:t> → </a:t>
            </a:r>
            <a:r>
              <a:rPr lang="nl-NL" b="1" dirty="0" err="1" smtClean="0"/>
              <a:t>Bx</a:t>
            </a:r>
            <a:r>
              <a:rPr lang="nl-NL" b="1" dirty="0" smtClean="0"/>
              <a:t>) 			</a:t>
            </a:r>
            <a:r>
              <a:rPr lang="nl-NL" dirty="0" smtClean="0"/>
              <a:t>Prem.</a:t>
            </a:r>
          </a:p>
          <a:p>
            <a:r>
              <a:rPr lang="nl-NL" dirty="0" smtClean="0"/>
              <a:t>2. </a:t>
            </a:r>
            <a:r>
              <a:rPr lang="nl-NL" b="1" dirty="0" smtClean="0"/>
              <a:t>∃x ¬</a:t>
            </a:r>
            <a:r>
              <a:rPr lang="nl-NL" b="1" dirty="0" err="1" smtClean="0"/>
              <a:t>Bx</a:t>
            </a:r>
            <a:r>
              <a:rPr lang="nl-NL" b="1" dirty="0" smtClean="0"/>
              <a:t> 				</a:t>
            </a:r>
            <a:r>
              <a:rPr lang="nl-NL" dirty="0" smtClean="0"/>
              <a:t>Prem.</a:t>
            </a:r>
          </a:p>
          <a:p>
            <a:r>
              <a:rPr lang="nl-NL" dirty="0" smtClean="0"/>
              <a:t>3. </a:t>
            </a:r>
            <a:r>
              <a:rPr lang="nl-NL" b="1" dirty="0" smtClean="0"/>
              <a:t>¬Ba 		</a:t>
            </a:r>
            <a:r>
              <a:rPr lang="nl-NL" dirty="0" smtClean="0"/>
              <a:t>	</a:t>
            </a:r>
            <a:r>
              <a:rPr lang="nl-NL" b="1" dirty="0" smtClean="0"/>
              <a:t>	</a:t>
            </a:r>
            <a:r>
              <a:rPr lang="nl-NL" dirty="0" err="1" smtClean="0"/>
              <a:t>Ass</a:t>
            </a:r>
            <a:r>
              <a:rPr lang="nl-NL" dirty="0" smtClean="0"/>
              <a:t>.</a:t>
            </a:r>
          </a:p>
          <a:p>
            <a:r>
              <a:rPr lang="nl-NL" dirty="0" smtClean="0"/>
              <a:t>4. </a:t>
            </a:r>
            <a:r>
              <a:rPr lang="nl-NL" b="1" dirty="0" smtClean="0"/>
              <a:t>Aa → Ba			</a:t>
            </a:r>
            <a:r>
              <a:rPr lang="nl-NL" dirty="0" smtClean="0"/>
              <a:t>G ∀ (1) </a:t>
            </a:r>
            <a:r>
              <a:rPr lang="nl-NL" b="1" dirty="0" smtClean="0"/>
              <a:t>	</a:t>
            </a:r>
            <a:endParaRPr lang="nl-NL" dirty="0" smtClean="0"/>
          </a:p>
          <a:p>
            <a:r>
              <a:rPr lang="nl-NL" dirty="0" smtClean="0"/>
              <a:t>5. </a:t>
            </a:r>
            <a:r>
              <a:rPr lang="nl-NL" b="1" dirty="0" smtClean="0"/>
              <a:t>Aa 	  			</a:t>
            </a:r>
            <a:r>
              <a:rPr lang="nl-NL" dirty="0" err="1" smtClean="0"/>
              <a:t>Ass</a:t>
            </a:r>
            <a:r>
              <a:rPr lang="nl-NL" dirty="0" smtClean="0"/>
              <a:t>.</a:t>
            </a:r>
          </a:p>
          <a:p>
            <a:r>
              <a:rPr lang="nl-NL" dirty="0" smtClean="0"/>
              <a:t>6. </a:t>
            </a:r>
            <a:r>
              <a:rPr lang="nl-NL" b="1" dirty="0" smtClean="0"/>
              <a:t>Ba				</a:t>
            </a:r>
            <a:r>
              <a:rPr lang="nl-NL" dirty="0" smtClean="0"/>
              <a:t>G → (4,5)</a:t>
            </a:r>
            <a:r>
              <a:rPr lang="nl-NL" b="1" dirty="0" smtClean="0"/>
              <a:t> </a:t>
            </a:r>
            <a:endParaRPr lang="nl-NL" dirty="0" smtClean="0"/>
          </a:p>
          <a:p>
            <a:r>
              <a:rPr lang="nl-NL" dirty="0" smtClean="0"/>
              <a:t>7. </a:t>
            </a:r>
            <a:r>
              <a:rPr lang="nl-NL" b="1" dirty="0" smtClean="0"/>
              <a:t>Ba</a:t>
            </a:r>
            <a:r>
              <a:rPr lang="nl-NL" dirty="0" smtClean="0"/>
              <a:t> </a:t>
            </a:r>
            <a:r>
              <a:rPr lang="nl-NL" b="1" dirty="0" smtClean="0"/>
              <a:t>∧</a:t>
            </a:r>
            <a:r>
              <a:rPr lang="nl-NL" dirty="0" smtClean="0"/>
              <a:t> </a:t>
            </a:r>
            <a:r>
              <a:rPr lang="nl-NL" b="1" dirty="0" smtClean="0"/>
              <a:t>¬Ba 		                  </a:t>
            </a:r>
            <a:r>
              <a:rPr lang="nl-NL" dirty="0" smtClean="0"/>
              <a:t>I ∧ (3,6)</a:t>
            </a:r>
            <a:endParaRPr lang="nl-NL" b="1" dirty="0" smtClean="0"/>
          </a:p>
          <a:p>
            <a:r>
              <a:rPr lang="nl-NL" dirty="0" smtClean="0"/>
              <a:t>8. </a:t>
            </a:r>
            <a:r>
              <a:rPr lang="nl-NL" b="1" dirty="0" smtClean="0"/>
              <a:t>¬Aa  	</a:t>
            </a:r>
            <a:r>
              <a:rPr lang="nl-NL" dirty="0" smtClean="0"/>
              <a:t> </a:t>
            </a:r>
            <a:r>
              <a:rPr lang="nl-NL" b="1" dirty="0" smtClean="0"/>
              <a:t>			</a:t>
            </a:r>
            <a:r>
              <a:rPr lang="nl-NL" dirty="0" smtClean="0"/>
              <a:t>I ¬</a:t>
            </a:r>
            <a:r>
              <a:rPr lang="nl-NL" b="1" dirty="0" smtClean="0"/>
              <a:t> </a:t>
            </a:r>
            <a:r>
              <a:rPr lang="nl-NL" dirty="0" smtClean="0"/>
              <a:t>(5,7)</a:t>
            </a:r>
          </a:p>
          <a:p>
            <a:r>
              <a:rPr lang="nl-NL" dirty="0" smtClean="0"/>
              <a:t>9. </a:t>
            </a:r>
            <a:r>
              <a:rPr lang="nl-NL" b="1" dirty="0" smtClean="0"/>
              <a:t>∃x ¬</a:t>
            </a:r>
            <a:r>
              <a:rPr lang="nl-NL" b="1" dirty="0" err="1" smtClean="0"/>
              <a:t>Ax</a:t>
            </a:r>
            <a:r>
              <a:rPr lang="nl-NL" b="1" dirty="0" smtClean="0"/>
              <a:t>				</a:t>
            </a:r>
            <a:r>
              <a:rPr lang="nl-NL" dirty="0" smtClean="0"/>
              <a:t>I ∃ (8) </a:t>
            </a:r>
          </a:p>
          <a:p>
            <a:r>
              <a:rPr lang="nl-NL" dirty="0" smtClean="0"/>
              <a:t>10.</a:t>
            </a:r>
            <a:r>
              <a:rPr lang="nl-NL" b="1" dirty="0" smtClean="0"/>
              <a:t> ¬Ba → ∃x ¬</a:t>
            </a:r>
            <a:r>
              <a:rPr lang="nl-NL" b="1" dirty="0" err="1" smtClean="0"/>
              <a:t>Ax</a:t>
            </a:r>
            <a:r>
              <a:rPr lang="nl-NL" dirty="0" smtClean="0"/>
              <a:t> </a:t>
            </a:r>
            <a:r>
              <a:rPr lang="nl-NL" b="1" dirty="0" smtClean="0"/>
              <a:t>			</a:t>
            </a:r>
            <a:r>
              <a:rPr lang="nl-NL" dirty="0" smtClean="0"/>
              <a:t>I</a:t>
            </a:r>
            <a:r>
              <a:rPr lang="nl-NL" b="1" dirty="0" smtClean="0"/>
              <a:t> </a:t>
            </a:r>
            <a:r>
              <a:rPr lang="nl-NL" dirty="0" smtClean="0"/>
              <a:t>→ (3,9)</a:t>
            </a:r>
          </a:p>
          <a:p>
            <a:r>
              <a:rPr lang="nl-NL" dirty="0" smtClean="0"/>
              <a:t>11. </a:t>
            </a:r>
            <a:r>
              <a:rPr lang="nl-NL" b="1" dirty="0" smtClean="0"/>
              <a:t>∃x ¬</a:t>
            </a:r>
            <a:r>
              <a:rPr lang="nl-NL" b="1" dirty="0" err="1" smtClean="0"/>
              <a:t>Ax</a:t>
            </a:r>
            <a:r>
              <a:rPr lang="nl-NL" b="1" dirty="0" smtClean="0"/>
              <a:t> 			</a:t>
            </a:r>
            <a:r>
              <a:rPr lang="nl-NL" dirty="0" smtClean="0"/>
              <a:t>G ∃ (2,10)</a:t>
            </a:r>
            <a:r>
              <a:rPr lang="nl-NL" b="1" dirty="0" smtClean="0"/>
              <a:t> </a:t>
            </a:r>
          </a:p>
        </p:txBody>
      </p:sp>
      <p:cxnSp>
        <p:nvCxnSpPr>
          <p:cNvPr id="9" name="Straight Connector 8"/>
          <p:cNvCxnSpPr/>
          <p:nvPr/>
        </p:nvCxnSpPr>
        <p:spPr>
          <a:xfrm flipH="1">
            <a:off x="179512" y="2996952"/>
            <a:ext cx="86409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79512" y="2996952"/>
            <a:ext cx="0" cy="194421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95536" y="4437112"/>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5536" y="1628800"/>
            <a:ext cx="7848872" cy="369332"/>
          </a:xfrm>
          <a:prstGeom prst="rect">
            <a:avLst/>
          </a:prstGeom>
        </p:spPr>
        <p:txBody>
          <a:bodyPr wrap="square">
            <a:spAutoFit/>
          </a:bodyPr>
          <a:lstStyle/>
          <a:p>
            <a:r>
              <a:rPr lang="nl-NL" b="1" dirty="0" smtClean="0"/>
              <a:t>∀x (</a:t>
            </a:r>
            <a:r>
              <a:rPr lang="nl-NL" b="1" dirty="0" err="1" smtClean="0"/>
              <a:t>Ax</a:t>
            </a:r>
            <a:r>
              <a:rPr lang="nl-NL" b="1" dirty="0" smtClean="0"/>
              <a:t> → </a:t>
            </a:r>
            <a:r>
              <a:rPr lang="nl-NL" b="1" dirty="0" err="1" smtClean="0"/>
              <a:t>Bx</a:t>
            </a:r>
            <a:r>
              <a:rPr lang="nl-NL" b="1" dirty="0" smtClean="0"/>
              <a:t>) </a:t>
            </a:r>
            <a:r>
              <a:rPr lang="nl-NL" dirty="0" smtClean="0"/>
              <a:t>,</a:t>
            </a:r>
            <a:r>
              <a:rPr lang="nl-NL" b="1" dirty="0" smtClean="0"/>
              <a:t> ∃x ¬</a:t>
            </a:r>
            <a:r>
              <a:rPr lang="nl-NL" b="1" dirty="0" err="1" smtClean="0"/>
              <a:t>Bx</a:t>
            </a:r>
            <a:r>
              <a:rPr lang="nl-NL" b="1" dirty="0" smtClean="0"/>
              <a:t>    Ⱶ    ∃x ¬</a:t>
            </a:r>
            <a:r>
              <a:rPr lang="nl-NL" b="1" dirty="0" err="1" smtClean="0"/>
              <a:t>Ax</a:t>
            </a:r>
            <a:r>
              <a:rPr lang="nl-NL" b="1" dirty="0" smtClean="0"/>
              <a:t>    	</a:t>
            </a:r>
            <a:r>
              <a:rPr lang="nl-NL" dirty="0" smtClean="0"/>
              <a:t> 	 	</a:t>
            </a:r>
            <a:endParaRPr lang="nl-NL" dirty="0"/>
          </a:p>
        </p:txBody>
      </p:sp>
      <p:cxnSp>
        <p:nvCxnSpPr>
          <p:cNvPr id="16" name="Straight Connector 15"/>
          <p:cNvCxnSpPr/>
          <p:nvPr/>
        </p:nvCxnSpPr>
        <p:spPr>
          <a:xfrm flipH="1">
            <a:off x="395536" y="3573016"/>
            <a:ext cx="64807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95536" y="357301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179512" y="4941168"/>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0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20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20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2000"/>
                                        <p:tgtEl>
                                          <p:spTgt spid="16"/>
                                        </p:tgtEl>
                                      </p:cBhvr>
                                    </p:animEffect>
                                  </p:childTnLst>
                                </p:cTn>
                              </p:par>
                              <p:par>
                                <p:cTn id="25" presetID="10"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20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Semantische bomen voor de propositielogica</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Semantische bomen zijn naast de waarheidstafels een alternatieve </a:t>
            </a:r>
            <a:r>
              <a:rPr lang="nl-NL" sz="2000" i="1" dirty="0" err="1" smtClean="0"/>
              <a:t>beslissings-procedure</a:t>
            </a:r>
            <a:r>
              <a:rPr lang="nl-NL" sz="2000" dirty="0" smtClean="0"/>
              <a:t> voor het vaststellen van de semantische (en dus syntactische) geldigheid of ongeldigheid van </a:t>
            </a:r>
            <a:r>
              <a:rPr lang="nl-NL" sz="2000" dirty="0" err="1" smtClean="0"/>
              <a:t>propositioneel-logische</a:t>
            </a:r>
            <a:r>
              <a:rPr lang="nl-NL" sz="2000" dirty="0" smtClean="0"/>
              <a:t> redeneringen</a:t>
            </a:r>
          </a:p>
          <a:p>
            <a:endParaRPr lang="nl-NL" sz="2000" dirty="0" smtClean="0"/>
          </a:p>
          <a:p>
            <a:endParaRPr lang="nl-NL" sz="2000" dirty="0" smtClean="0"/>
          </a:p>
        </p:txBody>
      </p:sp>
      <p:sp>
        <p:nvSpPr>
          <p:cNvPr id="6" name="Content Placeholder 2"/>
          <p:cNvSpPr txBox="1">
            <a:spLocks/>
          </p:cNvSpPr>
          <p:nvPr/>
        </p:nvSpPr>
        <p:spPr>
          <a:xfrm>
            <a:off x="395536" y="270892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boommethode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werkt sneller dan waarheidstafels</a:t>
            </a:r>
            <a:r>
              <a:rPr kumimoji="0" lang="nl-NL" sz="2000" b="0" i="0" u="none" strike="noStrike" kern="1200" cap="none" spc="0" normalizeH="0" noProof="0" dirty="0" smtClean="0">
                <a:ln>
                  <a:noFill/>
                </a:ln>
                <a:solidFill>
                  <a:schemeClr val="tx1"/>
                </a:solidFill>
                <a:effectLst/>
                <a:uLnTx/>
                <a:uFillTx/>
                <a:latin typeface="+mn-lt"/>
                <a:ea typeface="+mn-ea"/>
                <a:cs typeface="+mn-cs"/>
              </a:rPr>
              <a:t> en is bovendien ook toepasbaar </a:t>
            </a:r>
            <a:r>
              <a:rPr lang="nl-NL" sz="2000" dirty="0" smtClean="0"/>
              <a:t>voor de </a:t>
            </a:r>
            <a:r>
              <a:rPr lang="nl-NL" sz="2000" dirty="0" err="1" smtClean="0"/>
              <a:t>predikaatlogica</a:t>
            </a:r>
            <a:r>
              <a:rPr lang="nl-NL" sz="2000" dirty="0" smtClean="0"/>
              <a:t>. Hiermee wil niet gezegd zijn dat de </a:t>
            </a:r>
            <a:r>
              <a:rPr lang="nl-NL" sz="2000" dirty="0" err="1" smtClean="0"/>
              <a:t>predikaatlogica</a:t>
            </a:r>
            <a:r>
              <a:rPr lang="nl-NL" sz="2000" dirty="0" smtClean="0"/>
              <a:t> </a:t>
            </a:r>
            <a:r>
              <a:rPr lang="nl-NL" sz="2000" i="1" dirty="0" smtClean="0"/>
              <a:t>beslisbaar</a:t>
            </a:r>
            <a:r>
              <a:rPr lang="nl-NL" sz="2000" dirty="0" smtClean="0"/>
              <a:t> is. We zullen nog zien dat dit niet het geval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95536" y="3861048"/>
            <a:ext cx="8363272" cy="1108720"/>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Neem een </a:t>
            </a:r>
            <a:r>
              <a:rPr lang="nl-NL" sz="2000" dirty="0" err="1" smtClean="0"/>
              <a:t>propositioneel-logische</a:t>
            </a:r>
            <a:r>
              <a:rPr lang="nl-NL" sz="2000" dirty="0" smtClean="0"/>
              <a:t> redenering </a:t>
            </a:r>
            <a:r>
              <a:rPr lang="el-GR" sz="2000" b="1" i="1" dirty="0" smtClean="0"/>
              <a:t>α</a:t>
            </a:r>
            <a:r>
              <a:rPr lang="nl-NL" sz="2000" b="1" baseline="-25000" dirty="0" smtClean="0"/>
              <a:t>1 </a:t>
            </a:r>
            <a:r>
              <a:rPr lang="nl-NL" sz="2000" b="1" dirty="0" smtClean="0"/>
              <a:t>, </a:t>
            </a:r>
            <a:r>
              <a:rPr lang="el-GR" sz="2000" b="1" i="1" dirty="0" smtClean="0"/>
              <a:t>α</a:t>
            </a:r>
            <a:r>
              <a:rPr lang="nl-NL" sz="2000" b="1" i="1" baseline="-25000" dirty="0" smtClean="0"/>
              <a:t>2</a:t>
            </a:r>
            <a:r>
              <a:rPr lang="nl-NL" sz="2000" b="1" dirty="0" smtClean="0"/>
              <a:t> , </a:t>
            </a:r>
            <a:r>
              <a:rPr lang="el-GR" sz="2000" b="1" i="1" dirty="0" smtClean="0"/>
              <a:t>α</a:t>
            </a:r>
            <a:r>
              <a:rPr lang="nl-NL" sz="2000" b="1" i="1" baseline="-25000" dirty="0" smtClean="0"/>
              <a:t>3</a:t>
            </a:r>
            <a:r>
              <a:rPr lang="nl-NL" sz="2000" b="1" dirty="0" smtClean="0"/>
              <a:t> |= </a:t>
            </a:r>
            <a:r>
              <a:rPr lang="el-GR" sz="2000" b="1" i="1" dirty="0" smtClean="0"/>
              <a:t>β</a:t>
            </a:r>
            <a:r>
              <a:rPr lang="nl-NL" sz="2000" dirty="0" smtClean="0"/>
              <a:t>. De </a:t>
            </a:r>
            <a:r>
              <a:rPr lang="nl-NL" sz="2000" dirty="0" err="1" smtClean="0"/>
              <a:t>boom-methode</a:t>
            </a:r>
            <a:r>
              <a:rPr lang="nl-NL" sz="2000" dirty="0" smtClean="0"/>
              <a:t> zoekt op stelselmatige wijze naar een </a:t>
            </a:r>
            <a:r>
              <a:rPr lang="nl-NL" sz="2000" dirty="0" err="1" smtClean="0"/>
              <a:t>waarheidswaardeverdeling</a:t>
            </a:r>
            <a:r>
              <a:rPr lang="nl-NL" sz="2000" dirty="0" smtClean="0"/>
              <a:t> waarvoor de premissen </a:t>
            </a:r>
            <a:r>
              <a:rPr lang="el-GR" sz="2000" b="1" i="1" dirty="0" smtClean="0"/>
              <a:t>α</a:t>
            </a:r>
            <a:r>
              <a:rPr lang="nl-NL" sz="2000" b="1" baseline="-25000" dirty="0" smtClean="0"/>
              <a:t>1 </a:t>
            </a:r>
            <a:r>
              <a:rPr lang="nl-NL" sz="2000" b="1" dirty="0" smtClean="0"/>
              <a:t>, </a:t>
            </a:r>
            <a:r>
              <a:rPr lang="el-GR" sz="2000" b="1" i="1" dirty="0" smtClean="0"/>
              <a:t>α</a:t>
            </a:r>
            <a:r>
              <a:rPr lang="nl-NL" sz="2000" b="1" i="1" baseline="-25000" dirty="0" smtClean="0"/>
              <a:t>2</a:t>
            </a:r>
            <a:r>
              <a:rPr lang="nl-NL" sz="2000" b="1" dirty="0" smtClean="0"/>
              <a:t> , </a:t>
            </a:r>
            <a:r>
              <a:rPr lang="el-GR" sz="2000" b="1" i="1" dirty="0" smtClean="0"/>
              <a:t>α</a:t>
            </a:r>
            <a:r>
              <a:rPr lang="nl-NL" sz="2000" b="1" i="1" baseline="-25000" dirty="0" smtClean="0"/>
              <a:t>3 </a:t>
            </a:r>
            <a:r>
              <a:rPr lang="nl-NL" sz="2000" dirty="0" smtClean="0"/>
              <a:t>waar zijn en de conclusie </a:t>
            </a:r>
            <a:r>
              <a:rPr lang="el-GR" sz="2000" b="1" i="1" dirty="0" smtClean="0"/>
              <a:t>β</a:t>
            </a:r>
            <a:r>
              <a:rPr lang="nl-NL" sz="2000" b="1" i="1" dirty="0" smtClean="0"/>
              <a:t> </a:t>
            </a:r>
            <a:r>
              <a:rPr lang="nl-NL" sz="2000" dirty="0" smtClean="0"/>
              <a:t>onwaar is.   </a:t>
            </a:r>
            <a:endParaRPr kumimoji="0" lang="nl-NL" sz="2000" b="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5128592"/>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--&gt;</a:t>
            </a:r>
            <a:r>
              <a:rPr lang="nl-NL" dirty="0" smtClean="0"/>
              <a:t> Indien we met de methode zo’n verdeling vinden, dan is de redenering ongeldig</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noProof="0" dirty="0" smtClean="0"/>
              <a:t>--&gt;</a:t>
            </a:r>
            <a:r>
              <a:rPr lang="nl-NL" noProof="0" dirty="0" smtClean="0"/>
              <a:t> Indien we met de methode zo’n verdeling niet vinden, dan is de redenering geldig</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xEl>
                                              <p:pRg st="1" end="1"/>
                                            </p:txEl>
                                          </p:spTgt>
                                        </p:tgtEl>
                                        <p:attrNameLst>
                                          <p:attrName>style.visibility</p:attrName>
                                        </p:attrNameLst>
                                      </p:cBhvr>
                                      <p:to>
                                        <p:strVal val="visible"/>
                                      </p:to>
                                    </p:set>
                                    <p:animEffect transition="in" filter="fade">
                                      <p:cBhvr>
                                        <p:cTn id="20" dur="20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10" grpId="0" build="allAtOnce"/>
    </p:bld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 Q)  |=   ¬P V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¬(P → Q)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V Q           </a:t>
            </a:r>
            <a:endParaRPr lang="nl-NL" dirty="0" smtClean="0"/>
          </a:p>
        </p:txBody>
      </p:sp>
      <p:sp>
        <p:nvSpPr>
          <p:cNvPr id="45" name="TextBox 44"/>
          <p:cNvSpPr txBox="1"/>
          <p:nvPr/>
        </p:nvSpPr>
        <p:spPr>
          <a:xfrm>
            <a:off x="467544" y="2492896"/>
            <a:ext cx="2520280" cy="646331"/>
          </a:xfrm>
          <a:prstGeom prst="rect">
            <a:avLst/>
          </a:prstGeom>
          <a:noFill/>
        </p:spPr>
        <p:txBody>
          <a:bodyPr wrap="square" rtlCol="0">
            <a:spAutoFit/>
          </a:bodyPr>
          <a:lstStyle/>
          <a:p>
            <a:r>
              <a:rPr lang="nl-NL" dirty="0" smtClean="0"/>
              <a:t>Links staat wat we als waar aannemen </a:t>
            </a:r>
            <a:endParaRPr lang="nl-NL" dirty="0"/>
          </a:p>
        </p:txBody>
      </p:sp>
      <p:sp>
        <p:nvSpPr>
          <p:cNvPr id="47" name="TextBox 46"/>
          <p:cNvSpPr txBox="1"/>
          <p:nvPr/>
        </p:nvSpPr>
        <p:spPr>
          <a:xfrm>
            <a:off x="5436096" y="2494637"/>
            <a:ext cx="2520280" cy="646331"/>
          </a:xfrm>
          <a:prstGeom prst="rect">
            <a:avLst/>
          </a:prstGeom>
          <a:noFill/>
        </p:spPr>
        <p:txBody>
          <a:bodyPr wrap="square" rtlCol="0">
            <a:spAutoFit/>
          </a:bodyPr>
          <a:lstStyle/>
          <a:p>
            <a:r>
              <a:rPr lang="nl-NL" dirty="0" smtClean="0"/>
              <a:t>Rechts staat wat we als onwaar aannemen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0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2000"/>
                                        <p:tgtEl>
                                          <p:spTgt spid="4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2000"/>
                                        <p:tgtEl>
                                          <p:spTgt spid="4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5">
                                            <p:txEl>
                                              <p:pRg st="0" end="0"/>
                                            </p:txEl>
                                          </p:spTgt>
                                        </p:tgtEl>
                                        <p:attrNameLst>
                                          <p:attrName>style.visibility</p:attrName>
                                        </p:attrNameLst>
                                      </p:cBhvr>
                                      <p:to>
                                        <p:strVal val="visible"/>
                                      </p:to>
                                    </p:set>
                                    <p:animEffect transition="in" filter="fade">
                                      <p:cBhvr>
                                        <p:cTn id="18" dur="2000"/>
                                        <p:tgtEl>
                                          <p:spTgt spid="4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7">
                                            <p:txEl>
                                              <p:pRg st="0" end="0"/>
                                            </p:txEl>
                                          </p:spTgt>
                                        </p:tgtEl>
                                        <p:attrNameLst>
                                          <p:attrName>style.visibility</p:attrName>
                                        </p:attrNameLst>
                                      </p:cBhvr>
                                      <p:to>
                                        <p:strVal val="visible"/>
                                      </p:to>
                                    </p:set>
                                    <p:animEffect transition="in" filter="fade">
                                      <p:cBhvr>
                                        <p:cTn id="23" dur="2000"/>
                                        <p:tgtEl>
                                          <p:spTgt spid="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3" grpId="0"/>
      <p:bldP spid="44" grpId="0"/>
      <p:bldP spid="45" grpId="0" build="allAtOnce"/>
      <p:bldP spid="47" grpId="0" build="allAtOnce"/>
    </p:bld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 Q)  |=   ¬P V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4" name="Straight Connector 33"/>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¬(P → Q)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V Q           </a:t>
            </a:r>
            <a:endParaRPr lang="nl-NL" dirty="0" smtClean="0"/>
          </a:p>
        </p:txBody>
      </p:sp>
      <p:sp>
        <p:nvSpPr>
          <p:cNvPr id="45" name="TextBox 44"/>
          <p:cNvSpPr txBox="1"/>
          <p:nvPr/>
        </p:nvSpPr>
        <p:spPr>
          <a:xfrm>
            <a:off x="467544" y="2492896"/>
            <a:ext cx="2520280" cy="646331"/>
          </a:xfrm>
          <a:prstGeom prst="rect">
            <a:avLst/>
          </a:prstGeom>
          <a:noFill/>
        </p:spPr>
        <p:txBody>
          <a:bodyPr wrap="square" rtlCol="0">
            <a:spAutoFit/>
          </a:bodyPr>
          <a:lstStyle/>
          <a:p>
            <a:r>
              <a:rPr lang="nl-NL" dirty="0" smtClean="0"/>
              <a:t>Links staat wat we als waar aannemen </a:t>
            </a:r>
            <a:endParaRPr lang="nl-NL" dirty="0"/>
          </a:p>
        </p:txBody>
      </p:sp>
      <p:sp>
        <p:nvSpPr>
          <p:cNvPr id="47" name="TextBox 46"/>
          <p:cNvSpPr txBox="1"/>
          <p:nvPr/>
        </p:nvSpPr>
        <p:spPr>
          <a:xfrm>
            <a:off x="5436096" y="2494637"/>
            <a:ext cx="2520280" cy="646331"/>
          </a:xfrm>
          <a:prstGeom prst="rect">
            <a:avLst/>
          </a:prstGeom>
          <a:noFill/>
        </p:spPr>
        <p:txBody>
          <a:bodyPr wrap="square" rtlCol="0">
            <a:spAutoFit/>
          </a:bodyPr>
          <a:lstStyle/>
          <a:p>
            <a:r>
              <a:rPr lang="nl-NL" dirty="0" smtClean="0"/>
              <a:t>Rechts staat wat we als onwaar aannemen </a:t>
            </a:r>
            <a:endParaRPr lang="nl-NL" dirty="0"/>
          </a:p>
        </p:txBody>
      </p:sp>
      <p:sp>
        <p:nvSpPr>
          <p:cNvPr id="17" name="TextBox 16"/>
          <p:cNvSpPr txBox="1"/>
          <p:nvPr/>
        </p:nvSpPr>
        <p:spPr>
          <a:xfrm>
            <a:off x="4067944" y="2915652"/>
            <a:ext cx="1080120" cy="369332"/>
          </a:xfrm>
          <a:prstGeom prst="rect">
            <a:avLst/>
          </a:prstGeom>
          <a:noFill/>
        </p:spPr>
        <p:txBody>
          <a:bodyPr wrap="square" rtlCol="0">
            <a:spAutoFit/>
          </a:bodyPr>
          <a:lstStyle/>
          <a:p>
            <a:r>
              <a:rPr lang="nl-NL" b="1" dirty="0" smtClean="0"/>
              <a:t>P → Q      </a:t>
            </a:r>
            <a:endParaRPr lang="nl-NL" dirty="0" smtClean="0"/>
          </a:p>
        </p:txBody>
      </p:sp>
    </p:spTree>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 Q)  |=   ¬P V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4" name="Straight Connector 33"/>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7" name="Straight Connector 36"/>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¬(P → Q)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V Q           </a:t>
            </a:r>
            <a:endParaRPr lang="nl-NL" dirty="0" smtClean="0"/>
          </a:p>
        </p:txBody>
      </p:sp>
      <p:sp>
        <p:nvSpPr>
          <p:cNvPr id="45" name="TextBox 44"/>
          <p:cNvSpPr txBox="1"/>
          <p:nvPr/>
        </p:nvSpPr>
        <p:spPr>
          <a:xfrm>
            <a:off x="467544" y="2492896"/>
            <a:ext cx="2520280" cy="646331"/>
          </a:xfrm>
          <a:prstGeom prst="rect">
            <a:avLst/>
          </a:prstGeom>
          <a:noFill/>
        </p:spPr>
        <p:txBody>
          <a:bodyPr wrap="square" rtlCol="0">
            <a:spAutoFit/>
          </a:bodyPr>
          <a:lstStyle/>
          <a:p>
            <a:r>
              <a:rPr lang="nl-NL" dirty="0" smtClean="0"/>
              <a:t>Links staat wat we als waar aannemen </a:t>
            </a:r>
            <a:endParaRPr lang="nl-NL" dirty="0"/>
          </a:p>
        </p:txBody>
      </p:sp>
      <p:sp>
        <p:nvSpPr>
          <p:cNvPr id="47" name="TextBox 46"/>
          <p:cNvSpPr txBox="1"/>
          <p:nvPr/>
        </p:nvSpPr>
        <p:spPr>
          <a:xfrm>
            <a:off x="5436096" y="2494637"/>
            <a:ext cx="2520280" cy="646331"/>
          </a:xfrm>
          <a:prstGeom prst="rect">
            <a:avLst/>
          </a:prstGeom>
          <a:noFill/>
        </p:spPr>
        <p:txBody>
          <a:bodyPr wrap="square" rtlCol="0">
            <a:spAutoFit/>
          </a:bodyPr>
          <a:lstStyle/>
          <a:p>
            <a:r>
              <a:rPr lang="nl-NL" dirty="0" smtClean="0"/>
              <a:t>Rechts staat wat we als onwaar aannemen </a:t>
            </a:r>
            <a:endParaRPr lang="nl-NL" dirty="0"/>
          </a:p>
        </p:txBody>
      </p:sp>
      <p:sp>
        <p:nvSpPr>
          <p:cNvPr id="17" name="TextBox 16"/>
          <p:cNvSpPr txBox="1"/>
          <p:nvPr/>
        </p:nvSpPr>
        <p:spPr>
          <a:xfrm>
            <a:off x="4067944" y="2915652"/>
            <a:ext cx="1080120" cy="369332"/>
          </a:xfrm>
          <a:prstGeom prst="rect">
            <a:avLst/>
          </a:prstGeom>
          <a:noFill/>
        </p:spPr>
        <p:txBody>
          <a:bodyPr wrap="square" rtlCol="0">
            <a:spAutoFit/>
          </a:bodyPr>
          <a:lstStyle/>
          <a:p>
            <a:r>
              <a:rPr lang="nl-NL" b="1" dirty="0" smtClean="0"/>
              <a:t>P → Q      </a:t>
            </a:r>
            <a:endParaRPr lang="nl-NL" dirty="0" smtClean="0"/>
          </a:p>
        </p:txBody>
      </p:sp>
      <p:sp>
        <p:nvSpPr>
          <p:cNvPr id="18" name="TextBox 17"/>
          <p:cNvSpPr txBox="1"/>
          <p:nvPr/>
        </p:nvSpPr>
        <p:spPr>
          <a:xfrm>
            <a:off x="3491880" y="3995772"/>
            <a:ext cx="288032" cy="369332"/>
          </a:xfrm>
          <a:prstGeom prst="rect">
            <a:avLst/>
          </a:prstGeom>
          <a:noFill/>
        </p:spPr>
        <p:txBody>
          <a:bodyPr wrap="square" rtlCol="0">
            <a:spAutoFit/>
          </a:bodyPr>
          <a:lstStyle/>
          <a:p>
            <a:r>
              <a:rPr lang="nl-NL" b="1" dirty="0" smtClean="0"/>
              <a:t>P</a:t>
            </a:r>
            <a:endParaRPr lang="nl-NL" dirty="0" smtClean="0"/>
          </a:p>
        </p:txBody>
      </p:sp>
      <p:sp>
        <p:nvSpPr>
          <p:cNvPr id="19" name="TextBox 18"/>
          <p:cNvSpPr txBox="1"/>
          <p:nvPr/>
        </p:nvSpPr>
        <p:spPr>
          <a:xfrm>
            <a:off x="4067944" y="3995772"/>
            <a:ext cx="288032" cy="369332"/>
          </a:xfrm>
          <a:prstGeom prst="rect">
            <a:avLst/>
          </a:prstGeom>
          <a:noFill/>
        </p:spPr>
        <p:txBody>
          <a:bodyPr wrap="square" rtlCol="0">
            <a:spAutoFit/>
          </a:bodyPr>
          <a:lstStyle/>
          <a:p>
            <a:r>
              <a:rPr lang="nl-NL" b="1" dirty="0" smtClean="0"/>
              <a:t>Q</a:t>
            </a:r>
            <a:endParaRPr lang="nl-NL" dirty="0" smtClean="0"/>
          </a:p>
        </p:txBody>
      </p:sp>
    </p:spTree>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 Q)  |=   ¬P V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4" name="Straight Connector 33"/>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7" name="Straight Connector 36"/>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Connector 38"/>
          <p:cNvCxnSpPr/>
          <p:nvPr/>
        </p:nvCxnSpPr>
        <p:spPr>
          <a:xfrm>
            <a:off x="3960000" y="429309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3923928" y="5229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¬(P → Q)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V Q           </a:t>
            </a:r>
            <a:endParaRPr lang="nl-NL" dirty="0" smtClean="0"/>
          </a:p>
        </p:txBody>
      </p:sp>
      <p:sp>
        <p:nvSpPr>
          <p:cNvPr id="45" name="TextBox 44"/>
          <p:cNvSpPr txBox="1"/>
          <p:nvPr/>
        </p:nvSpPr>
        <p:spPr>
          <a:xfrm>
            <a:off x="467544" y="2492896"/>
            <a:ext cx="2520280" cy="646331"/>
          </a:xfrm>
          <a:prstGeom prst="rect">
            <a:avLst/>
          </a:prstGeom>
          <a:noFill/>
        </p:spPr>
        <p:txBody>
          <a:bodyPr wrap="square" rtlCol="0">
            <a:spAutoFit/>
          </a:bodyPr>
          <a:lstStyle/>
          <a:p>
            <a:r>
              <a:rPr lang="nl-NL" dirty="0" smtClean="0"/>
              <a:t>Links staat wat we als waar aannemen </a:t>
            </a:r>
            <a:endParaRPr lang="nl-NL" dirty="0"/>
          </a:p>
        </p:txBody>
      </p:sp>
      <p:sp>
        <p:nvSpPr>
          <p:cNvPr id="47" name="TextBox 46"/>
          <p:cNvSpPr txBox="1"/>
          <p:nvPr/>
        </p:nvSpPr>
        <p:spPr>
          <a:xfrm>
            <a:off x="5436096" y="2494637"/>
            <a:ext cx="2520280" cy="646331"/>
          </a:xfrm>
          <a:prstGeom prst="rect">
            <a:avLst/>
          </a:prstGeom>
          <a:noFill/>
        </p:spPr>
        <p:txBody>
          <a:bodyPr wrap="square" rtlCol="0">
            <a:spAutoFit/>
          </a:bodyPr>
          <a:lstStyle/>
          <a:p>
            <a:r>
              <a:rPr lang="nl-NL" dirty="0" smtClean="0"/>
              <a:t>Rechts staat wat we als onwaar aannemen </a:t>
            </a:r>
            <a:endParaRPr lang="nl-NL" dirty="0"/>
          </a:p>
        </p:txBody>
      </p:sp>
      <p:sp>
        <p:nvSpPr>
          <p:cNvPr id="17" name="TextBox 16"/>
          <p:cNvSpPr txBox="1"/>
          <p:nvPr/>
        </p:nvSpPr>
        <p:spPr>
          <a:xfrm>
            <a:off x="4067944" y="2915652"/>
            <a:ext cx="1080120" cy="369332"/>
          </a:xfrm>
          <a:prstGeom prst="rect">
            <a:avLst/>
          </a:prstGeom>
          <a:noFill/>
        </p:spPr>
        <p:txBody>
          <a:bodyPr wrap="square" rtlCol="0">
            <a:spAutoFit/>
          </a:bodyPr>
          <a:lstStyle/>
          <a:p>
            <a:r>
              <a:rPr lang="nl-NL" b="1" dirty="0" smtClean="0"/>
              <a:t>P → Q      </a:t>
            </a:r>
            <a:endParaRPr lang="nl-NL" dirty="0" smtClean="0"/>
          </a:p>
        </p:txBody>
      </p:sp>
      <p:sp>
        <p:nvSpPr>
          <p:cNvPr id="18" name="TextBox 17"/>
          <p:cNvSpPr txBox="1"/>
          <p:nvPr/>
        </p:nvSpPr>
        <p:spPr>
          <a:xfrm>
            <a:off x="3491880" y="3995772"/>
            <a:ext cx="288032" cy="369332"/>
          </a:xfrm>
          <a:prstGeom prst="rect">
            <a:avLst/>
          </a:prstGeom>
          <a:noFill/>
        </p:spPr>
        <p:txBody>
          <a:bodyPr wrap="square" rtlCol="0">
            <a:spAutoFit/>
          </a:bodyPr>
          <a:lstStyle/>
          <a:p>
            <a:r>
              <a:rPr lang="nl-NL" b="1" dirty="0" smtClean="0"/>
              <a:t>P</a:t>
            </a:r>
            <a:endParaRPr lang="nl-NL" dirty="0" smtClean="0"/>
          </a:p>
        </p:txBody>
      </p:sp>
      <p:sp>
        <p:nvSpPr>
          <p:cNvPr id="19" name="TextBox 18"/>
          <p:cNvSpPr txBox="1"/>
          <p:nvPr/>
        </p:nvSpPr>
        <p:spPr>
          <a:xfrm>
            <a:off x="4067944" y="3995772"/>
            <a:ext cx="288032" cy="369332"/>
          </a:xfrm>
          <a:prstGeom prst="rect">
            <a:avLst/>
          </a:prstGeom>
          <a:noFill/>
        </p:spPr>
        <p:txBody>
          <a:bodyPr wrap="square" rtlCol="0">
            <a:spAutoFit/>
          </a:bodyPr>
          <a:lstStyle/>
          <a:p>
            <a:r>
              <a:rPr lang="nl-NL" b="1" dirty="0" smtClean="0"/>
              <a:t>Q</a:t>
            </a:r>
            <a:endParaRPr lang="nl-NL" dirty="0" smtClean="0"/>
          </a:p>
        </p:txBody>
      </p:sp>
      <p:sp>
        <p:nvSpPr>
          <p:cNvPr id="20" name="TextBox 19"/>
          <p:cNvSpPr txBox="1"/>
          <p:nvPr/>
        </p:nvSpPr>
        <p:spPr>
          <a:xfrm>
            <a:off x="4067944" y="5075892"/>
            <a:ext cx="1152128" cy="369332"/>
          </a:xfrm>
          <a:prstGeom prst="rect">
            <a:avLst/>
          </a:prstGeom>
          <a:noFill/>
        </p:spPr>
        <p:txBody>
          <a:bodyPr wrap="square" rtlCol="0">
            <a:spAutoFit/>
          </a:bodyPr>
          <a:lstStyle/>
          <a:p>
            <a:r>
              <a:rPr lang="nl-NL" b="1" dirty="0" smtClean="0"/>
              <a:t>¬P , Q           </a:t>
            </a:r>
            <a:endParaRPr lang="nl-NL" dirty="0" smtClean="0"/>
          </a:p>
        </p:txBody>
      </p:sp>
    </p:spTree>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 Q)  |=   ¬P V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4" name="Straight Connector 33"/>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7" name="Straight Connector 36"/>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Connector 38"/>
          <p:cNvCxnSpPr/>
          <p:nvPr/>
        </p:nvCxnSpPr>
        <p:spPr>
          <a:xfrm>
            <a:off x="3960000" y="429309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3923928" y="5229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¬(P → Q)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V Q           </a:t>
            </a:r>
            <a:endParaRPr lang="nl-NL" dirty="0" smtClean="0"/>
          </a:p>
        </p:txBody>
      </p:sp>
      <p:sp>
        <p:nvSpPr>
          <p:cNvPr id="45" name="TextBox 44"/>
          <p:cNvSpPr txBox="1"/>
          <p:nvPr/>
        </p:nvSpPr>
        <p:spPr>
          <a:xfrm>
            <a:off x="467544" y="2492896"/>
            <a:ext cx="2520280" cy="646331"/>
          </a:xfrm>
          <a:prstGeom prst="rect">
            <a:avLst/>
          </a:prstGeom>
          <a:noFill/>
        </p:spPr>
        <p:txBody>
          <a:bodyPr wrap="square" rtlCol="0">
            <a:spAutoFit/>
          </a:bodyPr>
          <a:lstStyle/>
          <a:p>
            <a:r>
              <a:rPr lang="nl-NL" dirty="0" smtClean="0"/>
              <a:t>Links staat wat we als waar aannemen </a:t>
            </a:r>
            <a:endParaRPr lang="nl-NL" dirty="0"/>
          </a:p>
        </p:txBody>
      </p:sp>
      <p:sp>
        <p:nvSpPr>
          <p:cNvPr id="47" name="TextBox 46"/>
          <p:cNvSpPr txBox="1"/>
          <p:nvPr/>
        </p:nvSpPr>
        <p:spPr>
          <a:xfrm>
            <a:off x="5436096" y="2494637"/>
            <a:ext cx="2520280" cy="646331"/>
          </a:xfrm>
          <a:prstGeom prst="rect">
            <a:avLst/>
          </a:prstGeom>
          <a:noFill/>
        </p:spPr>
        <p:txBody>
          <a:bodyPr wrap="square" rtlCol="0">
            <a:spAutoFit/>
          </a:bodyPr>
          <a:lstStyle/>
          <a:p>
            <a:r>
              <a:rPr lang="nl-NL" dirty="0" smtClean="0"/>
              <a:t>Rechts staat wat we als onwaar aannemen </a:t>
            </a:r>
            <a:endParaRPr lang="nl-NL" dirty="0"/>
          </a:p>
        </p:txBody>
      </p:sp>
      <p:sp>
        <p:nvSpPr>
          <p:cNvPr id="17" name="TextBox 16"/>
          <p:cNvSpPr txBox="1"/>
          <p:nvPr/>
        </p:nvSpPr>
        <p:spPr>
          <a:xfrm>
            <a:off x="4067944" y="2915652"/>
            <a:ext cx="1080120" cy="369332"/>
          </a:xfrm>
          <a:prstGeom prst="rect">
            <a:avLst/>
          </a:prstGeom>
          <a:noFill/>
        </p:spPr>
        <p:txBody>
          <a:bodyPr wrap="square" rtlCol="0">
            <a:spAutoFit/>
          </a:bodyPr>
          <a:lstStyle/>
          <a:p>
            <a:r>
              <a:rPr lang="nl-NL" b="1" dirty="0" smtClean="0"/>
              <a:t>P → Q      </a:t>
            </a:r>
            <a:endParaRPr lang="nl-NL" dirty="0" smtClean="0"/>
          </a:p>
        </p:txBody>
      </p:sp>
      <p:sp>
        <p:nvSpPr>
          <p:cNvPr id="18" name="TextBox 17"/>
          <p:cNvSpPr txBox="1"/>
          <p:nvPr/>
        </p:nvSpPr>
        <p:spPr>
          <a:xfrm>
            <a:off x="3491880" y="3995772"/>
            <a:ext cx="288032" cy="369332"/>
          </a:xfrm>
          <a:prstGeom prst="rect">
            <a:avLst/>
          </a:prstGeom>
          <a:noFill/>
        </p:spPr>
        <p:txBody>
          <a:bodyPr wrap="square" rtlCol="0">
            <a:spAutoFit/>
          </a:bodyPr>
          <a:lstStyle/>
          <a:p>
            <a:r>
              <a:rPr lang="nl-NL" b="1" dirty="0" smtClean="0"/>
              <a:t>P</a:t>
            </a:r>
            <a:endParaRPr lang="nl-NL" dirty="0" smtClean="0"/>
          </a:p>
        </p:txBody>
      </p:sp>
      <p:sp>
        <p:nvSpPr>
          <p:cNvPr id="19" name="TextBox 18"/>
          <p:cNvSpPr txBox="1"/>
          <p:nvPr/>
        </p:nvSpPr>
        <p:spPr>
          <a:xfrm>
            <a:off x="4067944" y="3995772"/>
            <a:ext cx="288032" cy="369332"/>
          </a:xfrm>
          <a:prstGeom prst="rect">
            <a:avLst/>
          </a:prstGeom>
          <a:noFill/>
        </p:spPr>
        <p:txBody>
          <a:bodyPr wrap="square" rtlCol="0">
            <a:spAutoFit/>
          </a:bodyPr>
          <a:lstStyle/>
          <a:p>
            <a:r>
              <a:rPr lang="nl-NL" b="1" dirty="0" smtClean="0"/>
              <a:t>Q</a:t>
            </a:r>
            <a:endParaRPr lang="nl-NL" dirty="0" smtClean="0"/>
          </a:p>
        </p:txBody>
      </p:sp>
      <p:sp>
        <p:nvSpPr>
          <p:cNvPr id="20" name="TextBox 19"/>
          <p:cNvSpPr txBox="1"/>
          <p:nvPr/>
        </p:nvSpPr>
        <p:spPr>
          <a:xfrm>
            <a:off x="4067944" y="5075892"/>
            <a:ext cx="1152128" cy="369332"/>
          </a:xfrm>
          <a:prstGeom prst="rect">
            <a:avLst/>
          </a:prstGeom>
          <a:noFill/>
        </p:spPr>
        <p:txBody>
          <a:bodyPr wrap="square" rtlCol="0">
            <a:spAutoFit/>
          </a:bodyPr>
          <a:lstStyle/>
          <a:p>
            <a:r>
              <a:rPr lang="nl-NL" b="1" dirty="0" smtClean="0"/>
              <a:t>¬P , Q           </a:t>
            </a:r>
            <a:endParaRPr lang="nl-NL" dirty="0" smtClean="0"/>
          </a:p>
        </p:txBody>
      </p:sp>
      <p:cxnSp>
        <p:nvCxnSpPr>
          <p:cNvPr id="21" name="Straight Connector 20"/>
          <p:cNvCxnSpPr/>
          <p:nvPr/>
        </p:nvCxnSpPr>
        <p:spPr>
          <a:xfrm>
            <a:off x="3960000" y="537321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923928" y="63093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TextBox 22"/>
          <p:cNvSpPr txBox="1"/>
          <p:nvPr/>
        </p:nvSpPr>
        <p:spPr>
          <a:xfrm>
            <a:off x="3491880" y="6156012"/>
            <a:ext cx="1152128" cy="369332"/>
          </a:xfrm>
          <a:prstGeom prst="rect">
            <a:avLst/>
          </a:prstGeom>
          <a:noFill/>
        </p:spPr>
        <p:txBody>
          <a:bodyPr wrap="square" rtlCol="0">
            <a:spAutoFit/>
          </a:bodyPr>
          <a:lstStyle/>
          <a:p>
            <a:r>
              <a:rPr lang="nl-NL" b="1" dirty="0" smtClean="0"/>
              <a:t>P           </a:t>
            </a:r>
            <a:endParaRPr lang="nl-NL" dirty="0" smtClean="0"/>
          </a:p>
        </p:txBody>
      </p:sp>
    </p:spTree>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 Q)  |=   ¬P V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4" name="Straight Connector 33"/>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7" name="Straight Connector 36"/>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Connector 38"/>
          <p:cNvCxnSpPr/>
          <p:nvPr/>
        </p:nvCxnSpPr>
        <p:spPr>
          <a:xfrm>
            <a:off x="3960000" y="429309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3923928" y="5229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¬(P → Q)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V Q           </a:t>
            </a:r>
            <a:endParaRPr lang="nl-NL" dirty="0" smtClean="0"/>
          </a:p>
        </p:txBody>
      </p:sp>
      <p:sp>
        <p:nvSpPr>
          <p:cNvPr id="45" name="TextBox 44"/>
          <p:cNvSpPr txBox="1"/>
          <p:nvPr/>
        </p:nvSpPr>
        <p:spPr>
          <a:xfrm>
            <a:off x="467544" y="2492896"/>
            <a:ext cx="2520280" cy="646331"/>
          </a:xfrm>
          <a:prstGeom prst="rect">
            <a:avLst/>
          </a:prstGeom>
          <a:noFill/>
        </p:spPr>
        <p:txBody>
          <a:bodyPr wrap="square" rtlCol="0">
            <a:spAutoFit/>
          </a:bodyPr>
          <a:lstStyle/>
          <a:p>
            <a:r>
              <a:rPr lang="nl-NL" dirty="0" smtClean="0"/>
              <a:t>Links staat wat we als waar aannemen </a:t>
            </a:r>
            <a:endParaRPr lang="nl-NL" dirty="0"/>
          </a:p>
        </p:txBody>
      </p:sp>
      <p:sp>
        <p:nvSpPr>
          <p:cNvPr id="47" name="TextBox 46"/>
          <p:cNvSpPr txBox="1"/>
          <p:nvPr/>
        </p:nvSpPr>
        <p:spPr>
          <a:xfrm>
            <a:off x="5436096" y="2494637"/>
            <a:ext cx="2520280" cy="646331"/>
          </a:xfrm>
          <a:prstGeom prst="rect">
            <a:avLst/>
          </a:prstGeom>
          <a:noFill/>
        </p:spPr>
        <p:txBody>
          <a:bodyPr wrap="square" rtlCol="0">
            <a:spAutoFit/>
          </a:bodyPr>
          <a:lstStyle/>
          <a:p>
            <a:r>
              <a:rPr lang="nl-NL" dirty="0" smtClean="0"/>
              <a:t>Rechts staat wat we als onwaar aannemen </a:t>
            </a:r>
            <a:endParaRPr lang="nl-NL" dirty="0"/>
          </a:p>
        </p:txBody>
      </p:sp>
      <p:sp>
        <p:nvSpPr>
          <p:cNvPr id="17" name="TextBox 16"/>
          <p:cNvSpPr txBox="1"/>
          <p:nvPr/>
        </p:nvSpPr>
        <p:spPr>
          <a:xfrm>
            <a:off x="4067944" y="2915652"/>
            <a:ext cx="1080120" cy="369332"/>
          </a:xfrm>
          <a:prstGeom prst="rect">
            <a:avLst/>
          </a:prstGeom>
          <a:noFill/>
        </p:spPr>
        <p:txBody>
          <a:bodyPr wrap="square" rtlCol="0">
            <a:spAutoFit/>
          </a:bodyPr>
          <a:lstStyle/>
          <a:p>
            <a:r>
              <a:rPr lang="nl-NL" b="1" dirty="0" smtClean="0"/>
              <a:t>P → Q      </a:t>
            </a:r>
            <a:endParaRPr lang="nl-NL" dirty="0" smtClean="0"/>
          </a:p>
        </p:txBody>
      </p:sp>
      <p:sp>
        <p:nvSpPr>
          <p:cNvPr id="18" name="TextBox 17"/>
          <p:cNvSpPr txBox="1"/>
          <p:nvPr/>
        </p:nvSpPr>
        <p:spPr>
          <a:xfrm>
            <a:off x="3491880" y="3995772"/>
            <a:ext cx="288032" cy="369332"/>
          </a:xfrm>
          <a:prstGeom prst="rect">
            <a:avLst/>
          </a:prstGeom>
          <a:noFill/>
        </p:spPr>
        <p:txBody>
          <a:bodyPr wrap="square" rtlCol="0">
            <a:spAutoFit/>
          </a:bodyPr>
          <a:lstStyle/>
          <a:p>
            <a:r>
              <a:rPr lang="nl-NL" b="1" dirty="0" smtClean="0">
                <a:solidFill>
                  <a:srgbClr val="0070C0"/>
                </a:solidFill>
              </a:rPr>
              <a:t>P</a:t>
            </a:r>
            <a:endParaRPr lang="nl-NL" dirty="0" smtClean="0">
              <a:solidFill>
                <a:srgbClr val="0070C0"/>
              </a:solidFill>
            </a:endParaRPr>
          </a:p>
        </p:txBody>
      </p:sp>
      <p:sp>
        <p:nvSpPr>
          <p:cNvPr id="19" name="TextBox 18"/>
          <p:cNvSpPr txBox="1"/>
          <p:nvPr/>
        </p:nvSpPr>
        <p:spPr>
          <a:xfrm>
            <a:off x="4067944" y="3995772"/>
            <a:ext cx="288032" cy="369332"/>
          </a:xfrm>
          <a:prstGeom prst="rect">
            <a:avLst/>
          </a:prstGeom>
          <a:noFill/>
        </p:spPr>
        <p:txBody>
          <a:bodyPr wrap="square" rtlCol="0">
            <a:spAutoFit/>
          </a:bodyPr>
          <a:lstStyle/>
          <a:p>
            <a:r>
              <a:rPr lang="nl-NL" b="1" dirty="0" smtClean="0">
                <a:solidFill>
                  <a:srgbClr val="0070C0"/>
                </a:solidFill>
              </a:rPr>
              <a:t>Q</a:t>
            </a:r>
            <a:endParaRPr lang="nl-NL" dirty="0" smtClean="0">
              <a:solidFill>
                <a:srgbClr val="0070C0"/>
              </a:solidFill>
            </a:endParaRPr>
          </a:p>
        </p:txBody>
      </p:sp>
      <p:sp>
        <p:nvSpPr>
          <p:cNvPr id="20" name="TextBox 19"/>
          <p:cNvSpPr txBox="1"/>
          <p:nvPr/>
        </p:nvSpPr>
        <p:spPr>
          <a:xfrm>
            <a:off x="4067944" y="5075892"/>
            <a:ext cx="1152128" cy="369332"/>
          </a:xfrm>
          <a:prstGeom prst="rect">
            <a:avLst/>
          </a:prstGeom>
          <a:noFill/>
        </p:spPr>
        <p:txBody>
          <a:bodyPr wrap="square" rtlCol="0">
            <a:spAutoFit/>
          </a:bodyPr>
          <a:lstStyle/>
          <a:p>
            <a:r>
              <a:rPr lang="nl-NL" b="1" dirty="0" smtClean="0"/>
              <a:t>¬P , </a:t>
            </a:r>
            <a:r>
              <a:rPr lang="nl-NL" b="1" dirty="0" smtClean="0">
                <a:solidFill>
                  <a:srgbClr val="0070C0"/>
                </a:solidFill>
              </a:rPr>
              <a:t>Q</a:t>
            </a:r>
            <a:r>
              <a:rPr lang="nl-NL" b="1" dirty="0" smtClean="0"/>
              <a:t>           </a:t>
            </a:r>
            <a:endParaRPr lang="nl-NL" dirty="0" smtClean="0"/>
          </a:p>
        </p:txBody>
      </p:sp>
      <p:cxnSp>
        <p:nvCxnSpPr>
          <p:cNvPr id="21" name="Straight Connector 20"/>
          <p:cNvCxnSpPr/>
          <p:nvPr/>
        </p:nvCxnSpPr>
        <p:spPr>
          <a:xfrm>
            <a:off x="3960000" y="537321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923928" y="63093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TextBox 22"/>
          <p:cNvSpPr txBox="1"/>
          <p:nvPr/>
        </p:nvSpPr>
        <p:spPr>
          <a:xfrm>
            <a:off x="3491880" y="6156012"/>
            <a:ext cx="1152128" cy="369332"/>
          </a:xfrm>
          <a:prstGeom prst="rect">
            <a:avLst/>
          </a:prstGeom>
          <a:noFill/>
        </p:spPr>
        <p:txBody>
          <a:bodyPr wrap="square" rtlCol="0">
            <a:spAutoFit/>
          </a:bodyPr>
          <a:lstStyle/>
          <a:p>
            <a:r>
              <a:rPr lang="nl-NL" b="1" dirty="0" smtClean="0">
                <a:solidFill>
                  <a:srgbClr val="0070C0"/>
                </a:solidFill>
              </a:rPr>
              <a:t>P</a:t>
            </a:r>
            <a:r>
              <a:rPr lang="nl-NL" b="1" dirty="0" smtClean="0"/>
              <a:t>           </a:t>
            </a:r>
            <a:endParaRPr lang="nl-NL" dirty="0" smtClean="0"/>
          </a:p>
        </p:txBody>
      </p:sp>
      <p:sp>
        <p:nvSpPr>
          <p:cNvPr id="24" name="TextBox 23"/>
          <p:cNvSpPr txBox="1"/>
          <p:nvPr/>
        </p:nvSpPr>
        <p:spPr>
          <a:xfrm>
            <a:off x="5472608" y="3933056"/>
            <a:ext cx="3635896" cy="1200329"/>
          </a:xfrm>
          <a:prstGeom prst="rect">
            <a:avLst/>
          </a:prstGeom>
          <a:noFill/>
        </p:spPr>
        <p:txBody>
          <a:bodyPr wrap="square" rtlCol="0">
            <a:spAutoFit/>
          </a:bodyPr>
          <a:lstStyle/>
          <a:p>
            <a:r>
              <a:rPr lang="nl-NL" dirty="0" smtClean="0"/>
              <a:t>De boom is voltooid zodra we zijn aangekomen bij de mogelijke waarheidstoekenning aan de atomaire proposities P en Q </a:t>
            </a:r>
            <a:endParaRPr lang="nl-NL" dirty="0"/>
          </a:p>
        </p:txBody>
      </p:sp>
      <p:sp>
        <p:nvSpPr>
          <p:cNvPr id="25" name="TextBox 24"/>
          <p:cNvSpPr txBox="1"/>
          <p:nvPr/>
        </p:nvSpPr>
        <p:spPr>
          <a:xfrm>
            <a:off x="5472608" y="5253007"/>
            <a:ext cx="3635896" cy="923330"/>
          </a:xfrm>
          <a:prstGeom prst="rect">
            <a:avLst/>
          </a:prstGeom>
          <a:noFill/>
        </p:spPr>
        <p:txBody>
          <a:bodyPr wrap="square" rtlCol="0">
            <a:spAutoFit/>
          </a:bodyPr>
          <a:lstStyle/>
          <a:p>
            <a:r>
              <a:rPr lang="nl-NL" dirty="0" smtClean="0"/>
              <a:t>In dit geval vinden we een </a:t>
            </a:r>
            <a:r>
              <a:rPr lang="nl-NL" dirty="0" err="1" smtClean="0"/>
              <a:t>tegen-voorbeeld</a:t>
            </a:r>
            <a:r>
              <a:rPr lang="nl-NL" dirty="0" smtClean="0"/>
              <a:t>: P is waar en Q is onwaar. De redenering is daarom </a:t>
            </a:r>
            <a:r>
              <a:rPr lang="nl-NL" i="1" dirty="0" smtClean="0"/>
              <a:t>ongeldig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2000"/>
                                        <p:tgtEl>
                                          <p:spTgt spid="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fade">
                                      <p:cBhvr>
                                        <p:cTn id="12"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allAtOnce"/>
      <p:bldP spid="25" grpId="0" build="allAtOnce"/>
    </p:bld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¬Q           </a:t>
            </a:r>
            <a:endParaRPr lang="nl-NL" dirty="0" smtClean="0"/>
          </a:p>
        </p:txBody>
      </p:sp>
      <p:sp>
        <p:nvSpPr>
          <p:cNvPr id="9" name="Rectangle 8"/>
          <p:cNvSpPr/>
          <p:nvPr/>
        </p:nvSpPr>
        <p:spPr>
          <a:xfrm>
            <a:off x="2764571" y="1844824"/>
            <a:ext cx="1087349" cy="369332"/>
          </a:xfrm>
          <a:prstGeom prst="rect">
            <a:avLst/>
          </a:prstGeom>
        </p:spPr>
        <p:txBody>
          <a:bodyPr wrap="none">
            <a:spAutoFit/>
          </a:bodyPr>
          <a:lstStyle/>
          <a:p>
            <a:r>
              <a:rPr lang="nl-NL" b="1" dirty="0" smtClean="0"/>
              <a:t>¬(¬P V Q)</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0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2000"/>
                                        <p:tgtEl>
                                          <p:spTgt spid="4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2000"/>
                                        <p:tgtEl>
                                          <p:spTgt spid="4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3" grpId="0"/>
      <p:bldP spid="44" grpId="0"/>
      <p:bldP spid="9" grpId="0"/>
    </p:bld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¬Q           </a:t>
            </a:r>
            <a:endParaRPr lang="nl-NL" dirty="0" smtClean="0"/>
          </a:p>
        </p:txBody>
      </p:sp>
      <p:sp>
        <p:nvSpPr>
          <p:cNvPr id="9" name="Rectangle 8"/>
          <p:cNvSpPr/>
          <p:nvPr/>
        </p:nvSpPr>
        <p:spPr>
          <a:xfrm>
            <a:off x="2764571" y="1844824"/>
            <a:ext cx="1087349" cy="369332"/>
          </a:xfrm>
          <a:prstGeom prst="rect">
            <a:avLst/>
          </a:prstGeom>
        </p:spPr>
        <p:txBody>
          <a:bodyPr wrap="none">
            <a:spAutoFit/>
          </a:bodyPr>
          <a:lstStyle/>
          <a:p>
            <a:r>
              <a:rPr lang="nl-NL" b="1" dirty="0" smtClean="0"/>
              <a:t>¬(¬P V Q)</a:t>
            </a:r>
            <a:endParaRPr lang="nl-NL" dirty="0"/>
          </a:p>
        </p:txBody>
      </p:sp>
      <p:cxnSp>
        <p:nvCxnSpPr>
          <p:cNvPr id="10" name="Straight Connector 9"/>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91880" y="2915652"/>
            <a:ext cx="1152128" cy="369332"/>
          </a:xfrm>
          <a:prstGeom prst="rect">
            <a:avLst/>
          </a:prstGeom>
          <a:noFill/>
        </p:spPr>
        <p:txBody>
          <a:bodyPr wrap="square" rtlCol="0">
            <a:spAutoFit/>
          </a:bodyPr>
          <a:lstStyle/>
          <a:p>
            <a:r>
              <a:rPr lang="nl-NL" b="1" dirty="0" smtClean="0"/>
              <a:t>Q           </a:t>
            </a:r>
            <a:endParaRPr lang="nl-NL" dirty="0" smtClean="0"/>
          </a:p>
        </p:txBody>
      </p:sp>
    </p:spTree>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¬Q           </a:t>
            </a:r>
            <a:endParaRPr lang="nl-NL" dirty="0" smtClean="0"/>
          </a:p>
        </p:txBody>
      </p:sp>
      <p:sp>
        <p:nvSpPr>
          <p:cNvPr id="9" name="Rectangle 8"/>
          <p:cNvSpPr/>
          <p:nvPr/>
        </p:nvSpPr>
        <p:spPr>
          <a:xfrm>
            <a:off x="2764571" y="1844824"/>
            <a:ext cx="1087349" cy="369332"/>
          </a:xfrm>
          <a:prstGeom prst="rect">
            <a:avLst/>
          </a:prstGeom>
        </p:spPr>
        <p:txBody>
          <a:bodyPr wrap="none">
            <a:spAutoFit/>
          </a:bodyPr>
          <a:lstStyle/>
          <a:p>
            <a:r>
              <a:rPr lang="nl-NL" b="1" dirty="0" smtClean="0"/>
              <a:t>¬(¬P V Q)</a:t>
            </a:r>
            <a:endParaRPr lang="nl-NL" dirty="0"/>
          </a:p>
        </p:txBody>
      </p:sp>
      <p:cxnSp>
        <p:nvCxnSpPr>
          <p:cNvPr id="10" name="Straight Connector 9"/>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91880" y="2915652"/>
            <a:ext cx="1152128" cy="369332"/>
          </a:xfrm>
          <a:prstGeom prst="rect">
            <a:avLst/>
          </a:prstGeom>
          <a:noFill/>
        </p:spPr>
        <p:txBody>
          <a:bodyPr wrap="square" rtlCol="0">
            <a:spAutoFit/>
          </a:bodyPr>
          <a:lstStyle/>
          <a:p>
            <a:r>
              <a:rPr lang="nl-NL" b="1" dirty="0" smtClean="0"/>
              <a:t>Q           </a:t>
            </a:r>
            <a:endParaRPr lang="nl-NL" dirty="0" smtClean="0"/>
          </a:p>
        </p:txBody>
      </p:sp>
      <p:cxnSp>
        <p:nvCxnSpPr>
          <p:cNvPr id="14" name="Straight Connector 13"/>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4035767" y="3995772"/>
            <a:ext cx="824265" cy="369332"/>
          </a:xfrm>
          <a:prstGeom prst="rect">
            <a:avLst/>
          </a:prstGeom>
        </p:spPr>
        <p:txBody>
          <a:bodyPr wrap="none">
            <a:spAutoFit/>
          </a:bodyPr>
          <a:lstStyle/>
          <a:p>
            <a:r>
              <a:rPr lang="nl-NL" b="1" dirty="0" smtClean="0"/>
              <a:t>¬P V Q</a:t>
            </a:r>
            <a:endParaRPr lang="nl-NL" dirty="0"/>
          </a:p>
        </p:txBody>
      </p:sp>
    </p:spTree>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¬Q           </a:t>
            </a:r>
            <a:endParaRPr lang="nl-NL" dirty="0" smtClean="0"/>
          </a:p>
        </p:txBody>
      </p:sp>
      <p:sp>
        <p:nvSpPr>
          <p:cNvPr id="9" name="Rectangle 8"/>
          <p:cNvSpPr/>
          <p:nvPr/>
        </p:nvSpPr>
        <p:spPr>
          <a:xfrm>
            <a:off x="2764571" y="1844824"/>
            <a:ext cx="1087349" cy="369332"/>
          </a:xfrm>
          <a:prstGeom prst="rect">
            <a:avLst/>
          </a:prstGeom>
        </p:spPr>
        <p:txBody>
          <a:bodyPr wrap="none">
            <a:spAutoFit/>
          </a:bodyPr>
          <a:lstStyle/>
          <a:p>
            <a:r>
              <a:rPr lang="nl-NL" b="1" dirty="0" smtClean="0"/>
              <a:t>¬(¬P V Q)</a:t>
            </a:r>
            <a:endParaRPr lang="nl-NL" dirty="0"/>
          </a:p>
        </p:txBody>
      </p:sp>
      <p:cxnSp>
        <p:nvCxnSpPr>
          <p:cNvPr id="10" name="Straight Connector 9"/>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91880" y="2915652"/>
            <a:ext cx="1152128" cy="369332"/>
          </a:xfrm>
          <a:prstGeom prst="rect">
            <a:avLst/>
          </a:prstGeom>
          <a:noFill/>
        </p:spPr>
        <p:txBody>
          <a:bodyPr wrap="square" rtlCol="0">
            <a:spAutoFit/>
          </a:bodyPr>
          <a:lstStyle/>
          <a:p>
            <a:r>
              <a:rPr lang="nl-NL" b="1" dirty="0" smtClean="0"/>
              <a:t>Q           </a:t>
            </a:r>
            <a:endParaRPr lang="nl-NL" dirty="0" smtClean="0"/>
          </a:p>
        </p:txBody>
      </p:sp>
      <p:cxnSp>
        <p:nvCxnSpPr>
          <p:cNvPr id="14" name="Straight Connector 13"/>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4035767" y="3995772"/>
            <a:ext cx="824265" cy="369332"/>
          </a:xfrm>
          <a:prstGeom prst="rect">
            <a:avLst/>
          </a:prstGeom>
        </p:spPr>
        <p:txBody>
          <a:bodyPr wrap="none">
            <a:spAutoFit/>
          </a:bodyPr>
          <a:lstStyle/>
          <a:p>
            <a:r>
              <a:rPr lang="nl-NL" b="1" dirty="0" smtClean="0"/>
              <a:t>¬P V Q</a:t>
            </a:r>
            <a:endParaRPr lang="nl-NL" dirty="0"/>
          </a:p>
        </p:txBody>
      </p:sp>
      <p:cxnSp>
        <p:nvCxnSpPr>
          <p:cNvPr id="19" name="Straight Connector 18"/>
          <p:cNvCxnSpPr/>
          <p:nvPr/>
        </p:nvCxnSpPr>
        <p:spPr>
          <a:xfrm>
            <a:off x="3960000" y="429309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3923928" y="5229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tangle 20"/>
          <p:cNvSpPr/>
          <p:nvPr/>
        </p:nvSpPr>
        <p:spPr>
          <a:xfrm>
            <a:off x="4040704" y="5075892"/>
            <a:ext cx="747320" cy="369332"/>
          </a:xfrm>
          <a:prstGeom prst="rect">
            <a:avLst/>
          </a:prstGeom>
        </p:spPr>
        <p:txBody>
          <a:bodyPr wrap="none">
            <a:spAutoFit/>
          </a:bodyPr>
          <a:lstStyle/>
          <a:p>
            <a:r>
              <a:rPr lang="nl-NL" b="1" dirty="0" smtClean="0"/>
              <a:t>¬P , Q</a:t>
            </a:r>
            <a:endParaRPr lang="nl-NL" dirty="0"/>
          </a:p>
        </p:txBody>
      </p:sp>
    </p:spTree>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¬Q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¬Q           </a:t>
            </a:r>
            <a:endParaRPr lang="nl-NL" dirty="0" smtClean="0"/>
          </a:p>
        </p:txBody>
      </p:sp>
      <p:sp>
        <p:nvSpPr>
          <p:cNvPr id="9" name="Rectangle 8"/>
          <p:cNvSpPr/>
          <p:nvPr/>
        </p:nvSpPr>
        <p:spPr>
          <a:xfrm>
            <a:off x="2764571" y="1844824"/>
            <a:ext cx="1087349" cy="369332"/>
          </a:xfrm>
          <a:prstGeom prst="rect">
            <a:avLst/>
          </a:prstGeom>
        </p:spPr>
        <p:txBody>
          <a:bodyPr wrap="none">
            <a:spAutoFit/>
          </a:bodyPr>
          <a:lstStyle/>
          <a:p>
            <a:r>
              <a:rPr lang="nl-NL" b="1" dirty="0" smtClean="0"/>
              <a:t>¬(¬P V Q)</a:t>
            </a:r>
            <a:endParaRPr lang="nl-NL" dirty="0"/>
          </a:p>
        </p:txBody>
      </p:sp>
      <p:cxnSp>
        <p:nvCxnSpPr>
          <p:cNvPr id="10" name="Straight Connector 9"/>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3491880" y="2915652"/>
            <a:ext cx="1152128" cy="369332"/>
          </a:xfrm>
          <a:prstGeom prst="rect">
            <a:avLst/>
          </a:prstGeom>
          <a:noFill/>
        </p:spPr>
        <p:txBody>
          <a:bodyPr wrap="square" rtlCol="0">
            <a:spAutoFit/>
          </a:bodyPr>
          <a:lstStyle/>
          <a:p>
            <a:r>
              <a:rPr lang="nl-NL" b="1" dirty="0" smtClean="0">
                <a:solidFill>
                  <a:srgbClr val="C00000"/>
                </a:solidFill>
              </a:rPr>
              <a:t>Q</a:t>
            </a:r>
            <a:r>
              <a:rPr lang="nl-NL" b="1" dirty="0" smtClean="0">
                <a:solidFill>
                  <a:srgbClr val="FF0000"/>
                </a:solidFill>
              </a:rPr>
              <a:t>           </a:t>
            </a:r>
            <a:endParaRPr lang="nl-NL" dirty="0" smtClean="0">
              <a:solidFill>
                <a:srgbClr val="FF0000"/>
              </a:solidFill>
            </a:endParaRPr>
          </a:p>
        </p:txBody>
      </p:sp>
      <p:cxnSp>
        <p:nvCxnSpPr>
          <p:cNvPr id="14" name="Straight Connector 13"/>
          <p:cNvCxnSpPr/>
          <p:nvPr/>
        </p:nvCxnSpPr>
        <p:spPr>
          <a:xfrm>
            <a:off x="3960000" y="321297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3923928" y="41490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4035767" y="3995772"/>
            <a:ext cx="824265" cy="369332"/>
          </a:xfrm>
          <a:prstGeom prst="rect">
            <a:avLst/>
          </a:prstGeom>
        </p:spPr>
        <p:txBody>
          <a:bodyPr wrap="none">
            <a:spAutoFit/>
          </a:bodyPr>
          <a:lstStyle/>
          <a:p>
            <a:r>
              <a:rPr lang="nl-NL" b="1" dirty="0" smtClean="0"/>
              <a:t>¬P V Q</a:t>
            </a:r>
            <a:endParaRPr lang="nl-NL" dirty="0"/>
          </a:p>
        </p:txBody>
      </p:sp>
      <p:cxnSp>
        <p:nvCxnSpPr>
          <p:cNvPr id="19" name="Straight Connector 18"/>
          <p:cNvCxnSpPr/>
          <p:nvPr/>
        </p:nvCxnSpPr>
        <p:spPr>
          <a:xfrm>
            <a:off x="3960000" y="429309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3923928" y="5229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Rectangle 20"/>
          <p:cNvSpPr/>
          <p:nvPr/>
        </p:nvSpPr>
        <p:spPr>
          <a:xfrm>
            <a:off x="4040704" y="5075892"/>
            <a:ext cx="747320" cy="369332"/>
          </a:xfrm>
          <a:prstGeom prst="rect">
            <a:avLst/>
          </a:prstGeom>
        </p:spPr>
        <p:txBody>
          <a:bodyPr wrap="none">
            <a:spAutoFit/>
          </a:bodyPr>
          <a:lstStyle/>
          <a:p>
            <a:r>
              <a:rPr lang="nl-NL" b="1" dirty="0" smtClean="0"/>
              <a:t>¬P , </a:t>
            </a:r>
            <a:r>
              <a:rPr lang="nl-NL" b="1" dirty="0" smtClean="0">
                <a:solidFill>
                  <a:srgbClr val="C00000"/>
                </a:solidFill>
              </a:rPr>
              <a:t>Q</a:t>
            </a:r>
            <a:endParaRPr lang="nl-NL" dirty="0">
              <a:solidFill>
                <a:srgbClr val="C00000"/>
              </a:solidFill>
            </a:endParaRPr>
          </a:p>
        </p:txBody>
      </p:sp>
      <p:sp>
        <p:nvSpPr>
          <p:cNvPr id="17" name="TextBox 16"/>
          <p:cNvSpPr txBox="1"/>
          <p:nvPr/>
        </p:nvSpPr>
        <p:spPr>
          <a:xfrm>
            <a:off x="5472608" y="3933056"/>
            <a:ext cx="3635896" cy="1200329"/>
          </a:xfrm>
          <a:prstGeom prst="rect">
            <a:avLst/>
          </a:prstGeom>
          <a:noFill/>
        </p:spPr>
        <p:txBody>
          <a:bodyPr wrap="square" rtlCol="0">
            <a:spAutoFit/>
          </a:bodyPr>
          <a:lstStyle/>
          <a:p>
            <a:r>
              <a:rPr lang="nl-NL" dirty="0" smtClean="0"/>
              <a:t>De boom is ook voltooid zodra we zijn aangekomen bij een onmogelijke toekenning van waarheidswaarden aan een atomaire propositie (i.e. </a:t>
            </a:r>
            <a:r>
              <a:rPr lang="nl-NL" b="1" dirty="0" smtClean="0">
                <a:solidFill>
                  <a:srgbClr val="C00000"/>
                </a:solidFill>
              </a:rPr>
              <a:t>Q</a:t>
            </a:r>
            <a:r>
              <a:rPr lang="nl-NL" dirty="0" smtClean="0"/>
              <a:t>)</a:t>
            </a:r>
            <a:endParaRPr lang="nl-NL" dirty="0"/>
          </a:p>
        </p:txBody>
      </p:sp>
      <p:sp>
        <p:nvSpPr>
          <p:cNvPr id="18" name="TextBox 17"/>
          <p:cNvSpPr txBox="1"/>
          <p:nvPr/>
        </p:nvSpPr>
        <p:spPr>
          <a:xfrm>
            <a:off x="5472608" y="5253007"/>
            <a:ext cx="3635896" cy="923330"/>
          </a:xfrm>
          <a:prstGeom prst="rect">
            <a:avLst/>
          </a:prstGeom>
          <a:noFill/>
        </p:spPr>
        <p:txBody>
          <a:bodyPr wrap="square" rtlCol="0">
            <a:spAutoFit/>
          </a:bodyPr>
          <a:lstStyle/>
          <a:p>
            <a:r>
              <a:rPr lang="nl-NL" dirty="0" smtClean="0"/>
              <a:t>In dit geval vinden we geen tegenvoorbeeld. De boom is </a:t>
            </a:r>
            <a:r>
              <a:rPr lang="nl-NL" b="1" dirty="0" smtClean="0">
                <a:solidFill>
                  <a:srgbClr val="C00000"/>
                </a:solidFill>
              </a:rPr>
              <a:t>gesloten</a:t>
            </a:r>
            <a:r>
              <a:rPr lang="nl-NL" dirty="0" smtClean="0"/>
              <a:t> en de redenering </a:t>
            </a:r>
            <a:r>
              <a:rPr lang="nl-NL" i="1" dirty="0" smtClean="0"/>
              <a:t>geldig</a:t>
            </a:r>
            <a:endParaRPr lang="nl-NL" i="1" dirty="0"/>
          </a:p>
        </p:txBody>
      </p:sp>
      <p:sp>
        <p:nvSpPr>
          <p:cNvPr id="22" name="TextBox 21"/>
          <p:cNvSpPr txBox="1"/>
          <p:nvPr/>
        </p:nvSpPr>
        <p:spPr>
          <a:xfrm>
            <a:off x="5868144" y="1844824"/>
            <a:ext cx="2880320" cy="1200329"/>
          </a:xfrm>
          <a:prstGeom prst="rect">
            <a:avLst/>
          </a:prstGeom>
          <a:noFill/>
        </p:spPr>
        <p:txBody>
          <a:bodyPr wrap="square" rtlCol="0">
            <a:spAutoFit/>
          </a:bodyPr>
          <a:lstStyle/>
          <a:p>
            <a:r>
              <a:rPr lang="nl-NL" i="1" dirty="0" smtClean="0"/>
              <a:t>Waarom weten we nu </a:t>
            </a:r>
            <a:r>
              <a:rPr lang="nl-NL" i="1" u="sng" dirty="0" smtClean="0"/>
              <a:t>zeker </a:t>
            </a:r>
            <a:r>
              <a:rPr lang="nl-NL" i="1" dirty="0" smtClean="0"/>
              <a:t>dat er geen </a:t>
            </a:r>
            <a:r>
              <a:rPr lang="nl-NL" i="1" dirty="0" err="1" smtClean="0"/>
              <a:t>tegenvoor-beelden</a:t>
            </a:r>
            <a:r>
              <a:rPr lang="nl-NL" i="1" dirty="0" smtClean="0"/>
              <a:t> zijn, en dus de redenering geldig is?</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xEl>
                                              <p:pRg st="0" end="0"/>
                                            </p:txEl>
                                          </p:spTgt>
                                        </p:tgtEl>
                                        <p:attrNameLst>
                                          <p:attrName>style.visibility</p:attrName>
                                        </p:attrNameLst>
                                      </p:cBhvr>
                                      <p:to>
                                        <p:strVal val="visible"/>
                                      </p:to>
                                    </p:set>
                                    <p:animEffect transition="in" filter="fade">
                                      <p:cBhvr>
                                        <p:cTn id="17" dur="2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8" grpId="0" build="allAtOnce"/>
      <p:bldP spid="22" grpId="0" build="allAtOnce"/>
    </p:bld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R   |=  P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a:t>
            </a:r>
            <a:endParaRPr lang="nl-NL" dirty="0" smtClean="0"/>
          </a:p>
        </p:txBody>
      </p:sp>
      <p:sp>
        <p:nvSpPr>
          <p:cNvPr id="9" name="Rectangle 8"/>
          <p:cNvSpPr/>
          <p:nvPr/>
        </p:nvSpPr>
        <p:spPr>
          <a:xfrm>
            <a:off x="2626713" y="1844824"/>
            <a:ext cx="1225207" cy="369332"/>
          </a:xfrm>
          <a:prstGeom prst="rect">
            <a:avLst/>
          </a:prstGeom>
        </p:spPr>
        <p:txBody>
          <a:bodyPr wrap="none">
            <a:spAutoFit/>
          </a:bodyPr>
          <a:lstStyle/>
          <a:p>
            <a:pPr algn="r"/>
            <a:r>
              <a:rPr lang="nl-NL" b="1" dirty="0" smtClean="0"/>
              <a:t>(P V Q) ∧ R</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20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2000"/>
                                        <p:tgtEl>
                                          <p:spTgt spid="4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2000"/>
                                        <p:tgtEl>
                                          <p:spTgt spid="4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43" grpId="0"/>
      <p:bldP spid="44" grpId="0"/>
      <p:bldP spid="9" grpId="0"/>
    </p:bld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R   |=  P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a:t>
            </a:r>
            <a:endParaRPr lang="nl-NL" dirty="0" smtClean="0"/>
          </a:p>
        </p:txBody>
      </p:sp>
      <p:sp>
        <p:nvSpPr>
          <p:cNvPr id="9" name="Rectangle 8"/>
          <p:cNvSpPr/>
          <p:nvPr/>
        </p:nvSpPr>
        <p:spPr>
          <a:xfrm>
            <a:off x="2626713" y="1844824"/>
            <a:ext cx="1225207" cy="369332"/>
          </a:xfrm>
          <a:prstGeom prst="rect">
            <a:avLst/>
          </a:prstGeom>
        </p:spPr>
        <p:txBody>
          <a:bodyPr wrap="none">
            <a:spAutoFit/>
          </a:bodyPr>
          <a:lstStyle/>
          <a:p>
            <a:pPr algn="r"/>
            <a:r>
              <a:rPr lang="nl-NL" b="1" dirty="0" smtClean="0"/>
              <a:t>(P V Q) ∧ R</a:t>
            </a:r>
            <a:endParaRPr lang="nl-NL" dirty="0"/>
          </a:p>
        </p:txBody>
      </p:sp>
      <p:cxnSp>
        <p:nvCxnSpPr>
          <p:cNvPr id="8" name="Straight Connector 7"/>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2849190" y="2852936"/>
            <a:ext cx="1003801" cy="369332"/>
          </a:xfrm>
          <a:prstGeom prst="rect">
            <a:avLst/>
          </a:prstGeom>
        </p:spPr>
        <p:txBody>
          <a:bodyPr wrap="none">
            <a:spAutoFit/>
          </a:bodyPr>
          <a:lstStyle/>
          <a:p>
            <a:pPr algn="r"/>
            <a:r>
              <a:rPr lang="nl-NL" b="1" dirty="0" smtClean="0"/>
              <a:t>P V Q , R</a:t>
            </a:r>
            <a:endParaRPr lang="nl-NL" dirty="0"/>
          </a:p>
        </p:txBody>
      </p:sp>
      <p:sp>
        <p:nvSpPr>
          <p:cNvPr id="20" name="Oval 19"/>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R   |=  P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t>P          </a:t>
            </a:r>
            <a:endParaRPr lang="nl-NL" dirty="0" smtClean="0"/>
          </a:p>
        </p:txBody>
      </p:sp>
      <p:sp>
        <p:nvSpPr>
          <p:cNvPr id="9" name="Rectangle 8"/>
          <p:cNvSpPr/>
          <p:nvPr/>
        </p:nvSpPr>
        <p:spPr>
          <a:xfrm>
            <a:off x="2626713" y="1844824"/>
            <a:ext cx="1225207" cy="369332"/>
          </a:xfrm>
          <a:prstGeom prst="rect">
            <a:avLst/>
          </a:prstGeom>
        </p:spPr>
        <p:txBody>
          <a:bodyPr wrap="none">
            <a:spAutoFit/>
          </a:bodyPr>
          <a:lstStyle/>
          <a:p>
            <a:pPr algn="r"/>
            <a:r>
              <a:rPr lang="nl-NL" b="1" dirty="0" smtClean="0"/>
              <a:t>(P V Q) ∧ R</a:t>
            </a:r>
            <a:endParaRPr lang="nl-NL" dirty="0"/>
          </a:p>
        </p:txBody>
      </p:sp>
      <p:cxnSp>
        <p:nvCxnSpPr>
          <p:cNvPr id="8" name="Straight Connector 7"/>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2849190" y="2852936"/>
            <a:ext cx="1003801" cy="369332"/>
          </a:xfrm>
          <a:prstGeom prst="rect">
            <a:avLst/>
          </a:prstGeom>
        </p:spPr>
        <p:txBody>
          <a:bodyPr wrap="none">
            <a:spAutoFit/>
          </a:bodyPr>
          <a:lstStyle/>
          <a:p>
            <a:pPr algn="r"/>
            <a:r>
              <a:rPr lang="nl-NL" b="1" dirty="0" smtClean="0"/>
              <a:t>P V Q , R</a:t>
            </a:r>
            <a:endParaRPr lang="nl-NL" dirty="0"/>
          </a:p>
        </p:txBody>
      </p:sp>
      <p:cxnSp>
        <p:nvCxnSpPr>
          <p:cNvPr id="12" name="Straight Connector 11"/>
          <p:cNvCxnSpPr/>
          <p:nvPr/>
        </p:nvCxnSpPr>
        <p:spPr>
          <a:xfrm flipH="1">
            <a:off x="3131840" y="3212976"/>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923928" y="3212976"/>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3059832" y="42210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Oval 20"/>
          <p:cNvSpPr/>
          <p:nvPr/>
        </p:nvSpPr>
        <p:spPr>
          <a:xfrm>
            <a:off x="4716016" y="42210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Rectangle 21"/>
          <p:cNvSpPr/>
          <p:nvPr/>
        </p:nvSpPr>
        <p:spPr>
          <a:xfrm>
            <a:off x="2686967" y="4077072"/>
            <a:ext cx="320922" cy="400110"/>
          </a:xfrm>
          <a:prstGeom prst="rect">
            <a:avLst/>
          </a:prstGeom>
        </p:spPr>
        <p:txBody>
          <a:bodyPr wrap="none">
            <a:spAutoFit/>
          </a:bodyPr>
          <a:lstStyle/>
          <a:p>
            <a:pPr algn="r"/>
            <a:r>
              <a:rPr lang="nl-NL" sz="2000" b="1" dirty="0" smtClean="0"/>
              <a:t>P</a:t>
            </a:r>
            <a:endParaRPr lang="nl-NL" dirty="0"/>
          </a:p>
        </p:txBody>
      </p:sp>
      <p:sp>
        <p:nvSpPr>
          <p:cNvPr id="23" name="Rectangle 22"/>
          <p:cNvSpPr/>
          <p:nvPr/>
        </p:nvSpPr>
        <p:spPr>
          <a:xfrm>
            <a:off x="4320709" y="4067780"/>
            <a:ext cx="343364" cy="369332"/>
          </a:xfrm>
          <a:prstGeom prst="rect">
            <a:avLst/>
          </a:prstGeom>
        </p:spPr>
        <p:txBody>
          <a:bodyPr wrap="none">
            <a:spAutoFit/>
          </a:bodyPr>
          <a:lstStyle/>
          <a:p>
            <a:pPr algn="r"/>
            <a:r>
              <a:rPr lang="nl-NL" b="1" dirty="0" smtClean="0"/>
              <a:t>Q</a:t>
            </a:r>
            <a:endParaRPr lang="nl-NL" dirty="0"/>
          </a:p>
        </p:txBody>
      </p:sp>
    </p:spTree>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Een voorbeeld (III)</a:t>
            </a:r>
            <a:endParaRPr lang="nl-NL" sz="3600" dirty="0"/>
          </a:p>
        </p:txBody>
      </p:sp>
      <p:sp>
        <p:nvSpPr>
          <p:cNvPr id="4" name="TextBox 3"/>
          <p:cNvSpPr txBox="1"/>
          <p:nvPr/>
        </p:nvSpPr>
        <p:spPr>
          <a:xfrm>
            <a:off x="323528" y="1331476"/>
            <a:ext cx="3600400" cy="369332"/>
          </a:xfrm>
          <a:prstGeom prst="rect">
            <a:avLst/>
          </a:prstGeom>
          <a:noFill/>
        </p:spPr>
        <p:txBody>
          <a:bodyPr wrap="square" rtlCol="0">
            <a:spAutoFit/>
          </a:bodyPr>
          <a:lstStyle/>
          <a:p>
            <a:r>
              <a:rPr lang="nl-NL" b="1" dirty="0" smtClean="0"/>
              <a:t>(P V Q) ∧ R   |=  P    ?      </a:t>
            </a:r>
            <a:endParaRPr lang="nl-NL" dirty="0" smtClean="0"/>
          </a:p>
        </p:txBody>
      </p:sp>
      <p:sp>
        <p:nvSpPr>
          <p:cNvPr id="29" name="Oval 28"/>
          <p:cNvSpPr/>
          <p:nvPr/>
        </p:nvSpPr>
        <p:spPr>
          <a:xfrm>
            <a:off x="3923928" y="19888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TextBox 42"/>
          <p:cNvSpPr txBox="1"/>
          <p:nvPr/>
        </p:nvSpPr>
        <p:spPr>
          <a:xfrm>
            <a:off x="2843808" y="1844824"/>
            <a:ext cx="1080120" cy="369332"/>
          </a:xfrm>
          <a:prstGeom prst="rect">
            <a:avLst/>
          </a:prstGeom>
          <a:noFill/>
        </p:spPr>
        <p:txBody>
          <a:bodyPr wrap="square" rtlCol="0">
            <a:spAutoFit/>
          </a:bodyPr>
          <a:lstStyle/>
          <a:p>
            <a:r>
              <a:rPr lang="nl-NL" b="1" dirty="0" smtClean="0"/>
              <a:t>     </a:t>
            </a:r>
            <a:endParaRPr lang="nl-NL" dirty="0" smtClean="0"/>
          </a:p>
        </p:txBody>
      </p:sp>
      <p:sp>
        <p:nvSpPr>
          <p:cNvPr id="44" name="TextBox 43"/>
          <p:cNvSpPr txBox="1"/>
          <p:nvPr/>
        </p:nvSpPr>
        <p:spPr>
          <a:xfrm>
            <a:off x="4067944" y="1844824"/>
            <a:ext cx="1152128" cy="369332"/>
          </a:xfrm>
          <a:prstGeom prst="rect">
            <a:avLst/>
          </a:prstGeom>
          <a:noFill/>
        </p:spPr>
        <p:txBody>
          <a:bodyPr wrap="square" rtlCol="0">
            <a:spAutoFit/>
          </a:bodyPr>
          <a:lstStyle/>
          <a:p>
            <a:r>
              <a:rPr lang="nl-NL" b="1" dirty="0" smtClean="0">
                <a:solidFill>
                  <a:srgbClr val="0070C0"/>
                </a:solidFill>
              </a:rPr>
              <a:t>P</a:t>
            </a:r>
            <a:r>
              <a:rPr lang="nl-NL" b="1" dirty="0" smtClean="0"/>
              <a:t>          </a:t>
            </a:r>
            <a:endParaRPr lang="nl-NL" dirty="0" smtClean="0"/>
          </a:p>
        </p:txBody>
      </p:sp>
      <p:sp>
        <p:nvSpPr>
          <p:cNvPr id="9" name="Rectangle 8"/>
          <p:cNvSpPr/>
          <p:nvPr/>
        </p:nvSpPr>
        <p:spPr>
          <a:xfrm>
            <a:off x="2626713" y="1844824"/>
            <a:ext cx="1225207" cy="369332"/>
          </a:xfrm>
          <a:prstGeom prst="rect">
            <a:avLst/>
          </a:prstGeom>
        </p:spPr>
        <p:txBody>
          <a:bodyPr wrap="none">
            <a:spAutoFit/>
          </a:bodyPr>
          <a:lstStyle/>
          <a:p>
            <a:pPr algn="r"/>
            <a:r>
              <a:rPr lang="nl-NL" b="1" dirty="0" smtClean="0"/>
              <a:t>(P V Q) ∧ R</a:t>
            </a:r>
            <a:endParaRPr lang="nl-NL" dirty="0"/>
          </a:p>
        </p:txBody>
      </p:sp>
      <p:cxnSp>
        <p:nvCxnSpPr>
          <p:cNvPr id="8" name="Straight Connector 7"/>
          <p:cNvCxnSpPr/>
          <p:nvPr/>
        </p:nvCxnSpPr>
        <p:spPr>
          <a:xfrm>
            <a:off x="3960000" y="2132856"/>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92392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2849190" y="2852936"/>
            <a:ext cx="1003801" cy="369332"/>
          </a:xfrm>
          <a:prstGeom prst="rect">
            <a:avLst/>
          </a:prstGeom>
        </p:spPr>
        <p:txBody>
          <a:bodyPr wrap="none">
            <a:spAutoFit/>
          </a:bodyPr>
          <a:lstStyle/>
          <a:p>
            <a:pPr algn="r"/>
            <a:r>
              <a:rPr lang="nl-NL" b="1" dirty="0" smtClean="0"/>
              <a:t>P V Q , R</a:t>
            </a:r>
            <a:endParaRPr lang="nl-NL" dirty="0"/>
          </a:p>
        </p:txBody>
      </p:sp>
      <p:cxnSp>
        <p:nvCxnSpPr>
          <p:cNvPr id="12" name="Straight Connector 11"/>
          <p:cNvCxnSpPr/>
          <p:nvPr/>
        </p:nvCxnSpPr>
        <p:spPr>
          <a:xfrm flipH="1">
            <a:off x="3131840" y="3212976"/>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923928" y="3212976"/>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3059832" y="42210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Oval 20"/>
          <p:cNvSpPr/>
          <p:nvPr/>
        </p:nvSpPr>
        <p:spPr>
          <a:xfrm>
            <a:off x="4716016" y="42210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Rectangle 21"/>
          <p:cNvSpPr/>
          <p:nvPr/>
        </p:nvSpPr>
        <p:spPr>
          <a:xfrm>
            <a:off x="2699792" y="4077072"/>
            <a:ext cx="308097" cy="369332"/>
          </a:xfrm>
          <a:prstGeom prst="rect">
            <a:avLst/>
          </a:prstGeom>
        </p:spPr>
        <p:txBody>
          <a:bodyPr wrap="none">
            <a:spAutoFit/>
          </a:bodyPr>
          <a:lstStyle/>
          <a:p>
            <a:pPr algn="r"/>
            <a:r>
              <a:rPr lang="nl-NL" b="1" dirty="0" smtClean="0">
                <a:solidFill>
                  <a:srgbClr val="0070C0"/>
                </a:solidFill>
              </a:rPr>
              <a:t>P</a:t>
            </a:r>
            <a:endParaRPr lang="nl-NL" dirty="0">
              <a:solidFill>
                <a:srgbClr val="0070C0"/>
              </a:solidFill>
            </a:endParaRPr>
          </a:p>
        </p:txBody>
      </p:sp>
      <p:sp>
        <p:nvSpPr>
          <p:cNvPr id="23" name="Rectangle 22"/>
          <p:cNvSpPr/>
          <p:nvPr/>
        </p:nvSpPr>
        <p:spPr>
          <a:xfrm>
            <a:off x="4320709" y="4067780"/>
            <a:ext cx="343364" cy="369332"/>
          </a:xfrm>
          <a:prstGeom prst="rect">
            <a:avLst/>
          </a:prstGeom>
        </p:spPr>
        <p:txBody>
          <a:bodyPr wrap="none">
            <a:spAutoFit/>
          </a:bodyPr>
          <a:lstStyle/>
          <a:p>
            <a:pPr algn="r"/>
            <a:r>
              <a:rPr lang="nl-NL" b="1" dirty="0" smtClean="0"/>
              <a:t>Q</a:t>
            </a:r>
            <a:endParaRPr lang="nl-NL" dirty="0"/>
          </a:p>
        </p:txBody>
      </p:sp>
      <p:sp>
        <p:nvSpPr>
          <p:cNvPr id="17" name="TextBox 16"/>
          <p:cNvSpPr txBox="1"/>
          <p:nvPr/>
        </p:nvSpPr>
        <p:spPr>
          <a:xfrm>
            <a:off x="2843808" y="4284385"/>
            <a:ext cx="216024" cy="584775"/>
          </a:xfrm>
          <a:prstGeom prst="rect">
            <a:avLst/>
          </a:prstGeom>
          <a:noFill/>
        </p:spPr>
        <p:txBody>
          <a:bodyPr wrap="square" rtlCol="0">
            <a:spAutoFit/>
          </a:bodyPr>
          <a:lstStyle/>
          <a:p>
            <a:r>
              <a:rPr lang="nl-NL" sz="3200" b="1" dirty="0" smtClean="0"/>
              <a:t>+</a:t>
            </a:r>
            <a:endParaRPr lang="nl-NL" b="1" dirty="0"/>
          </a:p>
        </p:txBody>
      </p:sp>
      <p:sp>
        <p:nvSpPr>
          <p:cNvPr id="18" name="TextBox 17"/>
          <p:cNvSpPr txBox="1"/>
          <p:nvPr/>
        </p:nvSpPr>
        <p:spPr>
          <a:xfrm>
            <a:off x="6084168" y="3717032"/>
            <a:ext cx="3096344" cy="1477328"/>
          </a:xfrm>
          <a:prstGeom prst="rect">
            <a:avLst/>
          </a:prstGeom>
          <a:noFill/>
        </p:spPr>
        <p:txBody>
          <a:bodyPr wrap="square" rtlCol="0">
            <a:spAutoFit/>
          </a:bodyPr>
          <a:lstStyle/>
          <a:p>
            <a:r>
              <a:rPr lang="nl-NL" dirty="0" smtClean="0"/>
              <a:t>De linkertak is gesloten omdat er een onmogelijke </a:t>
            </a:r>
            <a:r>
              <a:rPr lang="nl-NL" dirty="0" err="1" smtClean="0"/>
              <a:t>waarheids-verdeling</a:t>
            </a:r>
            <a:r>
              <a:rPr lang="nl-NL" dirty="0" smtClean="0"/>
              <a:t> ontstaat. Deze tak levert dus geen </a:t>
            </a:r>
            <a:r>
              <a:rPr lang="nl-NL" dirty="0" err="1" smtClean="0"/>
              <a:t>tegen-voorbeeld</a:t>
            </a:r>
            <a:r>
              <a:rPr lang="nl-NL" dirty="0" smtClean="0"/>
              <a:t> op</a:t>
            </a:r>
            <a:endParaRPr lang="nl-NL" dirty="0"/>
          </a:p>
        </p:txBody>
      </p:sp>
      <p:sp>
        <p:nvSpPr>
          <p:cNvPr id="19" name="TextBox 18"/>
          <p:cNvSpPr txBox="1"/>
          <p:nvPr/>
        </p:nvSpPr>
        <p:spPr>
          <a:xfrm>
            <a:off x="6084168" y="5264040"/>
            <a:ext cx="3096344" cy="1477328"/>
          </a:xfrm>
          <a:prstGeom prst="rect">
            <a:avLst/>
          </a:prstGeom>
          <a:noFill/>
        </p:spPr>
        <p:txBody>
          <a:bodyPr wrap="square" rtlCol="0">
            <a:spAutoFit/>
          </a:bodyPr>
          <a:lstStyle/>
          <a:p>
            <a:r>
              <a:rPr lang="nl-NL" dirty="0" smtClean="0"/>
              <a:t>De rechtertak kan niet meer verder worden ontwikkeld en levert wel een tegenvoorbeeld op: R waar, Q waar, P onwaar. Redenering is dus ongeldig</a:t>
            </a:r>
            <a:endParaRPr lang="nl-NL" dirty="0"/>
          </a:p>
        </p:txBody>
      </p:sp>
      <p:sp>
        <p:nvSpPr>
          <p:cNvPr id="24" name="TextBox 23"/>
          <p:cNvSpPr txBox="1"/>
          <p:nvPr/>
        </p:nvSpPr>
        <p:spPr>
          <a:xfrm>
            <a:off x="5508104" y="1641574"/>
            <a:ext cx="3491880" cy="1200329"/>
          </a:xfrm>
          <a:prstGeom prst="rect">
            <a:avLst/>
          </a:prstGeom>
          <a:noFill/>
        </p:spPr>
        <p:txBody>
          <a:bodyPr wrap="square" rtlCol="0">
            <a:spAutoFit/>
          </a:bodyPr>
          <a:lstStyle/>
          <a:p>
            <a:r>
              <a:rPr lang="nl-NL" i="1" dirty="0" smtClean="0"/>
              <a:t>Een redenering is semantisch geldig wanneer alle takken van haar semantische boom gesloten zijn. Dus wanneer de boom gesloten is.</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2000"/>
                                        <p:tgtEl>
                                          <p:spTgt spid="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xEl>
                                              <p:pRg st="0" end="0"/>
                                            </p:txEl>
                                          </p:spTgt>
                                        </p:tgtEl>
                                        <p:attrNameLst>
                                          <p:attrName>style.visibility</p:attrName>
                                        </p:attrNameLst>
                                      </p:cBhvr>
                                      <p:to>
                                        <p:strVal val="visible"/>
                                      </p:to>
                                    </p:set>
                                    <p:animEffect transition="in" filter="fade">
                                      <p:cBhvr>
                                        <p:cTn id="17" dur="20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4" grpId="0" build="allAtOnce"/>
    </p:bld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Boomregels</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Tot dusver zagen we hoe we bijvoorbeeld in semantische bomen met ware en onware negaties, ware en onware disjuncties, onware implicaties en ware conjuncties moeten omgaan. Hoeveel boomregels zijn er eigenlijk?</a:t>
            </a:r>
          </a:p>
          <a:p>
            <a:endParaRPr lang="nl-NL" sz="2000" dirty="0" smtClean="0"/>
          </a:p>
          <a:p>
            <a:endParaRPr lang="nl-NL" sz="2000" dirty="0" smtClean="0"/>
          </a:p>
        </p:txBody>
      </p:sp>
      <p:sp>
        <p:nvSpPr>
          <p:cNvPr id="6" name="Content Placeholder 2"/>
          <p:cNvSpPr txBox="1">
            <a:spLocks/>
          </p:cNvSpPr>
          <p:nvPr/>
        </p:nvSpPr>
        <p:spPr>
          <a:xfrm>
            <a:off x="395536" y="2708920"/>
            <a:ext cx="8363272" cy="110872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dirty="0" smtClean="0"/>
              <a:t>We hebben vijf logische constanten (</a:t>
            </a:r>
            <a:r>
              <a:rPr lang="nl-NL" sz="2000" b="1" dirty="0" smtClean="0"/>
              <a:t>∧ , V , → , ¬ , ↔ </a:t>
            </a:r>
            <a:r>
              <a:rPr lang="nl-NL" sz="2000" dirty="0" smtClean="0"/>
              <a:t>). Voor iedere constante hebben we twee regels nodig. Een propositie met een bepaald hoofdteken kan immers zowel waar als onwaar zijn. Dus 5 x 2 = 10 regels</a:t>
            </a:r>
            <a:r>
              <a:rPr lang="nl-NL" sz="2000" b="1"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85192" y="3832448"/>
            <a:ext cx="8363272" cy="110872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noProof="0" dirty="0" smtClean="0"/>
              <a:t>Wat is bijvoorbeeld de regel voor het omgaan in een boom met een    </a:t>
            </a:r>
            <a:r>
              <a:rPr lang="nl-NL" sz="2000" i="1" noProof="0" dirty="0" smtClean="0"/>
              <a:t>on</a:t>
            </a:r>
            <a:r>
              <a:rPr lang="nl-NL" sz="2000" noProof="0" dirty="0" smtClean="0"/>
              <a:t>ware conjunctie?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Oval 8"/>
          <p:cNvSpPr/>
          <p:nvPr/>
        </p:nvSpPr>
        <p:spPr>
          <a:xfrm>
            <a:off x="3707904" y="49411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866359" y="4787860"/>
            <a:ext cx="705641" cy="369332"/>
          </a:xfrm>
          <a:prstGeom prst="rect">
            <a:avLst/>
          </a:prstGeom>
        </p:spPr>
        <p:txBody>
          <a:bodyPr wrap="none">
            <a:spAutoFit/>
          </a:bodyPr>
          <a:lstStyle/>
          <a:p>
            <a:pPr algn="r"/>
            <a:r>
              <a:rPr lang="nl-NL" b="1" dirty="0" smtClean="0"/>
              <a:t>P ∧ Q</a:t>
            </a:r>
            <a:endParaRPr lang="nl-NL" dirty="0"/>
          </a:p>
        </p:txBody>
      </p:sp>
      <p:cxnSp>
        <p:nvCxnSpPr>
          <p:cNvPr id="12" name="Straight Connector 11"/>
          <p:cNvCxnSpPr/>
          <p:nvPr/>
        </p:nvCxnSpPr>
        <p:spPr>
          <a:xfrm flipH="1">
            <a:off x="2951752" y="5085184"/>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5085184"/>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60932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60932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5949280"/>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660684" y="5939988"/>
            <a:ext cx="343364" cy="369332"/>
          </a:xfrm>
          <a:prstGeom prst="rect">
            <a:avLst/>
          </a:prstGeom>
        </p:spPr>
        <p:txBody>
          <a:bodyPr wrap="none">
            <a:spAutoFit/>
          </a:bodyPr>
          <a:lstStyle/>
          <a:p>
            <a:pPr algn="r"/>
            <a:r>
              <a:rPr lang="nl-NL" b="1" dirty="0" smtClean="0"/>
              <a:t>Q</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0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0"/>
                                        <p:tgtEl>
                                          <p:spTgt spid="11"/>
                                        </p:tgtEl>
                                      </p:cBhvr>
                                    </p:animEffect>
                                  </p:childTnLst>
                                </p:cTn>
                              </p:par>
                              <p:par>
                                <p:cTn id="21" presetID="10"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2000"/>
                                        <p:tgtEl>
                                          <p:spTgt spid="12"/>
                                        </p:tgtEl>
                                      </p:cBhvr>
                                    </p:animEffect>
                                  </p:childTnLst>
                                </p:cTn>
                              </p:par>
                              <p:par>
                                <p:cTn id="24" presetID="10"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2000"/>
                                        <p:tgtEl>
                                          <p:spTgt spid="13"/>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20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20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20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build="allAtOnce"/>
      <p:bldP spid="9" grpId="0" animBg="1"/>
      <p:bldP spid="11" grpId="0"/>
      <p:bldP spid="14" grpId="0" animBg="1"/>
      <p:bldP spid="15" grpId="0" animBg="1"/>
      <p:bldP spid="16" grpId="0"/>
      <p:bldP spid="17" grpId="0"/>
    </p:bld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Boomregels</a:t>
            </a:r>
            <a:endParaRPr lang="nl-NL" sz="3600" dirty="0"/>
          </a:p>
        </p:txBody>
      </p:sp>
      <p:sp>
        <p:nvSpPr>
          <p:cNvPr id="8" name="Content Placeholder 2"/>
          <p:cNvSpPr txBox="1">
            <a:spLocks/>
          </p:cNvSpPr>
          <p:nvPr/>
        </p:nvSpPr>
        <p:spPr>
          <a:xfrm>
            <a:off x="385192" y="1340768"/>
            <a:ext cx="8363272" cy="110872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noProof="0" dirty="0" smtClean="0"/>
              <a:t>En de regel voor het omgaan in een boom met een ware implicatie?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Oval 8"/>
          <p:cNvSpPr/>
          <p:nvPr/>
        </p:nvSpPr>
        <p:spPr>
          <a:xfrm>
            <a:off x="3707904" y="216479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2854913" y="2011486"/>
            <a:ext cx="780983" cy="369332"/>
          </a:xfrm>
          <a:prstGeom prst="rect">
            <a:avLst/>
          </a:prstGeom>
        </p:spPr>
        <p:txBody>
          <a:bodyPr wrap="none">
            <a:spAutoFit/>
          </a:bodyPr>
          <a:lstStyle/>
          <a:p>
            <a:pPr algn="r"/>
            <a:r>
              <a:rPr lang="nl-NL" b="1" dirty="0" smtClean="0"/>
              <a:t>P → Q</a:t>
            </a:r>
            <a:endParaRPr lang="nl-NL" dirty="0"/>
          </a:p>
        </p:txBody>
      </p:sp>
      <p:cxnSp>
        <p:nvCxnSpPr>
          <p:cNvPr id="12" name="Straight Connector 11"/>
          <p:cNvCxnSpPr/>
          <p:nvPr/>
        </p:nvCxnSpPr>
        <p:spPr>
          <a:xfrm flipH="1">
            <a:off x="2951752" y="2308810"/>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2308810"/>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331692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331692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3172906"/>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211960" y="3163614"/>
            <a:ext cx="343364" cy="369332"/>
          </a:xfrm>
          <a:prstGeom prst="rect">
            <a:avLst/>
          </a:prstGeom>
        </p:spPr>
        <p:txBody>
          <a:bodyPr wrap="none">
            <a:spAutoFit/>
          </a:bodyPr>
          <a:lstStyle/>
          <a:p>
            <a:pPr algn="r"/>
            <a:r>
              <a:rPr lang="nl-NL" b="1" dirty="0" smtClean="0"/>
              <a:t>Q</a:t>
            </a:r>
            <a:endParaRPr lang="nl-NL" dirty="0"/>
          </a:p>
        </p:txBody>
      </p:sp>
      <p:sp>
        <p:nvSpPr>
          <p:cNvPr id="18" name="Content Placeholder 2"/>
          <p:cNvSpPr txBox="1">
            <a:spLocks/>
          </p:cNvSpPr>
          <p:nvPr/>
        </p:nvSpPr>
        <p:spPr>
          <a:xfrm>
            <a:off x="395536" y="3976464"/>
            <a:ext cx="8363272" cy="110872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noProof="0" dirty="0" smtClean="0"/>
              <a:t>En de regel voor omgaan in een boom met een ware dubbele implicatie?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9" name="Oval 18"/>
          <p:cNvSpPr/>
          <p:nvPr/>
        </p:nvSpPr>
        <p:spPr>
          <a:xfrm>
            <a:off x="3719368"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2771800" y="5003884"/>
            <a:ext cx="875560" cy="369332"/>
          </a:xfrm>
          <a:prstGeom prst="rect">
            <a:avLst/>
          </a:prstGeom>
        </p:spPr>
        <p:txBody>
          <a:bodyPr wrap="none">
            <a:spAutoFit/>
          </a:bodyPr>
          <a:lstStyle/>
          <a:p>
            <a:pPr algn="r"/>
            <a:r>
              <a:rPr lang="nl-NL" b="1" dirty="0" smtClean="0"/>
              <a:t>P ↔ Q</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20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20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20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20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fade">
                                      <p:cBhvr>
                                        <p:cTn id="33" dur="2000"/>
                                        <p:tgtEl>
                                          <p:spTgt spid="18">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20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4" grpId="0" animBg="1"/>
      <p:bldP spid="15" grpId="0" animBg="1"/>
      <p:bldP spid="16" grpId="0"/>
      <p:bldP spid="17" grpId="0"/>
      <p:bldP spid="18" grpId="0" build="allAtOnce"/>
      <p:bldP spid="19" grpId="0" animBg="1"/>
      <p:bldP spid="20" grpId="0"/>
    </p:bld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2760335" y="1988840"/>
            <a:ext cx="875561" cy="369332"/>
          </a:xfrm>
          <a:prstGeom prst="rect">
            <a:avLst/>
          </a:prstGeom>
        </p:spPr>
        <p:txBody>
          <a:bodyPr wrap="none">
            <a:spAutoFit/>
          </a:bodyPr>
          <a:lstStyle/>
          <a:p>
            <a:pPr algn="r"/>
            <a:r>
              <a:rPr lang="nl-NL" b="1" dirty="0" smtClean="0"/>
              <a:t>P ↔ Q</a:t>
            </a:r>
            <a:endParaRPr lang="nl-NL" dirty="0"/>
          </a:p>
        </p:txBody>
      </p:sp>
    </p:spTree>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727810" y="1988840"/>
            <a:ext cx="1908086" cy="369332"/>
          </a:xfrm>
          <a:prstGeom prst="rect">
            <a:avLst/>
          </a:prstGeom>
        </p:spPr>
        <p:txBody>
          <a:bodyPr wrap="none">
            <a:spAutoFit/>
          </a:bodyPr>
          <a:lstStyle/>
          <a:p>
            <a:pPr algn="r"/>
            <a:r>
              <a:rPr lang="nl-NL" b="1" dirty="0" smtClean="0"/>
              <a:t>(P → Q) ∧ (Q → P)</a:t>
            </a:r>
            <a:endParaRPr lang="nl-NL" dirty="0"/>
          </a:p>
        </p:txBody>
      </p:sp>
    </p:spTree>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96952"/>
            <a:ext cx="2304256" cy="369332"/>
          </a:xfrm>
          <a:prstGeom prst="rect">
            <a:avLst/>
          </a:prstGeom>
        </p:spPr>
        <p:txBody>
          <a:bodyPr wrap="square">
            <a:spAutoFit/>
          </a:bodyPr>
          <a:lstStyle/>
          <a:p>
            <a:pPr algn="r"/>
            <a:r>
              <a:rPr lang="nl-NL" b="1" dirty="0" smtClean="0"/>
              <a:t>P → Q , Q → P </a:t>
            </a:r>
            <a:endParaRPr lang="nl-NL" dirty="0"/>
          </a:p>
        </p:txBody>
      </p:sp>
    </p:spTree>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96952"/>
            <a:ext cx="2304256" cy="369332"/>
          </a:xfrm>
          <a:prstGeom prst="rect">
            <a:avLst/>
          </a:prstGeom>
        </p:spPr>
        <p:txBody>
          <a:bodyPr wrap="square">
            <a:spAutoFit/>
          </a:bodyPr>
          <a:lstStyle/>
          <a:p>
            <a:pPr algn="r"/>
            <a:r>
              <a:rPr lang="nl-NL" b="1" dirty="0" smtClean="0">
                <a:solidFill>
                  <a:srgbClr val="0070C0"/>
                </a:solidFill>
              </a:rPr>
              <a:t>P → Q </a:t>
            </a:r>
            <a:r>
              <a:rPr lang="nl-NL" b="1" dirty="0" smtClean="0"/>
              <a:t>, Q → P </a:t>
            </a:r>
            <a:endParaRPr lang="nl-NL" dirty="0"/>
          </a:p>
        </p:txBody>
      </p:sp>
    </p:spTree>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24944"/>
            <a:ext cx="2304256" cy="369332"/>
          </a:xfrm>
          <a:prstGeom prst="rect">
            <a:avLst/>
          </a:prstGeom>
        </p:spPr>
        <p:txBody>
          <a:bodyPr wrap="square">
            <a:spAutoFit/>
          </a:bodyPr>
          <a:lstStyle/>
          <a:p>
            <a:pPr algn="r"/>
            <a:r>
              <a:rPr lang="nl-NL" b="1" dirty="0" smtClean="0"/>
              <a:t>P → Q , Q → P </a:t>
            </a:r>
            <a:endParaRPr lang="nl-NL" dirty="0"/>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4181018"/>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211960" y="4171726"/>
            <a:ext cx="343364" cy="369332"/>
          </a:xfrm>
          <a:prstGeom prst="rect">
            <a:avLst/>
          </a:prstGeom>
        </p:spPr>
        <p:txBody>
          <a:bodyPr wrap="none">
            <a:spAutoFit/>
          </a:bodyPr>
          <a:lstStyle/>
          <a:p>
            <a:pPr algn="r"/>
            <a:r>
              <a:rPr lang="nl-NL" b="1" dirty="0" smtClean="0"/>
              <a:t>Q</a:t>
            </a:r>
            <a:endParaRPr lang="nl-NL" dirty="0"/>
          </a:p>
        </p:txBody>
      </p:sp>
    </p:spTree>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24944"/>
            <a:ext cx="2304256" cy="369332"/>
          </a:xfrm>
          <a:prstGeom prst="rect">
            <a:avLst/>
          </a:prstGeom>
        </p:spPr>
        <p:txBody>
          <a:bodyPr wrap="square">
            <a:spAutoFit/>
          </a:bodyPr>
          <a:lstStyle/>
          <a:p>
            <a:pPr algn="r"/>
            <a:r>
              <a:rPr lang="nl-NL" b="1" dirty="0" smtClean="0"/>
              <a:t>P → Q , </a:t>
            </a:r>
            <a:r>
              <a:rPr lang="nl-NL" b="1" dirty="0" smtClean="0">
                <a:solidFill>
                  <a:srgbClr val="0070C0"/>
                </a:solidFill>
              </a:rPr>
              <a:t>Q → P</a:t>
            </a:r>
            <a:r>
              <a:rPr lang="nl-NL" b="1" dirty="0" smtClean="0"/>
              <a:t> </a:t>
            </a:r>
            <a:endParaRPr lang="nl-NL" dirty="0"/>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4181018"/>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211960" y="4171726"/>
            <a:ext cx="343364" cy="369332"/>
          </a:xfrm>
          <a:prstGeom prst="rect">
            <a:avLst/>
          </a:prstGeom>
        </p:spPr>
        <p:txBody>
          <a:bodyPr wrap="none">
            <a:spAutoFit/>
          </a:bodyPr>
          <a:lstStyle/>
          <a:p>
            <a:pPr algn="r"/>
            <a:r>
              <a:rPr lang="nl-NL" b="1" dirty="0" smtClean="0"/>
              <a:t>Q</a:t>
            </a:r>
            <a:endParaRPr lang="nl-NL" dirty="0"/>
          </a:p>
        </p:txBody>
      </p:sp>
    </p:spTree>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24944"/>
            <a:ext cx="2304256" cy="369332"/>
          </a:xfrm>
          <a:prstGeom prst="rect">
            <a:avLst/>
          </a:prstGeom>
        </p:spPr>
        <p:txBody>
          <a:bodyPr wrap="square">
            <a:spAutoFit/>
          </a:bodyPr>
          <a:lstStyle/>
          <a:p>
            <a:pPr algn="r"/>
            <a:r>
              <a:rPr lang="nl-NL" b="1" dirty="0" smtClean="0"/>
              <a:t>P → Q , Q → P </a:t>
            </a:r>
            <a:endParaRPr lang="nl-NL" dirty="0"/>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4181018"/>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211960" y="4171726"/>
            <a:ext cx="343364" cy="369332"/>
          </a:xfrm>
          <a:prstGeom prst="rect">
            <a:avLst/>
          </a:prstGeom>
        </p:spPr>
        <p:txBody>
          <a:bodyPr wrap="none">
            <a:spAutoFit/>
          </a:bodyPr>
          <a:lstStyle/>
          <a:p>
            <a:pPr algn="r"/>
            <a:r>
              <a:rPr lang="nl-NL" b="1" dirty="0" smtClean="0"/>
              <a:t>Q</a:t>
            </a:r>
            <a:endParaRPr lang="nl-NL" dirty="0"/>
          </a:p>
        </p:txBody>
      </p:sp>
      <p:cxnSp>
        <p:nvCxnSpPr>
          <p:cNvPr id="18" name="Straight Connector 17"/>
          <p:cNvCxnSpPr/>
          <p:nvPr/>
        </p:nvCxnSpPr>
        <p:spPr>
          <a:xfrm flipH="1">
            <a:off x="1907704" y="4437112"/>
            <a:ext cx="92328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843808" y="443711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1835696"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Oval 23"/>
          <p:cNvSpPr/>
          <p:nvPr/>
        </p:nvSpPr>
        <p:spPr>
          <a:xfrm>
            <a:off x="3635896"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tangle 24"/>
          <p:cNvSpPr/>
          <p:nvPr/>
        </p:nvSpPr>
        <p:spPr>
          <a:xfrm>
            <a:off x="1906748" y="5301208"/>
            <a:ext cx="360996" cy="400110"/>
          </a:xfrm>
          <a:prstGeom prst="rect">
            <a:avLst/>
          </a:prstGeom>
        </p:spPr>
        <p:txBody>
          <a:bodyPr wrap="none">
            <a:spAutoFit/>
          </a:bodyPr>
          <a:lstStyle/>
          <a:p>
            <a:pPr algn="r"/>
            <a:r>
              <a:rPr lang="nl-NL" sz="2000" b="1" dirty="0" smtClean="0"/>
              <a:t>Q</a:t>
            </a:r>
            <a:endParaRPr lang="nl-NL" dirty="0"/>
          </a:p>
        </p:txBody>
      </p:sp>
      <p:sp>
        <p:nvSpPr>
          <p:cNvPr id="26" name="Rectangle 25"/>
          <p:cNvSpPr/>
          <p:nvPr/>
        </p:nvSpPr>
        <p:spPr>
          <a:xfrm>
            <a:off x="3347864" y="5301208"/>
            <a:ext cx="308098" cy="369332"/>
          </a:xfrm>
          <a:prstGeom prst="rect">
            <a:avLst/>
          </a:prstGeom>
        </p:spPr>
        <p:txBody>
          <a:bodyPr wrap="none">
            <a:spAutoFit/>
          </a:bodyPr>
          <a:lstStyle/>
          <a:p>
            <a:pPr algn="r"/>
            <a:r>
              <a:rPr lang="nl-NL" b="1" dirty="0" smtClean="0"/>
              <a:t>P</a:t>
            </a:r>
            <a:endParaRPr lang="nl-NL" dirty="0"/>
          </a:p>
        </p:txBody>
      </p:sp>
      <p:cxnSp>
        <p:nvCxnSpPr>
          <p:cNvPr id="27" name="Straight Connector 26"/>
          <p:cNvCxnSpPr/>
          <p:nvPr/>
        </p:nvCxnSpPr>
        <p:spPr>
          <a:xfrm flipH="1">
            <a:off x="3887856" y="443711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703191" y="443711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3851920"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0" name="Oval 29"/>
          <p:cNvSpPr/>
          <p:nvPr/>
        </p:nvSpPr>
        <p:spPr>
          <a:xfrm>
            <a:off x="5508104"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1" name="Rectangle 30"/>
          <p:cNvSpPr/>
          <p:nvPr/>
        </p:nvSpPr>
        <p:spPr>
          <a:xfrm>
            <a:off x="3922972" y="5301208"/>
            <a:ext cx="360996" cy="400110"/>
          </a:xfrm>
          <a:prstGeom prst="rect">
            <a:avLst/>
          </a:prstGeom>
        </p:spPr>
        <p:txBody>
          <a:bodyPr wrap="none">
            <a:spAutoFit/>
          </a:bodyPr>
          <a:lstStyle/>
          <a:p>
            <a:pPr algn="r"/>
            <a:r>
              <a:rPr lang="nl-NL" sz="2000" b="1" dirty="0" smtClean="0"/>
              <a:t>Q</a:t>
            </a:r>
            <a:endParaRPr lang="nl-NL" dirty="0"/>
          </a:p>
        </p:txBody>
      </p:sp>
      <p:sp>
        <p:nvSpPr>
          <p:cNvPr id="32" name="Rectangle 31"/>
          <p:cNvSpPr/>
          <p:nvPr/>
        </p:nvSpPr>
        <p:spPr>
          <a:xfrm>
            <a:off x="5170505" y="5291916"/>
            <a:ext cx="308098" cy="369332"/>
          </a:xfrm>
          <a:prstGeom prst="rect">
            <a:avLst/>
          </a:prstGeom>
        </p:spPr>
        <p:txBody>
          <a:bodyPr wrap="none">
            <a:spAutoFit/>
          </a:bodyPr>
          <a:lstStyle/>
          <a:p>
            <a:pPr algn="r"/>
            <a:r>
              <a:rPr lang="nl-NL" b="1" dirty="0" smtClean="0"/>
              <a:t>P</a:t>
            </a:r>
            <a:endParaRPr lang="nl-NL" dirty="0"/>
          </a:p>
        </p:txBody>
      </p:sp>
    </p:spTree>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24944"/>
            <a:ext cx="2304256" cy="369332"/>
          </a:xfrm>
          <a:prstGeom prst="rect">
            <a:avLst/>
          </a:prstGeom>
        </p:spPr>
        <p:txBody>
          <a:bodyPr wrap="square">
            <a:spAutoFit/>
          </a:bodyPr>
          <a:lstStyle/>
          <a:p>
            <a:pPr algn="r"/>
            <a:r>
              <a:rPr lang="nl-NL" b="1" dirty="0" smtClean="0"/>
              <a:t>P → Q , Q → P </a:t>
            </a:r>
            <a:endParaRPr lang="nl-NL" dirty="0"/>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4181018"/>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211960" y="4171726"/>
            <a:ext cx="343364" cy="369332"/>
          </a:xfrm>
          <a:prstGeom prst="rect">
            <a:avLst/>
          </a:prstGeom>
        </p:spPr>
        <p:txBody>
          <a:bodyPr wrap="none">
            <a:spAutoFit/>
          </a:bodyPr>
          <a:lstStyle/>
          <a:p>
            <a:pPr algn="r"/>
            <a:r>
              <a:rPr lang="nl-NL" b="1" dirty="0" smtClean="0"/>
              <a:t>Q</a:t>
            </a:r>
            <a:endParaRPr lang="nl-NL" dirty="0"/>
          </a:p>
        </p:txBody>
      </p:sp>
      <p:cxnSp>
        <p:nvCxnSpPr>
          <p:cNvPr id="18" name="Straight Connector 17"/>
          <p:cNvCxnSpPr/>
          <p:nvPr/>
        </p:nvCxnSpPr>
        <p:spPr>
          <a:xfrm flipH="1">
            <a:off x="1907704" y="4437112"/>
            <a:ext cx="92328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843808" y="443711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1835696"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Oval 23"/>
          <p:cNvSpPr/>
          <p:nvPr/>
        </p:nvSpPr>
        <p:spPr>
          <a:xfrm>
            <a:off x="3635896"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tangle 24"/>
          <p:cNvSpPr/>
          <p:nvPr/>
        </p:nvSpPr>
        <p:spPr>
          <a:xfrm>
            <a:off x="1906748" y="5301208"/>
            <a:ext cx="360996" cy="400110"/>
          </a:xfrm>
          <a:prstGeom prst="rect">
            <a:avLst/>
          </a:prstGeom>
        </p:spPr>
        <p:txBody>
          <a:bodyPr wrap="none">
            <a:spAutoFit/>
          </a:bodyPr>
          <a:lstStyle/>
          <a:p>
            <a:pPr algn="r"/>
            <a:r>
              <a:rPr lang="nl-NL" sz="2000" b="1" dirty="0" smtClean="0"/>
              <a:t>Q</a:t>
            </a:r>
            <a:endParaRPr lang="nl-NL" dirty="0"/>
          </a:p>
        </p:txBody>
      </p:sp>
      <p:sp>
        <p:nvSpPr>
          <p:cNvPr id="26" name="Rectangle 25"/>
          <p:cNvSpPr/>
          <p:nvPr/>
        </p:nvSpPr>
        <p:spPr>
          <a:xfrm>
            <a:off x="3347864" y="5301208"/>
            <a:ext cx="308098" cy="369332"/>
          </a:xfrm>
          <a:prstGeom prst="rect">
            <a:avLst/>
          </a:prstGeom>
        </p:spPr>
        <p:txBody>
          <a:bodyPr wrap="none">
            <a:spAutoFit/>
          </a:bodyPr>
          <a:lstStyle/>
          <a:p>
            <a:pPr algn="r"/>
            <a:r>
              <a:rPr lang="nl-NL" b="1" dirty="0" smtClean="0"/>
              <a:t>P</a:t>
            </a:r>
            <a:endParaRPr lang="nl-NL" dirty="0"/>
          </a:p>
        </p:txBody>
      </p:sp>
      <p:cxnSp>
        <p:nvCxnSpPr>
          <p:cNvPr id="27" name="Straight Connector 26"/>
          <p:cNvCxnSpPr/>
          <p:nvPr/>
        </p:nvCxnSpPr>
        <p:spPr>
          <a:xfrm flipH="1">
            <a:off x="3887856" y="443711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703191" y="443711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3851920"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0" name="Oval 29"/>
          <p:cNvSpPr/>
          <p:nvPr/>
        </p:nvSpPr>
        <p:spPr>
          <a:xfrm>
            <a:off x="5508104"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1" name="Rectangle 30"/>
          <p:cNvSpPr/>
          <p:nvPr/>
        </p:nvSpPr>
        <p:spPr>
          <a:xfrm>
            <a:off x="3922972" y="5301208"/>
            <a:ext cx="360996" cy="400110"/>
          </a:xfrm>
          <a:prstGeom prst="rect">
            <a:avLst/>
          </a:prstGeom>
        </p:spPr>
        <p:txBody>
          <a:bodyPr wrap="none">
            <a:spAutoFit/>
          </a:bodyPr>
          <a:lstStyle/>
          <a:p>
            <a:pPr algn="r"/>
            <a:r>
              <a:rPr lang="nl-NL" sz="2000" b="1" dirty="0" smtClean="0"/>
              <a:t>Q</a:t>
            </a:r>
            <a:endParaRPr lang="nl-NL" dirty="0"/>
          </a:p>
        </p:txBody>
      </p:sp>
      <p:sp>
        <p:nvSpPr>
          <p:cNvPr id="32" name="Rectangle 31"/>
          <p:cNvSpPr/>
          <p:nvPr/>
        </p:nvSpPr>
        <p:spPr>
          <a:xfrm>
            <a:off x="5170505" y="5291916"/>
            <a:ext cx="308098" cy="369332"/>
          </a:xfrm>
          <a:prstGeom prst="rect">
            <a:avLst/>
          </a:prstGeom>
        </p:spPr>
        <p:txBody>
          <a:bodyPr wrap="none">
            <a:spAutoFit/>
          </a:bodyPr>
          <a:lstStyle/>
          <a:p>
            <a:pPr algn="r"/>
            <a:r>
              <a:rPr lang="nl-NL" b="1" dirty="0" smtClean="0"/>
              <a:t>P</a:t>
            </a:r>
            <a:endParaRPr lang="nl-NL" dirty="0"/>
          </a:p>
        </p:txBody>
      </p:sp>
      <p:sp>
        <p:nvSpPr>
          <p:cNvPr id="33" name="TextBox 32"/>
          <p:cNvSpPr txBox="1"/>
          <p:nvPr/>
        </p:nvSpPr>
        <p:spPr>
          <a:xfrm>
            <a:off x="3419872" y="5364505"/>
            <a:ext cx="216024" cy="584775"/>
          </a:xfrm>
          <a:prstGeom prst="rect">
            <a:avLst/>
          </a:prstGeom>
          <a:noFill/>
        </p:spPr>
        <p:txBody>
          <a:bodyPr wrap="square" rtlCol="0">
            <a:spAutoFit/>
          </a:bodyPr>
          <a:lstStyle/>
          <a:p>
            <a:r>
              <a:rPr lang="nl-NL" sz="3200" b="1" dirty="0" smtClean="0"/>
              <a:t>+</a:t>
            </a:r>
            <a:endParaRPr lang="nl-NL" b="1" dirty="0"/>
          </a:p>
        </p:txBody>
      </p:sp>
      <p:sp>
        <p:nvSpPr>
          <p:cNvPr id="34" name="TextBox 33"/>
          <p:cNvSpPr txBox="1"/>
          <p:nvPr/>
        </p:nvSpPr>
        <p:spPr>
          <a:xfrm>
            <a:off x="3707904" y="5373216"/>
            <a:ext cx="216024" cy="584775"/>
          </a:xfrm>
          <a:prstGeom prst="rect">
            <a:avLst/>
          </a:prstGeom>
          <a:noFill/>
        </p:spPr>
        <p:txBody>
          <a:bodyPr wrap="square" rtlCol="0">
            <a:spAutoFit/>
          </a:bodyPr>
          <a:lstStyle/>
          <a:p>
            <a:r>
              <a:rPr lang="nl-NL" sz="3200" b="1" dirty="0" smtClean="0"/>
              <a:t>+</a:t>
            </a:r>
            <a:endParaRPr lang="nl-NL" b="1" dirty="0"/>
          </a:p>
        </p:txBody>
      </p:sp>
    </p:spTree>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24944"/>
            <a:ext cx="2304256" cy="369332"/>
          </a:xfrm>
          <a:prstGeom prst="rect">
            <a:avLst/>
          </a:prstGeom>
        </p:spPr>
        <p:txBody>
          <a:bodyPr wrap="square">
            <a:spAutoFit/>
          </a:bodyPr>
          <a:lstStyle/>
          <a:p>
            <a:pPr algn="r"/>
            <a:r>
              <a:rPr lang="nl-NL" b="1" dirty="0" smtClean="0"/>
              <a:t>P → Q , Q → P </a:t>
            </a:r>
            <a:endParaRPr lang="nl-NL" dirty="0"/>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954934" y="4181018"/>
            <a:ext cx="320922" cy="400110"/>
          </a:xfrm>
          <a:prstGeom prst="rect">
            <a:avLst/>
          </a:prstGeom>
        </p:spPr>
        <p:txBody>
          <a:bodyPr wrap="none">
            <a:spAutoFit/>
          </a:bodyPr>
          <a:lstStyle/>
          <a:p>
            <a:pPr algn="r"/>
            <a:r>
              <a:rPr lang="nl-NL" sz="2000" b="1" dirty="0" smtClean="0"/>
              <a:t>P</a:t>
            </a:r>
            <a:endParaRPr lang="nl-NL" dirty="0"/>
          </a:p>
        </p:txBody>
      </p:sp>
      <p:sp>
        <p:nvSpPr>
          <p:cNvPr id="17" name="Rectangle 16"/>
          <p:cNvSpPr/>
          <p:nvPr/>
        </p:nvSpPr>
        <p:spPr>
          <a:xfrm>
            <a:off x="4211960" y="4171726"/>
            <a:ext cx="343364" cy="369332"/>
          </a:xfrm>
          <a:prstGeom prst="rect">
            <a:avLst/>
          </a:prstGeom>
        </p:spPr>
        <p:txBody>
          <a:bodyPr wrap="none">
            <a:spAutoFit/>
          </a:bodyPr>
          <a:lstStyle/>
          <a:p>
            <a:pPr algn="r"/>
            <a:r>
              <a:rPr lang="nl-NL" b="1" dirty="0" smtClean="0"/>
              <a:t>Q</a:t>
            </a:r>
            <a:endParaRPr lang="nl-NL" dirty="0"/>
          </a:p>
        </p:txBody>
      </p:sp>
      <p:cxnSp>
        <p:nvCxnSpPr>
          <p:cNvPr id="18" name="Straight Connector 17"/>
          <p:cNvCxnSpPr/>
          <p:nvPr/>
        </p:nvCxnSpPr>
        <p:spPr>
          <a:xfrm flipH="1">
            <a:off x="1907704" y="4437112"/>
            <a:ext cx="923280"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1835696"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tangle 24"/>
          <p:cNvSpPr/>
          <p:nvPr/>
        </p:nvSpPr>
        <p:spPr>
          <a:xfrm>
            <a:off x="1906748" y="5301208"/>
            <a:ext cx="360996" cy="400110"/>
          </a:xfrm>
          <a:prstGeom prst="rect">
            <a:avLst/>
          </a:prstGeom>
        </p:spPr>
        <p:txBody>
          <a:bodyPr wrap="none">
            <a:spAutoFit/>
          </a:bodyPr>
          <a:lstStyle/>
          <a:p>
            <a:pPr algn="r"/>
            <a:r>
              <a:rPr lang="nl-NL" sz="2000" b="1" dirty="0" smtClean="0"/>
              <a:t>Q</a:t>
            </a:r>
            <a:endParaRPr lang="nl-NL" dirty="0"/>
          </a:p>
        </p:txBody>
      </p:sp>
      <p:cxnSp>
        <p:nvCxnSpPr>
          <p:cNvPr id="28" name="Straight Connector 27"/>
          <p:cNvCxnSpPr/>
          <p:nvPr/>
        </p:nvCxnSpPr>
        <p:spPr>
          <a:xfrm>
            <a:off x="4703191" y="443711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5508104" y="54452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5170505" y="5291916"/>
            <a:ext cx="308098" cy="369332"/>
          </a:xfrm>
          <a:prstGeom prst="rect">
            <a:avLst/>
          </a:prstGeom>
        </p:spPr>
        <p:txBody>
          <a:bodyPr wrap="none">
            <a:spAutoFit/>
          </a:bodyPr>
          <a:lstStyle/>
          <a:p>
            <a:pPr algn="r"/>
            <a:r>
              <a:rPr lang="nl-NL" b="1" dirty="0" smtClean="0"/>
              <a:t>P</a:t>
            </a:r>
            <a:endParaRPr lang="nl-NL" dirty="0"/>
          </a:p>
        </p:txBody>
      </p:sp>
    </p:spTree>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331640" y="1988840"/>
            <a:ext cx="2304256" cy="369332"/>
          </a:xfrm>
          <a:prstGeom prst="rect">
            <a:avLst/>
          </a:prstGeom>
        </p:spPr>
        <p:txBody>
          <a:bodyPr wrap="square">
            <a:spAutoFit/>
          </a:bodyPr>
          <a:lstStyle/>
          <a:p>
            <a:pPr algn="r"/>
            <a:r>
              <a:rPr lang="nl-NL" b="1" dirty="0" smtClean="0"/>
              <a:t>(P → Q) ∧ (Q → P) </a:t>
            </a:r>
            <a:endParaRPr lang="nl-NL" dirty="0"/>
          </a:p>
        </p:txBody>
      </p:sp>
      <p:cxnSp>
        <p:nvCxnSpPr>
          <p:cNvPr id="21" name="Straight Connector 20"/>
          <p:cNvCxnSpPr/>
          <p:nvPr/>
        </p:nvCxnSpPr>
        <p:spPr>
          <a:xfrm>
            <a:off x="3744000" y="2276872"/>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331640" y="2924944"/>
            <a:ext cx="2304256" cy="369332"/>
          </a:xfrm>
          <a:prstGeom prst="rect">
            <a:avLst/>
          </a:prstGeom>
        </p:spPr>
        <p:txBody>
          <a:bodyPr wrap="square">
            <a:spAutoFit/>
          </a:bodyPr>
          <a:lstStyle/>
          <a:p>
            <a:pPr algn="r"/>
            <a:r>
              <a:rPr lang="nl-NL" b="1" dirty="0" smtClean="0"/>
              <a:t>P → Q , Q → P </a:t>
            </a:r>
            <a:endParaRPr lang="nl-NL" dirty="0"/>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899345" y="4181018"/>
            <a:ext cx="592535" cy="400110"/>
          </a:xfrm>
          <a:prstGeom prst="rect">
            <a:avLst/>
          </a:prstGeom>
        </p:spPr>
        <p:txBody>
          <a:bodyPr wrap="none">
            <a:spAutoFit/>
          </a:bodyPr>
          <a:lstStyle/>
          <a:p>
            <a:pPr algn="r"/>
            <a:r>
              <a:rPr lang="nl-NL" sz="2000" b="1" dirty="0" smtClean="0"/>
              <a:t>P, Q</a:t>
            </a:r>
            <a:endParaRPr lang="nl-NL" dirty="0"/>
          </a:p>
        </p:txBody>
      </p:sp>
      <p:sp>
        <p:nvSpPr>
          <p:cNvPr id="17" name="Rectangle 16"/>
          <p:cNvSpPr/>
          <p:nvPr/>
        </p:nvSpPr>
        <p:spPr>
          <a:xfrm>
            <a:off x="3965611" y="4171726"/>
            <a:ext cx="589713" cy="369332"/>
          </a:xfrm>
          <a:prstGeom prst="rect">
            <a:avLst/>
          </a:prstGeom>
        </p:spPr>
        <p:txBody>
          <a:bodyPr wrap="none">
            <a:spAutoFit/>
          </a:bodyPr>
          <a:lstStyle/>
          <a:p>
            <a:pPr algn="r"/>
            <a:r>
              <a:rPr lang="nl-NL" b="1" dirty="0" smtClean="0"/>
              <a:t>Q, P</a:t>
            </a:r>
            <a:endParaRPr lang="nl-NL" dirty="0"/>
          </a:p>
        </p:txBody>
      </p:sp>
    </p:spTree>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11" name="Rectangle 10"/>
          <p:cNvSpPr/>
          <p:nvPr/>
        </p:nvSpPr>
        <p:spPr>
          <a:xfrm>
            <a:off x="1403648" y="2987660"/>
            <a:ext cx="2304256" cy="369332"/>
          </a:xfrm>
          <a:prstGeom prst="rect">
            <a:avLst/>
          </a:prstGeom>
        </p:spPr>
        <p:txBody>
          <a:bodyPr wrap="square">
            <a:spAutoFit/>
          </a:bodyPr>
          <a:lstStyle/>
          <a:p>
            <a:pPr algn="r"/>
            <a:r>
              <a:rPr lang="nl-NL" b="1" dirty="0" smtClean="0"/>
              <a:t>(P → Q) ∧ (Q → P) </a:t>
            </a:r>
            <a:endParaRPr lang="nl-NL" dirty="0"/>
          </a:p>
        </p:txBody>
      </p: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899345" y="4181018"/>
            <a:ext cx="592535" cy="400110"/>
          </a:xfrm>
          <a:prstGeom prst="rect">
            <a:avLst/>
          </a:prstGeom>
        </p:spPr>
        <p:txBody>
          <a:bodyPr wrap="none">
            <a:spAutoFit/>
          </a:bodyPr>
          <a:lstStyle/>
          <a:p>
            <a:pPr algn="r"/>
            <a:r>
              <a:rPr lang="nl-NL" sz="2000" b="1" dirty="0" smtClean="0"/>
              <a:t>P, Q</a:t>
            </a:r>
            <a:endParaRPr lang="nl-NL" dirty="0"/>
          </a:p>
        </p:txBody>
      </p:sp>
      <p:sp>
        <p:nvSpPr>
          <p:cNvPr id="17" name="Rectangle 16"/>
          <p:cNvSpPr/>
          <p:nvPr/>
        </p:nvSpPr>
        <p:spPr>
          <a:xfrm>
            <a:off x="3965611" y="4171726"/>
            <a:ext cx="589713" cy="369332"/>
          </a:xfrm>
          <a:prstGeom prst="rect">
            <a:avLst/>
          </a:prstGeom>
        </p:spPr>
        <p:txBody>
          <a:bodyPr wrap="none">
            <a:spAutoFit/>
          </a:bodyPr>
          <a:lstStyle/>
          <a:p>
            <a:pPr algn="r"/>
            <a:r>
              <a:rPr lang="nl-NL" b="1" dirty="0" smtClean="0"/>
              <a:t>Q, P</a:t>
            </a:r>
            <a:endParaRPr lang="nl-NL" dirty="0"/>
          </a:p>
        </p:txBody>
      </p:sp>
    </p:spTree>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ware equivalentie</a:t>
            </a:r>
            <a:endParaRPr lang="nl-NL" sz="3600" dirty="0"/>
          </a:p>
        </p:txBody>
      </p:sp>
      <p:sp>
        <p:nvSpPr>
          <p:cNvPr id="11" name="Rectangle 10"/>
          <p:cNvSpPr/>
          <p:nvPr/>
        </p:nvSpPr>
        <p:spPr>
          <a:xfrm>
            <a:off x="1403648" y="2987660"/>
            <a:ext cx="2304256" cy="369332"/>
          </a:xfrm>
          <a:prstGeom prst="rect">
            <a:avLst/>
          </a:prstGeom>
        </p:spPr>
        <p:txBody>
          <a:bodyPr wrap="square">
            <a:spAutoFit/>
          </a:bodyPr>
          <a:lstStyle/>
          <a:p>
            <a:pPr algn="r"/>
            <a:r>
              <a:rPr lang="nl-NL" b="1" dirty="0" smtClean="0"/>
              <a:t> </a:t>
            </a:r>
            <a:endParaRPr lang="nl-NL" dirty="0"/>
          </a:p>
        </p:txBody>
      </p:sp>
      <p:sp>
        <p:nvSpPr>
          <p:cNvPr id="22" name="Oval 21"/>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2" name="Straight Connector 11"/>
          <p:cNvCxnSpPr/>
          <p:nvPr/>
        </p:nvCxnSpPr>
        <p:spPr>
          <a:xfrm flipH="1">
            <a:off x="2879744" y="331692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3779912" y="331692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843808"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Oval 14"/>
          <p:cNvSpPr/>
          <p:nvPr/>
        </p:nvSpPr>
        <p:spPr>
          <a:xfrm>
            <a:off x="4584825" y="432503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2899345" y="4181018"/>
            <a:ext cx="592535" cy="400110"/>
          </a:xfrm>
          <a:prstGeom prst="rect">
            <a:avLst/>
          </a:prstGeom>
        </p:spPr>
        <p:txBody>
          <a:bodyPr wrap="none">
            <a:spAutoFit/>
          </a:bodyPr>
          <a:lstStyle/>
          <a:p>
            <a:pPr algn="r"/>
            <a:r>
              <a:rPr lang="nl-NL" sz="2000" b="1" dirty="0" smtClean="0"/>
              <a:t>P, Q</a:t>
            </a:r>
            <a:endParaRPr lang="nl-NL" dirty="0"/>
          </a:p>
        </p:txBody>
      </p:sp>
      <p:sp>
        <p:nvSpPr>
          <p:cNvPr id="17" name="Rectangle 16"/>
          <p:cNvSpPr/>
          <p:nvPr/>
        </p:nvSpPr>
        <p:spPr>
          <a:xfrm>
            <a:off x="3965611" y="4171726"/>
            <a:ext cx="589713" cy="369332"/>
          </a:xfrm>
          <a:prstGeom prst="rect">
            <a:avLst/>
          </a:prstGeom>
        </p:spPr>
        <p:txBody>
          <a:bodyPr wrap="none">
            <a:spAutoFit/>
          </a:bodyPr>
          <a:lstStyle/>
          <a:p>
            <a:pPr algn="r"/>
            <a:r>
              <a:rPr lang="nl-NL" b="1" dirty="0" smtClean="0"/>
              <a:t>Q, P</a:t>
            </a:r>
            <a:endParaRPr lang="nl-NL" dirty="0"/>
          </a:p>
        </p:txBody>
      </p:sp>
      <p:sp>
        <p:nvSpPr>
          <p:cNvPr id="18" name="Rectangle 17"/>
          <p:cNvSpPr/>
          <p:nvPr/>
        </p:nvSpPr>
        <p:spPr>
          <a:xfrm>
            <a:off x="2771800" y="2996952"/>
            <a:ext cx="875561" cy="369332"/>
          </a:xfrm>
          <a:prstGeom prst="rect">
            <a:avLst/>
          </a:prstGeom>
        </p:spPr>
        <p:txBody>
          <a:bodyPr wrap="none">
            <a:spAutoFit/>
          </a:bodyPr>
          <a:lstStyle/>
          <a:p>
            <a:r>
              <a:rPr lang="nl-NL" b="1" dirty="0" smtClean="0"/>
              <a:t>P ↔ Q</a:t>
            </a:r>
            <a:endParaRPr lang="nl-NL" dirty="0"/>
          </a:p>
        </p:txBody>
      </p:sp>
    </p:spTree>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onware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491880" y="1988840"/>
            <a:ext cx="1224136" cy="369332"/>
          </a:xfrm>
          <a:prstGeom prst="rect">
            <a:avLst/>
          </a:prstGeom>
        </p:spPr>
        <p:txBody>
          <a:bodyPr wrap="square">
            <a:spAutoFit/>
          </a:bodyPr>
          <a:lstStyle/>
          <a:p>
            <a:pPr algn="r"/>
            <a:r>
              <a:rPr lang="nl-NL" b="1" dirty="0" smtClean="0"/>
              <a:t>P ↔ Q </a:t>
            </a:r>
            <a:endParaRPr lang="nl-NL" dirty="0"/>
          </a:p>
        </p:txBody>
      </p:sp>
    </p:spTree>
  </p:cSld>
  <p:clrMapOvr>
    <a:masterClrMapping/>
  </p:clrMapOvr>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onware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203848" y="1988840"/>
            <a:ext cx="2448272" cy="646331"/>
          </a:xfrm>
          <a:prstGeom prst="rect">
            <a:avLst/>
          </a:prstGeom>
        </p:spPr>
        <p:txBody>
          <a:bodyPr wrap="square">
            <a:spAutoFit/>
          </a:bodyPr>
          <a:lstStyle/>
          <a:p>
            <a:pPr algn="r"/>
            <a:r>
              <a:rPr lang="nl-NL" b="1" dirty="0" smtClean="0"/>
              <a:t>(P → Q) ∧ (Q → P) </a:t>
            </a:r>
            <a:endParaRPr lang="nl-NL" dirty="0" smtClean="0"/>
          </a:p>
          <a:p>
            <a:pPr algn="r"/>
            <a:r>
              <a:rPr lang="nl-NL" b="1" dirty="0" smtClean="0"/>
              <a:t> </a:t>
            </a:r>
            <a:endParaRPr lang="nl-NL" dirty="0"/>
          </a:p>
        </p:txBody>
      </p:sp>
    </p:spTree>
  </p:cSld>
  <p:clrMapOvr>
    <a:masterClrMapping/>
  </p:clrMapOvr>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onware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203848" y="1988840"/>
            <a:ext cx="2448272" cy="646331"/>
          </a:xfrm>
          <a:prstGeom prst="rect">
            <a:avLst/>
          </a:prstGeom>
        </p:spPr>
        <p:txBody>
          <a:bodyPr wrap="square">
            <a:spAutoFit/>
          </a:bodyPr>
          <a:lstStyle/>
          <a:p>
            <a:pPr algn="r"/>
            <a:r>
              <a:rPr lang="nl-NL" b="1" dirty="0" smtClean="0"/>
              <a:t>(P → Q) ∧ (Q → P) </a:t>
            </a:r>
            <a:endParaRPr lang="nl-NL" dirty="0" smtClean="0"/>
          </a:p>
          <a:p>
            <a:pPr algn="r"/>
            <a:r>
              <a:rPr lang="nl-NL" b="1" dirty="0" smtClean="0"/>
              <a:t> </a:t>
            </a:r>
            <a:endParaRPr lang="nl-NL" dirty="0"/>
          </a:p>
        </p:txBody>
      </p:sp>
      <p:cxnSp>
        <p:nvCxnSpPr>
          <p:cNvPr id="6" name="Straight Connector 5"/>
          <p:cNvCxnSpPr/>
          <p:nvPr/>
        </p:nvCxnSpPr>
        <p:spPr>
          <a:xfrm flipH="1">
            <a:off x="2879744" y="227687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27687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843808"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4584825"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Rectangle 11"/>
          <p:cNvSpPr/>
          <p:nvPr/>
        </p:nvSpPr>
        <p:spPr>
          <a:xfrm>
            <a:off x="2926921" y="3140968"/>
            <a:ext cx="780983" cy="369332"/>
          </a:xfrm>
          <a:prstGeom prst="rect">
            <a:avLst/>
          </a:prstGeom>
        </p:spPr>
        <p:txBody>
          <a:bodyPr wrap="none">
            <a:spAutoFit/>
          </a:bodyPr>
          <a:lstStyle/>
          <a:p>
            <a:pPr algn="r"/>
            <a:r>
              <a:rPr lang="nl-NL" b="1" dirty="0" smtClean="0"/>
              <a:t>P → Q</a:t>
            </a:r>
            <a:endParaRPr lang="nl-NL" sz="1600" dirty="0"/>
          </a:p>
        </p:txBody>
      </p:sp>
      <p:sp>
        <p:nvSpPr>
          <p:cNvPr id="13" name="Rectangle 12"/>
          <p:cNvSpPr/>
          <p:nvPr/>
        </p:nvSpPr>
        <p:spPr>
          <a:xfrm>
            <a:off x="4655113" y="3131676"/>
            <a:ext cx="780983" cy="369332"/>
          </a:xfrm>
          <a:prstGeom prst="rect">
            <a:avLst/>
          </a:prstGeom>
        </p:spPr>
        <p:txBody>
          <a:bodyPr wrap="none">
            <a:spAutoFit/>
          </a:bodyPr>
          <a:lstStyle/>
          <a:p>
            <a:pPr algn="r"/>
            <a:r>
              <a:rPr lang="nl-NL" b="1" dirty="0" smtClean="0"/>
              <a:t>Q → P</a:t>
            </a:r>
            <a:endParaRPr lang="nl-NL" dirty="0"/>
          </a:p>
        </p:txBody>
      </p:sp>
    </p:spTree>
  </p:cSld>
  <p:clrMapOvr>
    <a:masterClrMapping/>
  </p:clrMapOvr>
  <p:timing>
    <p:tnLst>
      <p:par>
        <p:cTn id="1" dur="indefinite" restart="never" nodeType="tmRoot"/>
      </p:par>
    </p:tnLst>
  </p:timing>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onware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203848" y="1988840"/>
            <a:ext cx="2448272" cy="646331"/>
          </a:xfrm>
          <a:prstGeom prst="rect">
            <a:avLst/>
          </a:prstGeom>
        </p:spPr>
        <p:txBody>
          <a:bodyPr wrap="square">
            <a:spAutoFit/>
          </a:bodyPr>
          <a:lstStyle/>
          <a:p>
            <a:pPr algn="r"/>
            <a:r>
              <a:rPr lang="nl-NL" b="1" dirty="0" smtClean="0"/>
              <a:t>(P → Q) ∧ (Q → P) </a:t>
            </a:r>
            <a:endParaRPr lang="nl-NL" dirty="0" smtClean="0"/>
          </a:p>
          <a:p>
            <a:pPr algn="r"/>
            <a:r>
              <a:rPr lang="nl-NL" b="1" dirty="0" smtClean="0"/>
              <a:t> </a:t>
            </a:r>
            <a:endParaRPr lang="nl-NL" dirty="0"/>
          </a:p>
        </p:txBody>
      </p:sp>
      <p:cxnSp>
        <p:nvCxnSpPr>
          <p:cNvPr id="6" name="Straight Connector 5"/>
          <p:cNvCxnSpPr/>
          <p:nvPr/>
        </p:nvCxnSpPr>
        <p:spPr>
          <a:xfrm flipH="1">
            <a:off x="2879744" y="227687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27687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843808"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4584825"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Rectangle 11"/>
          <p:cNvSpPr/>
          <p:nvPr/>
        </p:nvSpPr>
        <p:spPr>
          <a:xfrm>
            <a:off x="2926921" y="3140968"/>
            <a:ext cx="780983" cy="369332"/>
          </a:xfrm>
          <a:prstGeom prst="rect">
            <a:avLst/>
          </a:prstGeom>
        </p:spPr>
        <p:txBody>
          <a:bodyPr wrap="none">
            <a:spAutoFit/>
          </a:bodyPr>
          <a:lstStyle/>
          <a:p>
            <a:pPr algn="r"/>
            <a:r>
              <a:rPr lang="nl-NL" b="1" dirty="0" smtClean="0"/>
              <a:t>P → Q</a:t>
            </a:r>
            <a:endParaRPr lang="nl-NL" dirty="0"/>
          </a:p>
        </p:txBody>
      </p:sp>
      <p:sp>
        <p:nvSpPr>
          <p:cNvPr id="13" name="Rectangle 12"/>
          <p:cNvSpPr/>
          <p:nvPr/>
        </p:nvSpPr>
        <p:spPr>
          <a:xfrm>
            <a:off x="4655113" y="3131676"/>
            <a:ext cx="780983" cy="369332"/>
          </a:xfrm>
          <a:prstGeom prst="rect">
            <a:avLst/>
          </a:prstGeom>
        </p:spPr>
        <p:txBody>
          <a:bodyPr wrap="none">
            <a:spAutoFit/>
          </a:bodyPr>
          <a:lstStyle/>
          <a:p>
            <a:pPr algn="r"/>
            <a:r>
              <a:rPr lang="nl-NL" b="1" dirty="0" smtClean="0"/>
              <a:t>Q → P</a:t>
            </a:r>
            <a:endParaRPr lang="nl-NL" dirty="0"/>
          </a:p>
        </p:txBody>
      </p:sp>
      <p:cxnSp>
        <p:nvCxnSpPr>
          <p:cNvPr id="14" name="Straight Connector 13"/>
          <p:cNvCxnSpPr/>
          <p:nvPr/>
        </p:nvCxnSpPr>
        <p:spPr>
          <a:xfrm>
            <a:off x="2843808" y="3429000"/>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4644008" y="3429000"/>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843808" y="436510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l 16"/>
          <p:cNvSpPr/>
          <p:nvPr/>
        </p:nvSpPr>
        <p:spPr>
          <a:xfrm>
            <a:off x="4572000" y="436510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tangle 17"/>
          <p:cNvSpPr/>
          <p:nvPr/>
        </p:nvSpPr>
        <p:spPr>
          <a:xfrm>
            <a:off x="2496592" y="4221088"/>
            <a:ext cx="308097" cy="369332"/>
          </a:xfrm>
          <a:prstGeom prst="rect">
            <a:avLst/>
          </a:prstGeom>
        </p:spPr>
        <p:txBody>
          <a:bodyPr wrap="none">
            <a:spAutoFit/>
          </a:bodyPr>
          <a:lstStyle/>
          <a:p>
            <a:pPr algn="r"/>
            <a:r>
              <a:rPr lang="nl-NL" b="1" dirty="0" smtClean="0"/>
              <a:t>P</a:t>
            </a:r>
            <a:endParaRPr lang="nl-NL" dirty="0"/>
          </a:p>
        </p:txBody>
      </p:sp>
      <p:sp>
        <p:nvSpPr>
          <p:cNvPr id="19" name="Rectangle 18"/>
          <p:cNvSpPr/>
          <p:nvPr/>
        </p:nvSpPr>
        <p:spPr>
          <a:xfrm>
            <a:off x="2932493" y="4221088"/>
            <a:ext cx="343363" cy="369332"/>
          </a:xfrm>
          <a:prstGeom prst="rect">
            <a:avLst/>
          </a:prstGeom>
        </p:spPr>
        <p:txBody>
          <a:bodyPr wrap="none">
            <a:spAutoFit/>
          </a:bodyPr>
          <a:lstStyle/>
          <a:p>
            <a:pPr algn="r"/>
            <a:r>
              <a:rPr lang="nl-NL" b="1" dirty="0" smtClean="0"/>
              <a:t>Q</a:t>
            </a:r>
            <a:endParaRPr lang="nl-NL" dirty="0"/>
          </a:p>
        </p:txBody>
      </p:sp>
      <p:sp>
        <p:nvSpPr>
          <p:cNvPr id="21" name="Rectangle 20"/>
          <p:cNvSpPr/>
          <p:nvPr/>
        </p:nvSpPr>
        <p:spPr>
          <a:xfrm>
            <a:off x="4189518" y="4221088"/>
            <a:ext cx="343363" cy="369332"/>
          </a:xfrm>
          <a:prstGeom prst="rect">
            <a:avLst/>
          </a:prstGeom>
        </p:spPr>
        <p:txBody>
          <a:bodyPr wrap="none">
            <a:spAutoFit/>
          </a:bodyPr>
          <a:lstStyle/>
          <a:p>
            <a:pPr algn="r"/>
            <a:r>
              <a:rPr lang="nl-NL" b="1" dirty="0" smtClean="0"/>
              <a:t>Q</a:t>
            </a:r>
            <a:endParaRPr lang="nl-NL" dirty="0"/>
          </a:p>
        </p:txBody>
      </p:sp>
      <p:sp>
        <p:nvSpPr>
          <p:cNvPr id="22" name="Rectangle 21"/>
          <p:cNvSpPr/>
          <p:nvPr/>
        </p:nvSpPr>
        <p:spPr>
          <a:xfrm>
            <a:off x="4767959" y="4221088"/>
            <a:ext cx="308097" cy="369332"/>
          </a:xfrm>
          <a:prstGeom prst="rect">
            <a:avLst/>
          </a:prstGeom>
        </p:spPr>
        <p:txBody>
          <a:bodyPr wrap="none">
            <a:spAutoFit/>
          </a:bodyPr>
          <a:lstStyle/>
          <a:p>
            <a:pPr algn="r"/>
            <a:r>
              <a:rPr lang="nl-NL" b="1" dirty="0" smtClean="0"/>
              <a:t>P</a:t>
            </a:r>
            <a:endParaRPr lang="nl-NL" dirty="0"/>
          </a:p>
        </p:txBody>
      </p:sp>
    </p:spTree>
  </p:cSld>
  <p:clrMapOvr>
    <a:masterClrMapping/>
  </p:clrMapOvr>
  <p:timing>
    <p:tnLst>
      <p:par>
        <p:cTn id="1" dur="indefinite" restart="never" nodeType="tmRoot"/>
      </p:par>
    </p:tnLst>
  </p:timing>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 voor onware equivalentie</a:t>
            </a:r>
            <a:endParaRPr lang="nl-NL" sz="3600" dirty="0"/>
          </a:p>
        </p:txBody>
      </p:sp>
      <p:sp>
        <p:nvSpPr>
          <p:cNvPr id="9" name="Oval 8"/>
          <p:cNvSpPr/>
          <p:nvPr/>
        </p:nvSpPr>
        <p:spPr>
          <a:xfrm>
            <a:off x="3707904" y="21421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203848" y="1988840"/>
            <a:ext cx="2448272" cy="646331"/>
          </a:xfrm>
          <a:prstGeom prst="rect">
            <a:avLst/>
          </a:prstGeom>
        </p:spPr>
        <p:txBody>
          <a:bodyPr wrap="square">
            <a:spAutoFit/>
          </a:bodyPr>
          <a:lstStyle/>
          <a:p>
            <a:pPr algn="r"/>
            <a:r>
              <a:rPr lang="nl-NL" b="1" dirty="0" smtClean="0"/>
              <a:t>(P → Q) ∧ (Q → P) </a:t>
            </a:r>
            <a:endParaRPr lang="nl-NL" dirty="0" smtClean="0"/>
          </a:p>
          <a:p>
            <a:pPr algn="r"/>
            <a:r>
              <a:rPr lang="nl-NL" b="1" dirty="0" smtClean="0"/>
              <a:t> </a:t>
            </a:r>
            <a:endParaRPr lang="nl-NL" dirty="0"/>
          </a:p>
        </p:txBody>
      </p:sp>
      <p:cxnSp>
        <p:nvCxnSpPr>
          <p:cNvPr id="6" name="Straight Connector 5"/>
          <p:cNvCxnSpPr/>
          <p:nvPr/>
        </p:nvCxnSpPr>
        <p:spPr>
          <a:xfrm flipH="1">
            <a:off x="2879744" y="2276872"/>
            <a:ext cx="828160" cy="93610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276872"/>
            <a:ext cx="792088"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843808"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l 16"/>
          <p:cNvSpPr/>
          <p:nvPr/>
        </p:nvSpPr>
        <p:spPr>
          <a:xfrm>
            <a:off x="4572000"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Rectangle 17"/>
          <p:cNvSpPr/>
          <p:nvPr/>
        </p:nvSpPr>
        <p:spPr>
          <a:xfrm>
            <a:off x="2496592" y="3140968"/>
            <a:ext cx="308097" cy="369332"/>
          </a:xfrm>
          <a:prstGeom prst="rect">
            <a:avLst/>
          </a:prstGeom>
        </p:spPr>
        <p:txBody>
          <a:bodyPr wrap="none">
            <a:spAutoFit/>
          </a:bodyPr>
          <a:lstStyle/>
          <a:p>
            <a:pPr algn="r"/>
            <a:r>
              <a:rPr lang="nl-NL" b="1" dirty="0" smtClean="0"/>
              <a:t>P</a:t>
            </a:r>
            <a:endParaRPr lang="nl-NL" dirty="0"/>
          </a:p>
        </p:txBody>
      </p:sp>
      <p:sp>
        <p:nvSpPr>
          <p:cNvPr id="19" name="Rectangle 18"/>
          <p:cNvSpPr/>
          <p:nvPr/>
        </p:nvSpPr>
        <p:spPr>
          <a:xfrm>
            <a:off x="2932493" y="3140968"/>
            <a:ext cx="343363" cy="369332"/>
          </a:xfrm>
          <a:prstGeom prst="rect">
            <a:avLst/>
          </a:prstGeom>
        </p:spPr>
        <p:txBody>
          <a:bodyPr wrap="none">
            <a:spAutoFit/>
          </a:bodyPr>
          <a:lstStyle/>
          <a:p>
            <a:pPr algn="r"/>
            <a:r>
              <a:rPr lang="nl-NL" b="1" dirty="0" smtClean="0"/>
              <a:t>Q</a:t>
            </a:r>
            <a:endParaRPr lang="nl-NL" dirty="0"/>
          </a:p>
        </p:txBody>
      </p:sp>
      <p:sp>
        <p:nvSpPr>
          <p:cNvPr id="21" name="Rectangle 20"/>
          <p:cNvSpPr/>
          <p:nvPr/>
        </p:nvSpPr>
        <p:spPr>
          <a:xfrm>
            <a:off x="4189518" y="3140968"/>
            <a:ext cx="343363" cy="369332"/>
          </a:xfrm>
          <a:prstGeom prst="rect">
            <a:avLst/>
          </a:prstGeom>
        </p:spPr>
        <p:txBody>
          <a:bodyPr wrap="none">
            <a:spAutoFit/>
          </a:bodyPr>
          <a:lstStyle/>
          <a:p>
            <a:pPr algn="r"/>
            <a:r>
              <a:rPr lang="nl-NL" b="1" dirty="0" smtClean="0"/>
              <a:t>Q</a:t>
            </a:r>
            <a:endParaRPr lang="nl-NL" dirty="0"/>
          </a:p>
        </p:txBody>
      </p:sp>
      <p:sp>
        <p:nvSpPr>
          <p:cNvPr id="22" name="Rectangle 21"/>
          <p:cNvSpPr/>
          <p:nvPr/>
        </p:nvSpPr>
        <p:spPr>
          <a:xfrm>
            <a:off x="4644008" y="3140968"/>
            <a:ext cx="308097" cy="369332"/>
          </a:xfrm>
          <a:prstGeom prst="rect">
            <a:avLst/>
          </a:prstGeom>
        </p:spPr>
        <p:txBody>
          <a:bodyPr wrap="none">
            <a:spAutoFit/>
          </a:bodyPr>
          <a:lstStyle/>
          <a:p>
            <a:pPr algn="r"/>
            <a:r>
              <a:rPr lang="nl-NL" b="1" dirty="0" smtClean="0"/>
              <a:t>P</a:t>
            </a:r>
            <a:endParaRPr lang="nl-NL" dirty="0"/>
          </a:p>
        </p:txBody>
      </p:sp>
    </p:spTree>
  </p:cSld>
  <p:clrMapOvr>
    <a:masterClrMapping/>
  </p:clrMapOvr>
  <p:timing>
    <p:tnLst>
      <p:par>
        <p:cTn id="1" dur="indefinite" restart="never" nodeType="tmRoot"/>
      </p:par>
    </p:tnLst>
  </p:timing>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Boomregels op een rijtje </a:t>
            </a:r>
            <a:r>
              <a:rPr lang="nl-NL" sz="2800" i="1" dirty="0" smtClean="0"/>
              <a:t>(welke mist?)</a:t>
            </a:r>
            <a:endParaRPr lang="nl-NL" sz="2800" i="1" dirty="0"/>
          </a:p>
        </p:txBody>
      </p:sp>
      <p:pic>
        <p:nvPicPr>
          <p:cNvPr id="23" name="Picture 22" descr="boom3.png"/>
          <p:cNvPicPr>
            <a:picLocks noChangeAspect="1"/>
          </p:cNvPicPr>
          <p:nvPr/>
        </p:nvPicPr>
        <p:blipFill>
          <a:blip r:embed="rId2" cstate="print"/>
          <a:stretch>
            <a:fillRect/>
          </a:stretch>
        </p:blipFill>
        <p:spPr>
          <a:xfrm>
            <a:off x="2051720" y="1124744"/>
            <a:ext cx="4968552" cy="5688632"/>
          </a:xfrm>
          <a:prstGeom prst="rect">
            <a:avLst/>
          </a:prstGeom>
        </p:spPr>
      </p:pic>
    </p:spTree>
  </p:cSld>
  <p:clrMapOvr>
    <a:masterClrMapping/>
  </p:clrMapOvr>
  <p:timing>
    <p:tnLst>
      <p:par>
        <p:cTn id="1" dur="indefinite" restart="never" nodeType="tmRoot"/>
      </p:par>
    </p:tnLst>
  </p:timing>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Verdere voorbeelden</a:t>
            </a:r>
            <a:endParaRPr lang="nl-NL" sz="3600" dirty="0"/>
          </a:p>
        </p:txBody>
      </p:sp>
      <p:sp>
        <p:nvSpPr>
          <p:cNvPr id="9" name="Oval 8"/>
          <p:cNvSpPr/>
          <p:nvPr/>
        </p:nvSpPr>
        <p:spPr>
          <a:xfrm>
            <a:off x="370790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115616" y="1340768"/>
            <a:ext cx="2448272" cy="954107"/>
          </a:xfrm>
          <a:prstGeom prst="rect">
            <a:avLst/>
          </a:prstGeom>
        </p:spPr>
        <p:txBody>
          <a:bodyPr wrap="square">
            <a:spAutoFit/>
          </a:bodyPr>
          <a:lstStyle/>
          <a:p>
            <a:pPr algn="r"/>
            <a:r>
              <a:rPr lang="nl-NL" b="1" dirty="0" smtClean="0"/>
              <a:t>P → (Q ∧ ¬R)</a:t>
            </a:r>
          </a:p>
          <a:p>
            <a:pPr algn="r"/>
            <a:r>
              <a:rPr lang="nl-NL" b="1" dirty="0" smtClean="0"/>
              <a:t>(¬R V S) → T  </a:t>
            </a:r>
            <a:endParaRPr lang="nl-NL" dirty="0" smtClean="0"/>
          </a:p>
          <a:p>
            <a:pPr algn="r"/>
            <a:r>
              <a:rPr lang="nl-NL" b="1" dirty="0" smtClean="0"/>
              <a:t> </a:t>
            </a:r>
            <a:endParaRPr lang="nl-NL" dirty="0"/>
          </a:p>
        </p:txBody>
      </p:sp>
      <p:cxnSp>
        <p:nvCxnSpPr>
          <p:cNvPr id="6" name="Straight Connector 5"/>
          <p:cNvCxnSpPr/>
          <p:nvPr/>
        </p:nvCxnSpPr>
        <p:spPr>
          <a:xfrm flipH="1">
            <a:off x="2627784" y="263691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636912"/>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48376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500404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3995936" y="1628800"/>
            <a:ext cx="736099" cy="369332"/>
          </a:xfrm>
          <a:prstGeom prst="rect">
            <a:avLst/>
          </a:prstGeom>
        </p:spPr>
        <p:txBody>
          <a:bodyPr wrap="none">
            <a:spAutoFit/>
          </a:bodyPr>
          <a:lstStyle/>
          <a:p>
            <a:pPr algn="r"/>
            <a:r>
              <a:rPr lang="nl-NL" b="1" dirty="0" smtClean="0"/>
              <a:t>P → T</a:t>
            </a:r>
            <a:endParaRPr lang="nl-NL" dirty="0"/>
          </a:p>
        </p:txBody>
      </p:sp>
      <p:sp>
        <p:nvSpPr>
          <p:cNvPr id="24" name="Oval 23"/>
          <p:cNvSpPr/>
          <p:nvPr/>
        </p:nvSpPr>
        <p:spPr>
          <a:xfrm>
            <a:off x="3707904"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374400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399807" y="2348880"/>
            <a:ext cx="308097" cy="369332"/>
          </a:xfrm>
          <a:prstGeom prst="rect">
            <a:avLst/>
          </a:prstGeom>
        </p:spPr>
        <p:txBody>
          <a:bodyPr wrap="none">
            <a:spAutoFit/>
          </a:bodyPr>
          <a:lstStyle/>
          <a:p>
            <a:pPr algn="r"/>
            <a:r>
              <a:rPr lang="nl-NL" b="1" dirty="0" smtClean="0"/>
              <a:t>P</a:t>
            </a:r>
            <a:endParaRPr lang="nl-NL" dirty="0"/>
          </a:p>
        </p:txBody>
      </p:sp>
      <p:sp>
        <p:nvSpPr>
          <p:cNvPr id="30" name="Rectangle 29"/>
          <p:cNvSpPr/>
          <p:nvPr/>
        </p:nvSpPr>
        <p:spPr>
          <a:xfrm>
            <a:off x="3769465" y="2339588"/>
            <a:ext cx="298479" cy="369332"/>
          </a:xfrm>
          <a:prstGeom prst="rect">
            <a:avLst/>
          </a:prstGeom>
        </p:spPr>
        <p:txBody>
          <a:bodyPr wrap="none">
            <a:spAutoFit/>
          </a:bodyPr>
          <a:lstStyle/>
          <a:p>
            <a:pPr algn="r"/>
            <a:r>
              <a:rPr lang="nl-NL" b="1" dirty="0" smtClean="0"/>
              <a:t>T</a:t>
            </a:r>
            <a:endParaRPr lang="nl-NL" dirty="0"/>
          </a:p>
        </p:txBody>
      </p:sp>
      <p:sp>
        <p:nvSpPr>
          <p:cNvPr id="34" name="Rectangle 33"/>
          <p:cNvSpPr/>
          <p:nvPr/>
        </p:nvSpPr>
        <p:spPr>
          <a:xfrm>
            <a:off x="2627784" y="3059668"/>
            <a:ext cx="308097" cy="369332"/>
          </a:xfrm>
          <a:prstGeom prst="rect">
            <a:avLst/>
          </a:prstGeom>
        </p:spPr>
        <p:txBody>
          <a:bodyPr wrap="none">
            <a:spAutoFit/>
          </a:bodyPr>
          <a:lstStyle/>
          <a:p>
            <a:pPr algn="r"/>
            <a:r>
              <a:rPr lang="nl-NL" b="1" dirty="0" smtClean="0"/>
              <a:t>P</a:t>
            </a:r>
            <a:endParaRPr lang="nl-NL" dirty="0"/>
          </a:p>
        </p:txBody>
      </p:sp>
      <p:sp>
        <p:nvSpPr>
          <p:cNvPr id="35" name="Rectangle 34"/>
          <p:cNvSpPr/>
          <p:nvPr/>
        </p:nvSpPr>
        <p:spPr>
          <a:xfrm>
            <a:off x="4067944" y="3059668"/>
            <a:ext cx="827471" cy="369332"/>
          </a:xfrm>
          <a:prstGeom prst="rect">
            <a:avLst/>
          </a:prstGeom>
        </p:spPr>
        <p:txBody>
          <a:bodyPr wrap="none">
            <a:spAutoFit/>
          </a:bodyPr>
          <a:lstStyle/>
          <a:p>
            <a:r>
              <a:rPr lang="nl-NL" b="1" dirty="0" smtClean="0"/>
              <a:t>Q ∧ ¬R</a:t>
            </a:r>
            <a:endParaRPr lang="nl-NL" dirty="0"/>
          </a:p>
        </p:txBody>
      </p:sp>
      <p:sp>
        <p:nvSpPr>
          <p:cNvPr id="39" name="TextBox 38"/>
          <p:cNvSpPr txBox="1"/>
          <p:nvPr/>
        </p:nvSpPr>
        <p:spPr>
          <a:xfrm>
            <a:off x="2195736" y="2996952"/>
            <a:ext cx="216024" cy="584775"/>
          </a:xfrm>
          <a:prstGeom prst="rect">
            <a:avLst/>
          </a:prstGeom>
          <a:noFill/>
        </p:spPr>
        <p:txBody>
          <a:bodyPr wrap="square" rtlCol="0">
            <a:spAutoFit/>
          </a:bodyPr>
          <a:lstStyle/>
          <a:p>
            <a:r>
              <a:rPr lang="nl-NL" sz="3200" b="1" dirty="0" smtClean="0"/>
              <a:t>+</a:t>
            </a:r>
            <a:endParaRPr lang="nl-NL" b="1" dirty="0"/>
          </a:p>
        </p:txBody>
      </p:sp>
      <p:cxnSp>
        <p:nvCxnSpPr>
          <p:cNvPr id="40" name="Straight Connector 39"/>
          <p:cNvCxnSpPr/>
          <p:nvPr/>
        </p:nvCxnSpPr>
        <p:spPr>
          <a:xfrm>
            <a:off x="5076056" y="328498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4250316" y="3573016"/>
            <a:ext cx="753732" cy="369332"/>
          </a:xfrm>
          <a:prstGeom prst="rect">
            <a:avLst/>
          </a:prstGeom>
        </p:spPr>
        <p:txBody>
          <a:bodyPr wrap="none">
            <a:spAutoFit/>
          </a:bodyPr>
          <a:lstStyle/>
          <a:p>
            <a:r>
              <a:rPr lang="nl-NL" b="1" dirty="0" smtClean="0"/>
              <a:t>Q , ¬R</a:t>
            </a:r>
            <a:endParaRPr lang="nl-NL" dirty="0"/>
          </a:p>
        </p:txBody>
      </p:sp>
      <p:sp>
        <p:nvSpPr>
          <p:cNvPr id="42" name="Oval 41"/>
          <p:cNvSpPr/>
          <p:nvPr/>
        </p:nvSpPr>
        <p:spPr>
          <a:xfrm>
            <a:off x="5004048"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3" name="Straight Connector 42"/>
          <p:cNvCxnSpPr/>
          <p:nvPr/>
        </p:nvCxnSpPr>
        <p:spPr>
          <a:xfrm>
            <a:off x="5076056" y="393305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4" name="Oval 43"/>
          <p:cNvSpPr/>
          <p:nvPr/>
        </p:nvSpPr>
        <p:spPr>
          <a:xfrm>
            <a:off x="5004048"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tangle 44"/>
          <p:cNvSpPr/>
          <p:nvPr/>
        </p:nvSpPr>
        <p:spPr>
          <a:xfrm>
            <a:off x="5076056" y="4293096"/>
            <a:ext cx="314510" cy="369332"/>
          </a:xfrm>
          <a:prstGeom prst="rect">
            <a:avLst/>
          </a:prstGeom>
        </p:spPr>
        <p:txBody>
          <a:bodyPr wrap="none">
            <a:spAutoFit/>
          </a:bodyPr>
          <a:lstStyle/>
          <a:p>
            <a:r>
              <a:rPr lang="nl-NL" b="1" dirty="0" smtClean="0"/>
              <a:t>R</a:t>
            </a:r>
            <a:endParaRPr lang="nl-NL" dirty="0"/>
          </a:p>
        </p:txBody>
      </p:sp>
      <p:cxnSp>
        <p:nvCxnSpPr>
          <p:cNvPr id="46" name="Straight Connector 45"/>
          <p:cNvCxnSpPr/>
          <p:nvPr/>
        </p:nvCxnSpPr>
        <p:spPr>
          <a:xfrm flipH="1">
            <a:off x="3923928"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76056"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779912"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Oval 48"/>
          <p:cNvSpPr/>
          <p:nvPr/>
        </p:nvSpPr>
        <p:spPr>
          <a:xfrm>
            <a:off x="6300192"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Rectangle 51"/>
          <p:cNvSpPr/>
          <p:nvPr/>
        </p:nvSpPr>
        <p:spPr>
          <a:xfrm>
            <a:off x="5857696" y="5003884"/>
            <a:ext cx="298480" cy="369332"/>
          </a:xfrm>
          <a:prstGeom prst="rect">
            <a:avLst/>
          </a:prstGeom>
        </p:spPr>
        <p:txBody>
          <a:bodyPr wrap="none">
            <a:spAutoFit/>
          </a:bodyPr>
          <a:lstStyle/>
          <a:p>
            <a:r>
              <a:rPr lang="nl-NL" b="1" dirty="0" smtClean="0"/>
              <a:t>T</a:t>
            </a:r>
            <a:endParaRPr lang="nl-NL" dirty="0"/>
          </a:p>
        </p:txBody>
      </p:sp>
      <p:sp>
        <p:nvSpPr>
          <p:cNvPr id="53" name="Rectangle 52"/>
          <p:cNvSpPr/>
          <p:nvPr/>
        </p:nvSpPr>
        <p:spPr>
          <a:xfrm>
            <a:off x="3851920" y="5003884"/>
            <a:ext cx="833883" cy="369332"/>
          </a:xfrm>
          <a:prstGeom prst="rect">
            <a:avLst/>
          </a:prstGeom>
        </p:spPr>
        <p:txBody>
          <a:bodyPr wrap="none">
            <a:spAutoFit/>
          </a:bodyPr>
          <a:lstStyle/>
          <a:p>
            <a:r>
              <a:rPr lang="nl-NL" b="1" dirty="0" smtClean="0"/>
              <a:t>¬R V S </a:t>
            </a:r>
            <a:endParaRPr lang="nl-NL" dirty="0"/>
          </a:p>
        </p:txBody>
      </p:sp>
      <p:cxnSp>
        <p:nvCxnSpPr>
          <p:cNvPr id="54" name="Straight Connector 53"/>
          <p:cNvCxnSpPr/>
          <p:nvPr/>
        </p:nvCxnSpPr>
        <p:spPr>
          <a:xfrm>
            <a:off x="3851920" y="5229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3779912"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6" name="Rectangle 55"/>
          <p:cNvSpPr/>
          <p:nvPr/>
        </p:nvSpPr>
        <p:spPr>
          <a:xfrm>
            <a:off x="3851920" y="5579948"/>
            <a:ext cx="756938" cy="369332"/>
          </a:xfrm>
          <a:prstGeom prst="rect">
            <a:avLst/>
          </a:prstGeom>
        </p:spPr>
        <p:txBody>
          <a:bodyPr wrap="none">
            <a:spAutoFit/>
          </a:bodyPr>
          <a:lstStyle/>
          <a:p>
            <a:r>
              <a:rPr lang="nl-NL" b="1" dirty="0" smtClean="0"/>
              <a:t>¬R , S </a:t>
            </a:r>
            <a:endParaRPr lang="nl-NL" dirty="0"/>
          </a:p>
        </p:txBody>
      </p:sp>
      <p:cxnSp>
        <p:nvCxnSpPr>
          <p:cNvPr id="57" name="Straight Connector 56"/>
          <p:cNvCxnSpPr/>
          <p:nvPr/>
        </p:nvCxnSpPr>
        <p:spPr>
          <a:xfrm>
            <a:off x="3851920" y="587727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3491880" y="6228020"/>
            <a:ext cx="367408" cy="369332"/>
          </a:xfrm>
          <a:prstGeom prst="rect">
            <a:avLst/>
          </a:prstGeom>
        </p:spPr>
        <p:txBody>
          <a:bodyPr wrap="none">
            <a:spAutoFit/>
          </a:bodyPr>
          <a:lstStyle/>
          <a:p>
            <a:r>
              <a:rPr lang="nl-NL" b="1" dirty="0" smtClean="0"/>
              <a:t>R </a:t>
            </a:r>
            <a:endParaRPr lang="nl-NL" dirty="0"/>
          </a:p>
        </p:txBody>
      </p:sp>
      <p:sp>
        <p:nvSpPr>
          <p:cNvPr id="59" name="Oval 58"/>
          <p:cNvSpPr/>
          <p:nvPr/>
        </p:nvSpPr>
        <p:spPr>
          <a:xfrm>
            <a:off x="3779912" y="63813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TextBox 59"/>
          <p:cNvSpPr txBox="1"/>
          <p:nvPr/>
        </p:nvSpPr>
        <p:spPr>
          <a:xfrm>
            <a:off x="3779912" y="6228601"/>
            <a:ext cx="216024" cy="584775"/>
          </a:xfrm>
          <a:prstGeom prst="rect">
            <a:avLst/>
          </a:prstGeom>
          <a:noFill/>
        </p:spPr>
        <p:txBody>
          <a:bodyPr wrap="square" rtlCol="0">
            <a:spAutoFit/>
          </a:bodyPr>
          <a:lstStyle/>
          <a:p>
            <a:r>
              <a:rPr lang="nl-NL" sz="3200" b="1" dirty="0" smtClean="0"/>
              <a:t>+</a:t>
            </a:r>
            <a:endParaRPr lang="nl-NL" b="1" dirty="0"/>
          </a:p>
        </p:txBody>
      </p:sp>
      <p:sp>
        <p:nvSpPr>
          <p:cNvPr id="61" name="TextBox 60"/>
          <p:cNvSpPr txBox="1"/>
          <p:nvPr/>
        </p:nvSpPr>
        <p:spPr>
          <a:xfrm>
            <a:off x="6300192" y="4941168"/>
            <a:ext cx="216024" cy="584775"/>
          </a:xfrm>
          <a:prstGeom prst="rect">
            <a:avLst/>
          </a:prstGeom>
          <a:noFill/>
        </p:spPr>
        <p:txBody>
          <a:bodyPr wrap="square" rtlCol="0">
            <a:spAutoFit/>
          </a:bodyPr>
          <a:lstStyle/>
          <a:p>
            <a:r>
              <a:rPr lang="nl-NL" sz="3200" b="1" dirty="0" smtClean="0"/>
              <a:t>+</a:t>
            </a:r>
            <a:endParaRPr lang="nl-NL" b="1" dirty="0"/>
          </a:p>
        </p:txBody>
      </p:sp>
      <p:sp>
        <p:nvSpPr>
          <p:cNvPr id="62" name="TextBox 61"/>
          <p:cNvSpPr txBox="1"/>
          <p:nvPr/>
        </p:nvSpPr>
        <p:spPr>
          <a:xfrm>
            <a:off x="5472608" y="1556792"/>
            <a:ext cx="3635896" cy="1477328"/>
          </a:xfrm>
          <a:prstGeom prst="rect">
            <a:avLst/>
          </a:prstGeom>
          <a:noFill/>
        </p:spPr>
        <p:txBody>
          <a:bodyPr wrap="square" rtlCol="0">
            <a:spAutoFit/>
          </a:bodyPr>
          <a:lstStyle/>
          <a:p>
            <a:r>
              <a:rPr lang="nl-NL" dirty="0" smtClean="0"/>
              <a:t>Deze boom is gesloten omdat alle takken van de boom gesloten zijn.    Er bestaat geen tegenvoorbeeld.    De redenering is dus semantisch </a:t>
            </a:r>
            <a:r>
              <a:rPr lang="nl-NL" i="1" dirty="0" smtClean="0"/>
              <a:t>geldig</a:t>
            </a:r>
            <a:r>
              <a:rPr lang="nl-NL" dirty="0" smtClean="0"/>
              <a:t>. En dus ook syntactisch geldig.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fade">
                                      <p:cBhvr>
                                        <p:cTn id="7" dur="2000"/>
                                        <p:tgtEl>
                                          <p:spTgt spid="6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allAtOnce"/>
    </p:bldLst>
  </p:timing>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Verdere voorbeelden</a:t>
            </a:r>
            <a:endParaRPr lang="nl-NL" sz="3600" dirty="0"/>
          </a:p>
        </p:txBody>
      </p:sp>
      <p:sp>
        <p:nvSpPr>
          <p:cNvPr id="9" name="Oval 8"/>
          <p:cNvSpPr/>
          <p:nvPr/>
        </p:nvSpPr>
        <p:spPr>
          <a:xfrm>
            <a:off x="370790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115616" y="1340768"/>
            <a:ext cx="2448272" cy="954107"/>
          </a:xfrm>
          <a:prstGeom prst="rect">
            <a:avLst/>
          </a:prstGeom>
        </p:spPr>
        <p:txBody>
          <a:bodyPr wrap="square">
            <a:spAutoFit/>
          </a:bodyPr>
          <a:lstStyle/>
          <a:p>
            <a:pPr algn="r"/>
            <a:r>
              <a:rPr lang="nl-NL" b="1" dirty="0" smtClean="0"/>
              <a:t>P → (Q V ¬R)</a:t>
            </a:r>
          </a:p>
          <a:p>
            <a:pPr algn="r"/>
            <a:r>
              <a:rPr lang="nl-NL" b="1" dirty="0" smtClean="0"/>
              <a:t>(¬R ∧ S) → T  </a:t>
            </a:r>
            <a:endParaRPr lang="nl-NL" dirty="0" smtClean="0"/>
          </a:p>
          <a:p>
            <a:pPr algn="r"/>
            <a:r>
              <a:rPr lang="nl-NL" b="1" dirty="0" smtClean="0"/>
              <a:t> </a:t>
            </a:r>
            <a:endParaRPr lang="nl-NL" dirty="0"/>
          </a:p>
        </p:txBody>
      </p:sp>
      <p:cxnSp>
        <p:nvCxnSpPr>
          <p:cNvPr id="6" name="Straight Connector 5"/>
          <p:cNvCxnSpPr/>
          <p:nvPr/>
        </p:nvCxnSpPr>
        <p:spPr>
          <a:xfrm flipH="1">
            <a:off x="2627784" y="263691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636912"/>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48376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500404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3995936" y="1628800"/>
            <a:ext cx="736099" cy="369332"/>
          </a:xfrm>
          <a:prstGeom prst="rect">
            <a:avLst/>
          </a:prstGeom>
        </p:spPr>
        <p:txBody>
          <a:bodyPr wrap="none">
            <a:spAutoFit/>
          </a:bodyPr>
          <a:lstStyle/>
          <a:p>
            <a:pPr algn="r"/>
            <a:r>
              <a:rPr lang="nl-NL" b="1" dirty="0" smtClean="0"/>
              <a:t>P → T</a:t>
            </a:r>
            <a:endParaRPr lang="nl-NL" dirty="0"/>
          </a:p>
        </p:txBody>
      </p:sp>
      <p:sp>
        <p:nvSpPr>
          <p:cNvPr id="24" name="Oval 23"/>
          <p:cNvSpPr/>
          <p:nvPr/>
        </p:nvSpPr>
        <p:spPr>
          <a:xfrm>
            <a:off x="3707904"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374400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399807" y="2348880"/>
            <a:ext cx="308097" cy="369332"/>
          </a:xfrm>
          <a:prstGeom prst="rect">
            <a:avLst/>
          </a:prstGeom>
        </p:spPr>
        <p:txBody>
          <a:bodyPr wrap="none">
            <a:spAutoFit/>
          </a:bodyPr>
          <a:lstStyle/>
          <a:p>
            <a:pPr algn="r"/>
            <a:r>
              <a:rPr lang="nl-NL" b="1" dirty="0" smtClean="0"/>
              <a:t>P</a:t>
            </a:r>
            <a:endParaRPr lang="nl-NL" dirty="0"/>
          </a:p>
        </p:txBody>
      </p:sp>
      <p:sp>
        <p:nvSpPr>
          <p:cNvPr id="30" name="Rectangle 29"/>
          <p:cNvSpPr/>
          <p:nvPr/>
        </p:nvSpPr>
        <p:spPr>
          <a:xfrm>
            <a:off x="3769465" y="2339588"/>
            <a:ext cx="298479" cy="369332"/>
          </a:xfrm>
          <a:prstGeom prst="rect">
            <a:avLst/>
          </a:prstGeom>
        </p:spPr>
        <p:txBody>
          <a:bodyPr wrap="none">
            <a:spAutoFit/>
          </a:bodyPr>
          <a:lstStyle/>
          <a:p>
            <a:pPr algn="r"/>
            <a:r>
              <a:rPr lang="nl-NL" b="1" dirty="0" smtClean="0"/>
              <a:t>T</a:t>
            </a:r>
            <a:endParaRPr lang="nl-NL" dirty="0"/>
          </a:p>
        </p:txBody>
      </p:sp>
      <p:sp>
        <p:nvSpPr>
          <p:cNvPr id="34" name="Rectangle 33"/>
          <p:cNvSpPr/>
          <p:nvPr/>
        </p:nvSpPr>
        <p:spPr>
          <a:xfrm>
            <a:off x="2627784" y="3059668"/>
            <a:ext cx="308097" cy="369332"/>
          </a:xfrm>
          <a:prstGeom prst="rect">
            <a:avLst/>
          </a:prstGeom>
        </p:spPr>
        <p:txBody>
          <a:bodyPr wrap="none">
            <a:spAutoFit/>
          </a:bodyPr>
          <a:lstStyle/>
          <a:p>
            <a:pPr algn="r"/>
            <a:r>
              <a:rPr lang="nl-NL" b="1" dirty="0" smtClean="0"/>
              <a:t>P</a:t>
            </a:r>
            <a:endParaRPr lang="nl-NL" dirty="0"/>
          </a:p>
        </p:txBody>
      </p:sp>
      <p:sp>
        <p:nvSpPr>
          <p:cNvPr id="35" name="Rectangle 34"/>
          <p:cNvSpPr/>
          <p:nvPr/>
        </p:nvSpPr>
        <p:spPr>
          <a:xfrm>
            <a:off x="4067944" y="3059668"/>
            <a:ext cx="830677" cy="369332"/>
          </a:xfrm>
          <a:prstGeom prst="rect">
            <a:avLst/>
          </a:prstGeom>
        </p:spPr>
        <p:txBody>
          <a:bodyPr wrap="none">
            <a:spAutoFit/>
          </a:bodyPr>
          <a:lstStyle/>
          <a:p>
            <a:r>
              <a:rPr lang="nl-NL" b="1" dirty="0" smtClean="0"/>
              <a:t>Q V ¬R</a:t>
            </a:r>
            <a:endParaRPr lang="nl-NL" dirty="0"/>
          </a:p>
        </p:txBody>
      </p:sp>
      <p:sp>
        <p:nvSpPr>
          <p:cNvPr id="39" name="TextBox 38"/>
          <p:cNvSpPr txBox="1"/>
          <p:nvPr/>
        </p:nvSpPr>
        <p:spPr>
          <a:xfrm>
            <a:off x="2195736" y="2996952"/>
            <a:ext cx="216024" cy="584775"/>
          </a:xfrm>
          <a:prstGeom prst="rect">
            <a:avLst/>
          </a:prstGeom>
          <a:noFill/>
        </p:spPr>
        <p:txBody>
          <a:bodyPr wrap="square" rtlCol="0">
            <a:spAutoFit/>
          </a:bodyPr>
          <a:lstStyle/>
          <a:p>
            <a:r>
              <a:rPr lang="nl-NL" sz="3200" b="1" dirty="0" smtClean="0"/>
              <a:t>+</a:t>
            </a:r>
            <a:endParaRPr lang="nl-NL" b="1" dirty="0"/>
          </a:p>
        </p:txBody>
      </p:sp>
      <p:cxnSp>
        <p:nvCxnSpPr>
          <p:cNvPr id="46" name="Straight Connector 45"/>
          <p:cNvCxnSpPr/>
          <p:nvPr/>
        </p:nvCxnSpPr>
        <p:spPr>
          <a:xfrm flipH="1">
            <a:off x="3923928" y="3284984"/>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76056" y="3284984"/>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779912"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Oval 48"/>
          <p:cNvSpPr/>
          <p:nvPr/>
        </p:nvSpPr>
        <p:spPr>
          <a:xfrm>
            <a:off x="6228184"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3" name="Rectangle 52"/>
          <p:cNvSpPr/>
          <p:nvPr/>
        </p:nvSpPr>
        <p:spPr>
          <a:xfrm>
            <a:off x="3455658" y="3645024"/>
            <a:ext cx="396262" cy="369332"/>
          </a:xfrm>
          <a:prstGeom prst="rect">
            <a:avLst/>
          </a:prstGeom>
        </p:spPr>
        <p:txBody>
          <a:bodyPr wrap="none">
            <a:spAutoFit/>
          </a:bodyPr>
          <a:lstStyle/>
          <a:p>
            <a:r>
              <a:rPr lang="nl-NL" b="1" dirty="0" smtClean="0"/>
              <a:t>Q </a:t>
            </a:r>
            <a:endParaRPr lang="nl-NL" dirty="0"/>
          </a:p>
        </p:txBody>
      </p:sp>
      <p:cxnSp>
        <p:nvCxnSpPr>
          <p:cNvPr id="54" name="Straight Connector 53"/>
          <p:cNvCxnSpPr/>
          <p:nvPr/>
        </p:nvCxnSpPr>
        <p:spPr>
          <a:xfrm>
            <a:off x="6300192" y="393305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622818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1" name="TextBox 60"/>
          <p:cNvSpPr txBox="1"/>
          <p:nvPr/>
        </p:nvSpPr>
        <p:spPr>
          <a:xfrm>
            <a:off x="7452320" y="4941168"/>
            <a:ext cx="216024" cy="584775"/>
          </a:xfrm>
          <a:prstGeom prst="rect">
            <a:avLst/>
          </a:prstGeom>
          <a:noFill/>
        </p:spPr>
        <p:txBody>
          <a:bodyPr wrap="square" rtlCol="0">
            <a:spAutoFit/>
          </a:bodyPr>
          <a:lstStyle/>
          <a:p>
            <a:r>
              <a:rPr lang="nl-NL" sz="3200" b="1" dirty="0" smtClean="0"/>
              <a:t>+</a:t>
            </a:r>
            <a:endParaRPr lang="nl-NL" b="1" dirty="0"/>
          </a:p>
        </p:txBody>
      </p:sp>
      <p:sp>
        <p:nvSpPr>
          <p:cNvPr id="38" name="Rectangle 37"/>
          <p:cNvSpPr/>
          <p:nvPr/>
        </p:nvSpPr>
        <p:spPr>
          <a:xfrm>
            <a:off x="5798258" y="3707740"/>
            <a:ext cx="429926" cy="369332"/>
          </a:xfrm>
          <a:prstGeom prst="rect">
            <a:avLst/>
          </a:prstGeom>
        </p:spPr>
        <p:txBody>
          <a:bodyPr wrap="none">
            <a:spAutoFit/>
          </a:bodyPr>
          <a:lstStyle/>
          <a:p>
            <a:r>
              <a:rPr lang="nl-NL" b="1" dirty="0" smtClean="0"/>
              <a:t>¬R</a:t>
            </a:r>
            <a:endParaRPr lang="nl-NL" dirty="0"/>
          </a:p>
        </p:txBody>
      </p:sp>
      <p:sp>
        <p:nvSpPr>
          <p:cNvPr id="50" name="Rectangle 49"/>
          <p:cNvSpPr/>
          <p:nvPr/>
        </p:nvSpPr>
        <p:spPr>
          <a:xfrm>
            <a:off x="6273714" y="4283804"/>
            <a:ext cx="314510" cy="369332"/>
          </a:xfrm>
          <a:prstGeom prst="rect">
            <a:avLst/>
          </a:prstGeom>
        </p:spPr>
        <p:txBody>
          <a:bodyPr wrap="none">
            <a:spAutoFit/>
          </a:bodyPr>
          <a:lstStyle/>
          <a:p>
            <a:r>
              <a:rPr lang="nl-NL" b="1" dirty="0" smtClean="0"/>
              <a:t>R</a:t>
            </a:r>
            <a:endParaRPr lang="nl-NL" dirty="0"/>
          </a:p>
        </p:txBody>
      </p:sp>
      <p:cxnSp>
        <p:nvCxnSpPr>
          <p:cNvPr id="51" name="Straight Connector 50"/>
          <p:cNvCxnSpPr/>
          <p:nvPr/>
        </p:nvCxnSpPr>
        <p:spPr>
          <a:xfrm flipH="1">
            <a:off x="5148064"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300192"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5" name="Oval 64"/>
          <p:cNvSpPr/>
          <p:nvPr/>
        </p:nvSpPr>
        <p:spPr>
          <a:xfrm>
            <a:off x="745232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tangle 65"/>
          <p:cNvSpPr/>
          <p:nvPr/>
        </p:nvSpPr>
        <p:spPr>
          <a:xfrm>
            <a:off x="5148064" y="5003884"/>
            <a:ext cx="777777" cy="369332"/>
          </a:xfrm>
          <a:prstGeom prst="rect">
            <a:avLst/>
          </a:prstGeom>
        </p:spPr>
        <p:txBody>
          <a:bodyPr wrap="none">
            <a:spAutoFit/>
          </a:bodyPr>
          <a:lstStyle/>
          <a:p>
            <a:r>
              <a:rPr lang="nl-NL" b="1" dirty="0" smtClean="0"/>
              <a:t>¬R ∧ S</a:t>
            </a:r>
            <a:endParaRPr lang="nl-NL" dirty="0"/>
          </a:p>
        </p:txBody>
      </p:sp>
      <p:sp>
        <p:nvSpPr>
          <p:cNvPr id="67" name="Rectangle 66"/>
          <p:cNvSpPr/>
          <p:nvPr/>
        </p:nvSpPr>
        <p:spPr>
          <a:xfrm>
            <a:off x="7092280" y="5003884"/>
            <a:ext cx="328528" cy="369332"/>
          </a:xfrm>
          <a:prstGeom prst="rect">
            <a:avLst/>
          </a:prstGeom>
        </p:spPr>
        <p:txBody>
          <a:bodyPr wrap="square">
            <a:spAutoFit/>
          </a:bodyPr>
          <a:lstStyle/>
          <a:p>
            <a:r>
              <a:rPr lang="nl-NL" b="1" dirty="0" smtClean="0"/>
              <a:t>T</a:t>
            </a:r>
            <a:endParaRPr lang="nl-NL" dirty="0"/>
          </a:p>
        </p:txBody>
      </p:sp>
      <p:cxnSp>
        <p:nvCxnSpPr>
          <p:cNvPr id="68" name="Straight Connector 67"/>
          <p:cNvCxnSpPr/>
          <p:nvPr/>
        </p:nvCxnSpPr>
        <p:spPr>
          <a:xfrm flipH="1">
            <a:off x="2699792" y="393305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851920" y="393305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2555776"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Oval 70"/>
          <p:cNvSpPr/>
          <p:nvPr/>
        </p:nvSpPr>
        <p:spPr>
          <a:xfrm>
            <a:off x="5004048"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tangle 71"/>
          <p:cNvSpPr/>
          <p:nvPr/>
        </p:nvSpPr>
        <p:spPr>
          <a:xfrm>
            <a:off x="2699792" y="4355812"/>
            <a:ext cx="777777" cy="369332"/>
          </a:xfrm>
          <a:prstGeom prst="rect">
            <a:avLst/>
          </a:prstGeom>
        </p:spPr>
        <p:txBody>
          <a:bodyPr wrap="none">
            <a:spAutoFit/>
          </a:bodyPr>
          <a:lstStyle/>
          <a:p>
            <a:r>
              <a:rPr lang="nl-NL" b="1" dirty="0" smtClean="0"/>
              <a:t>¬R ∧ S</a:t>
            </a:r>
            <a:endParaRPr lang="nl-NL" dirty="0"/>
          </a:p>
        </p:txBody>
      </p:sp>
      <p:sp>
        <p:nvSpPr>
          <p:cNvPr id="73" name="Rectangle 72"/>
          <p:cNvSpPr/>
          <p:nvPr/>
        </p:nvSpPr>
        <p:spPr>
          <a:xfrm>
            <a:off x="4644008" y="4355812"/>
            <a:ext cx="328528" cy="369332"/>
          </a:xfrm>
          <a:prstGeom prst="rect">
            <a:avLst/>
          </a:prstGeom>
        </p:spPr>
        <p:txBody>
          <a:bodyPr wrap="square">
            <a:spAutoFit/>
          </a:bodyPr>
          <a:lstStyle/>
          <a:p>
            <a:r>
              <a:rPr lang="nl-NL" b="1" dirty="0" smtClean="0"/>
              <a:t>T</a:t>
            </a:r>
            <a:endParaRPr lang="nl-NL" dirty="0"/>
          </a:p>
        </p:txBody>
      </p:sp>
      <p:sp>
        <p:nvSpPr>
          <p:cNvPr id="86" name="TextBox 85"/>
          <p:cNvSpPr txBox="1"/>
          <p:nvPr/>
        </p:nvSpPr>
        <p:spPr>
          <a:xfrm>
            <a:off x="5004048" y="4212377"/>
            <a:ext cx="216024" cy="584775"/>
          </a:xfrm>
          <a:prstGeom prst="rect">
            <a:avLst/>
          </a:prstGeom>
          <a:noFill/>
        </p:spPr>
        <p:txBody>
          <a:bodyPr wrap="square" rtlCol="0">
            <a:spAutoFit/>
          </a:bodyPr>
          <a:lstStyle/>
          <a:p>
            <a:r>
              <a:rPr lang="nl-NL" sz="3200" b="1" dirty="0" smtClean="0"/>
              <a:t>+</a:t>
            </a:r>
            <a:endParaRPr lang="nl-NL" b="1" dirty="0"/>
          </a:p>
        </p:txBody>
      </p:sp>
      <p:cxnSp>
        <p:nvCxnSpPr>
          <p:cNvPr id="87" name="Straight Connector 86"/>
          <p:cNvCxnSpPr/>
          <p:nvPr/>
        </p:nvCxnSpPr>
        <p:spPr>
          <a:xfrm flipH="1">
            <a:off x="1475656"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2627784"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133164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Oval 89"/>
          <p:cNvSpPr/>
          <p:nvPr/>
        </p:nvSpPr>
        <p:spPr>
          <a:xfrm>
            <a:off x="3779912"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tangle 90"/>
          <p:cNvSpPr/>
          <p:nvPr/>
        </p:nvSpPr>
        <p:spPr>
          <a:xfrm>
            <a:off x="1475656" y="5003884"/>
            <a:ext cx="429926" cy="369332"/>
          </a:xfrm>
          <a:prstGeom prst="rect">
            <a:avLst/>
          </a:prstGeom>
        </p:spPr>
        <p:txBody>
          <a:bodyPr wrap="none">
            <a:spAutoFit/>
          </a:bodyPr>
          <a:lstStyle/>
          <a:p>
            <a:r>
              <a:rPr lang="nl-NL" b="1" dirty="0" smtClean="0"/>
              <a:t>¬R</a:t>
            </a:r>
            <a:endParaRPr lang="nl-NL" dirty="0"/>
          </a:p>
        </p:txBody>
      </p:sp>
      <p:sp>
        <p:nvSpPr>
          <p:cNvPr id="92" name="Rectangle 91"/>
          <p:cNvSpPr/>
          <p:nvPr/>
        </p:nvSpPr>
        <p:spPr>
          <a:xfrm>
            <a:off x="3846282" y="5013176"/>
            <a:ext cx="293670" cy="369332"/>
          </a:xfrm>
          <a:prstGeom prst="rect">
            <a:avLst/>
          </a:prstGeom>
        </p:spPr>
        <p:txBody>
          <a:bodyPr wrap="none">
            <a:spAutoFit/>
          </a:bodyPr>
          <a:lstStyle/>
          <a:p>
            <a:r>
              <a:rPr lang="nl-NL" b="1" dirty="0" smtClean="0"/>
              <a:t>S</a:t>
            </a:r>
            <a:endParaRPr lang="nl-NL" dirty="0"/>
          </a:p>
        </p:txBody>
      </p:sp>
      <p:cxnSp>
        <p:nvCxnSpPr>
          <p:cNvPr id="93" name="Straight Connector 92"/>
          <p:cNvCxnSpPr/>
          <p:nvPr/>
        </p:nvCxnSpPr>
        <p:spPr>
          <a:xfrm>
            <a:off x="1403648" y="5229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331640"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5" name="Rectangle 94"/>
          <p:cNvSpPr/>
          <p:nvPr/>
        </p:nvSpPr>
        <p:spPr>
          <a:xfrm>
            <a:off x="1043608" y="5579948"/>
            <a:ext cx="314510" cy="369332"/>
          </a:xfrm>
          <a:prstGeom prst="rect">
            <a:avLst/>
          </a:prstGeom>
        </p:spPr>
        <p:txBody>
          <a:bodyPr wrap="none">
            <a:spAutoFit/>
          </a:bodyPr>
          <a:lstStyle/>
          <a:p>
            <a:r>
              <a:rPr lang="nl-NL" b="1" dirty="0" smtClean="0"/>
              <a:t>R</a:t>
            </a:r>
            <a:endParaRPr lang="nl-NL" dirty="0"/>
          </a:p>
        </p:txBody>
      </p:sp>
      <p:sp>
        <p:nvSpPr>
          <p:cNvPr id="96" name="Oval 95"/>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7" name="Straight Connector 96"/>
          <p:cNvCxnSpPr/>
          <p:nvPr/>
        </p:nvCxnSpPr>
        <p:spPr>
          <a:xfrm flipH="1">
            <a:off x="3923928" y="522920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076056" y="5229200"/>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3779912"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0" name="Oval 99"/>
          <p:cNvSpPr/>
          <p:nvPr/>
        </p:nvSpPr>
        <p:spPr>
          <a:xfrm>
            <a:off x="6228184"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1" name="Rectangle 100"/>
          <p:cNvSpPr/>
          <p:nvPr/>
        </p:nvSpPr>
        <p:spPr>
          <a:xfrm>
            <a:off x="3854042" y="5651956"/>
            <a:ext cx="429926" cy="369332"/>
          </a:xfrm>
          <a:prstGeom prst="rect">
            <a:avLst/>
          </a:prstGeom>
        </p:spPr>
        <p:txBody>
          <a:bodyPr wrap="none">
            <a:spAutoFit/>
          </a:bodyPr>
          <a:lstStyle/>
          <a:p>
            <a:r>
              <a:rPr lang="nl-NL" b="1" dirty="0" smtClean="0"/>
              <a:t>¬R</a:t>
            </a:r>
            <a:endParaRPr lang="nl-NL" dirty="0"/>
          </a:p>
        </p:txBody>
      </p:sp>
      <p:sp>
        <p:nvSpPr>
          <p:cNvPr id="102" name="Rectangle 101"/>
          <p:cNvSpPr/>
          <p:nvPr/>
        </p:nvSpPr>
        <p:spPr>
          <a:xfrm>
            <a:off x="6302314" y="5651956"/>
            <a:ext cx="293670" cy="369332"/>
          </a:xfrm>
          <a:prstGeom prst="rect">
            <a:avLst/>
          </a:prstGeom>
        </p:spPr>
        <p:txBody>
          <a:bodyPr wrap="none">
            <a:spAutoFit/>
          </a:bodyPr>
          <a:lstStyle/>
          <a:p>
            <a:r>
              <a:rPr lang="nl-NL" b="1" dirty="0" smtClean="0"/>
              <a:t>S</a:t>
            </a:r>
            <a:endParaRPr lang="nl-NL" dirty="0"/>
          </a:p>
        </p:txBody>
      </p:sp>
      <p:sp>
        <p:nvSpPr>
          <p:cNvPr id="103" name="TextBox 102"/>
          <p:cNvSpPr txBox="1"/>
          <p:nvPr/>
        </p:nvSpPr>
        <p:spPr>
          <a:xfrm>
            <a:off x="3491880" y="5580529"/>
            <a:ext cx="216024" cy="584775"/>
          </a:xfrm>
          <a:prstGeom prst="rect">
            <a:avLst/>
          </a:prstGeom>
          <a:noFill/>
        </p:spPr>
        <p:txBody>
          <a:bodyPr wrap="square" rtlCol="0">
            <a:spAutoFit/>
          </a:bodyPr>
          <a:lstStyle/>
          <a:p>
            <a:r>
              <a:rPr lang="nl-NL" sz="3200" b="1" dirty="0" smtClean="0"/>
              <a:t>+</a:t>
            </a:r>
            <a:endParaRPr lang="nl-NL" b="1" dirty="0"/>
          </a:p>
        </p:txBody>
      </p:sp>
    </p:spTree>
  </p:cSld>
  <p:clrMapOvr>
    <a:masterClrMapping/>
  </p:clrMapOvr>
  <p:timing>
    <p:tnLst>
      <p:par>
        <p:cTn id="1" dur="indefinite" restart="never" nodeType="tmRoot"/>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Verdere voorbeelden</a:t>
            </a:r>
            <a:endParaRPr lang="nl-NL" sz="3600" dirty="0"/>
          </a:p>
        </p:txBody>
      </p:sp>
      <p:sp>
        <p:nvSpPr>
          <p:cNvPr id="9" name="Oval 8"/>
          <p:cNvSpPr/>
          <p:nvPr/>
        </p:nvSpPr>
        <p:spPr>
          <a:xfrm>
            <a:off x="370790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115616" y="1340768"/>
            <a:ext cx="2448272" cy="954107"/>
          </a:xfrm>
          <a:prstGeom prst="rect">
            <a:avLst/>
          </a:prstGeom>
        </p:spPr>
        <p:txBody>
          <a:bodyPr wrap="square">
            <a:spAutoFit/>
          </a:bodyPr>
          <a:lstStyle/>
          <a:p>
            <a:pPr algn="r"/>
            <a:r>
              <a:rPr lang="nl-NL" b="1" dirty="0" smtClean="0"/>
              <a:t>P → (Q V ¬R)</a:t>
            </a:r>
          </a:p>
          <a:p>
            <a:pPr algn="r"/>
            <a:r>
              <a:rPr lang="nl-NL" b="1" dirty="0" smtClean="0"/>
              <a:t>(¬R ∧ S) → T  </a:t>
            </a:r>
            <a:endParaRPr lang="nl-NL" dirty="0" smtClean="0"/>
          </a:p>
          <a:p>
            <a:pPr algn="r"/>
            <a:r>
              <a:rPr lang="nl-NL" b="1" dirty="0" smtClean="0"/>
              <a:t> </a:t>
            </a:r>
            <a:endParaRPr lang="nl-NL" dirty="0"/>
          </a:p>
        </p:txBody>
      </p:sp>
      <p:cxnSp>
        <p:nvCxnSpPr>
          <p:cNvPr id="6" name="Straight Connector 5"/>
          <p:cNvCxnSpPr/>
          <p:nvPr/>
        </p:nvCxnSpPr>
        <p:spPr>
          <a:xfrm flipH="1">
            <a:off x="2627784" y="263691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636912"/>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48376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500404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3995936" y="1628800"/>
            <a:ext cx="736099" cy="369332"/>
          </a:xfrm>
          <a:prstGeom prst="rect">
            <a:avLst/>
          </a:prstGeom>
        </p:spPr>
        <p:txBody>
          <a:bodyPr wrap="none">
            <a:spAutoFit/>
          </a:bodyPr>
          <a:lstStyle/>
          <a:p>
            <a:pPr algn="r"/>
            <a:r>
              <a:rPr lang="nl-NL" b="1" dirty="0" smtClean="0"/>
              <a:t>P → T</a:t>
            </a:r>
            <a:endParaRPr lang="nl-NL" dirty="0"/>
          </a:p>
        </p:txBody>
      </p:sp>
      <p:sp>
        <p:nvSpPr>
          <p:cNvPr id="24" name="Oval 23"/>
          <p:cNvSpPr/>
          <p:nvPr/>
        </p:nvSpPr>
        <p:spPr>
          <a:xfrm>
            <a:off x="3707904"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3744000" y="1988840"/>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399807" y="2348880"/>
            <a:ext cx="308097" cy="369332"/>
          </a:xfrm>
          <a:prstGeom prst="rect">
            <a:avLst/>
          </a:prstGeom>
        </p:spPr>
        <p:txBody>
          <a:bodyPr wrap="none">
            <a:spAutoFit/>
          </a:bodyPr>
          <a:lstStyle/>
          <a:p>
            <a:pPr algn="r"/>
            <a:r>
              <a:rPr lang="nl-NL" b="1" dirty="0" smtClean="0"/>
              <a:t>P</a:t>
            </a:r>
            <a:endParaRPr lang="nl-NL" dirty="0"/>
          </a:p>
        </p:txBody>
      </p:sp>
      <p:sp>
        <p:nvSpPr>
          <p:cNvPr id="30" name="Rectangle 29"/>
          <p:cNvSpPr/>
          <p:nvPr/>
        </p:nvSpPr>
        <p:spPr>
          <a:xfrm>
            <a:off x="3769465" y="2339588"/>
            <a:ext cx="298479" cy="369332"/>
          </a:xfrm>
          <a:prstGeom prst="rect">
            <a:avLst/>
          </a:prstGeom>
        </p:spPr>
        <p:txBody>
          <a:bodyPr wrap="none">
            <a:spAutoFit/>
          </a:bodyPr>
          <a:lstStyle/>
          <a:p>
            <a:pPr algn="r"/>
            <a:r>
              <a:rPr lang="nl-NL" b="1" dirty="0" smtClean="0"/>
              <a:t>T</a:t>
            </a:r>
            <a:endParaRPr lang="nl-NL" dirty="0"/>
          </a:p>
        </p:txBody>
      </p:sp>
      <p:sp>
        <p:nvSpPr>
          <p:cNvPr id="34" name="Rectangle 33"/>
          <p:cNvSpPr/>
          <p:nvPr/>
        </p:nvSpPr>
        <p:spPr>
          <a:xfrm>
            <a:off x="2627784" y="3059668"/>
            <a:ext cx="308097" cy="369332"/>
          </a:xfrm>
          <a:prstGeom prst="rect">
            <a:avLst/>
          </a:prstGeom>
        </p:spPr>
        <p:txBody>
          <a:bodyPr wrap="none">
            <a:spAutoFit/>
          </a:bodyPr>
          <a:lstStyle/>
          <a:p>
            <a:pPr algn="r"/>
            <a:r>
              <a:rPr lang="nl-NL" b="1" dirty="0" smtClean="0"/>
              <a:t>P</a:t>
            </a:r>
            <a:endParaRPr lang="nl-NL" dirty="0"/>
          </a:p>
        </p:txBody>
      </p:sp>
      <p:sp>
        <p:nvSpPr>
          <p:cNvPr id="35" name="Rectangle 34"/>
          <p:cNvSpPr/>
          <p:nvPr/>
        </p:nvSpPr>
        <p:spPr>
          <a:xfrm>
            <a:off x="4067944" y="3059668"/>
            <a:ext cx="830677" cy="369332"/>
          </a:xfrm>
          <a:prstGeom prst="rect">
            <a:avLst/>
          </a:prstGeom>
        </p:spPr>
        <p:txBody>
          <a:bodyPr wrap="none">
            <a:spAutoFit/>
          </a:bodyPr>
          <a:lstStyle/>
          <a:p>
            <a:r>
              <a:rPr lang="nl-NL" b="1" dirty="0" smtClean="0"/>
              <a:t>Q V ¬R</a:t>
            </a:r>
            <a:endParaRPr lang="nl-NL" dirty="0"/>
          </a:p>
        </p:txBody>
      </p:sp>
      <p:sp>
        <p:nvSpPr>
          <p:cNvPr id="39" name="TextBox 38"/>
          <p:cNvSpPr txBox="1"/>
          <p:nvPr/>
        </p:nvSpPr>
        <p:spPr>
          <a:xfrm>
            <a:off x="2195736" y="2996952"/>
            <a:ext cx="216024" cy="584775"/>
          </a:xfrm>
          <a:prstGeom prst="rect">
            <a:avLst/>
          </a:prstGeom>
          <a:noFill/>
        </p:spPr>
        <p:txBody>
          <a:bodyPr wrap="square" rtlCol="0">
            <a:spAutoFit/>
          </a:bodyPr>
          <a:lstStyle/>
          <a:p>
            <a:r>
              <a:rPr lang="nl-NL" sz="3200" b="1" dirty="0" smtClean="0"/>
              <a:t>+</a:t>
            </a:r>
            <a:endParaRPr lang="nl-NL" b="1" dirty="0"/>
          </a:p>
        </p:txBody>
      </p:sp>
      <p:cxnSp>
        <p:nvCxnSpPr>
          <p:cNvPr id="46" name="Straight Connector 45"/>
          <p:cNvCxnSpPr/>
          <p:nvPr/>
        </p:nvCxnSpPr>
        <p:spPr>
          <a:xfrm flipH="1">
            <a:off x="3923928" y="3284984"/>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76056" y="3284984"/>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779912"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Oval 48"/>
          <p:cNvSpPr/>
          <p:nvPr/>
        </p:nvSpPr>
        <p:spPr>
          <a:xfrm>
            <a:off x="6228184"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3" name="Rectangle 52"/>
          <p:cNvSpPr/>
          <p:nvPr/>
        </p:nvSpPr>
        <p:spPr>
          <a:xfrm>
            <a:off x="3455658" y="3645024"/>
            <a:ext cx="396262" cy="369332"/>
          </a:xfrm>
          <a:prstGeom prst="rect">
            <a:avLst/>
          </a:prstGeom>
        </p:spPr>
        <p:txBody>
          <a:bodyPr wrap="none">
            <a:spAutoFit/>
          </a:bodyPr>
          <a:lstStyle/>
          <a:p>
            <a:r>
              <a:rPr lang="nl-NL" b="1" dirty="0" smtClean="0"/>
              <a:t>Q </a:t>
            </a:r>
            <a:endParaRPr lang="nl-NL" dirty="0"/>
          </a:p>
        </p:txBody>
      </p:sp>
      <p:cxnSp>
        <p:nvCxnSpPr>
          <p:cNvPr id="54" name="Straight Connector 53"/>
          <p:cNvCxnSpPr/>
          <p:nvPr/>
        </p:nvCxnSpPr>
        <p:spPr>
          <a:xfrm>
            <a:off x="6300192" y="393305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622818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1" name="TextBox 60"/>
          <p:cNvSpPr txBox="1"/>
          <p:nvPr/>
        </p:nvSpPr>
        <p:spPr>
          <a:xfrm>
            <a:off x="7452320" y="4941168"/>
            <a:ext cx="216024" cy="584775"/>
          </a:xfrm>
          <a:prstGeom prst="rect">
            <a:avLst/>
          </a:prstGeom>
          <a:noFill/>
        </p:spPr>
        <p:txBody>
          <a:bodyPr wrap="square" rtlCol="0">
            <a:spAutoFit/>
          </a:bodyPr>
          <a:lstStyle/>
          <a:p>
            <a:r>
              <a:rPr lang="nl-NL" sz="3200" b="1" dirty="0" smtClean="0"/>
              <a:t>+</a:t>
            </a:r>
            <a:endParaRPr lang="nl-NL" b="1" dirty="0"/>
          </a:p>
        </p:txBody>
      </p:sp>
      <p:sp>
        <p:nvSpPr>
          <p:cNvPr id="38" name="Rectangle 37"/>
          <p:cNvSpPr/>
          <p:nvPr/>
        </p:nvSpPr>
        <p:spPr>
          <a:xfrm>
            <a:off x="5798258" y="3707740"/>
            <a:ext cx="429926" cy="369332"/>
          </a:xfrm>
          <a:prstGeom prst="rect">
            <a:avLst/>
          </a:prstGeom>
        </p:spPr>
        <p:txBody>
          <a:bodyPr wrap="none">
            <a:spAutoFit/>
          </a:bodyPr>
          <a:lstStyle/>
          <a:p>
            <a:r>
              <a:rPr lang="nl-NL" b="1" dirty="0" smtClean="0"/>
              <a:t>¬R</a:t>
            </a:r>
            <a:endParaRPr lang="nl-NL" dirty="0"/>
          </a:p>
        </p:txBody>
      </p:sp>
      <p:sp>
        <p:nvSpPr>
          <p:cNvPr id="50" name="Rectangle 49"/>
          <p:cNvSpPr/>
          <p:nvPr/>
        </p:nvSpPr>
        <p:spPr>
          <a:xfrm>
            <a:off x="6273714" y="4283804"/>
            <a:ext cx="314510" cy="369332"/>
          </a:xfrm>
          <a:prstGeom prst="rect">
            <a:avLst/>
          </a:prstGeom>
        </p:spPr>
        <p:txBody>
          <a:bodyPr wrap="none">
            <a:spAutoFit/>
          </a:bodyPr>
          <a:lstStyle/>
          <a:p>
            <a:r>
              <a:rPr lang="nl-NL" b="1" dirty="0" smtClean="0"/>
              <a:t>R</a:t>
            </a:r>
            <a:endParaRPr lang="nl-NL" dirty="0"/>
          </a:p>
        </p:txBody>
      </p:sp>
      <p:cxnSp>
        <p:nvCxnSpPr>
          <p:cNvPr id="51" name="Straight Connector 50"/>
          <p:cNvCxnSpPr/>
          <p:nvPr/>
        </p:nvCxnSpPr>
        <p:spPr>
          <a:xfrm flipH="1">
            <a:off x="5148064"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300192"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5" name="Oval 64"/>
          <p:cNvSpPr/>
          <p:nvPr/>
        </p:nvSpPr>
        <p:spPr>
          <a:xfrm>
            <a:off x="745232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tangle 65"/>
          <p:cNvSpPr/>
          <p:nvPr/>
        </p:nvSpPr>
        <p:spPr>
          <a:xfrm>
            <a:off x="5148064" y="5003884"/>
            <a:ext cx="777777" cy="369332"/>
          </a:xfrm>
          <a:prstGeom prst="rect">
            <a:avLst/>
          </a:prstGeom>
        </p:spPr>
        <p:txBody>
          <a:bodyPr wrap="none">
            <a:spAutoFit/>
          </a:bodyPr>
          <a:lstStyle/>
          <a:p>
            <a:r>
              <a:rPr lang="nl-NL" b="1" dirty="0" smtClean="0"/>
              <a:t>¬R ∧ S</a:t>
            </a:r>
            <a:endParaRPr lang="nl-NL" dirty="0"/>
          </a:p>
        </p:txBody>
      </p:sp>
      <p:sp>
        <p:nvSpPr>
          <p:cNvPr id="67" name="Rectangle 66"/>
          <p:cNvSpPr/>
          <p:nvPr/>
        </p:nvSpPr>
        <p:spPr>
          <a:xfrm>
            <a:off x="7092280" y="5003884"/>
            <a:ext cx="328528" cy="369332"/>
          </a:xfrm>
          <a:prstGeom prst="rect">
            <a:avLst/>
          </a:prstGeom>
        </p:spPr>
        <p:txBody>
          <a:bodyPr wrap="square">
            <a:spAutoFit/>
          </a:bodyPr>
          <a:lstStyle/>
          <a:p>
            <a:r>
              <a:rPr lang="nl-NL" b="1" dirty="0" smtClean="0"/>
              <a:t>T</a:t>
            </a:r>
            <a:endParaRPr lang="nl-NL" dirty="0"/>
          </a:p>
        </p:txBody>
      </p:sp>
      <p:cxnSp>
        <p:nvCxnSpPr>
          <p:cNvPr id="68" name="Straight Connector 67"/>
          <p:cNvCxnSpPr/>
          <p:nvPr/>
        </p:nvCxnSpPr>
        <p:spPr>
          <a:xfrm flipH="1">
            <a:off x="2699792" y="3933056"/>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851920" y="393305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2555776"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Oval 70"/>
          <p:cNvSpPr/>
          <p:nvPr/>
        </p:nvSpPr>
        <p:spPr>
          <a:xfrm>
            <a:off x="5004048"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tangle 71"/>
          <p:cNvSpPr/>
          <p:nvPr/>
        </p:nvSpPr>
        <p:spPr>
          <a:xfrm>
            <a:off x="2699792" y="4355812"/>
            <a:ext cx="777777" cy="369332"/>
          </a:xfrm>
          <a:prstGeom prst="rect">
            <a:avLst/>
          </a:prstGeom>
        </p:spPr>
        <p:txBody>
          <a:bodyPr wrap="none">
            <a:spAutoFit/>
          </a:bodyPr>
          <a:lstStyle/>
          <a:p>
            <a:r>
              <a:rPr lang="nl-NL" b="1" dirty="0" smtClean="0"/>
              <a:t>¬R ∧ S</a:t>
            </a:r>
            <a:endParaRPr lang="nl-NL" dirty="0"/>
          </a:p>
        </p:txBody>
      </p:sp>
      <p:sp>
        <p:nvSpPr>
          <p:cNvPr id="73" name="Rectangle 72"/>
          <p:cNvSpPr/>
          <p:nvPr/>
        </p:nvSpPr>
        <p:spPr>
          <a:xfrm>
            <a:off x="4644008" y="4355812"/>
            <a:ext cx="328528" cy="369332"/>
          </a:xfrm>
          <a:prstGeom prst="rect">
            <a:avLst/>
          </a:prstGeom>
        </p:spPr>
        <p:txBody>
          <a:bodyPr wrap="square">
            <a:spAutoFit/>
          </a:bodyPr>
          <a:lstStyle/>
          <a:p>
            <a:r>
              <a:rPr lang="nl-NL" b="1" dirty="0" smtClean="0"/>
              <a:t>T</a:t>
            </a:r>
            <a:endParaRPr lang="nl-NL" dirty="0"/>
          </a:p>
        </p:txBody>
      </p:sp>
      <p:sp>
        <p:nvSpPr>
          <p:cNvPr id="86" name="TextBox 85"/>
          <p:cNvSpPr txBox="1"/>
          <p:nvPr/>
        </p:nvSpPr>
        <p:spPr>
          <a:xfrm>
            <a:off x="5004048" y="4212377"/>
            <a:ext cx="216024" cy="584775"/>
          </a:xfrm>
          <a:prstGeom prst="rect">
            <a:avLst/>
          </a:prstGeom>
          <a:noFill/>
        </p:spPr>
        <p:txBody>
          <a:bodyPr wrap="square" rtlCol="0">
            <a:spAutoFit/>
          </a:bodyPr>
          <a:lstStyle/>
          <a:p>
            <a:r>
              <a:rPr lang="nl-NL" sz="3200" b="1" dirty="0" smtClean="0"/>
              <a:t>+</a:t>
            </a:r>
            <a:endParaRPr lang="nl-NL" b="1" dirty="0"/>
          </a:p>
        </p:txBody>
      </p:sp>
      <p:cxnSp>
        <p:nvCxnSpPr>
          <p:cNvPr id="87" name="Straight Connector 86"/>
          <p:cNvCxnSpPr/>
          <p:nvPr/>
        </p:nvCxnSpPr>
        <p:spPr>
          <a:xfrm flipH="1">
            <a:off x="1475656" y="4581128"/>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2627784"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133164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Oval 89"/>
          <p:cNvSpPr/>
          <p:nvPr/>
        </p:nvSpPr>
        <p:spPr>
          <a:xfrm>
            <a:off x="3779912"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tangle 90"/>
          <p:cNvSpPr/>
          <p:nvPr/>
        </p:nvSpPr>
        <p:spPr>
          <a:xfrm>
            <a:off x="1475656" y="5003884"/>
            <a:ext cx="429926" cy="369332"/>
          </a:xfrm>
          <a:prstGeom prst="rect">
            <a:avLst/>
          </a:prstGeom>
        </p:spPr>
        <p:txBody>
          <a:bodyPr wrap="none">
            <a:spAutoFit/>
          </a:bodyPr>
          <a:lstStyle/>
          <a:p>
            <a:r>
              <a:rPr lang="nl-NL" b="1" dirty="0" smtClean="0"/>
              <a:t>¬R</a:t>
            </a:r>
            <a:endParaRPr lang="nl-NL" dirty="0"/>
          </a:p>
        </p:txBody>
      </p:sp>
      <p:sp>
        <p:nvSpPr>
          <p:cNvPr id="92" name="Rectangle 91"/>
          <p:cNvSpPr/>
          <p:nvPr/>
        </p:nvSpPr>
        <p:spPr>
          <a:xfrm>
            <a:off x="3846282" y="5013176"/>
            <a:ext cx="293670" cy="369332"/>
          </a:xfrm>
          <a:prstGeom prst="rect">
            <a:avLst/>
          </a:prstGeom>
        </p:spPr>
        <p:txBody>
          <a:bodyPr wrap="none">
            <a:spAutoFit/>
          </a:bodyPr>
          <a:lstStyle/>
          <a:p>
            <a:r>
              <a:rPr lang="nl-NL" b="1" dirty="0" smtClean="0"/>
              <a:t>S</a:t>
            </a:r>
            <a:endParaRPr lang="nl-NL" dirty="0"/>
          </a:p>
        </p:txBody>
      </p:sp>
      <p:cxnSp>
        <p:nvCxnSpPr>
          <p:cNvPr id="93" name="Straight Connector 92"/>
          <p:cNvCxnSpPr/>
          <p:nvPr/>
        </p:nvCxnSpPr>
        <p:spPr>
          <a:xfrm>
            <a:off x="1403648" y="5229200"/>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331640"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5" name="Rectangle 94"/>
          <p:cNvSpPr/>
          <p:nvPr/>
        </p:nvSpPr>
        <p:spPr>
          <a:xfrm>
            <a:off x="1043608" y="5579948"/>
            <a:ext cx="314510" cy="369332"/>
          </a:xfrm>
          <a:prstGeom prst="rect">
            <a:avLst/>
          </a:prstGeom>
        </p:spPr>
        <p:txBody>
          <a:bodyPr wrap="none">
            <a:spAutoFit/>
          </a:bodyPr>
          <a:lstStyle/>
          <a:p>
            <a:r>
              <a:rPr lang="nl-NL" b="1" dirty="0" smtClean="0"/>
              <a:t>R</a:t>
            </a:r>
            <a:endParaRPr lang="nl-NL" dirty="0"/>
          </a:p>
        </p:txBody>
      </p:sp>
      <p:sp>
        <p:nvSpPr>
          <p:cNvPr id="96" name="Oval 95"/>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7" name="Straight Connector 96"/>
          <p:cNvCxnSpPr/>
          <p:nvPr/>
        </p:nvCxnSpPr>
        <p:spPr>
          <a:xfrm flipH="1">
            <a:off x="3923928" y="522920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076056" y="5229200"/>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3779912"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0" name="Oval 99"/>
          <p:cNvSpPr/>
          <p:nvPr/>
        </p:nvSpPr>
        <p:spPr>
          <a:xfrm>
            <a:off x="6228184"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1" name="Rectangle 100"/>
          <p:cNvSpPr/>
          <p:nvPr/>
        </p:nvSpPr>
        <p:spPr>
          <a:xfrm>
            <a:off x="3854042" y="5651956"/>
            <a:ext cx="429926" cy="369332"/>
          </a:xfrm>
          <a:prstGeom prst="rect">
            <a:avLst/>
          </a:prstGeom>
        </p:spPr>
        <p:txBody>
          <a:bodyPr wrap="none">
            <a:spAutoFit/>
          </a:bodyPr>
          <a:lstStyle/>
          <a:p>
            <a:r>
              <a:rPr lang="nl-NL" b="1" dirty="0" smtClean="0"/>
              <a:t>¬R</a:t>
            </a:r>
            <a:endParaRPr lang="nl-NL" dirty="0"/>
          </a:p>
        </p:txBody>
      </p:sp>
      <p:sp>
        <p:nvSpPr>
          <p:cNvPr id="102" name="Rectangle 101"/>
          <p:cNvSpPr/>
          <p:nvPr/>
        </p:nvSpPr>
        <p:spPr>
          <a:xfrm>
            <a:off x="6302314" y="5651956"/>
            <a:ext cx="293670" cy="369332"/>
          </a:xfrm>
          <a:prstGeom prst="rect">
            <a:avLst/>
          </a:prstGeom>
        </p:spPr>
        <p:txBody>
          <a:bodyPr wrap="none">
            <a:spAutoFit/>
          </a:bodyPr>
          <a:lstStyle/>
          <a:p>
            <a:r>
              <a:rPr lang="nl-NL" b="1" dirty="0" smtClean="0"/>
              <a:t>S</a:t>
            </a:r>
            <a:endParaRPr lang="nl-NL" dirty="0"/>
          </a:p>
        </p:txBody>
      </p:sp>
      <p:sp>
        <p:nvSpPr>
          <p:cNvPr id="103" name="TextBox 102"/>
          <p:cNvSpPr txBox="1"/>
          <p:nvPr/>
        </p:nvSpPr>
        <p:spPr>
          <a:xfrm>
            <a:off x="3491880" y="5580529"/>
            <a:ext cx="216024" cy="584775"/>
          </a:xfrm>
          <a:prstGeom prst="rect">
            <a:avLst/>
          </a:prstGeom>
          <a:noFill/>
        </p:spPr>
        <p:txBody>
          <a:bodyPr wrap="square" rtlCol="0">
            <a:spAutoFit/>
          </a:bodyPr>
          <a:lstStyle/>
          <a:p>
            <a:r>
              <a:rPr lang="nl-NL" sz="3200" b="1" dirty="0" smtClean="0"/>
              <a:t>+</a:t>
            </a:r>
            <a:endParaRPr lang="nl-NL" b="1" dirty="0"/>
          </a:p>
        </p:txBody>
      </p:sp>
      <p:sp>
        <p:nvSpPr>
          <p:cNvPr id="57" name="TextBox 56"/>
          <p:cNvSpPr txBox="1"/>
          <p:nvPr/>
        </p:nvSpPr>
        <p:spPr>
          <a:xfrm>
            <a:off x="5472608" y="1556792"/>
            <a:ext cx="3635896" cy="1200329"/>
          </a:xfrm>
          <a:prstGeom prst="rect">
            <a:avLst/>
          </a:prstGeom>
          <a:noFill/>
        </p:spPr>
        <p:txBody>
          <a:bodyPr wrap="square" rtlCol="0">
            <a:spAutoFit/>
          </a:bodyPr>
          <a:lstStyle/>
          <a:p>
            <a:r>
              <a:rPr lang="nl-NL" dirty="0" smtClean="0"/>
              <a:t>Deze tak levert een tegenvoorbeeld op: P waar, Q waar, R waar en T onwaar. De waarheidswaarde van S doet er dan blijkbaar niet toe.</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Effect transition="in" filter="fade">
                                      <p:cBhvr>
                                        <p:cTn id="7" dur="2000"/>
                                        <p:tgtEl>
                                          <p:spTgt spid="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uild="allAtOnce"/>
    </p:bld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Verdere voorbeelden</a:t>
            </a:r>
            <a:endParaRPr lang="nl-NL" sz="3600" dirty="0"/>
          </a:p>
        </p:txBody>
      </p:sp>
      <p:sp>
        <p:nvSpPr>
          <p:cNvPr id="9" name="Oval 8"/>
          <p:cNvSpPr/>
          <p:nvPr/>
        </p:nvSpPr>
        <p:spPr>
          <a:xfrm>
            <a:off x="370790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115616" y="1340768"/>
            <a:ext cx="2448272" cy="954107"/>
          </a:xfrm>
          <a:prstGeom prst="rect">
            <a:avLst/>
          </a:prstGeom>
        </p:spPr>
        <p:txBody>
          <a:bodyPr wrap="square">
            <a:spAutoFit/>
          </a:bodyPr>
          <a:lstStyle/>
          <a:p>
            <a:pPr algn="r"/>
            <a:r>
              <a:rPr lang="nl-NL" b="1" dirty="0" smtClean="0"/>
              <a:t>P → (Q V ¬R)</a:t>
            </a:r>
          </a:p>
          <a:p>
            <a:pPr algn="r"/>
            <a:r>
              <a:rPr lang="nl-NL" b="1" dirty="0" smtClean="0"/>
              <a:t>(¬R ∧ S) → T  </a:t>
            </a:r>
            <a:endParaRPr lang="nl-NL" dirty="0" smtClean="0"/>
          </a:p>
          <a:p>
            <a:pPr algn="r"/>
            <a:r>
              <a:rPr lang="nl-NL" b="1" dirty="0" smtClean="0"/>
              <a:t> </a:t>
            </a:r>
            <a:endParaRPr lang="nl-NL" dirty="0"/>
          </a:p>
        </p:txBody>
      </p:sp>
      <p:cxnSp>
        <p:nvCxnSpPr>
          <p:cNvPr id="6" name="Straight Connector 5"/>
          <p:cNvCxnSpPr/>
          <p:nvPr/>
        </p:nvCxnSpPr>
        <p:spPr>
          <a:xfrm flipH="1">
            <a:off x="2627784" y="263691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636912"/>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48376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500404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3995936" y="1628800"/>
            <a:ext cx="736099" cy="369332"/>
          </a:xfrm>
          <a:prstGeom prst="rect">
            <a:avLst/>
          </a:prstGeom>
        </p:spPr>
        <p:txBody>
          <a:bodyPr wrap="none">
            <a:spAutoFit/>
          </a:bodyPr>
          <a:lstStyle/>
          <a:p>
            <a:pPr algn="r"/>
            <a:r>
              <a:rPr lang="nl-NL" b="1" dirty="0" smtClean="0"/>
              <a:t>P → T</a:t>
            </a:r>
            <a:endParaRPr lang="nl-NL" dirty="0"/>
          </a:p>
        </p:txBody>
      </p:sp>
      <p:sp>
        <p:nvSpPr>
          <p:cNvPr id="24" name="Oval 23"/>
          <p:cNvSpPr/>
          <p:nvPr/>
        </p:nvSpPr>
        <p:spPr>
          <a:xfrm>
            <a:off x="3707904"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3744000" y="1988840"/>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399807" y="2348880"/>
            <a:ext cx="308097" cy="369332"/>
          </a:xfrm>
          <a:prstGeom prst="rect">
            <a:avLst/>
          </a:prstGeom>
        </p:spPr>
        <p:txBody>
          <a:bodyPr wrap="none">
            <a:spAutoFit/>
          </a:bodyPr>
          <a:lstStyle/>
          <a:p>
            <a:pPr algn="r"/>
            <a:r>
              <a:rPr lang="nl-NL" b="1" dirty="0" smtClean="0"/>
              <a:t>P</a:t>
            </a:r>
            <a:endParaRPr lang="nl-NL" dirty="0"/>
          </a:p>
        </p:txBody>
      </p:sp>
      <p:sp>
        <p:nvSpPr>
          <p:cNvPr id="30" name="Rectangle 29"/>
          <p:cNvSpPr/>
          <p:nvPr/>
        </p:nvSpPr>
        <p:spPr>
          <a:xfrm>
            <a:off x="3769465" y="2339588"/>
            <a:ext cx="298479" cy="369332"/>
          </a:xfrm>
          <a:prstGeom prst="rect">
            <a:avLst/>
          </a:prstGeom>
        </p:spPr>
        <p:txBody>
          <a:bodyPr wrap="none">
            <a:spAutoFit/>
          </a:bodyPr>
          <a:lstStyle/>
          <a:p>
            <a:pPr algn="r"/>
            <a:r>
              <a:rPr lang="nl-NL" b="1" dirty="0" smtClean="0"/>
              <a:t>T</a:t>
            </a:r>
            <a:endParaRPr lang="nl-NL" dirty="0"/>
          </a:p>
        </p:txBody>
      </p:sp>
      <p:sp>
        <p:nvSpPr>
          <p:cNvPr id="34" name="Rectangle 33"/>
          <p:cNvSpPr/>
          <p:nvPr/>
        </p:nvSpPr>
        <p:spPr>
          <a:xfrm>
            <a:off x="2627784" y="3059668"/>
            <a:ext cx="308097" cy="369332"/>
          </a:xfrm>
          <a:prstGeom prst="rect">
            <a:avLst/>
          </a:prstGeom>
        </p:spPr>
        <p:txBody>
          <a:bodyPr wrap="none">
            <a:spAutoFit/>
          </a:bodyPr>
          <a:lstStyle/>
          <a:p>
            <a:pPr algn="r"/>
            <a:r>
              <a:rPr lang="nl-NL" b="1" dirty="0" smtClean="0"/>
              <a:t>P</a:t>
            </a:r>
            <a:endParaRPr lang="nl-NL" dirty="0"/>
          </a:p>
        </p:txBody>
      </p:sp>
      <p:sp>
        <p:nvSpPr>
          <p:cNvPr id="35" name="Rectangle 34"/>
          <p:cNvSpPr/>
          <p:nvPr/>
        </p:nvSpPr>
        <p:spPr>
          <a:xfrm>
            <a:off x="4067944" y="3059668"/>
            <a:ext cx="830677" cy="369332"/>
          </a:xfrm>
          <a:prstGeom prst="rect">
            <a:avLst/>
          </a:prstGeom>
        </p:spPr>
        <p:txBody>
          <a:bodyPr wrap="none">
            <a:spAutoFit/>
          </a:bodyPr>
          <a:lstStyle/>
          <a:p>
            <a:r>
              <a:rPr lang="nl-NL" b="1" dirty="0" smtClean="0"/>
              <a:t>Q V ¬R</a:t>
            </a:r>
            <a:endParaRPr lang="nl-NL" dirty="0"/>
          </a:p>
        </p:txBody>
      </p:sp>
      <p:sp>
        <p:nvSpPr>
          <p:cNvPr id="39" name="TextBox 38"/>
          <p:cNvSpPr txBox="1"/>
          <p:nvPr/>
        </p:nvSpPr>
        <p:spPr>
          <a:xfrm>
            <a:off x="2195736" y="2996952"/>
            <a:ext cx="216024" cy="584775"/>
          </a:xfrm>
          <a:prstGeom prst="rect">
            <a:avLst/>
          </a:prstGeom>
          <a:noFill/>
        </p:spPr>
        <p:txBody>
          <a:bodyPr wrap="square" rtlCol="0">
            <a:spAutoFit/>
          </a:bodyPr>
          <a:lstStyle/>
          <a:p>
            <a:r>
              <a:rPr lang="nl-NL" sz="3200" b="1" dirty="0" smtClean="0"/>
              <a:t>+</a:t>
            </a:r>
            <a:endParaRPr lang="nl-NL" b="1" dirty="0"/>
          </a:p>
        </p:txBody>
      </p:sp>
      <p:cxnSp>
        <p:nvCxnSpPr>
          <p:cNvPr id="46" name="Straight Connector 45"/>
          <p:cNvCxnSpPr/>
          <p:nvPr/>
        </p:nvCxnSpPr>
        <p:spPr>
          <a:xfrm flipH="1">
            <a:off x="3923928" y="3284984"/>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76056" y="3284984"/>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779912"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Oval 48"/>
          <p:cNvSpPr/>
          <p:nvPr/>
        </p:nvSpPr>
        <p:spPr>
          <a:xfrm>
            <a:off x="6228184"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3" name="Rectangle 52"/>
          <p:cNvSpPr/>
          <p:nvPr/>
        </p:nvSpPr>
        <p:spPr>
          <a:xfrm>
            <a:off x="3455658" y="3645024"/>
            <a:ext cx="396262" cy="369332"/>
          </a:xfrm>
          <a:prstGeom prst="rect">
            <a:avLst/>
          </a:prstGeom>
        </p:spPr>
        <p:txBody>
          <a:bodyPr wrap="none">
            <a:spAutoFit/>
          </a:bodyPr>
          <a:lstStyle/>
          <a:p>
            <a:r>
              <a:rPr lang="nl-NL" b="1" dirty="0" smtClean="0"/>
              <a:t>Q </a:t>
            </a:r>
            <a:endParaRPr lang="nl-NL" dirty="0"/>
          </a:p>
        </p:txBody>
      </p:sp>
      <p:cxnSp>
        <p:nvCxnSpPr>
          <p:cNvPr id="54" name="Straight Connector 53"/>
          <p:cNvCxnSpPr/>
          <p:nvPr/>
        </p:nvCxnSpPr>
        <p:spPr>
          <a:xfrm>
            <a:off x="6300192" y="393305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622818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1" name="TextBox 60"/>
          <p:cNvSpPr txBox="1"/>
          <p:nvPr/>
        </p:nvSpPr>
        <p:spPr>
          <a:xfrm>
            <a:off x="7452320" y="4941168"/>
            <a:ext cx="216024" cy="584775"/>
          </a:xfrm>
          <a:prstGeom prst="rect">
            <a:avLst/>
          </a:prstGeom>
          <a:noFill/>
        </p:spPr>
        <p:txBody>
          <a:bodyPr wrap="square" rtlCol="0">
            <a:spAutoFit/>
          </a:bodyPr>
          <a:lstStyle/>
          <a:p>
            <a:r>
              <a:rPr lang="nl-NL" sz="3200" b="1" dirty="0" smtClean="0"/>
              <a:t>+</a:t>
            </a:r>
            <a:endParaRPr lang="nl-NL" b="1" dirty="0"/>
          </a:p>
        </p:txBody>
      </p:sp>
      <p:sp>
        <p:nvSpPr>
          <p:cNvPr id="38" name="Rectangle 37"/>
          <p:cNvSpPr/>
          <p:nvPr/>
        </p:nvSpPr>
        <p:spPr>
          <a:xfrm>
            <a:off x="5798258" y="3707740"/>
            <a:ext cx="429926" cy="369332"/>
          </a:xfrm>
          <a:prstGeom prst="rect">
            <a:avLst/>
          </a:prstGeom>
        </p:spPr>
        <p:txBody>
          <a:bodyPr wrap="none">
            <a:spAutoFit/>
          </a:bodyPr>
          <a:lstStyle/>
          <a:p>
            <a:r>
              <a:rPr lang="nl-NL" b="1" dirty="0" smtClean="0"/>
              <a:t>¬R</a:t>
            </a:r>
            <a:endParaRPr lang="nl-NL" dirty="0"/>
          </a:p>
        </p:txBody>
      </p:sp>
      <p:sp>
        <p:nvSpPr>
          <p:cNvPr id="50" name="Rectangle 49"/>
          <p:cNvSpPr/>
          <p:nvPr/>
        </p:nvSpPr>
        <p:spPr>
          <a:xfrm>
            <a:off x="6273714" y="4283804"/>
            <a:ext cx="314510" cy="369332"/>
          </a:xfrm>
          <a:prstGeom prst="rect">
            <a:avLst/>
          </a:prstGeom>
        </p:spPr>
        <p:txBody>
          <a:bodyPr wrap="none">
            <a:spAutoFit/>
          </a:bodyPr>
          <a:lstStyle/>
          <a:p>
            <a:r>
              <a:rPr lang="nl-NL" b="1" dirty="0" smtClean="0"/>
              <a:t>R</a:t>
            </a:r>
            <a:endParaRPr lang="nl-NL" dirty="0"/>
          </a:p>
        </p:txBody>
      </p:sp>
      <p:cxnSp>
        <p:nvCxnSpPr>
          <p:cNvPr id="51" name="Straight Connector 50"/>
          <p:cNvCxnSpPr/>
          <p:nvPr/>
        </p:nvCxnSpPr>
        <p:spPr>
          <a:xfrm flipH="1">
            <a:off x="5148064"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300192"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5" name="Oval 64"/>
          <p:cNvSpPr/>
          <p:nvPr/>
        </p:nvSpPr>
        <p:spPr>
          <a:xfrm>
            <a:off x="745232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tangle 65"/>
          <p:cNvSpPr/>
          <p:nvPr/>
        </p:nvSpPr>
        <p:spPr>
          <a:xfrm>
            <a:off x="5148064" y="5003884"/>
            <a:ext cx="777777" cy="369332"/>
          </a:xfrm>
          <a:prstGeom prst="rect">
            <a:avLst/>
          </a:prstGeom>
        </p:spPr>
        <p:txBody>
          <a:bodyPr wrap="none">
            <a:spAutoFit/>
          </a:bodyPr>
          <a:lstStyle/>
          <a:p>
            <a:r>
              <a:rPr lang="nl-NL" b="1" dirty="0" smtClean="0"/>
              <a:t>¬R ∧ S</a:t>
            </a:r>
            <a:endParaRPr lang="nl-NL" dirty="0"/>
          </a:p>
        </p:txBody>
      </p:sp>
      <p:sp>
        <p:nvSpPr>
          <p:cNvPr id="67" name="Rectangle 66"/>
          <p:cNvSpPr/>
          <p:nvPr/>
        </p:nvSpPr>
        <p:spPr>
          <a:xfrm>
            <a:off x="7092280" y="5003884"/>
            <a:ext cx="328528" cy="369332"/>
          </a:xfrm>
          <a:prstGeom prst="rect">
            <a:avLst/>
          </a:prstGeom>
        </p:spPr>
        <p:txBody>
          <a:bodyPr wrap="square">
            <a:spAutoFit/>
          </a:bodyPr>
          <a:lstStyle/>
          <a:p>
            <a:r>
              <a:rPr lang="nl-NL" b="1" dirty="0" smtClean="0"/>
              <a:t>T</a:t>
            </a:r>
            <a:endParaRPr lang="nl-NL" dirty="0"/>
          </a:p>
        </p:txBody>
      </p:sp>
      <p:cxnSp>
        <p:nvCxnSpPr>
          <p:cNvPr id="68" name="Straight Connector 67"/>
          <p:cNvCxnSpPr/>
          <p:nvPr/>
        </p:nvCxnSpPr>
        <p:spPr>
          <a:xfrm flipH="1">
            <a:off x="2699792" y="3933056"/>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851920" y="393305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2555776"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Oval 70"/>
          <p:cNvSpPr/>
          <p:nvPr/>
        </p:nvSpPr>
        <p:spPr>
          <a:xfrm>
            <a:off x="5004048"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tangle 71"/>
          <p:cNvSpPr/>
          <p:nvPr/>
        </p:nvSpPr>
        <p:spPr>
          <a:xfrm>
            <a:off x="2699792" y="4355812"/>
            <a:ext cx="777777" cy="369332"/>
          </a:xfrm>
          <a:prstGeom prst="rect">
            <a:avLst/>
          </a:prstGeom>
        </p:spPr>
        <p:txBody>
          <a:bodyPr wrap="none">
            <a:spAutoFit/>
          </a:bodyPr>
          <a:lstStyle/>
          <a:p>
            <a:r>
              <a:rPr lang="nl-NL" b="1" dirty="0" smtClean="0"/>
              <a:t>¬R ∧ S</a:t>
            </a:r>
            <a:endParaRPr lang="nl-NL" dirty="0"/>
          </a:p>
        </p:txBody>
      </p:sp>
      <p:sp>
        <p:nvSpPr>
          <p:cNvPr id="73" name="Rectangle 72"/>
          <p:cNvSpPr/>
          <p:nvPr/>
        </p:nvSpPr>
        <p:spPr>
          <a:xfrm>
            <a:off x="4644008" y="4355812"/>
            <a:ext cx="328528" cy="369332"/>
          </a:xfrm>
          <a:prstGeom prst="rect">
            <a:avLst/>
          </a:prstGeom>
        </p:spPr>
        <p:txBody>
          <a:bodyPr wrap="square">
            <a:spAutoFit/>
          </a:bodyPr>
          <a:lstStyle/>
          <a:p>
            <a:r>
              <a:rPr lang="nl-NL" b="1" dirty="0" smtClean="0"/>
              <a:t>T</a:t>
            </a:r>
            <a:endParaRPr lang="nl-NL" dirty="0"/>
          </a:p>
        </p:txBody>
      </p:sp>
      <p:sp>
        <p:nvSpPr>
          <p:cNvPr id="86" name="TextBox 85"/>
          <p:cNvSpPr txBox="1"/>
          <p:nvPr/>
        </p:nvSpPr>
        <p:spPr>
          <a:xfrm>
            <a:off x="5004048" y="4212377"/>
            <a:ext cx="216024" cy="584775"/>
          </a:xfrm>
          <a:prstGeom prst="rect">
            <a:avLst/>
          </a:prstGeom>
          <a:noFill/>
        </p:spPr>
        <p:txBody>
          <a:bodyPr wrap="square" rtlCol="0">
            <a:spAutoFit/>
          </a:bodyPr>
          <a:lstStyle/>
          <a:p>
            <a:r>
              <a:rPr lang="nl-NL" sz="3200" b="1" dirty="0" smtClean="0"/>
              <a:t>+</a:t>
            </a:r>
            <a:endParaRPr lang="nl-NL" b="1" dirty="0"/>
          </a:p>
        </p:txBody>
      </p:sp>
      <p:cxnSp>
        <p:nvCxnSpPr>
          <p:cNvPr id="87" name="Straight Connector 86"/>
          <p:cNvCxnSpPr/>
          <p:nvPr/>
        </p:nvCxnSpPr>
        <p:spPr>
          <a:xfrm flipH="1">
            <a:off x="1475656"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2627784" y="4581128"/>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133164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Oval 89"/>
          <p:cNvSpPr/>
          <p:nvPr/>
        </p:nvSpPr>
        <p:spPr>
          <a:xfrm>
            <a:off x="3779912"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tangle 90"/>
          <p:cNvSpPr/>
          <p:nvPr/>
        </p:nvSpPr>
        <p:spPr>
          <a:xfrm>
            <a:off x="1475656" y="5003884"/>
            <a:ext cx="429926" cy="369332"/>
          </a:xfrm>
          <a:prstGeom prst="rect">
            <a:avLst/>
          </a:prstGeom>
        </p:spPr>
        <p:txBody>
          <a:bodyPr wrap="none">
            <a:spAutoFit/>
          </a:bodyPr>
          <a:lstStyle/>
          <a:p>
            <a:r>
              <a:rPr lang="nl-NL" b="1" dirty="0" smtClean="0"/>
              <a:t>¬R</a:t>
            </a:r>
            <a:endParaRPr lang="nl-NL" dirty="0"/>
          </a:p>
        </p:txBody>
      </p:sp>
      <p:sp>
        <p:nvSpPr>
          <p:cNvPr id="92" name="Rectangle 91"/>
          <p:cNvSpPr/>
          <p:nvPr/>
        </p:nvSpPr>
        <p:spPr>
          <a:xfrm>
            <a:off x="3846282" y="5013176"/>
            <a:ext cx="293670" cy="369332"/>
          </a:xfrm>
          <a:prstGeom prst="rect">
            <a:avLst/>
          </a:prstGeom>
        </p:spPr>
        <p:txBody>
          <a:bodyPr wrap="none">
            <a:spAutoFit/>
          </a:bodyPr>
          <a:lstStyle/>
          <a:p>
            <a:r>
              <a:rPr lang="nl-NL" b="1" dirty="0" smtClean="0"/>
              <a:t>S</a:t>
            </a:r>
            <a:endParaRPr lang="nl-NL" dirty="0"/>
          </a:p>
        </p:txBody>
      </p:sp>
      <p:cxnSp>
        <p:nvCxnSpPr>
          <p:cNvPr id="93" name="Straight Connector 92"/>
          <p:cNvCxnSpPr/>
          <p:nvPr/>
        </p:nvCxnSpPr>
        <p:spPr>
          <a:xfrm>
            <a:off x="1403648" y="5229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331640"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5" name="Rectangle 94"/>
          <p:cNvSpPr/>
          <p:nvPr/>
        </p:nvSpPr>
        <p:spPr>
          <a:xfrm>
            <a:off x="1043608" y="5579948"/>
            <a:ext cx="314510" cy="369332"/>
          </a:xfrm>
          <a:prstGeom prst="rect">
            <a:avLst/>
          </a:prstGeom>
        </p:spPr>
        <p:txBody>
          <a:bodyPr wrap="none">
            <a:spAutoFit/>
          </a:bodyPr>
          <a:lstStyle/>
          <a:p>
            <a:r>
              <a:rPr lang="nl-NL" b="1" dirty="0" smtClean="0"/>
              <a:t>R</a:t>
            </a:r>
            <a:endParaRPr lang="nl-NL" dirty="0"/>
          </a:p>
        </p:txBody>
      </p:sp>
      <p:sp>
        <p:nvSpPr>
          <p:cNvPr id="96" name="Oval 95"/>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7" name="Straight Connector 96"/>
          <p:cNvCxnSpPr/>
          <p:nvPr/>
        </p:nvCxnSpPr>
        <p:spPr>
          <a:xfrm flipH="1">
            <a:off x="3923928" y="522920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076056" y="5229200"/>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3779912"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0" name="Oval 99"/>
          <p:cNvSpPr/>
          <p:nvPr/>
        </p:nvSpPr>
        <p:spPr>
          <a:xfrm>
            <a:off x="6228184"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1" name="Rectangle 100"/>
          <p:cNvSpPr/>
          <p:nvPr/>
        </p:nvSpPr>
        <p:spPr>
          <a:xfrm>
            <a:off x="3854042" y="5651956"/>
            <a:ext cx="429926" cy="369332"/>
          </a:xfrm>
          <a:prstGeom prst="rect">
            <a:avLst/>
          </a:prstGeom>
        </p:spPr>
        <p:txBody>
          <a:bodyPr wrap="none">
            <a:spAutoFit/>
          </a:bodyPr>
          <a:lstStyle/>
          <a:p>
            <a:r>
              <a:rPr lang="nl-NL" b="1" dirty="0" smtClean="0"/>
              <a:t>¬R</a:t>
            </a:r>
            <a:endParaRPr lang="nl-NL" dirty="0"/>
          </a:p>
        </p:txBody>
      </p:sp>
      <p:sp>
        <p:nvSpPr>
          <p:cNvPr id="102" name="Rectangle 101"/>
          <p:cNvSpPr/>
          <p:nvPr/>
        </p:nvSpPr>
        <p:spPr>
          <a:xfrm>
            <a:off x="6302314" y="5651956"/>
            <a:ext cx="293670" cy="369332"/>
          </a:xfrm>
          <a:prstGeom prst="rect">
            <a:avLst/>
          </a:prstGeom>
        </p:spPr>
        <p:txBody>
          <a:bodyPr wrap="none">
            <a:spAutoFit/>
          </a:bodyPr>
          <a:lstStyle/>
          <a:p>
            <a:r>
              <a:rPr lang="nl-NL" b="1" dirty="0" smtClean="0"/>
              <a:t>S</a:t>
            </a:r>
            <a:endParaRPr lang="nl-NL" dirty="0"/>
          </a:p>
        </p:txBody>
      </p:sp>
      <p:sp>
        <p:nvSpPr>
          <p:cNvPr id="103" name="TextBox 102"/>
          <p:cNvSpPr txBox="1"/>
          <p:nvPr/>
        </p:nvSpPr>
        <p:spPr>
          <a:xfrm>
            <a:off x="3491880" y="5580529"/>
            <a:ext cx="216024" cy="584775"/>
          </a:xfrm>
          <a:prstGeom prst="rect">
            <a:avLst/>
          </a:prstGeom>
          <a:noFill/>
        </p:spPr>
        <p:txBody>
          <a:bodyPr wrap="square" rtlCol="0">
            <a:spAutoFit/>
          </a:bodyPr>
          <a:lstStyle/>
          <a:p>
            <a:r>
              <a:rPr lang="nl-NL" sz="3200" b="1" dirty="0" smtClean="0"/>
              <a:t>+</a:t>
            </a:r>
            <a:endParaRPr lang="nl-NL" b="1" dirty="0"/>
          </a:p>
        </p:txBody>
      </p:sp>
      <p:sp>
        <p:nvSpPr>
          <p:cNvPr id="57" name="TextBox 56"/>
          <p:cNvSpPr txBox="1"/>
          <p:nvPr/>
        </p:nvSpPr>
        <p:spPr>
          <a:xfrm>
            <a:off x="5472608" y="1556792"/>
            <a:ext cx="3635896" cy="1200329"/>
          </a:xfrm>
          <a:prstGeom prst="rect">
            <a:avLst/>
          </a:prstGeom>
          <a:noFill/>
        </p:spPr>
        <p:txBody>
          <a:bodyPr wrap="square" rtlCol="0">
            <a:spAutoFit/>
          </a:bodyPr>
          <a:lstStyle/>
          <a:p>
            <a:r>
              <a:rPr lang="nl-NL" dirty="0" smtClean="0"/>
              <a:t>Deze tak levert ander </a:t>
            </a:r>
            <a:r>
              <a:rPr lang="nl-NL" dirty="0" err="1" smtClean="0"/>
              <a:t>tegenvoor-beeld</a:t>
            </a:r>
            <a:r>
              <a:rPr lang="nl-NL" dirty="0" smtClean="0"/>
              <a:t> op: P waar, Q waar, S onwaar en T onwaar. Waarheidswaarde R doet er dan niet meer toe.</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Effect transition="in" filter="fade">
                                      <p:cBhvr>
                                        <p:cTn id="7" dur="2000"/>
                                        <p:tgtEl>
                                          <p:spTgt spid="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uild="allAtOnce"/>
    </p:bldLst>
  </p:timing>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Verdere voorbeelden</a:t>
            </a:r>
            <a:endParaRPr lang="nl-NL" sz="3600" dirty="0"/>
          </a:p>
        </p:txBody>
      </p:sp>
      <p:sp>
        <p:nvSpPr>
          <p:cNvPr id="9" name="Oval 8"/>
          <p:cNvSpPr/>
          <p:nvPr/>
        </p:nvSpPr>
        <p:spPr>
          <a:xfrm>
            <a:off x="370790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115616" y="1340768"/>
            <a:ext cx="2448272" cy="954107"/>
          </a:xfrm>
          <a:prstGeom prst="rect">
            <a:avLst/>
          </a:prstGeom>
        </p:spPr>
        <p:txBody>
          <a:bodyPr wrap="square">
            <a:spAutoFit/>
          </a:bodyPr>
          <a:lstStyle/>
          <a:p>
            <a:pPr algn="r"/>
            <a:r>
              <a:rPr lang="nl-NL" b="1" dirty="0" smtClean="0"/>
              <a:t>P → (Q V ¬R)</a:t>
            </a:r>
          </a:p>
          <a:p>
            <a:pPr algn="r"/>
            <a:r>
              <a:rPr lang="nl-NL" b="1" dirty="0" smtClean="0"/>
              <a:t>(¬R ∧ S) → T  </a:t>
            </a:r>
            <a:endParaRPr lang="nl-NL" dirty="0" smtClean="0"/>
          </a:p>
          <a:p>
            <a:pPr algn="r"/>
            <a:r>
              <a:rPr lang="nl-NL" b="1" dirty="0" smtClean="0"/>
              <a:t> </a:t>
            </a:r>
            <a:endParaRPr lang="nl-NL" dirty="0"/>
          </a:p>
        </p:txBody>
      </p:sp>
      <p:cxnSp>
        <p:nvCxnSpPr>
          <p:cNvPr id="6" name="Straight Connector 5"/>
          <p:cNvCxnSpPr/>
          <p:nvPr/>
        </p:nvCxnSpPr>
        <p:spPr>
          <a:xfrm flipH="1">
            <a:off x="2627784" y="263691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779912" y="2636912"/>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48376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Oval 9"/>
          <p:cNvSpPr/>
          <p:nvPr/>
        </p:nvSpPr>
        <p:spPr>
          <a:xfrm>
            <a:off x="5004048"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3995936" y="1628800"/>
            <a:ext cx="736099" cy="369332"/>
          </a:xfrm>
          <a:prstGeom prst="rect">
            <a:avLst/>
          </a:prstGeom>
        </p:spPr>
        <p:txBody>
          <a:bodyPr wrap="none">
            <a:spAutoFit/>
          </a:bodyPr>
          <a:lstStyle/>
          <a:p>
            <a:pPr algn="r"/>
            <a:r>
              <a:rPr lang="nl-NL" b="1" dirty="0" smtClean="0"/>
              <a:t>P → T</a:t>
            </a:r>
            <a:endParaRPr lang="nl-NL" dirty="0"/>
          </a:p>
        </p:txBody>
      </p:sp>
      <p:sp>
        <p:nvSpPr>
          <p:cNvPr id="24" name="Oval 23"/>
          <p:cNvSpPr/>
          <p:nvPr/>
        </p:nvSpPr>
        <p:spPr>
          <a:xfrm>
            <a:off x="3707904"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3744000" y="1988840"/>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399807" y="2348880"/>
            <a:ext cx="308097" cy="369332"/>
          </a:xfrm>
          <a:prstGeom prst="rect">
            <a:avLst/>
          </a:prstGeom>
        </p:spPr>
        <p:txBody>
          <a:bodyPr wrap="none">
            <a:spAutoFit/>
          </a:bodyPr>
          <a:lstStyle/>
          <a:p>
            <a:pPr algn="r"/>
            <a:r>
              <a:rPr lang="nl-NL" b="1" dirty="0" smtClean="0"/>
              <a:t>P</a:t>
            </a:r>
            <a:endParaRPr lang="nl-NL" dirty="0"/>
          </a:p>
        </p:txBody>
      </p:sp>
      <p:sp>
        <p:nvSpPr>
          <p:cNvPr id="30" name="Rectangle 29"/>
          <p:cNvSpPr/>
          <p:nvPr/>
        </p:nvSpPr>
        <p:spPr>
          <a:xfrm>
            <a:off x="3769465" y="2339588"/>
            <a:ext cx="298479" cy="369332"/>
          </a:xfrm>
          <a:prstGeom prst="rect">
            <a:avLst/>
          </a:prstGeom>
        </p:spPr>
        <p:txBody>
          <a:bodyPr wrap="none">
            <a:spAutoFit/>
          </a:bodyPr>
          <a:lstStyle/>
          <a:p>
            <a:pPr algn="r"/>
            <a:r>
              <a:rPr lang="nl-NL" b="1" dirty="0" smtClean="0"/>
              <a:t>T</a:t>
            </a:r>
            <a:endParaRPr lang="nl-NL" dirty="0"/>
          </a:p>
        </p:txBody>
      </p:sp>
      <p:sp>
        <p:nvSpPr>
          <p:cNvPr id="34" name="Rectangle 33"/>
          <p:cNvSpPr/>
          <p:nvPr/>
        </p:nvSpPr>
        <p:spPr>
          <a:xfrm>
            <a:off x="2627784" y="3059668"/>
            <a:ext cx="308097" cy="369332"/>
          </a:xfrm>
          <a:prstGeom prst="rect">
            <a:avLst/>
          </a:prstGeom>
        </p:spPr>
        <p:txBody>
          <a:bodyPr wrap="none">
            <a:spAutoFit/>
          </a:bodyPr>
          <a:lstStyle/>
          <a:p>
            <a:pPr algn="r"/>
            <a:r>
              <a:rPr lang="nl-NL" b="1" dirty="0" smtClean="0"/>
              <a:t>P</a:t>
            </a:r>
            <a:endParaRPr lang="nl-NL" dirty="0"/>
          </a:p>
        </p:txBody>
      </p:sp>
      <p:sp>
        <p:nvSpPr>
          <p:cNvPr id="35" name="Rectangle 34"/>
          <p:cNvSpPr/>
          <p:nvPr/>
        </p:nvSpPr>
        <p:spPr>
          <a:xfrm>
            <a:off x="4067944" y="3059668"/>
            <a:ext cx="830677" cy="369332"/>
          </a:xfrm>
          <a:prstGeom prst="rect">
            <a:avLst/>
          </a:prstGeom>
        </p:spPr>
        <p:txBody>
          <a:bodyPr wrap="none">
            <a:spAutoFit/>
          </a:bodyPr>
          <a:lstStyle/>
          <a:p>
            <a:r>
              <a:rPr lang="nl-NL" b="1" dirty="0" smtClean="0"/>
              <a:t>Q V ¬R</a:t>
            </a:r>
            <a:endParaRPr lang="nl-NL" dirty="0"/>
          </a:p>
        </p:txBody>
      </p:sp>
      <p:sp>
        <p:nvSpPr>
          <p:cNvPr id="39" name="TextBox 38"/>
          <p:cNvSpPr txBox="1"/>
          <p:nvPr/>
        </p:nvSpPr>
        <p:spPr>
          <a:xfrm>
            <a:off x="2195736" y="2996952"/>
            <a:ext cx="216024" cy="584775"/>
          </a:xfrm>
          <a:prstGeom prst="rect">
            <a:avLst/>
          </a:prstGeom>
          <a:noFill/>
        </p:spPr>
        <p:txBody>
          <a:bodyPr wrap="square" rtlCol="0">
            <a:spAutoFit/>
          </a:bodyPr>
          <a:lstStyle/>
          <a:p>
            <a:r>
              <a:rPr lang="nl-NL" sz="3200" b="1" dirty="0" smtClean="0"/>
              <a:t>+</a:t>
            </a:r>
            <a:endParaRPr lang="nl-NL" b="1" dirty="0"/>
          </a:p>
        </p:txBody>
      </p:sp>
      <p:cxnSp>
        <p:nvCxnSpPr>
          <p:cNvPr id="46" name="Straight Connector 45"/>
          <p:cNvCxnSpPr/>
          <p:nvPr/>
        </p:nvCxnSpPr>
        <p:spPr>
          <a:xfrm flipH="1">
            <a:off x="3923928" y="3284984"/>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076056" y="3284984"/>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3779912"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Oval 48"/>
          <p:cNvSpPr/>
          <p:nvPr/>
        </p:nvSpPr>
        <p:spPr>
          <a:xfrm>
            <a:off x="6228184"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3" name="Rectangle 52"/>
          <p:cNvSpPr/>
          <p:nvPr/>
        </p:nvSpPr>
        <p:spPr>
          <a:xfrm>
            <a:off x="3455658" y="3645024"/>
            <a:ext cx="396262" cy="369332"/>
          </a:xfrm>
          <a:prstGeom prst="rect">
            <a:avLst/>
          </a:prstGeom>
        </p:spPr>
        <p:txBody>
          <a:bodyPr wrap="none">
            <a:spAutoFit/>
          </a:bodyPr>
          <a:lstStyle/>
          <a:p>
            <a:r>
              <a:rPr lang="nl-NL" b="1" dirty="0" smtClean="0"/>
              <a:t>Q </a:t>
            </a:r>
            <a:endParaRPr lang="nl-NL" dirty="0"/>
          </a:p>
        </p:txBody>
      </p:sp>
      <p:cxnSp>
        <p:nvCxnSpPr>
          <p:cNvPr id="54" name="Straight Connector 53"/>
          <p:cNvCxnSpPr/>
          <p:nvPr/>
        </p:nvCxnSpPr>
        <p:spPr>
          <a:xfrm>
            <a:off x="6300192" y="3933056"/>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622818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1" name="TextBox 60"/>
          <p:cNvSpPr txBox="1"/>
          <p:nvPr/>
        </p:nvSpPr>
        <p:spPr>
          <a:xfrm>
            <a:off x="7452320" y="4941168"/>
            <a:ext cx="216024" cy="584775"/>
          </a:xfrm>
          <a:prstGeom prst="rect">
            <a:avLst/>
          </a:prstGeom>
          <a:noFill/>
        </p:spPr>
        <p:txBody>
          <a:bodyPr wrap="square" rtlCol="0">
            <a:spAutoFit/>
          </a:bodyPr>
          <a:lstStyle/>
          <a:p>
            <a:r>
              <a:rPr lang="nl-NL" sz="3200" b="1" dirty="0" smtClean="0"/>
              <a:t>+</a:t>
            </a:r>
            <a:endParaRPr lang="nl-NL" b="1" dirty="0"/>
          </a:p>
        </p:txBody>
      </p:sp>
      <p:sp>
        <p:nvSpPr>
          <p:cNvPr id="38" name="Rectangle 37"/>
          <p:cNvSpPr/>
          <p:nvPr/>
        </p:nvSpPr>
        <p:spPr>
          <a:xfrm>
            <a:off x="5798258" y="3707740"/>
            <a:ext cx="429926" cy="369332"/>
          </a:xfrm>
          <a:prstGeom prst="rect">
            <a:avLst/>
          </a:prstGeom>
        </p:spPr>
        <p:txBody>
          <a:bodyPr wrap="none">
            <a:spAutoFit/>
          </a:bodyPr>
          <a:lstStyle/>
          <a:p>
            <a:r>
              <a:rPr lang="nl-NL" b="1" dirty="0" smtClean="0"/>
              <a:t>¬R</a:t>
            </a:r>
            <a:endParaRPr lang="nl-NL" dirty="0"/>
          </a:p>
        </p:txBody>
      </p:sp>
      <p:sp>
        <p:nvSpPr>
          <p:cNvPr id="50" name="Rectangle 49"/>
          <p:cNvSpPr/>
          <p:nvPr/>
        </p:nvSpPr>
        <p:spPr>
          <a:xfrm>
            <a:off x="6273714" y="4283804"/>
            <a:ext cx="314510" cy="369332"/>
          </a:xfrm>
          <a:prstGeom prst="rect">
            <a:avLst/>
          </a:prstGeom>
        </p:spPr>
        <p:txBody>
          <a:bodyPr wrap="none">
            <a:spAutoFit/>
          </a:bodyPr>
          <a:lstStyle/>
          <a:p>
            <a:r>
              <a:rPr lang="nl-NL" b="1" dirty="0" smtClean="0"/>
              <a:t>R</a:t>
            </a:r>
            <a:endParaRPr lang="nl-NL" dirty="0"/>
          </a:p>
        </p:txBody>
      </p:sp>
      <p:cxnSp>
        <p:nvCxnSpPr>
          <p:cNvPr id="51" name="Straight Connector 50"/>
          <p:cNvCxnSpPr/>
          <p:nvPr/>
        </p:nvCxnSpPr>
        <p:spPr>
          <a:xfrm flipH="1">
            <a:off x="5148064" y="4581128"/>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6300192"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5" name="Oval 64"/>
          <p:cNvSpPr/>
          <p:nvPr/>
        </p:nvSpPr>
        <p:spPr>
          <a:xfrm>
            <a:off x="745232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tangle 65"/>
          <p:cNvSpPr/>
          <p:nvPr/>
        </p:nvSpPr>
        <p:spPr>
          <a:xfrm>
            <a:off x="5148064" y="5003884"/>
            <a:ext cx="777777" cy="369332"/>
          </a:xfrm>
          <a:prstGeom prst="rect">
            <a:avLst/>
          </a:prstGeom>
        </p:spPr>
        <p:txBody>
          <a:bodyPr wrap="none">
            <a:spAutoFit/>
          </a:bodyPr>
          <a:lstStyle/>
          <a:p>
            <a:r>
              <a:rPr lang="nl-NL" b="1" dirty="0" smtClean="0"/>
              <a:t>¬R ∧ S</a:t>
            </a:r>
            <a:endParaRPr lang="nl-NL" dirty="0"/>
          </a:p>
        </p:txBody>
      </p:sp>
      <p:sp>
        <p:nvSpPr>
          <p:cNvPr id="67" name="Rectangle 66"/>
          <p:cNvSpPr/>
          <p:nvPr/>
        </p:nvSpPr>
        <p:spPr>
          <a:xfrm>
            <a:off x="7092280" y="5003884"/>
            <a:ext cx="328528" cy="369332"/>
          </a:xfrm>
          <a:prstGeom prst="rect">
            <a:avLst/>
          </a:prstGeom>
        </p:spPr>
        <p:txBody>
          <a:bodyPr wrap="square">
            <a:spAutoFit/>
          </a:bodyPr>
          <a:lstStyle/>
          <a:p>
            <a:r>
              <a:rPr lang="nl-NL" b="1" dirty="0" smtClean="0"/>
              <a:t>T</a:t>
            </a:r>
            <a:endParaRPr lang="nl-NL" dirty="0"/>
          </a:p>
        </p:txBody>
      </p:sp>
      <p:cxnSp>
        <p:nvCxnSpPr>
          <p:cNvPr id="68" name="Straight Connector 67"/>
          <p:cNvCxnSpPr/>
          <p:nvPr/>
        </p:nvCxnSpPr>
        <p:spPr>
          <a:xfrm flipH="1">
            <a:off x="2699792" y="393305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851920" y="393305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2555776"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Oval 70"/>
          <p:cNvSpPr/>
          <p:nvPr/>
        </p:nvSpPr>
        <p:spPr>
          <a:xfrm>
            <a:off x="5004048"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2" name="Rectangle 71"/>
          <p:cNvSpPr/>
          <p:nvPr/>
        </p:nvSpPr>
        <p:spPr>
          <a:xfrm>
            <a:off x="2699792" y="4355812"/>
            <a:ext cx="777777" cy="369332"/>
          </a:xfrm>
          <a:prstGeom prst="rect">
            <a:avLst/>
          </a:prstGeom>
        </p:spPr>
        <p:txBody>
          <a:bodyPr wrap="none">
            <a:spAutoFit/>
          </a:bodyPr>
          <a:lstStyle/>
          <a:p>
            <a:r>
              <a:rPr lang="nl-NL" b="1" dirty="0" smtClean="0"/>
              <a:t>¬R ∧ S</a:t>
            </a:r>
            <a:endParaRPr lang="nl-NL" dirty="0"/>
          </a:p>
        </p:txBody>
      </p:sp>
      <p:sp>
        <p:nvSpPr>
          <p:cNvPr id="73" name="Rectangle 72"/>
          <p:cNvSpPr/>
          <p:nvPr/>
        </p:nvSpPr>
        <p:spPr>
          <a:xfrm>
            <a:off x="4644008" y="4355812"/>
            <a:ext cx="328528" cy="369332"/>
          </a:xfrm>
          <a:prstGeom prst="rect">
            <a:avLst/>
          </a:prstGeom>
        </p:spPr>
        <p:txBody>
          <a:bodyPr wrap="square">
            <a:spAutoFit/>
          </a:bodyPr>
          <a:lstStyle/>
          <a:p>
            <a:r>
              <a:rPr lang="nl-NL" b="1" dirty="0" smtClean="0"/>
              <a:t>T</a:t>
            </a:r>
            <a:endParaRPr lang="nl-NL" dirty="0"/>
          </a:p>
        </p:txBody>
      </p:sp>
      <p:sp>
        <p:nvSpPr>
          <p:cNvPr id="86" name="TextBox 85"/>
          <p:cNvSpPr txBox="1"/>
          <p:nvPr/>
        </p:nvSpPr>
        <p:spPr>
          <a:xfrm>
            <a:off x="5004048" y="4212377"/>
            <a:ext cx="216024" cy="584775"/>
          </a:xfrm>
          <a:prstGeom prst="rect">
            <a:avLst/>
          </a:prstGeom>
          <a:noFill/>
        </p:spPr>
        <p:txBody>
          <a:bodyPr wrap="square" rtlCol="0">
            <a:spAutoFit/>
          </a:bodyPr>
          <a:lstStyle/>
          <a:p>
            <a:r>
              <a:rPr lang="nl-NL" sz="3200" b="1" dirty="0" smtClean="0"/>
              <a:t>+</a:t>
            </a:r>
            <a:endParaRPr lang="nl-NL" b="1" dirty="0"/>
          </a:p>
        </p:txBody>
      </p:sp>
      <p:cxnSp>
        <p:nvCxnSpPr>
          <p:cNvPr id="87" name="Straight Connector 86"/>
          <p:cNvCxnSpPr/>
          <p:nvPr/>
        </p:nvCxnSpPr>
        <p:spPr>
          <a:xfrm flipH="1">
            <a:off x="1475656"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2627784"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9" name="Oval 88"/>
          <p:cNvSpPr/>
          <p:nvPr/>
        </p:nvSpPr>
        <p:spPr>
          <a:xfrm>
            <a:off x="133164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0" name="Oval 89"/>
          <p:cNvSpPr/>
          <p:nvPr/>
        </p:nvSpPr>
        <p:spPr>
          <a:xfrm>
            <a:off x="3779912"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1" name="Rectangle 90"/>
          <p:cNvSpPr/>
          <p:nvPr/>
        </p:nvSpPr>
        <p:spPr>
          <a:xfrm>
            <a:off x="1475656" y="5003884"/>
            <a:ext cx="429926" cy="369332"/>
          </a:xfrm>
          <a:prstGeom prst="rect">
            <a:avLst/>
          </a:prstGeom>
        </p:spPr>
        <p:txBody>
          <a:bodyPr wrap="none">
            <a:spAutoFit/>
          </a:bodyPr>
          <a:lstStyle/>
          <a:p>
            <a:r>
              <a:rPr lang="nl-NL" b="1" dirty="0" smtClean="0"/>
              <a:t>¬R</a:t>
            </a:r>
            <a:endParaRPr lang="nl-NL" dirty="0"/>
          </a:p>
        </p:txBody>
      </p:sp>
      <p:sp>
        <p:nvSpPr>
          <p:cNvPr id="92" name="Rectangle 91"/>
          <p:cNvSpPr/>
          <p:nvPr/>
        </p:nvSpPr>
        <p:spPr>
          <a:xfrm>
            <a:off x="3846282" y="5013176"/>
            <a:ext cx="293670" cy="369332"/>
          </a:xfrm>
          <a:prstGeom prst="rect">
            <a:avLst/>
          </a:prstGeom>
        </p:spPr>
        <p:txBody>
          <a:bodyPr wrap="none">
            <a:spAutoFit/>
          </a:bodyPr>
          <a:lstStyle/>
          <a:p>
            <a:r>
              <a:rPr lang="nl-NL" b="1" dirty="0" smtClean="0"/>
              <a:t>S</a:t>
            </a:r>
            <a:endParaRPr lang="nl-NL" dirty="0"/>
          </a:p>
        </p:txBody>
      </p:sp>
      <p:cxnSp>
        <p:nvCxnSpPr>
          <p:cNvPr id="93" name="Straight Connector 92"/>
          <p:cNvCxnSpPr/>
          <p:nvPr/>
        </p:nvCxnSpPr>
        <p:spPr>
          <a:xfrm>
            <a:off x="1403648" y="5229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4" name="Oval 93"/>
          <p:cNvSpPr/>
          <p:nvPr/>
        </p:nvSpPr>
        <p:spPr>
          <a:xfrm>
            <a:off x="1331640"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5" name="Rectangle 94"/>
          <p:cNvSpPr/>
          <p:nvPr/>
        </p:nvSpPr>
        <p:spPr>
          <a:xfrm>
            <a:off x="1043608" y="5579948"/>
            <a:ext cx="314510" cy="369332"/>
          </a:xfrm>
          <a:prstGeom prst="rect">
            <a:avLst/>
          </a:prstGeom>
        </p:spPr>
        <p:txBody>
          <a:bodyPr wrap="none">
            <a:spAutoFit/>
          </a:bodyPr>
          <a:lstStyle/>
          <a:p>
            <a:r>
              <a:rPr lang="nl-NL" b="1" dirty="0" smtClean="0"/>
              <a:t>R</a:t>
            </a:r>
            <a:endParaRPr lang="nl-NL" dirty="0"/>
          </a:p>
        </p:txBody>
      </p:sp>
      <p:sp>
        <p:nvSpPr>
          <p:cNvPr id="96" name="Oval 95"/>
          <p:cNvSpPr/>
          <p:nvPr/>
        </p:nvSpPr>
        <p:spPr>
          <a:xfrm>
            <a:off x="5004048"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7" name="Straight Connector 96"/>
          <p:cNvCxnSpPr/>
          <p:nvPr/>
        </p:nvCxnSpPr>
        <p:spPr>
          <a:xfrm flipH="1">
            <a:off x="3923928" y="522920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5076056" y="5229200"/>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99" name="Oval 98"/>
          <p:cNvSpPr/>
          <p:nvPr/>
        </p:nvSpPr>
        <p:spPr>
          <a:xfrm>
            <a:off x="3779912"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0" name="Oval 99"/>
          <p:cNvSpPr/>
          <p:nvPr/>
        </p:nvSpPr>
        <p:spPr>
          <a:xfrm>
            <a:off x="6228184"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1" name="Rectangle 100"/>
          <p:cNvSpPr/>
          <p:nvPr/>
        </p:nvSpPr>
        <p:spPr>
          <a:xfrm>
            <a:off x="3854042" y="5651956"/>
            <a:ext cx="429926" cy="369332"/>
          </a:xfrm>
          <a:prstGeom prst="rect">
            <a:avLst/>
          </a:prstGeom>
        </p:spPr>
        <p:txBody>
          <a:bodyPr wrap="none">
            <a:spAutoFit/>
          </a:bodyPr>
          <a:lstStyle/>
          <a:p>
            <a:r>
              <a:rPr lang="nl-NL" b="1" dirty="0" smtClean="0"/>
              <a:t>¬R</a:t>
            </a:r>
            <a:endParaRPr lang="nl-NL" dirty="0"/>
          </a:p>
        </p:txBody>
      </p:sp>
      <p:sp>
        <p:nvSpPr>
          <p:cNvPr id="102" name="Rectangle 101"/>
          <p:cNvSpPr/>
          <p:nvPr/>
        </p:nvSpPr>
        <p:spPr>
          <a:xfrm>
            <a:off x="6302314" y="5651956"/>
            <a:ext cx="293670" cy="369332"/>
          </a:xfrm>
          <a:prstGeom prst="rect">
            <a:avLst/>
          </a:prstGeom>
        </p:spPr>
        <p:txBody>
          <a:bodyPr wrap="none">
            <a:spAutoFit/>
          </a:bodyPr>
          <a:lstStyle/>
          <a:p>
            <a:r>
              <a:rPr lang="nl-NL" b="1" dirty="0" smtClean="0"/>
              <a:t>S</a:t>
            </a:r>
            <a:endParaRPr lang="nl-NL" dirty="0"/>
          </a:p>
        </p:txBody>
      </p:sp>
      <p:sp>
        <p:nvSpPr>
          <p:cNvPr id="103" name="TextBox 102"/>
          <p:cNvSpPr txBox="1"/>
          <p:nvPr/>
        </p:nvSpPr>
        <p:spPr>
          <a:xfrm>
            <a:off x="3491880" y="5580529"/>
            <a:ext cx="216024" cy="584775"/>
          </a:xfrm>
          <a:prstGeom prst="rect">
            <a:avLst/>
          </a:prstGeom>
          <a:noFill/>
        </p:spPr>
        <p:txBody>
          <a:bodyPr wrap="square" rtlCol="0">
            <a:spAutoFit/>
          </a:bodyPr>
          <a:lstStyle/>
          <a:p>
            <a:r>
              <a:rPr lang="nl-NL" sz="3200" b="1" dirty="0" smtClean="0"/>
              <a:t>+</a:t>
            </a:r>
            <a:endParaRPr lang="nl-NL" b="1" dirty="0"/>
          </a:p>
        </p:txBody>
      </p:sp>
      <p:sp>
        <p:nvSpPr>
          <p:cNvPr id="57" name="TextBox 56"/>
          <p:cNvSpPr txBox="1"/>
          <p:nvPr/>
        </p:nvSpPr>
        <p:spPr>
          <a:xfrm>
            <a:off x="5472608" y="1556792"/>
            <a:ext cx="3635896" cy="1477328"/>
          </a:xfrm>
          <a:prstGeom prst="rect">
            <a:avLst/>
          </a:prstGeom>
          <a:noFill/>
        </p:spPr>
        <p:txBody>
          <a:bodyPr wrap="square" rtlCol="0">
            <a:spAutoFit/>
          </a:bodyPr>
          <a:lstStyle/>
          <a:p>
            <a:r>
              <a:rPr lang="nl-NL" dirty="0" smtClean="0"/>
              <a:t>Deze tak levert nog weer een ander tegenvoorbeeld op: P waar, T onwaar, R onwaar en S onwaar. Waarheidswaarde Q doet er dan  niet meer toe.</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
                                            <p:txEl>
                                              <p:pRg st="0" end="0"/>
                                            </p:txEl>
                                          </p:spTgt>
                                        </p:tgtEl>
                                        <p:attrNameLst>
                                          <p:attrName>style.visibility</p:attrName>
                                        </p:attrNameLst>
                                      </p:cBhvr>
                                      <p:to>
                                        <p:strVal val="visible"/>
                                      </p:to>
                                    </p:set>
                                    <p:animEffect transition="in" filter="fade">
                                      <p:cBhvr>
                                        <p:cTn id="7" dur="2000"/>
                                        <p:tgtEl>
                                          <p:spTgt spid="5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uild="allAtOnce"/>
    </p:bld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Boommethode voor vaststellen tautologieën</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Een formule </a:t>
            </a:r>
            <a:r>
              <a:rPr lang="nl-NL" sz="2000" b="1" dirty="0" smtClean="0"/>
              <a:t>P</a:t>
            </a:r>
            <a:r>
              <a:rPr lang="nl-NL" sz="2000" dirty="0" smtClean="0"/>
              <a:t> is een </a:t>
            </a:r>
            <a:r>
              <a:rPr lang="nl-NL" sz="2000" i="1" dirty="0" smtClean="0"/>
              <a:t>tautologie</a:t>
            </a:r>
            <a:r>
              <a:rPr lang="nl-NL" sz="2000" dirty="0" smtClean="0"/>
              <a:t> indien ze altijd waar is, dus als er geen enkele </a:t>
            </a:r>
            <a:r>
              <a:rPr lang="nl-NL" sz="2000" dirty="0" err="1" smtClean="0"/>
              <a:t>waarheidswaardetoekenning</a:t>
            </a:r>
            <a:r>
              <a:rPr lang="nl-NL" sz="2000" dirty="0" smtClean="0"/>
              <a:t> voor haar atomaire proposities bestaat die de formule onwaar maakt. </a:t>
            </a:r>
          </a:p>
          <a:p>
            <a:endParaRPr lang="nl-NL" sz="2000" dirty="0" smtClean="0"/>
          </a:p>
        </p:txBody>
      </p:sp>
      <p:sp>
        <p:nvSpPr>
          <p:cNvPr id="6" name="Content Placeholder 2"/>
          <p:cNvSpPr txBox="1">
            <a:spLocks/>
          </p:cNvSpPr>
          <p:nvPr/>
        </p:nvSpPr>
        <p:spPr>
          <a:xfrm>
            <a:off x="395536" y="2708920"/>
            <a:ext cx="8363272" cy="648072"/>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dirty="0" smtClean="0"/>
              <a:t>Hoe kunnen we de semantische boommethode toepassen om na te gaan of een formule </a:t>
            </a:r>
            <a:r>
              <a:rPr lang="nl-NL" sz="2000" b="1" dirty="0" smtClean="0"/>
              <a:t>P </a:t>
            </a:r>
            <a:r>
              <a:rPr lang="nl-NL" sz="2000" dirty="0" smtClean="0"/>
              <a:t>wel of geen tautologie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Oval 8"/>
          <p:cNvSpPr/>
          <p:nvPr/>
        </p:nvSpPr>
        <p:spPr>
          <a:xfrm>
            <a:off x="3707904" y="45184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3839095" y="4365104"/>
            <a:ext cx="320922" cy="400110"/>
          </a:xfrm>
          <a:prstGeom prst="rect">
            <a:avLst/>
          </a:prstGeom>
        </p:spPr>
        <p:txBody>
          <a:bodyPr wrap="none">
            <a:spAutoFit/>
          </a:bodyPr>
          <a:lstStyle/>
          <a:p>
            <a:pPr algn="r"/>
            <a:r>
              <a:rPr lang="nl-NL" sz="2000" b="1" dirty="0" smtClean="0"/>
              <a:t>P</a:t>
            </a:r>
            <a:endParaRPr lang="nl-NL" dirty="0"/>
          </a:p>
        </p:txBody>
      </p:sp>
      <p:sp>
        <p:nvSpPr>
          <p:cNvPr id="18" name="Content Placeholder 2"/>
          <p:cNvSpPr txBox="1">
            <a:spLocks/>
          </p:cNvSpPr>
          <p:nvPr/>
        </p:nvSpPr>
        <p:spPr>
          <a:xfrm>
            <a:off x="385192" y="3472408"/>
            <a:ext cx="8363272" cy="1108720"/>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noProof="0" dirty="0" smtClean="0"/>
              <a:t>Als P een tautologie is, dan moet </a:t>
            </a:r>
            <a:r>
              <a:rPr lang="nl-NL" sz="2000" b="1" noProof="0" dirty="0" smtClean="0"/>
              <a:t>|= P</a:t>
            </a:r>
            <a:r>
              <a:rPr lang="nl-NL" sz="2000" noProof="0" dirty="0" smtClean="0"/>
              <a:t> het geval zijn. Kortom, is </a:t>
            </a:r>
            <a:r>
              <a:rPr lang="nl-NL" sz="2000" b="1" noProof="0" dirty="0" smtClean="0"/>
              <a:t>|</a:t>
            </a:r>
            <a:r>
              <a:rPr lang="nl-NL" sz="2000" b="1" dirty="0" smtClean="0"/>
              <a:t>= P </a:t>
            </a:r>
            <a:r>
              <a:rPr lang="nl-NL" sz="2000" dirty="0" smtClean="0"/>
              <a:t>?</a:t>
            </a:r>
            <a:r>
              <a:rPr lang="nl-NL" sz="2000" b="1" dirty="0" smtClean="0"/>
              <a:t>  </a:t>
            </a: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0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9" grpId="0" animBg="1"/>
      <p:bldP spid="11" grpId="0"/>
      <p:bldP spid="18" grpId="0" build="allAtOnce"/>
    </p:bld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Is </a:t>
            </a:r>
            <a:r>
              <a:rPr lang="nl-NL" sz="3200" b="1" dirty="0" smtClean="0">
                <a:solidFill>
                  <a:srgbClr val="0070C0"/>
                </a:solidFill>
              </a:rPr>
              <a:t>(P</a:t>
            </a:r>
            <a:r>
              <a:rPr lang="nl-NL" sz="3200" dirty="0" smtClean="0">
                <a:solidFill>
                  <a:srgbClr val="0070C0"/>
                </a:solidFill>
              </a:rPr>
              <a:t> </a:t>
            </a:r>
            <a:r>
              <a:rPr lang="nl-NL" sz="3200" b="1" dirty="0" smtClean="0">
                <a:solidFill>
                  <a:srgbClr val="0070C0"/>
                </a:solidFill>
              </a:rPr>
              <a:t>∧ Q) V (¬P V ¬Q)</a:t>
            </a:r>
            <a:r>
              <a:rPr lang="nl-NL" sz="3200" b="1" dirty="0" smtClean="0"/>
              <a:t> </a:t>
            </a:r>
            <a:r>
              <a:rPr lang="nl-NL" sz="3600" dirty="0" smtClean="0"/>
              <a:t>een tautologie?</a:t>
            </a:r>
            <a:endParaRPr lang="nl-NL" sz="3600" dirty="0"/>
          </a:p>
        </p:txBody>
      </p:sp>
      <p:sp>
        <p:nvSpPr>
          <p:cNvPr id="9" name="Oval 8"/>
          <p:cNvSpPr/>
          <p:nvPr/>
        </p:nvSpPr>
        <p:spPr>
          <a:xfrm>
            <a:off x="370790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Rectangle 10"/>
          <p:cNvSpPr/>
          <p:nvPr/>
        </p:nvSpPr>
        <p:spPr>
          <a:xfrm>
            <a:off x="1115616" y="1340768"/>
            <a:ext cx="2448272" cy="369332"/>
          </a:xfrm>
          <a:prstGeom prst="rect">
            <a:avLst/>
          </a:prstGeom>
        </p:spPr>
        <p:txBody>
          <a:bodyPr wrap="square">
            <a:spAutoFit/>
          </a:bodyPr>
          <a:lstStyle/>
          <a:p>
            <a:pPr algn="r"/>
            <a:r>
              <a:rPr lang="nl-NL" b="1" dirty="0" smtClean="0"/>
              <a:t> </a:t>
            </a:r>
            <a:endParaRPr lang="nl-NL" dirty="0"/>
          </a:p>
        </p:txBody>
      </p:sp>
      <p:sp>
        <p:nvSpPr>
          <p:cNvPr id="20" name="Rectangle 19"/>
          <p:cNvSpPr/>
          <p:nvPr/>
        </p:nvSpPr>
        <p:spPr>
          <a:xfrm>
            <a:off x="3727012" y="1691516"/>
            <a:ext cx="2050946" cy="369332"/>
          </a:xfrm>
          <a:prstGeom prst="rect">
            <a:avLst/>
          </a:prstGeom>
        </p:spPr>
        <p:txBody>
          <a:bodyPr wrap="none">
            <a:spAutoFit/>
          </a:bodyPr>
          <a:lstStyle/>
          <a:p>
            <a:pPr algn="r"/>
            <a:r>
              <a:rPr lang="nl-NL" b="1" dirty="0" smtClean="0"/>
              <a:t>(P</a:t>
            </a:r>
            <a:r>
              <a:rPr lang="nl-NL" dirty="0" smtClean="0"/>
              <a:t> </a:t>
            </a:r>
            <a:r>
              <a:rPr lang="nl-NL" b="1" dirty="0" smtClean="0"/>
              <a:t>∧ Q) V (¬P V ¬Q)</a:t>
            </a:r>
            <a:endParaRPr lang="nl-NL" dirty="0"/>
          </a:p>
        </p:txBody>
      </p:sp>
      <p:sp>
        <p:nvSpPr>
          <p:cNvPr id="24" name="Oval 23"/>
          <p:cNvSpPr/>
          <p:nvPr/>
        </p:nvSpPr>
        <p:spPr>
          <a:xfrm>
            <a:off x="3707904"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374400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2627784" y="465313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3779912" y="465313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483768"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Oval 62"/>
          <p:cNvSpPr/>
          <p:nvPr/>
        </p:nvSpPr>
        <p:spPr>
          <a:xfrm>
            <a:off x="5004048"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4" name="Rectangle 63"/>
          <p:cNvSpPr/>
          <p:nvPr/>
        </p:nvSpPr>
        <p:spPr>
          <a:xfrm>
            <a:off x="3810331" y="2348880"/>
            <a:ext cx="1625765" cy="369332"/>
          </a:xfrm>
          <a:prstGeom prst="rect">
            <a:avLst/>
          </a:prstGeom>
        </p:spPr>
        <p:txBody>
          <a:bodyPr wrap="none">
            <a:spAutoFit/>
          </a:bodyPr>
          <a:lstStyle/>
          <a:p>
            <a:pPr algn="r"/>
            <a:r>
              <a:rPr lang="nl-NL" b="1" dirty="0" smtClean="0"/>
              <a:t>P</a:t>
            </a:r>
            <a:r>
              <a:rPr lang="nl-NL" dirty="0" smtClean="0"/>
              <a:t> </a:t>
            </a:r>
            <a:r>
              <a:rPr lang="nl-NL" b="1" dirty="0" smtClean="0"/>
              <a:t>∧ Q , ¬P V ¬Q</a:t>
            </a:r>
            <a:endParaRPr lang="nl-NL" dirty="0"/>
          </a:p>
        </p:txBody>
      </p:sp>
      <p:cxnSp>
        <p:nvCxnSpPr>
          <p:cNvPr id="65" name="Straight Connector 64"/>
          <p:cNvCxnSpPr/>
          <p:nvPr/>
        </p:nvCxnSpPr>
        <p:spPr>
          <a:xfrm>
            <a:off x="374400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6" name="Oval 65"/>
          <p:cNvSpPr/>
          <p:nvPr/>
        </p:nvSpPr>
        <p:spPr>
          <a:xfrm>
            <a:off x="370790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7" name="Rectangle 66"/>
          <p:cNvSpPr/>
          <p:nvPr/>
        </p:nvSpPr>
        <p:spPr>
          <a:xfrm>
            <a:off x="3779912" y="3068960"/>
            <a:ext cx="862737" cy="369332"/>
          </a:xfrm>
          <a:prstGeom prst="rect">
            <a:avLst/>
          </a:prstGeom>
        </p:spPr>
        <p:txBody>
          <a:bodyPr wrap="none">
            <a:spAutoFit/>
          </a:bodyPr>
          <a:lstStyle/>
          <a:p>
            <a:r>
              <a:rPr lang="nl-NL" b="1" dirty="0" smtClean="0"/>
              <a:t>¬P , ¬Q</a:t>
            </a:r>
            <a:endParaRPr lang="nl-NL" dirty="0"/>
          </a:p>
        </p:txBody>
      </p:sp>
      <p:cxnSp>
        <p:nvCxnSpPr>
          <p:cNvPr id="68" name="Straight Connector 67"/>
          <p:cNvCxnSpPr/>
          <p:nvPr/>
        </p:nvCxnSpPr>
        <p:spPr>
          <a:xfrm>
            <a:off x="3744000" y="335699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3744000" y="400506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0" name="Oval 69"/>
          <p:cNvSpPr/>
          <p:nvPr/>
        </p:nvSpPr>
        <p:spPr>
          <a:xfrm>
            <a:off x="3707904" y="38610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Rectangle 70"/>
          <p:cNvSpPr/>
          <p:nvPr/>
        </p:nvSpPr>
        <p:spPr>
          <a:xfrm>
            <a:off x="3418916" y="3717032"/>
            <a:ext cx="360996" cy="369332"/>
          </a:xfrm>
          <a:prstGeom prst="rect">
            <a:avLst/>
          </a:prstGeom>
        </p:spPr>
        <p:txBody>
          <a:bodyPr wrap="none">
            <a:spAutoFit/>
          </a:bodyPr>
          <a:lstStyle/>
          <a:p>
            <a:r>
              <a:rPr lang="nl-NL" b="1" dirty="0" smtClean="0"/>
              <a:t>P </a:t>
            </a:r>
            <a:endParaRPr lang="nl-NL" dirty="0"/>
          </a:p>
        </p:txBody>
      </p:sp>
      <p:sp>
        <p:nvSpPr>
          <p:cNvPr id="73" name="Rectangle 72"/>
          <p:cNvSpPr/>
          <p:nvPr/>
        </p:nvSpPr>
        <p:spPr>
          <a:xfrm>
            <a:off x="3419872" y="4355812"/>
            <a:ext cx="396262" cy="369332"/>
          </a:xfrm>
          <a:prstGeom prst="rect">
            <a:avLst/>
          </a:prstGeom>
        </p:spPr>
        <p:txBody>
          <a:bodyPr wrap="none">
            <a:spAutoFit/>
          </a:bodyPr>
          <a:lstStyle/>
          <a:p>
            <a:r>
              <a:rPr lang="nl-NL" b="1" dirty="0" smtClean="0"/>
              <a:t>Q </a:t>
            </a:r>
            <a:endParaRPr lang="nl-NL" dirty="0"/>
          </a:p>
        </p:txBody>
      </p:sp>
      <p:sp>
        <p:nvSpPr>
          <p:cNvPr id="74" name="Oval 73"/>
          <p:cNvSpPr/>
          <p:nvPr/>
        </p:nvSpPr>
        <p:spPr>
          <a:xfrm>
            <a:off x="3707904" y="45091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6" name="Rectangle 75"/>
          <p:cNvSpPr/>
          <p:nvPr/>
        </p:nvSpPr>
        <p:spPr>
          <a:xfrm>
            <a:off x="2627784" y="5075892"/>
            <a:ext cx="360996" cy="369332"/>
          </a:xfrm>
          <a:prstGeom prst="rect">
            <a:avLst/>
          </a:prstGeom>
        </p:spPr>
        <p:txBody>
          <a:bodyPr wrap="none">
            <a:spAutoFit/>
          </a:bodyPr>
          <a:lstStyle/>
          <a:p>
            <a:r>
              <a:rPr lang="nl-NL" b="1" dirty="0" smtClean="0"/>
              <a:t>P </a:t>
            </a:r>
            <a:endParaRPr lang="nl-NL" dirty="0"/>
          </a:p>
        </p:txBody>
      </p:sp>
      <p:sp>
        <p:nvSpPr>
          <p:cNvPr id="77" name="Rectangle 76"/>
          <p:cNvSpPr/>
          <p:nvPr/>
        </p:nvSpPr>
        <p:spPr>
          <a:xfrm>
            <a:off x="5075100" y="5085184"/>
            <a:ext cx="396262" cy="369332"/>
          </a:xfrm>
          <a:prstGeom prst="rect">
            <a:avLst/>
          </a:prstGeom>
        </p:spPr>
        <p:txBody>
          <a:bodyPr wrap="none">
            <a:spAutoFit/>
          </a:bodyPr>
          <a:lstStyle/>
          <a:p>
            <a:r>
              <a:rPr lang="nl-NL" b="1" dirty="0" smtClean="0"/>
              <a:t>Q </a:t>
            </a:r>
            <a:endParaRPr lang="nl-NL" dirty="0"/>
          </a:p>
        </p:txBody>
      </p:sp>
      <p:sp>
        <p:nvSpPr>
          <p:cNvPr id="78" name="TextBox 77"/>
          <p:cNvSpPr txBox="1"/>
          <p:nvPr/>
        </p:nvSpPr>
        <p:spPr>
          <a:xfrm>
            <a:off x="2195736" y="5013176"/>
            <a:ext cx="216024" cy="584775"/>
          </a:xfrm>
          <a:prstGeom prst="rect">
            <a:avLst/>
          </a:prstGeom>
          <a:noFill/>
        </p:spPr>
        <p:txBody>
          <a:bodyPr wrap="square" rtlCol="0">
            <a:spAutoFit/>
          </a:bodyPr>
          <a:lstStyle/>
          <a:p>
            <a:r>
              <a:rPr lang="nl-NL" sz="3200" b="1" dirty="0" smtClean="0"/>
              <a:t>+</a:t>
            </a:r>
            <a:endParaRPr lang="nl-NL" b="1" dirty="0"/>
          </a:p>
        </p:txBody>
      </p:sp>
      <p:sp>
        <p:nvSpPr>
          <p:cNvPr id="79" name="TextBox 78"/>
          <p:cNvSpPr txBox="1"/>
          <p:nvPr/>
        </p:nvSpPr>
        <p:spPr>
          <a:xfrm>
            <a:off x="4788024" y="5076473"/>
            <a:ext cx="216024" cy="584775"/>
          </a:xfrm>
          <a:prstGeom prst="rect">
            <a:avLst/>
          </a:prstGeom>
          <a:noFill/>
        </p:spPr>
        <p:txBody>
          <a:bodyPr wrap="square" rtlCol="0">
            <a:spAutoFit/>
          </a:bodyPr>
          <a:lstStyle/>
          <a:p>
            <a:r>
              <a:rPr lang="nl-NL" sz="3200" b="1" dirty="0" smtClean="0"/>
              <a:t>+</a:t>
            </a:r>
            <a:endParaRPr lang="nl-NL" b="1" dirty="0"/>
          </a:p>
        </p:txBody>
      </p:sp>
      <p:sp>
        <p:nvSpPr>
          <p:cNvPr id="80" name="TextBox 79"/>
          <p:cNvSpPr txBox="1"/>
          <p:nvPr/>
        </p:nvSpPr>
        <p:spPr>
          <a:xfrm>
            <a:off x="5508104" y="3284984"/>
            <a:ext cx="3635896" cy="1477328"/>
          </a:xfrm>
          <a:prstGeom prst="rect">
            <a:avLst/>
          </a:prstGeom>
          <a:noFill/>
        </p:spPr>
        <p:txBody>
          <a:bodyPr wrap="square" rtlCol="0">
            <a:spAutoFit/>
          </a:bodyPr>
          <a:lstStyle/>
          <a:p>
            <a:r>
              <a:rPr lang="nl-NL" dirty="0" smtClean="0"/>
              <a:t>Boom is gesloten en dus is inderdaad </a:t>
            </a:r>
            <a:r>
              <a:rPr lang="nl-NL" b="1" dirty="0" smtClean="0"/>
              <a:t>|= (P ∧ Q) V (¬P V ¬Q) </a:t>
            </a:r>
            <a:r>
              <a:rPr lang="nl-NL" dirty="0" smtClean="0"/>
              <a:t>het geval. De formule </a:t>
            </a:r>
            <a:r>
              <a:rPr lang="nl-NL" b="1" dirty="0" smtClean="0"/>
              <a:t>(P ∧ Q) V (¬P V ¬Q) </a:t>
            </a:r>
            <a:r>
              <a:rPr lang="nl-NL" dirty="0" smtClean="0"/>
              <a:t>is dus een tautologie.</a:t>
            </a:r>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20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0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200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20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2000"/>
                                        <p:tgtEl>
                                          <p:spTgt spid="38"/>
                                        </p:tgtEl>
                                      </p:cBhvr>
                                    </p:animEffect>
                                  </p:childTnLst>
                                </p:cTn>
                              </p:par>
                              <p:par>
                                <p:cTn id="23" presetID="10" presetClass="entr" presetSubtype="0" fill="hold"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2000"/>
                                        <p:tgtEl>
                                          <p:spTgt spid="5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2000"/>
                                        <p:tgtEl>
                                          <p:spTgt spid="5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3"/>
                                        </p:tgtEl>
                                        <p:attrNameLst>
                                          <p:attrName>style.visibility</p:attrName>
                                        </p:attrNameLst>
                                      </p:cBhvr>
                                      <p:to>
                                        <p:strVal val="visible"/>
                                      </p:to>
                                    </p:set>
                                    <p:animEffect transition="in" filter="fade">
                                      <p:cBhvr>
                                        <p:cTn id="31" dur="2000"/>
                                        <p:tgtEl>
                                          <p:spTgt spid="6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4"/>
                                        </p:tgtEl>
                                        <p:attrNameLst>
                                          <p:attrName>style.visibility</p:attrName>
                                        </p:attrNameLst>
                                      </p:cBhvr>
                                      <p:to>
                                        <p:strVal val="visible"/>
                                      </p:to>
                                    </p:set>
                                    <p:animEffect transition="in" filter="fade">
                                      <p:cBhvr>
                                        <p:cTn id="34" dur="2000"/>
                                        <p:tgtEl>
                                          <p:spTgt spid="64"/>
                                        </p:tgtEl>
                                      </p:cBhvr>
                                    </p:animEffect>
                                  </p:childTnLst>
                                </p:cTn>
                              </p:par>
                              <p:par>
                                <p:cTn id="35" presetID="10" presetClass="entr" presetSubtype="0" fill="hold" nodeType="withEffect">
                                  <p:stCondLst>
                                    <p:cond delay="0"/>
                                  </p:stCondLst>
                                  <p:childTnLst>
                                    <p:set>
                                      <p:cBhvr>
                                        <p:cTn id="36" dur="1" fill="hold">
                                          <p:stCondLst>
                                            <p:cond delay="0"/>
                                          </p:stCondLst>
                                        </p:cTn>
                                        <p:tgtEl>
                                          <p:spTgt spid="65"/>
                                        </p:tgtEl>
                                        <p:attrNameLst>
                                          <p:attrName>style.visibility</p:attrName>
                                        </p:attrNameLst>
                                      </p:cBhvr>
                                      <p:to>
                                        <p:strVal val="visible"/>
                                      </p:to>
                                    </p:set>
                                    <p:animEffect transition="in" filter="fade">
                                      <p:cBhvr>
                                        <p:cTn id="37" dur="2000"/>
                                        <p:tgtEl>
                                          <p:spTgt spid="6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2000"/>
                                        <p:tgtEl>
                                          <p:spTgt spid="6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7"/>
                                        </p:tgtEl>
                                        <p:attrNameLst>
                                          <p:attrName>style.visibility</p:attrName>
                                        </p:attrNameLst>
                                      </p:cBhvr>
                                      <p:to>
                                        <p:strVal val="visible"/>
                                      </p:to>
                                    </p:set>
                                    <p:animEffect transition="in" filter="fade">
                                      <p:cBhvr>
                                        <p:cTn id="43" dur="2000"/>
                                        <p:tgtEl>
                                          <p:spTgt spid="67"/>
                                        </p:tgtEl>
                                      </p:cBhvr>
                                    </p:animEffect>
                                  </p:childTnLst>
                                </p:cTn>
                              </p:par>
                              <p:par>
                                <p:cTn id="44" presetID="10" presetClass="entr" presetSubtype="0" fill="hold" nodeType="withEffect">
                                  <p:stCondLst>
                                    <p:cond delay="0"/>
                                  </p:stCondLst>
                                  <p:childTnLst>
                                    <p:set>
                                      <p:cBhvr>
                                        <p:cTn id="45" dur="1" fill="hold">
                                          <p:stCondLst>
                                            <p:cond delay="0"/>
                                          </p:stCondLst>
                                        </p:cTn>
                                        <p:tgtEl>
                                          <p:spTgt spid="68"/>
                                        </p:tgtEl>
                                        <p:attrNameLst>
                                          <p:attrName>style.visibility</p:attrName>
                                        </p:attrNameLst>
                                      </p:cBhvr>
                                      <p:to>
                                        <p:strVal val="visible"/>
                                      </p:to>
                                    </p:set>
                                    <p:animEffect transition="in" filter="fade">
                                      <p:cBhvr>
                                        <p:cTn id="46" dur="2000"/>
                                        <p:tgtEl>
                                          <p:spTgt spid="68"/>
                                        </p:tgtEl>
                                      </p:cBhvr>
                                    </p:animEffect>
                                  </p:childTnLst>
                                </p:cTn>
                              </p:par>
                              <p:par>
                                <p:cTn id="47" presetID="10" presetClass="entr" presetSubtype="0" fill="hold" nodeType="withEffect">
                                  <p:stCondLst>
                                    <p:cond delay="0"/>
                                  </p:stCondLst>
                                  <p:childTnLst>
                                    <p:set>
                                      <p:cBhvr>
                                        <p:cTn id="48" dur="1" fill="hold">
                                          <p:stCondLst>
                                            <p:cond delay="0"/>
                                          </p:stCondLst>
                                        </p:cTn>
                                        <p:tgtEl>
                                          <p:spTgt spid="69"/>
                                        </p:tgtEl>
                                        <p:attrNameLst>
                                          <p:attrName>style.visibility</p:attrName>
                                        </p:attrNameLst>
                                      </p:cBhvr>
                                      <p:to>
                                        <p:strVal val="visible"/>
                                      </p:to>
                                    </p:set>
                                    <p:animEffect transition="in" filter="fade">
                                      <p:cBhvr>
                                        <p:cTn id="49" dur="2000"/>
                                        <p:tgtEl>
                                          <p:spTgt spid="6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70"/>
                                        </p:tgtEl>
                                        <p:attrNameLst>
                                          <p:attrName>style.visibility</p:attrName>
                                        </p:attrNameLst>
                                      </p:cBhvr>
                                      <p:to>
                                        <p:strVal val="visible"/>
                                      </p:to>
                                    </p:set>
                                    <p:animEffect transition="in" filter="fade">
                                      <p:cBhvr>
                                        <p:cTn id="52" dur="2000"/>
                                        <p:tgtEl>
                                          <p:spTgt spid="7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71"/>
                                        </p:tgtEl>
                                        <p:attrNameLst>
                                          <p:attrName>style.visibility</p:attrName>
                                        </p:attrNameLst>
                                      </p:cBhvr>
                                      <p:to>
                                        <p:strVal val="visible"/>
                                      </p:to>
                                    </p:set>
                                    <p:animEffect transition="in" filter="fade">
                                      <p:cBhvr>
                                        <p:cTn id="55" dur="2000"/>
                                        <p:tgtEl>
                                          <p:spTgt spid="7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2000"/>
                                        <p:tgtEl>
                                          <p:spTgt spid="7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74"/>
                                        </p:tgtEl>
                                        <p:attrNameLst>
                                          <p:attrName>style.visibility</p:attrName>
                                        </p:attrNameLst>
                                      </p:cBhvr>
                                      <p:to>
                                        <p:strVal val="visible"/>
                                      </p:to>
                                    </p:set>
                                    <p:animEffect transition="in" filter="fade">
                                      <p:cBhvr>
                                        <p:cTn id="61" dur="2000"/>
                                        <p:tgtEl>
                                          <p:spTgt spid="7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2000"/>
                                        <p:tgtEl>
                                          <p:spTgt spid="7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fade">
                                      <p:cBhvr>
                                        <p:cTn id="67" dur="2000"/>
                                        <p:tgtEl>
                                          <p:spTgt spid="77"/>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fade">
                                      <p:cBhvr>
                                        <p:cTn id="70" dur="2000"/>
                                        <p:tgtEl>
                                          <p:spTgt spid="7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79"/>
                                        </p:tgtEl>
                                        <p:attrNameLst>
                                          <p:attrName>style.visibility</p:attrName>
                                        </p:attrNameLst>
                                      </p:cBhvr>
                                      <p:to>
                                        <p:strVal val="visible"/>
                                      </p:to>
                                    </p:set>
                                    <p:animEffect transition="in" filter="fade">
                                      <p:cBhvr>
                                        <p:cTn id="73" dur="2000"/>
                                        <p:tgtEl>
                                          <p:spTgt spid="79"/>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80">
                                            <p:txEl>
                                              <p:pRg st="0" end="0"/>
                                            </p:txEl>
                                          </p:spTgt>
                                        </p:tgtEl>
                                        <p:attrNameLst>
                                          <p:attrName>style.visibility</p:attrName>
                                        </p:attrNameLst>
                                      </p:cBhvr>
                                      <p:to>
                                        <p:strVal val="visible"/>
                                      </p:to>
                                    </p:set>
                                    <p:animEffect transition="in" filter="fade">
                                      <p:cBhvr>
                                        <p:cTn id="78" dur="2000"/>
                                        <p:tgtEl>
                                          <p:spTgt spid="8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0" grpId="0"/>
      <p:bldP spid="24" grpId="0" animBg="1"/>
      <p:bldP spid="51" grpId="0" animBg="1"/>
      <p:bldP spid="63" grpId="0" animBg="1"/>
      <p:bldP spid="64" grpId="0"/>
      <p:bldP spid="66" grpId="0" animBg="1"/>
      <p:bldP spid="67" grpId="0"/>
      <p:bldP spid="70" grpId="0" animBg="1"/>
      <p:bldP spid="71" grpId="0"/>
      <p:bldP spid="73" grpId="0"/>
      <p:bldP spid="74" grpId="0" animBg="1"/>
      <p:bldP spid="76" grpId="0"/>
      <p:bldP spid="77" grpId="0"/>
      <p:bldP spid="78" grpId="0"/>
      <p:bldP spid="79" grpId="0"/>
      <p:bldP spid="80" grpId="0" build="allAtOnce"/>
    </p:bld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Semantische bomen voor de propositielogica</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Dat de propositielogica </a:t>
            </a:r>
            <a:r>
              <a:rPr lang="nl-NL" sz="2000" i="1" dirty="0" smtClean="0"/>
              <a:t>beslisbaar</a:t>
            </a:r>
            <a:r>
              <a:rPr lang="nl-NL" sz="2000" dirty="0" smtClean="0"/>
              <a:t> is, wisten we al. De waarheidstafels     vormen immers een </a:t>
            </a:r>
            <a:r>
              <a:rPr lang="nl-NL" sz="2000" i="1" dirty="0" smtClean="0"/>
              <a:t>beslissingsprocedure</a:t>
            </a:r>
            <a:r>
              <a:rPr lang="nl-NL" sz="2000" dirty="0" smtClean="0"/>
              <a:t> voor de semantische (en dus          ook syntactische) geldigheid van </a:t>
            </a:r>
            <a:r>
              <a:rPr lang="nl-NL" sz="2000" dirty="0" err="1" smtClean="0"/>
              <a:t>propositioneel-logische</a:t>
            </a:r>
            <a:r>
              <a:rPr lang="nl-NL" sz="2000" dirty="0" smtClean="0"/>
              <a:t> redeneringen.</a:t>
            </a:r>
          </a:p>
          <a:p>
            <a:endParaRPr lang="nl-NL" sz="2000" dirty="0" smtClean="0"/>
          </a:p>
          <a:p>
            <a:endParaRPr lang="nl-NL" sz="2000" dirty="0" smtClean="0"/>
          </a:p>
        </p:txBody>
      </p:sp>
      <p:sp>
        <p:nvSpPr>
          <p:cNvPr id="6" name="Content Placeholder 2"/>
          <p:cNvSpPr txBox="1">
            <a:spLocks/>
          </p:cNvSpPr>
          <p:nvPr/>
        </p:nvSpPr>
        <p:spPr>
          <a:xfrm>
            <a:off x="395536" y="270892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semantische</a:t>
            </a:r>
            <a:r>
              <a:rPr kumimoji="0" lang="nl-NL" sz="2000" b="0" i="0" u="none" strike="noStrike" kern="1200" cap="none" spc="0" normalizeH="0" noProof="0" dirty="0" smtClean="0">
                <a:ln>
                  <a:noFill/>
                </a:ln>
                <a:solidFill>
                  <a:schemeClr val="tx1"/>
                </a:solidFill>
                <a:effectLst/>
                <a:uLnTx/>
                <a:uFillTx/>
                <a:latin typeface="+mn-lt"/>
                <a:ea typeface="+mn-ea"/>
                <a:cs typeface="+mn-cs"/>
              </a:rPr>
              <a:t> boommethode is </a:t>
            </a:r>
            <a:r>
              <a:rPr lang="nl-NL" sz="2000" dirty="0" smtClean="0"/>
              <a:t>ook een </a:t>
            </a:r>
            <a:r>
              <a:rPr lang="nl-NL" sz="2000" i="1" dirty="0" smtClean="0"/>
              <a:t>beslissingsprocedure</a:t>
            </a:r>
            <a:r>
              <a:rPr lang="nl-NL" sz="2000" dirty="0" smtClean="0"/>
              <a:t> voor de semantische (en dus ook syntactische) geldigheid van </a:t>
            </a:r>
            <a:r>
              <a:rPr lang="nl-NL" sz="2000" dirty="0" err="1" smtClean="0"/>
              <a:t>propositioneel-logische</a:t>
            </a:r>
            <a:r>
              <a:rPr lang="nl-NL" sz="2000" dirty="0" smtClean="0"/>
              <a:t> redeneringen. Dit wordt uitgedrukt in de volgende stelling:</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95536" y="3861048"/>
            <a:ext cx="8363272" cy="1108720"/>
          </a:xfrm>
          <a:prstGeom prst="rect">
            <a:avLst/>
          </a:prstGeom>
        </p:spPr>
        <p:txBody>
          <a:bodyPr vert="horz" lIns="91440" tIns="45720" rIns="91440" bIns="45720" rtlCol="0">
            <a:noAutofit/>
          </a:bodyPr>
          <a:lstStyle/>
          <a:p>
            <a:pPr marL="342900" lvl="0" indent="-342900">
              <a:spcBef>
                <a:spcPct val="20000"/>
              </a:spcBef>
              <a:defRPr/>
            </a:pPr>
            <a:r>
              <a:rPr lang="nl-NL" sz="2000" b="1" i="1" dirty="0" smtClean="0"/>
              <a:t>	</a:t>
            </a:r>
            <a:r>
              <a:rPr lang="el-GR" sz="2000" b="1" i="1" dirty="0" smtClean="0">
                <a:solidFill>
                  <a:srgbClr val="0070C0"/>
                </a:solidFill>
              </a:rPr>
              <a:t>α</a:t>
            </a:r>
            <a:r>
              <a:rPr lang="nl-NL" sz="2000" b="1" baseline="-25000" dirty="0" smtClean="0">
                <a:solidFill>
                  <a:srgbClr val="0070C0"/>
                </a:solidFill>
              </a:rPr>
              <a:t>1 </a:t>
            </a:r>
            <a:r>
              <a:rPr lang="nl-NL" sz="2000" b="1" dirty="0" smtClean="0">
                <a:solidFill>
                  <a:srgbClr val="0070C0"/>
                </a:solidFill>
              </a:rPr>
              <a:t>, </a:t>
            </a:r>
            <a:r>
              <a:rPr lang="el-GR" sz="2000" b="1" i="1" dirty="0" smtClean="0">
                <a:solidFill>
                  <a:srgbClr val="0070C0"/>
                </a:solidFill>
              </a:rPr>
              <a:t>α</a:t>
            </a:r>
            <a:r>
              <a:rPr lang="nl-NL" sz="2000" b="1" i="1" baseline="-25000" dirty="0" smtClean="0">
                <a:solidFill>
                  <a:srgbClr val="0070C0"/>
                </a:solidFill>
              </a:rPr>
              <a:t>2</a:t>
            </a:r>
            <a:r>
              <a:rPr lang="nl-NL" sz="2000" b="1" dirty="0" smtClean="0">
                <a:solidFill>
                  <a:srgbClr val="0070C0"/>
                </a:solidFill>
              </a:rPr>
              <a:t> , </a:t>
            </a:r>
            <a:r>
              <a:rPr lang="el-GR" sz="2000" b="1" i="1" dirty="0" smtClean="0">
                <a:solidFill>
                  <a:srgbClr val="0070C0"/>
                </a:solidFill>
              </a:rPr>
              <a:t>α</a:t>
            </a:r>
            <a:r>
              <a:rPr lang="nl-NL" sz="2000" b="1" i="1" baseline="-25000" dirty="0" smtClean="0">
                <a:solidFill>
                  <a:srgbClr val="0070C0"/>
                </a:solidFill>
              </a:rPr>
              <a:t>3</a:t>
            </a:r>
            <a:r>
              <a:rPr lang="nl-NL" sz="2000" b="1" dirty="0" smtClean="0">
                <a:solidFill>
                  <a:srgbClr val="0070C0"/>
                </a:solidFill>
              </a:rPr>
              <a:t> |= </a:t>
            </a:r>
            <a:r>
              <a:rPr lang="el-GR" sz="2000" b="1" i="1" dirty="0" smtClean="0">
                <a:solidFill>
                  <a:srgbClr val="0070C0"/>
                </a:solidFill>
              </a:rPr>
              <a:t>β</a:t>
            </a:r>
            <a:r>
              <a:rPr lang="nl-NL" sz="2000" dirty="0" smtClean="0">
                <a:solidFill>
                  <a:srgbClr val="0070C0"/>
                </a:solidFill>
              </a:rPr>
              <a:t> (en dus ook </a:t>
            </a:r>
            <a:r>
              <a:rPr lang="el-GR" sz="2000" b="1" i="1" dirty="0" smtClean="0">
                <a:solidFill>
                  <a:srgbClr val="0070C0"/>
                </a:solidFill>
              </a:rPr>
              <a:t>α</a:t>
            </a:r>
            <a:r>
              <a:rPr lang="nl-NL" sz="2000" b="1" baseline="-25000" dirty="0" smtClean="0">
                <a:solidFill>
                  <a:srgbClr val="0070C0"/>
                </a:solidFill>
              </a:rPr>
              <a:t>1 </a:t>
            </a:r>
            <a:r>
              <a:rPr lang="nl-NL" sz="2000" b="1" dirty="0" smtClean="0">
                <a:solidFill>
                  <a:srgbClr val="0070C0"/>
                </a:solidFill>
              </a:rPr>
              <a:t>, </a:t>
            </a:r>
            <a:r>
              <a:rPr lang="el-GR" sz="2000" b="1" i="1" dirty="0" smtClean="0">
                <a:solidFill>
                  <a:srgbClr val="0070C0"/>
                </a:solidFill>
              </a:rPr>
              <a:t>α</a:t>
            </a:r>
            <a:r>
              <a:rPr lang="nl-NL" sz="2000" b="1" i="1" baseline="-25000" dirty="0" smtClean="0">
                <a:solidFill>
                  <a:srgbClr val="0070C0"/>
                </a:solidFill>
              </a:rPr>
              <a:t>2</a:t>
            </a:r>
            <a:r>
              <a:rPr lang="nl-NL" sz="2000" b="1" dirty="0" smtClean="0">
                <a:solidFill>
                  <a:srgbClr val="0070C0"/>
                </a:solidFill>
              </a:rPr>
              <a:t> , </a:t>
            </a:r>
            <a:r>
              <a:rPr lang="el-GR" sz="2000" b="1" i="1" dirty="0" smtClean="0">
                <a:solidFill>
                  <a:srgbClr val="0070C0"/>
                </a:solidFill>
              </a:rPr>
              <a:t>α</a:t>
            </a:r>
            <a:r>
              <a:rPr lang="nl-NL" sz="2000" b="1" i="1" baseline="-25000" dirty="0" smtClean="0">
                <a:solidFill>
                  <a:srgbClr val="0070C0"/>
                </a:solidFill>
              </a:rPr>
              <a:t>3</a:t>
            </a:r>
            <a:r>
              <a:rPr lang="nl-NL" sz="2000" b="1" dirty="0" smtClean="0">
                <a:solidFill>
                  <a:srgbClr val="0070C0"/>
                </a:solidFill>
              </a:rPr>
              <a:t> Ⱶ </a:t>
            </a:r>
            <a:r>
              <a:rPr lang="el-GR" sz="2000" b="1" i="1" dirty="0" smtClean="0">
                <a:solidFill>
                  <a:srgbClr val="0070C0"/>
                </a:solidFill>
              </a:rPr>
              <a:t>β</a:t>
            </a:r>
            <a:r>
              <a:rPr lang="nl-NL" sz="2000" dirty="0" smtClean="0">
                <a:solidFill>
                  <a:srgbClr val="0070C0"/>
                </a:solidFill>
              </a:rPr>
              <a:t>) dan en slechts dan als de bijbehorende semantische boom gesloten is. En we kunnen in een eindig aantal stappen op algoritmische wijze bepalen of de boom gesloten is.</a:t>
            </a:r>
            <a:endParaRPr kumimoji="0" lang="nl-NL" sz="2000" b="0" u="none" strike="noStrike" kern="1200" cap="none" spc="0" normalizeH="0" baseline="0" noProof="0" dirty="0" smtClean="0">
              <a:ln>
                <a:noFill/>
              </a:ln>
              <a:solidFill>
                <a:srgbClr val="0070C0"/>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Boommethode voor de </a:t>
            </a:r>
            <a:r>
              <a:rPr lang="nl-NL" sz="3600" dirty="0" err="1" smtClean="0"/>
              <a:t>predikaatlogica</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Om de boommethode uit te breiden voor de </a:t>
            </a:r>
            <a:r>
              <a:rPr lang="nl-NL" sz="2000" dirty="0" err="1" smtClean="0"/>
              <a:t>predikaatlogica</a:t>
            </a:r>
            <a:r>
              <a:rPr lang="nl-NL" sz="2000" dirty="0" smtClean="0"/>
              <a:t> moeten we de overstap maken van </a:t>
            </a:r>
            <a:r>
              <a:rPr lang="nl-NL" sz="2000" i="1" dirty="0" err="1" smtClean="0"/>
              <a:t>waarheidswaardeverdelingen</a:t>
            </a:r>
            <a:r>
              <a:rPr lang="nl-NL" sz="2000" dirty="0" smtClean="0"/>
              <a:t> op atomaire proposities naar </a:t>
            </a:r>
            <a:r>
              <a:rPr lang="nl-NL" sz="2000" i="1" dirty="0" smtClean="0"/>
              <a:t>interpretaties</a:t>
            </a:r>
            <a:r>
              <a:rPr lang="nl-NL" sz="2000" dirty="0" smtClean="0"/>
              <a:t>.</a:t>
            </a:r>
          </a:p>
          <a:p>
            <a:endParaRPr lang="nl-NL" sz="2000" dirty="0" smtClean="0"/>
          </a:p>
        </p:txBody>
      </p:sp>
      <p:sp>
        <p:nvSpPr>
          <p:cNvPr id="6" name="Content Placeholder 2"/>
          <p:cNvSpPr txBox="1">
            <a:spLocks/>
          </p:cNvSpPr>
          <p:nvPr/>
        </p:nvSpPr>
        <p:spPr>
          <a:xfrm>
            <a:off x="395536" y="270892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Een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interpretatie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van een verzameling van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predikaatlogische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formules behelst de vastlegging van een domein</a:t>
            </a:r>
            <a:r>
              <a:rPr lang="nl-NL" sz="2000" noProof="0" dirty="0" smtClean="0"/>
              <a:t>, zeg D, </a:t>
            </a:r>
            <a:r>
              <a:rPr kumimoji="0" lang="nl-NL" sz="2000" b="0" i="0" u="none" strike="noStrike" kern="1200" cap="none" spc="0" normalizeH="0" noProof="0" dirty="0" smtClean="0">
                <a:ln>
                  <a:noFill/>
                </a:ln>
                <a:solidFill>
                  <a:schemeClr val="tx1"/>
                </a:solidFill>
                <a:effectLst/>
                <a:uLnTx/>
                <a:uFillTx/>
                <a:latin typeface="+mn-lt"/>
                <a:ea typeface="+mn-ea"/>
                <a:cs typeface="+mn-cs"/>
              </a:rPr>
              <a:t>waarop de optredende individuconstanten en </a:t>
            </a:r>
            <a:r>
              <a:rPr kumimoji="0" lang="nl-NL" sz="2000" b="0" i="0" u="none" strike="noStrike" kern="1200" cap="none" spc="0" normalizeH="0" noProof="0" dirty="0" err="1" smtClean="0">
                <a:ln>
                  <a:noFill/>
                </a:ln>
                <a:solidFill>
                  <a:schemeClr val="tx1"/>
                </a:solidFill>
                <a:effectLst/>
                <a:uLnTx/>
                <a:uFillTx/>
                <a:latin typeface="+mn-lt"/>
                <a:ea typeface="+mn-ea"/>
                <a:cs typeface="+mn-cs"/>
              </a:rPr>
              <a:t>predikaatletters</a:t>
            </a:r>
            <a:r>
              <a:rPr lang="nl-NL" sz="2000" dirty="0" smtClean="0"/>
              <a:t> </a:t>
            </a:r>
            <a:r>
              <a:rPr kumimoji="0" lang="nl-NL" sz="2000" b="0" i="0" u="none" strike="noStrike" kern="1200" cap="none" spc="0" normalizeH="0" noProof="0" dirty="0" smtClean="0">
                <a:ln>
                  <a:noFill/>
                </a:ln>
                <a:solidFill>
                  <a:schemeClr val="tx1"/>
                </a:solidFill>
                <a:effectLst/>
                <a:uLnTx/>
                <a:uFillTx/>
                <a:latin typeface="+mn-lt"/>
                <a:ea typeface="+mn-ea"/>
                <a:cs typeface="+mn-cs"/>
              </a:rPr>
              <a:t>van een betekenis worden voorzien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85192" y="3832448"/>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Hierbij worden individuconstanten opgevat als </a:t>
            </a:r>
            <a:r>
              <a:rPr lang="nl-NL" sz="2000" u="sng" dirty="0" smtClean="0"/>
              <a:t>namen</a:t>
            </a:r>
            <a:r>
              <a:rPr lang="nl-NL" sz="2000" dirty="0" smtClean="0"/>
              <a:t> van objecten uit D. </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dirty="0" err="1" smtClean="0"/>
              <a:t>Éénplaatsige</a:t>
            </a:r>
            <a:r>
              <a:rPr lang="nl-NL" sz="2000" dirty="0" smtClean="0"/>
              <a:t> </a:t>
            </a:r>
            <a:r>
              <a:rPr lang="nl-NL" sz="2000" dirty="0" err="1" smtClean="0"/>
              <a:t>predikaatletters</a:t>
            </a:r>
            <a:r>
              <a:rPr lang="nl-NL" sz="2000" dirty="0" smtClean="0"/>
              <a:t> worden opgevat als </a:t>
            </a:r>
            <a:r>
              <a:rPr lang="nl-NL" sz="2000" u="sng" dirty="0" smtClean="0"/>
              <a:t>eigenschappen</a:t>
            </a:r>
            <a:r>
              <a:rPr lang="nl-NL" sz="2000" dirty="0" smtClean="0"/>
              <a:t> die al     dan niet aan objecten van D toekomen (uitgaande van een </a:t>
            </a:r>
            <a:r>
              <a:rPr lang="nl-NL" sz="2000" i="1" dirty="0" err="1" smtClean="0"/>
              <a:t>extensionele</a:t>
            </a:r>
            <a:r>
              <a:rPr lang="nl-NL" sz="2000" i="1" dirty="0" smtClean="0"/>
              <a:t> semantiek</a:t>
            </a:r>
            <a:r>
              <a:rPr lang="nl-NL" sz="2000" dirty="0" smtClean="0"/>
              <a:t> gaat het om al dan niet lege </a:t>
            </a:r>
            <a:r>
              <a:rPr lang="nl-NL" sz="2000" u="sng" dirty="0" smtClean="0"/>
              <a:t>deelverzamelingen</a:t>
            </a:r>
            <a:r>
              <a:rPr lang="nl-NL" sz="2000" dirty="0" smtClean="0"/>
              <a:t> van het domein). </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dirty="0" err="1" smtClean="0"/>
              <a:t>Méérplaatsige</a:t>
            </a:r>
            <a:r>
              <a:rPr lang="nl-NL" sz="2000" dirty="0" smtClean="0"/>
              <a:t> </a:t>
            </a:r>
            <a:r>
              <a:rPr lang="nl-NL" sz="2000" dirty="0" err="1" smtClean="0"/>
              <a:t>predikaatletters</a:t>
            </a:r>
            <a:r>
              <a:rPr lang="nl-NL" sz="2000" dirty="0" smtClean="0"/>
              <a:t> worden opgevat als </a:t>
            </a:r>
            <a:r>
              <a:rPr lang="nl-NL" sz="2000" u="sng" dirty="0" smtClean="0"/>
              <a:t>relaties</a:t>
            </a:r>
            <a:r>
              <a:rPr lang="nl-NL" sz="2000" dirty="0" smtClean="0"/>
              <a:t> tussen objecten uit D.</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20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20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build="allAtOnce"/>
    </p:bld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Boommethode voor de </a:t>
            </a:r>
            <a:r>
              <a:rPr lang="nl-NL" sz="3600" dirty="0" err="1" smtClean="0"/>
              <a:t>predikaatlogica</a:t>
            </a:r>
            <a:endParaRPr lang="nl-NL" sz="3600" dirty="0"/>
          </a:p>
        </p:txBody>
      </p:sp>
      <p:sp>
        <p:nvSpPr>
          <p:cNvPr id="3" name="Content Placeholder 2"/>
          <p:cNvSpPr>
            <a:spLocks noGrp="1"/>
          </p:cNvSpPr>
          <p:nvPr>
            <p:ph idx="1"/>
          </p:nvPr>
        </p:nvSpPr>
        <p:spPr>
          <a:xfrm>
            <a:off x="395536" y="1600201"/>
            <a:ext cx="8686800" cy="820687"/>
          </a:xfrm>
        </p:spPr>
        <p:txBody>
          <a:bodyPr>
            <a:noAutofit/>
          </a:bodyPr>
          <a:lstStyle/>
          <a:p>
            <a:pPr>
              <a:buNone/>
            </a:pPr>
            <a:r>
              <a:rPr lang="nl-NL" sz="2000" dirty="0" smtClean="0"/>
              <a:t>Neem de formule </a:t>
            </a:r>
            <a:r>
              <a:rPr lang="nl-NL" sz="2000" b="1" dirty="0" smtClean="0"/>
              <a:t>∀x (</a:t>
            </a:r>
            <a:r>
              <a:rPr lang="nl-NL" sz="2000" b="1" dirty="0" err="1" smtClean="0"/>
              <a:t>Fx</a:t>
            </a:r>
            <a:r>
              <a:rPr lang="nl-NL" sz="2000" b="1" dirty="0" smtClean="0"/>
              <a:t> → ¬</a:t>
            </a:r>
            <a:r>
              <a:rPr lang="nl-NL" sz="2000" b="1" dirty="0" err="1" smtClean="0"/>
              <a:t>Gx</a:t>
            </a:r>
            <a:r>
              <a:rPr lang="nl-NL" sz="2000" b="1" dirty="0" smtClean="0"/>
              <a:t>) </a:t>
            </a:r>
            <a:endParaRPr lang="nl-NL" sz="2000" dirty="0" smtClean="0"/>
          </a:p>
          <a:p>
            <a:pPr>
              <a:buNone/>
            </a:pPr>
            <a:endParaRPr lang="nl-NL" sz="2000" dirty="0" smtClean="0"/>
          </a:p>
        </p:txBody>
      </p:sp>
      <p:sp>
        <p:nvSpPr>
          <p:cNvPr id="6" name="Content Placeholder 2"/>
          <p:cNvSpPr txBox="1">
            <a:spLocks/>
          </p:cNvSpPr>
          <p:nvPr/>
        </p:nvSpPr>
        <p:spPr>
          <a:xfrm>
            <a:off x="395536" y="234888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rgbClr val="0070C0"/>
                </a:solidFill>
                <a:effectLst/>
                <a:uLnTx/>
                <a:uFillTx/>
                <a:latin typeface="+mn-lt"/>
                <a:ea typeface="+mn-ea"/>
                <a:cs typeface="+mn-cs"/>
              </a:rPr>
              <a:t>Deze formule</a:t>
            </a:r>
            <a:r>
              <a:rPr kumimoji="0" lang="nl-NL" sz="2000" b="0" i="0" u="none" strike="noStrike" kern="1200" cap="none" spc="0" normalizeH="0" noProof="0" dirty="0" smtClean="0">
                <a:ln>
                  <a:noFill/>
                </a:ln>
                <a:solidFill>
                  <a:srgbClr val="0070C0"/>
                </a:solidFill>
                <a:effectLst/>
                <a:uLnTx/>
                <a:uFillTx/>
                <a:latin typeface="+mn-lt"/>
                <a:ea typeface="+mn-ea"/>
                <a:cs typeface="+mn-cs"/>
              </a:rPr>
              <a:t> is </a:t>
            </a:r>
            <a:r>
              <a:rPr kumimoji="0" lang="nl-NL" sz="2000" b="0" i="1" u="none" strike="noStrike" kern="1200" cap="none" spc="0" normalizeH="0" noProof="0" dirty="0" smtClean="0">
                <a:ln>
                  <a:noFill/>
                </a:ln>
                <a:solidFill>
                  <a:srgbClr val="0070C0"/>
                </a:solidFill>
                <a:effectLst/>
                <a:uLnTx/>
                <a:uFillTx/>
                <a:latin typeface="+mn-lt"/>
                <a:ea typeface="+mn-ea"/>
                <a:cs typeface="+mn-cs"/>
              </a:rPr>
              <a:t>waar</a:t>
            </a:r>
            <a:r>
              <a:rPr kumimoji="0" lang="nl-NL" sz="2000" b="0" i="0" u="none" strike="noStrike" kern="1200" cap="none" spc="0" normalizeH="0" noProof="0" dirty="0" smtClean="0">
                <a:ln>
                  <a:noFill/>
                </a:ln>
                <a:solidFill>
                  <a:srgbClr val="0070C0"/>
                </a:solidFill>
                <a:effectLst/>
                <a:uLnTx/>
                <a:uFillTx/>
                <a:latin typeface="+mn-lt"/>
                <a:ea typeface="+mn-ea"/>
                <a:cs typeface="+mn-cs"/>
              </a:rPr>
              <a:t> onder de </a:t>
            </a:r>
            <a:r>
              <a:rPr lang="nl-NL" sz="2000" dirty="0" smtClean="0">
                <a:solidFill>
                  <a:srgbClr val="0070C0"/>
                </a:solidFill>
              </a:rPr>
              <a:t>interpretatie</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solidFill>
                <a:srgbClr val="0070C0"/>
              </a:solidFill>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solidFill>
                  <a:srgbClr val="0070C0"/>
                </a:solidFill>
              </a:rPr>
              <a:t>D = mensen; </a:t>
            </a:r>
            <a:r>
              <a:rPr lang="nl-NL" sz="2000" dirty="0" err="1" smtClean="0">
                <a:solidFill>
                  <a:srgbClr val="0070C0"/>
                </a:solidFill>
              </a:rPr>
              <a:t>Fx</a:t>
            </a:r>
            <a:r>
              <a:rPr lang="nl-NL" sz="2000" dirty="0" smtClean="0">
                <a:solidFill>
                  <a:srgbClr val="0070C0"/>
                </a:solidFill>
              </a:rPr>
              <a:t>: x is een Europeaan; </a:t>
            </a:r>
            <a:r>
              <a:rPr lang="nl-NL" sz="2000" dirty="0" err="1" smtClean="0">
                <a:solidFill>
                  <a:srgbClr val="0070C0"/>
                </a:solidFill>
              </a:rPr>
              <a:t>Gx</a:t>
            </a:r>
            <a:r>
              <a:rPr lang="nl-NL" sz="2000" dirty="0" smtClean="0">
                <a:solidFill>
                  <a:srgbClr val="0070C0"/>
                </a:solidFill>
              </a:rPr>
              <a:t>: x is een Amerikaan  </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dirty="0" smtClean="0">
              <a:solidFill>
                <a:srgbClr val="0070C0"/>
              </a:solidFill>
            </a:endParaRPr>
          </a:p>
        </p:txBody>
      </p:sp>
      <p:sp>
        <p:nvSpPr>
          <p:cNvPr id="7" name="Content Placeholder 2"/>
          <p:cNvSpPr txBox="1">
            <a:spLocks/>
          </p:cNvSpPr>
          <p:nvPr/>
        </p:nvSpPr>
        <p:spPr>
          <a:xfrm>
            <a:off x="385192" y="3688432"/>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rgbClr val="C00000"/>
                </a:solidFill>
                <a:effectLst/>
                <a:uLnTx/>
                <a:uFillTx/>
                <a:latin typeface="+mn-lt"/>
                <a:ea typeface="+mn-ea"/>
                <a:cs typeface="+mn-cs"/>
              </a:rPr>
              <a:t>Deze formule</a:t>
            </a:r>
            <a:r>
              <a:rPr kumimoji="0" lang="nl-NL" sz="2000" b="0" i="0" u="none" strike="noStrike" kern="1200" cap="none" spc="0" normalizeH="0" noProof="0" dirty="0" smtClean="0">
                <a:ln>
                  <a:noFill/>
                </a:ln>
                <a:solidFill>
                  <a:srgbClr val="C00000"/>
                </a:solidFill>
                <a:effectLst/>
                <a:uLnTx/>
                <a:uFillTx/>
                <a:latin typeface="+mn-lt"/>
                <a:ea typeface="+mn-ea"/>
                <a:cs typeface="+mn-cs"/>
              </a:rPr>
              <a:t> is </a:t>
            </a:r>
            <a:r>
              <a:rPr kumimoji="0" lang="nl-NL" sz="2000" i="1" u="none" strike="noStrike" kern="1200" cap="none" spc="0" normalizeH="0" noProof="0" dirty="0" smtClean="0">
                <a:ln>
                  <a:noFill/>
                </a:ln>
                <a:solidFill>
                  <a:srgbClr val="C00000"/>
                </a:solidFill>
                <a:effectLst/>
                <a:uLnTx/>
                <a:uFillTx/>
                <a:latin typeface="+mn-lt"/>
                <a:ea typeface="+mn-ea"/>
                <a:cs typeface="+mn-cs"/>
              </a:rPr>
              <a:t>on</a:t>
            </a:r>
            <a:r>
              <a:rPr kumimoji="0" lang="nl-NL" sz="2000" b="0" i="1" u="none" strike="noStrike" kern="1200" cap="none" spc="0" normalizeH="0" noProof="0" dirty="0" smtClean="0">
                <a:ln>
                  <a:noFill/>
                </a:ln>
                <a:solidFill>
                  <a:srgbClr val="C00000"/>
                </a:solidFill>
                <a:effectLst/>
                <a:uLnTx/>
                <a:uFillTx/>
                <a:latin typeface="+mn-lt"/>
                <a:ea typeface="+mn-ea"/>
                <a:cs typeface="+mn-cs"/>
              </a:rPr>
              <a:t>waar</a:t>
            </a:r>
            <a:r>
              <a:rPr kumimoji="0" lang="nl-NL" sz="2000" b="0" i="0" u="none" strike="noStrike" kern="1200" cap="none" spc="0" normalizeH="0" noProof="0" dirty="0" smtClean="0">
                <a:ln>
                  <a:noFill/>
                </a:ln>
                <a:solidFill>
                  <a:srgbClr val="C00000"/>
                </a:solidFill>
                <a:effectLst/>
                <a:uLnTx/>
                <a:uFillTx/>
                <a:latin typeface="+mn-lt"/>
                <a:ea typeface="+mn-ea"/>
                <a:cs typeface="+mn-cs"/>
              </a:rPr>
              <a:t> onder de </a:t>
            </a:r>
            <a:r>
              <a:rPr lang="nl-NL" sz="2000" dirty="0" smtClean="0">
                <a:solidFill>
                  <a:srgbClr val="C00000"/>
                </a:solidFill>
              </a:rPr>
              <a:t>interpretatie</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solidFill>
                <a:srgbClr val="C00000"/>
              </a:solidFill>
            </a:endParaRPr>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solidFill>
                  <a:srgbClr val="C00000"/>
                </a:solidFill>
              </a:rPr>
              <a:t>D = mensen; </a:t>
            </a:r>
            <a:r>
              <a:rPr lang="nl-NL" sz="2000" dirty="0" err="1" smtClean="0">
                <a:solidFill>
                  <a:srgbClr val="C00000"/>
                </a:solidFill>
              </a:rPr>
              <a:t>Fx</a:t>
            </a:r>
            <a:r>
              <a:rPr lang="nl-NL" sz="2000" dirty="0" smtClean="0">
                <a:solidFill>
                  <a:srgbClr val="C00000"/>
                </a:solidFill>
              </a:rPr>
              <a:t>: x is een Europeaan; </a:t>
            </a:r>
            <a:r>
              <a:rPr lang="nl-NL" sz="2000" dirty="0" err="1" smtClean="0">
                <a:solidFill>
                  <a:srgbClr val="C00000"/>
                </a:solidFill>
              </a:rPr>
              <a:t>Gx</a:t>
            </a:r>
            <a:r>
              <a:rPr lang="nl-NL" sz="2000" dirty="0" smtClean="0">
                <a:solidFill>
                  <a:srgbClr val="C00000"/>
                </a:solidFill>
              </a:rPr>
              <a:t>: x is een Fransman </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dirty="0" smtClean="0">
              <a:solidFill>
                <a:srgbClr val="C00000"/>
              </a:solidFill>
            </a:endParaRPr>
          </a:p>
        </p:txBody>
      </p:sp>
      <p:sp>
        <p:nvSpPr>
          <p:cNvPr id="9" name="Content Placeholder 2"/>
          <p:cNvSpPr txBox="1">
            <a:spLocks/>
          </p:cNvSpPr>
          <p:nvPr/>
        </p:nvSpPr>
        <p:spPr>
          <a:xfrm>
            <a:off x="349696" y="4984577"/>
            <a:ext cx="8686800" cy="82068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Er zijn in</a:t>
            </a:r>
            <a:r>
              <a:rPr kumimoji="0" lang="nl-NL" sz="2000" b="0" i="0" u="none" strike="noStrike" kern="1200" cap="none" spc="0" normalizeH="0" noProof="0" dirty="0" smtClean="0">
                <a:ln>
                  <a:noFill/>
                </a:ln>
                <a:solidFill>
                  <a:schemeClr val="tx1"/>
                </a:solidFill>
                <a:effectLst/>
                <a:uLnTx/>
                <a:uFillTx/>
                <a:latin typeface="+mn-lt"/>
                <a:ea typeface="+mn-ea"/>
                <a:cs typeface="+mn-cs"/>
              </a:rPr>
              <a:t> het algemeen vele interpretaties die een verzameling van                   formules </a:t>
            </a:r>
            <a:r>
              <a:rPr kumimoji="0" lang="nl-NL" sz="2000" b="0" i="1" u="none" strike="noStrike" kern="1200" cap="none" spc="0" normalizeH="0" noProof="0" dirty="0" smtClean="0">
                <a:ln>
                  <a:noFill/>
                </a:ln>
                <a:solidFill>
                  <a:schemeClr val="tx1"/>
                </a:solidFill>
                <a:effectLst/>
                <a:uLnTx/>
                <a:uFillTx/>
                <a:latin typeface="+mn-lt"/>
                <a:ea typeface="+mn-ea"/>
                <a:cs typeface="+mn-cs"/>
              </a:rPr>
              <a:t>waar</a:t>
            </a:r>
            <a:r>
              <a:rPr kumimoji="0" lang="nl-NL" sz="2000" b="0" i="0" u="none" strike="noStrike" kern="1200" cap="none" spc="0" normalizeH="0" noProof="0" dirty="0" smtClean="0">
                <a:ln>
                  <a:noFill/>
                </a:ln>
                <a:solidFill>
                  <a:schemeClr val="tx1"/>
                </a:solidFill>
                <a:effectLst/>
                <a:uLnTx/>
                <a:uFillTx/>
                <a:latin typeface="+mn-lt"/>
                <a:ea typeface="+mn-ea"/>
                <a:cs typeface="+mn-cs"/>
              </a:rPr>
              <a:t> maken. En er zijn in het algemeen vele interpretaties                           die een  verzameling van formules </a:t>
            </a:r>
            <a:r>
              <a:rPr kumimoji="0" lang="nl-NL" sz="2000" b="0" i="1" u="none" strike="noStrike" kern="1200" cap="none" spc="0" normalizeH="0" noProof="0" dirty="0" smtClean="0">
                <a:ln>
                  <a:noFill/>
                </a:ln>
                <a:solidFill>
                  <a:schemeClr val="tx1"/>
                </a:solidFill>
                <a:effectLst/>
                <a:uLnTx/>
                <a:uFillTx/>
                <a:latin typeface="+mn-lt"/>
                <a:ea typeface="+mn-ea"/>
                <a:cs typeface="+mn-cs"/>
              </a:rPr>
              <a:t>onwaar</a:t>
            </a:r>
            <a:r>
              <a:rPr kumimoji="0" lang="nl-NL" sz="2000" b="0" i="0" u="none" strike="noStrike" kern="1200" cap="none" spc="0" normalizeH="0" noProof="0" dirty="0" smtClean="0">
                <a:ln>
                  <a:noFill/>
                </a:ln>
                <a:solidFill>
                  <a:schemeClr val="tx1"/>
                </a:solidFill>
                <a:effectLst/>
                <a:uLnTx/>
                <a:uFillTx/>
                <a:latin typeface="+mn-lt"/>
                <a:ea typeface="+mn-ea"/>
                <a:cs typeface="+mn-cs"/>
              </a:rPr>
              <a:t> maken.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20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2000"/>
                                        <p:tgtEl>
                                          <p:spTgt spid="7">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200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Effect transition="in" filter="fade">
                                      <p:cBhvr>
                                        <p:cTn id="23"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9" grpId="0" build="allAtOnce"/>
    </p:bldLst>
  </p:timing>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Semantische geldigheid van                                  </a:t>
            </a:r>
            <a:r>
              <a:rPr lang="nl-NL" sz="3600" dirty="0" err="1" smtClean="0"/>
              <a:t>predikaat-logische</a:t>
            </a:r>
            <a:r>
              <a:rPr lang="nl-NL" sz="3600" dirty="0" smtClean="0"/>
              <a:t> redeneringen</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De </a:t>
            </a:r>
            <a:r>
              <a:rPr lang="nl-NL" sz="2000" dirty="0" err="1" smtClean="0"/>
              <a:t>predikaat-logische</a:t>
            </a:r>
            <a:r>
              <a:rPr lang="nl-NL" sz="2000" dirty="0" smtClean="0"/>
              <a:t> redenering met premissen </a:t>
            </a:r>
            <a:r>
              <a:rPr lang="el-GR" sz="2000" b="1" i="1" dirty="0" smtClean="0"/>
              <a:t>α</a:t>
            </a:r>
            <a:r>
              <a:rPr lang="nl-NL" sz="2000" b="1" i="1" baseline="-25000" dirty="0" smtClean="0"/>
              <a:t>1 </a:t>
            </a:r>
            <a:r>
              <a:rPr lang="nl-NL" sz="2000" dirty="0" smtClean="0"/>
              <a:t>,</a:t>
            </a:r>
            <a:r>
              <a:rPr lang="nl-NL" sz="2000" b="1" i="1" dirty="0" smtClean="0"/>
              <a:t> </a:t>
            </a:r>
            <a:r>
              <a:rPr lang="el-GR" sz="2000" b="1" i="1" dirty="0" smtClean="0"/>
              <a:t>α</a:t>
            </a:r>
            <a:r>
              <a:rPr lang="nl-NL" sz="2000" b="1" i="1" baseline="-25000" dirty="0" smtClean="0"/>
              <a:t>2</a:t>
            </a:r>
            <a:r>
              <a:rPr lang="nl-NL" sz="2000" b="1" i="1" dirty="0" smtClean="0"/>
              <a:t> </a:t>
            </a:r>
            <a:r>
              <a:rPr lang="nl-NL" sz="2000" dirty="0" smtClean="0"/>
              <a:t>,</a:t>
            </a:r>
            <a:r>
              <a:rPr lang="nl-NL" sz="2000" b="1" i="1" dirty="0" smtClean="0"/>
              <a:t> </a:t>
            </a:r>
            <a:r>
              <a:rPr lang="el-GR" sz="2000" b="1" i="1" dirty="0" smtClean="0"/>
              <a:t>α</a:t>
            </a:r>
            <a:r>
              <a:rPr lang="nl-NL" sz="2000" b="1" i="1" baseline="-25000" dirty="0" smtClean="0"/>
              <a:t>3</a:t>
            </a:r>
            <a:r>
              <a:rPr lang="nl-NL" sz="2000" b="1" i="1" dirty="0" smtClean="0"/>
              <a:t> </a:t>
            </a:r>
            <a:r>
              <a:rPr lang="nl-NL" sz="2000" dirty="0" smtClean="0"/>
              <a:t>en conclusie </a:t>
            </a:r>
            <a:r>
              <a:rPr lang="el-GR" sz="2000" b="1" i="1" dirty="0" smtClean="0"/>
              <a:t>β</a:t>
            </a:r>
            <a:r>
              <a:rPr lang="nl-NL" sz="2000" dirty="0" smtClean="0"/>
              <a:t> is </a:t>
            </a:r>
            <a:r>
              <a:rPr lang="nl-NL" sz="2000" i="1" dirty="0" smtClean="0"/>
              <a:t>semantisch geldig </a:t>
            </a:r>
            <a:r>
              <a:rPr lang="nl-NL" sz="2000" dirty="0" smtClean="0"/>
              <a:t>dan en slechts dan als iedere </a:t>
            </a:r>
            <a:r>
              <a:rPr lang="nl-NL" sz="2000" i="1" dirty="0" smtClean="0"/>
              <a:t>interpretatie</a:t>
            </a:r>
            <a:r>
              <a:rPr lang="nl-NL" sz="2000" dirty="0" smtClean="0"/>
              <a:t> die </a:t>
            </a:r>
            <a:r>
              <a:rPr lang="el-GR" sz="2000" b="1" i="1" dirty="0" smtClean="0"/>
              <a:t>α</a:t>
            </a:r>
            <a:r>
              <a:rPr lang="nl-NL" sz="2000" b="1" i="1" baseline="-25000" dirty="0" smtClean="0"/>
              <a:t>1</a:t>
            </a:r>
            <a:r>
              <a:rPr lang="nl-NL" sz="2000" baseline="-25000" dirty="0" smtClean="0"/>
              <a:t> </a:t>
            </a:r>
            <a:r>
              <a:rPr lang="nl-NL" sz="2000" dirty="0" smtClean="0"/>
              <a:t>, </a:t>
            </a:r>
            <a:r>
              <a:rPr lang="el-GR" sz="2000" b="1" i="1" dirty="0" smtClean="0"/>
              <a:t>α</a:t>
            </a:r>
            <a:r>
              <a:rPr lang="nl-NL" sz="2000" b="1" i="1" baseline="-25000" dirty="0" smtClean="0"/>
              <a:t>2</a:t>
            </a:r>
            <a:r>
              <a:rPr lang="nl-NL" sz="2000" b="1" i="1" dirty="0" smtClean="0"/>
              <a:t> </a:t>
            </a:r>
            <a:r>
              <a:rPr lang="nl-NL" sz="2000" dirty="0" smtClean="0"/>
              <a:t>, </a:t>
            </a:r>
            <a:r>
              <a:rPr lang="el-GR" sz="2000" b="1" i="1" dirty="0" smtClean="0"/>
              <a:t>α</a:t>
            </a:r>
            <a:r>
              <a:rPr lang="nl-NL" sz="2000" b="1" i="1" baseline="-25000" dirty="0" smtClean="0"/>
              <a:t>3 </a:t>
            </a:r>
            <a:r>
              <a:rPr lang="nl-NL" sz="2000" dirty="0" smtClean="0"/>
              <a:t>waarmaakt, ook </a:t>
            </a:r>
            <a:r>
              <a:rPr lang="el-GR" sz="2000" b="1" i="1" dirty="0" smtClean="0"/>
              <a:t>β</a:t>
            </a:r>
            <a:r>
              <a:rPr lang="nl-NL" sz="2000" dirty="0" smtClean="0"/>
              <a:t> waarmaakt. We schrijven dan </a:t>
            </a:r>
            <a:r>
              <a:rPr lang="el-GR" sz="2000" b="1" i="1" dirty="0" smtClean="0"/>
              <a:t>α</a:t>
            </a:r>
            <a:r>
              <a:rPr lang="nl-NL" sz="2000" b="1" i="1" baseline="-25000" dirty="0" smtClean="0"/>
              <a:t>1 </a:t>
            </a:r>
            <a:r>
              <a:rPr lang="nl-NL" sz="2000" dirty="0" smtClean="0"/>
              <a:t>,</a:t>
            </a:r>
            <a:r>
              <a:rPr lang="nl-NL" sz="2000" b="1" i="1" dirty="0" smtClean="0"/>
              <a:t> </a:t>
            </a:r>
            <a:r>
              <a:rPr lang="el-GR" sz="2000" b="1" i="1" dirty="0" smtClean="0"/>
              <a:t>α</a:t>
            </a:r>
            <a:r>
              <a:rPr lang="nl-NL" sz="2000" b="1" i="1" baseline="-25000" dirty="0" smtClean="0"/>
              <a:t>2</a:t>
            </a:r>
            <a:r>
              <a:rPr lang="nl-NL" sz="2000" b="1" i="1" dirty="0" smtClean="0"/>
              <a:t> </a:t>
            </a:r>
            <a:r>
              <a:rPr lang="nl-NL" sz="2000" dirty="0" smtClean="0"/>
              <a:t>,</a:t>
            </a:r>
            <a:r>
              <a:rPr lang="nl-NL" sz="2000" b="1" i="1" dirty="0" smtClean="0"/>
              <a:t> </a:t>
            </a:r>
            <a:r>
              <a:rPr lang="el-GR" sz="2000" b="1" i="1" dirty="0" smtClean="0"/>
              <a:t>α</a:t>
            </a:r>
            <a:r>
              <a:rPr lang="nl-NL" sz="2000" b="1" i="1" baseline="-25000" dirty="0" smtClean="0"/>
              <a:t>3 </a:t>
            </a:r>
            <a:r>
              <a:rPr lang="nl-NL" sz="2000" b="1" dirty="0" smtClean="0"/>
              <a:t>|=</a:t>
            </a:r>
            <a:r>
              <a:rPr lang="nl-NL" sz="2000" b="1" i="1" dirty="0" smtClean="0"/>
              <a:t> </a:t>
            </a:r>
            <a:r>
              <a:rPr lang="el-GR" sz="2000" b="1" i="1" dirty="0" smtClean="0"/>
              <a:t>β</a:t>
            </a:r>
            <a:r>
              <a:rPr lang="nl-NL" sz="2000" dirty="0" smtClean="0"/>
              <a:t>.</a:t>
            </a:r>
            <a:r>
              <a:rPr lang="nl-NL" sz="2000" b="1" i="1" dirty="0" smtClean="0"/>
              <a:t> </a:t>
            </a:r>
            <a:r>
              <a:rPr lang="nl-NL" sz="2000" dirty="0" smtClean="0"/>
              <a:t>   </a:t>
            </a:r>
          </a:p>
          <a:p>
            <a:endParaRPr lang="nl-NL" sz="2000" dirty="0" smtClean="0"/>
          </a:p>
        </p:txBody>
      </p:sp>
      <p:sp>
        <p:nvSpPr>
          <p:cNvPr id="6" name="Content Placeholder 2"/>
          <p:cNvSpPr txBox="1">
            <a:spLocks/>
          </p:cNvSpPr>
          <p:nvPr/>
        </p:nvSpPr>
        <p:spPr>
          <a:xfrm>
            <a:off x="395536" y="2708920"/>
            <a:ext cx="8363272" cy="1108720"/>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Hieruit volgt dat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ee</a:t>
            </a:r>
            <a:r>
              <a:rPr lang="nl-NL" sz="2000" dirty="0" smtClean="0"/>
              <a:t>n </a:t>
            </a:r>
            <a:r>
              <a:rPr lang="nl-NL" sz="2000" dirty="0" err="1" smtClean="0"/>
              <a:t>predikaat-logische</a:t>
            </a:r>
            <a:r>
              <a:rPr lang="nl-NL" sz="2000" dirty="0" smtClean="0"/>
              <a:t> redenering met premissen </a:t>
            </a:r>
            <a:r>
              <a:rPr lang="el-GR" sz="2000" b="1" i="1" dirty="0" smtClean="0"/>
              <a:t>α</a:t>
            </a:r>
            <a:r>
              <a:rPr lang="nl-NL" sz="2000" b="1" i="1" baseline="-25000" dirty="0" smtClean="0"/>
              <a:t>1 </a:t>
            </a:r>
            <a:r>
              <a:rPr lang="nl-NL" sz="2000" dirty="0" smtClean="0"/>
              <a:t>,</a:t>
            </a:r>
            <a:r>
              <a:rPr lang="nl-NL" sz="2000" b="1" i="1" dirty="0" smtClean="0"/>
              <a:t> </a:t>
            </a:r>
            <a:r>
              <a:rPr lang="el-GR" sz="2000" b="1" i="1" dirty="0" smtClean="0"/>
              <a:t>α</a:t>
            </a:r>
            <a:r>
              <a:rPr lang="nl-NL" sz="2000" b="1" i="1" baseline="-25000" dirty="0" smtClean="0"/>
              <a:t>2</a:t>
            </a:r>
            <a:r>
              <a:rPr lang="nl-NL" sz="2000" b="1" i="1" dirty="0" smtClean="0"/>
              <a:t> </a:t>
            </a:r>
            <a:r>
              <a:rPr lang="nl-NL" sz="2000" dirty="0" smtClean="0"/>
              <a:t>,</a:t>
            </a:r>
            <a:r>
              <a:rPr lang="nl-NL" sz="2000" b="1" i="1" dirty="0" smtClean="0"/>
              <a:t> </a:t>
            </a:r>
            <a:r>
              <a:rPr lang="el-GR" sz="2000" b="1" i="1" dirty="0" smtClean="0"/>
              <a:t>α</a:t>
            </a:r>
            <a:r>
              <a:rPr lang="nl-NL" sz="2000" b="1" i="1" baseline="-25000" dirty="0" smtClean="0"/>
              <a:t>3</a:t>
            </a:r>
            <a:r>
              <a:rPr lang="nl-NL" sz="2000" b="1" i="1" dirty="0" smtClean="0"/>
              <a:t> </a:t>
            </a:r>
            <a:r>
              <a:rPr lang="nl-NL" sz="2000" dirty="0" smtClean="0"/>
              <a:t>en conclusie </a:t>
            </a:r>
            <a:r>
              <a:rPr lang="el-GR" sz="2000" b="1" i="1" dirty="0" smtClean="0"/>
              <a:t>β</a:t>
            </a:r>
            <a:r>
              <a:rPr lang="nl-NL" sz="2000" dirty="0" smtClean="0"/>
              <a:t> </a:t>
            </a:r>
            <a:r>
              <a:rPr lang="nl-NL" sz="2000" i="1" dirty="0" smtClean="0"/>
              <a:t>semantisch ongeldig </a:t>
            </a:r>
            <a:r>
              <a:rPr lang="nl-NL" sz="2000" dirty="0" smtClean="0"/>
              <a:t>is dan en slechts dan als er tenminste één </a:t>
            </a:r>
            <a:r>
              <a:rPr lang="nl-NL" sz="2000" i="1" dirty="0" smtClean="0"/>
              <a:t>interpretatie</a:t>
            </a:r>
            <a:r>
              <a:rPr lang="nl-NL" sz="2000" dirty="0" smtClean="0"/>
              <a:t> bestaat die </a:t>
            </a:r>
            <a:r>
              <a:rPr lang="el-GR" sz="2000" b="1" i="1" dirty="0" smtClean="0"/>
              <a:t>α</a:t>
            </a:r>
            <a:r>
              <a:rPr lang="nl-NL" sz="2000" b="1" i="1" baseline="-25000" dirty="0" smtClean="0"/>
              <a:t>1</a:t>
            </a:r>
            <a:r>
              <a:rPr lang="nl-NL" sz="2000" baseline="-25000" dirty="0" smtClean="0"/>
              <a:t> </a:t>
            </a:r>
            <a:r>
              <a:rPr lang="nl-NL" sz="2000" dirty="0" smtClean="0"/>
              <a:t>, </a:t>
            </a:r>
            <a:r>
              <a:rPr lang="el-GR" sz="2000" b="1" i="1" dirty="0" smtClean="0"/>
              <a:t>α</a:t>
            </a:r>
            <a:r>
              <a:rPr lang="nl-NL" sz="2000" b="1" i="1" baseline="-25000" dirty="0" smtClean="0"/>
              <a:t>2</a:t>
            </a:r>
            <a:r>
              <a:rPr lang="nl-NL" sz="2000" b="1" i="1" dirty="0" smtClean="0"/>
              <a:t> </a:t>
            </a:r>
            <a:r>
              <a:rPr lang="nl-NL" sz="2000" dirty="0" smtClean="0"/>
              <a:t>, </a:t>
            </a:r>
            <a:r>
              <a:rPr lang="el-GR" sz="2000" b="1" i="1" dirty="0" smtClean="0"/>
              <a:t>α</a:t>
            </a:r>
            <a:r>
              <a:rPr lang="nl-NL" sz="2000" b="1" i="1" baseline="-25000" dirty="0" smtClean="0"/>
              <a:t>3 </a:t>
            </a:r>
            <a:r>
              <a:rPr lang="nl-NL" sz="2000" dirty="0" smtClean="0"/>
              <a:t>waarmaakt en </a:t>
            </a:r>
            <a:r>
              <a:rPr lang="el-GR" sz="2000" b="1" i="1" dirty="0" smtClean="0"/>
              <a:t>β</a:t>
            </a:r>
            <a:r>
              <a:rPr lang="nl-NL" sz="2000" dirty="0" smtClean="0"/>
              <a:t> onwaar maakt.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95536" y="3832448"/>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Om vast te stellen of een bepaalde </a:t>
            </a:r>
            <a:r>
              <a:rPr lang="nl-NL" sz="2000" dirty="0" err="1" smtClean="0"/>
              <a:t>predikaat-logische</a:t>
            </a:r>
            <a:r>
              <a:rPr lang="nl-NL" sz="2000" dirty="0" smtClean="0"/>
              <a:t> redenering semantisch geldig of semantisch ongeldig is, gaan we met de boommethode opnieuw op zoek naar een tegenvoorbeeld.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85192" y="4912568"/>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Gelet op bovenstaande definitie van semantische geldigheid is een eventueel tegenvoorbeeld niets anders dan een </a:t>
            </a:r>
            <a:r>
              <a:rPr lang="nl-NL" sz="2000" i="1" dirty="0" smtClean="0"/>
              <a:t>interpretatie</a:t>
            </a:r>
            <a:r>
              <a:rPr lang="nl-NL" sz="2000" dirty="0" smtClean="0"/>
              <a:t> die de premissen van de redenering waar en de conclusie onwaar maakt.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build="allAtOnce"/>
      <p:bldP spid="7" grpId="0" build="allAtOnce"/>
    </p:bldLst>
  </p:timing>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Boomregels voor de </a:t>
            </a:r>
            <a:r>
              <a:rPr lang="nl-NL" sz="3600" dirty="0" err="1" smtClean="0"/>
              <a:t>predikaatlogica</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We hebben al tien boomregels. Hoeveel extra boomregels zijn er nodig om      de boommethode ook te kunnen toepassen op de </a:t>
            </a:r>
            <a:r>
              <a:rPr lang="nl-NL" sz="2000" dirty="0" err="1" smtClean="0"/>
              <a:t>predikaatlogica</a:t>
            </a:r>
            <a:r>
              <a:rPr lang="nl-NL" sz="2000" dirty="0" smtClean="0"/>
              <a:t>?</a:t>
            </a:r>
          </a:p>
        </p:txBody>
      </p:sp>
      <p:sp>
        <p:nvSpPr>
          <p:cNvPr id="6" name="Content Placeholder 2"/>
          <p:cNvSpPr txBox="1">
            <a:spLocks/>
          </p:cNvSpPr>
          <p:nvPr/>
        </p:nvSpPr>
        <p:spPr>
          <a:xfrm>
            <a:off x="539552" y="2564904"/>
            <a:ext cx="8363272" cy="432048"/>
          </a:xfrm>
          <a:prstGeom prst="rect">
            <a:avLst/>
          </a:prstGeom>
        </p:spPr>
        <p:txBody>
          <a:bodyPr vert="horz" lIns="91440" tIns="45720" rIns="91440" bIns="45720" rtlCol="0">
            <a:noAutofit/>
          </a:bodyPr>
          <a:lstStyle/>
          <a:p>
            <a:pPr marL="342900" lvl="0" indent="-342900">
              <a:spcBef>
                <a:spcPct val="20000"/>
              </a:spcBef>
              <a:defRPr/>
            </a:pPr>
            <a:r>
              <a:rPr lang="nl-NL" sz="2000" dirty="0" smtClean="0"/>
              <a:t>  Een regel voor het optreden van een ware universele </a:t>
            </a:r>
            <a:r>
              <a:rPr lang="nl-NL" sz="2000" dirty="0" err="1" smtClean="0"/>
              <a:t>kwantificatie</a:t>
            </a:r>
            <a:endParaRPr lang="nl-NL" sz="2000" dirty="0" smtClean="0"/>
          </a:p>
        </p:txBody>
      </p:sp>
      <p:sp>
        <p:nvSpPr>
          <p:cNvPr id="9" name="Content Placeholder 2"/>
          <p:cNvSpPr txBox="1">
            <a:spLocks/>
          </p:cNvSpPr>
          <p:nvPr/>
        </p:nvSpPr>
        <p:spPr>
          <a:xfrm>
            <a:off x="539552" y="2924944"/>
            <a:ext cx="8363272" cy="432048"/>
          </a:xfrm>
          <a:prstGeom prst="rect">
            <a:avLst/>
          </a:prstGeom>
        </p:spPr>
        <p:txBody>
          <a:bodyPr vert="horz" lIns="91440" tIns="45720" rIns="91440" bIns="45720" rtlCol="0">
            <a:noAutofit/>
          </a:bodyPr>
          <a:lstStyle/>
          <a:p>
            <a:pPr marL="342900" lvl="0" indent="-342900">
              <a:spcBef>
                <a:spcPct val="20000"/>
              </a:spcBef>
              <a:defRPr/>
            </a:pPr>
            <a:r>
              <a:rPr lang="nl-NL" sz="2000" dirty="0" smtClean="0"/>
              <a:t>  Een regel voor het optreden van een onware universele </a:t>
            </a:r>
            <a:r>
              <a:rPr lang="nl-NL" sz="2000" dirty="0" err="1" smtClean="0"/>
              <a:t>kwantificatie</a:t>
            </a:r>
            <a:endParaRPr lang="nl-NL" sz="2000" dirty="0" smtClean="0"/>
          </a:p>
        </p:txBody>
      </p:sp>
      <p:sp>
        <p:nvSpPr>
          <p:cNvPr id="10" name="Content Placeholder 2"/>
          <p:cNvSpPr txBox="1">
            <a:spLocks/>
          </p:cNvSpPr>
          <p:nvPr/>
        </p:nvSpPr>
        <p:spPr>
          <a:xfrm>
            <a:off x="539552" y="3284984"/>
            <a:ext cx="8363272" cy="432048"/>
          </a:xfrm>
          <a:prstGeom prst="rect">
            <a:avLst/>
          </a:prstGeom>
        </p:spPr>
        <p:txBody>
          <a:bodyPr vert="horz" lIns="91440" tIns="45720" rIns="91440" bIns="45720" rtlCol="0">
            <a:noAutofit/>
          </a:bodyPr>
          <a:lstStyle/>
          <a:p>
            <a:pPr marL="342900" lvl="0" indent="-342900">
              <a:spcBef>
                <a:spcPct val="20000"/>
              </a:spcBef>
              <a:defRPr/>
            </a:pPr>
            <a:r>
              <a:rPr lang="nl-NL" sz="2000" dirty="0" smtClean="0"/>
              <a:t>  Een regel voor het optreden van een ware existentiële </a:t>
            </a:r>
            <a:r>
              <a:rPr lang="nl-NL" sz="2000" dirty="0" err="1" smtClean="0"/>
              <a:t>kwantificatie</a:t>
            </a:r>
            <a:endParaRPr lang="nl-NL" sz="2000" dirty="0" smtClean="0"/>
          </a:p>
        </p:txBody>
      </p:sp>
      <p:sp>
        <p:nvSpPr>
          <p:cNvPr id="11" name="Content Placeholder 2"/>
          <p:cNvSpPr txBox="1">
            <a:spLocks/>
          </p:cNvSpPr>
          <p:nvPr/>
        </p:nvSpPr>
        <p:spPr>
          <a:xfrm>
            <a:off x="539552" y="3645024"/>
            <a:ext cx="8363272" cy="432048"/>
          </a:xfrm>
          <a:prstGeom prst="rect">
            <a:avLst/>
          </a:prstGeom>
        </p:spPr>
        <p:txBody>
          <a:bodyPr vert="horz" lIns="91440" tIns="45720" rIns="91440" bIns="45720" rtlCol="0">
            <a:noAutofit/>
          </a:bodyPr>
          <a:lstStyle/>
          <a:p>
            <a:pPr marL="342900" lvl="0" indent="-342900">
              <a:spcBef>
                <a:spcPct val="20000"/>
              </a:spcBef>
              <a:defRPr/>
            </a:pPr>
            <a:r>
              <a:rPr lang="nl-NL" sz="2000" dirty="0" smtClean="0"/>
              <a:t>  Een regel voor het optreden van een onware existentiële </a:t>
            </a:r>
            <a:r>
              <a:rPr lang="nl-NL" sz="2000" dirty="0" err="1" smtClean="0"/>
              <a:t>kwantificatie</a:t>
            </a:r>
            <a:endParaRPr lang="nl-NL" sz="2000" dirty="0" smtClean="0"/>
          </a:p>
        </p:txBody>
      </p:sp>
      <p:sp>
        <p:nvSpPr>
          <p:cNvPr id="12" name="TextBox 11"/>
          <p:cNvSpPr txBox="1"/>
          <p:nvPr/>
        </p:nvSpPr>
        <p:spPr>
          <a:xfrm>
            <a:off x="611560" y="4293096"/>
            <a:ext cx="2232248" cy="369332"/>
          </a:xfrm>
          <a:prstGeom prst="rect">
            <a:avLst/>
          </a:prstGeom>
          <a:noFill/>
        </p:spPr>
        <p:txBody>
          <a:bodyPr wrap="square" rtlCol="0">
            <a:spAutoFit/>
          </a:bodyPr>
          <a:lstStyle/>
          <a:p>
            <a:r>
              <a:rPr lang="nl-NL" i="1" dirty="0" smtClean="0"/>
              <a:t>Vier extra regels dus…</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9" grpId="0" build="allAtOnce"/>
      <p:bldP spid="10" grpId="0" build="allAtOnce"/>
      <p:bldP spid="11" grpId="0" build="allAtOnce"/>
      <p:bldP spid="12" grpId="0" build="allAtOnce"/>
    </p:bldLst>
  </p:timing>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Boomregel voor ware universele </a:t>
            </a:r>
            <a:r>
              <a:rPr lang="nl-NL" sz="3600" dirty="0" err="1" smtClean="0"/>
              <a:t>kwantificatie</a:t>
            </a:r>
            <a:endParaRPr lang="nl-NL" sz="3600" dirty="0"/>
          </a:p>
        </p:txBody>
      </p:sp>
      <p:sp>
        <p:nvSpPr>
          <p:cNvPr id="14" name="Oval 13"/>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tangle 18"/>
          <p:cNvSpPr/>
          <p:nvPr/>
        </p:nvSpPr>
        <p:spPr>
          <a:xfrm>
            <a:off x="611560"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20" name="Rectangle 19"/>
          <p:cNvSpPr/>
          <p:nvPr/>
        </p:nvSpPr>
        <p:spPr>
          <a:xfrm>
            <a:off x="89959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1" name="TextBox 20"/>
          <p:cNvSpPr txBox="1"/>
          <p:nvPr/>
        </p:nvSpPr>
        <p:spPr>
          <a:xfrm>
            <a:off x="899592" y="3573016"/>
            <a:ext cx="2808312" cy="923330"/>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a:t>
            </a:r>
            <a:endParaRPr lang="nl-NL" dirty="0"/>
          </a:p>
        </p:txBody>
      </p:sp>
      <p:sp>
        <p:nvSpPr>
          <p:cNvPr id="22" name="TextBox 21"/>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23" name="Content Placeholder 2"/>
          <p:cNvSpPr>
            <a:spLocks noGrp="1"/>
          </p:cNvSpPr>
          <p:nvPr>
            <p:ph idx="1"/>
          </p:nvPr>
        </p:nvSpPr>
        <p:spPr>
          <a:xfrm>
            <a:off x="4067944" y="1340768"/>
            <a:ext cx="8686800" cy="820687"/>
          </a:xfrm>
        </p:spPr>
        <p:txBody>
          <a:bodyPr>
            <a:noAutofit/>
          </a:bodyPr>
          <a:lstStyle/>
          <a:p>
            <a:pPr>
              <a:buNone/>
            </a:pPr>
            <a:r>
              <a:rPr lang="nl-NL" sz="2000" dirty="0" smtClean="0"/>
              <a:t>Is  </a:t>
            </a:r>
            <a:r>
              <a:rPr lang="nl-NL" sz="2000" b="1" dirty="0" smtClean="0"/>
              <a:t>∀x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Ga |= Fa  </a:t>
            </a:r>
            <a:r>
              <a:rPr lang="nl-NL" sz="2000" dirty="0" smtClean="0"/>
              <a:t>?</a:t>
            </a:r>
            <a:r>
              <a:rPr lang="nl-NL" sz="2000" b="1" dirty="0" smtClean="0"/>
              <a:t> </a:t>
            </a:r>
            <a:endParaRPr lang="nl-NL" sz="2000" dirty="0" smtClean="0"/>
          </a:p>
          <a:p>
            <a:pPr>
              <a:buNone/>
            </a:pPr>
            <a:endParaRPr lang="nl-NL" sz="2000" dirty="0" smtClean="0"/>
          </a:p>
        </p:txBody>
      </p:sp>
      <p:sp>
        <p:nvSpPr>
          <p:cNvPr id="24" name="Oval 23"/>
          <p:cNvSpPr/>
          <p:nvPr/>
        </p:nvSpPr>
        <p:spPr>
          <a:xfrm>
            <a:off x="6300192" y="26369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tangle 24"/>
          <p:cNvSpPr/>
          <p:nvPr/>
        </p:nvSpPr>
        <p:spPr>
          <a:xfrm>
            <a:off x="4788024" y="2204864"/>
            <a:ext cx="1422184" cy="646331"/>
          </a:xfrm>
          <a:prstGeom prst="rect">
            <a:avLst/>
          </a:prstGeom>
        </p:spPr>
        <p:txBody>
          <a:bodyPr wrap="none">
            <a:spAutoFit/>
          </a:bodyPr>
          <a:lstStyle/>
          <a:p>
            <a:r>
              <a:rPr lang="nl-NL" b="1" dirty="0" smtClean="0"/>
              <a:t>∀x (</a:t>
            </a:r>
            <a:r>
              <a:rPr lang="nl-NL" b="1" dirty="0" err="1" smtClean="0"/>
              <a:t>Fx</a:t>
            </a:r>
            <a:r>
              <a:rPr lang="nl-NL" b="1" dirty="0" smtClean="0"/>
              <a:t> → </a:t>
            </a:r>
            <a:r>
              <a:rPr lang="nl-NL" b="1" dirty="0" err="1" smtClean="0"/>
              <a:t>Gx</a:t>
            </a:r>
            <a:r>
              <a:rPr lang="nl-NL" b="1" dirty="0" smtClean="0"/>
              <a:t>)</a:t>
            </a:r>
          </a:p>
          <a:p>
            <a:r>
              <a:rPr lang="nl-NL" b="1" dirty="0" smtClean="0"/>
              <a:t>	Ga </a:t>
            </a:r>
            <a:endParaRPr lang="nl-NL" dirty="0"/>
          </a:p>
        </p:txBody>
      </p:sp>
      <p:sp>
        <p:nvSpPr>
          <p:cNvPr id="26" name="Rectangle 25"/>
          <p:cNvSpPr/>
          <p:nvPr/>
        </p:nvSpPr>
        <p:spPr>
          <a:xfrm>
            <a:off x="6588224" y="2483604"/>
            <a:ext cx="397994" cy="369332"/>
          </a:xfrm>
          <a:prstGeom prst="rect">
            <a:avLst/>
          </a:prstGeom>
        </p:spPr>
        <p:txBody>
          <a:bodyPr wrap="none">
            <a:spAutoFit/>
          </a:bodyPr>
          <a:lstStyle/>
          <a:p>
            <a:r>
              <a:rPr lang="nl-NL" b="1" dirty="0" smtClean="0"/>
              <a:t>Fa</a:t>
            </a:r>
            <a:endParaRPr lang="nl-NL" dirty="0"/>
          </a:p>
        </p:txBody>
      </p:sp>
      <p:cxnSp>
        <p:nvCxnSpPr>
          <p:cNvPr id="27" name="Straight Connector 26"/>
          <p:cNvCxnSpPr/>
          <p:nvPr/>
        </p:nvCxnSpPr>
        <p:spPr>
          <a:xfrm>
            <a:off x="6336000" y="278092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6300192"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9" name="Rectangle 28"/>
          <p:cNvSpPr/>
          <p:nvPr/>
        </p:nvSpPr>
        <p:spPr>
          <a:xfrm>
            <a:off x="5364088" y="3068960"/>
            <a:ext cx="973472" cy="369332"/>
          </a:xfrm>
          <a:prstGeom prst="rect">
            <a:avLst/>
          </a:prstGeom>
        </p:spPr>
        <p:txBody>
          <a:bodyPr wrap="none">
            <a:spAutoFit/>
          </a:bodyPr>
          <a:lstStyle/>
          <a:p>
            <a:r>
              <a:rPr lang="nl-NL" b="1" dirty="0" smtClean="0"/>
              <a:t>Fa → Ga</a:t>
            </a:r>
            <a:endParaRPr lang="nl-NL" dirty="0"/>
          </a:p>
        </p:txBody>
      </p:sp>
      <p:cxnSp>
        <p:nvCxnSpPr>
          <p:cNvPr id="30" name="Straight Connector 29"/>
          <p:cNvCxnSpPr/>
          <p:nvPr/>
        </p:nvCxnSpPr>
        <p:spPr>
          <a:xfrm flipH="1">
            <a:off x="5220072" y="342900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372200" y="3429000"/>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5076056" y="39330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Oval 32"/>
          <p:cNvSpPr/>
          <p:nvPr/>
        </p:nvSpPr>
        <p:spPr>
          <a:xfrm>
            <a:off x="7596336" y="39330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4" name="Rectangle 33"/>
          <p:cNvSpPr/>
          <p:nvPr/>
        </p:nvSpPr>
        <p:spPr>
          <a:xfrm>
            <a:off x="5220072" y="3851756"/>
            <a:ext cx="450893" cy="369332"/>
          </a:xfrm>
          <a:prstGeom prst="rect">
            <a:avLst/>
          </a:prstGeom>
        </p:spPr>
        <p:txBody>
          <a:bodyPr wrap="none">
            <a:spAutoFit/>
          </a:bodyPr>
          <a:lstStyle/>
          <a:p>
            <a:r>
              <a:rPr lang="nl-NL" b="1" dirty="0" smtClean="0"/>
              <a:t>Fa </a:t>
            </a:r>
            <a:endParaRPr lang="nl-NL" dirty="0"/>
          </a:p>
        </p:txBody>
      </p:sp>
      <p:sp>
        <p:nvSpPr>
          <p:cNvPr id="37" name="Rectangle 36"/>
          <p:cNvSpPr/>
          <p:nvPr/>
        </p:nvSpPr>
        <p:spPr>
          <a:xfrm>
            <a:off x="7097481" y="3851756"/>
            <a:ext cx="498855" cy="369332"/>
          </a:xfrm>
          <a:prstGeom prst="rect">
            <a:avLst/>
          </a:prstGeom>
        </p:spPr>
        <p:txBody>
          <a:bodyPr wrap="none">
            <a:spAutoFit/>
          </a:bodyPr>
          <a:lstStyle/>
          <a:p>
            <a:r>
              <a:rPr lang="nl-NL" b="1" dirty="0" smtClean="0"/>
              <a:t>Ga </a:t>
            </a:r>
            <a:endParaRPr lang="nl-NL" dirty="0"/>
          </a:p>
        </p:txBody>
      </p:sp>
      <p:sp>
        <p:nvSpPr>
          <p:cNvPr id="38" name="TextBox 37"/>
          <p:cNvSpPr txBox="1"/>
          <p:nvPr/>
        </p:nvSpPr>
        <p:spPr>
          <a:xfrm>
            <a:off x="3851920" y="4543960"/>
            <a:ext cx="5112568" cy="1477328"/>
          </a:xfrm>
          <a:prstGeom prst="rect">
            <a:avLst/>
          </a:prstGeom>
          <a:noFill/>
        </p:spPr>
        <p:txBody>
          <a:bodyPr wrap="square" rtlCol="0">
            <a:spAutoFit/>
          </a:bodyPr>
          <a:lstStyle/>
          <a:p>
            <a:r>
              <a:rPr lang="nl-NL" dirty="0" smtClean="0"/>
              <a:t>Deze redenering is semantisch ongeldig. Beide open takken leveren hetzelfde tegenvoorbeeld op: Een domein </a:t>
            </a:r>
            <a:r>
              <a:rPr lang="nl-NL" b="1" dirty="0" smtClean="0"/>
              <a:t>D </a:t>
            </a:r>
            <a:r>
              <a:rPr lang="nl-NL" dirty="0" smtClean="0"/>
              <a:t>bestaande uit één object aangeduid door de individuconstante </a:t>
            </a:r>
            <a:r>
              <a:rPr lang="nl-NL" b="1" dirty="0" smtClean="0"/>
              <a:t>a </a:t>
            </a:r>
            <a:r>
              <a:rPr lang="nl-NL" dirty="0" smtClean="0"/>
              <a:t>en zodanig dat eigenschap </a:t>
            </a:r>
            <a:r>
              <a:rPr lang="nl-NL" b="1" dirty="0" smtClean="0"/>
              <a:t>F </a:t>
            </a:r>
            <a:r>
              <a:rPr lang="nl-NL" dirty="0" smtClean="0"/>
              <a:t>niet aan </a:t>
            </a:r>
            <a:r>
              <a:rPr lang="nl-NL" b="1" dirty="0" smtClean="0"/>
              <a:t>a</a:t>
            </a:r>
            <a:r>
              <a:rPr lang="nl-NL" dirty="0" smtClean="0"/>
              <a:t> en eigenschap </a:t>
            </a:r>
            <a:r>
              <a:rPr lang="nl-NL" b="1" dirty="0" smtClean="0"/>
              <a:t>G</a:t>
            </a:r>
            <a:r>
              <a:rPr lang="nl-NL" dirty="0" smtClean="0"/>
              <a:t> wel aan </a:t>
            </a:r>
            <a:r>
              <a:rPr lang="nl-NL" b="1" dirty="0" smtClean="0"/>
              <a:t>a</a:t>
            </a:r>
            <a:r>
              <a:rPr lang="nl-NL" dirty="0" smtClean="0"/>
              <a:t> toekomt.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0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0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0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xEl>
                                              <p:pRg st="0" end="0"/>
                                            </p:txEl>
                                          </p:spTgt>
                                        </p:tgtEl>
                                        <p:attrNameLst>
                                          <p:attrName>style.visibility</p:attrName>
                                        </p:attrNameLst>
                                      </p:cBhvr>
                                      <p:to>
                                        <p:strVal val="visible"/>
                                      </p:to>
                                    </p:set>
                                    <p:animEffect transition="in" filter="fade">
                                      <p:cBhvr>
                                        <p:cTn id="33" dur="2000"/>
                                        <p:tgtEl>
                                          <p:spTgt spid="2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fade">
                                      <p:cBhvr>
                                        <p:cTn id="38" dur="2000"/>
                                        <p:tgtEl>
                                          <p:spTgt spid="2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20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20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20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20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2000"/>
                                        <p:tgtEl>
                                          <p:spTgt spid="29"/>
                                        </p:tgtEl>
                                      </p:cBhvr>
                                    </p:animEffect>
                                  </p:childTnLst>
                                </p:cTn>
                              </p:par>
                              <p:par>
                                <p:cTn id="54" presetID="10" presetClass="entr" presetSubtype="0" fill="hold"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2000"/>
                                        <p:tgtEl>
                                          <p:spTgt spid="30"/>
                                        </p:tgtEl>
                                      </p:cBhvr>
                                    </p:animEffect>
                                  </p:childTnLst>
                                </p:cTn>
                              </p:par>
                              <p:par>
                                <p:cTn id="57" presetID="10" presetClass="entr" presetSubtype="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2000"/>
                                        <p:tgtEl>
                                          <p:spTgt spid="3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2000"/>
                                        <p:tgtEl>
                                          <p:spTgt spid="3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2000"/>
                                        <p:tgtEl>
                                          <p:spTgt spid="3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2000"/>
                                        <p:tgtEl>
                                          <p:spTgt spid="3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fade">
                                      <p:cBhvr>
                                        <p:cTn id="71" dur="20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38">
                                            <p:txEl>
                                              <p:pRg st="0" end="0"/>
                                            </p:txEl>
                                          </p:spTgt>
                                        </p:tgtEl>
                                        <p:attrNameLst>
                                          <p:attrName>style.visibility</p:attrName>
                                        </p:attrNameLst>
                                      </p:cBhvr>
                                      <p:to>
                                        <p:strVal val="visible"/>
                                      </p:to>
                                    </p:set>
                                    <p:animEffect transition="in" filter="fade">
                                      <p:cBhvr>
                                        <p:cTn id="76" dur="2000"/>
                                        <p:tgtEl>
                                          <p:spTgt spid="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p:bldP spid="20" grpId="0"/>
      <p:bldP spid="21" grpId="0"/>
      <p:bldP spid="22" grpId="0"/>
      <p:bldP spid="23" grpId="0" build="allAtOnce"/>
      <p:bldP spid="24" grpId="0" animBg="1"/>
      <p:bldP spid="25" grpId="0"/>
      <p:bldP spid="26" grpId="0"/>
      <p:bldP spid="28" grpId="0" animBg="1"/>
      <p:bldP spid="29" grpId="0"/>
      <p:bldP spid="32" grpId="0" animBg="1"/>
      <p:bldP spid="33" grpId="0" animBg="1"/>
      <p:bldP spid="34" grpId="0"/>
      <p:bldP spid="37" grpId="0"/>
      <p:bldP spid="38" grpId="0" build="allAtOnce"/>
    </p:bldLst>
  </p:timing>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Boomregel voor ware universele </a:t>
            </a:r>
            <a:r>
              <a:rPr lang="nl-NL" sz="3600" dirty="0" err="1" smtClean="0"/>
              <a:t>kwantificatie</a:t>
            </a:r>
            <a:endParaRPr lang="nl-NL" sz="3600" dirty="0"/>
          </a:p>
        </p:txBody>
      </p:sp>
      <p:sp>
        <p:nvSpPr>
          <p:cNvPr id="23" name="Content Placeholder 2"/>
          <p:cNvSpPr>
            <a:spLocks noGrp="1"/>
          </p:cNvSpPr>
          <p:nvPr>
            <p:ph idx="1"/>
          </p:nvPr>
        </p:nvSpPr>
        <p:spPr>
          <a:xfrm>
            <a:off x="683568" y="1384177"/>
            <a:ext cx="8686800" cy="820687"/>
          </a:xfrm>
        </p:spPr>
        <p:txBody>
          <a:bodyPr>
            <a:noAutofit/>
          </a:bodyPr>
          <a:lstStyle/>
          <a:p>
            <a:pPr>
              <a:buNone/>
            </a:pPr>
            <a:r>
              <a:rPr lang="nl-NL" sz="2000" dirty="0" smtClean="0"/>
              <a:t>Is  </a:t>
            </a:r>
            <a:r>
              <a:rPr lang="nl-NL" sz="2000" b="1" dirty="0" smtClean="0"/>
              <a:t>∀x (</a:t>
            </a:r>
            <a:r>
              <a:rPr lang="nl-NL" sz="2000" b="1" dirty="0" err="1" smtClean="0"/>
              <a:t>Ax</a:t>
            </a:r>
            <a:r>
              <a:rPr lang="nl-NL" sz="2000" b="1" dirty="0" smtClean="0"/>
              <a:t> → </a:t>
            </a:r>
            <a:r>
              <a:rPr lang="nl-NL" sz="2000" b="1" dirty="0" err="1" smtClean="0"/>
              <a:t>Rxx</a:t>
            </a:r>
            <a:r>
              <a:rPr lang="nl-NL" sz="2000" b="1" dirty="0" smtClean="0"/>
              <a:t>) |= </a:t>
            </a:r>
            <a:r>
              <a:rPr lang="nl-NL" sz="2000" b="1" dirty="0" err="1" smtClean="0"/>
              <a:t>Raa</a:t>
            </a:r>
            <a:r>
              <a:rPr lang="nl-NL" sz="2000" b="1" dirty="0" smtClean="0"/>
              <a:t> V </a:t>
            </a:r>
            <a:r>
              <a:rPr lang="nl-NL" sz="2000" b="1" dirty="0" err="1" smtClean="0"/>
              <a:t>Rbb</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sp>
        <p:nvSpPr>
          <p:cNvPr id="24" name="Oval 23"/>
          <p:cNvSpPr/>
          <p:nvPr/>
        </p:nvSpPr>
        <p:spPr>
          <a:xfrm>
            <a:off x="2843808" y="26369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Rectangle 24"/>
          <p:cNvSpPr/>
          <p:nvPr/>
        </p:nvSpPr>
        <p:spPr>
          <a:xfrm>
            <a:off x="1240612" y="2483604"/>
            <a:ext cx="1531188"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Rxx</a:t>
            </a:r>
            <a:r>
              <a:rPr lang="nl-NL" b="1" dirty="0" smtClean="0"/>
              <a:t>)</a:t>
            </a:r>
            <a:endParaRPr lang="nl-NL" dirty="0"/>
          </a:p>
        </p:txBody>
      </p:sp>
      <p:sp>
        <p:nvSpPr>
          <p:cNvPr id="26" name="Rectangle 25"/>
          <p:cNvSpPr/>
          <p:nvPr/>
        </p:nvSpPr>
        <p:spPr>
          <a:xfrm>
            <a:off x="3059832" y="2483604"/>
            <a:ext cx="1160895" cy="369332"/>
          </a:xfrm>
          <a:prstGeom prst="rect">
            <a:avLst/>
          </a:prstGeom>
        </p:spPr>
        <p:txBody>
          <a:bodyPr wrap="none">
            <a:spAutoFit/>
          </a:bodyPr>
          <a:lstStyle/>
          <a:p>
            <a:r>
              <a:rPr lang="nl-NL" b="1" dirty="0" err="1" smtClean="0"/>
              <a:t>Raa</a:t>
            </a:r>
            <a:r>
              <a:rPr lang="nl-NL" b="1" dirty="0" smtClean="0"/>
              <a:t> V </a:t>
            </a:r>
            <a:r>
              <a:rPr lang="nl-NL" b="1" dirty="0" err="1" smtClean="0"/>
              <a:t>Rbb</a:t>
            </a:r>
            <a:endParaRPr lang="nl-NL" dirty="0"/>
          </a:p>
        </p:txBody>
      </p:sp>
      <p:cxnSp>
        <p:nvCxnSpPr>
          <p:cNvPr id="27" name="Straight Connector 26"/>
          <p:cNvCxnSpPr/>
          <p:nvPr/>
        </p:nvCxnSpPr>
        <p:spPr>
          <a:xfrm>
            <a:off x="2879616" y="278092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843808"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0" name="Straight Connector 29"/>
          <p:cNvCxnSpPr/>
          <p:nvPr/>
        </p:nvCxnSpPr>
        <p:spPr>
          <a:xfrm flipH="1">
            <a:off x="1763688" y="414908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915816" y="4149080"/>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1619672" y="465313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Oval 32"/>
          <p:cNvSpPr/>
          <p:nvPr/>
        </p:nvSpPr>
        <p:spPr>
          <a:xfrm>
            <a:off x="4139952" y="465313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4" name="Rectangle 33"/>
          <p:cNvSpPr/>
          <p:nvPr/>
        </p:nvSpPr>
        <p:spPr>
          <a:xfrm>
            <a:off x="1763688" y="4571836"/>
            <a:ext cx="490840" cy="369332"/>
          </a:xfrm>
          <a:prstGeom prst="rect">
            <a:avLst/>
          </a:prstGeom>
        </p:spPr>
        <p:txBody>
          <a:bodyPr wrap="none">
            <a:spAutoFit/>
          </a:bodyPr>
          <a:lstStyle/>
          <a:p>
            <a:r>
              <a:rPr lang="nl-NL" b="1" dirty="0" smtClean="0"/>
              <a:t>Aa </a:t>
            </a:r>
            <a:endParaRPr lang="nl-NL" dirty="0"/>
          </a:p>
        </p:txBody>
      </p:sp>
      <p:sp>
        <p:nvSpPr>
          <p:cNvPr id="37" name="Rectangle 36"/>
          <p:cNvSpPr/>
          <p:nvPr/>
        </p:nvSpPr>
        <p:spPr>
          <a:xfrm>
            <a:off x="3563888" y="4571836"/>
            <a:ext cx="595035" cy="369332"/>
          </a:xfrm>
          <a:prstGeom prst="rect">
            <a:avLst/>
          </a:prstGeom>
        </p:spPr>
        <p:txBody>
          <a:bodyPr wrap="none">
            <a:spAutoFit/>
          </a:bodyPr>
          <a:lstStyle/>
          <a:p>
            <a:r>
              <a:rPr lang="nl-NL" b="1" dirty="0" err="1" smtClean="0"/>
              <a:t>Raa</a:t>
            </a:r>
            <a:r>
              <a:rPr lang="nl-NL" b="1" dirty="0" smtClean="0"/>
              <a:t> </a:t>
            </a:r>
            <a:endParaRPr lang="nl-NL" dirty="0"/>
          </a:p>
        </p:txBody>
      </p:sp>
      <p:sp>
        <p:nvSpPr>
          <p:cNvPr id="38" name="TextBox 37"/>
          <p:cNvSpPr txBox="1"/>
          <p:nvPr/>
        </p:nvSpPr>
        <p:spPr>
          <a:xfrm>
            <a:off x="5076056" y="2852936"/>
            <a:ext cx="4067944" cy="2308324"/>
          </a:xfrm>
          <a:prstGeom prst="rect">
            <a:avLst/>
          </a:prstGeom>
          <a:noFill/>
        </p:spPr>
        <p:txBody>
          <a:bodyPr wrap="square" rtlCol="0">
            <a:spAutoFit/>
          </a:bodyPr>
          <a:lstStyle/>
          <a:p>
            <a:r>
              <a:rPr lang="nl-NL" dirty="0" smtClean="0"/>
              <a:t>Redenering is semantisch ongeldig. Er is                          een open tak die een tegenvoorbeeld oplevert: Een domein </a:t>
            </a:r>
            <a:r>
              <a:rPr lang="nl-NL" b="1" dirty="0" smtClean="0"/>
              <a:t>D </a:t>
            </a:r>
            <a:r>
              <a:rPr lang="nl-NL" dirty="0" smtClean="0"/>
              <a:t>bestaande uit twee objecten, </a:t>
            </a:r>
            <a:r>
              <a:rPr lang="nl-NL" b="1" dirty="0" smtClean="0"/>
              <a:t>a</a:t>
            </a:r>
            <a:r>
              <a:rPr lang="nl-NL" dirty="0" smtClean="0"/>
              <a:t> en </a:t>
            </a:r>
            <a:r>
              <a:rPr lang="nl-NL" b="1" dirty="0" smtClean="0"/>
              <a:t>b</a:t>
            </a:r>
            <a:r>
              <a:rPr lang="nl-NL" dirty="0" smtClean="0"/>
              <a:t> waarop </a:t>
            </a:r>
            <a:r>
              <a:rPr lang="nl-NL" b="1" dirty="0" smtClean="0"/>
              <a:t>Aa</a:t>
            </a:r>
            <a:r>
              <a:rPr lang="nl-NL" dirty="0" smtClean="0"/>
              <a:t>, </a:t>
            </a:r>
            <a:r>
              <a:rPr lang="nl-NL" b="1" dirty="0" smtClean="0"/>
              <a:t>Ab</a:t>
            </a:r>
            <a:r>
              <a:rPr lang="nl-NL" dirty="0" smtClean="0"/>
              <a:t>,    </a:t>
            </a:r>
            <a:r>
              <a:rPr lang="nl-NL" b="1" dirty="0" err="1" smtClean="0"/>
              <a:t>Raa</a:t>
            </a:r>
            <a:r>
              <a:rPr lang="nl-NL" dirty="0" smtClean="0"/>
              <a:t> en </a:t>
            </a:r>
            <a:r>
              <a:rPr lang="nl-NL" b="1" dirty="0" err="1" smtClean="0"/>
              <a:t>Rbb</a:t>
            </a:r>
            <a:r>
              <a:rPr lang="nl-NL" dirty="0" smtClean="0"/>
              <a:t> onwaar zijn. </a:t>
            </a:r>
          </a:p>
          <a:p>
            <a:endParaRPr lang="nl-NL" dirty="0" smtClean="0"/>
          </a:p>
          <a:p>
            <a:r>
              <a:rPr lang="nl-NL" dirty="0" smtClean="0"/>
              <a:t>Allerlei andere waarheidswaarden, zoals </a:t>
            </a:r>
            <a:r>
              <a:rPr lang="nl-NL" b="1" dirty="0" smtClean="0"/>
              <a:t>Rab</a:t>
            </a:r>
            <a:r>
              <a:rPr lang="nl-NL" dirty="0" smtClean="0"/>
              <a:t> of </a:t>
            </a:r>
            <a:r>
              <a:rPr lang="nl-NL" b="1" dirty="0" err="1" smtClean="0"/>
              <a:t>Rba</a:t>
            </a:r>
            <a:r>
              <a:rPr lang="nl-NL" dirty="0" smtClean="0"/>
              <a:t>,  doen er dan niet meer toe</a:t>
            </a:r>
            <a:endParaRPr lang="nl-NL" dirty="0"/>
          </a:p>
        </p:txBody>
      </p:sp>
      <p:sp>
        <p:nvSpPr>
          <p:cNvPr id="17" name="Rectangle 16"/>
          <p:cNvSpPr/>
          <p:nvPr/>
        </p:nvSpPr>
        <p:spPr>
          <a:xfrm>
            <a:off x="3051065" y="3131676"/>
            <a:ext cx="1083951" cy="369332"/>
          </a:xfrm>
          <a:prstGeom prst="rect">
            <a:avLst/>
          </a:prstGeom>
        </p:spPr>
        <p:txBody>
          <a:bodyPr wrap="none">
            <a:spAutoFit/>
          </a:bodyPr>
          <a:lstStyle/>
          <a:p>
            <a:r>
              <a:rPr lang="nl-NL" b="1" dirty="0" err="1" smtClean="0"/>
              <a:t>Raa</a:t>
            </a:r>
            <a:r>
              <a:rPr lang="nl-NL" b="1" dirty="0" smtClean="0"/>
              <a:t> </a:t>
            </a:r>
            <a:r>
              <a:rPr lang="nl-NL" dirty="0" smtClean="0"/>
              <a:t>,</a:t>
            </a:r>
            <a:r>
              <a:rPr lang="nl-NL" b="1" dirty="0" smtClean="0"/>
              <a:t> </a:t>
            </a:r>
            <a:r>
              <a:rPr lang="nl-NL" b="1" dirty="0" err="1" smtClean="0"/>
              <a:t>Rbb</a:t>
            </a:r>
            <a:endParaRPr lang="nl-NL" dirty="0"/>
          </a:p>
        </p:txBody>
      </p:sp>
      <p:cxnSp>
        <p:nvCxnSpPr>
          <p:cNvPr id="18" name="Straight Connector 17"/>
          <p:cNvCxnSpPr/>
          <p:nvPr/>
        </p:nvCxnSpPr>
        <p:spPr>
          <a:xfrm>
            <a:off x="2879808" y="34290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2843808" y="39330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1691680" y="3645024"/>
            <a:ext cx="1138453" cy="646331"/>
          </a:xfrm>
          <a:prstGeom prst="rect">
            <a:avLst/>
          </a:prstGeom>
        </p:spPr>
        <p:txBody>
          <a:bodyPr wrap="none">
            <a:spAutoFit/>
          </a:bodyPr>
          <a:lstStyle/>
          <a:p>
            <a:r>
              <a:rPr lang="nl-NL" b="1" dirty="0" smtClean="0"/>
              <a:t>Aa → </a:t>
            </a:r>
            <a:r>
              <a:rPr lang="nl-NL" b="1" dirty="0" err="1" smtClean="0"/>
              <a:t>Raa</a:t>
            </a:r>
            <a:endParaRPr lang="nl-NL" b="1" dirty="0" smtClean="0"/>
          </a:p>
          <a:p>
            <a:r>
              <a:rPr lang="nl-NL" b="1" dirty="0" smtClean="0"/>
              <a:t>Ab → </a:t>
            </a:r>
            <a:r>
              <a:rPr lang="nl-NL" b="1" dirty="0" err="1" smtClean="0"/>
              <a:t>Rbb</a:t>
            </a:r>
            <a:endParaRPr lang="nl-NL" dirty="0"/>
          </a:p>
        </p:txBody>
      </p:sp>
      <p:sp>
        <p:nvSpPr>
          <p:cNvPr id="21" name="TextBox 20"/>
          <p:cNvSpPr txBox="1"/>
          <p:nvPr/>
        </p:nvSpPr>
        <p:spPr>
          <a:xfrm>
            <a:off x="4139952" y="4500409"/>
            <a:ext cx="216024" cy="584775"/>
          </a:xfrm>
          <a:prstGeom prst="rect">
            <a:avLst/>
          </a:prstGeom>
          <a:noFill/>
        </p:spPr>
        <p:txBody>
          <a:bodyPr wrap="square" rtlCol="0">
            <a:spAutoFit/>
          </a:bodyPr>
          <a:lstStyle/>
          <a:p>
            <a:r>
              <a:rPr lang="nl-NL" sz="3200" b="1" dirty="0" smtClean="0"/>
              <a:t>+</a:t>
            </a:r>
            <a:endParaRPr lang="nl-NL" b="1" dirty="0"/>
          </a:p>
        </p:txBody>
      </p:sp>
      <p:cxnSp>
        <p:nvCxnSpPr>
          <p:cNvPr id="29" name="Straight Connector 28"/>
          <p:cNvCxnSpPr/>
          <p:nvPr/>
        </p:nvCxnSpPr>
        <p:spPr>
          <a:xfrm flipH="1">
            <a:off x="539552" y="479715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691680" y="4797152"/>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395536" y="530120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9" name="Oval 38"/>
          <p:cNvSpPr/>
          <p:nvPr/>
        </p:nvSpPr>
        <p:spPr>
          <a:xfrm>
            <a:off x="2915816" y="530120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0" name="Rectangle 39"/>
          <p:cNvSpPr/>
          <p:nvPr/>
        </p:nvSpPr>
        <p:spPr>
          <a:xfrm>
            <a:off x="539552" y="5219908"/>
            <a:ext cx="500458" cy="369332"/>
          </a:xfrm>
          <a:prstGeom prst="rect">
            <a:avLst/>
          </a:prstGeom>
        </p:spPr>
        <p:txBody>
          <a:bodyPr wrap="none">
            <a:spAutoFit/>
          </a:bodyPr>
          <a:lstStyle/>
          <a:p>
            <a:r>
              <a:rPr lang="nl-NL" b="1" dirty="0" smtClean="0"/>
              <a:t>Ab </a:t>
            </a:r>
            <a:endParaRPr lang="nl-NL" dirty="0"/>
          </a:p>
        </p:txBody>
      </p:sp>
      <p:sp>
        <p:nvSpPr>
          <p:cNvPr id="41" name="Rectangle 40"/>
          <p:cNvSpPr/>
          <p:nvPr/>
        </p:nvSpPr>
        <p:spPr>
          <a:xfrm>
            <a:off x="2267744" y="5229200"/>
            <a:ext cx="561372" cy="369332"/>
          </a:xfrm>
          <a:prstGeom prst="rect">
            <a:avLst/>
          </a:prstGeom>
        </p:spPr>
        <p:txBody>
          <a:bodyPr wrap="none">
            <a:spAutoFit/>
          </a:bodyPr>
          <a:lstStyle/>
          <a:p>
            <a:r>
              <a:rPr lang="nl-NL" b="1" dirty="0" err="1" smtClean="0"/>
              <a:t>Rbb</a:t>
            </a:r>
            <a:endParaRPr lang="nl-NL" dirty="0"/>
          </a:p>
        </p:txBody>
      </p:sp>
      <p:sp>
        <p:nvSpPr>
          <p:cNvPr id="42" name="TextBox 41"/>
          <p:cNvSpPr txBox="1"/>
          <p:nvPr/>
        </p:nvSpPr>
        <p:spPr>
          <a:xfrm>
            <a:off x="2915816" y="5148481"/>
            <a:ext cx="216024" cy="584775"/>
          </a:xfrm>
          <a:prstGeom prst="rect">
            <a:avLst/>
          </a:prstGeom>
          <a:noFill/>
        </p:spPr>
        <p:txBody>
          <a:bodyPr wrap="square" rtlCol="0">
            <a:spAutoFit/>
          </a:bodyPr>
          <a:lstStyle/>
          <a:p>
            <a:r>
              <a:rPr lang="nl-NL" sz="3200" b="1" dirty="0" smtClean="0"/>
              <a:t>+</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20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2000"/>
                                        <p:tgtEl>
                                          <p:spTgt spid="26"/>
                                        </p:tgtEl>
                                      </p:cBhvr>
                                    </p:animEffect>
                                  </p:childTnLst>
                                </p:cTn>
                              </p:par>
                              <p:par>
                                <p:cTn id="14" presetID="10"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20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20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2000"/>
                                        <p:tgtEl>
                                          <p:spTgt spid="30"/>
                                        </p:tgtEl>
                                      </p:cBhvr>
                                    </p:animEffect>
                                  </p:childTnLst>
                                </p:cTn>
                              </p:par>
                              <p:par>
                                <p:cTn id="23" presetID="10" presetClass="entr" presetSubtype="0" fill="hold"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2000"/>
                                        <p:tgtEl>
                                          <p:spTgt spid="3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2000"/>
                                        <p:tgtEl>
                                          <p:spTgt spid="3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fade">
                                      <p:cBhvr>
                                        <p:cTn id="31" dur="2000"/>
                                        <p:tgtEl>
                                          <p:spTgt spid="3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fade">
                                      <p:cBhvr>
                                        <p:cTn id="34" dur="2000"/>
                                        <p:tgtEl>
                                          <p:spTgt spid="3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2000"/>
                                        <p:tgtEl>
                                          <p:spTgt spid="3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2000"/>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0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20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20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20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2000"/>
                                        <p:tgtEl>
                                          <p:spTgt spid="29"/>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20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20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20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000"/>
                                        <p:tgtEl>
                                          <p:spTgt spid="4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1"/>
                                        </p:tgtEl>
                                        <p:attrNameLst>
                                          <p:attrName>style.visibility</p:attrName>
                                        </p:attrNameLst>
                                      </p:cBhvr>
                                      <p:to>
                                        <p:strVal val="visible"/>
                                      </p:to>
                                    </p:set>
                                    <p:animEffect transition="in" filter="fade">
                                      <p:cBhvr>
                                        <p:cTn id="70" dur="2000"/>
                                        <p:tgtEl>
                                          <p:spTgt spid="4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animEffect transition="in" filter="fade">
                                      <p:cBhvr>
                                        <p:cTn id="73" dur="2000"/>
                                        <p:tgtEl>
                                          <p:spTgt spid="42"/>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38">
                                            <p:txEl>
                                              <p:pRg st="0" end="0"/>
                                            </p:txEl>
                                          </p:spTgt>
                                        </p:tgtEl>
                                        <p:attrNameLst>
                                          <p:attrName>style.visibility</p:attrName>
                                        </p:attrNameLst>
                                      </p:cBhvr>
                                      <p:to>
                                        <p:strVal val="visible"/>
                                      </p:to>
                                    </p:set>
                                    <p:animEffect transition="in" filter="fade">
                                      <p:cBhvr>
                                        <p:cTn id="78" dur="2000"/>
                                        <p:tgtEl>
                                          <p:spTgt spid="38">
                                            <p:txEl>
                                              <p:pRg st="0" end="0"/>
                                            </p:txEl>
                                          </p:spTgt>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8">
                                            <p:txEl>
                                              <p:pRg st="2" end="2"/>
                                            </p:txEl>
                                          </p:spTgt>
                                        </p:tgtEl>
                                        <p:attrNameLst>
                                          <p:attrName>style.visibility</p:attrName>
                                        </p:attrNameLst>
                                      </p:cBhvr>
                                      <p:to>
                                        <p:strVal val="visible"/>
                                      </p:to>
                                    </p:set>
                                    <p:animEffect transition="in" filter="fade">
                                      <p:cBhvr>
                                        <p:cTn id="81" dur="2000"/>
                                        <p:tgtEl>
                                          <p:spTgt spid="3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p:bldP spid="26" grpId="0"/>
      <p:bldP spid="28" grpId="0" animBg="1"/>
      <p:bldP spid="32" grpId="0" animBg="1"/>
      <p:bldP spid="33" grpId="0" animBg="1"/>
      <p:bldP spid="34" grpId="0"/>
      <p:bldP spid="37" grpId="0"/>
      <p:bldP spid="38" grpId="0" build="allAtOnce"/>
      <p:bldP spid="17" grpId="0"/>
      <p:bldP spid="19" grpId="0" animBg="1"/>
      <p:bldP spid="20" grpId="0"/>
      <p:bldP spid="21" grpId="0"/>
      <p:bldP spid="36" grpId="0" animBg="1"/>
      <p:bldP spid="39" grpId="0" animBg="1"/>
      <p:bldP spid="40" grpId="0"/>
      <p:bldP spid="41" grpId="0"/>
      <p:bldP spid="42" grpId="0"/>
    </p:bldLst>
  </p:timing>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Boomregel voor ware universele </a:t>
            </a:r>
            <a:r>
              <a:rPr lang="nl-NL" sz="3600" dirty="0" err="1" smtClean="0"/>
              <a:t>kwantificatie</a:t>
            </a:r>
            <a:endParaRPr lang="nl-NL" sz="3600" dirty="0"/>
          </a:p>
        </p:txBody>
      </p:sp>
      <p:sp>
        <p:nvSpPr>
          <p:cNvPr id="14" name="Oval 13"/>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tangle 18"/>
          <p:cNvSpPr/>
          <p:nvPr/>
        </p:nvSpPr>
        <p:spPr>
          <a:xfrm>
            <a:off x="611560"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20" name="Rectangle 19"/>
          <p:cNvSpPr/>
          <p:nvPr/>
        </p:nvSpPr>
        <p:spPr>
          <a:xfrm>
            <a:off x="89959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1" name="TextBox 20"/>
          <p:cNvSpPr txBox="1"/>
          <p:nvPr/>
        </p:nvSpPr>
        <p:spPr>
          <a:xfrm>
            <a:off x="899592" y="3573016"/>
            <a:ext cx="2808312" cy="923330"/>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a:t>
            </a:r>
            <a:endParaRPr lang="nl-NL" dirty="0"/>
          </a:p>
        </p:txBody>
      </p:sp>
      <p:sp>
        <p:nvSpPr>
          <p:cNvPr id="22" name="TextBox 21"/>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4788024" y="1844824"/>
            <a:ext cx="3168352" cy="369332"/>
          </a:xfrm>
          <a:prstGeom prst="rect">
            <a:avLst/>
          </a:prstGeom>
          <a:noFill/>
        </p:spPr>
        <p:txBody>
          <a:bodyPr wrap="square" rtlCol="0">
            <a:spAutoFit/>
          </a:bodyPr>
          <a:lstStyle/>
          <a:p>
            <a:r>
              <a:rPr lang="nl-NL" dirty="0" smtClean="0"/>
              <a:t>Is deze regel volledig?</a:t>
            </a:r>
            <a:endParaRPr lang="nl-NL" dirty="0"/>
          </a:p>
        </p:txBody>
      </p:sp>
      <p:sp>
        <p:nvSpPr>
          <p:cNvPr id="12" name="TextBox 11"/>
          <p:cNvSpPr txBox="1"/>
          <p:nvPr/>
        </p:nvSpPr>
        <p:spPr>
          <a:xfrm>
            <a:off x="4788024" y="2267580"/>
            <a:ext cx="3168352" cy="1200329"/>
          </a:xfrm>
          <a:prstGeom prst="rect">
            <a:avLst/>
          </a:prstGeom>
          <a:noFill/>
        </p:spPr>
        <p:txBody>
          <a:bodyPr wrap="square" rtlCol="0">
            <a:spAutoFit/>
          </a:bodyPr>
          <a:lstStyle/>
          <a:p>
            <a:r>
              <a:rPr lang="nl-NL" dirty="0" smtClean="0"/>
              <a:t>Wat te doen als er in de desbetreffende tak tot dusver nog geen individuconstante voorkomt?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p:bldLst>
  </p:timing>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Boomregel voor ware universele </a:t>
            </a:r>
            <a:r>
              <a:rPr lang="nl-NL" sz="3600" dirty="0" err="1" smtClean="0"/>
              <a:t>kwantificatie</a:t>
            </a:r>
            <a:endParaRPr lang="nl-NL" sz="3600" dirty="0"/>
          </a:p>
        </p:txBody>
      </p:sp>
      <p:sp>
        <p:nvSpPr>
          <p:cNvPr id="14" name="Oval 13"/>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tangle 18"/>
          <p:cNvSpPr/>
          <p:nvPr/>
        </p:nvSpPr>
        <p:spPr>
          <a:xfrm>
            <a:off x="611560"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20" name="Rectangle 19"/>
          <p:cNvSpPr/>
          <p:nvPr/>
        </p:nvSpPr>
        <p:spPr>
          <a:xfrm>
            <a:off x="89959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1" name="TextBox 20"/>
          <p:cNvSpPr txBox="1"/>
          <p:nvPr/>
        </p:nvSpPr>
        <p:spPr>
          <a:xfrm>
            <a:off x="899592" y="3573016"/>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a:t>
            </a:r>
            <a:r>
              <a:rPr lang="nl-NL" dirty="0" smtClean="0">
                <a:solidFill>
                  <a:srgbClr val="0070C0"/>
                </a:solidFill>
              </a:rPr>
              <a:t>kies een </a:t>
            </a:r>
            <a:r>
              <a:rPr lang="nl-NL" dirty="0" err="1" smtClean="0">
                <a:solidFill>
                  <a:srgbClr val="0070C0"/>
                </a:solidFill>
              </a:rPr>
              <a:t>individu-constante</a:t>
            </a:r>
            <a:r>
              <a:rPr lang="nl-NL" dirty="0" smtClean="0">
                <a:solidFill>
                  <a:srgbClr val="0070C0"/>
                </a:solidFill>
              </a:rPr>
              <a:t> als in de tak nog geen individuconstante voorkomt</a:t>
            </a:r>
            <a:endParaRPr lang="nl-NL" dirty="0">
              <a:solidFill>
                <a:srgbClr val="0070C0"/>
              </a:solidFill>
            </a:endParaRPr>
          </a:p>
        </p:txBody>
      </p:sp>
      <p:sp>
        <p:nvSpPr>
          <p:cNvPr id="22" name="TextBox 21"/>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4788024" y="1844824"/>
            <a:ext cx="3168352" cy="369332"/>
          </a:xfrm>
          <a:prstGeom prst="rect">
            <a:avLst/>
          </a:prstGeom>
          <a:noFill/>
        </p:spPr>
        <p:txBody>
          <a:bodyPr wrap="square" rtlCol="0">
            <a:spAutoFit/>
          </a:bodyPr>
          <a:lstStyle/>
          <a:p>
            <a:r>
              <a:rPr lang="nl-NL" dirty="0" smtClean="0"/>
              <a:t>Is deze regel volledig?</a:t>
            </a:r>
            <a:endParaRPr lang="nl-NL" dirty="0"/>
          </a:p>
        </p:txBody>
      </p:sp>
      <p:sp>
        <p:nvSpPr>
          <p:cNvPr id="12" name="TextBox 11"/>
          <p:cNvSpPr txBox="1"/>
          <p:nvPr/>
        </p:nvSpPr>
        <p:spPr>
          <a:xfrm>
            <a:off x="4788024" y="2267580"/>
            <a:ext cx="3168352" cy="1200329"/>
          </a:xfrm>
          <a:prstGeom prst="rect">
            <a:avLst/>
          </a:prstGeom>
          <a:noFill/>
        </p:spPr>
        <p:txBody>
          <a:bodyPr wrap="square" rtlCol="0">
            <a:spAutoFit/>
          </a:bodyPr>
          <a:lstStyle/>
          <a:p>
            <a:r>
              <a:rPr lang="nl-NL" dirty="0" smtClean="0"/>
              <a:t>Wat te doen als er in de desbetreffende tak tot dusver nog geen individuconstante voorkomt?  </a:t>
            </a:r>
            <a:endParaRPr lang="nl-NL" dirty="0"/>
          </a:p>
        </p:txBody>
      </p:sp>
    </p:spTree>
  </p:cSld>
  <p:clrMapOvr>
    <a:masterClrMapping/>
  </p:clrMapOvr>
  <p:timing>
    <p:tnLst>
      <p:par>
        <p:cTn id="1" dur="indefinite" restart="never" nodeType="tmRoot"/>
      </p:par>
    </p:tnLst>
  </p:timing>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Boomregel voor ware universele </a:t>
            </a:r>
            <a:r>
              <a:rPr lang="nl-NL" sz="3600" dirty="0" err="1" smtClean="0"/>
              <a:t>kwantificatie</a:t>
            </a:r>
            <a:endParaRPr lang="nl-NL" sz="3600" dirty="0"/>
          </a:p>
        </p:txBody>
      </p:sp>
      <p:sp>
        <p:nvSpPr>
          <p:cNvPr id="14" name="Oval 13"/>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tangle 18"/>
          <p:cNvSpPr/>
          <p:nvPr/>
        </p:nvSpPr>
        <p:spPr>
          <a:xfrm>
            <a:off x="611560"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20" name="Rectangle 19"/>
          <p:cNvSpPr/>
          <p:nvPr/>
        </p:nvSpPr>
        <p:spPr>
          <a:xfrm>
            <a:off x="89959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1" name="TextBox 20"/>
          <p:cNvSpPr txBox="1"/>
          <p:nvPr/>
        </p:nvSpPr>
        <p:spPr>
          <a:xfrm>
            <a:off x="899592" y="3573016"/>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kies een </a:t>
            </a:r>
            <a:r>
              <a:rPr lang="nl-NL" dirty="0" err="1" smtClean="0"/>
              <a:t>individu-constante</a:t>
            </a:r>
            <a:r>
              <a:rPr lang="nl-NL" dirty="0" smtClean="0"/>
              <a:t> als in de tak nog geen individuconstante voorkomt</a:t>
            </a:r>
            <a:endParaRPr lang="nl-NL" dirty="0"/>
          </a:p>
        </p:txBody>
      </p:sp>
      <p:sp>
        <p:nvSpPr>
          <p:cNvPr id="22" name="TextBox 21"/>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4788024" y="1844824"/>
            <a:ext cx="3168352" cy="369332"/>
          </a:xfrm>
          <a:prstGeom prst="rect">
            <a:avLst/>
          </a:prstGeom>
          <a:noFill/>
        </p:spPr>
        <p:txBody>
          <a:bodyPr wrap="square" rtlCol="0">
            <a:spAutoFit/>
          </a:bodyPr>
          <a:lstStyle/>
          <a:p>
            <a:r>
              <a:rPr lang="nl-NL" dirty="0" smtClean="0"/>
              <a:t>Is deze regel volledig?</a:t>
            </a:r>
            <a:endParaRPr lang="nl-NL" dirty="0"/>
          </a:p>
        </p:txBody>
      </p:sp>
      <p:sp>
        <p:nvSpPr>
          <p:cNvPr id="12" name="TextBox 11"/>
          <p:cNvSpPr txBox="1"/>
          <p:nvPr/>
        </p:nvSpPr>
        <p:spPr>
          <a:xfrm>
            <a:off x="4788024" y="2267580"/>
            <a:ext cx="3168352" cy="1200329"/>
          </a:xfrm>
          <a:prstGeom prst="rect">
            <a:avLst/>
          </a:prstGeom>
          <a:noFill/>
        </p:spPr>
        <p:txBody>
          <a:bodyPr wrap="square" rtlCol="0">
            <a:spAutoFit/>
          </a:bodyPr>
          <a:lstStyle/>
          <a:p>
            <a:r>
              <a:rPr lang="nl-NL" dirty="0" smtClean="0"/>
              <a:t>Wat te doen als er in de desbetreffende tak tot dusver nog geen individuconstante voorkomt?  </a:t>
            </a:r>
            <a:endParaRPr lang="nl-NL" dirty="0"/>
          </a:p>
        </p:txBody>
      </p:sp>
    </p:spTree>
  </p:cSld>
  <p:clrMapOvr>
    <a:masterClrMapping/>
  </p:clrMapOvr>
  <p:timing>
    <p:tnLst>
      <p:par>
        <p:cTn id="1" dur="indefinite" restart="never" nodeType="tmRoot"/>
      </p:par>
    </p:tnLst>
  </p:timing>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Boomregel voor ware existentiële </a:t>
            </a:r>
            <a:r>
              <a:rPr lang="nl-NL" sz="3600" dirty="0" err="1" smtClean="0"/>
              <a:t>kwantificatie</a:t>
            </a:r>
            <a:endParaRPr lang="nl-NL" sz="3600" dirty="0"/>
          </a:p>
        </p:txBody>
      </p:sp>
      <p:sp>
        <p:nvSpPr>
          <p:cNvPr id="14" name="Oval 13"/>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tangle 18"/>
          <p:cNvSpPr/>
          <p:nvPr/>
        </p:nvSpPr>
        <p:spPr>
          <a:xfrm>
            <a:off x="611560"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20" name="Rectangle 19"/>
          <p:cNvSpPr/>
          <p:nvPr/>
        </p:nvSpPr>
        <p:spPr>
          <a:xfrm>
            <a:off x="89959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1" name="TextBox 20"/>
          <p:cNvSpPr txBox="1"/>
          <p:nvPr/>
        </p:nvSpPr>
        <p:spPr>
          <a:xfrm>
            <a:off x="899592" y="3573016"/>
            <a:ext cx="2808312" cy="1200329"/>
          </a:xfrm>
          <a:prstGeom prst="rect">
            <a:avLst/>
          </a:prstGeom>
          <a:noFill/>
        </p:spPr>
        <p:txBody>
          <a:bodyPr wrap="square" rtlCol="0">
            <a:spAutoFit/>
          </a:bodyPr>
          <a:lstStyle/>
          <a:p>
            <a:r>
              <a:rPr lang="nl-NL" dirty="0" smtClean="0"/>
              <a:t>Waarbij de individuconstante </a:t>
            </a:r>
            <a:r>
              <a:rPr lang="nl-NL" b="1" dirty="0" smtClean="0"/>
              <a:t>a </a:t>
            </a:r>
            <a:r>
              <a:rPr lang="nl-NL" dirty="0" smtClean="0"/>
              <a:t>nog niet optreedt in de onderhavige tak</a:t>
            </a:r>
            <a:endParaRPr lang="nl-NL" b="1" dirty="0">
              <a:solidFill>
                <a:srgbClr val="0070C0"/>
              </a:solidFill>
            </a:endParaRPr>
          </a:p>
        </p:txBody>
      </p:sp>
      <p:sp>
        <p:nvSpPr>
          <p:cNvPr id="22" name="TextBox 21"/>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899592" y="4869160"/>
            <a:ext cx="2304256" cy="369332"/>
          </a:xfrm>
          <a:prstGeom prst="rect">
            <a:avLst/>
          </a:prstGeom>
          <a:noFill/>
        </p:spPr>
        <p:txBody>
          <a:bodyPr wrap="square" rtlCol="0">
            <a:spAutoFit/>
          </a:bodyPr>
          <a:lstStyle/>
          <a:p>
            <a:r>
              <a:rPr lang="nl-NL" dirty="0" smtClean="0"/>
              <a:t>Waarom eisen we dit?</a:t>
            </a:r>
            <a:endParaRPr lang="nl-NL" dirty="0"/>
          </a:p>
        </p:txBody>
      </p:sp>
      <p:sp>
        <p:nvSpPr>
          <p:cNvPr id="12" name="TextBox 11"/>
          <p:cNvSpPr txBox="1"/>
          <p:nvPr/>
        </p:nvSpPr>
        <p:spPr>
          <a:xfrm>
            <a:off x="899592" y="5373216"/>
            <a:ext cx="3168352" cy="1200329"/>
          </a:xfrm>
          <a:prstGeom prst="rect">
            <a:avLst/>
          </a:prstGeom>
          <a:noFill/>
        </p:spPr>
        <p:txBody>
          <a:bodyPr wrap="square" rtlCol="0">
            <a:spAutoFit/>
          </a:bodyPr>
          <a:lstStyle/>
          <a:p>
            <a:r>
              <a:rPr lang="nl-NL" dirty="0" smtClean="0"/>
              <a:t>We moeten er zeker van zijn dat we geen constante kiezen die wijst naar een object die nu juist eigenschap </a:t>
            </a:r>
            <a:r>
              <a:rPr lang="el-GR" b="1" dirty="0" smtClean="0"/>
              <a:t>α</a:t>
            </a:r>
            <a:r>
              <a:rPr lang="nl-NL" dirty="0" smtClean="0"/>
              <a:t> niet heeft. </a:t>
            </a:r>
            <a:endParaRPr lang="nl-NL" dirty="0"/>
          </a:p>
        </p:txBody>
      </p:sp>
      <p:sp>
        <p:nvSpPr>
          <p:cNvPr id="13" name="Content Placeholder 2"/>
          <p:cNvSpPr>
            <a:spLocks noGrp="1"/>
          </p:cNvSpPr>
          <p:nvPr>
            <p:ph idx="1"/>
          </p:nvPr>
        </p:nvSpPr>
        <p:spPr>
          <a:xfrm>
            <a:off x="2843808" y="1916832"/>
            <a:ext cx="3862264" cy="820687"/>
          </a:xfrm>
        </p:spPr>
        <p:txBody>
          <a:bodyPr>
            <a:noAutofit/>
          </a:bodyPr>
          <a:lstStyle/>
          <a:p>
            <a:pPr>
              <a:buNone/>
            </a:pPr>
            <a:r>
              <a:rPr lang="nl-NL" sz="2000" dirty="0" smtClean="0"/>
              <a:t>Is   </a:t>
            </a:r>
            <a:r>
              <a:rPr lang="nl-NL" sz="2000" b="1" dirty="0" smtClean="0"/>
              <a:t>∃x ∀y ¬</a:t>
            </a:r>
            <a:r>
              <a:rPr lang="nl-NL" sz="2000" b="1" dirty="0" err="1" smtClean="0"/>
              <a:t>Rxy</a:t>
            </a:r>
            <a:r>
              <a:rPr lang="nl-NL" sz="2000" b="1" dirty="0" smtClean="0"/>
              <a:t>  |=  ¬∃</a:t>
            </a:r>
            <a:r>
              <a:rPr lang="nl-NL" sz="2000" b="1" dirty="0" err="1" smtClean="0"/>
              <a:t>zRaz</a:t>
            </a:r>
            <a:r>
              <a:rPr lang="nl-NL" sz="2000" b="1" dirty="0" smtClean="0"/>
              <a:t>  </a:t>
            </a:r>
            <a:r>
              <a:rPr lang="nl-NL" sz="2000" dirty="0" smtClean="0"/>
              <a:t>? </a:t>
            </a:r>
            <a:r>
              <a:rPr lang="nl-NL" sz="2000" b="1" dirty="0" smtClean="0"/>
              <a:t> </a:t>
            </a:r>
            <a:endParaRPr lang="nl-NL" sz="2000" dirty="0" smtClean="0"/>
          </a:p>
          <a:p>
            <a:pPr>
              <a:buNone/>
            </a:pPr>
            <a:endParaRPr lang="nl-NL" sz="2000" dirty="0" smtClean="0"/>
          </a:p>
        </p:txBody>
      </p:sp>
      <p:sp>
        <p:nvSpPr>
          <p:cNvPr id="15" name="Oval 14"/>
          <p:cNvSpPr/>
          <p:nvPr/>
        </p:nvSpPr>
        <p:spPr>
          <a:xfrm>
            <a:off x="7956376" y="170080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3" name="Straight Connector 22"/>
          <p:cNvCxnSpPr/>
          <p:nvPr/>
        </p:nvCxnSpPr>
        <p:spPr>
          <a:xfrm>
            <a:off x="7992376" y="184482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7956376" y="23488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6" name="Straight Connector 25"/>
          <p:cNvCxnSpPr/>
          <p:nvPr/>
        </p:nvCxnSpPr>
        <p:spPr>
          <a:xfrm>
            <a:off x="7992376" y="249289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7956376" y="29969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9" name="Straight Connector 28"/>
          <p:cNvCxnSpPr/>
          <p:nvPr/>
        </p:nvCxnSpPr>
        <p:spPr>
          <a:xfrm>
            <a:off x="7992176" y="314096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7956376" y="36450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5" name="Straight Connector 34"/>
          <p:cNvCxnSpPr/>
          <p:nvPr/>
        </p:nvCxnSpPr>
        <p:spPr>
          <a:xfrm>
            <a:off x="7992176" y="3789040"/>
            <a:ext cx="0"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7956376" y="47971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7" name="Straight Connector 36"/>
          <p:cNvCxnSpPr/>
          <p:nvPr/>
        </p:nvCxnSpPr>
        <p:spPr>
          <a:xfrm>
            <a:off x="7992176" y="486916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7956376" y="53732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Connector 38"/>
          <p:cNvCxnSpPr/>
          <p:nvPr/>
        </p:nvCxnSpPr>
        <p:spPr>
          <a:xfrm>
            <a:off x="7992176" y="55172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956376" y="594928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1" name="Rectangle 40"/>
          <p:cNvSpPr/>
          <p:nvPr/>
        </p:nvSpPr>
        <p:spPr>
          <a:xfrm>
            <a:off x="6660232" y="1484784"/>
            <a:ext cx="1293944" cy="369332"/>
          </a:xfrm>
          <a:prstGeom prst="rect">
            <a:avLst/>
          </a:prstGeom>
        </p:spPr>
        <p:txBody>
          <a:bodyPr wrap="none">
            <a:spAutoFit/>
          </a:bodyPr>
          <a:lstStyle/>
          <a:p>
            <a:r>
              <a:rPr lang="nl-NL" b="1" dirty="0" smtClean="0"/>
              <a:t>∃x ∀y ¬</a:t>
            </a:r>
            <a:r>
              <a:rPr lang="nl-NL" b="1" dirty="0" err="1" smtClean="0"/>
              <a:t>Rxy</a:t>
            </a:r>
            <a:r>
              <a:rPr lang="nl-NL" b="1" dirty="0" smtClean="0"/>
              <a:t> </a:t>
            </a:r>
            <a:endParaRPr lang="nl-NL" dirty="0"/>
          </a:p>
        </p:txBody>
      </p:sp>
      <p:sp>
        <p:nvSpPr>
          <p:cNvPr id="42" name="Rectangle 41"/>
          <p:cNvSpPr/>
          <p:nvPr/>
        </p:nvSpPr>
        <p:spPr>
          <a:xfrm>
            <a:off x="8028384" y="1484784"/>
            <a:ext cx="912429" cy="369332"/>
          </a:xfrm>
          <a:prstGeom prst="rect">
            <a:avLst/>
          </a:prstGeom>
        </p:spPr>
        <p:txBody>
          <a:bodyPr wrap="none">
            <a:spAutoFit/>
          </a:bodyPr>
          <a:lstStyle/>
          <a:p>
            <a:r>
              <a:rPr lang="nl-NL" b="1" dirty="0" smtClean="0"/>
              <a:t>¬∃</a:t>
            </a:r>
            <a:r>
              <a:rPr lang="nl-NL" b="1" dirty="0" err="1" smtClean="0"/>
              <a:t>zRaz</a:t>
            </a:r>
            <a:r>
              <a:rPr lang="nl-NL" b="1" dirty="0" smtClean="0"/>
              <a:t> </a:t>
            </a:r>
            <a:endParaRPr lang="nl-NL" dirty="0"/>
          </a:p>
        </p:txBody>
      </p:sp>
      <p:sp>
        <p:nvSpPr>
          <p:cNvPr id="43" name="Rectangle 42"/>
          <p:cNvSpPr/>
          <p:nvPr/>
        </p:nvSpPr>
        <p:spPr>
          <a:xfrm>
            <a:off x="7164288" y="2132856"/>
            <a:ext cx="797013" cy="369332"/>
          </a:xfrm>
          <a:prstGeom prst="rect">
            <a:avLst/>
          </a:prstGeom>
        </p:spPr>
        <p:txBody>
          <a:bodyPr wrap="none">
            <a:spAutoFit/>
          </a:bodyPr>
          <a:lstStyle/>
          <a:p>
            <a:r>
              <a:rPr lang="nl-NL" b="1" dirty="0" smtClean="0"/>
              <a:t>∃</a:t>
            </a:r>
            <a:r>
              <a:rPr lang="nl-NL" b="1" dirty="0" err="1" smtClean="0"/>
              <a:t>zRaz</a:t>
            </a:r>
            <a:r>
              <a:rPr lang="nl-NL" b="1" dirty="0" smtClean="0"/>
              <a:t> </a:t>
            </a:r>
            <a:endParaRPr lang="nl-NL" dirty="0"/>
          </a:p>
        </p:txBody>
      </p:sp>
      <p:sp>
        <p:nvSpPr>
          <p:cNvPr id="44" name="Rectangle 43"/>
          <p:cNvSpPr/>
          <p:nvPr/>
        </p:nvSpPr>
        <p:spPr>
          <a:xfrm>
            <a:off x="7404622" y="2780928"/>
            <a:ext cx="551754" cy="369332"/>
          </a:xfrm>
          <a:prstGeom prst="rect">
            <a:avLst/>
          </a:prstGeom>
        </p:spPr>
        <p:txBody>
          <a:bodyPr wrap="none">
            <a:spAutoFit/>
          </a:bodyPr>
          <a:lstStyle/>
          <a:p>
            <a:r>
              <a:rPr lang="nl-NL" b="1" dirty="0" smtClean="0"/>
              <a:t>Rab</a:t>
            </a:r>
            <a:endParaRPr lang="nl-NL" dirty="0"/>
          </a:p>
        </p:txBody>
      </p:sp>
      <p:sp>
        <p:nvSpPr>
          <p:cNvPr id="45" name="Rectangle 44"/>
          <p:cNvSpPr/>
          <p:nvPr/>
        </p:nvSpPr>
        <p:spPr>
          <a:xfrm>
            <a:off x="7026187" y="3429000"/>
            <a:ext cx="992579" cy="369332"/>
          </a:xfrm>
          <a:prstGeom prst="rect">
            <a:avLst/>
          </a:prstGeom>
        </p:spPr>
        <p:txBody>
          <a:bodyPr wrap="none">
            <a:spAutoFit/>
          </a:bodyPr>
          <a:lstStyle/>
          <a:p>
            <a:r>
              <a:rPr lang="nl-NL" b="1" dirty="0" smtClean="0"/>
              <a:t>∀y ¬</a:t>
            </a:r>
            <a:r>
              <a:rPr lang="nl-NL" b="1" dirty="0" err="1" smtClean="0"/>
              <a:t>Rcy</a:t>
            </a:r>
            <a:r>
              <a:rPr lang="nl-NL" b="1" dirty="0" smtClean="0"/>
              <a:t> </a:t>
            </a:r>
            <a:endParaRPr lang="nl-NL" dirty="0"/>
          </a:p>
        </p:txBody>
      </p:sp>
      <p:sp>
        <p:nvSpPr>
          <p:cNvPr id="46" name="Rectangle 45"/>
          <p:cNvSpPr/>
          <p:nvPr/>
        </p:nvSpPr>
        <p:spPr>
          <a:xfrm>
            <a:off x="7308304" y="4149080"/>
            <a:ext cx="638573" cy="369332"/>
          </a:xfrm>
          <a:prstGeom prst="rect">
            <a:avLst/>
          </a:prstGeom>
        </p:spPr>
        <p:txBody>
          <a:bodyPr wrap="none">
            <a:spAutoFit/>
          </a:bodyPr>
          <a:lstStyle/>
          <a:p>
            <a:r>
              <a:rPr lang="nl-NL" b="1" dirty="0" smtClean="0"/>
              <a:t>¬</a:t>
            </a:r>
            <a:r>
              <a:rPr lang="nl-NL" b="1" dirty="0" err="1" smtClean="0"/>
              <a:t>Rca</a:t>
            </a:r>
            <a:endParaRPr lang="nl-NL" dirty="0"/>
          </a:p>
        </p:txBody>
      </p:sp>
      <p:sp>
        <p:nvSpPr>
          <p:cNvPr id="47" name="Rectangle 46"/>
          <p:cNvSpPr/>
          <p:nvPr/>
        </p:nvSpPr>
        <p:spPr>
          <a:xfrm>
            <a:off x="7308304" y="4427820"/>
            <a:ext cx="649537" cy="369332"/>
          </a:xfrm>
          <a:prstGeom prst="rect">
            <a:avLst/>
          </a:prstGeom>
        </p:spPr>
        <p:txBody>
          <a:bodyPr wrap="none">
            <a:spAutoFit/>
          </a:bodyPr>
          <a:lstStyle/>
          <a:p>
            <a:r>
              <a:rPr lang="nl-NL" b="1" dirty="0" smtClean="0"/>
              <a:t>¬</a:t>
            </a:r>
            <a:r>
              <a:rPr lang="nl-NL" b="1" dirty="0" err="1" smtClean="0"/>
              <a:t>Rcb</a:t>
            </a:r>
            <a:endParaRPr lang="nl-NL" dirty="0"/>
          </a:p>
        </p:txBody>
      </p:sp>
      <p:sp>
        <p:nvSpPr>
          <p:cNvPr id="48" name="Rectangle 47"/>
          <p:cNvSpPr/>
          <p:nvPr/>
        </p:nvSpPr>
        <p:spPr>
          <a:xfrm>
            <a:off x="7308304" y="4715852"/>
            <a:ext cx="622286" cy="369332"/>
          </a:xfrm>
          <a:prstGeom prst="rect">
            <a:avLst/>
          </a:prstGeom>
        </p:spPr>
        <p:txBody>
          <a:bodyPr wrap="none">
            <a:spAutoFit/>
          </a:bodyPr>
          <a:lstStyle/>
          <a:p>
            <a:r>
              <a:rPr lang="nl-NL" b="1" dirty="0" smtClean="0"/>
              <a:t>¬</a:t>
            </a:r>
            <a:r>
              <a:rPr lang="nl-NL" b="1" dirty="0" err="1" smtClean="0"/>
              <a:t>Rcc</a:t>
            </a:r>
            <a:endParaRPr lang="nl-NL" dirty="0"/>
          </a:p>
        </p:txBody>
      </p:sp>
      <p:cxnSp>
        <p:nvCxnSpPr>
          <p:cNvPr id="49" name="Straight Connector 48"/>
          <p:cNvCxnSpPr/>
          <p:nvPr/>
        </p:nvCxnSpPr>
        <p:spPr>
          <a:xfrm>
            <a:off x="7992000" y="609329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7956376" y="65973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1" name="Rectangle 50"/>
          <p:cNvSpPr/>
          <p:nvPr/>
        </p:nvSpPr>
        <p:spPr>
          <a:xfrm>
            <a:off x="8009283" y="5157192"/>
            <a:ext cx="523157" cy="369332"/>
          </a:xfrm>
          <a:prstGeom prst="rect">
            <a:avLst/>
          </a:prstGeom>
        </p:spPr>
        <p:txBody>
          <a:bodyPr wrap="none">
            <a:spAutoFit/>
          </a:bodyPr>
          <a:lstStyle/>
          <a:p>
            <a:r>
              <a:rPr lang="nl-NL" b="1" dirty="0" err="1" smtClean="0"/>
              <a:t>Rca</a:t>
            </a:r>
            <a:endParaRPr lang="nl-NL" dirty="0"/>
          </a:p>
        </p:txBody>
      </p:sp>
      <p:sp>
        <p:nvSpPr>
          <p:cNvPr id="52" name="Rectangle 51"/>
          <p:cNvSpPr/>
          <p:nvPr/>
        </p:nvSpPr>
        <p:spPr>
          <a:xfrm>
            <a:off x="7998319" y="5733256"/>
            <a:ext cx="534121" cy="369332"/>
          </a:xfrm>
          <a:prstGeom prst="rect">
            <a:avLst/>
          </a:prstGeom>
        </p:spPr>
        <p:txBody>
          <a:bodyPr wrap="none">
            <a:spAutoFit/>
          </a:bodyPr>
          <a:lstStyle/>
          <a:p>
            <a:r>
              <a:rPr lang="nl-NL" b="1" dirty="0" err="1" smtClean="0"/>
              <a:t>Rcb</a:t>
            </a:r>
            <a:endParaRPr lang="nl-NL" dirty="0"/>
          </a:p>
        </p:txBody>
      </p:sp>
      <p:sp>
        <p:nvSpPr>
          <p:cNvPr id="53" name="Rectangle 52"/>
          <p:cNvSpPr/>
          <p:nvPr/>
        </p:nvSpPr>
        <p:spPr>
          <a:xfrm>
            <a:off x="8009283" y="6300028"/>
            <a:ext cx="506870" cy="369332"/>
          </a:xfrm>
          <a:prstGeom prst="rect">
            <a:avLst/>
          </a:prstGeom>
        </p:spPr>
        <p:txBody>
          <a:bodyPr wrap="none">
            <a:spAutoFit/>
          </a:bodyPr>
          <a:lstStyle/>
          <a:p>
            <a:r>
              <a:rPr lang="nl-NL" b="1" dirty="0" err="1" smtClean="0"/>
              <a:t>Rcc</a:t>
            </a:r>
            <a:endParaRPr lang="nl-NL" dirty="0"/>
          </a:p>
        </p:txBody>
      </p:sp>
      <p:sp>
        <p:nvSpPr>
          <p:cNvPr id="54" name="TextBox 53"/>
          <p:cNvSpPr txBox="1"/>
          <p:nvPr/>
        </p:nvSpPr>
        <p:spPr>
          <a:xfrm>
            <a:off x="4572000" y="4710043"/>
            <a:ext cx="2232248" cy="2031325"/>
          </a:xfrm>
          <a:prstGeom prst="rect">
            <a:avLst/>
          </a:prstGeom>
          <a:noFill/>
        </p:spPr>
        <p:txBody>
          <a:bodyPr wrap="square" rtlCol="0">
            <a:spAutoFit/>
          </a:bodyPr>
          <a:lstStyle/>
          <a:p>
            <a:r>
              <a:rPr lang="nl-NL" dirty="0" smtClean="0"/>
              <a:t>De boom blijft open en genereert dus een tegenvoorbeeld: Domein </a:t>
            </a:r>
            <a:r>
              <a:rPr lang="nl-NL" b="1" dirty="0" smtClean="0"/>
              <a:t>D</a:t>
            </a:r>
            <a:r>
              <a:rPr lang="nl-NL" dirty="0" smtClean="0"/>
              <a:t> = {</a:t>
            </a:r>
            <a:r>
              <a:rPr lang="nl-NL" b="1" dirty="0" smtClean="0"/>
              <a:t>a</a:t>
            </a:r>
            <a:r>
              <a:rPr lang="nl-NL" dirty="0" smtClean="0"/>
              <a:t>, </a:t>
            </a:r>
            <a:r>
              <a:rPr lang="nl-NL" b="1" dirty="0" smtClean="0"/>
              <a:t>b</a:t>
            </a:r>
            <a:r>
              <a:rPr lang="nl-NL" dirty="0" smtClean="0"/>
              <a:t>, </a:t>
            </a:r>
            <a:r>
              <a:rPr lang="nl-NL" b="1" dirty="0" smtClean="0"/>
              <a:t>c</a:t>
            </a:r>
            <a:r>
              <a:rPr lang="nl-NL" dirty="0" smtClean="0"/>
              <a:t>} met </a:t>
            </a:r>
            <a:r>
              <a:rPr lang="nl-NL" b="1" dirty="0" smtClean="0"/>
              <a:t>Rab</a:t>
            </a:r>
            <a:r>
              <a:rPr lang="nl-NL" dirty="0" smtClean="0"/>
              <a:t> waar, </a:t>
            </a:r>
            <a:r>
              <a:rPr lang="nl-NL" b="1" dirty="0" err="1" smtClean="0"/>
              <a:t>Rca</a:t>
            </a:r>
            <a:r>
              <a:rPr lang="nl-NL" dirty="0" smtClean="0"/>
              <a:t> onwaar, </a:t>
            </a:r>
            <a:r>
              <a:rPr lang="nl-NL" b="1" dirty="0" err="1" smtClean="0"/>
              <a:t>Rcb</a:t>
            </a:r>
            <a:r>
              <a:rPr lang="nl-NL" dirty="0" smtClean="0"/>
              <a:t> onwaar en </a:t>
            </a:r>
            <a:r>
              <a:rPr lang="nl-NL" b="1" dirty="0" err="1" smtClean="0"/>
              <a:t>Rcc</a:t>
            </a:r>
            <a:r>
              <a:rPr lang="nl-NL" dirty="0" smtClean="0"/>
              <a:t> onwaar.</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20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20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0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animEffect transition="in" filter="fade">
                                      <p:cBhvr>
                                        <p:cTn id="33" dur="2000"/>
                                        <p:tgtEl>
                                          <p:spTgt spid="11">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fade">
                                      <p:cBhvr>
                                        <p:cTn id="38" dur="2000"/>
                                        <p:tgtEl>
                                          <p:spTgt spid="1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animEffect transition="in" filter="fade">
                                      <p:cBhvr>
                                        <p:cTn id="43" dur="2000"/>
                                        <p:tgtEl>
                                          <p:spTgt spid="13">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2000"/>
                                        <p:tgtEl>
                                          <p:spTgt spid="15"/>
                                        </p:tgtEl>
                                      </p:cBhvr>
                                    </p:animEffect>
                                  </p:childTnLst>
                                </p:cTn>
                              </p:par>
                              <p:par>
                                <p:cTn id="49" presetID="10" presetClass="entr" presetSubtype="0" fill="hold"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2000"/>
                                        <p:tgtEl>
                                          <p:spTgt spid="2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2000"/>
                                        <p:tgtEl>
                                          <p:spTgt spid="24"/>
                                        </p:tgtEl>
                                      </p:cBhvr>
                                    </p:animEffect>
                                  </p:childTnLst>
                                </p:cTn>
                              </p:par>
                              <p:par>
                                <p:cTn id="55" presetID="10"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200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200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fade">
                                      <p:cBhvr>
                                        <p:cTn id="63" dur="2000"/>
                                        <p:tgtEl>
                                          <p:spTgt spid="2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fade">
                                      <p:cBhvr>
                                        <p:cTn id="66" dur="2000"/>
                                        <p:tgtEl>
                                          <p:spTgt spid="30"/>
                                        </p:tgtEl>
                                      </p:cBhvr>
                                    </p:animEffect>
                                  </p:childTnLst>
                                </p:cTn>
                              </p:par>
                              <p:par>
                                <p:cTn id="67" presetID="10" presetClass="entr" presetSubtype="0" fill="hold" nodeType="with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2000"/>
                                        <p:tgtEl>
                                          <p:spTgt spid="3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2000"/>
                                        <p:tgtEl>
                                          <p:spTgt spid="36"/>
                                        </p:tgtEl>
                                      </p:cBhvr>
                                    </p:animEffect>
                                  </p:childTnLst>
                                </p:cTn>
                              </p:par>
                              <p:par>
                                <p:cTn id="73" presetID="10" presetClass="entr" presetSubtype="0" fill="hold" nodeType="with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2000"/>
                                        <p:tgtEl>
                                          <p:spTgt spid="3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2000"/>
                                        <p:tgtEl>
                                          <p:spTgt spid="38"/>
                                        </p:tgtEl>
                                      </p:cBhvr>
                                    </p:animEffect>
                                  </p:childTnLst>
                                </p:cTn>
                              </p:par>
                              <p:par>
                                <p:cTn id="79" presetID="10" presetClass="entr" presetSubtype="0" fill="hold" nodeType="withEffect">
                                  <p:stCondLst>
                                    <p:cond delay="0"/>
                                  </p:stCondLst>
                                  <p:childTnLst>
                                    <p:set>
                                      <p:cBhvr>
                                        <p:cTn id="80" dur="1" fill="hold">
                                          <p:stCondLst>
                                            <p:cond delay="0"/>
                                          </p:stCondLst>
                                        </p:cTn>
                                        <p:tgtEl>
                                          <p:spTgt spid="39"/>
                                        </p:tgtEl>
                                        <p:attrNameLst>
                                          <p:attrName>style.visibility</p:attrName>
                                        </p:attrNameLst>
                                      </p:cBhvr>
                                      <p:to>
                                        <p:strVal val="visible"/>
                                      </p:to>
                                    </p:set>
                                    <p:animEffect transition="in" filter="fade">
                                      <p:cBhvr>
                                        <p:cTn id="81" dur="2000"/>
                                        <p:tgtEl>
                                          <p:spTgt spid="3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0"/>
                                        </p:tgtEl>
                                        <p:attrNameLst>
                                          <p:attrName>style.visibility</p:attrName>
                                        </p:attrNameLst>
                                      </p:cBhvr>
                                      <p:to>
                                        <p:strVal val="visible"/>
                                      </p:to>
                                    </p:set>
                                    <p:animEffect transition="in" filter="fade">
                                      <p:cBhvr>
                                        <p:cTn id="84" dur="2000"/>
                                        <p:tgtEl>
                                          <p:spTgt spid="4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fade">
                                      <p:cBhvr>
                                        <p:cTn id="87" dur="2000"/>
                                        <p:tgtEl>
                                          <p:spTgt spid="4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2"/>
                                        </p:tgtEl>
                                        <p:attrNameLst>
                                          <p:attrName>style.visibility</p:attrName>
                                        </p:attrNameLst>
                                      </p:cBhvr>
                                      <p:to>
                                        <p:strVal val="visible"/>
                                      </p:to>
                                    </p:set>
                                    <p:animEffect transition="in" filter="fade">
                                      <p:cBhvr>
                                        <p:cTn id="90" dur="2000"/>
                                        <p:tgtEl>
                                          <p:spTgt spid="4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3"/>
                                        </p:tgtEl>
                                        <p:attrNameLst>
                                          <p:attrName>style.visibility</p:attrName>
                                        </p:attrNameLst>
                                      </p:cBhvr>
                                      <p:to>
                                        <p:strVal val="visible"/>
                                      </p:to>
                                    </p:set>
                                    <p:animEffect transition="in" filter="fade">
                                      <p:cBhvr>
                                        <p:cTn id="93" dur="2000"/>
                                        <p:tgtEl>
                                          <p:spTgt spid="4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fade">
                                      <p:cBhvr>
                                        <p:cTn id="96" dur="2000"/>
                                        <p:tgtEl>
                                          <p:spTgt spid="4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45"/>
                                        </p:tgtEl>
                                        <p:attrNameLst>
                                          <p:attrName>style.visibility</p:attrName>
                                        </p:attrNameLst>
                                      </p:cBhvr>
                                      <p:to>
                                        <p:strVal val="visible"/>
                                      </p:to>
                                    </p:set>
                                    <p:animEffect transition="in" filter="fade">
                                      <p:cBhvr>
                                        <p:cTn id="99" dur="2000"/>
                                        <p:tgtEl>
                                          <p:spTgt spid="4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fade">
                                      <p:cBhvr>
                                        <p:cTn id="102" dur="2000"/>
                                        <p:tgtEl>
                                          <p:spTgt spid="4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47"/>
                                        </p:tgtEl>
                                        <p:attrNameLst>
                                          <p:attrName>style.visibility</p:attrName>
                                        </p:attrNameLst>
                                      </p:cBhvr>
                                      <p:to>
                                        <p:strVal val="visible"/>
                                      </p:to>
                                    </p:set>
                                    <p:animEffect transition="in" filter="fade">
                                      <p:cBhvr>
                                        <p:cTn id="105" dur="2000"/>
                                        <p:tgtEl>
                                          <p:spTgt spid="4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8"/>
                                        </p:tgtEl>
                                        <p:attrNameLst>
                                          <p:attrName>style.visibility</p:attrName>
                                        </p:attrNameLst>
                                      </p:cBhvr>
                                      <p:to>
                                        <p:strVal val="visible"/>
                                      </p:to>
                                    </p:set>
                                    <p:animEffect transition="in" filter="fade">
                                      <p:cBhvr>
                                        <p:cTn id="108" dur="2000"/>
                                        <p:tgtEl>
                                          <p:spTgt spid="48"/>
                                        </p:tgtEl>
                                      </p:cBhvr>
                                    </p:animEffect>
                                  </p:childTnLst>
                                </p:cTn>
                              </p:par>
                              <p:par>
                                <p:cTn id="109" presetID="10" presetClass="entr" presetSubtype="0" fill="hold" nodeType="withEffect">
                                  <p:stCondLst>
                                    <p:cond delay="0"/>
                                  </p:stCondLst>
                                  <p:childTnLst>
                                    <p:set>
                                      <p:cBhvr>
                                        <p:cTn id="110" dur="1" fill="hold">
                                          <p:stCondLst>
                                            <p:cond delay="0"/>
                                          </p:stCondLst>
                                        </p:cTn>
                                        <p:tgtEl>
                                          <p:spTgt spid="49"/>
                                        </p:tgtEl>
                                        <p:attrNameLst>
                                          <p:attrName>style.visibility</p:attrName>
                                        </p:attrNameLst>
                                      </p:cBhvr>
                                      <p:to>
                                        <p:strVal val="visible"/>
                                      </p:to>
                                    </p:set>
                                    <p:animEffect transition="in" filter="fade">
                                      <p:cBhvr>
                                        <p:cTn id="111" dur="2000"/>
                                        <p:tgtEl>
                                          <p:spTgt spid="4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fade">
                                      <p:cBhvr>
                                        <p:cTn id="114" dur="2000"/>
                                        <p:tgtEl>
                                          <p:spTgt spid="5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1"/>
                                        </p:tgtEl>
                                        <p:attrNameLst>
                                          <p:attrName>style.visibility</p:attrName>
                                        </p:attrNameLst>
                                      </p:cBhvr>
                                      <p:to>
                                        <p:strVal val="visible"/>
                                      </p:to>
                                    </p:set>
                                    <p:animEffect transition="in" filter="fade">
                                      <p:cBhvr>
                                        <p:cTn id="117" dur="2000"/>
                                        <p:tgtEl>
                                          <p:spTgt spid="51"/>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52"/>
                                        </p:tgtEl>
                                        <p:attrNameLst>
                                          <p:attrName>style.visibility</p:attrName>
                                        </p:attrNameLst>
                                      </p:cBhvr>
                                      <p:to>
                                        <p:strVal val="visible"/>
                                      </p:to>
                                    </p:set>
                                    <p:animEffect transition="in" filter="fade">
                                      <p:cBhvr>
                                        <p:cTn id="120" dur="2000"/>
                                        <p:tgtEl>
                                          <p:spTgt spid="5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animEffect transition="in" filter="fade">
                                      <p:cBhvr>
                                        <p:cTn id="123" dur="2000"/>
                                        <p:tgtEl>
                                          <p:spTgt spid="53"/>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54">
                                            <p:txEl>
                                              <p:pRg st="0" end="0"/>
                                            </p:txEl>
                                          </p:spTgt>
                                        </p:tgtEl>
                                        <p:attrNameLst>
                                          <p:attrName>style.visibility</p:attrName>
                                        </p:attrNameLst>
                                      </p:cBhvr>
                                      <p:to>
                                        <p:strVal val="visible"/>
                                      </p:to>
                                    </p:set>
                                    <p:animEffect transition="in" filter="fade">
                                      <p:cBhvr>
                                        <p:cTn id="128" dur="20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p:bldP spid="20" grpId="0"/>
      <p:bldP spid="21" grpId="0"/>
      <p:bldP spid="22" grpId="0"/>
      <p:bldP spid="11" grpId="0" build="allAtOnce"/>
      <p:bldP spid="12" grpId="0" build="allAtOnce"/>
      <p:bldP spid="13" grpId="0" build="allAtOnce"/>
      <p:bldP spid="15" grpId="0" animBg="1"/>
      <p:bldP spid="24" grpId="0" animBg="1"/>
      <p:bldP spid="27" grpId="0" animBg="1"/>
      <p:bldP spid="30" grpId="0" animBg="1"/>
      <p:bldP spid="36" grpId="0" animBg="1"/>
      <p:bldP spid="38" grpId="0" animBg="1"/>
      <p:bldP spid="40" grpId="0" animBg="1"/>
      <p:bldP spid="41" grpId="0"/>
      <p:bldP spid="42" grpId="0"/>
      <p:bldP spid="43" grpId="0"/>
      <p:bldP spid="44" grpId="0"/>
      <p:bldP spid="45" grpId="0"/>
      <p:bldP spid="46" grpId="0"/>
      <p:bldP spid="47" grpId="0"/>
      <p:bldP spid="48" grpId="0"/>
      <p:bldP spid="50" grpId="0" animBg="1"/>
      <p:bldP spid="51" grpId="0"/>
      <p:bldP spid="52" grpId="0"/>
      <p:bldP spid="53" grpId="0"/>
      <p:bldP spid="54" grpId="0" build="allAtOnce"/>
    </p:bldLst>
  </p:timing>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existentiële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2" name="TextBox 61"/>
          <p:cNvSpPr txBox="1"/>
          <p:nvPr/>
        </p:nvSpPr>
        <p:spPr>
          <a:xfrm>
            <a:off x="899592" y="3573016"/>
            <a:ext cx="2808312" cy="923330"/>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a:t>
            </a:r>
            <a:endParaRPr lang="nl-NL" dirty="0">
              <a:solidFill>
                <a:srgbClr val="0070C0"/>
              </a:solidFill>
            </a:endParaRPr>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Tree>
  </p:cSld>
  <p:clrMapOvr>
    <a:masterClrMapping/>
  </p:clrMapOvr>
  <p:timing>
    <p:tnLst>
      <p:par>
        <p:cTn id="1" dur="indefinite" restart="never" nodeType="tmRoot"/>
      </p:par>
    </p:tnLst>
  </p:timing>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existentiële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2" name="TextBox 61"/>
          <p:cNvSpPr txBox="1"/>
          <p:nvPr/>
        </p:nvSpPr>
        <p:spPr>
          <a:xfrm>
            <a:off x="899592" y="3573016"/>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a:t>
            </a:r>
            <a:r>
              <a:rPr lang="nl-NL" dirty="0" smtClean="0">
                <a:solidFill>
                  <a:srgbClr val="0070C0"/>
                </a:solidFill>
              </a:rPr>
              <a:t>kies een </a:t>
            </a:r>
            <a:r>
              <a:rPr lang="nl-NL" dirty="0" err="1" smtClean="0">
                <a:solidFill>
                  <a:srgbClr val="0070C0"/>
                </a:solidFill>
              </a:rPr>
              <a:t>individu-constante</a:t>
            </a:r>
            <a:r>
              <a:rPr lang="nl-NL" dirty="0" smtClean="0">
                <a:solidFill>
                  <a:srgbClr val="0070C0"/>
                </a:solidFill>
              </a:rPr>
              <a:t> als in de tak nog geen individuconstante voorkomt</a:t>
            </a:r>
            <a:endParaRPr lang="nl-NL" dirty="0">
              <a:solidFill>
                <a:srgbClr val="0070C0"/>
              </a:solidFill>
            </a:endParaRPr>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Tree>
  </p:cSld>
  <p:clrMapOvr>
    <a:masterClrMapping/>
  </p:clrMapOvr>
  <p:timing>
    <p:tnLst>
      <p:par>
        <p:cTn id="1" dur="indefinite" restart="never" nodeType="tmRoot"/>
      </p:par>
    </p:tnLst>
  </p:timing>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existentiële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2" name="TextBox 61"/>
          <p:cNvSpPr txBox="1"/>
          <p:nvPr/>
        </p:nvSpPr>
        <p:spPr>
          <a:xfrm>
            <a:off x="899592" y="3573016"/>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kies een </a:t>
            </a:r>
            <a:r>
              <a:rPr lang="nl-NL" dirty="0" err="1" smtClean="0"/>
              <a:t>individu-constante</a:t>
            </a:r>
            <a:r>
              <a:rPr lang="nl-NL" dirty="0" smtClean="0"/>
              <a:t> als in de tak nog geen individuconstante voorkomt</a:t>
            </a:r>
            <a:endParaRPr lang="nl-NL" dirty="0"/>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899592" y="5445224"/>
            <a:ext cx="3168352" cy="923330"/>
          </a:xfrm>
          <a:prstGeom prst="rect">
            <a:avLst/>
          </a:prstGeom>
          <a:noFill/>
        </p:spPr>
        <p:txBody>
          <a:bodyPr wrap="square" rtlCol="0">
            <a:spAutoFit/>
          </a:bodyPr>
          <a:lstStyle/>
          <a:p>
            <a:r>
              <a:rPr lang="nl-NL" i="1" dirty="0" smtClean="0"/>
              <a:t>Deze regel kunnen we afleiden uit de boomregel voor een   ware universele </a:t>
            </a:r>
            <a:r>
              <a:rPr lang="nl-NL" i="1" dirty="0" err="1" smtClean="0"/>
              <a:t>kwantificatie</a:t>
            </a:r>
            <a:r>
              <a:rPr lang="nl-NL" i="1" dirty="0" smtClean="0"/>
              <a:t>…</a:t>
            </a:r>
            <a:endParaRPr lang="nl-NL" i="1" dirty="0"/>
          </a:p>
        </p:txBody>
      </p:sp>
      <p:sp>
        <p:nvSpPr>
          <p:cNvPr id="12" name="Oval 11"/>
          <p:cNvSpPr/>
          <p:nvPr/>
        </p:nvSpPr>
        <p:spPr>
          <a:xfrm>
            <a:off x="5936703"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6008711"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2000"/>
                                        <p:tgtEl>
                                          <p:spTgt spid="1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12" grpId="0" animBg="1"/>
      <p:bldP spid="16" grpId="0"/>
    </p:bldLst>
  </p:timing>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existentiële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2" name="TextBox 61"/>
          <p:cNvSpPr txBox="1"/>
          <p:nvPr/>
        </p:nvSpPr>
        <p:spPr>
          <a:xfrm>
            <a:off x="899592" y="3573016"/>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kies een </a:t>
            </a:r>
            <a:r>
              <a:rPr lang="nl-NL" dirty="0" err="1" smtClean="0"/>
              <a:t>individu-constante</a:t>
            </a:r>
            <a:r>
              <a:rPr lang="nl-NL" dirty="0" smtClean="0"/>
              <a:t> als in de tak nog geen individuconstante voorkomt</a:t>
            </a:r>
            <a:endParaRPr lang="nl-NL" dirty="0"/>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2" name="Oval 11"/>
          <p:cNvSpPr/>
          <p:nvPr/>
        </p:nvSpPr>
        <p:spPr>
          <a:xfrm>
            <a:off x="5936703"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6008711" y="1628800"/>
            <a:ext cx="1107996"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25" name="TextBox 24"/>
          <p:cNvSpPr txBox="1"/>
          <p:nvPr/>
        </p:nvSpPr>
        <p:spPr>
          <a:xfrm>
            <a:off x="899592" y="5445224"/>
            <a:ext cx="3168352" cy="923330"/>
          </a:xfrm>
          <a:prstGeom prst="rect">
            <a:avLst/>
          </a:prstGeom>
          <a:noFill/>
        </p:spPr>
        <p:txBody>
          <a:bodyPr wrap="square" rtlCol="0">
            <a:spAutoFit/>
          </a:bodyPr>
          <a:lstStyle/>
          <a:p>
            <a:r>
              <a:rPr lang="nl-NL" i="1" dirty="0" smtClean="0"/>
              <a:t>Deze regel kunnen we afleiden uit de boomregel voor een   ware universele </a:t>
            </a:r>
            <a:r>
              <a:rPr lang="nl-NL" i="1" dirty="0" err="1" smtClean="0"/>
              <a:t>kwantificatie</a:t>
            </a:r>
            <a:r>
              <a:rPr lang="nl-NL" i="1" dirty="0" smtClean="0"/>
              <a:t>…</a:t>
            </a:r>
            <a:endParaRPr lang="nl-NL" i="1" dirty="0"/>
          </a:p>
        </p:txBody>
      </p:sp>
    </p:spTree>
  </p:cSld>
  <p:clrMapOvr>
    <a:masterClrMapping/>
  </p:clrMapOvr>
  <p:timing>
    <p:tnLst>
      <p:par>
        <p:cTn id="1" dur="indefinite" restart="never" nodeType="tmRoot"/>
      </p:par>
    </p:tnLst>
  </p:timing>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existentiële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67545"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2" name="TextBox 61"/>
          <p:cNvSpPr txBox="1"/>
          <p:nvPr/>
        </p:nvSpPr>
        <p:spPr>
          <a:xfrm>
            <a:off x="899592" y="3573016"/>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kies een </a:t>
            </a:r>
            <a:r>
              <a:rPr lang="nl-NL" dirty="0" err="1" smtClean="0"/>
              <a:t>individu-constante</a:t>
            </a:r>
            <a:r>
              <a:rPr lang="nl-NL" dirty="0" smtClean="0"/>
              <a:t> als in de tak nog geen individuconstante voorkomt</a:t>
            </a:r>
            <a:endParaRPr lang="nl-NL" dirty="0"/>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2" name="Oval 11"/>
          <p:cNvSpPr/>
          <p:nvPr/>
        </p:nvSpPr>
        <p:spPr>
          <a:xfrm>
            <a:off x="5936703"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Rectangle 15"/>
          <p:cNvSpPr/>
          <p:nvPr/>
        </p:nvSpPr>
        <p:spPr>
          <a:xfrm>
            <a:off x="6008711" y="1628800"/>
            <a:ext cx="1107996"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cxnSp>
        <p:nvCxnSpPr>
          <p:cNvPr id="14" name="Straight Connector 13"/>
          <p:cNvCxnSpPr/>
          <p:nvPr/>
        </p:nvCxnSpPr>
        <p:spPr>
          <a:xfrm>
            <a:off x="597600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5940152"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4932040" y="2339588"/>
            <a:ext cx="992579"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cxnSp>
        <p:nvCxnSpPr>
          <p:cNvPr id="18" name="Straight Connector 17"/>
          <p:cNvCxnSpPr/>
          <p:nvPr/>
        </p:nvCxnSpPr>
        <p:spPr>
          <a:xfrm>
            <a:off x="5976000" y="263691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940152"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5292080" y="2987660"/>
            <a:ext cx="699230" cy="369332"/>
          </a:xfrm>
          <a:prstGeom prst="rect">
            <a:avLst/>
          </a:prstGeom>
        </p:spPr>
        <p:txBody>
          <a:bodyPr wrap="none">
            <a:spAutoFit/>
          </a:bodyPr>
          <a:lstStyle/>
          <a:p>
            <a:r>
              <a:rPr lang="nl-NL" b="1" dirty="0" smtClean="0"/>
              <a:t>¬</a:t>
            </a:r>
            <a:r>
              <a:rPr lang="el-GR" b="1" i="1" dirty="0" smtClean="0"/>
              <a:t>α</a:t>
            </a:r>
            <a:r>
              <a:rPr lang="nl-NL" b="1" dirty="0" smtClean="0"/>
              <a:t>[a]</a:t>
            </a:r>
            <a:endParaRPr lang="nl-NL" dirty="0"/>
          </a:p>
        </p:txBody>
      </p:sp>
      <p:cxnSp>
        <p:nvCxnSpPr>
          <p:cNvPr id="21" name="Straight Connector 20"/>
          <p:cNvCxnSpPr/>
          <p:nvPr/>
        </p:nvCxnSpPr>
        <p:spPr>
          <a:xfrm>
            <a:off x="5976000" y="328498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940152"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6004410" y="3645024"/>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4" name="TextBox 23"/>
          <p:cNvSpPr txBox="1"/>
          <p:nvPr/>
        </p:nvSpPr>
        <p:spPr>
          <a:xfrm>
            <a:off x="6012160" y="4050938"/>
            <a:ext cx="2808312" cy="1754326"/>
          </a:xfrm>
          <a:prstGeom prst="rect">
            <a:avLst/>
          </a:prstGeom>
          <a:noFill/>
        </p:spPr>
        <p:txBody>
          <a:bodyPr wrap="square" rtlCol="0">
            <a:spAutoFit/>
          </a:bodyPr>
          <a:lstStyle/>
          <a:p>
            <a:r>
              <a:rPr lang="nl-NL" dirty="0" smtClean="0"/>
              <a:t>Voor elke individuconstante </a:t>
            </a:r>
            <a:r>
              <a:rPr lang="nl-NL" b="1" dirty="0" smtClean="0"/>
              <a:t>a</a:t>
            </a:r>
            <a:r>
              <a:rPr lang="nl-NL" dirty="0" smtClean="0"/>
              <a:t> die in de betreffende tak optreedt; kies een </a:t>
            </a:r>
            <a:r>
              <a:rPr lang="nl-NL" dirty="0" err="1" smtClean="0"/>
              <a:t>individu-constante</a:t>
            </a:r>
            <a:r>
              <a:rPr lang="nl-NL" dirty="0" smtClean="0"/>
              <a:t> als in de tak nog geen individuconstante voorkomt</a:t>
            </a:r>
            <a:endParaRPr lang="nl-NL" dirty="0"/>
          </a:p>
        </p:txBody>
      </p:sp>
      <p:sp>
        <p:nvSpPr>
          <p:cNvPr id="25" name="TextBox 24"/>
          <p:cNvSpPr txBox="1"/>
          <p:nvPr/>
        </p:nvSpPr>
        <p:spPr>
          <a:xfrm>
            <a:off x="899592" y="5445224"/>
            <a:ext cx="3168352" cy="923330"/>
          </a:xfrm>
          <a:prstGeom prst="rect">
            <a:avLst/>
          </a:prstGeom>
          <a:noFill/>
        </p:spPr>
        <p:txBody>
          <a:bodyPr wrap="square" rtlCol="0">
            <a:spAutoFit/>
          </a:bodyPr>
          <a:lstStyle/>
          <a:p>
            <a:r>
              <a:rPr lang="nl-NL" i="1" dirty="0" smtClean="0"/>
              <a:t>Deze regel kunnen we afleiden uit de boomregel voor een   ware universele </a:t>
            </a:r>
            <a:r>
              <a:rPr lang="nl-NL" i="1" dirty="0" err="1" smtClean="0"/>
              <a:t>kwantificatie</a:t>
            </a:r>
            <a:r>
              <a:rPr lang="nl-NL" i="1" dirty="0" smtClean="0"/>
              <a:t>…</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20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allAtOnce"/>
    </p:bldLst>
  </p:timing>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universele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899592" y="3573016"/>
            <a:ext cx="2808312" cy="1200329"/>
          </a:xfrm>
          <a:prstGeom prst="rect">
            <a:avLst/>
          </a:prstGeom>
          <a:noFill/>
        </p:spPr>
        <p:txBody>
          <a:bodyPr wrap="square" rtlCol="0">
            <a:spAutoFit/>
          </a:bodyPr>
          <a:lstStyle/>
          <a:p>
            <a:r>
              <a:rPr lang="nl-NL" dirty="0" smtClean="0"/>
              <a:t>Waarbij de individuconstante </a:t>
            </a:r>
            <a:r>
              <a:rPr lang="nl-NL" b="1" dirty="0" smtClean="0"/>
              <a:t>a </a:t>
            </a:r>
            <a:r>
              <a:rPr lang="nl-NL" dirty="0" smtClean="0"/>
              <a:t>nog niet optreedt in de onderhavige tak</a:t>
            </a:r>
            <a:endParaRPr lang="nl-NL" b="1" dirty="0">
              <a:solidFill>
                <a:srgbClr val="0070C0"/>
              </a:solidFill>
            </a:endParaRPr>
          </a:p>
        </p:txBody>
      </p:sp>
      <p:sp>
        <p:nvSpPr>
          <p:cNvPr id="12" name="TextBox 11"/>
          <p:cNvSpPr txBox="1"/>
          <p:nvPr/>
        </p:nvSpPr>
        <p:spPr>
          <a:xfrm>
            <a:off x="899592" y="5445224"/>
            <a:ext cx="3168352" cy="923330"/>
          </a:xfrm>
          <a:prstGeom prst="rect">
            <a:avLst/>
          </a:prstGeom>
          <a:noFill/>
        </p:spPr>
        <p:txBody>
          <a:bodyPr wrap="square" rtlCol="0">
            <a:spAutoFit/>
          </a:bodyPr>
          <a:lstStyle/>
          <a:p>
            <a:r>
              <a:rPr lang="nl-NL" i="1" dirty="0" smtClean="0"/>
              <a:t>Deze regel kunnen we afleiden uit de boomregel voor een   ware existentiële </a:t>
            </a:r>
            <a:r>
              <a:rPr lang="nl-NL" i="1" dirty="0" err="1" smtClean="0"/>
              <a:t>kwantificatie</a:t>
            </a:r>
            <a:r>
              <a:rPr lang="nl-NL" i="1" dirty="0" smtClean="0"/>
              <a:t>…</a:t>
            </a:r>
            <a:endParaRPr lang="nl-NL" i="1" dirty="0"/>
          </a:p>
        </p:txBody>
      </p:sp>
      <p:sp>
        <p:nvSpPr>
          <p:cNvPr id="13" name="Oval 12"/>
          <p:cNvSpPr/>
          <p:nvPr/>
        </p:nvSpPr>
        <p:spPr>
          <a:xfrm>
            <a:off x="5936703"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Rectangle 13"/>
          <p:cNvSpPr/>
          <p:nvPr/>
        </p:nvSpPr>
        <p:spPr>
          <a:xfrm>
            <a:off x="6008711"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20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p:bldP spid="13" grpId="0" animBg="1"/>
      <p:bldP spid="14" grpId="0"/>
    </p:bldLst>
  </p:timing>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universele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899592" y="3573016"/>
            <a:ext cx="2808312" cy="1200329"/>
          </a:xfrm>
          <a:prstGeom prst="rect">
            <a:avLst/>
          </a:prstGeom>
          <a:noFill/>
        </p:spPr>
        <p:txBody>
          <a:bodyPr wrap="square" rtlCol="0">
            <a:spAutoFit/>
          </a:bodyPr>
          <a:lstStyle/>
          <a:p>
            <a:r>
              <a:rPr lang="nl-NL" dirty="0" smtClean="0"/>
              <a:t>Waarbij de individuconstante </a:t>
            </a:r>
            <a:r>
              <a:rPr lang="nl-NL" b="1" dirty="0" smtClean="0"/>
              <a:t>a </a:t>
            </a:r>
            <a:r>
              <a:rPr lang="nl-NL" dirty="0" smtClean="0"/>
              <a:t>nog niet optreedt in de onderhavige tak</a:t>
            </a:r>
            <a:endParaRPr lang="nl-NL" b="1" dirty="0">
              <a:solidFill>
                <a:srgbClr val="0070C0"/>
              </a:solidFill>
            </a:endParaRPr>
          </a:p>
        </p:txBody>
      </p:sp>
      <p:sp>
        <p:nvSpPr>
          <p:cNvPr id="12" name="TextBox 11"/>
          <p:cNvSpPr txBox="1"/>
          <p:nvPr/>
        </p:nvSpPr>
        <p:spPr>
          <a:xfrm>
            <a:off x="899592" y="5445224"/>
            <a:ext cx="3168352" cy="923330"/>
          </a:xfrm>
          <a:prstGeom prst="rect">
            <a:avLst/>
          </a:prstGeom>
          <a:noFill/>
        </p:spPr>
        <p:txBody>
          <a:bodyPr wrap="square" rtlCol="0">
            <a:spAutoFit/>
          </a:bodyPr>
          <a:lstStyle/>
          <a:p>
            <a:r>
              <a:rPr lang="nl-NL" i="1" dirty="0" smtClean="0"/>
              <a:t>Deze regel kunnen we afleiden uit de boomregel voor een   ware existentiële </a:t>
            </a:r>
            <a:r>
              <a:rPr lang="nl-NL" i="1" dirty="0" err="1" smtClean="0"/>
              <a:t>kwantificatie</a:t>
            </a:r>
            <a:r>
              <a:rPr lang="nl-NL" i="1" dirty="0" smtClean="0"/>
              <a:t>…</a:t>
            </a:r>
            <a:endParaRPr lang="nl-NL" i="1" dirty="0"/>
          </a:p>
        </p:txBody>
      </p:sp>
      <p:sp>
        <p:nvSpPr>
          <p:cNvPr id="13" name="Oval 12"/>
          <p:cNvSpPr/>
          <p:nvPr/>
        </p:nvSpPr>
        <p:spPr>
          <a:xfrm>
            <a:off x="5936703"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Rectangle 13"/>
          <p:cNvSpPr/>
          <p:nvPr/>
        </p:nvSpPr>
        <p:spPr>
          <a:xfrm>
            <a:off x="6008711" y="1628800"/>
            <a:ext cx="1098378"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Tree>
  </p:cSld>
  <p:clrMapOvr>
    <a:masterClrMapping/>
  </p:clrMapOvr>
  <p:timing>
    <p:tnLst>
      <p:par>
        <p:cTn id="1" dur="indefinite" restart="never" nodeType="tmRoot"/>
      </p:par>
    </p:tnLst>
  </p:timing>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Boomregel voor onware universele </a:t>
            </a:r>
            <a:r>
              <a:rPr lang="nl-NL" sz="3200" dirty="0" err="1" smtClean="0"/>
              <a:t>kwantificatie</a:t>
            </a:r>
            <a:endParaRPr lang="nl-NL" sz="3200" dirty="0"/>
          </a:p>
        </p:txBody>
      </p:sp>
      <p:sp>
        <p:nvSpPr>
          <p:cNvPr id="56" name="Oval 55"/>
          <p:cNvSpPr/>
          <p:nvPr/>
        </p:nvSpPr>
        <p:spPr>
          <a:xfrm>
            <a:off x="1547664"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158376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583760" y="270892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1547664"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0" name="Rectangle 59"/>
          <p:cNvSpPr/>
          <p:nvPr/>
        </p:nvSpPr>
        <p:spPr>
          <a:xfrm>
            <a:off x="1619672" y="1628800"/>
            <a:ext cx="877163"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sp>
        <p:nvSpPr>
          <p:cNvPr id="61" name="Rectangle 60"/>
          <p:cNvSpPr/>
          <p:nvPr/>
        </p:nvSpPr>
        <p:spPr>
          <a:xfrm>
            <a:off x="1619672" y="3059668"/>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63" name="TextBox 62"/>
          <p:cNvSpPr txBox="1"/>
          <p:nvPr/>
        </p:nvSpPr>
        <p:spPr>
          <a:xfrm>
            <a:off x="1403648" y="2348880"/>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11" name="TextBox 10"/>
          <p:cNvSpPr txBox="1"/>
          <p:nvPr/>
        </p:nvSpPr>
        <p:spPr>
          <a:xfrm>
            <a:off x="899592" y="3573016"/>
            <a:ext cx="2808312" cy="1200329"/>
          </a:xfrm>
          <a:prstGeom prst="rect">
            <a:avLst/>
          </a:prstGeom>
          <a:noFill/>
        </p:spPr>
        <p:txBody>
          <a:bodyPr wrap="square" rtlCol="0">
            <a:spAutoFit/>
          </a:bodyPr>
          <a:lstStyle/>
          <a:p>
            <a:r>
              <a:rPr lang="nl-NL" dirty="0" smtClean="0"/>
              <a:t>Waarbij de individuconstante </a:t>
            </a:r>
            <a:r>
              <a:rPr lang="nl-NL" b="1" dirty="0" smtClean="0"/>
              <a:t>a </a:t>
            </a:r>
            <a:r>
              <a:rPr lang="nl-NL" dirty="0" smtClean="0"/>
              <a:t>nog niet optreedt in de onderhavige tak</a:t>
            </a:r>
            <a:endParaRPr lang="nl-NL" b="1" dirty="0">
              <a:solidFill>
                <a:srgbClr val="0070C0"/>
              </a:solidFill>
            </a:endParaRPr>
          </a:p>
        </p:txBody>
      </p:sp>
      <p:sp>
        <p:nvSpPr>
          <p:cNvPr id="12" name="TextBox 11"/>
          <p:cNvSpPr txBox="1"/>
          <p:nvPr/>
        </p:nvSpPr>
        <p:spPr>
          <a:xfrm>
            <a:off x="899592" y="5445224"/>
            <a:ext cx="3168352" cy="923330"/>
          </a:xfrm>
          <a:prstGeom prst="rect">
            <a:avLst/>
          </a:prstGeom>
          <a:noFill/>
        </p:spPr>
        <p:txBody>
          <a:bodyPr wrap="square" rtlCol="0">
            <a:spAutoFit/>
          </a:bodyPr>
          <a:lstStyle/>
          <a:p>
            <a:r>
              <a:rPr lang="nl-NL" i="1" dirty="0" smtClean="0"/>
              <a:t>Deze regel kunnen we afleiden uit de boomregel voor een   ware existentiële </a:t>
            </a:r>
            <a:r>
              <a:rPr lang="nl-NL" i="1" dirty="0" err="1" smtClean="0"/>
              <a:t>kwantificatie</a:t>
            </a:r>
            <a:r>
              <a:rPr lang="nl-NL" i="1" dirty="0" smtClean="0"/>
              <a:t>…</a:t>
            </a:r>
            <a:endParaRPr lang="nl-NL" i="1" dirty="0"/>
          </a:p>
        </p:txBody>
      </p:sp>
      <p:sp>
        <p:nvSpPr>
          <p:cNvPr id="13" name="Oval 12"/>
          <p:cNvSpPr/>
          <p:nvPr/>
        </p:nvSpPr>
        <p:spPr>
          <a:xfrm>
            <a:off x="5936703" y="184482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Rectangle 13"/>
          <p:cNvSpPr/>
          <p:nvPr/>
        </p:nvSpPr>
        <p:spPr>
          <a:xfrm>
            <a:off x="6008711" y="1628800"/>
            <a:ext cx="1098378"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cxnSp>
        <p:nvCxnSpPr>
          <p:cNvPr id="15" name="Straight Connector 14"/>
          <p:cNvCxnSpPr/>
          <p:nvPr/>
        </p:nvCxnSpPr>
        <p:spPr>
          <a:xfrm>
            <a:off x="5976000" y="198884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5940152" y="24928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4932040" y="2339588"/>
            <a:ext cx="982961" cy="369332"/>
          </a:xfrm>
          <a:prstGeom prst="rect">
            <a:avLst/>
          </a:prstGeom>
        </p:spPr>
        <p:txBody>
          <a:bodyPr wrap="none">
            <a:spAutoFit/>
          </a:bodyPr>
          <a:lstStyle/>
          <a:p>
            <a:r>
              <a:rPr lang="nl-NL" b="1" dirty="0" smtClean="0"/>
              <a:t>∃x ¬</a:t>
            </a:r>
            <a:r>
              <a:rPr lang="el-GR" b="1" i="1" dirty="0" smtClean="0"/>
              <a:t>α</a:t>
            </a:r>
            <a:r>
              <a:rPr lang="nl-NL" b="1" dirty="0" smtClean="0"/>
              <a:t>[x]</a:t>
            </a:r>
            <a:endParaRPr lang="nl-NL" dirty="0"/>
          </a:p>
        </p:txBody>
      </p:sp>
      <p:cxnSp>
        <p:nvCxnSpPr>
          <p:cNvPr id="18" name="Straight Connector 17"/>
          <p:cNvCxnSpPr/>
          <p:nvPr/>
        </p:nvCxnSpPr>
        <p:spPr>
          <a:xfrm>
            <a:off x="5976000" y="263691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940152"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5292080" y="2987660"/>
            <a:ext cx="699230" cy="369332"/>
          </a:xfrm>
          <a:prstGeom prst="rect">
            <a:avLst/>
          </a:prstGeom>
        </p:spPr>
        <p:txBody>
          <a:bodyPr wrap="none">
            <a:spAutoFit/>
          </a:bodyPr>
          <a:lstStyle/>
          <a:p>
            <a:r>
              <a:rPr lang="nl-NL" b="1" dirty="0" smtClean="0"/>
              <a:t>¬</a:t>
            </a:r>
            <a:r>
              <a:rPr lang="el-GR" b="1" i="1" dirty="0" smtClean="0"/>
              <a:t>α</a:t>
            </a:r>
            <a:r>
              <a:rPr lang="nl-NL" b="1" dirty="0" smtClean="0"/>
              <a:t>[a]</a:t>
            </a:r>
            <a:endParaRPr lang="nl-NL" dirty="0"/>
          </a:p>
        </p:txBody>
      </p:sp>
      <p:cxnSp>
        <p:nvCxnSpPr>
          <p:cNvPr id="21" name="Straight Connector 20"/>
          <p:cNvCxnSpPr/>
          <p:nvPr/>
        </p:nvCxnSpPr>
        <p:spPr>
          <a:xfrm>
            <a:off x="5976000" y="328498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940152" y="3789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6004410" y="3645024"/>
            <a:ext cx="583814" cy="369332"/>
          </a:xfrm>
          <a:prstGeom prst="rect">
            <a:avLst/>
          </a:prstGeom>
        </p:spPr>
        <p:txBody>
          <a:bodyPr wrap="none">
            <a:spAutoFit/>
          </a:bodyPr>
          <a:lstStyle/>
          <a:p>
            <a:r>
              <a:rPr lang="el-GR" b="1" i="1" dirty="0" smtClean="0"/>
              <a:t>α</a:t>
            </a:r>
            <a:r>
              <a:rPr lang="nl-NL" b="1" dirty="0" smtClean="0"/>
              <a:t>[a]</a:t>
            </a:r>
            <a:endParaRPr lang="nl-NL" dirty="0"/>
          </a:p>
        </p:txBody>
      </p:sp>
      <p:sp>
        <p:nvSpPr>
          <p:cNvPr id="24" name="TextBox 23"/>
          <p:cNvSpPr txBox="1"/>
          <p:nvPr/>
        </p:nvSpPr>
        <p:spPr>
          <a:xfrm>
            <a:off x="5796136" y="4149080"/>
            <a:ext cx="2808312" cy="1200329"/>
          </a:xfrm>
          <a:prstGeom prst="rect">
            <a:avLst/>
          </a:prstGeom>
          <a:noFill/>
        </p:spPr>
        <p:txBody>
          <a:bodyPr wrap="square" rtlCol="0">
            <a:spAutoFit/>
          </a:bodyPr>
          <a:lstStyle/>
          <a:p>
            <a:r>
              <a:rPr lang="nl-NL" dirty="0" smtClean="0"/>
              <a:t>Waarbij de individuconstante </a:t>
            </a:r>
            <a:r>
              <a:rPr lang="nl-NL" b="1" dirty="0" smtClean="0"/>
              <a:t>a </a:t>
            </a:r>
            <a:r>
              <a:rPr lang="nl-NL" dirty="0" smtClean="0"/>
              <a:t>nog niet optreedt in de onderhavige tak</a:t>
            </a:r>
            <a:endParaRPr lang="nl-NL"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Effect transition="in" filter="fade">
                                      <p:cBhvr>
                                        <p:cTn id="7" dur="20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uild="allAtOnce"/>
    </p:bldLst>
  </p:timing>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13" name="Oval 12"/>
          <p:cNvSpPr/>
          <p:nvPr/>
        </p:nvSpPr>
        <p:spPr>
          <a:xfrm>
            <a:off x="5936703" y="21955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5976000" y="233958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5940152" y="28436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8" name="Straight Connector 17"/>
          <p:cNvCxnSpPr/>
          <p:nvPr/>
        </p:nvCxnSpPr>
        <p:spPr>
          <a:xfrm>
            <a:off x="5976000" y="298766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940152" y="34917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Rectangle 19"/>
          <p:cNvSpPr/>
          <p:nvPr/>
        </p:nvSpPr>
        <p:spPr>
          <a:xfrm>
            <a:off x="5502212" y="3338408"/>
            <a:ext cx="437940" cy="369332"/>
          </a:xfrm>
          <a:prstGeom prst="rect">
            <a:avLst/>
          </a:prstGeom>
        </p:spPr>
        <p:txBody>
          <a:bodyPr wrap="none">
            <a:spAutoFit/>
          </a:bodyPr>
          <a:lstStyle/>
          <a:p>
            <a:r>
              <a:rPr lang="nl-NL" b="1" dirty="0" smtClean="0"/>
              <a:t>Aa</a:t>
            </a:r>
            <a:endParaRPr lang="nl-NL" dirty="0"/>
          </a:p>
        </p:txBody>
      </p:sp>
      <p:cxnSp>
        <p:nvCxnSpPr>
          <p:cNvPr id="21" name="Straight Connector 20"/>
          <p:cNvCxnSpPr/>
          <p:nvPr/>
        </p:nvCxnSpPr>
        <p:spPr>
          <a:xfrm>
            <a:off x="5976000" y="36357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5940152" y="41397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6004410" y="3995772"/>
            <a:ext cx="542136" cy="369332"/>
          </a:xfrm>
          <a:prstGeom prst="rect">
            <a:avLst/>
          </a:prstGeom>
        </p:spPr>
        <p:txBody>
          <a:bodyPr wrap="none">
            <a:spAutoFit/>
          </a:bodyPr>
          <a:lstStyle/>
          <a:p>
            <a:r>
              <a:rPr lang="nl-NL" b="1" dirty="0" err="1" smtClean="0"/>
              <a:t>Raa</a:t>
            </a:r>
            <a:endParaRPr lang="nl-NL" dirty="0"/>
          </a:p>
        </p:txBody>
      </p:sp>
      <p:sp>
        <p:nvSpPr>
          <p:cNvPr id="25" name="Content Placeholder 2"/>
          <p:cNvSpPr>
            <a:spLocks noGrp="1"/>
          </p:cNvSpPr>
          <p:nvPr>
            <p:ph idx="1"/>
          </p:nvPr>
        </p:nvSpPr>
        <p:spPr>
          <a:xfrm>
            <a:off x="683568" y="1384177"/>
            <a:ext cx="8686800" cy="388639"/>
          </a:xfrm>
        </p:spPr>
        <p:txBody>
          <a:bodyPr>
            <a:noAutofit/>
          </a:bodyPr>
          <a:lstStyle/>
          <a:p>
            <a:pPr>
              <a:buNone/>
            </a:pPr>
            <a:r>
              <a:rPr lang="nl-NL" sz="2000" dirty="0" smtClean="0"/>
              <a:t>Is  </a:t>
            </a:r>
            <a:r>
              <a:rPr lang="nl-NL" sz="2000" b="1" dirty="0" smtClean="0"/>
              <a:t>∀x </a:t>
            </a:r>
            <a:r>
              <a:rPr lang="nl-NL" sz="2000" b="1" dirty="0" err="1" smtClean="0"/>
              <a:t>Rxx</a:t>
            </a:r>
            <a:r>
              <a:rPr lang="nl-NL" sz="2000" b="1" dirty="0" smtClean="0"/>
              <a:t> |= ∀x (</a:t>
            </a:r>
            <a:r>
              <a:rPr lang="nl-NL" sz="2000" b="1" dirty="0" err="1" smtClean="0"/>
              <a:t>Ax</a:t>
            </a:r>
            <a:r>
              <a:rPr lang="nl-NL" sz="2000" b="1" dirty="0" smtClean="0"/>
              <a:t> → ∃y </a:t>
            </a:r>
            <a:r>
              <a:rPr lang="nl-NL" sz="2000" b="1" dirty="0" err="1" smtClean="0"/>
              <a:t>Rxy</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sp>
        <p:nvSpPr>
          <p:cNvPr id="26" name="Rectangle 25"/>
          <p:cNvSpPr/>
          <p:nvPr/>
        </p:nvSpPr>
        <p:spPr>
          <a:xfrm>
            <a:off x="5076056" y="1988840"/>
            <a:ext cx="827471" cy="369332"/>
          </a:xfrm>
          <a:prstGeom prst="rect">
            <a:avLst/>
          </a:prstGeom>
        </p:spPr>
        <p:txBody>
          <a:bodyPr wrap="none">
            <a:spAutoFit/>
          </a:bodyPr>
          <a:lstStyle/>
          <a:p>
            <a:r>
              <a:rPr lang="nl-NL" b="1" dirty="0" smtClean="0"/>
              <a:t>∀x </a:t>
            </a:r>
            <a:r>
              <a:rPr lang="nl-NL" b="1" dirty="0" err="1" smtClean="0"/>
              <a:t>Rxx</a:t>
            </a:r>
            <a:endParaRPr lang="nl-NL" dirty="0"/>
          </a:p>
        </p:txBody>
      </p:sp>
      <p:sp>
        <p:nvSpPr>
          <p:cNvPr id="27" name="Rectangle 26"/>
          <p:cNvSpPr/>
          <p:nvPr/>
        </p:nvSpPr>
        <p:spPr>
          <a:xfrm>
            <a:off x="6012160" y="1988840"/>
            <a:ext cx="1882247" cy="369332"/>
          </a:xfrm>
          <a:prstGeom prst="rect">
            <a:avLst/>
          </a:prstGeom>
        </p:spPr>
        <p:txBody>
          <a:bodyPr wrap="none">
            <a:spAutoFit/>
          </a:bodyPr>
          <a:lstStyle/>
          <a:p>
            <a:r>
              <a:rPr lang="nl-NL" b="1" dirty="0" smtClean="0"/>
              <a:t>∀x (</a:t>
            </a:r>
            <a:r>
              <a:rPr lang="nl-NL" b="1" dirty="0" err="1" smtClean="0"/>
              <a:t>Ax</a:t>
            </a:r>
            <a:r>
              <a:rPr lang="nl-NL" b="1" dirty="0" smtClean="0"/>
              <a:t> → ∃y </a:t>
            </a:r>
            <a:r>
              <a:rPr lang="nl-NL" b="1" dirty="0" err="1" smtClean="0"/>
              <a:t>Rxy</a:t>
            </a:r>
            <a:r>
              <a:rPr lang="nl-NL" b="1" dirty="0" smtClean="0"/>
              <a:t>) </a:t>
            </a:r>
            <a:endParaRPr lang="nl-NL" dirty="0"/>
          </a:p>
        </p:txBody>
      </p:sp>
      <p:sp>
        <p:nvSpPr>
          <p:cNvPr id="28" name="Rectangle 27"/>
          <p:cNvSpPr/>
          <p:nvPr/>
        </p:nvSpPr>
        <p:spPr>
          <a:xfrm>
            <a:off x="6012160" y="2636912"/>
            <a:ext cx="1395575" cy="369332"/>
          </a:xfrm>
          <a:prstGeom prst="rect">
            <a:avLst/>
          </a:prstGeom>
        </p:spPr>
        <p:txBody>
          <a:bodyPr wrap="none">
            <a:spAutoFit/>
          </a:bodyPr>
          <a:lstStyle/>
          <a:p>
            <a:r>
              <a:rPr lang="nl-NL" b="1" dirty="0" smtClean="0"/>
              <a:t>Aa → ∃y </a:t>
            </a:r>
            <a:r>
              <a:rPr lang="nl-NL" b="1" dirty="0" err="1" smtClean="0"/>
              <a:t>Ray</a:t>
            </a:r>
            <a:endParaRPr lang="nl-NL" dirty="0"/>
          </a:p>
        </p:txBody>
      </p:sp>
      <p:sp>
        <p:nvSpPr>
          <p:cNvPr id="29" name="Rectangle 28"/>
          <p:cNvSpPr/>
          <p:nvPr/>
        </p:nvSpPr>
        <p:spPr>
          <a:xfrm>
            <a:off x="6012160" y="3347700"/>
            <a:ext cx="828112" cy="369332"/>
          </a:xfrm>
          <a:prstGeom prst="rect">
            <a:avLst/>
          </a:prstGeom>
        </p:spPr>
        <p:txBody>
          <a:bodyPr wrap="none">
            <a:spAutoFit/>
          </a:bodyPr>
          <a:lstStyle/>
          <a:p>
            <a:r>
              <a:rPr lang="nl-NL" b="1" dirty="0" smtClean="0"/>
              <a:t>∃y </a:t>
            </a:r>
            <a:r>
              <a:rPr lang="nl-NL" b="1" dirty="0" err="1" smtClean="0"/>
              <a:t>Ray</a:t>
            </a:r>
            <a:endParaRPr lang="nl-NL" dirty="0"/>
          </a:p>
        </p:txBody>
      </p:sp>
      <p:cxnSp>
        <p:nvCxnSpPr>
          <p:cNvPr id="30" name="Straight Connector 29"/>
          <p:cNvCxnSpPr/>
          <p:nvPr/>
        </p:nvCxnSpPr>
        <p:spPr>
          <a:xfrm>
            <a:off x="5976000" y="429309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5940152" y="47971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2" name="Rectangle 31"/>
          <p:cNvSpPr/>
          <p:nvPr/>
        </p:nvSpPr>
        <p:spPr>
          <a:xfrm>
            <a:off x="5398016" y="4643844"/>
            <a:ext cx="542136" cy="369332"/>
          </a:xfrm>
          <a:prstGeom prst="rect">
            <a:avLst/>
          </a:prstGeom>
        </p:spPr>
        <p:txBody>
          <a:bodyPr wrap="none">
            <a:spAutoFit/>
          </a:bodyPr>
          <a:lstStyle/>
          <a:p>
            <a:r>
              <a:rPr lang="nl-NL" b="1" dirty="0" err="1" smtClean="0"/>
              <a:t>Raa</a:t>
            </a:r>
            <a:endParaRPr lang="nl-NL" dirty="0"/>
          </a:p>
        </p:txBody>
      </p:sp>
      <p:sp>
        <p:nvSpPr>
          <p:cNvPr id="33" name="TextBox 32"/>
          <p:cNvSpPr txBox="1"/>
          <p:nvPr/>
        </p:nvSpPr>
        <p:spPr>
          <a:xfrm>
            <a:off x="5940152" y="4653136"/>
            <a:ext cx="216024" cy="584775"/>
          </a:xfrm>
          <a:prstGeom prst="rect">
            <a:avLst/>
          </a:prstGeom>
          <a:noFill/>
        </p:spPr>
        <p:txBody>
          <a:bodyPr wrap="square" rtlCol="0">
            <a:spAutoFit/>
          </a:bodyPr>
          <a:lstStyle/>
          <a:p>
            <a:r>
              <a:rPr lang="nl-NL" sz="3200" b="1" dirty="0" smtClean="0"/>
              <a:t>+</a:t>
            </a:r>
            <a:endParaRPr lang="nl-NL" b="1" dirty="0"/>
          </a:p>
        </p:txBody>
      </p:sp>
      <p:sp>
        <p:nvSpPr>
          <p:cNvPr id="34" name="TextBox 33"/>
          <p:cNvSpPr txBox="1"/>
          <p:nvPr/>
        </p:nvSpPr>
        <p:spPr>
          <a:xfrm>
            <a:off x="5292080" y="5445224"/>
            <a:ext cx="1656184" cy="646331"/>
          </a:xfrm>
          <a:prstGeom prst="rect">
            <a:avLst/>
          </a:prstGeom>
          <a:noFill/>
        </p:spPr>
        <p:txBody>
          <a:bodyPr wrap="square" rtlCol="0">
            <a:spAutoFit/>
          </a:bodyPr>
          <a:lstStyle/>
          <a:p>
            <a:r>
              <a:rPr lang="nl-NL" i="1" dirty="0" smtClean="0"/>
              <a:t>Dus semantisch geldig</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2000"/>
                                        <p:tgtEl>
                                          <p:spTgt spid="20"/>
                                        </p:tgtEl>
                                      </p:cBhvr>
                                    </p:animEffec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2000"/>
                                        <p:tgtEl>
                                          <p:spTgt spid="2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0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20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2000"/>
                                        <p:tgtEl>
                                          <p:spTgt spid="2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20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20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2000"/>
                                        <p:tgtEl>
                                          <p:spTgt spid="29"/>
                                        </p:tgtEl>
                                      </p:cBhvr>
                                    </p:animEffect>
                                  </p:childTnLst>
                                </p:cTn>
                              </p:par>
                              <p:par>
                                <p:cTn id="44" presetID="10" presetClass="entr" presetSubtype="0"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20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2000"/>
                                        <p:tgtEl>
                                          <p:spTgt spid="3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fade">
                                      <p:cBhvr>
                                        <p:cTn id="52" dur="2000"/>
                                        <p:tgtEl>
                                          <p:spTgt spid="3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2000"/>
                                        <p:tgtEl>
                                          <p:spTgt spid="3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4">
                                            <p:txEl>
                                              <p:pRg st="0" end="0"/>
                                            </p:txEl>
                                          </p:spTgt>
                                        </p:tgtEl>
                                        <p:attrNameLst>
                                          <p:attrName>style.visibility</p:attrName>
                                        </p:attrNameLst>
                                      </p:cBhvr>
                                      <p:to>
                                        <p:strVal val="visible"/>
                                      </p:to>
                                    </p:set>
                                    <p:animEffect transition="in" filter="fade">
                                      <p:cBhvr>
                                        <p:cTn id="60" dur="20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0" grpId="0"/>
      <p:bldP spid="22" grpId="0" animBg="1"/>
      <p:bldP spid="23" grpId="0"/>
      <p:bldP spid="26" grpId="0"/>
      <p:bldP spid="27" grpId="0"/>
      <p:bldP spid="28" grpId="0"/>
      <p:bldP spid="29" grpId="0"/>
      <p:bldP spid="31" grpId="0" animBg="1"/>
      <p:bldP spid="32" grpId="0"/>
      <p:bldP spid="33" grpId="0"/>
      <p:bldP spid="34" grpId="0" build="allAtOnce"/>
    </p:bldLst>
  </p:timing>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De vier </a:t>
            </a:r>
            <a:r>
              <a:rPr lang="nl-NL" sz="3200" dirty="0" err="1" smtClean="0"/>
              <a:t>predikaatlogische</a:t>
            </a:r>
            <a:r>
              <a:rPr lang="nl-NL" sz="3200" dirty="0" smtClean="0"/>
              <a:t>                                      boomregels op een rijtje</a:t>
            </a:r>
            <a:endParaRPr lang="nl-NL" sz="3200" dirty="0"/>
          </a:p>
        </p:txBody>
      </p:sp>
      <p:pic>
        <p:nvPicPr>
          <p:cNvPr id="35" name="Picture 34" descr="boom7.png"/>
          <p:cNvPicPr>
            <a:picLocks noChangeAspect="1"/>
          </p:cNvPicPr>
          <p:nvPr/>
        </p:nvPicPr>
        <p:blipFill>
          <a:blip r:embed="rId2" cstate="print"/>
          <a:stretch>
            <a:fillRect/>
          </a:stretch>
        </p:blipFill>
        <p:spPr>
          <a:xfrm>
            <a:off x="988697" y="1628800"/>
            <a:ext cx="7039687" cy="5093562"/>
          </a:xfrm>
          <a:prstGeom prst="rect">
            <a:avLst/>
          </a:prstGeom>
        </p:spPr>
      </p:pic>
    </p:spTree>
  </p:cSld>
  <p:clrMapOvr>
    <a:masterClrMapping/>
  </p:clrMapOvr>
  <p:timing>
    <p:tnLst>
      <p:par>
        <p:cTn id="1" dur="indefinite" restart="never" nodeType="tmRoot"/>
      </p:par>
    </p:tnLst>
  </p:timing>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Een moeilijkheid…</a:t>
            </a:r>
            <a:endParaRPr lang="nl-NL" sz="3200" dirty="0"/>
          </a:p>
        </p:txBody>
      </p:sp>
      <p:sp>
        <p:nvSpPr>
          <p:cNvPr id="13" name="Oval 12"/>
          <p:cNvSpPr/>
          <p:nvPr/>
        </p:nvSpPr>
        <p:spPr>
          <a:xfrm>
            <a:off x="3766424" y="254690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3805721" y="269091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3769873" y="319497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8" name="Straight Connector 17"/>
          <p:cNvCxnSpPr/>
          <p:nvPr/>
        </p:nvCxnSpPr>
        <p:spPr>
          <a:xfrm>
            <a:off x="3805721" y="3338989"/>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769873" y="384304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1" name="Straight Connector 20"/>
          <p:cNvCxnSpPr/>
          <p:nvPr/>
        </p:nvCxnSpPr>
        <p:spPr>
          <a:xfrm>
            <a:off x="3805721" y="398706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69873" y="44911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Content Placeholder 2"/>
          <p:cNvSpPr>
            <a:spLocks noGrp="1"/>
          </p:cNvSpPr>
          <p:nvPr>
            <p:ph idx="1"/>
          </p:nvPr>
        </p:nvSpPr>
        <p:spPr>
          <a:xfrm>
            <a:off x="683568" y="1384177"/>
            <a:ext cx="8686800" cy="388639"/>
          </a:xfrm>
        </p:spPr>
        <p:txBody>
          <a:bodyPr>
            <a:noAutofit/>
          </a:bodyPr>
          <a:lstStyle/>
          <a:p>
            <a:pPr>
              <a:buNone/>
            </a:pPr>
            <a:r>
              <a:rPr lang="nl-NL" sz="2000" dirty="0" smtClean="0"/>
              <a:t>Is  </a:t>
            </a:r>
            <a:r>
              <a:rPr lang="nl-NL" sz="2000" b="1" dirty="0" smtClean="0"/>
              <a:t>∀x ∃y (</a:t>
            </a:r>
            <a:r>
              <a:rPr lang="nl-NL" sz="2000" b="1" dirty="0" err="1" smtClean="0"/>
              <a:t>Fx</a:t>
            </a:r>
            <a:r>
              <a:rPr lang="nl-NL" sz="2000" b="1" dirty="0" smtClean="0"/>
              <a:t> ∧ </a:t>
            </a:r>
            <a:r>
              <a:rPr lang="nl-NL" sz="2000" b="1" dirty="0" err="1" smtClean="0"/>
              <a:t>Gy</a:t>
            </a:r>
            <a:r>
              <a:rPr lang="nl-NL" sz="2000" b="1" dirty="0" smtClean="0"/>
              <a:t>)  |=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cxnSp>
        <p:nvCxnSpPr>
          <p:cNvPr id="30" name="Straight Connector 29"/>
          <p:cNvCxnSpPr/>
          <p:nvPr/>
        </p:nvCxnSpPr>
        <p:spPr>
          <a:xfrm>
            <a:off x="3805721" y="4644425"/>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3769873" y="514848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TextBox 32"/>
          <p:cNvSpPr txBox="1"/>
          <p:nvPr/>
        </p:nvSpPr>
        <p:spPr>
          <a:xfrm>
            <a:off x="2339752" y="5733256"/>
            <a:ext cx="216024" cy="584775"/>
          </a:xfrm>
          <a:prstGeom prst="rect">
            <a:avLst/>
          </a:prstGeom>
          <a:noFill/>
        </p:spPr>
        <p:txBody>
          <a:bodyPr wrap="square" rtlCol="0">
            <a:spAutoFit/>
          </a:bodyPr>
          <a:lstStyle/>
          <a:p>
            <a:r>
              <a:rPr lang="nl-NL" sz="3200" b="1" dirty="0" smtClean="0"/>
              <a:t>+</a:t>
            </a:r>
            <a:endParaRPr lang="nl-NL" b="1" dirty="0"/>
          </a:p>
        </p:txBody>
      </p:sp>
      <p:sp>
        <p:nvSpPr>
          <p:cNvPr id="34" name="TextBox 33"/>
          <p:cNvSpPr txBox="1"/>
          <p:nvPr/>
        </p:nvSpPr>
        <p:spPr>
          <a:xfrm>
            <a:off x="3851920" y="3645024"/>
            <a:ext cx="1656184" cy="369332"/>
          </a:xfrm>
          <a:prstGeom prst="rect">
            <a:avLst/>
          </a:prstGeom>
          <a:noFill/>
        </p:spPr>
        <p:txBody>
          <a:bodyPr wrap="square" rtlCol="0">
            <a:spAutoFit/>
          </a:bodyPr>
          <a:lstStyle/>
          <a:p>
            <a:r>
              <a:rPr lang="nl-NL" b="1" dirty="0" smtClean="0"/>
              <a:t>Fa ∧ Ga</a:t>
            </a:r>
            <a:endParaRPr lang="nl-NL" i="1" dirty="0"/>
          </a:p>
        </p:txBody>
      </p:sp>
      <p:sp>
        <p:nvSpPr>
          <p:cNvPr id="24" name="Rectangle 23"/>
          <p:cNvSpPr/>
          <p:nvPr/>
        </p:nvSpPr>
        <p:spPr>
          <a:xfrm>
            <a:off x="2123728" y="2348880"/>
            <a:ext cx="1681679" cy="369332"/>
          </a:xfrm>
          <a:prstGeom prst="rect">
            <a:avLst/>
          </a:prstGeom>
        </p:spPr>
        <p:txBody>
          <a:bodyPr wrap="none">
            <a:spAutoFit/>
          </a:bodyPr>
          <a:lstStyle/>
          <a:p>
            <a:r>
              <a:rPr lang="nl-NL" b="1" dirty="0" smtClean="0"/>
              <a:t>∀x ∃y (</a:t>
            </a:r>
            <a:r>
              <a:rPr lang="nl-NL" b="1" dirty="0" err="1" smtClean="0"/>
              <a:t>Fx</a:t>
            </a:r>
            <a:r>
              <a:rPr lang="nl-NL" b="1" dirty="0" smtClean="0"/>
              <a:t> ∧ </a:t>
            </a:r>
            <a:r>
              <a:rPr lang="nl-NL" b="1" dirty="0" err="1" smtClean="0"/>
              <a:t>Gy</a:t>
            </a:r>
            <a:r>
              <a:rPr lang="nl-NL" b="1" dirty="0" smtClean="0"/>
              <a:t>) </a:t>
            </a:r>
            <a:endParaRPr lang="nl-NL" dirty="0"/>
          </a:p>
        </p:txBody>
      </p:sp>
      <p:sp>
        <p:nvSpPr>
          <p:cNvPr id="35" name="Rectangle 34"/>
          <p:cNvSpPr/>
          <p:nvPr/>
        </p:nvSpPr>
        <p:spPr>
          <a:xfrm>
            <a:off x="3851920" y="2348880"/>
            <a:ext cx="1375056" cy="369332"/>
          </a:xfrm>
          <a:prstGeom prst="rect">
            <a:avLst/>
          </a:prstGeom>
        </p:spPr>
        <p:txBody>
          <a:bodyPr wrap="none">
            <a:spAutoFit/>
          </a:bodyPr>
          <a:lstStyle/>
          <a:p>
            <a:r>
              <a:rPr lang="nl-NL" b="1" dirty="0" smtClean="0"/>
              <a:t>∃x (</a:t>
            </a:r>
            <a:r>
              <a:rPr lang="nl-NL" b="1" dirty="0" err="1" smtClean="0"/>
              <a:t>Fx</a:t>
            </a:r>
            <a:r>
              <a:rPr lang="nl-NL" b="1" dirty="0" smtClean="0"/>
              <a:t> ∧ </a:t>
            </a:r>
            <a:r>
              <a:rPr lang="nl-NL" b="1" dirty="0" err="1" smtClean="0"/>
              <a:t>Gx</a:t>
            </a:r>
            <a:r>
              <a:rPr lang="nl-NL" b="1" dirty="0" smtClean="0"/>
              <a:t>) </a:t>
            </a:r>
            <a:endParaRPr lang="nl-NL" dirty="0"/>
          </a:p>
        </p:txBody>
      </p:sp>
      <p:sp>
        <p:nvSpPr>
          <p:cNvPr id="36" name="Rectangle 35"/>
          <p:cNvSpPr/>
          <p:nvPr/>
        </p:nvSpPr>
        <p:spPr>
          <a:xfrm>
            <a:off x="2339752" y="2987660"/>
            <a:ext cx="1382045" cy="369332"/>
          </a:xfrm>
          <a:prstGeom prst="rect">
            <a:avLst/>
          </a:prstGeom>
        </p:spPr>
        <p:txBody>
          <a:bodyPr wrap="none">
            <a:spAutoFit/>
          </a:bodyPr>
          <a:lstStyle/>
          <a:p>
            <a:r>
              <a:rPr lang="nl-NL" b="1" dirty="0" smtClean="0"/>
              <a:t>∃y (Fa ∧ </a:t>
            </a:r>
            <a:r>
              <a:rPr lang="nl-NL" b="1" dirty="0" err="1" smtClean="0"/>
              <a:t>Gy</a:t>
            </a:r>
            <a:r>
              <a:rPr lang="nl-NL" b="1" dirty="0" smtClean="0"/>
              <a:t>) </a:t>
            </a:r>
            <a:endParaRPr lang="nl-NL" dirty="0"/>
          </a:p>
        </p:txBody>
      </p:sp>
      <p:sp>
        <p:nvSpPr>
          <p:cNvPr id="37" name="Rectangle 36"/>
          <p:cNvSpPr/>
          <p:nvPr/>
        </p:nvSpPr>
        <p:spPr>
          <a:xfrm>
            <a:off x="2771800" y="4293096"/>
            <a:ext cx="960648" cy="369332"/>
          </a:xfrm>
          <a:prstGeom prst="rect">
            <a:avLst/>
          </a:prstGeom>
        </p:spPr>
        <p:txBody>
          <a:bodyPr wrap="none">
            <a:spAutoFit/>
          </a:bodyPr>
          <a:lstStyle/>
          <a:p>
            <a:r>
              <a:rPr lang="nl-NL" b="1" dirty="0" smtClean="0"/>
              <a:t>Fa ∧ </a:t>
            </a:r>
            <a:r>
              <a:rPr lang="nl-NL" b="1" dirty="0" err="1" smtClean="0"/>
              <a:t>Gb</a:t>
            </a:r>
            <a:r>
              <a:rPr lang="nl-NL" b="1" dirty="0" smtClean="0"/>
              <a:t> </a:t>
            </a:r>
            <a:endParaRPr lang="nl-NL" dirty="0"/>
          </a:p>
        </p:txBody>
      </p:sp>
      <p:sp>
        <p:nvSpPr>
          <p:cNvPr id="38" name="Rectangle 37"/>
          <p:cNvSpPr/>
          <p:nvPr/>
        </p:nvSpPr>
        <p:spPr>
          <a:xfrm>
            <a:off x="2893003" y="5003884"/>
            <a:ext cx="886909" cy="369332"/>
          </a:xfrm>
          <a:prstGeom prst="rect">
            <a:avLst/>
          </a:prstGeom>
        </p:spPr>
        <p:txBody>
          <a:bodyPr wrap="none">
            <a:spAutoFit/>
          </a:bodyPr>
          <a:lstStyle/>
          <a:p>
            <a:r>
              <a:rPr lang="nl-NL" b="1" dirty="0" smtClean="0"/>
              <a:t>Fa </a:t>
            </a:r>
            <a:r>
              <a:rPr lang="nl-NL" dirty="0" smtClean="0"/>
              <a:t>,</a:t>
            </a:r>
            <a:r>
              <a:rPr lang="nl-NL" b="1" dirty="0" smtClean="0"/>
              <a:t> </a:t>
            </a:r>
            <a:r>
              <a:rPr lang="nl-NL" b="1" dirty="0" err="1" smtClean="0"/>
              <a:t>Gb</a:t>
            </a:r>
            <a:r>
              <a:rPr lang="nl-NL" b="1" dirty="0" smtClean="0"/>
              <a:t> </a:t>
            </a:r>
            <a:endParaRPr lang="nl-NL" dirty="0"/>
          </a:p>
        </p:txBody>
      </p:sp>
      <p:cxnSp>
        <p:nvCxnSpPr>
          <p:cNvPr id="39" name="Straight Connector 38"/>
          <p:cNvCxnSpPr/>
          <p:nvPr/>
        </p:nvCxnSpPr>
        <p:spPr>
          <a:xfrm flipH="1">
            <a:off x="2699792" y="530120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851920" y="530120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55577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Oval 41"/>
          <p:cNvSpPr/>
          <p:nvPr/>
        </p:nvSpPr>
        <p:spPr>
          <a:xfrm>
            <a:off x="507605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tangle 42"/>
          <p:cNvSpPr/>
          <p:nvPr/>
        </p:nvSpPr>
        <p:spPr>
          <a:xfrm>
            <a:off x="2699792" y="5723964"/>
            <a:ext cx="450893" cy="369332"/>
          </a:xfrm>
          <a:prstGeom prst="rect">
            <a:avLst/>
          </a:prstGeom>
        </p:spPr>
        <p:txBody>
          <a:bodyPr wrap="none">
            <a:spAutoFit/>
          </a:bodyPr>
          <a:lstStyle/>
          <a:p>
            <a:r>
              <a:rPr lang="nl-NL" b="1" dirty="0" smtClean="0"/>
              <a:t>Fa </a:t>
            </a:r>
            <a:endParaRPr lang="nl-NL" dirty="0"/>
          </a:p>
        </p:txBody>
      </p:sp>
      <p:sp>
        <p:nvSpPr>
          <p:cNvPr id="44" name="Rectangle 43"/>
          <p:cNvSpPr/>
          <p:nvPr/>
        </p:nvSpPr>
        <p:spPr>
          <a:xfrm>
            <a:off x="5148064" y="5733256"/>
            <a:ext cx="445956" cy="369332"/>
          </a:xfrm>
          <a:prstGeom prst="rect">
            <a:avLst/>
          </a:prstGeom>
        </p:spPr>
        <p:txBody>
          <a:bodyPr wrap="none">
            <a:spAutoFit/>
          </a:bodyPr>
          <a:lstStyle/>
          <a:p>
            <a:r>
              <a:rPr lang="nl-NL" b="1" dirty="0" smtClean="0"/>
              <a:t>Ga</a:t>
            </a:r>
            <a:endParaRPr lang="nl-NL" i="1" dirty="0"/>
          </a:p>
        </p:txBody>
      </p:sp>
      <p:sp>
        <p:nvSpPr>
          <p:cNvPr id="45" name="TextBox 44"/>
          <p:cNvSpPr txBox="1"/>
          <p:nvPr/>
        </p:nvSpPr>
        <p:spPr>
          <a:xfrm>
            <a:off x="6588224" y="2204864"/>
            <a:ext cx="2232248" cy="2031325"/>
          </a:xfrm>
          <a:prstGeom prst="rect">
            <a:avLst/>
          </a:prstGeom>
          <a:noFill/>
        </p:spPr>
        <p:txBody>
          <a:bodyPr wrap="square" rtlCol="0">
            <a:spAutoFit/>
          </a:bodyPr>
          <a:lstStyle/>
          <a:p>
            <a:r>
              <a:rPr lang="nl-NL" dirty="0" smtClean="0"/>
              <a:t>Mogen we nu concluderen dat de boom voltooid is en de redenering dus semantisch ongeldig is? Er is immers een open tak?</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0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20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20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20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20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00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2000"/>
                                        <p:tgtEl>
                                          <p:spTgt spid="3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00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20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20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2000"/>
                                        <p:tgtEl>
                                          <p:spTgt spid="2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2000"/>
                                        <p:tgtEl>
                                          <p:spTgt spid="3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2000"/>
                                        <p:tgtEl>
                                          <p:spTgt spid="3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2000"/>
                                        <p:tgtEl>
                                          <p:spTgt spid="3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2000"/>
                                        <p:tgtEl>
                                          <p:spTgt spid="38"/>
                                        </p:tgtEl>
                                      </p:cBhvr>
                                    </p:animEffect>
                                  </p:childTnLst>
                                </p:cTn>
                              </p:par>
                              <p:par>
                                <p:cTn id="53" presetID="10" presetClass="entr" presetSubtype="0" fill="hold" nodeType="with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fade">
                                      <p:cBhvr>
                                        <p:cTn id="55" dur="2000"/>
                                        <p:tgtEl>
                                          <p:spTgt spid="39"/>
                                        </p:tgtEl>
                                      </p:cBhvr>
                                    </p:animEffect>
                                  </p:childTnLst>
                                </p:cTn>
                              </p:par>
                              <p:par>
                                <p:cTn id="56" presetID="10" presetClass="entr" presetSubtype="0" fill="hold" nodeType="with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2000"/>
                                        <p:tgtEl>
                                          <p:spTgt spid="4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2000"/>
                                        <p:tgtEl>
                                          <p:spTgt spid="4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2000"/>
                                        <p:tgtEl>
                                          <p:spTgt spid="4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20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2000"/>
                                        <p:tgtEl>
                                          <p:spTgt spid="4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5">
                                            <p:txEl>
                                              <p:pRg st="0" end="0"/>
                                            </p:txEl>
                                          </p:spTgt>
                                        </p:tgtEl>
                                        <p:attrNameLst>
                                          <p:attrName>style.visibility</p:attrName>
                                        </p:attrNameLst>
                                      </p:cBhvr>
                                      <p:to>
                                        <p:strVal val="visible"/>
                                      </p:to>
                                    </p:set>
                                    <p:animEffect transition="in" filter="fade">
                                      <p:cBhvr>
                                        <p:cTn id="75" dur="2000"/>
                                        <p:tgtEl>
                                          <p:spTgt spid="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9" grpId="0" animBg="1"/>
      <p:bldP spid="22" grpId="0" animBg="1"/>
      <p:bldP spid="31" grpId="0" animBg="1"/>
      <p:bldP spid="33" grpId="0"/>
      <p:bldP spid="34" grpId="0"/>
      <p:bldP spid="24" grpId="0"/>
      <p:bldP spid="35" grpId="0"/>
      <p:bldP spid="36" grpId="0"/>
      <p:bldP spid="37" grpId="0"/>
      <p:bldP spid="38" grpId="0"/>
      <p:bldP spid="41" grpId="0" animBg="1"/>
      <p:bldP spid="42" grpId="0" animBg="1"/>
      <p:bldP spid="43" grpId="0"/>
      <p:bldP spid="44" grpId="0"/>
      <p:bldP spid="45" grpId="0" build="allAtOnce"/>
    </p:bldLst>
  </p:timing>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Een moeilijkheid…</a:t>
            </a:r>
            <a:endParaRPr lang="nl-NL" sz="3200" dirty="0"/>
          </a:p>
        </p:txBody>
      </p:sp>
      <p:sp>
        <p:nvSpPr>
          <p:cNvPr id="13" name="Oval 12"/>
          <p:cNvSpPr/>
          <p:nvPr/>
        </p:nvSpPr>
        <p:spPr>
          <a:xfrm>
            <a:off x="3766424" y="254690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3805721" y="269091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3769873" y="319497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8" name="Straight Connector 17"/>
          <p:cNvCxnSpPr/>
          <p:nvPr/>
        </p:nvCxnSpPr>
        <p:spPr>
          <a:xfrm>
            <a:off x="3805721" y="3338989"/>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769873" y="384304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1" name="Straight Connector 20"/>
          <p:cNvCxnSpPr/>
          <p:nvPr/>
        </p:nvCxnSpPr>
        <p:spPr>
          <a:xfrm>
            <a:off x="3805721" y="398706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69873" y="44911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Content Placeholder 2"/>
          <p:cNvSpPr>
            <a:spLocks noGrp="1"/>
          </p:cNvSpPr>
          <p:nvPr>
            <p:ph idx="1"/>
          </p:nvPr>
        </p:nvSpPr>
        <p:spPr>
          <a:xfrm>
            <a:off x="683568" y="1384177"/>
            <a:ext cx="8686800" cy="388639"/>
          </a:xfrm>
        </p:spPr>
        <p:txBody>
          <a:bodyPr>
            <a:noAutofit/>
          </a:bodyPr>
          <a:lstStyle/>
          <a:p>
            <a:pPr>
              <a:buNone/>
            </a:pPr>
            <a:r>
              <a:rPr lang="nl-NL" sz="2000" dirty="0" smtClean="0"/>
              <a:t>Is  </a:t>
            </a:r>
            <a:r>
              <a:rPr lang="nl-NL" sz="2000" b="1" dirty="0" smtClean="0"/>
              <a:t>∀x ∃y (</a:t>
            </a:r>
            <a:r>
              <a:rPr lang="nl-NL" sz="2000" b="1" dirty="0" err="1" smtClean="0"/>
              <a:t>Fx</a:t>
            </a:r>
            <a:r>
              <a:rPr lang="nl-NL" sz="2000" b="1" dirty="0" smtClean="0"/>
              <a:t> ∧ </a:t>
            </a:r>
            <a:r>
              <a:rPr lang="nl-NL" sz="2000" b="1" dirty="0" err="1" smtClean="0"/>
              <a:t>Gy</a:t>
            </a:r>
            <a:r>
              <a:rPr lang="nl-NL" sz="2000" b="1" dirty="0" smtClean="0"/>
              <a:t>)  |=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cxnSp>
        <p:nvCxnSpPr>
          <p:cNvPr id="30" name="Straight Connector 29"/>
          <p:cNvCxnSpPr/>
          <p:nvPr/>
        </p:nvCxnSpPr>
        <p:spPr>
          <a:xfrm>
            <a:off x="3805721" y="4644425"/>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3769873" y="514848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TextBox 32"/>
          <p:cNvSpPr txBox="1"/>
          <p:nvPr/>
        </p:nvSpPr>
        <p:spPr>
          <a:xfrm>
            <a:off x="2339752" y="5733256"/>
            <a:ext cx="216024" cy="584775"/>
          </a:xfrm>
          <a:prstGeom prst="rect">
            <a:avLst/>
          </a:prstGeom>
          <a:noFill/>
        </p:spPr>
        <p:txBody>
          <a:bodyPr wrap="square" rtlCol="0">
            <a:spAutoFit/>
          </a:bodyPr>
          <a:lstStyle/>
          <a:p>
            <a:r>
              <a:rPr lang="nl-NL" sz="3200" b="1" dirty="0" smtClean="0"/>
              <a:t>+</a:t>
            </a:r>
            <a:endParaRPr lang="nl-NL" b="1" dirty="0"/>
          </a:p>
        </p:txBody>
      </p:sp>
      <p:sp>
        <p:nvSpPr>
          <p:cNvPr id="34" name="TextBox 33"/>
          <p:cNvSpPr txBox="1"/>
          <p:nvPr/>
        </p:nvSpPr>
        <p:spPr>
          <a:xfrm>
            <a:off x="3851920" y="3645024"/>
            <a:ext cx="1656184" cy="369332"/>
          </a:xfrm>
          <a:prstGeom prst="rect">
            <a:avLst/>
          </a:prstGeom>
          <a:noFill/>
        </p:spPr>
        <p:txBody>
          <a:bodyPr wrap="square" rtlCol="0">
            <a:spAutoFit/>
          </a:bodyPr>
          <a:lstStyle/>
          <a:p>
            <a:r>
              <a:rPr lang="nl-NL" b="1" dirty="0" smtClean="0"/>
              <a:t>Fa ∧ Ga</a:t>
            </a:r>
            <a:endParaRPr lang="nl-NL" i="1" dirty="0"/>
          </a:p>
        </p:txBody>
      </p:sp>
      <p:sp>
        <p:nvSpPr>
          <p:cNvPr id="24" name="Rectangle 23"/>
          <p:cNvSpPr/>
          <p:nvPr/>
        </p:nvSpPr>
        <p:spPr>
          <a:xfrm>
            <a:off x="2123728" y="2348880"/>
            <a:ext cx="1681679" cy="369332"/>
          </a:xfrm>
          <a:prstGeom prst="rect">
            <a:avLst/>
          </a:prstGeom>
        </p:spPr>
        <p:txBody>
          <a:bodyPr wrap="none">
            <a:spAutoFit/>
          </a:bodyPr>
          <a:lstStyle/>
          <a:p>
            <a:r>
              <a:rPr lang="nl-NL" b="1" dirty="0" smtClean="0"/>
              <a:t>∀x ∃y (</a:t>
            </a:r>
            <a:r>
              <a:rPr lang="nl-NL" b="1" dirty="0" err="1" smtClean="0"/>
              <a:t>Fx</a:t>
            </a:r>
            <a:r>
              <a:rPr lang="nl-NL" b="1" dirty="0" smtClean="0"/>
              <a:t> ∧ </a:t>
            </a:r>
            <a:r>
              <a:rPr lang="nl-NL" b="1" dirty="0" err="1" smtClean="0"/>
              <a:t>Gy</a:t>
            </a:r>
            <a:r>
              <a:rPr lang="nl-NL" b="1" dirty="0" smtClean="0"/>
              <a:t>) </a:t>
            </a:r>
            <a:endParaRPr lang="nl-NL" dirty="0"/>
          </a:p>
        </p:txBody>
      </p:sp>
      <p:sp>
        <p:nvSpPr>
          <p:cNvPr id="35" name="Rectangle 34"/>
          <p:cNvSpPr/>
          <p:nvPr/>
        </p:nvSpPr>
        <p:spPr>
          <a:xfrm>
            <a:off x="3851920" y="2348880"/>
            <a:ext cx="1375056" cy="369332"/>
          </a:xfrm>
          <a:prstGeom prst="rect">
            <a:avLst/>
          </a:prstGeom>
        </p:spPr>
        <p:txBody>
          <a:bodyPr wrap="none">
            <a:spAutoFit/>
          </a:bodyPr>
          <a:lstStyle/>
          <a:p>
            <a:r>
              <a:rPr lang="nl-NL" b="1" dirty="0" smtClean="0"/>
              <a:t>∃x (</a:t>
            </a:r>
            <a:r>
              <a:rPr lang="nl-NL" b="1" dirty="0" err="1" smtClean="0"/>
              <a:t>Fx</a:t>
            </a:r>
            <a:r>
              <a:rPr lang="nl-NL" b="1" dirty="0" smtClean="0"/>
              <a:t> ∧ </a:t>
            </a:r>
            <a:r>
              <a:rPr lang="nl-NL" b="1" dirty="0" err="1" smtClean="0"/>
              <a:t>Gx</a:t>
            </a:r>
            <a:r>
              <a:rPr lang="nl-NL" b="1" dirty="0" smtClean="0"/>
              <a:t>) </a:t>
            </a:r>
            <a:endParaRPr lang="nl-NL" dirty="0"/>
          </a:p>
        </p:txBody>
      </p:sp>
      <p:sp>
        <p:nvSpPr>
          <p:cNvPr id="36" name="Rectangle 35"/>
          <p:cNvSpPr/>
          <p:nvPr/>
        </p:nvSpPr>
        <p:spPr>
          <a:xfrm>
            <a:off x="2339752" y="2987660"/>
            <a:ext cx="1382045" cy="369332"/>
          </a:xfrm>
          <a:prstGeom prst="rect">
            <a:avLst/>
          </a:prstGeom>
        </p:spPr>
        <p:txBody>
          <a:bodyPr wrap="none">
            <a:spAutoFit/>
          </a:bodyPr>
          <a:lstStyle/>
          <a:p>
            <a:r>
              <a:rPr lang="nl-NL" b="1" dirty="0" smtClean="0"/>
              <a:t>∃y (Fa ∧ </a:t>
            </a:r>
            <a:r>
              <a:rPr lang="nl-NL" b="1" dirty="0" err="1" smtClean="0"/>
              <a:t>Gy</a:t>
            </a:r>
            <a:r>
              <a:rPr lang="nl-NL" b="1" dirty="0" smtClean="0"/>
              <a:t>) </a:t>
            </a:r>
            <a:endParaRPr lang="nl-NL" dirty="0"/>
          </a:p>
        </p:txBody>
      </p:sp>
      <p:sp>
        <p:nvSpPr>
          <p:cNvPr id="37" name="Rectangle 36"/>
          <p:cNvSpPr/>
          <p:nvPr/>
        </p:nvSpPr>
        <p:spPr>
          <a:xfrm>
            <a:off x="2771800" y="4293096"/>
            <a:ext cx="960648" cy="369332"/>
          </a:xfrm>
          <a:prstGeom prst="rect">
            <a:avLst/>
          </a:prstGeom>
        </p:spPr>
        <p:txBody>
          <a:bodyPr wrap="none">
            <a:spAutoFit/>
          </a:bodyPr>
          <a:lstStyle/>
          <a:p>
            <a:r>
              <a:rPr lang="nl-NL" b="1" dirty="0" smtClean="0"/>
              <a:t>Fa ∧ </a:t>
            </a:r>
            <a:r>
              <a:rPr lang="nl-NL" b="1" dirty="0" err="1" smtClean="0"/>
              <a:t>G</a:t>
            </a:r>
            <a:r>
              <a:rPr lang="nl-NL" b="1" dirty="0" err="1" smtClean="0">
                <a:solidFill>
                  <a:srgbClr val="FF0000"/>
                </a:solidFill>
              </a:rPr>
              <a:t>b</a:t>
            </a:r>
            <a:r>
              <a:rPr lang="nl-NL" b="1" dirty="0" smtClean="0">
                <a:solidFill>
                  <a:srgbClr val="FF0000"/>
                </a:solidFill>
              </a:rPr>
              <a:t> </a:t>
            </a:r>
            <a:endParaRPr lang="nl-NL" dirty="0">
              <a:solidFill>
                <a:srgbClr val="FF0000"/>
              </a:solidFill>
            </a:endParaRPr>
          </a:p>
        </p:txBody>
      </p:sp>
      <p:sp>
        <p:nvSpPr>
          <p:cNvPr id="38" name="Rectangle 37"/>
          <p:cNvSpPr/>
          <p:nvPr/>
        </p:nvSpPr>
        <p:spPr>
          <a:xfrm>
            <a:off x="2893003" y="5003884"/>
            <a:ext cx="886909" cy="369332"/>
          </a:xfrm>
          <a:prstGeom prst="rect">
            <a:avLst/>
          </a:prstGeom>
        </p:spPr>
        <p:txBody>
          <a:bodyPr wrap="none">
            <a:spAutoFit/>
          </a:bodyPr>
          <a:lstStyle/>
          <a:p>
            <a:r>
              <a:rPr lang="nl-NL" b="1" dirty="0" smtClean="0"/>
              <a:t>Fa </a:t>
            </a:r>
            <a:r>
              <a:rPr lang="nl-NL" dirty="0" smtClean="0"/>
              <a:t>,</a:t>
            </a:r>
            <a:r>
              <a:rPr lang="nl-NL" b="1" dirty="0" smtClean="0"/>
              <a:t> </a:t>
            </a:r>
            <a:r>
              <a:rPr lang="nl-NL" b="1" dirty="0" err="1" smtClean="0"/>
              <a:t>Gb</a:t>
            </a:r>
            <a:r>
              <a:rPr lang="nl-NL" b="1" dirty="0" smtClean="0"/>
              <a:t> </a:t>
            </a:r>
            <a:endParaRPr lang="nl-NL" dirty="0"/>
          </a:p>
        </p:txBody>
      </p:sp>
      <p:cxnSp>
        <p:nvCxnSpPr>
          <p:cNvPr id="39" name="Straight Connector 38"/>
          <p:cNvCxnSpPr/>
          <p:nvPr/>
        </p:nvCxnSpPr>
        <p:spPr>
          <a:xfrm flipH="1">
            <a:off x="2699792" y="530120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851920" y="530120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55577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Oval 41"/>
          <p:cNvSpPr/>
          <p:nvPr/>
        </p:nvSpPr>
        <p:spPr>
          <a:xfrm>
            <a:off x="507605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tangle 42"/>
          <p:cNvSpPr/>
          <p:nvPr/>
        </p:nvSpPr>
        <p:spPr>
          <a:xfrm>
            <a:off x="2699792" y="5723964"/>
            <a:ext cx="450893" cy="369332"/>
          </a:xfrm>
          <a:prstGeom prst="rect">
            <a:avLst/>
          </a:prstGeom>
        </p:spPr>
        <p:txBody>
          <a:bodyPr wrap="none">
            <a:spAutoFit/>
          </a:bodyPr>
          <a:lstStyle/>
          <a:p>
            <a:r>
              <a:rPr lang="nl-NL" b="1" dirty="0" smtClean="0"/>
              <a:t>Fa </a:t>
            </a:r>
            <a:endParaRPr lang="nl-NL" dirty="0"/>
          </a:p>
        </p:txBody>
      </p:sp>
      <p:sp>
        <p:nvSpPr>
          <p:cNvPr id="44" name="Rectangle 43"/>
          <p:cNvSpPr/>
          <p:nvPr/>
        </p:nvSpPr>
        <p:spPr>
          <a:xfrm>
            <a:off x="5148064" y="5733256"/>
            <a:ext cx="445956" cy="369332"/>
          </a:xfrm>
          <a:prstGeom prst="rect">
            <a:avLst/>
          </a:prstGeom>
        </p:spPr>
        <p:txBody>
          <a:bodyPr wrap="none">
            <a:spAutoFit/>
          </a:bodyPr>
          <a:lstStyle/>
          <a:p>
            <a:r>
              <a:rPr lang="nl-NL" b="1" dirty="0" smtClean="0"/>
              <a:t>Ga</a:t>
            </a:r>
            <a:endParaRPr lang="nl-NL" i="1" dirty="0"/>
          </a:p>
        </p:txBody>
      </p:sp>
      <p:sp>
        <p:nvSpPr>
          <p:cNvPr id="45" name="TextBox 44"/>
          <p:cNvSpPr txBox="1"/>
          <p:nvPr/>
        </p:nvSpPr>
        <p:spPr>
          <a:xfrm>
            <a:off x="6588224" y="2204864"/>
            <a:ext cx="2232248" cy="2031325"/>
          </a:xfrm>
          <a:prstGeom prst="rect">
            <a:avLst/>
          </a:prstGeom>
          <a:noFill/>
        </p:spPr>
        <p:txBody>
          <a:bodyPr wrap="square" rtlCol="0">
            <a:spAutoFit/>
          </a:bodyPr>
          <a:lstStyle/>
          <a:p>
            <a:r>
              <a:rPr lang="nl-NL" dirty="0" smtClean="0"/>
              <a:t>Mogen we nu concluderen dat de boom voltooid is en de redenering dus semantisch ongeldig is? Er is immers een open tak?</a:t>
            </a:r>
            <a:endParaRPr lang="nl-NL" dirty="0"/>
          </a:p>
        </p:txBody>
      </p:sp>
      <p:sp>
        <p:nvSpPr>
          <p:cNvPr id="28" name="TextBox 27"/>
          <p:cNvSpPr txBox="1"/>
          <p:nvPr/>
        </p:nvSpPr>
        <p:spPr>
          <a:xfrm>
            <a:off x="6012160" y="4437112"/>
            <a:ext cx="3131840" cy="2308324"/>
          </a:xfrm>
          <a:prstGeom prst="rect">
            <a:avLst/>
          </a:prstGeom>
          <a:noFill/>
        </p:spPr>
        <p:txBody>
          <a:bodyPr wrap="square" rtlCol="0">
            <a:spAutoFit/>
          </a:bodyPr>
          <a:lstStyle/>
          <a:p>
            <a:r>
              <a:rPr lang="nl-NL" b="1" dirty="0" smtClean="0">
                <a:solidFill>
                  <a:srgbClr val="FF0000"/>
                </a:solidFill>
              </a:rPr>
              <a:t>Nee! </a:t>
            </a:r>
            <a:r>
              <a:rPr lang="nl-NL" dirty="0" smtClean="0"/>
              <a:t>Er wordt een </a:t>
            </a:r>
            <a:r>
              <a:rPr lang="nl-NL" i="1" dirty="0" smtClean="0"/>
              <a:t>nieuwe</a:t>
            </a:r>
            <a:r>
              <a:rPr lang="nl-NL" dirty="0" smtClean="0"/>
              <a:t> constante (</a:t>
            </a:r>
            <a:r>
              <a:rPr lang="nl-NL" b="1" dirty="0" smtClean="0">
                <a:solidFill>
                  <a:srgbClr val="FF0000"/>
                </a:solidFill>
              </a:rPr>
              <a:t>b</a:t>
            </a:r>
            <a:r>
              <a:rPr lang="nl-NL" dirty="0" smtClean="0"/>
              <a:t>) geïntroduceerd. En dus moeten de regels voor </a:t>
            </a:r>
            <a:r>
              <a:rPr lang="nl-NL" u="sng" dirty="0" smtClean="0"/>
              <a:t>∀-waar</a:t>
            </a:r>
            <a:r>
              <a:rPr lang="nl-NL" dirty="0" smtClean="0"/>
              <a:t> en </a:t>
            </a:r>
            <a:r>
              <a:rPr lang="nl-NL" u="sng" dirty="0" smtClean="0"/>
              <a:t>∃-onwaar</a:t>
            </a:r>
            <a:r>
              <a:rPr lang="nl-NL" dirty="0" smtClean="0"/>
              <a:t> </a:t>
            </a:r>
            <a:r>
              <a:rPr lang="nl-NL" i="1" dirty="0" smtClean="0"/>
              <a:t>nogmaals</a:t>
            </a:r>
            <a:r>
              <a:rPr lang="nl-NL" dirty="0" smtClean="0"/>
              <a:t> worden toegepast, want deze regels moeten immers worden toegepast voor </a:t>
            </a:r>
            <a:r>
              <a:rPr lang="nl-NL" i="1" dirty="0" smtClean="0"/>
              <a:t>elke</a:t>
            </a:r>
            <a:r>
              <a:rPr lang="nl-NL" dirty="0" smtClean="0"/>
              <a:t> constante in de desbetreffende takken!</a:t>
            </a:r>
            <a:endParaRPr lang="nl-NL" dirty="0"/>
          </a:p>
        </p:txBody>
      </p:sp>
    </p:spTree>
  </p:cSld>
  <p:clrMapOvr>
    <a:masterClrMapping/>
  </p:clrMapOvr>
  <p:timing>
    <p:tnLst>
      <p:par>
        <p:cTn id="1" dur="indefinite" restart="never" nodeType="tmRoot"/>
      </p:par>
    </p:tnLst>
  </p:timing>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Een moeilijkheid…</a:t>
            </a:r>
            <a:endParaRPr lang="nl-NL" sz="3200" dirty="0"/>
          </a:p>
        </p:txBody>
      </p:sp>
      <p:sp>
        <p:nvSpPr>
          <p:cNvPr id="13" name="Oval 12"/>
          <p:cNvSpPr/>
          <p:nvPr/>
        </p:nvSpPr>
        <p:spPr>
          <a:xfrm>
            <a:off x="3766424" y="254690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3805721" y="269091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3769873" y="319497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8" name="Straight Connector 17"/>
          <p:cNvCxnSpPr/>
          <p:nvPr/>
        </p:nvCxnSpPr>
        <p:spPr>
          <a:xfrm>
            <a:off x="3805721" y="3338989"/>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769873" y="384304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1" name="Straight Connector 20"/>
          <p:cNvCxnSpPr/>
          <p:nvPr/>
        </p:nvCxnSpPr>
        <p:spPr>
          <a:xfrm>
            <a:off x="3805721" y="398706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3769873" y="44911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Content Placeholder 2"/>
          <p:cNvSpPr>
            <a:spLocks noGrp="1"/>
          </p:cNvSpPr>
          <p:nvPr>
            <p:ph idx="1"/>
          </p:nvPr>
        </p:nvSpPr>
        <p:spPr>
          <a:xfrm>
            <a:off x="683568" y="1384177"/>
            <a:ext cx="8686800" cy="388639"/>
          </a:xfrm>
        </p:spPr>
        <p:txBody>
          <a:bodyPr>
            <a:noAutofit/>
          </a:bodyPr>
          <a:lstStyle/>
          <a:p>
            <a:pPr>
              <a:buNone/>
            </a:pPr>
            <a:r>
              <a:rPr lang="nl-NL" sz="2000" dirty="0" smtClean="0"/>
              <a:t>Is  </a:t>
            </a:r>
            <a:r>
              <a:rPr lang="nl-NL" sz="2000" b="1" dirty="0" smtClean="0"/>
              <a:t>∀x ∃y (</a:t>
            </a:r>
            <a:r>
              <a:rPr lang="nl-NL" sz="2000" b="1" dirty="0" err="1" smtClean="0"/>
              <a:t>Fx</a:t>
            </a:r>
            <a:r>
              <a:rPr lang="nl-NL" sz="2000" b="1" dirty="0" smtClean="0"/>
              <a:t> ∧ </a:t>
            </a:r>
            <a:r>
              <a:rPr lang="nl-NL" sz="2000" b="1" dirty="0" err="1" smtClean="0"/>
              <a:t>Gy</a:t>
            </a:r>
            <a:r>
              <a:rPr lang="nl-NL" sz="2000" b="1" dirty="0" smtClean="0"/>
              <a:t>)  |=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cxnSp>
        <p:nvCxnSpPr>
          <p:cNvPr id="30" name="Straight Connector 29"/>
          <p:cNvCxnSpPr/>
          <p:nvPr/>
        </p:nvCxnSpPr>
        <p:spPr>
          <a:xfrm>
            <a:off x="3805721" y="4644425"/>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3769873" y="514848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TextBox 32"/>
          <p:cNvSpPr txBox="1"/>
          <p:nvPr/>
        </p:nvSpPr>
        <p:spPr>
          <a:xfrm>
            <a:off x="2339752" y="5733256"/>
            <a:ext cx="216024" cy="584775"/>
          </a:xfrm>
          <a:prstGeom prst="rect">
            <a:avLst/>
          </a:prstGeom>
          <a:noFill/>
        </p:spPr>
        <p:txBody>
          <a:bodyPr wrap="square" rtlCol="0">
            <a:spAutoFit/>
          </a:bodyPr>
          <a:lstStyle/>
          <a:p>
            <a:r>
              <a:rPr lang="nl-NL" sz="3200" b="1" dirty="0" smtClean="0"/>
              <a:t>+</a:t>
            </a:r>
            <a:endParaRPr lang="nl-NL" b="1" dirty="0"/>
          </a:p>
        </p:txBody>
      </p:sp>
      <p:sp>
        <p:nvSpPr>
          <p:cNvPr id="34" name="TextBox 33"/>
          <p:cNvSpPr txBox="1"/>
          <p:nvPr/>
        </p:nvSpPr>
        <p:spPr>
          <a:xfrm>
            <a:off x="3851920" y="3645024"/>
            <a:ext cx="1656184" cy="369332"/>
          </a:xfrm>
          <a:prstGeom prst="rect">
            <a:avLst/>
          </a:prstGeom>
          <a:noFill/>
        </p:spPr>
        <p:txBody>
          <a:bodyPr wrap="square" rtlCol="0">
            <a:spAutoFit/>
          </a:bodyPr>
          <a:lstStyle/>
          <a:p>
            <a:r>
              <a:rPr lang="nl-NL" b="1" dirty="0" smtClean="0"/>
              <a:t>Fa ∧ Ga</a:t>
            </a:r>
            <a:endParaRPr lang="nl-NL" i="1" dirty="0"/>
          </a:p>
        </p:txBody>
      </p:sp>
      <p:sp>
        <p:nvSpPr>
          <p:cNvPr id="24" name="Rectangle 23"/>
          <p:cNvSpPr/>
          <p:nvPr/>
        </p:nvSpPr>
        <p:spPr>
          <a:xfrm>
            <a:off x="2123728" y="2348880"/>
            <a:ext cx="1681679" cy="369332"/>
          </a:xfrm>
          <a:prstGeom prst="rect">
            <a:avLst/>
          </a:prstGeom>
        </p:spPr>
        <p:txBody>
          <a:bodyPr wrap="none">
            <a:spAutoFit/>
          </a:bodyPr>
          <a:lstStyle/>
          <a:p>
            <a:r>
              <a:rPr lang="nl-NL" b="1" dirty="0" smtClean="0"/>
              <a:t>∀x ∃y (</a:t>
            </a:r>
            <a:r>
              <a:rPr lang="nl-NL" b="1" dirty="0" err="1" smtClean="0"/>
              <a:t>Fx</a:t>
            </a:r>
            <a:r>
              <a:rPr lang="nl-NL" b="1" dirty="0" smtClean="0"/>
              <a:t> ∧ </a:t>
            </a:r>
            <a:r>
              <a:rPr lang="nl-NL" b="1" dirty="0" err="1" smtClean="0"/>
              <a:t>Gy</a:t>
            </a:r>
            <a:r>
              <a:rPr lang="nl-NL" b="1" dirty="0" smtClean="0"/>
              <a:t>) </a:t>
            </a:r>
            <a:endParaRPr lang="nl-NL" dirty="0"/>
          </a:p>
        </p:txBody>
      </p:sp>
      <p:sp>
        <p:nvSpPr>
          <p:cNvPr id="35" name="Rectangle 34"/>
          <p:cNvSpPr/>
          <p:nvPr/>
        </p:nvSpPr>
        <p:spPr>
          <a:xfrm>
            <a:off x="3851920" y="2348880"/>
            <a:ext cx="1375056" cy="369332"/>
          </a:xfrm>
          <a:prstGeom prst="rect">
            <a:avLst/>
          </a:prstGeom>
        </p:spPr>
        <p:txBody>
          <a:bodyPr wrap="none">
            <a:spAutoFit/>
          </a:bodyPr>
          <a:lstStyle/>
          <a:p>
            <a:r>
              <a:rPr lang="nl-NL" b="1" dirty="0" smtClean="0"/>
              <a:t>∃x (</a:t>
            </a:r>
            <a:r>
              <a:rPr lang="nl-NL" b="1" dirty="0" err="1" smtClean="0"/>
              <a:t>Fx</a:t>
            </a:r>
            <a:r>
              <a:rPr lang="nl-NL" b="1" dirty="0" smtClean="0"/>
              <a:t> ∧ </a:t>
            </a:r>
            <a:r>
              <a:rPr lang="nl-NL" b="1" dirty="0" err="1" smtClean="0"/>
              <a:t>Gx</a:t>
            </a:r>
            <a:r>
              <a:rPr lang="nl-NL" b="1" dirty="0" smtClean="0"/>
              <a:t>) </a:t>
            </a:r>
            <a:endParaRPr lang="nl-NL" dirty="0"/>
          </a:p>
        </p:txBody>
      </p:sp>
      <p:sp>
        <p:nvSpPr>
          <p:cNvPr id="36" name="Rectangle 35"/>
          <p:cNvSpPr/>
          <p:nvPr/>
        </p:nvSpPr>
        <p:spPr>
          <a:xfrm>
            <a:off x="2339752" y="2987660"/>
            <a:ext cx="1382045" cy="369332"/>
          </a:xfrm>
          <a:prstGeom prst="rect">
            <a:avLst/>
          </a:prstGeom>
        </p:spPr>
        <p:txBody>
          <a:bodyPr wrap="none">
            <a:spAutoFit/>
          </a:bodyPr>
          <a:lstStyle/>
          <a:p>
            <a:r>
              <a:rPr lang="nl-NL" b="1" dirty="0" smtClean="0"/>
              <a:t>∃y (Fa ∧ </a:t>
            </a:r>
            <a:r>
              <a:rPr lang="nl-NL" b="1" dirty="0" err="1" smtClean="0"/>
              <a:t>Gy</a:t>
            </a:r>
            <a:r>
              <a:rPr lang="nl-NL" b="1" dirty="0" smtClean="0"/>
              <a:t>) </a:t>
            </a:r>
            <a:endParaRPr lang="nl-NL" dirty="0"/>
          </a:p>
        </p:txBody>
      </p:sp>
      <p:sp>
        <p:nvSpPr>
          <p:cNvPr id="37" name="Rectangle 36"/>
          <p:cNvSpPr/>
          <p:nvPr/>
        </p:nvSpPr>
        <p:spPr>
          <a:xfrm>
            <a:off x="2771800" y="4293096"/>
            <a:ext cx="960648" cy="369332"/>
          </a:xfrm>
          <a:prstGeom prst="rect">
            <a:avLst/>
          </a:prstGeom>
        </p:spPr>
        <p:txBody>
          <a:bodyPr wrap="none">
            <a:spAutoFit/>
          </a:bodyPr>
          <a:lstStyle/>
          <a:p>
            <a:r>
              <a:rPr lang="nl-NL" b="1" dirty="0" smtClean="0"/>
              <a:t>Fa ∧ </a:t>
            </a:r>
            <a:r>
              <a:rPr lang="nl-NL" b="1" dirty="0" err="1" smtClean="0"/>
              <a:t>G</a:t>
            </a:r>
            <a:r>
              <a:rPr lang="nl-NL" b="1" dirty="0" err="1" smtClean="0">
                <a:solidFill>
                  <a:srgbClr val="FF0000"/>
                </a:solidFill>
              </a:rPr>
              <a:t>b</a:t>
            </a:r>
            <a:r>
              <a:rPr lang="nl-NL" b="1" dirty="0" smtClean="0">
                <a:solidFill>
                  <a:srgbClr val="FF0000"/>
                </a:solidFill>
              </a:rPr>
              <a:t> </a:t>
            </a:r>
            <a:endParaRPr lang="nl-NL" dirty="0">
              <a:solidFill>
                <a:srgbClr val="FF0000"/>
              </a:solidFill>
            </a:endParaRPr>
          </a:p>
        </p:txBody>
      </p:sp>
      <p:sp>
        <p:nvSpPr>
          <p:cNvPr id="38" name="Rectangle 37"/>
          <p:cNvSpPr/>
          <p:nvPr/>
        </p:nvSpPr>
        <p:spPr>
          <a:xfrm>
            <a:off x="2893003" y="5003884"/>
            <a:ext cx="886909" cy="369332"/>
          </a:xfrm>
          <a:prstGeom prst="rect">
            <a:avLst/>
          </a:prstGeom>
        </p:spPr>
        <p:txBody>
          <a:bodyPr wrap="none">
            <a:spAutoFit/>
          </a:bodyPr>
          <a:lstStyle/>
          <a:p>
            <a:r>
              <a:rPr lang="nl-NL" b="1" dirty="0" smtClean="0"/>
              <a:t>Fa </a:t>
            </a:r>
            <a:r>
              <a:rPr lang="nl-NL" dirty="0" smtClean="0"/>
              <a:t>,</a:t>
            </a:r>
            <a:r>
              <a:rPr lang="nl-NL" b="1" dirty="0" smtClean="0"/>
              <a:t> </a:t>
            </a:r>
            <a:r>
              <a:rPr lang="nl-NL" b="1" dirty="0" err="1" smtClean="0"/>
              <a:t>Gb</a:t>
            </a:r>
            <a:r>
              <a:rPr lang="nl-NL" b="1" dirty="0" smtClean="0"/>
              <a:t> </a:t>
            </a:r>
            <a:endParaRPr lang="nl-NL" dirty="0"/>
          </a:p>
        </p:txBody>
      </p:sp>
      <p:cxnSp>
        <p:nvCxnSpPr>
          <p:cNvPr id="39" name="Straight Connector 38"/>
          <p:cNvCxnSpPr/>
          <p:nvPr/>
        </p:nvCxnSpPr>
        <p:spPr>
          <a:xfrm flipH="1">
            <a:off x="2699792" y="530120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851920" y="530120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55577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Oval 41"/>
          <p:cNvSpPr/>
          <p:nvPr/>
        </p:nvSpPr>
        <p:spPr>
          <a:xfrm>
            <a:off x="507605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tangle 42"/>
          <p:cNvSpPr/>
          <p:nvPr/>
        </p:nvSpPr>
        <p:spPr>
          <a:xfrm>
            <a:off x="2699792" y="5723964"/>
            <a:ext cx="450893" cy="369332"/>
          </a:xfrm>
          <a:prstGeom prst="rect">
            <a:avLst/>
          </a:prstGeom>
        </p:spPr>
        <p:txBody>
          <a:bodyPr wrap="none">
            <a:spAutoFit/>
          </a:bodyPr>
          <a:lstStyle/>
          <a:p>
            <a:r>
              <a:rPr lang="nl-NL" b="1" dirty="0" smtClean="0"/>
              <a:t>Fa </a:t>
            </a:r>
            <a:endParaRPr lang="nl-NL" dirty="0"/>
          </a:p>
        </p:txBody>
      </p:sp>
      <p:sp>
        <p:nvSpPr>
          <p:cNvPr id="44" name="Rectangle 43"/>
          <p:cNvSpPr/>
          <p:nvPr/>
        </p:nvSpPr>
        <p:spPr>
          <a:xfrm>
            <a:off x="5148064" y="5733256"/>
            <a:ext cx="445956" cy="369332"/>
          </a:xfrm>
          <a:prstGeom prst="rect">
            <a:avLst/>
          </a:prstGeom>
        </p:spPr>
        <p:txBody>
          <a:bodyPr wrap="none">
            <a:spAutoFit/>
          </a:bodyPr>
          <a:lstStyle/>
          <a:p>
            <a:r>
              <a:rPr lang="nl-NL" b="1" dirty="0" smtClean="0">
                <a:solidFill>
                  <a:srgbClr val="00B050"/>
                </a:solidFill>
              </a:rPr>
              <a:t>Ga</a:t>
            </a:r>
            <a:endParaRPr lang="nl-NL" i="1" dirty="0">
              <a:solidFill>
                <a:srgbClr val="00B050"/>
              </a:solidFill>
            </a:endParaRPr>
          </a:p>
        </p:txBody>
      </p:sp>
      <p:sp>
        <p:nvSpPr>
          <p:cNvPr id="45" name="TextBox 44"/>
          <p:cNvSpPr txBox="1"/>
          <p:nvPr/>
        </p:nvSpPr>
        <p:spPr>
          <a:xfrm>
            <a:off x="6588224" y="2204864"/>
            <a:ext cx="2232248" cy="2031325"/>
          </a:xfrm>
          <a:prstGeom prst="rect">
            <a:avLst/>
          </a:prstGeom>
          <a:noFill/>
        </p:spPr>
        <p:txBody>
          <a:bodyPr wrap="square" rtlCol="0">
            <a:spAutoFit/>
          </a:bodyPr>
          <a:lstStyle/>
          <a:p>
            <a:r>
              <a:rPr lang="nl-NL" dirty="0" smtClean="0"/>
              <a:t>Mogen we nu concluderen dat de boom voltooid is en de redenering dus semantisch ongeldig is? Er is immers een open tak?</a:t>
            </a:r>
            <a:endParaRPr lang="nl-NL" dirty="0"/>
          </a:p>
        </p:txBody>
      </p:sp>
      <p:sp>
        <p:nvSpPr>
          <p:cNvPr id="29" name="TextBox 28"/>
          <p:cNvSpPr txBox="1"/>
          <p:nvPr/>
        </p:nvSpPr>
        <p:spPr>
          <a:xfrm>
            <a:off x="6012160" y="4437112"/>
            <a:ext cx="3131840" cy="2308324"/>
          </a:xfrm>
          <a:prstGeom prst="rect">
            <a:avLst/>
          </a:prstGeom>
          <a:noFill/>
        </p:spPr>
        <p:txBody>
          <a:bodyPr wrap="square" rtlCol="0">
            <a:spAutoFit/>
          </a:bodyPr>
          <a:lstStyle/>
          <a:p>
            <a:r>
              <a:rPr lang="nl-NL" b="1" dirty="0" smtClean="0">
                <a:solidFill>
                  <a:srgbClr val="FF0000"/>
                </a:solidFill>
              </a:rPr>
              <a:t>Nee! </a:t>
            </a:r>
            <a:r>
              <a:rPr lang="nl-NL" dirty="0" smtClean="0"/>
              <a:t>Er wordt een </a:t>
            </a:r>
            <a:r>
              <a:rPr lang="nl-NL" i="1" dirty="0" smtClean="0"/>
              <a:t>nieuwe</a:t>
            </a:r>
            <a:r>
              <a:rPr lang="nl-NL" dirty="0" smtClean="0"/>
              <a:t> constante (</a:t>
            </a:r>
            <a:r>
              <a:rPr lang="nl-NL" b="1" dirty="0" smtClean="0">
                <a:solidFill>
                  <a:srgbClr val="FF0000"/>
                </a:solidFill>
              </a:rPr>
              <a:t>b</a:t>
            </a:r>
            <a:r>
              <a:rPr lang="nl-NL" dirty="0" smtClean="0"/>
              <a:t>) geïntroduceerd. En dus moeten de regels voor </a:t>
            </a:r>
            <a:r>
              <a:rPr lang="nl-NL" u="sng" dirty="0" smtClean="0"/>
              <a:t>∀-waar</a:t>
            </a:r>
            <a:r>
              <a:rPr lang="nl-NL" dirty="0" smtClean="0"/>
              <a:t> en </a:t>
            </a:r>
            <a:r>
              <a:rPr lang="nl-NL" u="sng" dirty="0" smtClean="0"/>
              <a:t>∃-onwaar</a:t>
            </a:r>
            <a:r>
              <a:rPr lang="nl-NL" dirty="0" smtClean="0"/>
              <a:t> </a:t>
            </a:r>
            <a:r>
              <a:rPr lang="nl-NL" i="1" dirty="0" smtClean="0"/>
              <a:t>nogmaals</a:t>
            </a:r>
            <a:r>
              <a:rPr lang="nl-NL" dirty="0" smtClean="0"/>
              <a:t> worden toegepast, want deze regels moeten immers worden toegepast voor </a:t>
            </a:r>
            <a:r>
              <a:rPr lang="nl-NL" i="1" dirty="0" smtClean="0"/>
              <a:t>elke</a:t>
            </a:r>
            <a:r>
              <a:rPr lang="nl-NL" dirty="0" smtClean="0"/>
              <a:t> constante in de desbetreffende takken!</a:t>
            </a:r>
            <a:endParaRPr lang="nl-NL" dirty="0"/>
          </a:p>
        </p:txBody>
      </p:sp>
    </p:spTree>
  </p:cSld>
  <p:clrMapOvr>
    <a:masterClrMapping/>
  </p:clrMapOvr>
  <p:timing>
    <p:tnLst>
      <p:par>
        <p:cTn id="1" dur="indefinite" restart="never" nodeType="tmRoot"/>
      </p:par>
    </p:tnLst>
  </p:timing>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Een moeilijkheid…</a:t>
            </a:r>
            <a:endParaRPr lang="nl-NL" sz="3200" dirty="0"/>
          </a:p>
        </p:txBody>
      </p:sp>
      <p:sp>
        <p:nvSpPr>
          <p:cNvPr id="13" name="Oval 12"/>
          <p:cNvSpPr/>
          <p:nvPr/>
        </p:nvSpPr>
        <p:spPr>
          <a:xfrm>
            <a:off x="6776852" y="225015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6816149" y="239417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6780301" y="289823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8" name="Straight Connector 17"/>
          <p:cNvCxnSpPr/>
          <p:nvPr/>
        </p:nvCxnSpPr>
        <p:spPr>
          <a:xfrm>
            <a:off x="6816149" y="304224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6780301" y="354630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1" name="Straight Connector 20"/>
          <p:cNvCxnSpPr/>
          <p:nvPr/>
        </p:nvCxnSpPr>
        <p:spPr>
          <a:xfrm>
            <a:off x="6816149" y="369031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6780301" y="419437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0" name="Straight Connector 29"/>
          <p:cNvCxnSpPr/>
          <p:nvPr/>
        </p:nvCxnSpPr>
        <p:spPr>
          <a:xfrm>
            <a:off x="6816149" y="434768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6780301" y="485173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3" name="TextBox 32"/>
          <p:cNvSpPr txBox="1"/>
          <p:nvPr/>
        </p:nvSpPr>
        <p:spPr>
          <a:xfrm>
            <a:off x="5350180" y="5436513"/>
            <a:ext cx="216024" cy="584775"/>
          </a:xfrm>
          <a:prstGeom prst="rect">
            <a:avLst/>
          </a:prstGeom>
          <a:noFill/>
        </p:spPr>
        <p:txBody>
          <a:bodyPr wrap="square" rtlCol="0">
            <a:spAutoFit/>
          </a:bodyPr>
          <a:lstStyle/>
          <a:p>
            <a:r>
              <a:rPr lang="nl-NL" sz="3200" b="1" dirty="0" smtClean="0"/>
              <a:t>+</a:t>
            </a:r>
            <a:endParaRPr lang="nl-NL" b="1" dirty="0"/>
          </a:p>
        </p:txBody>
      </p:sp>
      <p:sp>
        <p:nvSpPr>
          <p:cNvPr id="34" name="TextBox 33"/>
          <p:cNvSpPr txBox="1"/>
          <p:nvPr/>
        </p:nvSpPr>
        <p:spPr>
          <a:xfrm>
            <a:off x="6862348" y="3348281"/>
            <a:ext cx="1656184" cy="369332"/>
          </a:xfrm>
          <a:prstGeom prst="rect">
            <a:avLst/>
          </a:prstGeom>
          <a:noFill/>
        </p:spPr>
        <p:txBody>
          <a:bodyPr wrap="square" rtlCol="0">
            <a:spAutoFit/>
          </a:bodyPr>
          <a:lstStyle/>
          <a:p>
            <a:r>
              <a:rPr lang="nl-NL" b="1" dirty="0" err="1" smtClean="0"/>
              <a:t>Fb</a:t>
            </a:r>
            <a:r>
              <a:rPr lang="nl-NL" b="1" dirty="0" smtClean="0"/>
              <a:t> ∧ </a:t>
            </a:r>
            <a:r>
              <a:rPr lang="nl-NL" b="1" dirty="0" err="1" smtClean="0"/>
              <a:t>Gb</a:t>
            </a:r>
            <a:endParaRPr lang="nl-NL" i="1" dirty="0"/>
          </a:p>
        </p:txBody>
      </p:sp>
      <p:sp>
        <p:nvSpPr>
          <p:cNvPr id="36" name="Rectangle 35"/>
          <p:cNvSpPr/>
          <p:nvPr/>
        </p:nvSpPr>
        <p:spPr>
          <a:xfrm>
            <a:off x="5350180" y="2690917"/>
            <a:ext cx="1397947" cy="369332"/>
          </a:xfrm>
          <a:prstGeom prst="rect">
            <a:avLst/>
          </a:prstGeom>
        </p:spPr>
        <p:txBody>
          <a:bodyPr wrap="none">
            <a:spAutoFit/>
          </a:bodyPr>
          <a:lstStyle/>
          <a:p>
            <a:r>
              <a:rPr lang="nl-NL" b="1" dirty="0" smtClean="0"/>
              <a:t>∃y (</a:t>
            </a:r>
            <a:r>
              <a:rPr lang="nl-NL" b="1" dirty="0" err="1" smtClean="0"/>
              <a:t>Fb</a:t>
            </a:r>
            <a:r>
              <a:rPr lang="nl-NL" b="1" dirty="0" smtClean="0"/>
              <a:t> ∧ </a:t>
            </a:r>
            <a:r>
              <a:rPr lang="nl-NL" b="1" dirty="0" err="1" smtClean="0"/>
              <a:t>Gy</a:t>
            </a:r>
            <a:r>
              <a:rPr lang="nl-NL" b="1" dirty="0" smtClean="0"/>
              <a:t>) </a:t>
            </a:r>
            <a:endParaRPr lang="nl-NL" dirty="0"/>
          </a:p>
        </p:txBody>
      </p:sp>
      <p:sp>
        <p:nvSpPr>
          <p:cNvPr id="37" name="Rectangle 36"/>
          <p:cNvSpPr/>
          <p:nvPr/>
        </p:nvSpPr>
        <p:spPr>
          <a:xfrm>
            <a:off x="5782228" y="3996353"/>
            <a:ext cx="949299" cy="369332"/>
          </a:xfrm>
          <a:prstGeom prst="rect">
            <a:avLst/>
          </a:prstGeom>
        </p:spPr>
        <p:txBody>
          <a:bodyPr wrap="none">
            <a:spAutoFit/>
          </a:bodyPr>
          <a:lstStyle/>
          <a:p>
            <a:r>
              <a:rPr lang="nl-NL" b="1" dirty="0" err="1" smtClean="0"/>
              <a:t>Fb</a:t>
            </a:r>
            <a:r>
              <a:rPr lang="nl-NL" b="1" dirty="0" smtClean="0"/>
              <a:t> ∧ </a:t>
            </a:r>
            <a:r>
              <a:rPr lang="nl-NL" b="1" dirty="0" err="1" smtClean="0"/>
              <a:t>Gc</a:t>
            </a:r>
            <a:r>
              <a:rPr lang="nl-NL" b="1" dirty="0" smtClean="0">
                <a:solidFill>
                  <a:srgbClr val="FF0000"/>
                </a:solidFill>
              </a:rPr>
              <a:t> </a:t>
            </a:r>
            <a:endParaRPr lang="nl-NL" dirty="0">
              <a:solidFill>
                <a:srgbClr val="FF0000"/>
              </a:solidFill>
            </a:endParaRPr>
          </a:p>
        </p:txBody>
      </p:sp>
      <p:sp>
        <p:nvSpPr>
          <p:cNvPr id="38" name="Rectangle 37"/>
          <p:cNvSpPr/>
          <p:nvPr/>
        </p:nvSpPr>
        <p:spPr>
          <a:xfrm>
            <a:off x="5903431" y="4707141"/>
            <a:ext cx="873957" cy="369332"/>
          </a:xfrm>
          <a:prstGeom prst="rect">
            <a:avLst/>
          </a:prstGeom>
        </p:spPr>
        <p:txBody>
          <a:bodyPr wrap="none">
            <a:spAutoFit/>
          </a:bodyPr>
          <a:lstStyle/>
          <a:p>
            <a:r>
              <a:rPr lang="nl-NL" b="1" dirty="0" err="1" smtClean="0"/>
              <a:t>Fb</a:t>
            </a:r>
            <a:r>
              <a:rPr lang="nl-NL" b="1" dirty="0" smtClean="0"/>
              <a:t> </a:t>
            </a:r>
            <a:r>
              <a:rPr lang="nl-NL" dirty="0" smtClean="0"/>
              <a:t>,</a:t>
            </a:r>
            <a:r>
              <a:rPr lang="nl-NL" b="1" dirty="0" smtClean="0"/>
              <a:t> </a:t>
            </a:r>
            <a:r>
              <a:rPr lang="nl-NL" b="1" dirty="0" err="1" smtClean="0"/>
              <a:t>Gc</a:t>
            </a:r>
            <a:r>
              <a:rPr lang="nl-NL" b="1" dirty="0" smtClean="0"/>
              <a:t> </a:t>
            </a:r>
            <a:endParaRPr lang="nl-NL" dirty="0"/>
          </a:p>
        </p:txBody>
      </p:sp>
      <p:cxnSp>
        <p:nvCxnSpPr>
          <p:cNvPr id="39" name="Straight Connector 38"/>
          <p:cNvCxnSpPr/>
          <p:nvPr/>
        </p:nvCxnSpPr>
        <p:spPr>
          <a:xfrm flipH="1">
            <a:off x="5710220" y="5004465"/>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862348" y="5004465"/>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5566204" y="550852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Oval 41"/>
          <p:cNvSpPr/>
          <p:nvPr/>
        </p:nvSpPr>
        <p:spPr>
          <a:xfrm>
            <a:off x="8086484" y="550852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3" name="Rectangle 42"/>
          <p:cNvSpPr/>
          <p:nvPr/>
        </p:nvSpPr>
        <p:spPr>
          <a:xfrm>
            <a:off x="5710220" y="5427221"/>
            <a:ext cx="466794" cy="369332"/>
          </a:xfrm>
          <a:prstGeom prst="rect">
            <a:avLst/>
          </a:prstGeom>
        </p:spPr>
        <p:txBody>
          <a:bodyPr wrap="none">
            <a:spAutoFit/>
          </a:bodyPr>
          <a:lstStyle/>
          <a:p>
            <a:r>
              <a:rPr lang="nl-NL" b="1" dirty="0" err="1" smtClean="0"/>
              <a:t>Fb</a:t>
            </a:r>
            <a:r>
              <a:rPr lang="nl-NL" b="1" dirty="0" smtClean="0"/>
              <a:t> </a:t>
            </a:r>
            <a:endParaRPr lang="nl-NL" dirty="0"/>
          </a:p>
        </p:txBody>
      </p:sp>
      <p:sp>
        <p:nvSpPr>
          <p:cNvPr id="44" name="Rectangle 43"/>
          <p:cNvSpPr/>
          <p:nvPr/>
        </p:nvSpPr>
        <p:spPr>
          <a:xfrm>
            <a:off x="8158492" y="5436513"/>
            <a:ext cx="455574" cy="369332"/>
          </a:xfrm>
          <a:prstGeom prst="rect">
            <a:avLst/>
          </a:prstGeom>
        </p:spPr>
        <p:txBody>
          <a:bodyPr wrap="none">
            <a:spAutoFit/>
          </a:bodyPr>
          <a:lstStyle/>
          <a:p>
            <a:r>
              <a:rPr lang="nl-NL" b="1" dirty="0" err="1" smtClean="0"/>
              <a:t>Gb</a:t>
            </a:r>
            <a:endParaRPr lang="nl-NL" i="1" dirty="0"/>
          </a:p>
        </p:txBody>
      </p:sp>
      <p:sp>
        <p:nvSpPr>
          <p:cNvPr id="32" name="Rectangle 31"/>
          <p:cNvSpPr/>
          <p:nvPr/>
        </p:nvSpPr>
        <p:spPr>
          <a:xfrm>
            <a:off x="6862348" y="2123564"/>
            <a:ext cx="445956" cy="369332"/>
          </a:xfrm>
          <a:prstGeom prst="rect">
            <a:avLst/>
          </a:prstGeom>
        </p:spPr>
        <p:txBody>
          <a:bodyPr wrap="none">
            <a:spAutoFit/>
          </a:bodyPr>
          <a:lstStyle/>
          <a:p>
            <a:r>
              <a:rPr lang="nl-NL" b="1" dirty="0" smtClean="0">
                <a:solidFill>
                  <a:srgbClr val="00B050"/>
                </a:solidFill>
              </a:rPr>
              <a:t>Ga</a:t>
            </a:r>
            <a:endParaRPr lang="nl-NL" i="1" dirty="0">
              <a:solidFill>
                <a:srgbClr val="00B050"/>
              </a:solidFill>
            </a:endParaRPr>
          </a:p>
        </p:txBody>
      </p:sp>
      <p:sp>
        <p:nvSpPr>
          <p:cNvPr id="46" name="Oval 45"/>
          <p:cNvSpPr/>
          <p:nvPr/>
        </p:nvSpPr>
        <p:spPr>
          <a:xfrm>
            <a:off x="2168340" y="22588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7" name="Straight Connector 46"/>
          <p:cNvCxnSpPr/>
          <p:nvPr/>
        </p:nvCxnSpPr>
        <p:spPr>
          <a:xfrm>
            <a:off x="2207637" y="2402885"/>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171789" y="290694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9" name="Straight Connector 48"/>
          <p:cNvCxnSpPr/>
          <p:nvPr/>
        </p:nvCxnSpPr>
        <p:spPr>
          <a:xfrm>
            <a:off x="2207637" y="305095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2171789" y="355501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1" name="Straight Connector 50"/>
          <p:cNvCxnSpPr/>
          <p:nvPr/>
        </p:nvCxnSpPr>
        <p:spPr>
          <a:xfrm>
            <a:off x="2207637" y="3699029"/>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2171789" y="420308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3" name="Straight Connector 52"/>
          <p:cNvCxnSpPr/>
          <p:nvPr/>
        </p:nvCxnSpPr>
        <p:spPr>
          <a:xfrm>
            <a:off x="2207637" y="435639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2171789" y="486044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5" name="TextBox 54"/>
          <p:cNvSpPr txBox="1"/>
          <p:nvPr/>
        </p:nvSpPr>
        <p:spPr>
          <a:xfrm>
            <a:off x="741668" y="5445224"/>
            <a:ext cx="216024" cy="584775"/>
          </a:xfrm>
          <a:prstGeom prst="rect">
            <a:avLst/>
          </a:prstGeom>
          <a:noFill/>
        </p:spPr>
        <p:txBody>
          <a:bodyPr wrap="square" rtlCol="0">
            <a:spAutoFit/>
          </a:bodyPr>
          <a:lstStyle/>
          <a:p>
            <a:r>
              <a:rPr lang="nl-NL" sz="3200" b="1" dirty="0" smtClean="0"/>
              <a:t>+</a:t>
            </a:r>
            <a:endParaRPr lang="nl-NL" b="1" dirty="0"/>
          </a:p>
        </p:txBody>
      </p:sp>
      <p:sp>
        <p:nvSpPr>
          <p:cNvPr id="56" name="TextBox 55"/>
          <p:cNvSpPr txBox="1"/>
          <p:nvPr/>
        </p:nvSpPr>
        <p:spPr>
          <a:xfrm>
            <a:off x="2253836" y="3356992"/>
            <a:ext cx="1656184" cy="369332"/>
          </a:xfrm>
          <a:prstGeom prst="rect">
            <a:avLst/>
          </a:prstGeom>
          <a:noFill/>
        </p:spPr>
        <p:txBody>
          <a:bodyPr wrap="square" rtlCol="0">
            <a:spAutoFit/>
          </a:bodyPr>
          <a:lstStyle/>
          <a:p>
            <a:r>
              <a:rPr lang="nl-NL" b="1" dirty="0" smtClean="0"/>
              <a:t>Fa ∧ Ga</a:t>
            </a:r>
            <a:endParaRPr lang="nl-NL" i="1" dirty="0"/>
          </a:p>
        </p:txBody>
      </p:sp>
      <p:sp>
        <p:nvSpPr>
          <p:cNvPr id="57" name="Rectangle 56"/>
          <p:cNvSpPr/>
          <p:nvPr/>
        </p:nvSpPr>
        <p:spPr>
          <a:xfrm>
            <a:off x="525644" y="2060848"/>
            <a:ext cx="1681679" cy="369332"/>
          </a:xfrm>
          <a:prstGeom prst="rect">
            <a:avLst/>
          </a:prstGeom>
        </p:spPr>
        <p:txBody>
          <a:bodyPr wrap="none">
            <a:spAutoFit/>
          </a:bodyPr>
          <a:lstStyle/>
          <a:p>
            <a:r>
              <a:rPr lang="nl-NL" b="1" dirty="0" smtClean="0"/>
              <a:t>∀x ∃y (</a:t>
            </a:r>
            <a:r>
              <a:rPr lang="nl-NL" b="1" dirty="0" err="1" smtClean="0"/>
              <a:t>Fx</a:t>
            </a:r>
            <a:r>
              <a:rPr lang="nl-NL" b="1" dirty="0" smtClean="0"/>
              <a:t> ∧ </a:t>
            </a:r>
            <a:r>
              <a:rPr lang="nl-NL" b="1" dirty="0" err="1" smtClean="0"/>
              <a:t>Gy</a:t>
            </a:r>
            <a:r>
              <a:rPr lang="nl-NL" b="1" dirty="0" smtClean="0"/>
              <a:t>) </a:t>
            </a:r>
            <a:endParaRPr lang="nl-NL" dirty="0"/>
          </a:p>
        </p:txBody>
      </p:sp>
      <p:sp>
        <p:nvSpPr>
          <p:cNvPr id="58" name="Rectangle 57"/>
          <p:cNvSpPr/>
          <p:nvPr/>
        </p:nvSpPr>
        <p:spPr>
          <a:xfrm>
            <a:off x="2253836" y="2060848"/>
            <a:ext cx="1375056" cy="369332"/>
          </a:xfrm>
          <a:prstGeom prst="rect">
            <a:avLst/>
          </a:prstGeom>
        </p:spPr>
        <p:txBody>
          <a:bodyPr wrap="none">
            <a:spAutoFit/>
          </a:bodyPr>
          <a:lstStyle/>
          <a:p>
            <a:r>
              <a:rPr lang="nl-NL" b="1" dirty="0" smtClean="0"/>
              <a:t>∃x (</a:t>
            </a:r>
            <a:r>
              <a:rPr lang="nl-NL" b="1" dirty="0" err="1" smtClean="0"/>
              <a:t>Fx</a:t>
            </a:r>
            <a:r>
              <a:rPr lang="nl-NL" b="1" dirty="0" smtClean="0"/>
              <a:t> ∧ </a:t>
            </a:r>
            <a:r>
              <a:rPr lang="nl-NL" b="1" dirty="0" err="1" smtClean="0"/>
              <a:t>Gx</a:t>
            </a:r>
            <a:r>
              <a:rPr lang="nl-NL" b="1" dirty="0" smtClean="0"/>
              <a:t>) </a:t>
            </a:r>
            <a:endParaRPr lang="nl-NL" dirty="0"/>
          </a:p>
        </p:txBody>
      </p:sp>
      <p:sp>
        <p:nvSpPr>
          <p:cNvPr id="59" name="Rectangle 58"/>
          <p:cNvSpPr/>
          <p:nvPr/>
        </p:nvSpPr>
        <p:spPr>
          <a:xfrm>
            <a:off x="741668" y="2699628"/>
            <a:ext cx="1382045" cy="369332"/>
          </a:xfrm>
          <a:prstGeom prst="rect">
            <a:avLst/>
          </a:prstGeom>
        </p:spPr>
        <p:txBody>
          <a:bodyPr wrap="none">
            <a:spAutoFit/>
          </a:bodyPr>
          <a:lstStyle/>
          <a:p>
            <a:r>
              <a:rPr lang="nl-NL" b="1" dirty="0" smtClean="0"/>
              <a:t>∃y (Fa ∧ </a:t>
            </a:r>
            <a:r>
              <a:rPr lang="nl-NL" b="1" dirty="0" err="1" smtClean="0"/>
              <a:t>Gy</a:t>
            </a:r>
            <a:r>
              <a:rPr lang="nl-NL" b="1" dirty="0" smtClean="0"/>
              <a:t>) </a:t>
            </a:r>
            <a:endParaRPr lang="nl-NL" dirty="0"/>
          </a:p>
        </p:txBody>
      </p:sp>
      <p:sp>
        <p:nvSpPr>
          <p:cNvPr id="60" name="Rectangle 59"/>
          <p:cNvSpPr/>
          <p:nvPr/>
        </p:nvSpPr>
        <p:spPr>
          <a:xfrm>
            <a:off x="1173716" y="4005064"/>
            <a:ext cx="960648" cy="369332"/>
          </a:xfrm>
          <a:prstGeom prst="rect">
            <a:avLst/>
          </a:prstGeom>
        </p:spPr>
        <p:txBody>
          <a:bodyPr wrap="none">
            <a:spAutoFit/>
          </a:bodyPr>
          <a:lstStyle/>
          <a:p>
            <a:r>
              <a:rPr lang="nl-NL" b="1" dirty="0" smtClean="0"/>
              <a:t>Fa ∧ </a:t>
            </a:r>
            <a:r>
              <a:rPr lang="nl-NL" b="1" dirty="0" err="1" smtClean="0"/>
              <a:t>Gb</a:t>
            </a:r>
            <a:r>
              <a:rPr lang="nl-NL" b="1" dirty="0" smtClean="0">
                <a:solidFill>
                  <a:srgbClr val="FF0000"/>
                </a:solidFill>
              </a:rPr>
              <a:t> </a:t>
            </a:r>
            <a:endParaRPr lang="nl-NL" dirty="0">
              <a:solidFill>
                <a:srgbClr val="FF0000"/>
              </a:solidFill>
            </a:endParaRPr>
          </a:p>
        </p:txBody>
      </p:sp>
      <p:sp>
        <p:nvSpPr>
          <p:cNvPr id="61" name="Rectangle 60"/>
          <p:cNvSpPr/>
          <p:nvPr/>
        </p:nvSpPr>
        <p:spPr>
          <a:xfrm>
            <a:off x="1294919" y="4715852"/>
            <a:ext cx="886909" cy="369332"/>
          </a:xfrm>
          <a:prstGeom prst="rect">
            <a:avLst/>
          </a:prstGeom>
        </p:spPr>
        <p:txBody>
          <a:bodyPr wrap="none">
            <a:spAutoFit/>
          </a:bodyPr>
          <a:lstStyle/>
          <a:p>
            <a:r>
              <a:rPr lang="nl-NL" b="1" dirty="0" smtClean="0"/>
              <a:t>Fa </a:t>
            </a:r>
            <a:r>
              <a:rPr lang="nl-NL" dirty="0" smtClean="0"/>
              <a:t>,</a:t>
            </a:r>
            <a:r>
              <a:rPr lang="nl-NL" b="1" dirty="0" smtClean="0"/>
              <a:t> </a:t>
            </a:r>
            <a:r>
              <a:rPr lang="nl-NL" b="1" dirty="0" err="1" smtClean="0"/>
              <a:t>Gb</a:t>
            </a:r>
            <a:r>
              <a:rPr lang="nl-NL" b="1" dirty="0" smtClean="0"/>
              <a:t> </a:t>
            </a:r>
            <a:endParaRPr lang="nl-NL" dirty="0"/>
          </a:p>
        </p:txBody>
      </p:sp>
      <p:cxnSp>
        <p:nvCxnSpPr>
          <p:cNvPr id="62" name="Straight Connector 61"/>
          <p:cNvCxnSpPr/>
          <p:nvPr/>
        </p:nvCxnSpPr>
        <p:spPr>
          <a:xfrm flipH="1">
            <a:off x="1101708" y="501317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2253836" y="501317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4" name="Oval 63"/>
          <p:cNvSpPr/>
          <p:nvPr/>
        </p:nvSpPr>
        <p:spPr>
          <a:xfrm>
            <a:off x="957692" y="55172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5" name="Oval 64"/>
          <p:cNvSpPr/>
          <p:nvPr/>
        </p:nvSpPr>
        <p:spPr>
          <a:xfrm>
            <a:off x="3477972" y="55172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6" name="Rectangle 65"/>
          <p:cNvSpPr/>
          <p:nvPr/>
        </p:nvSpPr>
        <p:spPr>
          <a:xfrm>
            <a:off x="1101708" y="5435932"/>
            <a:ext cx="450893" cy="369332"/>
          </a:xfrm>
          <a:prstGeom prst="rect">
            <a:avLst/>
          </a:prstGeom>
        </p:spPr>
        <p:txBody>
          <a:bodyPr wrap="none">
            <a:spAutoFit/>
          </a:bodyPr>
          <a:lstStyle/>
          <a:p>
            <a:r>
              <a:rPr lang="nl-NL" b="1" dirty="0" smtClean="0"/>
              <a:t>Fa </a:t>
            </a:r>
            <a:endParaRPr lang="nl-NL" dirty="0"/>
          </a:p>
        </p:txBody>
      </p:sp>
      <p:sp>
        <p:nvSpPr>
          <p:cNvPr id="67" name="Rectangle 66"/>
          <p:cNvSpPr/>
          <p:nvPr/>
        </p:nvSpPr>
        <p:spPr>
          <a:xfrm>
            <a:off x="3549980" y="5445224"/>
            <a:ext cx="445956" cy="369332"/>
          </a:xfrm>
          <a:prstGeom prst="rect">
            <a:avLst/>
          </a:prstGeom>
        </p:spPr>
        <p:txBody>
          <a:bodyPr wrap="none">
            <a:spAutoFit/>
          </a:bodyPr>
          <a:lstStyle/>
          <a:p>
            <a:r>
              <a:rPr lang="nl-NL" b="1" dirty="0" smtClean="0">
                <a:solidFill>
                  <a:srgbClr val="00B050"/>
                </a:solidFill>
              </a:rPr>
              <a:t>Ga</a:t>
            </a:r>
            <a:endParaRPr lang="nl-NL" i="1" dirty="0">
              <a:solidFill>
                <a:srgbClr val="00B050"/>
              </a:solidFill>
            </a:endParaRPr>
          </a:p>
        </p:txBody>
      </p:sp>
      <p:sp>
        <p:nvSpPr>
          <p:cNvPr id="68" name="TextBox 67"/>
          <p:cNvSpPr txBox="1"/>
          <p:nvPr/>
        </p:nvSpPr>
        <p:spPr>
          <a:xfrm>
            <a:off x="7884368" y="5436513"/>
            <a:ext cx="216024" cy="584775"/>
          </a:xfrm>
          <a:prstGeom prst="rect">
            <a:avLst/>
          </a:prstGeom>
          <a:noFill/>
        </p:spPr>
        <p:txBody>
          <a:bodyPr wrap="square" rtlCol="0">
            <a:spAutoFit/>
          </a:bodyPr>
          <a:lstStyle/>
          <a:p>
            <a:r>
              <a:rPr lang="nl-NL" sz="3200" b="1" dirty="0" smtClean="0"/>
              <a:t>+</a:t>
            </a:r>
            <a:endParaRPr lang="nl-NL" b="1" dirty="0"/>
          </a:p>
        </p:txBody>
      </p:sp>
      <p:sp>
        <p:nvSpPr>
          <p:cNvPr id="70" name="TextBox 69"/>
          <p:cNvSpPr txBox="1"/>
          <p:nvPr/>
        </p:nvSpPr>
        <p:spPr>
          <a:xfrm>
            <a:off x="5220072" y="6093296"/>
            <a:ext cx="3528392" cy="646331"/>
          </a:xfrm>
          <a:prstGeom prst="rect">
            <a:avLst/>
          </a:prstGeom>
          <a:noFill/>
        </p:spPr>
        <p:txBody>
          <a:bodyPr wrap="square" rtlCol="0">
            <a:spAutoFit/>
          </a:bodyPr>
          <a:lstStyle/>
          <a:p>
            <a:r>
              <a:rPr lang="nl-NL" i="1" dirty="0" smtClean="0"/>
              <a:t>De boom is dus gesloten en daarom is de redenering wel degelijk geldig.</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
                                            <p:txEl>
                                              <p:pRg st="0" end="0"/>
                                            </p:txEl>
                                          </p:spTgt>
                                        </p:tgtEl>
                                        <p:attrNameLst>
                                          <p:attrName>style.visibility</p:attrName>
                                        </p:attrNameLst>
                                      </p:cBhvr>
                                      <p:to>
                                        <p:strVal val="visible"/>
                                      </p:to>
                                    </p:set>
                                    <p:animEffect transition="in" filter="fade">
                                      <p:cBhvr>
                                        <p:cTn id="7" dur="2000"/>
                                        <p:tgtEl>
                                          <p:spTgt spid="7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build="allAtOnce"/>
    </p:bldLst>
  </p:timing>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46" name="Oval 45"/>
          <p:cNvSpPr/>
          <p:nvPr/>
        </p:nvSpPr>
        <p:spPr>
          <a:xfrm>
            <a:off x="2168340" y="224957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7" name="Rectangle 56"/>
          <p:cNvSpPr/>
          <p:nvPr/>
        </p:nvSpPr>
        <p:spPr>
          <a:xfrm>
            <a:off x="611560" y="2051556"/>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58" name="Rectangle 57"/>
          <p:cNvSpPr/>
          <p:nvPr/>
        </p:nvSpPr>
        <p:spPr>
          <a:xfrm>
            <a:off x="2253836" y="2051556"/>
            <a:ext cx="889987" cy="369332"/>
          </a:xfrm>
          <a:prstGeom prst="rect">
            <a:avLst/>
          </a:prstGeom>
        </p:spPr>
        <p:txBody>
          <a:bodyPr wrap="none">
            <a:spAutoFit/>
          </a:bodyPr>
          <a:lstStyle/>
          <a:p>
            <a:r>
              <a:rPr lang="nl-NL" b="1" dirty="0" smtClean="0"/>
              <a:t>∃x ¬</a:t>
            </a:r>
            <a:r>
              <a:rPr lang="nl-NL" b="1" dirty="0" err="1" smtClean="0"/>
              <a:t>Ax</a:t>
            </a:r>
            <a:r>
              <a:rPr lang="nl-NL" b="1" dirty="0" smtClean="0"/>
              <a:t> </a:t>
            </a:r>
            <a:endParaRPr lang="nl-NL" dirty="0"/>
          </a:p>
        </p:txBody>
      </p:sp>
      <p:sp>
        <p:nvSpPr>
          <p:cNvPr id="72" name="Rectangle 71"/>
          <p:cNvSpPr/>
          <p:nvPr/>
        </p:nvSpPr>
        <p:spPr>
          <a:xfrm>
            <a:off x="611560" y="2402304"/>
            <a:ext cx="1510735" cy="369332"/>
          </a:xfrm>
          <a:prstGeom prst="rect">
            <a:avLst/>
          </a:prstGeom>
        </p:spPr>
        <p:txBody>
          <a:bodyPr wrap="none">
            <a:spAutoFit/>
          </a:bodyPr>
          <a:lstStyle/>
          <a:p>
            <a:r>
              <a:rPr lang="nl-NL" b="1" dirty="0" smtClean="0"/>
              <a:t>  ∀x (</a:t>
            </a:r>
            <a:r>
              <a:rPr lang="nl-NL" b="1" dirty="0" err="1" smtClean="0"/>
              <a:t>Bx</a:t>
            </a:r>
            <a:r>
              <a:rPr lang="nl-NL" b="1" dirty="0" smtClean="0"/>
              <a:t> → </a:t>
            </a:r>
            <a:r>
              <a:rPr lang="nl-NL" b="1" dirty="0" err="1" smtClean="0"/>
              <a:t>Cx</a:t>
            </a:r>
            <a:r>
              <a:rPr lang="nl-NL" b="1" dirty="0" smtClean="0"/>
              <a:t>)</a:t>
            </a:r>
            <a:endParaRPr lang="nl-NL" dirty="0"/>
          </a:p>
        </p:txBody>
      </p:sp>
      <p:sp>
        <p:nvSpPr>
          <p:cNvPr id="73" name="Rectangle 72"/>
          <p:cNvSpPr/>
          <p:nvPr/>
        </p:nvSpPr>
        <p:spPr>
          <a:xfrm>
            <a:off x="1547664" y="2699628"/>
            <a:ext cx="535724" cy="369332"/>
          </a:xfrm>
          <a:prstGeom prst="rect">
            <a:avLst/>
          </a:prstGeom>
        </p:spPr>
        <p:txBody>
          <a:bodyPr wrap="none">
            <a:spAutoFit/>
          </a:bodyPr>
          <a:lstStyle/>
          <a:p>
            <a:r>
              <a:rPr lang="nl-NL" b="1" dirty="0" smtClean="0"/>
              <a:t>¬Ca</a:t>
            </a:r>
            <a:endParaRPr lang="nl-NL" dirty="0"/>
          </a:p>
        </p:txBody>
      </p:sp>
      <p:sp>
        <p:nvSpPr>
          <p:cNvPr id="74" name="Content Placeholder 2"/>
          <p:cNvSpPr>
            <a:spLocks noGrp="1"/>
          </p:cNvSpPr>
          <p:nvPr>
            <p:ph idx="1"/>
          </p:nvPr>
        </p:nvSpPr>
        <p:spPr>
          <a:xfrm>
            <a:off x="683568" y="1384177"/>
            <a:ext cx="6984776" cy="388639"/>
          </a:xfrm>
        </p:spPr>
        <p:txBody>
          <a:bodyPr>
            <a:noAutofit/>
          </a:bodyPr>
          <a:lstStyle/>
          <a:p>
            <a:pPr>
              <a:buNone/>
            </a:pPr>
            <a:r>
              <a:rPr lang="nl-NL" sz="2000" dirty="0" smtClean="0"/>
              <a:t>Is   </a:t>
            </a:r>
            <a:r>
              <a:rPr lang="nl-NL" sz="2000" b="1" dirty="0" smtClean="0"/>
              <a:t>¬∀x (</a:t>
            </a:r>
            <a:r>
              <a:rPr lang="nl-NL" sz="2000" b="1" dirty="0" err="1" smtClean="0"/>
              <a:t>Ax</a:t>
            </a:r>
            <a:r>
              <a:rPr lang="nl-NL" sz="2000" b="1" dirty="0" smtClean="0"/>
              <a:t> ∧ </a:t>
            </a:r>
            <a:r>
              <a:rPr lang="nl-NL" sz="2000" b="1" dirty="0" err="1" smtClean="0"/>
              <a:t>Bx</a:t>
            </a:r>
            <a:r>
              <a:rPr lang="nl-NL" sz="2000" b="1" dirty="0" smtClean="0"/>
              <a:t>)  </a:t>
            </a:r>
            <a:r>
              <a:rPr lang="nl-NL" sz="2000" dirty="0" smtClean="0"/>
              <a:t>,</a:t>
            </a:r>
            <a:r>
              <a:rPr lang="nl-NL" sz="2000" b="1" dirty="0" smtClean="0"/>
              <a:t>  ∀x (</a:t>
            </a:r>
            <a:r>
              <a:rPr lang="nl-NL" sz="2000" b="1" dirty="0" err="1" smtClean="0"/>
              <a:t>Bx</a:t>
            </a:r>
            <a:r>
              <a:rPr lang="nl-NL" sz="2000" b="1" dirty="0" smtClean="0"/>
              <a:t> → </a:t>
            </a:r>
            <a:r>
              <a:rPr lang="nl-NL" sz="2000" b="1" dirty="0" err="1" smtClean="0"/>
              <a:t>Cx</a:t>
            </a:r>
            <a:r>
              <a:rPr lang="nl-NL" sz="2000" b="1" dirty="0" smtClean="0"/>
              <a:t>)</a:t>
            </a:r>
            <a:r>
              <a:rPr lang="nl-NL" sz="2000" dirty="0" smtClean="0"/>
              <a:t>  ,  </a:t>
            </a:r>
            <a:r>
              <a:rPr lang="nl-NL" sz="2000" b="1" dirty="0" smtClean="0"/>
              <a:t>¬Ca</a:t>
            </a:r>
            <a:r>
              <a:rPr lang="nl-NL" sz="2000" dirty="0" smtClean="0"/>
              <a:t>   </a:t>
            </a:r>
            <a:r>
              <a:rPr lang="nl-NL" sz="2000" b="1" dirty="0" smtClean="0"/>
              <a:t>|=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2000"/>
                                        <p:tgtEl>
                                          <p:spTgt spid="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2000"/>
                                        <p:tgtEl>
                                          <p:spTgt spid="5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2000"/>
                                        <p:tgtEl>
                                          <p:spTgt spid="5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fade">
                                      <p:cBhvr>
                                        <p:cTn id="16" dur="2000"/>
                                        <p:tgtEl>
                                          <p:spTgt spid="7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7" grpId="0"/>
      <p:bldP spid="58" grpId="0"/>
      <p:bldP spid="72" grpId="0"/>
      <p:bldP spid="73" grpId="0"/>
    </p:bldLst>
  </p:timing>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46" name="Oval 45"/>
          <p:cNvSpPr/>
          <p:nvPr/>
        </p:nvSpPr>
        <p:spPr>
          <a:xfrm>
            <a:off x="2168340" y="224957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7" name="Rectangle 56"/>
          <p:cNvSpPr/>
          <p:nvPr/>
        </p:nvSpPr>
        <p:spPr>
          <a:xfrm>
            <a:off x="611560" y="2051556"/>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58" name="Rectangle 57"/>
          <p:cNvSpPr/>
          <p:nvPr/>
        </p:nvSpPr>
        <p:spPr>
          <a:xfrm>
            <a:off x="2253836" y="2051556"/>
            <a:ext cx="889987" cy="369332"/>
          </a:xfrm>
          <a:prstGeom prst="rect">
            <a:avLst/>
          </a:prstGeom>
        </p:spPr>
        <p:txBody>
          <a:bodyPr wrap="none">
            <a:spAutoFit/>
          </a:bodyPr>
          <a:lstStyle/>
          <a:p>
            <a:r>
              <a:rPr lang="nl-NL" b="1" u="sng" dirty="0" smtClean="0"/>
              <a:t>∃x ¬</a:t>
            </a:r>
            <a:r>
              <a:rPr lang="nl-NL" b="1" u="sng" dirty="0" err="1" smtClean="0"/>
              <a:t>Ax</a:t>
            </a:r>
            <a:r>
              <a:rPr lang="nl-NL" b="1" dirty="0" smtClean="0"/>
              <a:t> </a:t>
            </a:r>
            <a:endParaRPr lang="nl-NL" dirty="0"/>
          </a:p>
        </p:txBody>
      </p:sp>
      <p:sp>
        <p:nvSpPr>
          <p:cNvPr id="72" name="Rectangle 71"/>
          <p:cNvSpPr/>
          <p:nvPr/>
        </p:nvSpPr>
        <p:spPr>
          <a:xfrm>
            <a:off x="611560" y="2402304"/>
            <a:ext cx="1510735" cy="369332"/>
          </a:xfrm>
          <a:prstGeom prst="rect">
            <a:avLst/>
          </a:prstGeom>
        </p:spPr>
        <p:txBody>
          <a:bodyPr wrap="none">
            <a:spAutoFit/>
          </a:bodyPr>
          <a:lstStyle/>
          <a:p>
            <a:r>
              <a:rPr lang="nl-NL" b="1" dirty="0" smtClean="0"/>
              <a:t>  </a:t>
            </a:r>
            <a:r>
              <a:rPr lang="nl-NL" b="1" u="sng" dirty="0" smtClean="0"/>
              <a:t>∀x (</a:t>
            </a:r>
            <a:r>
              <a:rPr lang="nl-NL" b="1" u="sng" dirty="0" err="1" smtClean="0"/>
              <a:t>Bx</a:t>
            </a:r>
            <a:r>
              <a:rPr lang="nl-NL" b="1" u="sng" dirty="0" smtClean="0"/>
              <a:t> → </a:t>
            </a:r>
            <a:r>
              <a:rPr lang="nl-NL" b="1" u="sng" dirty="0" err="1" smtClean="0"/>
              <a:t>Cx</a:t>
            </a:r>
            <a:r>
              <a:rPr lang="nl-NL" b="1" u="sng" dirty="0" smtClean="0"/>
              <a:t>)</a:t>
            </a:r>
            <a:endParaRPr lang="nl-NL" u="sng" dirty="0"/>
          </a:p>
        </p:txBody>
      </p:sp>
      <p:sp>
        <p:nvSpPr>
          <p:cNvPr id="73" name="Rectangle 72"/>
          <p:cNvSpPr/>
          <p:nvPr/>
        </p:nvSpPr>
        <p:spPr>
          <a:xfrm>
            <a:off x="1547664" y="2699628"/>
            <a:ext cx="535724" cy="369332"/>
          </a:xfrm>
          <a:prstGeom prst="rect">
            <a:avLst/>
          </a:prstGeom>
        </p:spPr>
        <p:txBody>
          <a:bodyPr wrap="none">
            <a:spAutoFit/>
          </a:bodyPr>
          <a:lstStyle/>
          <a:p>
            <a:r>
              <a:rPr lang="nl-NL" b="1" dirty="0" smtClean="0"/>
              <a:t>¬Ca</a:t>
            </a:r>
            <a:endParaRPr lang="nl-NL" dirty="0"/>
          </a:p>
        </p:txBody>
      </p:sp>
      <p:sp>
        <p:nvSpPr>
          <p:cNvPr id="74" name="Content Placeholder 2"/>
          <p:cNvSpPr>
            <a:spLocks noGrp="1"/>
          </p:cNvSpPr>
          <p:nvPr>
            <p:ph idx="1"/>
          </p:nvPr>
        </p:nvSpPr>
        <p:spPr>
          <a:xfrm>
            <a:off x="683568" y="1384177"/>
            <a:ext cx="6984776" cy="388639"/>
          </a:xfrm>
        </p:spPr>
        <p:txBody>
          <a:bodyPr>
            <a:noAutofit/>
          </a:bodyPr>
          <a:lstStyle/>
          <a:p>
            <a:pPr>
              <a:buNone/>
            </a:pPr>
            <a:r>
              <a:rPr lang="nl-NL" sz="2000" dirty="0" smtClean="0"/>
              <a:t>Is   </a:t>
            </a:r>
            <a:r>
              <a:rPr lang="nl-NL" sz="2000" b="1" dirty="0" smtClean="0"/>
              <a:t>¬∀x (</a:t>
            </a:r>
            <a:r>
              <a:rPr lang="nl-NL" sz="2000" b="1" dirty="0" err="1" smtClean="0"/>
              <a:t>Ax</a:t>
            </a:r>
            <a:r>
              <a:rPr lang="nl-NL" sz="2000" b="1" dirty="0" smtClean="0"/>
              <a:t> ∧ </a:t>
            </a:r>
            <a:r>
              <a:rPr lang="nl-NL" sz="2000" b="1" dirty="0" err="1" smtClean="0"/>
              <a:t>Bx</a:t>
            </a:r>
            <a:r>
              <a:rPr lang="nl-NL" sz="2000" b="1" dirty="0" smtClean="0"/>
              <a:t>)  </a:t>
            </a:r>
            <a:r>
              <a:rPr lang="nl-NL" sz="2000" dirty="0" smtClean="0"/>
              <a:t>,</a:t>
            </a:r>
            <a:r>
              <a:rPr lang="nl-NL" sz="2000" b="1" dirty="0" smtClean="0"/>
              <a:t>  ∀x (</a:t>
            </a:r>
            <a:r>
              <a:rPr lang="nl-NL" sz="2000" b="1" dirty="0" err="1" smtClean="0"/>
              <a:t>Bx</a:t>
            </a:r>
            <a:r>
              <a:rPr lang="nl-NL" sz="2000" b="1" dirty="0" smtClean="0"/>
              <a:t> → </a:t>
            </a:r>
            <a:r>
              <a:rPr lang="nl-NL" sz="2000" b="1" dirty="0" err="1" smtClean="0"/>
              <a:t>Cx</a:t>
            </a:r>
            <a:r>
              <a:rPr lang="nl-NL" sz="2000" b="1" dirty="0" smtClean="0"/>
              <a:t>)</a:t>
            </a:r>
            <a:r>
              <a:rPr lang="nl-NL" sz="2000" dirty="0" smtClean="0"/>
              <a:t>  ,  </a:t>
            </a:r>
            <a:r>
              <a:rPr lang="nl-NL" sz="2000" b="1" dirty="0" smtClean="0"/>
              <a:t>¬Ca</a:t>
            </a:r>
            <a:r>
              <a:rPr lang="nl-NL" sz="2000" dirty="0" smtClean="0"/>
              <a:t>   </a:t>
            </a:r>
            <a:r>
              <a:rPr lang="nl-NL" sz="2000" b="1" dirty="0" smtClean="0"/>
              <a:t>|=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spTree>
  </p:cSld>
  <p:clrMapOvr>
    <a:masterClrMapping/>
  </p:clrMapOvr>
  <p:timing>
    <p:tnLst>
      <p:par>
        <p:cTn id="1" dur="indefinite" restart="never" nodeType="tmRoot"/>
      </p:par>
    </p:tnLst>
  </p:timing>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46" name="Oval 45"/>
          <p:cNvSpPr/>
          <p:nvPr/>
        </p:nvSpPr>
        <p:spPr>
          <a:xfrm>
            <a:off x="2168340" y="224957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7" name="Rectangle 56"/>
          <p:cNvSpPr/>
          <p:nvPr/>
        </p:nvSpPr>
        <p:spPr>
          <a:xfrm>
            <a:off x="611560" y="2051556"/>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58" name="Rectangle 57"/>
          <p:cNvSpPr/>
          <p:nvPr/>
        </p:nvSpPr>
        <p:spPr>
          <a:xfrm>
            <a:off x="2253836" y="2051556"/>
            <a:ext cx="889987" cy="369332"/>
          </a:xfrm>
          <a:prstGeom prst="rect">
            <a:avLst/>
          </a:prstGeom>
        </p:spPr>
        <p:txBody>
          <a:bodyPr wrap="none">
            <a:spAutoFit/>
          </a:bodyPr>
          <a:lstStyle/>
          <a:p>
            <a:r>
              <a:rPr lang="nl-NL" b="1" u="sng" dirty="0" smtClean="0"/>
              <a:t>∃x ¬</a:t>
            </a:r>
            <a:r>
              <a:rPr lang="nl-NL" b="1" u="sng" dirty="0" err="1" smtClean="0"/>
              <a:t>Ax</a:t>
            </a:r>
            <a:r>
              <a:rPr lang="nl-NL" b="1" dirty="0" smtClean="0"/>
              <a:t> </a:t>
            </a:r>
            <a:endParaRPr lang="nl-NL" dirty="0"/>
          </a:p>
        </p:txBody>
      </p:sp>
      <p:sp>
        <p:nvSpPr>
          <p:cNvPr id="72" name="Rectangle 71"/>
          <p:cNvSpPr/>
          <p:nvPr/>
        </p:nvSpPr>
        <p:spPr>
          <a:xfrm>
            <a:off x="611560" y="2402304"/>
            <a:ext cx="1510735" cy="369332"/>
          </a:xfrm>
          <a:prstGeom prst="rect">
            <a:avLst/>
          </a:prstGeom>
        </p:spPr>
        <p:txBody>
          <a:bodyPr wrap="none">
            <a:spAutoFit/>
          </a:bodyPr>
          <a:lstStyle/>
          <a:p>
            <a:r>
              <a:rPr lang="nl-NL" b="1" dirty="0" smtClean="0"/>
              <a:t>  </a:t>
            </a:r>
            <a:r>
              <a:rPr lang="nl-NL" b="1" u="sng" dirty="0" smtClean="0"/>
              <a:t>∀x (</a:t>
            </a:r>
            <a:r>
              <a:rPr lang="nl-NL" b="1" u="sng" dirty="0" err="1" smtClean="0"/>
              <a:t>Bx</a:t>
            </a:r>
            <a:r>
              <a:rPr lang="nl-NL" b="1" u="sng" dirty="0" smtClean="0"/>
              <a:t> → </a:t>
            </a:r>
            <a:r>
              <a:rPr lang="nl-NL" b="1" u="sng" dirty="0" err="1" smtClean="0"/>
              <a:t>Cx</a:t>
            </a:r>
            <a:r>
              <a:rPr lang="nl-NL" b="1" u="sng" dirty="0" smtClean="0"/>
              <a:t>)</a:t>
            </a:r>
            <a:endParaRPr lang="nl-NL" u="sng" dirty="0"/>
          </a:p>
        </p:txBody>
      </p:sp>
      <p:sp>
        <p:nvSpPr>
          <p:cNvPr id="73" name="Rectangle 72"/>
          <p:cNvSpPr/>
          <p:nvPr/>
        </p:nvSpPr>
        <p:spPr>
          <a:xfrm>
            <a:off x="1547664" y="2699628"/>
            <a:ext cx="535724" cy="369332"/>
          </a:xfrm>
          <a:prstGeom prst="rect">
            <a:avLst/>
          </a:prstGeom>
        </p:spPr>
        <p:txBody>
          <a:bodyPr wrap="none">
            <a:spAutoFit/>
          </a:bodyPr>
          <a:lstStyle/>
          <a:p>
            <a:r>
              <a:rPr lang="nl-NL" b="1" dirty="0" smtClean="0"/>
              <a:t>¬Ca</a:t>
            </a:r>
            <a:endParaRPr lang="nl-NL" dirty="0"/>
          </a:p>
        </p:txBody>
      </p:sp>
      <p:sp>
        <p:nvSpPr>
          <p:cNvPr id="74" name="Content Placeholder 2"/>
          <p:cNvSpPr>
            <a:spLocks noGrp="1"/>
          </p:cNvSpPr>
          <p:nvPr>
            <p:ph idx="1"/>
          </p:nvPr>
        </p:nvSpPr>
        <p:spPr>
          <a:xfrm>
            <a:off x="683568" y="1384177"/>
            <a:ext cx="6984776" cy="388639"/>
          </a:xfrm>
        </p:spPr>
        <p:txBody>
          <a:bodyPr>
            <a:noAutofit/>
          </a:bodyPr>
          <a:lstStyle/>
          <a:p>
            <a:pPr>
              <a:buNone/>
            </a:pPr>
            <a:r>
              <a:rPr lang="nl-NL" sz="2000" dirty="0" smtClean="0"/>
              <a:t>Is   </a:t>
            </a:r>
            <a:r>
              <a:rPr lang="nl-NL" sz="2000" b="1" dirty="0" smtClean="0"/>
              <a:t>¬∀x (</a:t>
            </a:r>
            <a:r>
              <a:rPr lang="nl-NL" sz="2000" b="1" dirty="0" err="1" smtClean="0"/>
              <a:t>Ax</a:t>
            </a:r>
            <a:r>
              <a:rPr lang="nl-NL" sz="2000" b="1" dirty="0" smtClean="0"/>
              <a:t> ∧ </a:t>
            </a:r>
            <a:r>
              <a:rPr lang="nl-NL" sz="2000" b="1" dirty="0" err="1" smtClean="0"/>
              <a:t>Bx</a:t>
            </a:r>
            <a:r>
              <a:rPr lang="nl-NL" sz="2000" b="1" dirty="0" smtClean="0"/>
              <a:t>)  </a:t>
            </a:r>
            <a:r>
              <a:rPr lang="nl-NL" sz="2000" dirty="0" smtClean="0"/>
              <a:t>,</a:t>
            </a:r>
            <a:r>
              <a:rPr lang="nl-NL" sz="2000" b="1" dirty="0" smtClean="0"/>
              <a:t>  ∀x (</a:t>
            </a:r>
            <a:r>
              <a:rPr lang="nl-NL" sz="2000" b="1" dirty="0" err="1" smtClean="0"/>
              <a:t>Bx</a:t>
            </a:r>
            <a:r>
              <a:rPr lang="nl-NL" sz="2000" b="1" dirty="0" smtClean="0"/>
              <a:t> → </a:t>
            </a:r>
            <a:r>
              <a:rPr lang="nl-NL" sz="2000" b="1" dirty="0" err="1" smtClean="0"/>
              <a:t>Cx</a:t>
            </a:r>
            <a:r>
              <a:rPr lang="nl-NL" sz="2000" b="1" dirty="0" smtClean="0"/>
              <a:t>)</a:t>
            </a:r>
            <a:r>
              <a:rPr lang="nl-NL" sz="2000" dirty="0" smtClean="0"/>
              <a:t>  ,  </a:t>
            </a:r>
            <a:r>
              <a:rPr lang="nl-NL" sz="2000" b="1" dirty="0" smtClean="0"/>
              <a:t>¬Ca</a:t>
            </a:r>
            <a:r>
              <a:rPr lang="nl-NL" sz="2000" dirty="0" smtClean="0"/>
              <a:t>   </a:t>
            </a:r>
            <a:r>
              <a:rPr lang="nl-NL" sz="2000" b="1" dirty="0" smtClean="0"/>
              <a:t>|=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cxnSp>
        <p:nvCxnSpPr>
          <p:cNvPr id="9" name="Straight Connector 8"/>
          <p:cNvCxnSpPr/>
          <p:nvPr/>
        </p:nvCxnSpPr>
        <p:spPr>
          <a:xfrm flipH="1">
            <a:off x="2195736" y="2402885"/>
            <a:ext cx="11901" cy="9541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171789" y="34109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1" name="Straight Connector 10"/>
          <p:cNvCxnSpPr/>
          <p:nvPr/>
        </p:nvCxnSpPr>
        <p:spPr>
          <a:xfrm>
            <a:off x="2207637" y="355501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171789" y="40590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3" name="Straight Connector 12"/>
          <p:cNvCxnSpPr/>
          <p:nvPr/>
        </p:nvCxnSpPr>
        <p:spPr>
          <a:xfrm>
            <a:off x="2207637" y="4203085"/>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171789" y="470714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2207637" y="4860449"/>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171789" y="536450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1173716" y="3861048"/>
            <a:ext cx="978153" cy="369332"/>
          </a:xfrm>
          <a:prstGeom prst="rect">
            <a:avLst/>
          </a:prstGeom>
        </p:spPr>
        <p:txBody>
          <a:bodyPr wrap="none">
            <a:spAutoFit/>
          </a:bodyPr>
          <a:lstStyle/>
          <a:p>
            <a:r>
              <a:rPr lang="nl-NL" b="1" dirty="0" smtClean="0"/>
              <a:t>Ba → Ca</a:t>
            </a:r>
            <a:endParaRPr lang="nl-NL" dirty="0">
              <a:solidFill>
                <a:srgbClr val="FF0000"/>
              </a:solidFill>
            </a:endParaRPr>
          </a:p>
        </p:txBody>
      </p:sp>
      <p:sp>
        <p:nvSpPr>
          <p:cNvPr id="18" name="Rectangle 17"/>
          <p:cNvSpPr/>
          <p:nvPr/>
        </p:nvSpPr>
        <p:spPr>
          <a:xfrm>
            <a:off x="1691680" y="5219908"/>
            <a:ext cx="437940" cy="369332"/>
          </a:xfrm>
          <a:prstGeom prst="rect">
            <a:avLst/>
          </a:prstGeom>
        </p:spPr>
        <p:txBody>
          <a:bodyPr wrap="none">
            <a:spAutoFit/>
          </a:bodyPr>
          <a:lstStyle/>
          <a:p>
            <a:r>
              <a:rPr lang="nl-NL" b="1" dirty="0" smtClean="0"/>
              <a:t>Aa</a:t>
            </a:r>
            <a:endParaRPr lang="nl-NL" dirty="0"/>
          </a:p>
        </p:txBody>
      </p:sp>
      <p:sp>
        <p:nvSpPr>
          <p:cNvPr id="20" name="Rectangle 19"/>
          <p:cNvSpPr/>
          <p:nvPr/>
        </p:nvSpPr>
        <p:spPr>
          <a:xfrm>
            <a:off x="2279484" y="3212976"/>
            <a:ext cx="420308" cy="369332"/>
          </a:xfrm>
          <a:prstGeom prst="rect">
            <a:avLst/>
          </a:prstGeom>
        </p:spPr>
        <p:txBody>
          <a:bodyPr wrap="none">
            <a:spAutoFit/>
          </a:bodyPr>
          <a:lstStyle/>
          <a:p>
            <a:r>
              <a:rPr lang="nl-NL" b="1" dirty="0" smtClean="0"/>
              <a:t>Ca</a:t>
            </a:r>
            <a:endParaRPr lang="nl-NL" dirty="0"/>
          </a:p>
        </p:txBody>
      </p:sp>
      <p:sp>
        <p:nvSpPr>
          <p:cNvPr id="21" name="Rectangle 20"/>
          <p:cNvSpPr/>
          <p:nvPr/>
        </p:nvSpPr>
        <p:spPr>
          <a:xfrm>
            <a:off x="2195736" y="4581128"/>
            <a:ext cx="606256" cy="369332"/>
          </a:xfrm>
          <a:prstGeom prst="rect">
            <a:avLst/>
          </a:prstGeom>
        </p:spPr>
        <p:txBody>
          <a:bodyPr wrap="none">
            <a:spAutoFit/>
          </a:bodyPr>
          <a:lstStyle/>
          <a:p>
            <a:r>
              <a:rPr lang="nl-NL" b="1" dirty="0" smtClean="0"/>
              <a:t>¬Aa </a:t>
            </a:r>
            <a:endParaRPr lang="nl-NL" dirty="0"/>
          </a:p>
        </p:txBody>
      </p:sp>
      <p:cxnSp>
        <p:nvCxnSpPr>
          <p:cNvPr id="22" name="Straight Connector 21"/>
          <p:cNvCxnSpPr/>
          <p:nvPr/>
        </p:nvCxnSpPr>
        <p:spPr>
          <a:xfrm>
            <a:off x="2195736" y="55172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2160000" y="60212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tangle 23"/>
          <p:cNvSpPr/>
          <p:nvPr/>
        </p:nvSpPr>
        <p:spPr>
          <a:xfrm>
            <a:off x="2195736" y="5877272"/>
            <a:ext cx="1400127"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cxnSp>
        <p:nvCxnSpPr>
          <p:cNvPr id="25" name="Straight Connector 24"/>
          <p:cNvCxnSpPr/>
          <p:nvPr/>
        </p:nvCxnSpPr>
        <p:spPr>
          <a:xfrm>
            <a:off x="2195736" y="616530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160000" y="66693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Rectangle 26"/>
          <p:cNvSpPr/>
          <p:nvPr/>
        </p:nvSpPr>
        <p:spPr>
          <a:xfrm>
            <a:off x="2195736" y="6488668"/>
            <a:ext cx="939681" cy="369332"/>
          </a:xfrm>
          <a:prstGeom prst="rect">
            <a:avLst/>
          </a:prstGeom>
        </p:spPr>
        <p:txBody>
          <a:bodyPr wrap="none">
            <a:spAutoFit/>
          </a:bodyPr>
          <a:lstStyle/>
          <a:p>
            <a:r>
              <a:rPr lang="nl-NL" b="1" dirty="0" smtClean="0"/>
              <a:t>Ab ∧ </a:t>
            </a:r>
            <a:r>
              <a:rPr lang="nl-NL" b="1" dirty="0" err="1" smtClean="0"/>
              <a:t>Bb</a:t>
            </a:r>
            <a:endParaRPr lang="nl-NL" dirty="0"/>
          </a:p>
        </p:txBody>
      </p:sp>
    </p:spTree>
  </p:cSld>
  <p:clrMapOvr>
    <a:masterClrMapping/>
  </p:clrMapOvr>
  <p:timing>
    <p:tnLst>
      <p:par>
        <p:cTn id="1" dur="indefinite" restart="never" nodeType="tmRoot"/>
      </p:par>
    </p:tnLst>
  </p:timing>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46" name="Oval 45"/>
          <p:cNvSpPr/>
          <p:nvPr/>
        </p:nvSpPr>
        <p:spPr>
          <a:xfrm>
            <a:off x="2168340" y="224957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7" name="Rectangle 56"/>
          <p:cNvSpPr/>
          <p:nvPr/>
        </p:nvSpPr>
        <p:spPr>
          <a:xfrm>
            <a:off x="611560" y="2051556"/>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58" name="Rectangle 57"/>
          <p:cNvSpPr/>
          <p:nvPr/>
        </p:nvSpPr>
        <p:spPr>
          <a:xfrm>
            <a:off x="2253836" y="2051556"/>
            <a:ext cx="889987" cy="369332"/>
          </a:xfrm>
          <a:prstGeom prst="rect">
            <a:avLst/>
          </a:prstGeom>
        </p:spPr>
        <p:txBody>
          <a:bodyPr wrap="none">
            <a:spAutoFit/>
          </a:bodyPr>
          <a:lstStyle/>
          <a:p>
            <a:r>
              <a:rPr lang="nl-NL" b="1" u="sng" dirty="0" smtClean="0"/>
              <a:t>∃x ¬</a:t>
            </a:r>
            <a:r>
              <a:rPr lang="nl-NL" b="1" u="sng" dirty="0" err="1" smtClean="0"/>
              <a:t>Ax</a:t>
            </a:r>
            <a:r>
              <a:rPr lang="nl-NL" b="1" dirty="0" smtClean="0"/>
              <a:t> </a:t>
            </a:r>
            <a:endParaRPr lang="nl-NL" dirty="0"/>
          </a:p>
        </p:txBody>
      </p:sp>
      <p:sp>
        <p:nvSpPr>
          <p:cNvPr id="72" name="Rectangle 71"/>
          <p:cNvSpPr/>
          <p:nvPr/>
        </p:nvSpPr>
        <p:spPr>
          <a:xfrm>
            <a:off x="611560" y="2402304"/>
            <a:ext cx="1510735" cy="369332"/>
          </a:xfrm>
          <a:prstGeom prst="rect">
            <a:avLst/>
          </a:prstGeom>
        </p:spPr>
        <p:txBody>
          <a:bodyPr wrap="none">
            <a:spAutoFit/>
          </a:bodyPr>
          <a:lstStyle/>
          <a:p>
            <a:r>
              <a:rPr lang="nl-NL" b="1" dirty="0" smtClean="0"/>
              <a:t>  </a:t>
            </a:r>
            <a:r>
              <a:rPr lang="nl-NL" b="1" u="sng" dirty="0" smtClean="0"/>
              <a:t>∀x (</a:t>
            </a:r>
            <a:r>
              <a:rPr lang="nl-NL" b="1" u="sng" dirty="0" err="1" smtClean="0"/>
              <a:t>Bx</a:t>
            </a:r>
            <a:r>
              <a:rPr lang="nl-NL" b="1" u="sng" dirty="0" smtClean="0"/>
              <a:t> → </a:t>
            </a:r>
            <a:r>
              <a:rPr lang="nl-NL" b="1" u="sng" dirty="0" err="1" smtClean="0"/>
              <a:t>Cx</a:t>
            </a:r>
            <a:r>
              <a:rPr lang="nl-NL" b="1" u="sng" dirty="0" smtClean="0"/>
              <a:t>)</a:t>
            </a:r>
            <a:endParaRPr lang="nl-NL" u="sng" dirty="0"/>
          </a:p>
        </p:txBody>
      </p:sp>
      <p:sp>
        <p:nvSpPr>
          <p:cNvPr id="73" name="Rectangle 72"/>
          <p:cNvSpPr/>
          <p:nvPr/>
        </p:nvSpPr>
        <p:spPr>
          <a:xfrm>
            <a:off x="1547664" y="2699628"/>
            <a:ext cx="535724" cy="369332"/>
          </a:xfrm>
          <a:prstGeom prst="rect">
            <a:avLst/>
          </a:prstGeom>
        </p:spPr>
        <p:txBody>
          <a:bodyPr wrap="none">
            <a:spAutoFit/>
          </a:bodyPr>
          <a:lstStyle/>
          <a:p>
            <a:r>
              <a:rPr lang="nl-NL" b="1" dirty="0" smtClean="0"/>
              <a:t>¬Ca</a:t>
            </a:r>
            <a:endParaRPr lang="nl-NL" dirty="0"/>
          </a:p>
        </p:txBody>
      </p:sp>
      <p:sp>
        <p:nvSpPr>
          <p:cNvPr id="74" name="Content Placeholder 2"/>
          <p:cNvSpPr>
            <a:spLocks noGrp="1"/>
          </p:cNvSpPr>
          <p:nvPr>
            <p:ph idx="1"/>
          </p:nvPr>
        </p:nvSpPr>
        <p:spPr>
          <a:xfrm>
            <a:off x="683568" y="1384177"/>
            <a:ext cx="6984776" cy="388639"/>
          </a:xfrm>
        </p:spPr>
        <p:txBody>
          <a:bodyPr>
            <a:noAutofit/>
          </a:bodyPr>
          <a:lstStyle/>
          <a:p>
            <a:pPr>
              <a:buNone/>
            </a:pPr>
            <a:r>
              <a:rPr lang="nl-NL" sz="2000" dirty="0" smtClean="0"/>
              <a:t>Is   </a:t>
            </a:r>
            <a:r>
              <a:rPr lang="nl-NL" sz="2000" b="1" dirty="0" smtClean="0"/>
              <a:t>¬∀x (</a:t>
            </a:r>
            <a:r>
              <a:rPr lang="nl-NL" sz="2000" b="1" dirty="0" err="1" smtClean="0"/>
              <a:t>Ax</a:t>
            </a:r>
            <a:r>
              <a:rPr lang="nl-NL" sz="2000" b="1" dirty="0" smtClean="0"/>
              <a:t> ∧ </a:t>
            </a:r>
            <a:r>
              <a:rPr lang="nl-NL" sz="2000" b="1" dirty="0" err="1" smtClean="0"/>
              <a:t>Bx</a:t>
            </a:r>
            <a:r>
              <a:rPr lang="nl-NL" sz="2000" b="1" dirty="0" smtClean="0"/>
              <a:t>)  </a:t>
            </a:r>
            <a:r>
              <a:rPr lang="nl-NL" sz="2000" dirty="0" smtClean="0"/>
              <a:t>,</a:t>
            </a:r>
            <a:r>
              <a:rPr lang="nl-NL" sz="2000" b="1" dirty="0" smtClean="0"/>
              <a:t>  ∀x (</a:t>
            </a:r>
            <a:r>
              <a:rPr lang="nl-NL" sz="2000" b="1" dirty="0" err="1" smtClean="0"/>
              <a:t>Bx</a:t>
            </a:r>
            <a:r>
              <a:rPr lang="nl-NL" sz="2000" b="1" dirty="0" smtClean="0"/>
              <a:t> → </a:t>
            </a:r>
            <a:r>
              <a:rPr lang="nl-NL" sz="2000" b="1" dirty="0" err="1" smtClean="0"/>
              <a:t>Cx</a:t>
            </a:r>
            <a:r>
              <a:rPr lang="nl-NL" sz="2000" b="1" dirty="0" smtClean="0"/>
              <a:t>)</a:t>
            </a:r>
            <a:r>
              <a:rPr lang="nl-NL" sz="2000" dirty="0" smtClean="0"/>
              <a:t>  ,  </a:t>
            </a:r>
            <a:r>
              <a:rPr lang="nl-NL" sz="2000" b="1" dirty="0" smtClean="0"/>
              <a:t>¬Ca</a:t>
            </a:r>
            <a:r>
              <a:rPr lang="nl-NL" sz="2000" dirty="0" smtClean="0"/>
              <a:t>   </a:t>
            </a:r>
            <a:r>
              <a:rPr lang="nl-NL" sz="2000" b="1" dirty="0" smtClean="0"/>
              <a:t>|=   ∃x (</a:t>
            </a:r>
            <a:r>
              <a:rPr lang="nl-NL" sz="2000" b="1" dirty="0" err="1" smtClean="0"/>
              <a:t>Fx</a:t>
            </a:r>
            <a:r>
              <a:rPr lang="nl-NL" sz="2000" b="1" dirty="0" smtClean="0"/>
              <a:t> ∧ </a:t>
            </a:r>
            <a:r>
              <a:rPr lang="nl-NL" sz="2000" b="1" dirty="0" err="1" smtClean="0"/>
              <a:t>Gx</a:t>
            </a:r>
            <a:r>
              <a:rPr lang="nl-NL" sz="2000" b="1" dirty="0" smtClean="0"/>
              <a:t>)    </a:t>
            </a:r>
            <a:r>
              <a:rPr lang="nl-NL" sz="2000" dirty="0" smtClean="0"/>
              <a:t>?</a:t>
            </a:r>
            <a:r>
              <a:rPr lang="nl-NL" sz="2000" b="1" dirty="0" smtClean="0"/>
              <a:t> </a:t>
            </a:r>
            <a:endParaRPr lang="nl-NL" sz="2000" dirty="0" smtClean="0"/>
          </a:p>
          <a:p>
            <a:pPr>
              <a:buNone/>
            </a:pPr>
            <a:endParaRPr lang="nl-NL" sz="2000" dirty="0" smtClean="0"/>
          </a:p>
        </p:txBody>
      </p:sp>
      <p:cxnSp>
        <p:nvCxnSpPr>
          <p:cNvPr id="9" name="Straight Connector 8"/>
          <p:cNvCxnSpPr/>
          <p:nvPr/>
        </p:nvCxnSpPr>
        <p:spPr>
          <a:xfrm flipH="1">
            <a:off x="2195736" y="2402885"/>
            <a:ext cx="11901" cy="9541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2171789" y="34109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1" name="Straight Connector 10"/>
          <p:cNvCxnSpPr/>
          <p:nvPr/>
        </p:nvCxnSpPr>
        <p:spPr>
          <a:xfrm>
            <a:off x="2207637" y="355501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171789" y="40590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3" name="Straight Connector 12"/>
          <p:cNvCxnSpPr/>
          <p:nvPr/>
        </p:nvCxnSpPr>
        <p:spPr>
          <a:xfrm>
            <a:off x="2207637" y="4203085"/>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171789" y="470714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2207637" y="4860449"/>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171789" y="536450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Rectangle 16"/>
          <p:cNvSpPr/>
          <p:nvPr/>
        </p:nvSpPr>
        <p:spPr>
          <a:xfrm>
            <a:off x="1173716" y="3861048"/>
            <a:ext cx="978153" cy="369332"/>
          </a:xfrm>
          <a:prstGeom prst="rect">
            <a:avLst/>
          </a:prstGeom>
        </p:spPr>
        <p:txBody>
          <a:bodyPr wrap="none">
            <a:spAutoFit/>
          </a:bodyPr>
          <a:lstStyle/>
          <a:p>
            <a:r>
              <a:rPr lang="nl-NL" b="1" dirty="0" smtClean="0"/>
              <a:t>Ba → Ca</a:t>
            </a:r>
            <a:endParaRPr lang="nl-NL" dirty="0">
              <a:solidFill>
                <a:srgbClr val="FF0000"/>
              </a:solidFill>
            </a:endParaRPr>
          </a:p>
        </p:txBody>
      </p:sp>
      <p:sp>
        <p:nvSpPr>
          <p:cNvPr id="18" name="Rectangle 17"/>
          <p:cNvSpPr/>
          <p:nvPr/>
        </p:nvSpPr>
        <p:spPr>
          <a:xfrm>
            <a:off x="1691680" y="5219908"/>
            <a:ext cx="437940" cy="369332"/>
          </a:xfrm>
          <a:prstGeom prst="rect">
            <a:avLst/>
          </a:prstGeom>
        </p:spPr>
        <p:txBody>
          <a:bodyPr wrap="none">
            <a:spAutoFit/>
          </a:bodyPr>
          <a:lstStyle/>
          <a:p>
            <a:r>
              <a:rPr lang="nl-NL" b="1" dirty="0" smtClean="0"/>
              <a:t>Aa</a:t>
            </a:r>
            <a:endParaRPr lang="nl-NL" dirty="0"/>
          </a:p>
        </p:txBody>
      </p:sp>
      <p:sp>
        <p:nvSpPr>
          <p:cNvPr id="20" name="Rectangle 19"/>
          <p:cNvSpPr/>
          <p:nvPr/>
        </p:nvSpPr>
        <p:spPr>
          <a:xfrm>
            <a:off x="2279484" y="3212976"/>
            <a:ext cx="420308" cy="369332"/>
          </a:xfrm>
          <a:prstGeom prst="rect">
            <a:avLst/>
          </a:prstGeom>
        </p:spPr>
        <p:txBody>
          <a:bodyPr wrap="none">
            <a:spAutoFit/>
          </a:bodyPr>
          <a:lstStyle/>
          <a:p>
            <a:r>
              <a:rPr lang="nl-NL" b="1" dirty="0" smtClean="0"/>
              <a:t>Ca</a:t>
            </a:r>
            <a:endParaRPr lang="nl-NL" dirty="0"/>
          </a:p>
        </p:txBody>
      </p:sp>
      <p:sp>
        <p:nvSpPr>
          <p:cNvPr id="21" name="Rectangle 20"/>
          <p:cNvSpPr/>
          <p:nvPr/>
        </p:nvSpPr>
        <p:spPr>
          <a:xfrm>
            <a:off x="2195736" y="4581128"/>
            <a:ext cx="606256" cy="369332"/>
          </a:xfrm>
          <a:prstGeom prst="rect">
            <a:avLst/>
          </a:prstGeom>
        </p:spPr>
        <p:txBody>
          <a:bodyPr wrap="none">
            <a:spAutoFit/>
          </a:bodyPr>
          <a:lstStyle/>
          <a:p>
            <a:r>
              <a:rPr lang="nl-NL" b="1" dirty="0" smtClean="0"/>
              <a:t>¬Aa </a:t>
            </a:r>
            <a:endParaRPr lang="nl-NL" dirty="0"/>
          </a:p>
        </p:txBody>
      </p:sp>
      <p:cxnSp>
        <p:nvCxnSpPr>
          <p:cNvPr id="22" name="Straight Connector 21"/>
          <p:cNvCxnSpPr/>
          <p:nvPr/>
        </p:nvCxnSpPr>
        <p:spPr>
          <a:xfrm>
            <a:off x="2195736" y="55172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2160000" y="60212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4" name="Rectangle 23"/>
          <p:cNvSpPr/>
          <p:nvPr/>
        </p:nvSpPr>
        <p:spPr>
          <a:xfrm>
            <a:off x="2195736" y="5877272"/>
            <a:ext cx="1400127"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cxnSp>
        <p:nvCxnSpPr>
          <p:cNvPr id="25" name="Straight Connector 24"/>
          <p:cNvCxnSpPr/>
          <p:nvPr/>
        </p:nvCxnSpPr>
        <p:spPr>
          <a:xfrm>
            <a:off x="2195736" y="616530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160000" y="66693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Rectangle 26"/>
          <p:cNvSpPr/>
          <p:nvPr/>
        </p:nvSpPr>
        <p:spPr>
          <a:xfrm>
            <a:off x="2195736" y="6488668"/>
            <a:ext cx="939681" cy="369332"/>
          </a:xfrm>
          <a:prstGeom prst="rect">
            <a:avLst/>
          </a:prstGeom>
        </p:spPr>
        <p:txBody>
          <a:bodyPr wrap="none">
            <a:spAutoFit/>
          </a:bodyPr>
          <a:lstStyle/>
          <a:p>
            <a:r>
              <a:rPr lang="nl-NL" b="1" dirty="0" smtClean="0"/>
              <a:t>A</a:t>
            </a:r>
            <a:r>
              <a:rPr lang="nl-NL" b="1" dirty="0" smtClean="0">
                <a:solidFill>
                  <a:srgbClr val="FF0000"/>
                </a:solidFill>
              </a:rPr>
              <a:t>b</a:t>
            </a:r>
            <a:r>
              <a:rPr lang="nl-NL" b="1" dirty="0" smtClean="0"/>
              <a:t> ∧ </a:t>
            </a:r>
            <a:r>
              <a:rPr lang="nl-NL" b="1" dirty="0" err="1" smtClean="0"/>
              <a:t>B</a:t>
            </a:r>
            <a:r>
              <a:rPr lang="nl-NL" b="1" dirty="0" err="1" smtClean="0">
                <a:solidFill>
                  <a:srgbClr val="FF0000"/>
                </a:solidFill>
              </a:rPr>
              <a:t>b</a:t>
            </a:r>
            <a:endParaRPr lang="nl-NL" dirty="0">
              <a:solidFill>
                <a:srgbClr val="FF0000"/>
              </a:solidFill>
            </a:endParaRPr>
          </a:p>
        </p:txBody>
      </p:sp>
    </p:spTree>
  </p:cSld>
  <p:clrMapOvr>
    <a:masterClrMapping/>
  </p:clrMapOvr>
  <p:timing>
    <p:tnLst>
      <p:par>
        <p:cTn id="1" dur="indefinite" restart="never" nodeType="tmRoot"/>
      </p:par>
    </p:tnLst>
  </p:timing>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29" name="Oval 28"/>
          <p:cNvSpPr/>
          <p:nvPr/>
        </p:nvSpPr>
        <p:spPr>
          <a:xfrm>
            <a:off x="2168340" y="177290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0" name="Rectangle 29"/>
          <p:cNvSpPr/>
          <p:nvPr/>
        </p:nvSpPr>
        <p:spPr>
          <a:xfrm>
            <a:off x="611560" y="1574884"/>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31" name="Rectangle 30"/>
          <p:cNvSpPr/>
          <p:nvPr/>
        </p:nvSpPr>
        <p:spPr>
          <a:xfrm>
            <a:off x="2253836" y="1574884"/>
            <a:ext cx="889987" cy="369332"/>
          </a:xfrm>
          <a:prstGeom prst="rect">
            <a:avLst/>
          </a:prstGeom>
        </p:spPr>
        <p:txBody>
          <a:bodyPr wrap="none">
            <a:spAutoFit/>
          </a:bodyPr>
          <a:lstStyle/>
          <a:p>
            <a:r>
              <a:rPr lang="nl-NL" b="1" u="sng" dirty="0" smtClean="0"/>
              <a:t>∃x ¬</a:t>
            </a:r>
            <a:r>
              <a:rPr lang="nl-NL" b="1" u="sng" dirty="0" err="1" smtClean="0"/>
              <a:t>Ax</a:t>
            </a:r>
            <a:r>
              <a:rPr lang="nl-NL" b="1" dirty="0" smtClean="0"/>
              <a:t> </a:t>
            </a:r>
            <a:endParaRPr lang="nl-NL" dirty="0"/>
          </a:p>
        </p:txBody>
      </p:sp>
      <p:sp>
        <p:nvSpPr>
          <p:cNvPr id="32" name="Rectangle 31"/>
          <p:cNvSpPr/>
          <p:nvPr/>
        </p:nvSpPr>
        <p:spPr>
          <a:xfrm>
            <a:off x="611560" y="1925632"/>
            <a:ext cx="1510735" cy="369332"/>
          </a:xfrm>
          <a:prstGeom prst="rect">
            <a:avLst/>
          </a:prstGeom>
        </p:spPr>
        <p:txBody>
          <a:bodyPr wrap="none">
            <a:spAutoFit/>
          </a:bodyPr>
          <a:lstStyle/>
          <a:p>
            <a:r>
              <a:rPr lang="nl-NL" b="1" dirty="0" smtClean="0"/>
              <a:t>  </a:t>
            </a:r>
            <a:r>
              <a:rPr lang="nl-NL" b="1" u="sng" dirty="0" smtClean="0"/>
              <a:t>∀x (</a:t>
            </a:r>
            <a:r>
              <a:rPr lang="nl-NL" b="1" u="sng" dirty="0" err="1" smtClean="0"/>
              <a:t>Bx</a:t>
            </a:r>
            <a:r>
              <a:rPr lang="nl-NL" b="1" u="sng" dirty="0" smtClean="0"/>
              <a:t> → </a:t>
            </a:r>
            <a:r>
              <a:rPr lang="nl-NL" b="1" u="sng" dirty="0" err="1" smtClean="0"/>
              <a:t>Cx</a:t>
            </a:r>
            <a:r>
              <a:rPr lang="nl-NL" b="1" u="sng" dirty="0" smtClean="0"/>
              <a:t>)</a:t>
            </a:r>
            <a:endParaRPr lang="nl-NL" u="sng" dirty="0"/>
          </a:p>
        </p:txBody>
      </p:sp>
      <p:sp>
        <p:nvSpPr>
          <p:cNvPr id="33" name="Rectangle 32"/>
          <p:cNvSpPr/>
          <p:nvPr/>
        </p:nvSpPr>
        <p:spPr>
          <a:xfrm>
            <a:off x="1547664" y="2222956"/>
            <a:ext cx="535724" cy="369332"/>
          </a:xfrm>
          <a:prstGeom prst="rect">
            <a:avLst/>
          </a:prstGeom>
        </p:spPr>
        <p:txBody>
          <a:bodyPr wrap="none">
            <a:spAutoFit/>
          </a:bodyPr>
          <a:lstStyle/>
          <a:p>
            <a:r>
              <a:rPr lang="nl-NL" b="1" dirty="0" smtClean="0"/>
              <a:t>¬Ca</a:t>
            </a:r>
            <a:endParaRPr lang="nl-NL" dirty="0"/>
          </a:p>
        </p:txBody>
      </p:sp>
      <p:cxnSp>
        <p:nvCxnSpPr>
          <p:cNvPr id="34" name="Straight Connector 33"/>
          <p:cNvCxnSpPr/>
          <p:nvPr/>
        </p:nvCxnSpPr>
        <p:spPr>
          <a:xfrm flipH="1">
            <a:off x="2195736" y="1926213"/>
            <a:ext cx="11901" cy="9541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2171789" y="293432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6" name="Straight Connector 35"/>
          <p:cNvCxnSpPr/>
          <p:nvPr/>
        </p:nvCxnSpPr>
        <p:spPr>
          <a:xfrm>
            <a:off x="2207637" y="307834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2171789" y="35823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8" name="Straight Connector 37"/>
          <p:cNvCxnSpPr/>
          <p:nvPr/>
        </p:nvCxnSpPr>
        <p:spPr>
          <a:xfrm>
            <a:off x="2207637" y="372641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2171789" y="42304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0" name="Straight Connector 39"/>
          <p:cNvCxnSpPr/>
          <p:nvPr/>
        </p:nvCxnSpPr>
        <p:spPr>
          <a:xfrm>
            <a:off x="2207637" y="438377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171789" y="488783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p:cNvSpPr/>
          <p:nvPr/>
        </p:nvSpPr>
        <p:spPr>
          <a:xfrm>
            <a:off x="1173716" y="3384376"/>
            <a:ext cx="978153" cy="369332"/>
          </a:xfrm>
          <a:prstGeom prst="rect">
            <a:avLst/>
          </a:prstGeom>
        </p:spPr>
        <p:txBody>
          <a:bodyPr wrap="none">
            <a:spAutoFit/>
          </a:bodyPr>
          <a:lstStyle/>
          <a:p>
            <a:r>
              <a:rPr lang="nl-NL" b="1" dirty="0" smtClean="0"/>
              <a:t>Ba → Ca</a:t>
            </a:r>
            <a:endParaRPr lang="nl-NL" dirty="0">
              <a:solidFill>
                <a:srgbClr val="FF0000"/>
              </a:solidFill>
            </a:endParaRPr>
          </a:p>
        </p:txBody>
      </p:sp>
      <p:sp>
        <p:nvSpPr>
          <p:cNvPr id="43" name="Rectangle 42"/>
          <p:cNvSpPr/>
          <p:nvPr/>
        </p:nvSpPr>
        <p:spPr>
          <a:xfrm>
            <a:off x="1691680" y="4743236"/>
            <a:ext cx="437940" cy="369332"/>
          </a:xfrm>
          <a:prstGeom prst="rect">
            <a:avLst/>
          </a:prstGeom>
        </p:spPr>
        <p:txBody>
          <a:bodyPr wrap="none">
            <a:spAutoFit/>
          </a:bodyPr>
          <a:lstStyle/>
          <a:p>
            <a:r>
              <a:rPr lang="nl-NL" b="1" dirty="0" smtClean="0"/>
              <a:t>Aa</a:t>
            </a:r>
            <a:endParaRPr lang="nl-NL" dirty="0"/>
          </a:p>
        </p:txBody>
      </p:sp>
      <p:sp>
        <p:nvSpPr>
          <p:cNvPr id="44" name="Rectangle 43"/>
          <p:cNvSpPr/>
          <p:nvPr/>
        </p:nvSpPr>
        <p:spPr>
          <a:xfrm>
            <a:off x="2279484" y="2736304"/>
            <a:ext cx="420308" cy="369332"/>
          </a:xfrm>
          <a:prstGeom prst="rect">
            <a:avLst/>
          </a:prstGeom>
        </p:spPr>
        <p:txBody>
          <a:bodyPr wrap="none">
            <a:spAutoFit/>
          </a:bodyPr>
          <a:lstStyle/>
          <a:p>
            <a:r>
              <a:rPr lang="nl-NL" b="1" dirty="0" smtClean="0"/>
              <a:t>Ca</a:t>
            </a:r>
            <a:endParaRPr lang="nl-NL" dirty="0"/>
          </a:p>
        </p:txBody>
      </p:sp>
      <p:sp>
        <p:nvSpPr>
          <p:cNvPr id="45" name="Rectangle 44"/>
          <p:cNvSpPr/>
          <p:nvPr/>
        </p:nvSpPr>
        <p:spPr>
          <a:xfrm>
            <a:off x="2195736" y="4104456"/>
            <a:ext cx="606256" cy="369332"/>
          </a:xfrm>
          <a:prstGeom prst="rect">
            <a:avLst/>
          </a:prstGeom>
        </p:spPr>
        <p:txBody>
          <a:bodyPr wrap="none">
            <a:spAutoFit/>
          </a:bodyPr>
          <a:lstStyle/>
          <a:p>
            <a:r>
              <a:rPr lang="nl-NL" b="1" dirty="0" smtClean="0"/>
              <a:t>¬Aa </a:t>
            </a:r>
            <a:endParaRPr lang="nl-NL" dirty="0"/>
          </a:p>
        </p:txBody>
      </p:sp>
      <p:cxnSp>
        <p:nvCxnSpPr>
          <p:cNvPr id="47" name="Straight Connector 46"/>
          <p:cNvCxnSpPr/>
          <p:nvPr/>
        </p:nvCxnSpPr>
        <p:spPr>
          <a:xfrm>
            <a:off x="2195736" y="504056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160000" y="55446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tangle 48"/>
          <p:cNvSpPr/>
          <p:nvPr/>
        </p:nvSpPr>
        <p:spPr>
          <a:xfrm>
            <a:off x="2195736" y="5400600"/>
            <a:ext cx="1400127"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cxnSp>
        <p:nvCxnSpPr>
          <p:cNvPr id="50" name="Straight Connector 49"/>
          <p:cNvCxnSpPr/>
          <p:nvPr/>
        </p:nvCxnSpPr>
        <p:spPr>
          <a:xfrm>
            <a:off x="2195736" y="56886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160000" y="61926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Rectangle 51"/>
          <p:cNvSpPr/>
          <p:nvPr/>
        </p:nvSpPr>
        <p:spPr>
          <a:xfrm>
            <a:off x="2195736" y="6011996"/>
            <a:ext cx="939681" cy="369332"/>
          </a:xfrm>
          <a:prstGeom prst="rect">
            <a:avLst/>
          </a:prstGeom>
        </p:spPr>
        <p:txBody>
          <a:bodyPr wrap="none">
            <a:spAutoFit/>
          </a:bodyPr>
          <a:lstStyle/>
          <a:p>
            <a:r>
              <a:rPr lang="nl-NL" b="1" dirty="0" smtClean="0">
                <a:solidFill>
                  <a:srgbClr val="00B050"/>
                </a:solidFill>
              </a:rPr>
              <a:t>Ab ∧ </a:t>
            </a:r>
            <a:r>
              <a:rPr lang="nl-NL" b="1" dirty="0" err="1" smtClean="0">
                <a:solidFill>
                  <a:srgbClr val="00B050"/>
                </a:solidFill>
              </a:rPr>
              <a:t>Bb</a:t>
            </a:r>
            <a:endParaRPr lang="nl-NL" dirty="0">
              <a:solidFill>
                <a:srgbClr val="00B050"/>
              </a:solidFill>
            </a:endParaRPr>
          </a:p>
        </p:txBody>
      </p:sp>
      <p:sp>
        <p:nvSpPr>
          <p:cNvPr id="46" name="Oval 45"/>
          <p:cNvSpPr/>
          <p:nvPr/>
        </p:nvSpPr>
        <p:spPr>
          <a:xfrm>
            <a:off x="6660232" y="17728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6696000" y="19168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6732240" y="1556792"/>
            <a:ext cx="939681" cy="369332"/>
          </a:xfrm>
          <a:prstGeom prst="rect">
            <a:avLst/>
          </a:prstGeom>
        </p:spPr>
        <p:txBody>
          <a:bodyPr wrap="none">
            <a:spAutoFit/>
          </a:bodyPr>
          <a:lstStyle/>
          <a:p>
            <a:r>
              <a:rPr lang="nl-NL" b="1" dirty="0" smtClean="0">
                <a:solidFill>
                  <a:srgbClr val="00B050"/>
                </a:solidFill>
              </a:rPr>
              <a:t>Ab ∧ </a:t>
            </a:r>
            <a:r>
              <a:rPr lang="nl-NL" b="1" dirty="0" err="1" smtClean="0">
                <a:solidFill>
                  <a:srgbClr val="00B050"/>
                </a:solidFill>
              </a:rPr>
              <a:t>Bb</a:t>
            </a:r>
            <a:endParaRPr lang="nl-NL" dirty="0">
              <a:solidFill>
                <a:srgbClr val="00B050"/>
              </a:solidFill>
            </a:endParaRPr>
          </a:p>
        </p:txBody>
      </p:sp>
      <p:sp>
        <p:nvSpPr>
          <p:cNvPr id="72" name="Oval 71"/>
          <p:cNvSpPr/>
          <p:nvPr/>
        </p:nvSpPr>
        <p:spPr>
          <a:xfrm>
            <a:off x="6660232" y="24208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Rectangle 72"/>
          <p:cNvSpPr/>
          <p:nvPr/>
        </p:nvSpPr>
        <p:spPr>
          <a:xfrm>
            <a:off x="5682079" y="2276872"/>
            <a:ext cx="997389" cy="369332"/>
          </a:xfrm>
          <a:prstGeom prst="rect">
            <a:avLst/>
          </a:prstGeom>
        </p:spPr>
        <p:txBody>
          <a:bodyPr wrap="none">
            <a:spAutoFit/>
          </a:bodyPr>
          <a:lstStyle/>
          <a:p>
            <a:r>
              <a:rPr lang="nl-NL" b="1" dirty="0" err="1" smtClean="0"/>
              <a:t>Bb</a:t>
            </a:r>
            <a:r>
              <a:rPr lang="nl-NL" b="1" dirty="0" smtClean="0"/>
              <a:t> → </a:t>
            </a:r>
            <a:r>
              <a:rPr lang="nl-NL" b="1" dirty="0" err="1" smtClean="0"/>
              <a:t>Cb</a:t>
            </a:r>
            <a:endParaRPr lang="nl-NL" dirty="0"/>
          </a:p>
        </p:txBody>
      </p:sp>
      <p:cxnSp>
        <p:nvCxnSpPr>
          <p:cNvPr id="74" name="Straight Connector 73"/>
          <p:cNvCxnSpPr/>
          <p:nvPr/>
        </p:nvCxnSpPr>
        <p:spPr>
          <a:xfrm>
            <a:off x="6696000" y="256490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6660232"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9" name="Straight Connector 78"/>
          <p:cNvCxnSpPr/>
          <p:nvPr/>
        </p:nvCxnSpPr>
        <p:spPr>
          <a:xfrm>
            <a:off x="6696000" y="321297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1" name="Rectangle 80"/>
          <p:cNvSpPr/>
          <p:nvPr/>
        </p:nvSpPr>
        <p:spPr>
          <a:xfrm>
            <a:off x="6732240" y="2915652"/>
            <a:ext cx="562975" cy="369332"/>
          </a:xfrm>
          <a:prstGeom prst="rect">
            <a:avLst/>
          </a:prstGeom>
        </p:spPr>
        <p:txBody>
          <a:bodyPr wrap="none">
            <a:spAutoFit/>
          </a:bodyPr>
          <a:lstStyle/>
          <a:p>
            <a:r>
              <a:rPr lang="nl-NL" b="1" dirty="0" smtClean="0"/>
              <a:t>¬Ab</a:t>
            </a:r>
            <a:endParaRPr lang="nl-NL" dirty="0"/>
          </a:p>
        </p:txBody>
      </p:sp>
      <p:sp>
        <p:nvSpPr>
          <p:cNvPr id="82" name="Oval 81"/>
          <p:cNvSpPr/>
          <p:nvPr/>
        </p:nvSpPr>
        <p:spPr>
          <a:xfrm>
            <a:off x="6660232" y="37170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tangle 82"/>
          <p:cNvSpPr/>
          <p:nvPr/>
        </p:nvSpPr>
        <p:spPr>
          <a:xfrm>
            <a:off x="6212674" y="3573016"/>
            <a:ext cx="447558" cy="369332"/>
          </a:xfrm>
          <a:prstGeom prst="rect">
            <a:avLst/>
          </a:prstGeom>
        </p:spPr>
        <p:txBody>
          <a:bodyPr wrap="none">
            <a:spAutoFit/>
          </a:bodyPr>
          <a:lstStyle/>
          <a:p>
            <a:r>
              <a:rPr lang="nl-NL" b="1" dirty="0" smtClean="0"/>
              <a:t>Ab</a:t>
            </a:r>
            <a:endParaRPr lang="nl-NL" dirty="0"/>
          </a:p>
        </p:txBody>
      </p:sp>
      <p:cxnSp>
        <p:nvCxnSpPr>
          <p:cNvPr id="84" name="Straight Connector 83"/>
          <p:cNvCxnSpPr/>
          <p:nvPr/>
        </p:nvCxnSpPr>
        <p:spPr>
          <a:xfrm flipH="1">
            <a:off x="5580112" y="386104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6732240" y="386104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550810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7" name="Oval 86"/>
          <p:cNvSpPr/>
          <p:nvPr/>
        </p:nvSpPr>
        <p:spPr>
          <a:xfrm>
            <a:off x="7812360"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tangle 87"/>
          <p:cNvSpPr/>
          <p:nvPr/>
        </p:nvSpPr>
        <p:spPr>
          <a:xfrm>
            <a:off x="5580112" y="4293096"/>
            <a:ext cx="428322" cy="369332"/>
          </a:xfrm>
          <a:prstGeom prst="rect">
            <a:avLst/>
          </a:prstGeom>
        </p:spPr>
        <p:txBody>
          <a:bodyPr wrap="none">
            <a:spAutoFit/>
          </a:bodyPr>
          <a:lstStyle/>
          <a:p>
            <a:r>
              <a:rPr lang="nl-NL" b="1" dirty="0" smtClean="0"/>
              <a:t>Ba</a:t>
            </a:r>
            <a:endParaRPr lang="nl-NL" dirty="0"/>
          </a:p>
        </p:txBody>
      </p:sp>
      <p:sp>
        <p:nvSpPr>
          <p:cNvPr id="89" name="Rectangle 88"/>
          <p:cNvSpPr/>
          <p:nvPr/>
        </p:nvSpPr>
        <p:spPr>
          <a:xfrm>
            <a:off x="7380312" y="4293096"/>
            <a:ext cx="420308" cy="369332"/>
          </a:xfrm>
          <a:prstGeom prst="rect">
            <a:avLst/>
          </a:prstGeom>
        </p:spPr>
        <p:txBody>
          <a:bodyPr wrap="none">
            <a:spAutoFit/>
          </a:bodyPr>
          <a:lstStyle/>
          <a:p>
            <a:r>
              <a:rPr lang="nl-NL" b="1" dirty="0" smtClean="0"/>
              <a:t>Ca</a:t>
            </a:r>
            <a:endParaRPr lang="nl-NL" dirty="0"/>
          </a:p>
        </p:txBody>
      </p:sp>
      <p:sp>
        <p:nvSpPr>
          <p:cNvPr id="90" name="TextBox 89"/>
          <p:cNvSpPr txBox="1"/>
          <p:nvPr/>
        </p:nvSpPr>
        <p:spPr>
          <a:xfrm>
            <a:off x="7812360" y="4284385"/>
            <a:ext cx="216024" cy="584775"/>
          </a:xfrm>
          <a:prstGeom prst="rect">
            <a:avLst/>
          </a:prstGeom>
          <a:noFill/>
        </p:spPr>
        <p:txBody>
          <a:bodyPr wrap="square" rtlCol="0">
            <a:spAutoFit/>
          </a:bodyPr>
          <a:lstStyle/>
          <a:p>
            <a:r>
              <a:rPr lang="nl-NL" sz="3200" b="1" dirty="0" smtClean="0"/>
              <a:t>+</a:t>
            </a:r>
            <a:endParaRPr lang="nl-NL" b="1" dirty="0"/>
          </a:p>
        </p:txBody>
      </p:sp>
      <p:cxnSp>
        <p:nvCxnSpPr>
          <p:cNvPr id="91" name="Straight Connector 90"/>
          <p:cNvCxnSpPr/>
          <p:nvPr/>
        </p:nvCxnSpPr>
        <p:spPr>
          <a:xfrm flipH="1">
            <a:off x="4427984"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5580112" y="458112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3" name="Rectangle 92"/>
          <p:cNvSpPr/>
          <p:nvPr/>
        </p:nvSpPr>
        <p:spPr>
          <a:xfrm>
            <a:off x="4499992" y="4941168"/>
            <a:ext cx="447558" cy="369332"/>
          </a:xfrm>
          <a:prstGeom prst="rect">
            <a:avLst/>
          </a:prstGeom>
        </p:spPr>
        <p:txBody>
          <a:bodyPr wrap="none">
            <a:spAutoFit/>
          </a:bodyPr>
          <a:lstStyle/>
          <a:p>
            <a:r>
              <a:rPr lang="nl-NL" b="1" dirty="0" smtClean="0"/>
              <a:t>Ab</a:t>
            </a:r>
            <a:endParaRPr lang="nl-NL" dirty="0"/>
          </a:p>
        </p:txBody>
      </p:sp>
      <p:sp>
        <p:nvSpPr>
          <p:cNvPr id="94" name="Rectangle 93"/>
          <p:cNvSpPr/>
          <p:nvPr/>
        </p:nvSpPr>
        <p:spPr>
          <a:xfrm>
            <a:off x="6726348" y="4941168"/>
            <a:ext cx="437940" cy="369332"/>
          </a:xfrm>
          <a:prstGeom prst="rect">
            <a:avLst/>
          </a:prstGeom>
        </p:spPr>
        <p:txBody>
          <a:bodyPr wrap="none">
            <a:spAutoFit/>
          </a:bodyPr>
          <a:lstStyle/>
          <a:p>
            <a:r>
              <a:rPr lang="nl-NL" b="1" dirty="0" err="1" smtClean="0"/>
              <a:t>Bb</a:t>
            </a:r>
            <a:endParaRPr lang="nl-NL" dirty="0"/>
          </a:p>
        </p:txBody>
      </p:sp>
      <p:sp>
        <p:nvSpPr>
          <p:cNvPr id="95" name="Oval 94"/>
          <p:cNvSpPr/>
          <p:nvPr/>
        </p:nvSpPr>
        <p:spPr>
          <a:xfrm>
            <a:off x="4355976"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6" name="Oval 95"/>
          <p:cNvSpPr/>
          <p:nvPr/>
        </p:nvSpPr>
        <p:spPr>
          <a:xfrm>
            <a:off x="6660232"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7" name="TextBox 96"/>
          <p:cNvSpPr txBox="1"/>
          <p:nvPr/>
        </p:nvSpPr>
        <p:spPr>
          <a:xfrm>
            <a:off x="4139952" y="5085184"/>
            <a:ext cx="216024" cy="584775"/>
          </a:xfrm>
          <a:prstGeom prst="rect">
            <a:avLst/>
          </a:prstGeom>
          <a:noFill/>
        </p:spPr>
        <p:txBody>
          <a:bodyPr wrap="square" rtlCol="0">
            <a:spAutoFit/>
          </a:bodyPr>
          <a:lstStyle/>
          <a:p>
            <a:r>
              <a:rPr lang="nl-NL" sz="3200" b="1" dirty="0" smtClean="0"/>
              <a:t>+</a:t>
            </a:r>
            <a:endParaRPr lang="nl-NL" b="1" dirty="0"/>
          </a:p>
        </p:txBody>
      </p:sp>
      <p:cxnSp>
        <p:nvCxnSpPr>
          <p:cNvPr id="98" name="Straight Connector 97"/>
          <p:cNvCxnSpPr/>
          <p:nvPr/>
        </p:nvCxnSpPr>
        <p:spPr>
          <a:xfrm flipH="1">
            <a:off x="5580112" y="530120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6732240" y="530120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724128" y="5661248"/>
            <a:ext cx="437940" cy="369332"/>
          </a:xfrm>
          <a:prstGeom prst="rect">
            <a:avLst/>
          </a:prstGeom>
        </p:spPr>
        <p:txBody>
          <a:bodyPr wrap="none">
            <a:spAutoFit/>
          </a:bodyPr>
          <a:lstStyle/>
          <a:p>
            <a:r>
              <a:rPr lang="nl-NL" b="1" dirty="0" err="1" smtClean="0"/>
              <a:t>Bb</a:t>
            </a:r>
            <a:endParaRPr lang="nl-NL" dirty="0"/>
          </a:p>
        </p:txBody>
      </p:sp>
      <p:sp>
        <p:nvSpPr>
          <p:cNvPr id="101" name="Rectangle 100"/>
          <p:cNvSpPr/>
          <p:nvPr/>
        </p:nvSpPr>
        <p:spPr>
          <a:xfrm>
            <a:off x="7308304" y="5651956"/>
            <a:ext cx="429926" cy="369332"/>
          </a:xfrm>
          <a:prstGeom prst="rect">
            <a:avLst/>
          </a:prstGeom>
        </p:spPr>
        <p:txBody>
          <a:bodyPr wrap="none">
            <a:spAutoFit/>
          </a:bodyPr>
          <a:lstStyle/>
          <a:p>
            <a:r>
              <a:rPr lang="nl-NL" b="1" dirty="0" err="1" smtClean="0"/>
              <a:t>Cb</a:t>
            </a:r>
            <a:endParaRPr lang="nl-NL" dirty="0"/>
          </a:p>
        </p:txBody>
      </p:sp>
      <p:sp>
        <p:nvSpPr>
          <p:cNvPr id="102" name="Oval 101"/>
          <p:cNvSpPr/>
          <p:nvPr/>
        </p:nvSpPr>
        <p:spPr>
          <a:xfrm>
            <a:off x="5508104" y="58772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3" name="Oval 102"/>
          <p:cNvSpPr/>
          <p:nvPr/>
        </p:nvSpPr>
        <p:spPr>
          <a:xfrm>
            <a:off x="7884368" y="58772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Tree>
  </p:cSld>
  <p:clrMapOvr>
    <a:masterClrMapping/>
  </p:clrMapOvr>
  <p:timing>
    <p:tnLst>
      <p:par>
        <p:cTn id="1" dur="indefinite" restart="never" nodeType="tmRoot"/>
      </p:par>
    </p:tnLst>
  </p:timing>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29" name="Oval 28"/>
          <p:cNvSpPr/>
          <p:nvPr/>
        </p:nvSpPr>
        <p:spPr>
          <a:xfrm>
            <a:off x="2168340" y="177290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0" name="Rectangle 29"/>
          <p:cNvSpPr/>
          <p:nvPr/>
        </p:nvSpPr>
        <p:spPr>
          <a:xfrm>
            <a:off x="611560" y="1574884"/>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31" name="Rectangle 30"/>
          <p:cNvSpPr/>
          <p:nvPr/>
        </p:nvSpPr>
        <p:spPr>
          <a:xfrm>
            <a:off x="2253836" y="1574884"/>
            <a:ext cx="889987" cy="369332"/>
          </a:xfrm>
          <a:prstGeom prst="rect">
            <a:avLst/>
          </a:prstGeom>
        </p:spPr>
        <p:txBody>
          <a:bodyPr wrap="none">
            <a:spAutoFit/>
          </a:bodyPr>
          <a:lstStyle/>
          <a:p>
            <a:r>
              <a:rPr lang="nl-NL" b="1" u="sng" dirty="0" smtClean="0"/>
              <a:t>∃x ¬</a:t>
            </a:r>
            <a:r>
              <a:rPr lang="nl-NL" b="1" u="sng" dirty="0" err="1" smtClean="0"/>
              <a:t>Ax</a:t>
            </a:r>
            <a:r>
              <a:rPr lang="nl-NL" b="1" dirty="0" smtClean="0"/>
              <a:t> </a:t>
            </a:r>
            <a:endParaRPr lang="nl-NL" dirty="0"/>
          </a:p>
        </p:txBody>
      </p:sp>
      <p:sp>
        <p:nvSpPr>
          <p:cNvPr id="32" name="Rectangle 31"/>
          <p:cNvSpPr/>
          <p:nvPr/>
        </p:nvSpPr>
        <p:spPr>
          <a:xfrm>
            <a:off x="611560" y="1925632"/>
            <a:ext cx="1510735" cy="369332"/>
          </a:xfrm>
          <a:prstGeom prst="rect">
            <a:avLst/>
          </a:prstGeom>
        </p:spPr>
        <p:txBody>
          <a:bodyPr wrap="none">
            <a:spAutoFit/>
          </a:bodyPr>
          <a:lstStyle/>
          <a:p>
            <a:r>
              <a:rPr lang="nl-NL" b="1" dirty="0" smtClean="0"/>
              <a:t>  </a:t>
            </a:r>
            <a:r>
              <a:rPr lang="nl-NL" b="1" u="sng" dirty="0" smtClean="0"/>
              <a:t>∀x (</a:t>
            </a:r>
            <a:r>
              <a:rPr lang="nl-NL" b="1" u="sng" dirty="0" err="1" smtClean="0"/>
              <a:t>Bx</a:t>
            </a:r>
            <a:r>
              <a:rPr lang="nl-NL" b="1" u="sng" dirty="0" smtClean="0"/>
              <a:t> → </a:t>
            </a:r>
            <a:r>
              <a:rPr lang="nl-NL" b="1" u="sng" dirty="0" err="1" smtClean="0"/>
              <a:t>Cx</a:t>
            </a:r>
            <a:r>
              <a:rPr lang="nl-NL" b="1" u="sng" dirty="0" smtClean="0"/>
              <a:t>)</a:t>
            </a:r>
            <a:endParaRPr lang="nl-NL" u="sng" dirty="0"/>
          </a:p>
        </p:txBody>
      </p:sp>
      <p:sp>
        <p:nvSpPr>
          <p:cNvPr id="33" name="Rectangle 32"/>
          <p:cNvSpPr/>
          <p:nvPr/>
        </p:nvSpPr>
        <p:spPr>
          <a:xfrm>
            <a:off x="1547664" y="2222956"/>
            <a:ext cx="535724" cy="369332"/>
          </a:xfrm>
          <a:prstGeom prst="rect">
            <a:avLst/>
          </a:prstGeom>
        </p:spPr>
        <p:txBody>
          <a:bodyPr wrap="none">
            <a:spAutoFit/>
          </a:bodyPr>
          <a:lstStyle/>
          <a:p>
            <a:r>
              <a:rPr lang="nl-NL" b="1" dirty="0" smtClean="0"/>
              <a:t>¬Ca</a:t>
            </a:r>
            <a:endParaRPr lang="nl-NL" dirty="0"/>
          </a:p>
        </p:txBody>
      </p:sp>
      <p:cxnSp>
        <p:nvCxnSpPr>
          <p:cNvPr id="34" name="Straight Connector 33"/>
          <p:cNvCxnSpPr/>
          <p:nvPr/>
        </p:nvCxnSpPr>
        <p:spPr>
          <a:xfrm flipH="1">
            <a:off x="2195736" y="1926213"/>
            <a:ext cx="11901" cy="9541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2171789" y="293432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6" name="Straight Connector 35"/>
          <p:cNvCxnSpPr/>
          <p:nvPr/>
        </p:nvCxnSpPr>
        <p:spPr>
          <a:xfrm>
            <a:off x="2207637" y="307834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2171789" y="35823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8" name="Straight Connector 37"/>
          <p:cNvCxnSpPr/>
          <p:nvPr/>
        </p:nvCxnSpPr>
        <p:spPr>
          <a:xfrm>
            <a:off x="2207637" y="372641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2171789" y="42304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0" name="Straight Connector 39"/>
          <p:cNvCxnSpPr/>
          <p:nvPr/>
        </p:nvCxnSpPr>
        <p:spPr>
          <a:xfrm>
            <a:off x="2207637" y="438377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171789" y="488783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p:cNvSpPr/>
          <p:nvPr/>
        </p:nvSpPr>
        <p:spPr>
          <a:xfrm>
            <a:off x="1173716" y="3384376"/>
            <a:ext cx="978153" cy="369332"/>
          </a:xfrm>
          <a:prstGeom prst="rect">
            <a:avLst/>
          </a:prstGeom>
        </p:spPr>
        <p:txBody>
          <a:bodyPr wrap="none">
            <a:spAutoFit/>
          </a:bodyPr>
          <a:lstStyle/>
          <a:p>
            <a:r>
              <a:rPr lang="nl-NL" b="1" dirty="0" smtClean="0"/>
              <a:t>Ba → Ca</a:t>
            </a:r>
            <a:endParaRPr lang="nl-NL" dirty="0">
              <a:solidFill>
                <a:srgbClr val="FF0000"/>
              </a:solidFill>
            </a:endParaRPr>
          </a:p>
        </p:txBody>
      </p:sp>
      <p:sp>
        <p:nvSpPr>
          <p:cNvPr id="43" name="Rectangle 42"/>
          <p:cNvSpPr/>
          <p:nvPr/>
        </p:nvSpPr>
        <p:spPr>
          <a:xfrm>
            <a:off x="1691680" y="4743236"/>
            <a:ext cx="437940" cy="369332"/>
          </a:xfrm>
          <a:prstGeom prst="rect">
            <a:avLst/>
          </a:prstGeom>
        </p:spPr>
        <p:txBody>
          <a:bodyPr wrap="none">
            <a:spAutoFit/>
          </a:bodyPr>
          <a:lstStyle/>
          <a:p>
            <a:r>
              <a:rPr lang="nl-NL" b="1" dirty="0" smtClean="0"/>
              <a:t>Aa</a:t>
            </a:r>
            <a:endParaRPr lang="nl-NL" dirty="0"/>
          </a:p>
        </p:txBody>
      </p:sp>
      <p:sp>
        <p:nvSpPr>
          <p:cNvPr id="44" name="Rectangle 43"/>
          <p:cNvSpPr/>
          <p:nvPr/>
        </p:nvSpPr>
        <p:spPr>
          <a:xfrm>
            <a:off x="2279484" y="2736304"/>
            <a:ext cx="420308" cy="369332"/>
          </a:xfrm>
          <a:prstGeom prst="rect">
            <a:avLst/>
          </a:prstGeom>
        </p:spPr>
        <p:txBody>
          <a:bodyPr wrap="none">
            <a:spAutoFit/>
          </a:bodyPr>
          <a:lstStyle/>
          <a:p>
            <a:r>
              <a:rPr lang="nl-NL" b="1" dirty="0" smtClean="0"/>
              <a:t>Ca</a:t>
            </a:r>
            <a:endParaRPr lang="nl-NL" dirty="0"/>
          </a:p>
        </p:txBody>
      </p:sp>
      <p:sp>
        <p:nvSpPr>
          <p:cNvPr id="45" name="Rectangle 44"/>
          <p:cNvSpPr/>
          <p:nvPr/>
        </p:nvSpPr>
        <p:spPr>
          <a:xfrm>
            <a:off x="2195736" y="4104456"/>
            <a:ext cx="606256" cy="369332"/>
          </a:xfrm>
          <a:prstGeom prst="rect">
            <a:avLst/>
          </a:prstGeom>
        </p:spPr>
        <p:txBody>
          <a:bodyPr wrap="none">
            <a:spAutoFit/>
          </a:bodyPr>
          <a:lstStyle/>
          <a:p>
            <a:r>
              <a:rPr lang="nl-NL" b="1" dirty="0" smtClean="0"/>
              <a:t>¬Aa </a:t>
            </a:r>
            <a:endParaRPr lang="nl-NL" dirty="0"/>
          </a:p>
        </p:txBody>
      </p:sp>
      <p:cxnSp>
        <p:nvCxnSpPr>
          <p:cNvPr id="47" name="Straight Connector 46"/>
          <p:cNvCxnSpPr/>
          <p:nvPr/>
        </p:nvCxnSpPr>
        <p:spPr>
          <a:xfrm>
            <a:off x="2195736" y="504056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160000" y="55446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tangle 48"/>
          <p:cNvSpPr/>
          <p:nvPr/>
        </p:nvSpPr>
        <p:spPr>
          <a:xfrm>
            <a:off x="2195736" y="5400600"/>
            <a:ext cx="1400127"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cxnSp>
        <p:nvCxnSpPr>
          <p:cNvPr id="50" name="Straight Connector 49"/>
          <p:cNvCxnSpPr/>
          <p:nvPr/>
        </p:nvCxnSpPr>
        <p:spPr>
          <a:xfrm>
            <a:off x="2195736" y="56886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160000" y="61926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Rectangle 51"/>
          <p:cNvSpPr/>
          <p:nvPr/>
        </p:nvSpPr>
        <p:spPr>
          <a:xfrm>
            <a:off x="2195736" y="6011996"/>
            <a:ext cx="939681" cy="369332"/>
          </a:xfrm>
          <a:prstGeom prst="rect">
            <a:avLst/>
          </a:prstGeom>
        </p:spPr>
        <p:txBody>
          <a:bodyPr wrap="none">
            <a:spAutoFit/>
          </a:bodyPr>
          <a:lstStyle/>
          <a:p>
            <a:r>
              <a:rPr lang="nl-NL" b="1" dirty="0" smtClean="0">
                <a:solidFill>
                  <a:srgbClr val="00B050"/>
                </a:solidFill>
              </a:rPr>
              <a:t>Ab ∧ </a:t>
            </a:r>
            <a:r>
              <a:rPr lang="nl-NL" b="1" dirty="0" err="1" smtClean="0">
                <a:solidFill>
                  <a:srgbClr val="00B050"/>
                </a:solidFill>
              </a:rPr>
              <a:t>Bb</a:t>
            </a:r>
            <a:endParaRPr lang="nl-NL" dirty="0">
              <a:solidFill>
                <a:srgbClr val="00B050"/>
              </a:solidFill>
            </a:endParaRPr>
          </a:p>
        </p:txBody>
      </p:sp>
      <p:sp>
        <p:nvSpPr>
          <p:cNvPr id="46" name="Oval 45"/>
          <p:cNvSpPr/>
          <p:nvPr/>
        </p:nvSpPr>
        <p:spPr>
          <a:xfrm>
            <a:off x="6660232" y="17728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6696000" y="1916832"/>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6732240" y="1556792"/>
            <a:ext cx="939681" cy="369332"/>
          </a:xfrm>
          <a:prstGeom prst="rect">
            <a:avLst/>
          </a:prstGeom>
        </p:spPr>
        <p:txBody>
          <a:bodyPr wrap="none">
            <a:spAutoFit/>
          </a:bodyPr>
          <a:lstStyle/>
          <a:p>
            <a:r>
              <a:rPr lang="nl-NL" b="1" dirty="0" smtClean="0">
                <a:solidFill>
                  <a:srgbClr val="00B050"/>
                </a:solidFill>
              </a:rPr>
              <a:t>Ab ∧ </a:t>
            </a:r>
            <a:r>
              <a:rPr lang="nl-NL" b="1" dirty="0" err="1" smtClean="0">
                <a:solidFill>
                  <a:srgbClr val="00B050"/>
                </a:solidFill>
              </a:rPr>
              <a:t>Bb</a:t>
            </a:r>
            <a:endParaRPr lang="nl-NL" dirty="0">
              <a:solidFill>
                <a:srgbClr val="00B050"/>
              </a:solidFill>
            </a:endParaRPr>
          </a:p>
        </p:txBody>
      </p:sp>
      <p:sp>
        <p:nvSpPr>
          <p:cNvPr id="72" name="Oval 71"/>
          <p:cNvSpPr/>
          <p:nvPr/>
        </p:nvSpPr>
        <p:spPr>
          <a:xfrm>
            <a:off x="6660232" y="24208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Rectangle 72"/>
          <p:cNvSpPr/>
          <p:nvPr/>
        </p:nvSpPr>
        <p:spPr>
          <a:xfrm>
            <a:off x="5682079" y="2276872"/>
            <a:ext cx="997389" cy="369332"/>
          </a:xfrm>
          <a:prstGeom prst="rect">
            <a:avLst/>
          </a:prstGeom>
        </p:spPr>
        <p:txBody>
          <a:bodyPr wrap="none">
            <a:spAutoFit/>
          </a:bodyPr>
          <a:lstStyle/>
          <a:p>
            <a:r>
              <a:rPr lang="nl-NL" b="1" dirty="0" err="1" smtClean="0"/>
              <a:t>Bb</a:t>
            </a:r>
            <a:r>
              <a:rPr lang="nl-NL" b="1" dirty="0" smtClean="0"/>
              <a:t> → </a:t>
            </a:r>
            <a:r>
              <a:rPr lang="nl-NL" b="1" dirty="0" err="1" smtClean="0"/>
              <a:t>Cb</a:t>
            </a:r>
            <a:endParaRPr lang="nl-NL" dirty="0"/>
          </a:p>
        </p:txBody>
      </p:sp>
      <p:cxnSp>
        <p:nvCxnSpPr>
          <p:cNvPr id="74" name="Straight Connector 73"/>
          <p:cNvCxnSpPr/>
          <p:nvPr/>
        </p:nvCxnSpPr>
        <p:spPr>
          <a:xfrm>
            <a:off x="6696000" y="2564904"/>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6660232"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9" name="Straight Connector 78"/>
          <p:cNvCxnSpPr/>
          <p:nvPr/>
        </p:nvCxnSpPr>
        <p:spPr>
          <a:xfrm>
            <a:off x="6696000" y="3212976"/>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81" name="Rectangle 80"/>
          <p:cNvSpPr/>
          <p:nvPr/>
        </p:nvSpPr>
        <p:spPr>
          <a:xfrm>
            <a:off x="6732240" y="2915652"/>
            <a:ext cx="562975" cy="369332"/>
          </a:xfrm>
          <a:prstGeom prst="rect">
            <a:avLst/>
          </a:prstGeom>
        </p:spPr>
        <p:txBody>
          <a:bodyPr wrap="none">
            <a:spAutoFit/>
          </a:bodyPr>
          <a:lstStyle/>
          <a:p>
            <a:r>
              <a:rPr lang="nl-NL" b="1" dirty="0" smtClean="0"/>
              <a:t>¬Ab</a:t>
            </a:r>
            <a:endParaRPr lang="nl-NL" dirty="0"/>
          </a:p>
        </p:txBody>
      </p:sp>
      <p:sp>
        <p:nvSpPr>
          <p:cNvPr id="82" name="Oval 81"/>
          <p:cNvSpPr/>
          <p:nvPr/>
        </p:nvSpPr>
        <p:spPr>
          <a:xfrm>
            <a:off x="6660232" y="37170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tangle 82"/>
          <p:cNvSpPr/>
          <p:nvPr/>
        </p:nvSpPr>
        <p:spPr>
          <a:xfrm>
            <a:off x="6212674" y="3573016"/>
            <a:ext cx="447558" cy="369332"/>
          </a:xfrm>
          <a:prstGeom prst="rect">
            <a:avLst/>
          </a:prstGeom>
        </p:spPr>
        <p:txBody>
          <a:bodyPr wrap="none">
            <a:spAutoFit/>
          </a:bodyPr>
          <a:lstStyle/>
          <a:p>
            <a:r>
              <a:rPr lang="nl-NL" b="1" dirty="0" smtClean="0"/>
              <a:t>Ab</a:t>
            </a:r>
            <a:endParaRPr lang="nl-NL" dirty="0"/>
          </a:p>
        </p:txBody>
      </p:sp>
      <p:cxnSp>
        <p:nvCxnSpPr>
          <p:cNvPr id="84" name="Straight Connector 83"/>
          <p:cNvCxnSpPr/>
          <p:nvPr/>
        </p:nvCxnSpPr>
        <p:spPr>
          <a:xfrm flipH="1">
            <a:off x="5580112" y="3861048"/>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6732240" y="386104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550810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7" name="Oval 86"/>
          <p:cNvSpPr/>
          <p:nvPr/>
        </p:nvSpPr>
        <p:spPr>
          <a:xfrm>
            <a:off x="7812360"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tangle 87"/>
          <p:cNvSpPr/>
          <p:nvPr/>
        </p:nvSpPr>
        <p:spPr>
          <a:xfrm>
            <a:off x="5580112" y="4293096"/>
            <a:ext cx="428322" cy="369332"/>
          </a:xfrm>
          <a:prstGeom prst="rect">
            <a:avLst/>
          </a:prstGeom>
        </p:spPr>
        <p:txBody>
          <a:bodyPr wrap="none">
            <a:spAutoFit/>
          </a:bodyPr>
          <a:lstStyle/>
          <a:p>
            <a:r>
              <a:rPr lang="nl-NL" b="1" dirty="0" smtClean="0"/>
              <a:t>Ba</a:t>
            </a:r>
            <a:endParaRPr lang="nl-NL" dirty="0"/>
          </a:p>
        </p:txBody>
      </p:sp>
      <p:sp>
        <p:nvSpPr>
          <p:cNvPr id="89" name="Rectangle 88"/>
          <p:cNvSpPr/>
          <p:nvPr/>
        </p:nvSpPr>
        <p:spPr>
          <a:xfrm>
            <a:off x="7380312" y="4293096"/>
            <a:ext cx="420308" cy="369332"/>
          </a:xfrm>
          <a:prstGeom prst="rect">
            <a:avLst/>
          </a:prstGeom>
        </p:spPr>
        <p:txBody>
          <a:bodyPr wrap="none">
            <a:spAutoFit/>
          </a:bodyPr>
          <a:lstStyle/>
          <a:p>
            <a:r>
              <a:rPr lang="nl-NL" b="1" dirty="0" smtClean="0"/>
              <a:t>Ca</a:t>
            </a:r>
            <a:endParaRPr lang="nl-NL" dirty="0"/>
          </a:p>
        </p:txBody>
      </p:sp>
      <p:sp>
        <p:nvSpPr>
          <p:cNvPr id="90" name="TextBox 89"/>
          <p:cNvSpPr txBox="1"/>
          <p:nvPr/>
        </p:nvSpPr>
        <p:spPr>
          <a:xfrm>
            <a:off x="7812360" y="4284385"/>
            <a:ext cx="216024" cy="584775"/>
          </a:xfrm>
          <a:prstGeom prst="rect">
            <a:avLst/>
          </a:prstGeom>
          <a:noFill/>
        </p:spPr>
        <p:txBody>
          <a:bodyPr wrap="square" rtlCol="0">
            <a:spAutoFit/>
          </a:bodyPr>
          <a:lstStyle/>
          <a:p>
            <a:r>
              <a:rPr lang="nl-NL" sz="3200" b="1" dirty="0" smtClean="0"/>
              <a:t>+</a:t>
            </a:r>
            <a:endParaRPr lang="nl-NL" b="1" dirty="0"/>
          </a:p>
        </p:txBody>
      </p:sp>
      <p:cxnSp>
        <p:nvCxnSpPr>
          <p:cNvPr id="91" name="Straight Connector 90"/>
          <p:cNvCxnSpPr/>
          <p:nvPr/>
        </p:nvCxnSpPr>
        <p:spPr>
          <a:xfrm flipH="1">
            <a:off x="4427984"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5580112" y="4581128"/>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93" name="Rectangle 92"/>
          <p:cNvSpPr/>
          <p:nvPr/>
        </p:nvSpPr>
        <p:spPr>
          <a:xfrm>
            <a:off x="4499992" y="4941168"/>
            <a:ext cx="447558" cy="369332"/>
          </a:xfrm>
          <a:prstGeom prst="rect">
            <a:avLst/>
          </a:prstGeom>
        </p:spPr>
        <p:txBody>
          <a:bodyPr wrap="none">
            <a:spAutoFit/>
          </a:bodyPr>
          <a:lstStyle/>
          <a:p>
            <a:r>
              <a:rPr lang="nl-NL" b="1" dirty="0" smtClean="0"/>
              <a:t>Ab</a:t>
            </a:r>
            <a:endParaRPr lang="nl-NL" dirty="0"/>
          </a:p>
        </p:txBody>
      </p:sp>
      <p:sp>
        <p:nvSpPr>
          <p:cNvPr id="94" name="Rectangle 93"/>
          <p:cNvSpPr/>
          <p:nvPr/>
        </p:nvSpPr>
        <p:spPr>
          <a:xfrm>
            <a:off x="6726348" y="4941168"/>
            <a:ext cx="437940" cy="369332"/>
          </a:xfrm>
          <a:prstGeom prst="rect">
            <a:avLst/>
          </a:prstGeom>
        </p:spPr>
        <p:txBody>
          <a:bodyPr wrap="none">
            <a:spAutoFit/>
          </a:bodyPr>
          <a:lstStyle/>
          <a:p>
            <a:r>
              <a:rPr lang="nl-NL" b="1" dirty="0" err="1" smtClean="0"/>
              <a:t>Bb</a:t>
            </a:r>
            <a:endParaRPr lang="nl-NL" dirty="0"/>
          </a:p>
        </p:txBody>
      </p:sp>
      <p:sp>
        <p:nvSpPr>
          <p:cNvPr id="95" name="Oval 94"/>
          <p:cNvSpPr/>
          <p:nvPr/>
        </p:nvSpPr>
        <p:spPr>
          <a:xfrm>
            <a:off x="4355976"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6" name="Oval 95"/>
          <p:cNvSpPr/>
          <p:nvPr/>
        </p:nvSpPr>
        <p:spPr>
          <a:xfrm>
            <a:off x="6660232"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7" name="TextBox 96"/>
          <p:cNvSpPr txBox="1"/>
          <p:nvPr/>
        </p:nvSpPr>
        <p:spPr>
          <a:xfrm>
            <a:off x="4139952" y="5085184"/>
            <a:ext cx="216024" cy="584775"/>
          </a:xfrm>
          <a:prstGeom prst="rect">
            <a:avLst/>
          </a:prstGeom>
          <a:noFill/>
        </p:spPr>
        <p:txBody>
          <a:bodyPr wrap="square" rtlCol="0">
            <a:spAutoFit/>
          </a:bodyPr>
          <a:lstStyle/>
          <a:p>
            <a:r>
              <a:rPr lang="nl-NL" sz="3200" b="1" dirty="0" smtClean="0"/>
              <a:t>+</a:t>
            </a:r>
            <a:endParaRPr lang="nl-NL" b="1" dirty="0"/>
          </a:p>
        </p:txBody>
      </p:sp>
      <p:cxnSp>
        <p:nvCxnSpPr>
          <p:cNvPr id="98" name="Straight Connector 97"/>
          <p:cNvCxnSpPr/>
          <p:nvPr/>
        </p:nvCxnSpPr>
        <p:spPr>
          <a:xfrm flipH="1">
            <a:off x="5580112" y="5301208"/>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6732240" y="530120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724128" y="5661248"/>
            <a:ext cx="437940" cy="369332"/>
          </a:xfrm>
          <a:prstGeom prst="rect">
            <a:avLst/>
          </a:prstGeom>
        </p:spPr>
        <p:txBody>
          <a:bodyPr wrap="none">
            <a:spAutoFit/>
          </a:bodyPr>
          <a:lstStyle/>
          <a:p>
            <a:r>
              <a:rPr lang="nl-NL" b="1" dirty="0" err="1" smtClean="0"/>
              <a:t>Bb</a:t>
            </a:r>
            <a:endParaRPr lang="nl-NL" dirty="0"/>
          </a:p>
        </p:txBody>
      </p:sp>
      <p:sp>
        <p:nvSpPr>
          <p:cNvPr id="101" name="Rectangle 100"/>
          <p:cNvSpPr/>
          <p:nvPr/>
        </p:nvSpPr>
        <p:spPr>
          <a:xfrm>
            <a:off x="7308304" y="5651956"/>
            <a:ext cx="429926" cy="369332"/>
          </a:xfrm>
          <a:prstGeom prst="rect">
            <a:avLst/>
          </a:prstGeom>
        </p:spPr>
        <p:txBody>
          <a:bodyPr wrap="none">
            <a:spAutoFit/>
          </a:bodyPr>
          <a:lstStyle/>
          <a:p>
            <a:r>
              <a:rPr lang="nl-NL" b="1" dirty="0" err="1" smtClean="0"/>
              <a:t>Cb</a:t>
            </a:r>
            <a:endParaRPr lang="nl-NL" dirty="0"/>
          </a:p>
        </p:txBody>
      </p:sp>
      <p:sp>
        <p:nvSpPr>
          <p:cNvPr id="102" name="Oval 101"/>
          <p:cNvSpPr/>
          <p:nvPr/>
        </p:nvSpPr>
        <p:spPr>
          <a:xfrm>
            <a:off x="5508104" y="58772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3" name="Oval 102"/>
          <p:cNvSpPr/>
          <p:nvPr/>
        </p:nvSpPr>
        <p:spPr>
          <a:xfrm>
            <a:off x="7884368" y="58772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9" name="TextBox 58"/>
          <p:cNvSpPr txBox="1"/>
          <p:nvPr/>
        </p:nvSpPr>
        <p:spPr>
          <a:xfrm>
            <a:off x="3779912" y="6106070"/>
            <a:ext cx="5364088" cy="646331"/>
          </a:xfrm>
          <a:prstGeom prst="rect">
            <a:avLst/>
          </a:prstGeom>
          <a:noFill/>
        </p:spPr>
        <p:txBody>
          <a:bodyPr wrap="square" rtlCol="0">
            <a:spAutoFit/>
          </a:bodyPr>
          <a:lstStyle/>
          <a:p>
            <a:r>
              <a:rPr lang="nl-NL" dirty="0" smtClean="0">
                <a:solidFill>
                  <a:srgbClr val="C00000"/>
                </a:solidFill>
              </a:rPr>
              <a:t>Redenering semantisch ongeldig. Tegenvoorbeeld is D={a,b} met Aa &amp; Ab waar. En met Ba, </a:t>
            </a:r>
            <a:r>
              <a:rPr lang="nl-NL" dirty="0" err="1" smtClean="0">
                <a:solidFill>
                  <a:srgbClr val="C00000"/>
                </a:solidFill>
              </a:rPr>
              <a:t>Bb</a:t>
            </a:r>
            <a:r>
              <a:rPr lang="nl-NL" dirty="0" smtClean="0">
                <a:solidFill>
                  <a:srgbClr val="C00000"/>
                </a:solidFill>
              </a:rPr>
              <a:t> &amp; Ca onwaar. </a:t>
            </a:r>
            <a:endParaRPr lang="nl-NL" dirty="0">
              <a:solidFill>
                <a:srgbClr val="C00000"/>
              </a:solidFill>
            </a:endParaRPr>
          </a:p>
        </p:txBody>
      </p:sp>
    </p:spTree>
  </p:cSld>
  <p:clrMapOvr>
    <a:masterClrMapping/>
  </p:clrMapOvr>
  <p:timing>
    <p:tnLst>
      <p:par>
        <p:cTn id="1" dur="indefinite" restart="never" nodeType="tmRoot"/>
      </p:par>
    </p:tnLst>
  </p:timing>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a:t>
            </a:r>
            <a:endParaRPr lang="nl-NL" sz="3200" dirty="0"/>
          </a:p>
        </p:txBody>
      </p:sp>
      <p:sp>
        <p:nvSpPr>
          <p:cNvPr id="29" name="Oval 28"/>
          <p:cNvSpPr/>
          <p:nvPr/>
        </p:nvSpPr>
        <p:spPr>
          <a:xfrm>
            <a:off x="2168340" y="177290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0" name="Rectangle 29"/>
          <p:cNvSpPr/>
          <p:nvPr/>
        </p:nvSpPr>
        <p:spPr>
          <a:xfrm>
            <a:off x="611560" y="1574884"/>
            <a:ext cx="1515543"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sp>
        <p:nvSpPr>
          <p:cNvPr id="31" name="Rectangle 30"/>
          <p:cNvSpPr/>
          <p:nvPr/>
        </p:nvSpPr>
        <p:spPr>
          <a:xfrm>
            <a:off x="2253836" y="1574884"/>
            <a:ext cx="889987" cy="369332"/>
          </a:xfrm>
          <a:prstGeom prst="rect">
            <a:avLst/>
          </a:prstGeom>
        </p:spPr>
        <p:txBody>
          <a:bodyPr wrap="none">
            <a:spAutoFit/>
          </a:bodyPr>
          <a:lstStyle/>
          <a:p>
            <a:r>
              <a:rPr lang="nl-NL" b="1" u="sng" dirty="0" smtClean="0"/>
              <a:t>∃x ¬</a:t>
            </a:r>
            <a:r>
              <a:rPr lang="nl-NL" b="1" u="sng" dirty="0" err="1" smtClean="0"/>
              <a:t>Ax</a:t>
            </a:r>
            <a:r>
              <a:rPr lang="nl-NL" b="1" dirty="0" smtClean="0"/>
              <a:t> </a:t>
            </a:r>
            <a:endParaRPr lang="nl-NL" dirty="0"/>
          </a:p>
        </p:txBody>
      </p:sp>
      <p:sp>
        <p:nvSpPr>
          <p:cNvPr id="32" name="Rectangle 31"/>
          <p:cNvSpPr/>
          <p:nvPr/>
        </p:nvSpPr>
        <p:spPr>
          <a:xfrm>
            <a:off x="611560" y="1925632"/>
            <a:ext cx="1510735" cy="369332"/>
          </a:xfrm>
          <a:prstGeom prst="rect">
            <a:avLst/>
          </a:prstGeom>
        </p:spPr>
        <p:txBody>
          <a:bodyPr wrap="none">
            <a:spAutoFit/>
          </a:bodyPr>
          <a:lstStyle/>
          <a:p>
            <a:r>
              <a:rPr lang="nl-NL" b="1" dirty="0" smtClean="0"/>
              <a:t>  </a:t>
            </a:r>
            <a:r>
              <a:rPr lang="nl-NL" b="1" u="sng" dirty="0" smtClean="0"/>
              <a:t>∀x (</a:t>
            </a:r>
            <a:r>
              <a:rPr lang="nl-NL" b="1" u="sng" dirty="0" err="1" smtClean="0"/>
              <a:t>Bx</a:t>
            </a:r>
            <a:r>
              <a:rPr lang="nl-NL" b="1" u="sng" dirty="0" smtClean="0"/>
              <a:t> → </a:t>
            </a:r>
            <a:r>
              <a:rPr lang="nl-NL" b="1" u="sng" dirty="0" err="1" smtClean="0"/>
              <a:t>Cx</a:t>
            </a:r>
            <a:r>
              <a:rPr lang="nl-NL" b="1" u="sng" dirty="0" smtClean="0"/>
              <a:t>)</a:t>
            </a:r>
            <a:endParaRPr lang="nl-NL" u="sng" dirty="0"/>
          </a:p>
        </p:txBody>
      </p:sp>
      <p:sp>
        <p:nvSpPr>
          <p:cNvPr id="33" name="Rectangle 32"/>
          <p:cNvSpPr/>
          <p:nvPr/>
        </p:nvSpPr>
        <p:spPr>
          <a:xfrm>
            <a:off x="1547664" y="2222956"/>
            <a:ext cx="535724" cy="369332"/>
          </a:xfrm>
          <a:prstGeom prst="rect">
            <a:avLst/>
          </a:prstGeom>
        </p:spPr>
        <p:txBody>
          <a:bodyPr wrap="none">
            <a:spAutoFit/>
          </a:bodyPr>
          <a:lstStyle/>
          <a:p>
            <a:r>
              <a:rPr lang="nl-NL" b="1" dirty="0" smtClean="0"/>
              <a:t>¬Ca</a:t>
            </a:r>
            <a:endParaRPr lang="nl-NL" dirty="0"/>
          </a:p>
        </p:txBody>
      </p:sp>
      <p:cxnSp>
        <p:nvCxnSpPr>
          <p:cNvPr id="34" name="Straight Connector 33"/>
          <p:cNvCxnSpPr/>
          <p:nvPr/>
        </p:nvCxnSpPr>
        <p:spPr>
          <a:xfrm flipH="1">
            <a:off x="2195736" y="1926213"/>
            <a:ext cx="11901" cy="9541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2171789" y="293432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6" name="Straight Connector 35"/>
          <p:cNvCxnSpPr/>
          <p:nvPr/>
        </p:nvCxnSpPr>
        <p:spPr>
          <a:xfrm>
            <a:off x="2207637" y="307834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2171789" y="35823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8" name="Straight Connector 37"/>
          <p:cNvCxnSpPr/>
          <p:nvPr/>
        </p:nvCxnSpPr>
        <p:spPr>
          <a:xfrm>
            <a:off x="2207637" y="372641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2171789" y="42304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0" name="Straight Connector 39"/>
          <p:cNvCxnSpPr/>
          <p:nvPr/>
        </p:nvCxnSpPr>
        <p:spPr>
          <a:xfrm>
            <a:off x="2207637" y="438377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171789" y="488783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p:cNvSpPr/>
          <p:nvPr/>
        </p:nvSpPr>
        <p:spPr>
          <a:xfrm>
            <a:off x="1173716" y="3384376"/>
            <a:ext cx="978153" cy="369332"/>
          </a:xfrm>
          <a:prstGeom prst="rect">
            <a:avLst/>
          </a:prstGeom>
        </p:spPr>
        <p:txBody>
          <a:bodyPr wrap="none">
            <a:spAutoFit/>
          </a:bodyPr>
          <a:lstStyle/>
          <a:p>
            <a:r>
              <a:rPr lang="nl-NL" b="1" dirty="0" smtClean="0"/>
              <a:t>Ba → Ca</a:t>
            </a:r>
            <a:endParaRPr lang="nl-NL" dirty="0">
              <a:solidFill>
                <a:srgbClr val="FF0000"/>
              </a:solidFill>
            </a:endParaRPr>
          </a:p>
        </p:txBody>
      </p:sp>
      <p:sp>
        <p:nvSpPr>
          <p:cNvPr id="43" name="Rectangle 42"/>
          <p:cNvSpPr/>
          <p:nvPr/>
        </p:nvSpPr>
        <p:spPr>
          <a:xfrm>
            <a:off x="1691680" y="4743236"/>
            <a:ext cx="437940" cy="369332"/>
          </a:xfrm>
          <a:prstGeom prst="rect">
            <a:avLst/>
          </a:prstGeom>
        </p:spPr>
        <p:txBody>
          <a:bodyPr wrap="none">
            <a:spAutoFit/>
          </a:bodyPr>
          <a:lstStyle/>
          <a:p>
            <a:r>
              <a:rPr lang="nl-NL" b="1" dirty="0" smtClean="0"/>
              <a:t>Aa</a:t>
            </a:r>
            <a:endParaRPr lang="nl-NL" dirty="0"/>
          </a:p>
        </p:txBody>
      </p:sp>
      <p:sp>
        <p:nvSpPr>
          <p:cNvPr id="44" name="Rectangle 43"/>
          <p:cNvSpPr/>
          <p:nvPr/>
        </p:nvSpPr>
        <p:spPr>
          <a:xfrm>
            <a:off x="2279484" y="2736304"/>
            <a:ext cx="420308" cy="369332"/>
          </a:xfrm>
          <a:prstGeom prst="rect">
            <a:avLst/>
          </a:prstGeom>
        </p:spPr>
        <p:txBody>
          <a:bodyPr wrap="none">
            <a:spAutoFit/>
          </a:bodyPr>
          <a:lstStyle/>
          <a:p>
            <a:r>
              <a:rPr lang="nl-NL" b="1" dirty="0" smtClean="0"/>
              <a:t>Ca</a:t>
            </a:r>
            <a:endParaRPr lang="nl-NL" dirty="0"/>
          </a:p>
        </p:txBody>
      </p:sp>
      <p:sp>
        <p:nvSpPr>
          <p:cNvPr id="45" name="Rectangle 44"/>
          <p:cNvSpPr/>
          <p:nvPr/>
        </p:nvSpPr>
        <p:spPr>
          <a:xfrm>
            <a:off x="2195736" y="4104456"/>
            <a:ext cx="606256" cy="369332"/>
          </a:xfrm>
          <a:prstGeom prst="rect">
            <a:avLst/>
          </a:prstGeom>
        </p:spPr>
        <p:txBody>
          <a:bodyPr wrap="none">
            <a:spAutoFit/>
          </a:bodyPr>
          <a:lstStyle/>
          <a:p>
            <a:r>
              <a:rPr lang="nl-NL" b="1" dirty="0" smtClean="0"/>
              <a:t>¬Aa </a:t>
            </a:r>
            <a:endParaRPr lang="nl-NL" dirty="0"/>
          </a:p>
        </p:txBody>
      </p:sp>
      <p:cxnSp>
        <p:nvCxnSpPr>
          <p:cNvPr id="47" name="Straight Connector 46"/>
          <p:cNvCxnSpPr/>
          <p:nvPr/>
        </p:nvCxnSpPr>
        <p:spPr>
          <a:xfrm>
            <a:off x="2195736" y="504056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160000" y="55446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9" name="Rectangle 48"/>
          <p:cNvSpPr/>
          <p:nvPr/>
        </p:nvSpPr>
        <p:spPr>
          <a:xfrm>
            <a:off x="2195736" y="5400600"/>
            <a:ext cx="1400127" cy="369332"/>
          </a:xfrm>
          <a:prstGeom prst="rect">
            <a:avLst/>
          </a:prstGeom>
        </p:spPr>
        <p:txBody>
          <a:bodyPr wrap="none">
            <a:spAutoFit/>
          </a:bodyPr>
          <a:lstStyle/>
          <a:p>
            <a:r>
              <a:rPr lang="nl-NL" b="1" dirty="0" smtClean="0"/>
              <a:t>∀x (</a:t>
            </a:r>
            <a:r>
              <a:rPr lang="nl-NL" b="1" dirty="0" err="1" smtClean="0"/>
              <a:t>Ax</a:t>
            </a:r>
            <a:r>
              <a:rPr lang="nl-NL" b="1" dirty="0" smtClean="0"/>
              <a:t> ∧ </a:t>
            </a:r>
            <a:r>
              <a:rPr lang="nl-NL" b="1" dirty="0" err="1" smtClean="0"/>
              <a:t>Bx</a:t>
            </a:r>
            <a:r>
              <a:rPr lang="nl-NL" b="1" dirty="0" smtClean="0"/>
              <a:t>) </a:t>
            </a:r>
            <a:endParaRPr lang="nl-NL" dirty="0"/>
          </a:p>
        </p:txBody>
      </p:sp>
      <p:cxnSp>
        <p:nvCxnSpPr>
          <p:cNvPr id="50" name="Straight Connector 49"/>
          <p:cNvCxnSpPr/>
          <p:nvPr/>
        </p:nvCxnSpPr>
        <p:spPr>
          <a:xfrm>
            <a:off x="2195736" y="56886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160000" y="61926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Rectangle 51"/>
          <p:cNvSpPr/>
          <p:nvPr/>
        </p:nvSpPr>
        <p:spPr>
          <a:xfrm>
            <a:off x="2195736" y="6011996"/>
            <a:ext cx="939681" cy="369332"/>
          </a:xfrm>
          <a:prstGeom prst="rect">
            <a:avLst/>
          </a:prstGeom>
        </p:spPr>
        <p:txBody>
          <a:bodyPr wrap="none">
            <a:spAutoFit/>
          </a:bodyPr>
          <a:lstStyle/>
          <a:p>
            <a:r>
              <a:rPr lang="nl-NL" b="1" dirty="0" smtClean="0">
                <a:solidFill>
                  <a:srgbClr val="00B050"/>
                </a:solidFill>
              </a:rPr>
              <a:t>Ab ∧ </a:t>
            </a:r>
            <a:r>
              <a:rPr lang="nl-NL" b="1" dirty="0" err="1" smtClean="0">
                <a:solidFill>
                  <a:srgbClr val="00B050"/>
                </a:solidFill>
              </a:rPr>
              <a:t>Bb</a:t>
            </a:r>
            <a:endParaRPr lang="nl-NL" dirty="0">
              <a:solidFill>
                <a:srgbClr val="00B050"/>
              </a:solidFill>
            </a:endParaRPr>
          </a:p>
        </p:txBody>
      </p:sp>
      <p:sp>
        <p:nvSpPr>
          <p:cNvPr id="46" name="Oval 45"/>
          <p:cNvSpPr/>
          <p:nvPr/>
        </p:nvSpPr>
        <p:spPr>
          <a:xfrm>
            <a:off x="6660232" y="17728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7" name="Straight Connector 56"/>
          <p:cNvCxnSpPr/>
          <p:nvPr/>
        </p:nvCxnSpPr>
        <p:spPr>
          <a:xfrm>
            <a:off x="6696000" y="1916832"/>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6732240" y="1556792"/>
            <a:ext cx="939681" cy="369332"/>
          </a:xfrm>
          <a:prstGeom prst="rect">
            <a:avLst/>
          </a:prstGeom>
        </p:spPr>
        <p:txBody>
          <a:bodyPr wrap="none">
            <a:spAutoFit/>
          </a:bodyPr>
          <a:lstStyle/>
          <a:p>
            <a:r>
              <a:rPr lang="nl-NL" b="1" dirty="0" smtClean="0">
                <a:solidFill>
                  <a:srgbClr val="00B050"/>
                </a:solidFill>
              </a:rPr>
              <a:t>Ab ∧ </a:t>
            </a:r>
            <a:r>
              <a:rPr lang="nl-NL" b="1" dirty="0" err="1" smtClean="0">
                <a:solidFill>
                  <a:srgbClr val="00B050"/>
                </a:solidFill>
              </a:rPr>
              <a:t>Bb</a:t>
            </a:r>
            <a:endParaRPr lang="nl-NL" dirty="0">
              <a:solidFill>
                <a:srgbClr val="00B050"/>
              </a:solidFill>
            </a:endParaRPr>
          </a:p>
        </p:txBody>
      </p:sp>
      <p:sp>
        <p:nvSpPr>
          <p:cNvPr id="72" name="Oval 71"/>
          <p:cNvSpPr/>
          <p:nvPr/>
        </p:nvSpPr>
        <p:spPr>
          <a:xfrm>
            <a:off x="6660232" y="24208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Rectangle 72"/>
          <p:cNvSpPr/>
          <p:nvPr/>
        </p:nvSpPr>
        <p:spPr>
          <a:xfrm>
            <a:off x="5682079" y="2276872"/>
            <a:ext cx="997389" cy="369332"/>
          </a:xfrm>
          <a:prstGeom prst="rect">
            <a:avLst/>
          </a:prstGeom>
        </p:spPr>
        <p:txBody>
          <a:bodyPr wrap="none">
            <a:spAutoFit/>
          </a:bodyPr>
          <a:lstStyle/>
          <a:p>
            <a:r>
              <a:rPr lang="nl-NL" b="1" dirty="0" err="1" smtClean="0"/>
              <a:t>Bb</a:t>
            </a:r>
            <a:r>
              <a:rPr lang="nl-NL" b="1" dirty="0" smtClean="0"/>
              <a:t> → </a:t>
            </a:r>
            <a:r>
              <a:rPr lang="nl-NL" b="1" dirty="0" err="1" smtClean="0"/>
              <a:t>Cb</a:t>
            </a:r>
            <a:endParaRPr lang="nl-NL" dirty="0"/>
          </a:p>
        </p:txBody>
      </p:sp>
      <p:cxnSp>
        <p:nvCxnSpPr>
          <p:cNvPr id="74" name="Straight Connector 73"/>
          <p:cNvCxnSpPr/>
          <p:nvPr/>
        </p:nvCxnSpPr>
        <p:spPr>
          <a:xfrm>
            <a:off x="6696000" y="2564904"/>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6660232"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9" name="Straight Connector 78"/>
          <p:cNvCxnSpPr/>
          <p:nvPr/>
        </p:nvCxnSpPr>
        <p:spPr>
          <a:xfrm>
            <a:off x="6696000" y="3212976"/>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81" name="Rectangle 80"/>
          <p:cNvSpPr/>
          <p:nvPr/>
        </p:nvSpPr>
        <p:spPr>
          <a:xfrm>
            <a:off x="6732240" y="2915652"/>
            <a:ext cx="562975" cy="369332"/>
          </a:xfrm>
          <a:prstGeom prst="rect">
            <a:avLst/>
          </a:prstGeom>
        </p:spPr>
        <p:txBody>
          <a:bodyPr wrap="none">
            <a:spAutoFit/>
          </a:bodyPr>
          <a:lstStyle/>
          <a:p>
            <a:r>
              <a:rPr lang="nl-NL" b="1" dirty="0" smtClean="0"/>
              <a:t>¬Ab</a:t>
            </a:r>
            <a:endParaRPr lang="nl-NL" dirty="0"/>
          </a:p>
        </p:txBody>
      </p:sp>
      <p:sp>
        <p:nvSpPr>
          <p:cNvPr id="82" name="Oval 81"/>
          <p:cNvSpPr/>
          <p:nvPr/>
        </p:nvSpPr>
        <p:spPr>
          <a:xfrm>
            <a:off x="6660232" y="37170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3" name="Rectangle 82"/>
          <p:cNvSpPr/>
          <p:nvPr/>
        </p:nvSpPr>
        <p:spPr>
          <a:xfrm>
            <a:off x="6212674" y="3573016"/>
            <a:ext cx="447558" cy="369332"/>
          </a:xfrm>
          <a:prstGeom prst="rect">
            <a:avLst/>
          </a:prstGeom>
        </p:spPr>
        <p:txBody>
          <a:bodyPr wrap="none">
            <a:spAutoFit/>
          </a:bodyPr>
          <a:lstStyle/>
          <a:p>
            <a:r>
              <a:rPr lang="nl-NL" b="1" dirty="0" smtClean="0"/>
              <a:t>Ab</a:t>
            </a:r>
            <a:endParaRPr lang="nl-NL" dirty="0"/>
          </a:p>
        </p:txBody>
      </p:sp>
      <p:cxnSp>
        <p:nvCxnSpPr>
          <p:cNvPr id="84" name="Straight Connector 83"/>
          <p:cNvCxnSpPr/>
          <p:nvPr/>
        </p:nvCxnSpPr>
        <p:spPr>
          <a:xfrm flipH="1">
            <a:off x="5580112" y="3861048"/>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6732240" y="386104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550810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7" name="Oval 86"/>
          <p:cNvSpPr/>
          <p:nvPr/>
        </p:nvSpPr>
        <p:spPr>
          <a:xfrm>
            <a:off x="7812360"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88" name="Rectangle 87"/>
          <p:cNvSpPr/>
          <p:nvPr/>
        </p:nvSpPr>
        <p:spPr>
          <a:xfrm>
            <a:off x="5580112" y="4293096"/>
            <a:ext cx="428322" cy="369332"/>
          </a:xfrm>
          <a:prstGeom prst="rect">
            <a:avLst/>
          </a:prstGeom>
        </p:spPr>
        <p:txBody>
          <a:bodyPr wrap="none">
            <a:spAutoFit/>
          </a:bodyPr>
          <a:lstStyle/>
          <a:p>
            <a:r>
              <a:rPr lang="nl-NL" b="1" dirty="0" smtClean="0"/>
              <a:t>Ba</a:t>
            </a:r>
            <a:endParaRPr lang="nl-NL" dirty="0"/>
          </a:p>
        </p:txBody>
      </p:sp>
      <p:sp>
        <p:nvSpPr>
          <p:cNvPr id="89" name="Rectangle 88"/>
          <p:cNvSpPr/>
          <p:nvPr/>
        </p:nvSpPr>
        <p:spPr>
          <a:xfrm>
            <a:off x="7380312" y="4293096"/>
            <a:ext cx="420308" cy="369332"/>
          </a:xfrm>
          <a:prstGeom prst="rect">
            <a:avLst/>
          </a:prstGeom>
        </p:spPr>
        <p:txBody>
          <a:bodyPr wrap="none">
            <a:spAutoFit/>
          </a:bodyPr>
          <a:lstStyle/>
          <a:p>
            <a:r>
              <a:rPr lang="nl-NL" b="1" dirty="0" smtClean="0"/>
              <a:t>Ca</a:t>
            </a:r>
            <a:endParaRPr lang="nl-NL" dirty="0"/>
          </a:p>
        </p:txBody>
      </p:sp>
      <p:sp>
        <p:nvSpPr>
          <p:cNvPr id="90" name="TextBox 89"/>
          <p:cNvSpPr txBox="1"/>
          <p:nvPr/>
        </p:nvSpPr>
        <p:spPr>
          <a:xfrm>
            <a:off x="7812360" y="4284385"/>
            <a:ext cx="216024" cy="584775"/>
          </a:xfrm>
          <a:prstGeom prst="rect">
            <a:avLst/>
          </a:prstGeom>
          <a:noFill/>
        </p:spPr>
        <p:txBody>
          <a:bodyPr wrap="square" rtlCol="0">
            <a:spAutoFit/>
          </a:bodyPr>
          <a:lstStyle/>
          <a:p>
            <a:r>
              <a:rPr lang="nl-NL" sz="3200" b="1" dirty="0" smtClean="0"/>
              <a:t>+</a:t>
            </a:r>
            <a:endParaRPr lang="nl-NL" b="1" dirty="0"/>
          </a:p>
        </p:txBody>
      </p:sp>
      <p:cxnSp>
        <p:nvCxnSpPr>
          <p:cNvPr id="91" name="Straight Connector 90"/>
          <p:cNvCxnSpPr/>
          <p:nvPr/>
        </p:nvCxnSpPr>
        <p:spPr>
          <a:xfrm flipH="1">
            <a:off x="4427984" y="458112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5580112" y="4581128"/>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93" name="Rectangle 92"/>
          <p:cNvSpPr/>
          <p:nvPr/>
        </p:nvSpPr>
        <p:spPr>
          <a:xfrm>
            <a:off x="4499992" y="4941168"/>
            <a:ext cx="447558" cy="369332"/>
          </a:xfrm>
          <a:prstGeom prst="rect">
            <a:avLst/>
          </a:prstGeom>
        </p:spPr>
        <p:txBody>
          <a:bodyPr wrap="none">
            <a:spAutoFit/>
          </a:bodyPr>
          <a:lstStyle/>
          <a:p>
            <a:r>
              <a:rPr lang="nl-NL" b="1" dirty="0" smtClean="0"/>
              <a:t>Ab</a:t>
            </a:r>
            <a:endParaRPr lang="nl-NL" dirty="0"/>
          </a:p>
        </p:txBody>
      </p:sp>
      <p:sp>
        <p:nvSpPr>
          <p:cNvPr id="94" name="Rectangle 93"/>
          <p:cNvSpPr/>
          <p:nvPr/>
        </p:nvSpPr>
        <p:spPr>
          <a:xfrm>
            <a:off x="6726348" y="4941168"/>
            <a:ext cx="437940" cy="369332"/>
          </a:xfrm>
          <a:prstGeom prst="rect">
            <a:avLst/>
          </a:prstGeom>
        </p:spPr>
        <p:txBody>
          <a:bodyPr wrap="none">
            <a:spAutoFit/>
          </a:bodyPr>
          <a:lstStyle/>
          <a:p>
            <a:r>
              <a:rPr lang="nl-NL" b="1" dirty="0" err="1" smtClean="0"/>
              <a:t>Bb</a:t>
            </a:r>
            <a:endParaRPr lang="nl-NL" dirty="0"/>
          </a:p>
        </p:txBody>
      </p:sp>
      <p:sp>
        <p:nvSpPr>
          <p:cNvPr id="95" name="Oval 94"/>
          <p:cNvSpPr/>
          <p:nvPr/>
        </p:nvSpPr>
        <p:spPr>
          <a:xfrm>
            <a:off x="4355976"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6" name="Oval 95"/>
          <p:cNvSpPr/>
          <p:nvPr/>
        </p:nvSpPr>
        <p:spPr>
          <a:xfrm>
            <a:off x="6660232"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7" name="TextBox 96"/>
          <p:cNvSpPr txBox="1"/>
          <p:nvPr/>
        </p:nvSpPr>
        <p:spPr>
          <a:xfrm>
            <a:off x="4139952" y="5085184"/>
            <a:ext cx="216024" cy="584775"/>
          </a:xfrm>
          <a:prstGeom prst="rect">
            <a:avLst/>
          </a:prstGeom>
          <a:noFill/>
        </p:spPr>
        <p:txBody>
          <a:bodyPr wrap="square" rtlCol="0">
            <a:spAutoFit/>
          </a:bodyPr>
          <a:lstStyle/>
          <a:p>
            <a:r>
              <a:rPr lang="nl-NL" sz="3200" b="1" dirty="0" smtClean="0"/>
              <a:t>+</a:t>
            </a:r>
            <a:endParaRPr lang="nl-NL" b="1" dirty="0"/>
          </a:p>
        </p:txBody>
      </p:sp>
      <p:cxnSp>
        <p:nvCxnSpPr>
          <p:cNvPr id="98" name="Straight Connector 97"/>
          <p:cNvCxnSpPr/>
          <p:nvPr/>
        </p:nvCxnSpPr>
        <p:spPr>
          <a:xfrm flipH="1">
            <a:off x="5580112" y="5301208"/>
            <a:ext cx="1080120" cy="504056"/>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6732240" y="5301208"/>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724128" y="5661248"/>
            <a:ext cx="437940" cy="369332"/>
          </a:xfrm>
          <a:prstGeom prst="rect">
            <a:avLst/>
          </a:prstGeom>
        </p:spPr>
        <p:txBody>
          <a:bodyPr wrap="none">
            <a:spAutoFit/>
          </a:bodyPr>
          <a:lstStyle/>
          <a:p>
            <a:r>
              <a:rPr lang="nl-NL" b="1" dirty="0" err="1" smtClean="0"/>
              <a:t>Bb</a:t>
            </a:r>
            <a:endParaRPr lang="nl-NL" dirty="0"/>
          </a:p>
        </p:txBody>
      </p:sp>
      <p:sp>
        <p:nvSpPr>
          <p:cNvPr id="101" name="Rectangle 100"/>
          <p:cNvSpPr/>
          <p:nvPr/>
        </p:nvSpPr>
        <p:spPr>
          <a:xfrm>
            <a:off x="7308304" y="5651956"/>
            <a:ext cx="429926" cy="369332"/>
          </a:xfrm>
          <a:prstGeom prst="rect">
            <a:avLst/>
          </a:prstGeom>
        </p:spPr>
        <p:txBody>
          <a:bodyPr wrap="none">
            <a:spAutoFit/>
          </a:bodyPr>
          <a:lstStyle/>
          <a:p>
            <a:r>
              <a:rPr lang="nl-NL" b="1" dirty="0" err="1" smtClean="0"/>
              <a:t>Cb</a:t>
            </a:r>
            <a:endParaRPr lang="nl-NL" dirty="0"/>
          </a:p>
        </p:txBody>
      </p:sp>
      <p:sp>
        <p:nvSpPr>
          <p:cNvPr id="102" name="Oval 101"/>
          <p:cNvSpPr/>
          <p:nvPr/>
        </p:nvSpPr>
        <p:spPr>
          <a:xfrm>
            <a:off x="5508104" y="58772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3" name="Oval 102"/>
          <p:cNvSpPr/>
          <p:nvPr/>
        </p:nvSpPr>
        <p:spPr>
          <a:xfrm>
            <a:off x="7884368" y="58772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9" name="TextBox 58"/>
          <p:cNvSpPr txBox="1"/>
          <p:nvPr/>
        </p:nvSpPr>
        <p:spPr>
          <a:xfrm>
            <a:off x="3779912" y="6106070"/>
            <a:ext cx="5364088" cy="646331"/>
          </a:xfrm>
          <a:prstGeom prst="rect">
            <a:avLst/>
          </a:prstGeom>
          <a:noFill/>
        </p:spPr>
        <p:txBody>
          <a:bodyPr wrap="square" rtlCol="0">
            <a:spAutoFit/>
          </a:bodyPr>
          <a:lstStyle/>
          <a:p>
            <a:r>
              <a:rPr lang="nl-NL" dirty="0" smtClean="0">
                <a:solidFill>
                  <a:srgbClr val="C00000"/>
                </a:solidFill>
              </a:rPr>
              <a:t>Dit tweede open pad levert eveneens tegenvoorbeeld: D={a,b} met Aa, Ab &amp; </a:t>
            </a:r>
            <a:r>
              <a:rPr lang="nl-NL" dirty="0" err="1" smtClean="0">
                <a:solidFill>
                  <a:srgbClr val="C00000"/>
                </a:solidFill>
              </a:rPr>
              <a:t>Cb</a:t>
            </a:r>
            <a:r>
              <a:rPr lang="nl-NL" dirty="0" smtClean="0">
                <a:solidFill>
                  <a:srgbClr val="C00000"/>
                </a:solidFill>
              </a:rPr>
              <a:t> waar. En Ba, </a:t>
            </a:r>
            <a:r>
              <a:rPr lang="nl-NL" dirty="0" err="1" smtClean="0">
                <a:solidFill>
                  <a:srgbClr val="C00000"/>
                </a:solidFill>
              </a:rPr>
              <a:t>Bb</a:t>
            </a:r>
            <a:r>
              <a:rPr lang="nl-NL" dirty="0" smtClean="0">
                <a:solidFill>
                  <a:srgbClr val="C00000"/>
                </a:solidFill>
              </a:rPr>
              <a:t> &amp; Ca onwaar. </a:t>
            </a:r>
            <a:endParaRPr lang="nl-NL" dirty="0">
              <a:solidFill>
                <a:srgbClr val="C00000"/>
              </a:solidFill>
            </a:endParaRPr>
          </a:p>
        </p:txBody>
      </p:sp>
    </p:spTree>
  </p:cSld>
  <p:clrMapOvr>
    <a:masterClrMapping/>
  </p:clrMapOvr>
  <p:timing>
    <p:tnLst>
      <p:par>
        <p:cTn id="1" dur="indefinite" restart="never" nodeType="tmRoot"/>
      </p:par>
    </p:tnLst>
  </p:timing>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Een belangrijke vuistregel voor toepassen van de semantische boommethode</a:t>
            </a:r>
            <a:endParaRPr lang="nl-NL" sz="3600" dirty="0"/>
          </a:p>
        </p:txBody>
      </p:sp>
      <p:sp>
        <p:nvSpPr>
          <p:cNvPr id="3" name="Content Placeholder 2"/>
          <p:cNvSpPr>
            <a:spLocks noGrp="1"/>
          </p:cNvSpPr>
          <p:nvPr>
            <p:ph idx="1"/>
          </p:nvPr>
        </p:nvSpPr>
        <p:spPr>
          <a:xfrm>
            <a:off x="35496" y="1484784"/>
            <a:ext cx="8686800" cy="820687"/>
          </a:xfrm>
        </p:spPr>
        <p:txBody>
          <a:bodyPr>
            <a:noAutofit/>
          </a:bodyPr>
          <a:lstStyle/>
          <a:p>
            <a:pPr>
              <a:buNone/>
            </a:pPr>
            <a:r>
              <a:rPr lang="nl-NL" sz="2000" dirty="0" smtClean="0"/>
              <a:t>      Heel in het algemeen is het raadzaam om ∃-waar en ∀-onwaar zoveel mogelijk vóór ∀-waar en ∃-onwaar toe te passen. Want dit levert een veel eenvoudigere ontwikkeling op. Laat dus de </a:t>
            </a:r>
            <a:r>
              <a:rPr lang="nl-NL" sz="2000" u="sng" dirty="0" smtClean="0"/>
              <a:t>onderstreepte formules</a:t>
            </a:r>
            <a:r>
              <a:rPr lang="nl-NL" sz="2000" dirty="0" smtClean="0"/>
              <a:t> zo lang mogelijk met rust.</a:t>
            </a:r>
          </a:p>
          <a:p>
            <a:endParaRPr lang="nl-NL" sz="2000" dirty="0" smtClean="0"/>
          </a:p>
        </p:txBody>
      </p:sp>
      <p:sp>
        <p:nvSpPr>
          <p:cNvPr id="8" name="Oval 7"/>
          <p:cNvSpPr/>
          <p:nvPr/>
        </p:nvSpPr>
        <p:spPr>
          <a:xfrm>
            <a:off x="1403648"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0" name="Straight Connector 9"/>
          <p:cNvCxnSpPr/>
          <p:nvPr/>
        </p:nvCxnSpPr>
        <p:spPr>
          <a:xfrm>
            <a:off x="1439416" y="321297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1403648" y="37170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5" name="Straight Connector 14"/>
          <p:cNvCxnSpPr/>
          <p:nvPr/>
        </p:nvCxnSpPr>
        <p:spPr>
          <a:xfrm>
            <a:off x="1439416" y="386104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1403648" y="436510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2" name="Straight Connector 21"/>
          <p:cNvCxnSpPr/>
          <p:nvPr/>
        </p:nvCxnSpPr>
        <p:spPr>
          <a:xfrm flipH="1">
            <a:off x="323528" y="4509120"/>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475656" y="4509120"/>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251520"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Oval 24"/>
          <p:cNvSpPr/>
          <p:nvPr/>
        </p:nvSpPr>
        <p:spPr>
          <a:xfrm>
            <a:off x="2555776" y="5085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7" name="Straight Connector 26"/>
          <p:cNvCxnSpPr/>
          <p:nvPr/>
        </p:nvCxnSpPr>
        <p:spPr>
          <a:xfrm>
            <a:off x="2591544" y="5229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2555776" y="5733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9" name="Straight Connector 28"/>
          <p:cNvCxnSpPr/>
          <p:nvPr/>
        </p:nvCxnSpPr>
        <p:spPr>
          <a:xfrm>
            <a:off x="2591544" y="587727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2555776" y="63813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1" name="Oval 30"/>
          <p:cNvSpPr/>
          <p:nvPr/>
        </p:nvSpPr>
        <p:spPr>
          <a:xfrm>
            <a:off x="4139952" y="30689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2" name="Straight Connector 31"/>
          <p:cNvCxnSpPr/>
          <p:nvPr/>
        </p:nvCxnSpPr>
        <p:spPr>
          <a:xfrm>
            <a:off x="4175720" y="321297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4139952" y="37170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4" name="Straight Connector 33"/>
          <p:cNvCxnSpPr/>
          <p:nvPr/>
        </p:nvCxnSpPr>
        <p:spPr>
          <a:xfrm flipH="1">
            <a:off x="3059832" y="3861048"/>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4211960" y="386104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2987824"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7" name="Oval 36"/>
          <p:cNvSpPr/>
          <p:nvPr/>
        </p:nvSpPr>
        <p:spPr>
          <a:xfrm>
            <a:off x="5292080" y="4437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8" name="Oval 37"/>
          <p:cNvSpPr/>
          <p:nvPr/>
        </p:nvSpPr>
        <p:spPr>
          <a:xfrm>
            <a:off x="7308304" y="3717032"/>
            <a:ext cx="72008" cy="72008"/>
          </a:xfrm>
          <a:prstGeom prst="ellipse">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C00000"/>
              </a:solidFill>
            </a:endParaRPr>
          </a:p>
        </p:txBody>
      </p:sp>
      <p:cxnSp>
        <p:nvCxnSpPr>
          <p:cNvPr id="39" name="Straight Connector 38"/>
          <p:cNvCxnSpPr/>
          <p:nvPr/>
        </p:nvCxnSpPr>
        <p:spPr>
          <a:xfrm>
            <a:off x="7344072" y="3861048"/>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7308304" y="4365104"/>
            <a:ext cx="72008" cy="72008"/>
          </a:xfrm>
          <a:prstGeom prst="ellipse">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C00000"/>
              </a:solidFill>
            </a:endParaRPr>
          </a:p>
        </p:txBody>
      </p:sp>
      <p:cxnSp>
        <p:nvCxnSpPr>
          <p:cNvPr id="41" name="Straight Connector 40"/>
          <p:cNvCxnSpPr/>
          <p:nvPr/>
        </p:nvCxnSpPr>
        <p:spPr>
          <a:xfrm>
            <a:off x="7344072" y="4509120"/>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7308304" y="5013176"/>
            <a:ext cx="72008" cy="72008"/>
          </a:xfrm>
          <a:prstGeom prst="ellipse">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C00000"/>
              </a:solidFill>
            </a:endParaRPr>
          </a:p>
        </p:txBody>
      </p:sp>
      <p:cxnSp>
        <p:nvCxnSpPr>
          <p:cNvPr id="43" name="Straight Connector 42"/>
          <p:cNvCxnSpPr/>
          <p:nvPr/>
        </p:nvCxnSpPr>
        <p:spPr>
          <a:xfrm flipH="1">
            <a:off x="6228184" y="5157192"/>
            <a:ext cx="1080120" cy="504056"/>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380312" y="5157192"/>
            <a:ext cx="1119634" cy="502073"/>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6156176" y="5733256"/>
            <a:ext cx="72008" cy="72008"/>
          </a:xfrm>
          <a:prstGeom prst="ellipse">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C00000"/>
              </a:solidFill>
            </a:endParaRPr>
          </a:p>
        </p:txBody>
      </p:sp>
      <p:sp>
        <p:nvSpPr>
          <p:cNvPr id="46" name="Oval 45"/>
          <p:cNvSpPr/>
          <p:nvPr/>
        </p:nvSpPr>
        <p:spPr>
          <a:xfrm>
            <a:off x="8460432" y="5733256"/>
            <a:ext cx="72008" cy="72008"/>
          </a:xfrm>
          <a:prstGeom prst="ellipse">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C00000"/>
              </a:solidFill>
            </a:endParaRPr>
          </a:p>
        </p:txBody>
      </p:sp>
      <p:cxnSp>
        <p:nvCxnSpPr>
          <p:cNvPr id="48" name="Straight Connector 47"/>
          <p:cNvCxnSpPr/>
          <p:nvPr/>
        </p:nvCxnSpPr>
        <p:spPr>
          <a:xfrm>
            <a:off x="7344000" y="3212976"/>
            <a:ext cx="0" cy="432048"/>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7308304" y="3068960"/>
            <a:ext cx="72008" cy="72008"/>
          </a:xfrm>
          <a:prstGeom prst="ellipse">
            <a:avLst/>
          </a:prstGeom>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solidFill>
                <a:srgbClr val="C00000"/>
              </a:solidFill>
            </a:endParaRPr>
          </a:p>
        </p:txBody>
      </p:sp>
      <p:sp>
        <p:nvSpPr>
          <p:cNvPr id="50" name="Rectangle 49"/>
          <p:cNvSpPr/>
          <p:nvPr/>
        </p:nvSpPr>
        <p:spPr>
          <a:xfrm>
            <a:off x="611560" y="2780928"/>
            <a:ext cx="750526" cy="369332"/>
          </a:xfrm>
          <a:prstGeom prst="rect">
            <a:avLst/>
          </a:prstGeom>
        </p:spPr>
        <p:txBody>
          <a:bodyPr wrap="none">
            <a:spAutoFit/>
          </a:bodyPr>
          <a:lstStyle/>
          <a:p>
            <a:r>
              <a:rPr lang="nl-NL" b="1" u="sng" dirty="0" smtClean="0"/>
              <a:t>∀x </a:t>
            </a:r>
            <a:r>
              <a:rPr lang="nl-NL" b="1" u="sng" dirty="0" err="1" smtClean="0"/>
              <a:t>Fx</a:t>
            </a:r>
            <a:r>
              <a:rPr lang="nl-NL" b="1" u="sng" dirty="0" smtClean="0"/>
              <a:t> </a:t>
            </a:r>
            <a:endParaRPr lang="nl-NL" u="sng" dirty="0"/>
          </a:p>
        </p:txBody>
      </p:sp>
      <p:sp>
        <p:nvSpPr>
          <p:cNvPr id="51" name="Rectangle 50"/>
          <p:cNvSpPr/>
          <p:nvPr/>
        </p:nvSpPr>
        <p:spPr>
          <a:xfrm>
            <a:off x="618048" y="3059668"/>
            <a:ext cx="785600" cy="369332"/>
          </a:xfrm>
          <a:prstGeom prst="rect">
            <a:avLst/>
          </a:prstGeom>
        </p:spPr>
        <p:txBody>
          <a:bodyPr wrap="none">
            <a:spAutoFit/>
          </a:bodyPr>
          <a:lstStyle/>
          <a:p>
            <a:r>
              <a:rPr lang="nl-NL" b="1" dirty="0" smtClean="0"/>
              <a:t>∃y </a:t>
            </a:r>
            <a:r>
              <a:rPr lang="nl-NL" b="1" dirty="0" err="1" smtClean="0"/>
              <a:t>Gy</a:t>
            </a:r>
            <a:r>
              <a:rPr lang="nl-NL" b="1" dirty="0" smtClean="0"/>
              <a:t> </a:t>
            </a:r>
            <a:endParaRPr lang="nl-NL" dirty="0"/>
          </a:p>
        </p:txBody>
      </p:sp>
      <p:sp>
        <p:nvSpPr>
          <p:cNvPr id="52" name="Rectangle 51"/>
          <p:cNvSpPr/>
          <p:nvPr/>
        </p:nvSpPr>
        <p:spPr>
          <a:xfrm>
            <a:off x="1468752" y="2780928"/>
            <a:ext cx="1375056" cy="369332"/>
          </a:xfrm>
          <a:prstGeom prst="rect">
            <a:avLst/>
          </a:prstGeom>
        </p:spPr>
        <p:txBody>
          <a:bodyPr wrap="none">
            <a:spAutoFit/>
          </a:bodyPr>
          <a:lstStyle/>
          <a:p>
            <a:r>
              <a:rPr lang="nl-NL" b="1" u="sng" dirty="0" smtClean="0"/>
              <a:t>∃x (</a:t>
            </a:r>
            <a:r>
              <a:rPr lang="nl-NL" b="1" u="sng" dirty="0" err="1" smtClean="0"/>
              <a:t>Fx</a:t>
            </a:r>
            <a:r>
              <a:rPr lang="nl-NL" b="1" u="sng" dirty="0" smtClean="0"/>
              <a:t> ∧ </a:t>
            </a:r>
            <a:r>
              <a:rPr lang="nl-NL" b="1" u="sng" dirty="0" err="1" smtClean="0"/>
              <a:t>Gx</a:t>
            </a:r>
            <a:r>
              <a:rPr lang="nl-NL" b="1" u="sng" dirty="0" smtClean="0"/>
              <a:t>)</a:t>
            </a:r>
            <a:r>
              <a:rPr lang="nl-NL" b="1" dirty="0" smtClean="0"/>
              <a:t> </a:t>
            </a:r>
            <a:endParaRPr lang="nl-NL" dirty="0"/>
          </a:p>
        </p:txBody>
      </p:sp>
      <p:sp>
        <p:nvSpPr>
          <p:cNvPr id="53" name="Rectangle 52"/>
          <p:cNvSpPr/>
          <p:nvPr/>
        </p:nvSpPr>
        <p:spPr>
          <a:xfrm>
            <a:off x="971600" y="3573016"/>
            <a:ext cx="397994" cy="369332"/>
          </a:xfrm>
          <a:prstGeom prst="rect">
            <a:avLst/>
          </a:prstGeom>
        </p:spPr>
        <p:txBody>
          <a:bodyPr wrap="none">
            <a:spAutoFit/>
          </a:bodyPr>
          <a:lstStyle/>
          <a:p>
            <a:r>
              <a:rPr lang="nl-NL" b="1" dirty="0" smtClean="0"/>
              <a:t>Fa</a:t>
            </a:r>
            <a:endParaRPr lang="nl-NL" dirty="0"/>
          </a:p>
        </p:txBody>
      </p:sp>
      <p:sp>
        <p:nvSpPr>
          <p:cNvPr id="54" name="Rectangle 53"/>
          <p:cNvSpPr/>
          <p:nvPr/>
        </p:nvSpPr>
        <p:spPr>
          <a:xfrm>
            <a:off x="1475656" y="4149080"/>
            <a:ext cx="898131" cy="369332"/>
          </a:xfrm>
          <a:prstGeom prst="rect">
            <a:avLst/>
          </a:prstGeom>
        </p:spPr>
        <p:txBody>
          <a:bodyPr wrap="none">
            <a:spAutoFit/>
          </a:bodyPr>
          <a:lstStyle/>
          <a:p>
            <a:r>
              <a:rPr lang="nl-NL" b="1" dirty="0" smtClean="0"/>
              <a:t>Fa ∧ Ga</a:t>
            </a:r>
            <a:endParaRPr lang="nl-NL" dirty="0"/>
          </a:p>
        </p:txBody>
      </p:sp>
      <p:sp>
        <p:nvSpPr>
          <p:cNvPr id="55" name="Rectangle 54"/>
          <p:cNvSpPr/>
          <p:nvPr/>
        </p:nvSpPr>
        <p:spPr>
          <a:xfrm>
            <a:off x="323528" y="4931876"/>
            <a:ext cx="397994" cy="369332"/>
          </a:xfrm>
          <a:prstGeom prst="rect">
            <a:avLst/>
          </a:prstGeom>
        </p:spPr>
        <p:txBody>
          <a:bodyPr wrap="none">
            <a:spAutoFit/>
          </a:bodyPr>
          <a:lstStyle/>
          <a:p>
            <a:r>
              <a:rPr lang="nl-NL" b="1" dirty="0" smtClean="0"/>
              <a:t>Fa</a:t>
            </a:r>
            <a:endParaRPr lang="nl-NL" dirty="0"/>
          </a:p>
        </p:txBody>
      </p:sp>
      <p:sp>
        <p:nvSpPr>
          <p:cNvPr id="56" name="Rectangle 55"/>
          <p:cNvSpPr/>
          <p:nvPr/>
        </p:nvSpPr>
        <p:spPr>
          <a:xfrm>
            <a:off x="2627784" y="4931876"/>
            <a:ext cx="445956" cy="369332"/>
          </a:xfrm>
          <a:prstGeom prst="rect">
            <a:avLst/>
          </a:prstGeom>
        </p:spPr>
        <p:txBody>
          <a:bodyPr wrap="none">
            <a:spAutoFit/>
          </a:bodyPr>
          <a:lstStyle/>
          <a:p>
            <a:r>
              <a:rPr lang="nl-NL" b="1" dirty="0" smtClean="0"/>
              <a:t>Ga</a:t>
            </a:r>
            <a:endParaRPr lang="nl-NL" dirty="0"/>
          </a:p>
        </p:txBody>
      </p:sp>
      <p:sp>
        <p:nvSpPr>
          <p:cNvPr id="57" name="TextBox 56"/>
          <p:cNvSpPr txBox="1"/>
          <p:nvPr/>
        </p:nvSpPr>
        <p:spPr>
          <a:xfrm>
            <a:off x="35496" y="5013176"/>
            <a:ext cx="216024" cy="584775"/>
          </a:xfrm>
          <a:prstGeom prst="rect">
            <a:avLst/>
          </a:prstGeom>
          <a:noFill/>
        </p:spPr>
        <p:txBody>
          <a:bodyPr wrap="square" rtlCol="0">
            <a:spAutoFit/>
          </a:bodyPr>
          <a:lstStyle/>
          <a:p>
            <a:r>
              <a:rPr lang="nl-NL" sz="3200" b="1" dirty="0" smtClean="0"/>
              <a:t>+</a:t>
            </a:r>
            <a:endParaRPr lang="nl-NL" b="1" dirty="0"/>
          </a:p>
        </p:txBody>
      </p:sp>
      <p:sp>
        <p:nvSpPr>
          <p:cNvPr id="58" name="Rectangle 57"/>
          <p:cNvSpPr/>
          <p:nvPr/>
        </p:nvSpPr>
        <p:spPr>
          <a:xfrm>
            <a:off x="2123728" y="5579948"/>
            <a:ext cx="455574" cy="369332"/>
          </a:xfrm>
          <a:prstGeom prst="rect">
            <a:avLst/>
          </a:prstGeom>
        </p:spPr>
        <p:txBody>
          <a:bodyPr wrap="none">
            <a:spAutoFit/>
          </a:bodyPr>
          <a:lstStyle/>
          <a:p>
            <a:r>
              <a:rPr lang="nl-NL" b="1" dirty="0" err="1" smtClean="0"/>
              <a:t>Gb</a:t>
            </a:r>
            <a:endParaRPr lang="nl-NL" dirty="0"/>
          </a:p>
        </p:txBody>
      </p:sp>
      <p:sp>
        <p:nvSpPr>
          <p:cNvPr id="59" name="Rectangle 58"/>
          <p:cNvSpPr/>
          <p:nvPr/>
        </p:nvSpPr>
        <p:spPr>
          <a:xfrm>
            <a:off x="2109820" y="6228020"/>
            <a:ext cx="413896" cy="369332"/>
          </a:xfrm>
          <a:prstGeom prst="rect">
            <a:avLst/>
          </a:prstGeom>
        </p:spPr>
        <p:txBody>
          <a:bodyPr wrap="none">
            <a:spAutoFit/>
          </a:bodyPr>
          <a:lstStyle/>
          <a:p>
            <a:r>
              <a:rPr lang="nl-NL" b="1" dirty="0" err="1" smtClean="0">
                <a:solidFill>
                  <a:srgbClr val="00B050"/>
                </a:solidFill>
              </a:rPr>
              <a:t>Fb</a:t>
            </a:r>
            <a:endParaRPr lang="nl-NL" dirty="0">
              <a:solidFill>
                <a:srgbClr val="00B050"/>
              </a:solidFill>
            </a:endParaRPr>
          </a:p>
        </p:txBody>
      </p:sp>
      <p:sp>
        <p:nvSpPr>
          <p:cNvPr id="60" name="Rectangle 59"/>
          <p:cNvSpPr/>
          <p:nvPr/>
        </p:nvSpPr>
        <p:spPr>
          <a:xfrm>
            <a:off x="3707904" y="2843644"/>
            <a:ext cx="413896" cy="369332"/>
          </a:xfrm>
          <a:prstGeom prst="rect">
            <a:avLst/>
          </a:prstGeom>
        </p:spPr>
        <p:txBody>
          <a:bodyPr wrap="none">
            <a:spAutoFit/>
          </a:bodyPr>
          <a:lstStyle/>
          <a:p>
            <a:r>
              <a:rPr lang="nl-NL" b="1" dirty="0" err="1" smtClean="0">
                <a:solidFill>
                  <a:srgbClr val="00B050"/>
                </a:solidFill>
              </a:rPr>
              <a:t>Fb</a:t>
            </a:r>
            <a:endParaRPr lang="nl-NL" dirty="0">
              <a:solidFill>
                <a:srgbClr val="00B050"/>
              </a:solidFill>
            </a:endParaRPr>
          </a:p>
        </p:txBody>
      </p:sp>
      <p:sp>
        <p:nvSpPr>
          <p:cNvPr id="61" name="Rectangle 60"/>
          <p:cNvSpPr/>
          <p:nvPr/>
        </p:nvSpPr>
        <p:spPr>
          <a:xfrm>
            <a:off x="4249933" y="3501008"/>
            <a:ext cx="923651" cy="369332"/>
          </a:xfrm>
          <a:prstGeom prst="rect">
            <a:avLst/>
          </a:prstGeom>
        </p:spPr>
        <p:txBody>
          <a:bodyPr wrap="none">
            <a:spAutoFit/>
          </a:bodyPr>
          <a:lstStyle/>
          <a:p>
            <a:r>
              <a:rPr lang="nl-NL" b="1" dirty="0" err="1" smtClean="0"/>
              <a:t>Fb</a:t>
            </a:r>
            <a:r>
              <a:rPr lang="nl-NL" b="1" dirty="0" smtClean="0"/>
              <a:t> ∧ </a:t>
            </a:r>
            <a:r>
              <a:rPr lang="nl-NL" b="1" dirty="0" err="1" smtClean="0"/>
              <a:t>Gb</a:t>
            </a:r>
            <a:endParaRPr lang="nl-NL" dirty="0"/>
          </a:p>
        </p:txBody>
      </p:sp>
      <p:sp>
        <p:nvSpPr>
          <p:cNvPr id="62" name="Rectangle 61"/>
          <p:cNvSpPr/>
          <p:nvPr/>
        </p:nvSpPr>
        <p:spPr>
          <a:xfrm>
            <a:off x="3131840" y="4293096"/>
            <a:ext cx="413896" cy="369332"/>
          </a:xfrm>
          <a:prstGeom prst="rect">
            <a:avLst/>
          </a:prstGeom>
        </p:spPr>
        <p:txBody>
          <a:bodyPr wrap="none">
            <a:spAutoFit/>
          </a:bodyPr>
          <a:lstStyle/>
          <a:p>
            <a:r>
              <a:rPr lang="nl-NL" b="1" dirty="0" err="1" smtClean="0"/>
              <a:t>Fb</a:t>
            </a:r>
            <a:endParaRPr lang="nl-NL" dirty="0"/>
          </a:p>
        </p:txBody>
      </p:sp>
      <p:sp>
        <p:nvSpPr>
          <p:cNvPr id="63" name="Rectangle 62"/>
          <p:cNvSpPr/>
          <p:nvPr/>
        </p:nvSpPr>
        <p:spPr>
          <a:xfrm>
            <a:off x="5382240" y="4283804"/>
            <a:ext cx="455574" cy="369332"/>
          </a:xfrm>
          <a:prstGeom prst="rect">
            <a:avLst/>
          </a:prstGeom>
        </p:spPr>
        <p:txBody>
          <a:bodyPr wrap="none">
            <a:spAutoFit/>
          </a:bodyPr>
          <a:lstStyle/>
          <a:p>
            <a:r>
              <a:rPr lang="nl-NL" b="1" dirty="0" err="1" smtClean="0"/>
              <a:t>Gb</a:t>
            </a:r>
            <a:endParaRPr lang="nl-NL" dirty="0"/>
          </a:p>
        </p:txBody>
      </p:sp>
      <p:sp>
        <p:nvSpPr>
          <p:cNvPr id="64" name="TextBox 63"/>
          <p:cNvSpPr txBox="1"/>
          <p:nvPr/>
        </p:nvSpPr>
        <p:spPr>
          <a:xfrm>
            <a:off x="2771800" y="4365104"/>
            <a:ext cx="216024" cy="584775"/>
          </a:xfrm>
          <a:prstGeom prst="rect">
            <a:avLst/>
          </a:prstGeom>
          <a:noFill/>
        </p:spPr>
        <p:txBody>
          <a:bodyPr wrap="square" rtlCol="0">
            <a:spAutoFit/>
          </a:bodyPr>
          <a:lstStyle/>
          <a:p>
            <a:r>
              <a:rPr lang="nl-NL" sz="3200" b="1" dirty="0" smtClean="0"/>
              <a:t>+</a:t>
            </a:r>
            <a:endParaRPr lang="nl-NL" b="1" dirty="0"/>
          </a:p>
        </p:txBody>
      </p:sp>
      <p:sp>
        <p:nvSpPr>
          <p:cNvPr id="65" name="TextBox 64"/>
          <p:cNvSpPr txBox="1"/>
          <p:nvPr/>
        </p:nvSpPr>
        <p:spPr>
          <a:xfrm>
            <a:off x="5004048" y="4365104"/>
            <a:ext cx="216024" cy="584775"/>
          </a:xfrm>
          <a:prstGeom prst="rect">
            <a:avLst/>
          </a:prstGeom>
          <a:noFill/>
        </p:spPr>
        <p:txBody>
          <a:bodyPr wrap="square" rtlCol="0">
            <a:spAutoFit/>
          </a:bodyPr>
          <a:lstStyle/>
          <a:p>
            <a:r>
              <a:rPr lang="nl-NL" sz="3200" b="1" dirty="0" smtClean="0"/>
              <a:t>+</a:t>
            </a:r>
            <a:endParaRPr lang="nl-NL" b="1" dirty="0"/>
          </a:p>
        </p:txBody>
      </p:sp>
      <p:sp>
        <p:nvSpPr>
          <p:cNvPr id="66" name="TextBox 65"/>
          <p:cNvSpPr txBox="1"/>
          <p:nvPr/>
        </p:nvSpPr>
        <p:spPr>
          <a:xfrm>
            <a:off x="3059832" y="5520134"/>
            <a:ext cx="3240360" cy="1077218"/>
          </a:xfrm>
          <a:prstGeom prst="rect">
            <a:avLst/>
          </a:prstGeom>
          <a:noFill/>
        </p:spPr>
        <p:txBody>
          <a:bodyPr wrap="square" rtlCol="0">
            <a:spAutoFit/>
          </a:bodyPr>
          <a:lstStyle/>
          <a:p>
            <a:r>
              <a:rPr lang="nl-NL" sz="1600" i="1" dirty="0" smtClean="0"/>
              <a:t>Boom is gesloten en redenering is dus semantisch geldig. Het kan echter veel </a:t>
            </a:r>
            <a:r>
              <a:rPr lang="nl-NL" sz="1600" b="1" i="1" dirty="0" smtClean="0">
                <a:solidFill>
                  <a:srgbClr val="C00000"/>
                </a:solidFill>
              </a:rPr>
              <a:t>eenvoudiger </a:t>
            </a:r>
            <a:r>
              <a:rPr lang="nl-NL" sz="1600" i="1" dirty="0" smtClean="0"/>
              <a:t>als we aangegeven vuistregel volgen…</a:t>
            </a:r>
            <a:endParaRPr lang="nl-NL" sz="1600" i="1" dirty="0"/>
          </a:p>
        </p:txBody>
      </p:sp>
      <p:sp>
        <p:nvSpPr>
          <p:cNvPr id="68" name="Rectangle 67"/>
          <p:cNvSpPr/>
          <p:nvPr/>
        </p:nvSpPr>
        <p:spPr>
          <a:xfrm>
            <a:off x="6516216" y="2843644"/>
            <a:ext cx="750526" cy="369332"/>
          </a:xfrm>
          <a:prstGeom prst="rect">
            <a:avLst/>
          </a:prstGeom>
        </p:spPr>
        <p:txBody>
          <a:bodyPr wrap="none">
            <a:spAutoFit/>
          </a:bodyPr>
          <a:lstStyle/>
          <a:p>
            <a:r>
              <a:rPr lang="nl-NL" b="1" u="sng" dirty="0" smtClean="0">
                <a:solidFill>
                  <a:srgbClr val="C00000"/>
                </a:solidFill>
              </a:rPr>
              <a:t>∀x </a:t>
            </a:r>
            <a:r>
              <a:rPr lang="nl-NL" b="1" u="sng" dirty="0" err="1" smtClean="0">
                <a:solidFill>
                  <a:srgbClr val="C00000"/>
                </a:solidFill>
              </a:rPr>
              <a:t>Fx</a:t>
            </a:r>
            <a:r>
              <a:rPr lang="nl-NL" b="1" u="sng" dirty="0" smtClean="0">
                <a:solidFill>
                  <a:srgbClr val="C00000"/>
                </a:solidFill>
              </a:rPr>
              <a:t> </a:t>
            </a:r>
            <a:endParaRPr lang="nl-NL" u="sng" dirty="0">
              <a:solidFill>
                <a:srgbClr val="C00000"/>
              </a:solidFill>
            </a:endParaRPr>
          </a:p>
        </p:txBody>
      </p:sp>
      <p:sp>
        <p:nvSpPr>
          <p:cNvPr id="69" name="Rectangle 68"/>
          <p:cNvSpPr/>
          <p:nvPr/>
        </p:nvSpPr>
        <p:spPr>
          <a:xfrm>
            <a:off x="7445416" y="2843644"/>
            <a:ext cx="1375056" cy="369332"/>
          </a:xfrm>
          <a:prstGeom prst="rect">
            <a:avLst/>
          </a:prstGeom>
        </p:spPr>
        <p:txBody>
          <a:bodyPr wrap="none">
            <a:spAutoFit/>
          </a:bodyPr>
          <a:lstStyle/>
          <a:p>
            <a:r>
              <a:rPr lang="nl-NL" b="1" u="sng" dirty="0" smtClean="0">
                <a:solidFill>
                  <a:srgbClr val="C00000"/>
                </a:solidFill>
              </a:rPr>
              <a:t>∃x (</a:t>
            </a:r>
            <a:r>
              <a:rPr lang="nl-NL" b="1" u="sng" dirty="0" err="1" smtClean="0">
                <a:solidFill>
                  <a:srgbClr val="C00000"/>
                </a:solidFill>
              </a:rPr>
              <a:t>Fx</a:t>
            </a:r>
            <a:r>
              <a:rPr lang="nl-NL" b="1" u="sng" dirty="0" smtClean="0">
                <a:solidFill>
                  <a:srgbClr val="C00000"/>
                </a:solidFill>
              </a:rPr>
              <a:t> ∧ </a:t>
            </a:r>
            <a:r>
              <a:rPr lang="nl-NL" b="1" u="sng" dirty="0" err="1" smtClean="0">
                <a:solidFill>
                  <a:srgbClr val="C00000"/>
                </a:solidFill>
              </a:rPr>
              <a:t>Gx</a:t>
            </a:r>
            <a:r>
              <a:rPr lang="nl-NL" b="1" u="sng" dirty="0" smtClean="0">
                <a:solidFill>
                  <a:srgbClr val="C00000"/>
                </a:solidFill>
              </a:rPr>
              <a:t>)</a:t>
            </a:r>
            <a:r>
              <a:rPr lang="nl-NL" b="1" dirty="0" smtClean="0">
                <a:solidFill>
                  <a:srgbClr val="C00000"/>
                </a:solidFill>
              </a:rPr>
              <a:t> </a:t>
            </a:r>
            <a:endParaRPr lang="nl-NL" dirty="0">
              <a:solidFill>
                <a:srgbClr val="C00000"/>
              </a:solidFill>
            </a:endParaRPr>
          </a:p>
        </p:txBody>
      </p:sp>
      <p:sp>
        <p:nvSpPr>
          <p:cNvPr id="70" name="Rectangle 69"/>
          <p:cNvSpPr/>
          <p:nvPr/>
        </p:nvSpPr>
        <p:spPr>
          <a:xfrm>
            <a:off x="6516216" y="3131676"/>
            <a:ext cx="785600" cy="369332"/>
          </a:xfrm>
          <a:prstGeom prst="rect">
            <a:avLst/>
          </a:prstGeom>
        </p:spPr>
        <p:txBody>
          <a:bodyPr wrap="none">
            <a:spAutoFit/>
          </a:bodyPr>
          <a:lstStyle/>
          <a:p>
            <a:r>
              <a:rPr lang="nl-NL" b="1" dirty="0" smtClean="0">
                <a:solidFill>
                  <a:srgbClr val="C00000"/>
                </a:solidFill>
              </a:rPr>
              <a:t>∃y </a:t>
            </a:r>
            <a:r>
              <a:rPr lang="nl-NL" b="1" dirty="0" err="1" smtClean="0">
                <a:solidFill>
                  <a:srgbClr val="C00000"/>
                </a:solidFill>
              </a:rPr>
              <a:t>Gy</a:t>
            </a:r>
            <a:r>
              <a:rPr lang="nl-NL" b="1" dirty="0" smtClean="0">
                <a:solidFill>
                  <a:srgbClr val="C00000"/>
                </a:solidFill>
              </a:rPr>
              <a:t> </a:t>
            </a:r>
            <a:endParaRPr lang="nl-NL" dirty="0">
              <a:solidFill>
                <a:srgbClr val="C00000"/>
              </a:solidFill>
            </a:endParaRPr>
          </a:p>
        </p:txBody>
      </p:sp>
      <p:sp>
        <p:nvSpPr>
          <p:cNvPr id="71" name="Rectangle 70"/>
          <p:cNvSpPr/>
          <p:nvPr/>
        </p:nvSpPr>
        <p:spPr>
          <a:xfrm>
            <a:off x="6876256" y="3635732"/>
            <a:ext cx="455574" cy="369332"/>
          </a:xfrm>
          <a:prstGeom prst="rect">
            <a:avLst/>
          </a:prstGeom>
        </p:spPr>
        <p:txBody>
          <a:bodyPr wrap="none">
            <a:spAutoFit/>
          </a:bodyPr>
          <a:lstStyle/>
          <a:p>
            <a:r>
              <a:rPr lang="nl-NL" b="1" dirty="0" err="1" smtClean="0">
                <a:solidFill>
                  <a:srgbClr val="C00000"/>
                </a:solidFill>
              </a:rPr>
              <a:t>Gb</a:t>
            </a:r>
            <a:endParaRPr lang="nl-NL" dirty="0">
              <a:solidFill>
                <a:srgbClr val="C00000"/>
              </a:solidFill>
            </a:endParaRPr>
          </a:p>
        </p:txBody>
      </p:sp>
      <p:sp>
        <p:nvSpPr>
          <p:cNvPr id="72" name="Rectangle 71"/>
          <p:cNvSpPr/>
          <p:nvPr/>
        </p:nvSpPr>
        <p:spPr>
          <a:xfrm>
            <a:off x="6876256" y="4211796"/>
            <a:ext cx="413896" cy="369332"/>
          </a:xfrm>
          <a:prstGeom prst="rect">
            <a:avLst/>
          </a:prstGeom>
        </p:spPr>
        <p:txBody>
          <a:bodyPr wrap="none">
            <a:spAutoFit/>
          </a:bodyPr>
          <a:lstStyle/>
          <a:p>
            <a:r>
              <a:rPr lang="nl-NL" b="1" dirty="0" err="1" smtClean="0">
                <a:solidFill>
                  <a:srgbClr val="C00000"/>
                </a:solidFill>
              </a:rPr>
              <a:t>Fb</a:t>
            </a:r>
            <a:endParaRPr lang="nl-NL" dirty="0">
              <a:solidFill>
                <a:srgbClr val="C00000"/>
              </a:solidFill>
            </a:endParaRPr>
          </a:p>
        </p:txBody>
      </p:sp>
      <p:sp>
        <p:nvSpPr>
          <p:cNvPr id="73" name="Rectangle 72"/>
          <p:cNvSpPr/>
          <p:nvPr/>
        </p:nvSpPr>
        <p:spPr>
          <a:xfrm>
            <a:off x="7392765" y="4797152"/>
            <a:ext cx="923651" cy="369332"/>
          </a:xfrm>
          <a:prstGeom prst="rect">
            <a:avLst/>
          </a:prstGeom>
        </p:spPr>
        <p:txBody>
          <a:bodyPr wrap="none">
            <a:spAutoFit/>
          </a:bodyPr>
          <a:lstStyle/>
          <a:p>
            <a:r>
              <a:rPr lang="nl-NL" b="1" dirty="0" err="1" smtClean="0">
                <a:solidFill>
                  <a:srgbClr val="C00000"/>
                </a:solidFill>
              </a:rPr>
              <a:t>Fb</a:t>
            </a:r>
            <a:r>
              <a:rPr lang="nl-NL" b="1" dirty="0" smtClean="0">
                <a:solidFill>
                  <a:srgbClr val="C00000"/>
                </a:solidFill>
              </a:rPr>
              <a:t> ∧ </a:t>
            </a:r>
            <a:r>
              <a:rPr lang="nl-NL" b="1" dirty="0" err="1" smtClean="0">
                <a:solidFill>
                  <a:srgbClr val="C00000"/>
                </a:solidFill>
              </a:rPr>
              <a:t>Gb</a:t>
            </a:r>
            <a:endParaRPr lang="nl-NL" dirty="0">
              <a:solidFill>
                <a:srgbClr val="C00000"/>
              </a:solidFill>
            </a:endParaRPr>
          </a:p>
        </p:txBody>
      </p:sp>
      <p:sp>
        <p:nvSpPr>
          <p:cNvPr id="74" name="Rectangle 73"/>
          <p:cNvSpPr/>
          <p:nvPr/>
        </p:nvSpPr>
        <p:spPr>
          <a:xfrm>
            <a:off x="6246336" y="5589240"/>
            <a:ext cx="413896" cy="369332"/>
          </a:xfrm>
          <a:prstGeom prst="rect">
            <a:avLst/>
          </a:prstGeom>
        </p:spPr>
        <p:txBody>
          <a:bodyPr wrap="none">
            <a:spAutoFit/>
          </a:bodyPr>
          <a:lstStyle/>
          <a:p>
            <a:r>
              <a:rPr lang="nl-NL" b="1" dirty="0" err="1" smtClean="0">
                <a:solidFill>
                  <a:srgbClr val="C00000"/>
                </a:solidFill>
              </a:rPr>
              <a:t>Fb</a:t>
            </a:r>
            <a:endParaRPr lang="nl-NL" dirty="0">
              <a:solidFill>
                <a:srgbClr val="C00000"/>
              </a:solidFill>
            </a:endParaRPr>
          </a:p>
        </p:txBody>
      </p:sp>
      <p:sp>
        <p:nvSpPr>
          <p:cNvPr id="75" name="Rectangle 74"/>
          <p:cNvSpPr/>
          <p:nvPr/>
        </p:nvSpPr>
        <p:spPr>
          <a:xfrm>
            <a:off x="8532440" y="5589240"/>
            <a:ext cx="455574" cy="369332"/>
          </a:xfrm>
          <a:prstGeom prst="rect">
            <a:avLst/>
          </a:prstGeom>
        </p:spPr>
        <p:txBody>
          <a:bodyPr wrap="none">
            <a:spAutoFit/>
          </a:bodyPr>
          <a:lstStyle/>
          <a:p>
            <a:r>
              <a:rPr lang="nl-NL" b="1" dirty="0" err="1" smtClean="0">
                <a:solidFill>
                  <a:srgbClr val="C00000"/>
                </a:solidFill>
              </a:rPr>
              <a:t>Gb</a:t>
            </a:r>
            <a:endParaRPr lang="nl-NL" dirty="0">
              <a:solidFill>
                <a:srgbClr val="C00000"/>
              </a:solidFill>
            </a:endParaRPr>
          </a:p>
        </p:txBody>
      </p:sp>
      <p:sp>
        <p:nvSpPr>
          <p:cNvPr id="76" name="TextBox 75"/>
          <p:cNvSpPr txBox="1"/>
          <p:nvPr/>
        </p:nvSpPr>
        <p:spPr>
          <a:xfrm>
            <a:off x="6084168" y="5733256"/>
            <a:ext cx="216024" cy="584775"/>
          </a:xfrm>
          <a:prstGeom prst="rect">
            <a:avLst/>
          </a:prstGeom>
          <a:noFill/>
        </p:spPr>
        <p:txBody>
          <a:bodyPr wrap="square" rtlCol="0">
            <a:spAutoFit/>
          </a:bodyPr>
          <a:lstStyle/>
          <a:p>
            <a:r>
              <a:rPr lang="nl-NL" sz="3200" b="1" dirty="0" smtClean="0">
                <a:solidFill>
                  <a:srgbClr val="C00000"/>
                </a:solidFill>
              </a:rPr>
              <a:t>+</a:t>
            </a:r>
            <a:endParaRPr lang="nl-NL" b="1" dirty="0">
              <a:solidFill>
                <a:srgbClr val="C00000"/>
              </a:solidFill>
            </a:endParaRPr>
          </a:p>
        </p:txBody>
      </p:sp>
      <p:sp>
        <p:nvSpPr>
          <p:cNvPr id="77" name="TextBox 76"/>
          <p:cNvSpPr txBox="1"/>
          <p:nvPr/>
        </p:nvSpPr>
        <p:spPr>
          <a:xfrm>
            <a:off x="8316416" y="5661248"/>
            <a:ext cx="216024" cy="584775"/>
          </a:xfrm>
          <a:prstGeom prst="rect">
            <a:avLst/>
          </a:prstGeom>
          <a:noFill/>
        </p:spPr>
        <p:txBody>
          <a:bodyPr wrap="square" rtlCol="0">
            <a:spAutoFit/>
          </a:bodyPr>
          <a:lstStyle/>
          <a:p>
            <a:r>
              <a:rPr lang="nl-NL" sz="3200" b="1" dirty="0" smtClean="0">
                <a:solidFill>
                  <a:srgbClr val="C00000"/>
                </a:solidFill>
              </a:rPr>
              <a:t>+</a:t>
            </a:r>
            <a:endParaRPr lang="nl-NL"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20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20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20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2000"/>
                                        <p:tgtEl>
                                          <p:spTgt spid="16"/>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000"/>
                                        <p:tgtEl>
                                          <p:spTgt spid="22"/>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2000"/>
                                        <p:tgtEl>
                                          <p:spTgt spid="2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2000"/>
                                        <p:tgtEl>
                                          <p:spTgt spid="2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2000"/>
                                        <p:tgtEl>
                                          <p:spTgt spid="25"/>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20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20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20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2000"/>
                                        <p:tgtEl>
                                          <p:spTgt spid="3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2000"/>
                                        <p:tgtEl>
                                          <p:spTgt spid="31"/>
                                        </p:tgtEl>
                                      </p:cBhvr>
                                    </p:animEffect>
                                  </p:childTnLst>
                                </p:cTn>
                              </p:par>
                              <p:par>
                                <p:cTn id="47" presetID="10" presetClass="entr" presetSubtype="0" fill="hold"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2000"/>
                                        <p:tgtEl>
                                          <p:spTgt spid="3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2000"/>
                                        <p:tgtEl>
                                          <p:spTgt spid="33"/>
                                        </p:tgtEl>
                                      </p:cBhvr>
                                    </p:animEffect>
                                  </p:childTnLst>
                                </p:cTn>
                              </p:par>
                              <p:par>
                                <p:cTn id="53" presetID="10" presetClass="entr" presetSubtype="0" fill="hold"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20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2000"/>
                                        <p:tgtEl>
                                          <p:spTgt spid="3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fade">
                                      <p:cBhvr>
                                        <p:cTn id="61" dur="2000"/>
                                        <p:tgtEl>
                                          <p:spTgt spid="3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2000"/>
                                        <p:tgtEl>
                                          <p:spTgt spid="3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0"/>
                                        </p:tgtEl>
                                        <p:attrNameLst>
                                          <p:attrName>style.visibility</p:attrName>
                                        </p:attrNameLst>
                                      </p:cBhvr>
                                      <p:to>
                                        <p:strVal val="visible"/>
                                      </p:to>
                                    </p:set>
                                    <p:animEffect transition="in" filter="fade">
                                      <p:cBhvr>
                                        <p:cTn id="67" dur="2000"/>
                                        <p:tgtEl>
                                          <p:spTgt spid="5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fade">
                                      <p:cBhvr>
                                        <p:cTn id="70" dur="2000"/>
                                        <p:tgtEl>
                                          <p:spTgt spid="5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fade">
                                      <p:cBhvr>
                                        <p:cTn id="73" dur="2000"/>
                                        <p:tgtEl>
                                          <p:spTgt spid="5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fade">
                                      <p:cBhvr>
                                        <p:cTn id="76" dur="2000"/>
                                        <p:tgtEl>
                                          <p:spTgt spid="5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4"/>
                                        </p:tgtEl>
                                        <p:attrNameLst>
                                          <p:attrName>style.visibility</p:attrName>
                                        </p:attrNameLst>
                                      </p:cBhvr>
                                      <p:to>
                                        <p:strVal val="visible"/>
                                      </p:to>
                                    </p:set>
                                    <p:animEffect transition="in" filter="fade">
                                      <p:cBhvr>
                                        <p:cTn id="79" dur="2000"/>
                                        <p:tgtEl>
                                          <p:spTgt spid="54"/>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5"/>
                                        </p:tgtEl>
                                        <p:attrNameLst>
                                          <p:attrName>style.visibility</p:attrName>
                                        </p:attrNameLst>
                                      </p:cBhvr>
                                      <p:to>
                                        <p:strVal val="visible"/>
                                      </p:to>
                                    </p:set>
                                    <p:animEffect transition="in" filter="fade">
                                      <p:cBhvr>
                                        <p:cTn id="82" dur="2000"/>
                                        <p:tgtEl>
                                          <p:spTgt spid="5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6"/>
                                        </p:tgtEl>
                                        <p:attrNameLst>
                                          <p:attrName>style.visibility</p:attrName>
                                        </p:attrNameLst>
                                      </p:cBhvr>
                                      <p:to>
                                        <p:strVal val="visible"/>
                                      </p:to>
                                    </p:set>
                                    <p:animEffect transition="in" filter="fade">
                                      <p:cBhvr>
                                        <p:cTn id="85" dur="2000"/>
                                        <p:tgtEl>
                                          <p:spTgt spid="5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fade">
                                      <p:cBhvr>
                                        <p:cTn id="88" dur="2000"/>
                                        <p:tgtEl>
                                          <p:spTgt spid="5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2000"/>
                                        <p:tgtEl>
                                          <p:spTgt spid="5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2000"/>
                                        <p:tgtEl>
                                          <p:spTgt spid="5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0"/>
                                        </p:tgtEl>
                                        <p:attrNameLst>
                                          <p:attrName>style.visibility</p:attrName>
                                        </p:attrNameLst>
                                      </p:cBhvr>
                                      <p:to>
                                        <p:strVal val="visible"/>
                                      </p:to>
                                    </p:set>
                                    <p:animEffect transition="in" filter="fade">
                                      <p:cBhvr>
                                        <p:cTn id="97" dur="2000"/>
                                        <p:tgtEl>
                                          <p:spTgt spid="6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1"/>
                                        </p:tgtEl>
                                        <p:attrNameLst>
                                          <p:attrName>style.visibility</p:attrName>
                                        </p:attrNameLst>
                                      </p:cBhvr>
                                      <p:to>
                                        <p:strVal val="visible"/>
                                      </p:to>
                                    </p:set>
                                    <p:animEffect transition="in" filter="fade">
                                      <p:cBhvr>
                                        <p:cTn id="100" dur="2000"/>
                                        <p:tgtEl>
                                          <p:spTgt spid="6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fade">
                                      <p:cBhvr>
                                        <p:cTn id="103" dur="2000"/>
                                        <p:tgtEl>
                                          <p:spTgt spid="6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fade">
                                      <p:cBhvr>
                                        <p:cTn id="106" dur="2000"/>
                                        <p:tgtEl>
                                          <p:spTgt spid="6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64"/>
                                        </p:tgtEl>
                                        <p:attrNameLst>
                                          <p:attrName>style.visibility</p:attrName>
                                        </p:attrNameLst>
                                      </p:cBhvr>
                                      <p:to>
                                        <p:strVal val="visible"/>
                                      </p:to>
                                    </p:set>
                                    <p:animEffect transition="in" filter="fade">
                                      <p:cBhvr>
                                        <p:cTn id="109" dur="2000"/>
                                        <p:tgtEl>
                                          <p:spTgt spid="64"/>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5"/>
                                        </p:tgtEl>
                                        <p:attrNameLst>
                                          <p:attrName>style.visibility</p:attrName>
                                        </p:attrNameLst>
                                      </p:cBhvr>
                                      <p:to>
                                        <p:strVal val="visible"/>
                                      </p:to>
                                    </p:set>
                                    <p:animEffect transition="in" filter="fade">
                                      <p:cBhvr>
                                        <p:cTn id="112" dur="2000"/>
                                        <p:tgtEl>
                                          <p:spTgt spid="65"/>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66">
                                            <p:txEl>
                                              <p:pRg st="0" end="0"/>
                                            </p:txEl>
                                          </p:spTgt>
                                        </p:tgtEl>
                                        <p:attrNameLst>
                                          <p:attrName>style.visibility</p:attrName>
                                        </p:attrNameLst>
                                      </p:cBhvr>
                                      <p:to>
                                        <p:strVal val="visible"/>
                                      </p:to>
                                    </p:set>
                                    <p:animEffect transition="in" filter="fade">
                                      <p:cBhvr>
                                        <p:cTn id="117" dur="2000"/>
                                        <p:tgtEl>
                                          <p:spTgt spid="66">
                                            <p:txEl>
                                              <p:pRg st="0" end="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8"/>
                                        </p:tgtEl>
                                        <p:attrNameLst>
                                          <p:attrName>style.visibility</p:attrName>
                                        </p:attrNameLst>
                                      </p:cBhvr>
                                      <p:to>
                                        <p:strVal val="visible"/>
                                      </p:to>
                                    </p:set>
                                    <p:animEffect transition="in" filter="fade">
                                      <p:cBhvr>
                                        <p:cTn id="122" dur="2000"/>
                                        <p:tgtEl>
                                          <p:spTgt spid="38"/>
                                        </p:tgtEl>
                                      </p:cBhvr>
                                    </p:animEffect>
                                  </p:childTnLst>
                                </p:cTn>
                              </p:par>
                              <p:par>
                                <p:cTn id="123" presetID="10" presetClass="entr" presetSubtype="0" fill="hold" nodeType="withEffect">
                                  <p:stCondLst>
                                    <p:cond delay="0"/>
                                  </p:stCondLst>
                                  <p:childTnLst>
                                    <p:set>
                                      <p:cBhvr>
                                        <p:cTn id="124" dur="1" fill="hold">
                                          <p:stCondLst>
                                            <p:cond delay="0"/>
                                          </p:stCondLst>
                                        </p:cTn>
                                        <p:tgtEl>
                                          <p:spTgt spid="39"/>
                                        </p:tgtEl>
                                        <p:attrNameLst>
                                          <p:attrName>style.visibility</p:attrName>
                                        </p:attrNameLst>
                                      </p:cBhvr>
                                      <p:to>
                                        <p:strVal val="visible"/>
                                      </p:to>
                                    </p:set>
                                    <p:animEffect transition="in" filter="fade">
                                      <p:cBhvr>
                                        <p:cTn id="125" dur="2000"/>
                                        <p:tgtEl>
                                          <p:spTgt spid="3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0"/>
                                        </p:tgtEl>
                                        <p:attrNameLst>
                                          <p:attrName>style.visibility</p:attrName>
                                        </p:attrNameLst>
                                      </p:cBhvr>
                                      <p:to>
                                        <p:strVal val="visible"/>
                                      </p:to>
                                    </p:set>
                                    <p:animEffect transition="in" filter="fade">
                                      <p:cBhvr>
                                        <p:cTn id="128" dur="2000"/>
                                        <p:tgtEl>
                                          <p:spTgt spid="40"/>
                                        </p:tgtEl>
                                      </p:cBhvr>
                                    </p:animEffect>
                                  </p:childTnLst>
                                </p:cTn>
                              </p:par>
                              <p:par>
                                <p:cTn id="129" presetID="10" presetClass="entr" presetSubtype="0" fill="hold" nodeType="withEffect">
                                  <p:stCondLst>
                                    <p:cond delay="0"/>
                                  </p:stCondLst>
                                  <p:childTnLst>
                                    <p:set>
                                      <p:cBhvr>
                                        <p:cTn id="130" dur="1" fill="hold">
                                          <p:stCondLst>
                                            <p:cond delay="0"/>
                                          </p:stCondLst>
                                        </p:cTn>
                                        <p:tgtEl>
                                          <p:spTgt spid="41"/>
                                        </p:tgtEl>
                                        <p:attrNameLst>
                                          <p:attrName>style.visibility</p:attrName>
                                        </p:attrNameLst>
                                      </p:cBhvr>
                                      <p:to>
                                        <p:strVal val="visible"/>
                                      </p:to>
                                    </p:set>
                                    <p:animEffect transition="in" filter="fade">
                                      <p:cBhvr>
                                        <p:cTn id="131" dur="2000"/>
                                        <p:tgtEl>
                                          <p:spTgt spid="4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2"/>
                                        </p:tgtEl>
                                        <p:attrNameLst>
                                          <p:attrName>style.visibility</p:attrName>
                                        </p:attrNameLst>
                                      </p:cBhvr>
                                      <p:to>
                                        <p:strVal val="visible"/>
                                      </p:to>
                                    </p:set>
                                    <p:animEffect transition="in" filter="fade">
                                      <p:cBhvr>
                                        <p:cTn id="134" dur="2000"/>
                                        <p:tgtEl>
                                          <p:spTgt spid="42"/>
                                        </p:tgtEl>
                                      </p:cBhvr>
                                    </p:animEffect>
                                  </p:childTnLst>
                                </p:cTn>
                              </p:par>
                              <p:par>
                                <p:cTn id="135" presetID="10" presetClass="entr" presetSubtype="0" fill="hold" nodeType="withEffect">
                                  <p:stCondLst>
                                    <p:cond delay="0"/>
                                  </p:stCondLst>
                                  <p:childTnLst>
                                    <p:set>
                                      <p:cBhvr>
                                        <p:cTn id="136" dur="1" fill="hold">
                                          <p:stCondLst>
                                            <p:cond delay="0"/>
                                          </p:stCondLst>
                                        </p:cTn>
                                        <p:tgtEl>
                                          <p:spTgt spid="43"/>
                                        </p:tgtEl>
                                        <p:attrNameLst>
                                          <p:attrName>style.visibility</p:attrName>
                                        </p:attrNameLst>
                                      </p:cBhvr>
                                      <p:to>
                                        <p:strVal val="visible"/>
                                      </p:to>
                                    </p:set>
                                    <p:animEffect transition="in" filter="fade">
                                      <p:cBhvr>
                                        <p:cTn id="137" dur="2000"/>
                                        <p:tgtEl>
                                          <p:spTgt spid="43"/>
                                        </p:tgtEl>
                                      </p:cBhvr>
                                    </p:animEffect>
                                  </p:childTnLst>
                                </p:cTn>
                              </p:par>
                              <p:par>
                                <p:cTn id="138" presetID="10" presetClass="entr" presetSubtype="0" fill="hold" nodeType="withEffect">
                                  <p:stCondLst>
                                    <p:cond delay="0"/>
                                  </p:stCondLst>
                                  <p:childTnLst>
                                    <p:set>
                                      <p:cBhvr>
                                        <p:cTn id="139" dur="1" fill="hold">
                                          <p:stCondLst>
                                            <p:cond delay="0"/>
                                          </p:stCondLst>
                                        </p:cTn>
                                        <p:tgtEl>
                                          <p:spTgt spid="44"/>
                                        </p:tgtEl>
                                        <p:attrNameLst>
                                          <p:attrName>style.visibility</p:attrName>
                                        </p:attrNameLst>
                                      </p:cBhvr>
                                      <p:to>
                                        <p:strVal val="visible"/>
                                      </p:to>
                                    </p:set>
                                    <p:animEffect transition="in" filter="fade">
                                      <p:cBhvr>
                                        <p:cTn id="140" dur="2000"/>
                                        <p:tgtEl>
                                          <p:spTgt spid="44"/>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5"/>
                                        </p:tgtEl>
                                        <p:attrNameLst>
                                          <p:attrName>style.visibility</p:attrName>
                                        </p:attrNameLst>
                                      </p:cBhvr>
                                      <p:to>
                                        <p:strVal val="visible"/>
                                      </p:to>
                                    </p:set>
                                    <p:animEffect transition="in" filter="fade">
                                      <p:cBhvr>
                                        <p:cTn id="143" dur="2000"/>
                                        <p:tgtEl>
                                          <p:spTgt spid="4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46"/>
                                        </p:tgtEl>
                                        <p:attrNameLst>
                                          <p:attrName>style.visibility</p:attrName>
                                        </p:attrNameLst>
                                      </p:cBhvr>
                                      <p:to>
                                        <p:strVal val="visible"/>
                                      </p:to>
                                    </p:set>
                                    <p:animEffect transition="in" filter="fade">
                                      <p:cBhvr>
                                        <p:cTn id="146" dur="2000"/>
                                        <p:tgtEl>
                                          <p:spTgt spid="46"/>
                                        </p:tgtEl>
                                      </p:cBhvr>
                                    </p:animEffect>
                                  </p:childTnLst>
                                </p:cTn>
                              </p:par>
                              <p:par>
                                <p:cTn id="147" presetID="10" presetClass="entr" presetSubtype="0" fill="hold" nodeType="withEffect">
                                  <p:stCondLst>
                                    <p:cond delay="0"/>
                                  </p:stCondLst>
                                  <p:childTnLst>
                                    <p:set>
                                      <p:cBhvr>
                                        <p:cTn id="148" dur="1" fill="hold">
                                          <p:stCondLst>
                                            <p:cond delay="0"/>
                                          </p:stCondLst>
                                        </p:cTn>
                                        <p:tgtEl>
                                          <p:spTgt spid="48"/>
                                        </p:tgtEl>
                                        <p:attrNameLst>
                                          <p:attrName>style.visibility</p:attrName>
                                        </p:attrNameLst>
                                      </p:cBhvr>
                                      <p:to>
                                        <p:strVal val="visible"/>
                                      </p:to>
                                    </p:set>
                                    <p:animEffect transition="in" filter="fade">
                                      <p:cBhvr>
                                        <p:cTn id="149" dur="2000"/>
                                        <p:tgtEl>
                                          <p:spTgt spid="48"/>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fade">
                                      <p:cBhvr>
                                        <p:cTn id="152" dur="2000"/>
                                        <p:tgtEl>
                                          <p:spTgt spid="49"/>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fade">
                                      <p:cBhvr>
                                        <p:cTn id="155" dur="2000"/>
                                        <p:tgtEl>
                                          <p:spTgt spid="68"/>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69"/>
                                        </p:tgtEl>
                                        <p:attrNameLst>
                                          <p:attrName>style.visibility</p:attrName>
                                        </p:attrNameLst>
                                      </p:cBhvr>
                                      <p:to>
                                        <p:strVal val="visible"/>
                                      </p:to>
                                    </p:set>
                                    <p:animEffect transition="in" filter="fade">
                                      <p:cBhvr>
                                        <p:cTn id="158" dur="2000"/>
                                        <p:tgtEl>
                                          <p:spTgt spid="69"/>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70"/>
                                        </p:tgtEl>
                                        <p:attrNameLst>
                                          <p:attrName>style.visibility</p:attrName>
                                        </p:attrNameLst>
                                      </p:cBhvr>
                                      <p:to>
                                        <p:strVal val="visible"/>
                                      </p:to>
                                    </p:set>
                                    <p:animEffect transition="in" filter="fade">
                                      <p:cBhvr>
                                        <p:cTn id="161" dur="2000"/>
                                        <p:tgtEl>
                                          <p:spTgt spid="70"/>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71"/>
                                        </p:tgtEl>
                                        <p:attrNameLst>
                                          <p:attrName>style.visibility</p:attrName>
                                        </p:attrNameLst>
                                      </p:cBhvr>
                                      <p:to>
                                        <p:strVal val="visible"/>
                                      </p:to>
                                    </p:set>
                                    <p:animEffect transition="in" filter="fade">
                                      <p:cBhvr>
                                        <p:cTn id="164" dur="2000"/>
                                        <p:tgtEl>
                                          <p:spTgt spid="71"/>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72"/>
                                        </p:tgtEl>
                                        <p:attrNameLst>
                                          <p:attrName>style.visibility</p:attrName>
                                        </p:attrNameLst>
                                      </p:cBhvr>
                                      <p:to>
                                        <p:strVal val="visible"/>
                                      </p:to>
                                    </p:set>
                                    <p:animEffect transition="in" filter="fade">
                                      <p:cBhvr>
                                        <p:cTn id="167" dur="2000"/>
                                        <p:tgtEl>
                                          <p:spTgt spid="72"/>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73"/>
                                        </p:tgtEl>
                                        <p:attrNameLst>
                                          <p:attrName>style.visibility</p:attrName>
                                        </p:attrNameLst>
                                      </p:cBhvr>
                                      <p:to>
                                        <p:strVal val="visible"/>
                                      </p:to>
                                    </p:set>
                                    <p:animEffect transition="in" filter="fade">
                                      <p:cBhvr>
                                        <p:cTn id="170" dur="2000"/>
                                        <p:tgtEl>
                                          <p:spTgt spid="73"/>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74"/>
                                        </p:tgtEl>
                                        <p:attrNameLst>
                                          <p:attrName>style.visibility</p:attrName>
                                        </p:attrNameLst>
                                      </p:cBhvr>
                                      <p:to>
                                        <p:strVal val="visible"/>
                                      </p:to>
                                    </p:set>
                                    <p:animEffect transition="in" filter="fade">
                                      <p:cBhvr>
                                        <p:cTn id="173" dur="2000"/>
                                        <p:tgtEl>
                                          <p:spTgt spid="74"/>
                                        </p:tgtEl>
                                      </p:cBhvr>
                                    </p:animEffect>
                                  </p:childTnLst>
                                </p:cTn>
                              </p:par>
                              <p:par>
                                <p:cTn id="174" presetID="10" presetClass="entr" presetSubtype="0" fill="hold" grpId="0" nodeType="withEffect">
                                  <p:stCondLst>
                                    <p:cond delay="0"/>
                                  </p:stCondLst>
                                  <p:childTnLst>
                                    <p:set>
                                      <p:cBhvr>
                                        <p:cTn id="175" dur="1" fill="hold">
                                          <p:stCondLst>
                                            <p:cond delay="0"/>
                                          </p:stCondLst>
                                        </p:cTn>
                                        <p:tgtEl>
                                          <p:spTgt spid="75"/>
                                        </p:tgtEl>
                                        <p:attrNameLst>
                                          <p:attrName>style.visibility</p:attrName>
                                        </p:attrNameLst>
                                      </p:cBhvr>
                                      <p:to>
                                        <p:strVal val="visible"/>
                                      </p:to>
                                    </p:set>
                                    <p:animEffect transition="in" filter="fade">
                                      <p:cBhvr>
                                        <p:cTn id="176" dur="2000"/>
                                        <p:tgtEl>
                                          <p:spTgt spid="75"/>
                                        </p:tgtEl>
                                      </p:cBhvr>
                                    </p:animEffect>
                                  </p:childTnLst>
                                </p:cTn>
                              </p:par>
                              <p:par>
                                <p:cTn id="177" presetID="10" presetClass="entr" presetSubtype="0" fill="hold" grpId="0" nodeType="withEffect">
                                  <p:stCondLst>
                                    <p:cond delay="0"/>
                                  </p:stCondLst>
                                  <p:childTnLst>
                                    <p:set>
                                      <p:cBhvr>
                                        <p:cTn id="178" dur="1" fill="hold">
                                          <p:stCondLst>
                                            <p:cond delay="0"/>
                                          </p:stCondLst>
                                        </p:cTn>
                                        <p:tgtEl>
                                          <p:spTgt spid="76"/>
                                        </p:tgtEl>
                                        <p:attrNameLst>
                                          <p:attrName>style.visibility</p:attrName>
                                        </p:attrNameLst>
                                      </p:cBhvr>
                                      <p:to>
                                        <p:strVal val="visible"/>
                                      </p:to>
                                    </p:set>
                                    <p:animEffect transition="in" filter="fade">
                                      <p:cBhvr>
                                        <p:cTn id="179" dur="2000"/>
                                        <p:tgtEl>
                                          <p:spTgt spid="76"/>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77"/>
                                        </p:tgtEl>
                                        <p:attrNameLst>
                                          <p:attrName>style.visibility</p:attrName>
                                        </p:attrNameLst>
                                      </p:cBhvr>
                                      <p:to>
                                        <p:strVal val="visible"/>
                                      </p:to>
                                    </p:set>
                                    <p:animEffect transition="in" filter="fade">
                                      <p:cBhvr>
                                        <p:cTn id="182" dur="2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6" grpId="0" animBg="1"/>
      <p:bldP spid="24" grpId="0" animBg="1"/>
      <p:bldP spid="25" grpId="0" animBg="1"/>
      <p:bldP spid="28" grpId="0" animBg="1"/>
      <p:bldP spid="30" grpId="0" animBg="1"/>
      <p:bldP spid="31" grpId="0" animBg="1"/>
      <p:bldP spid="33" grpId="0" animBg="1"/>
      <p:bldP spid="36" grpId="0" animBg="1"/>
      <p:bldP spid="37" grpId="0" animBg="1"/>
      <p:bldP spid="38" grpId="0" animBg="1"/>
      <p:bldP spid="40" grpId="0" animBg="1"/>
      <p:bldP spid="42" grpId="0" animBg="1"/>
      <p:bldP spid="45" grpId="0" animBg="1"/>
      <p:bldP spid="46" grpId="0" animBg="1"/>
      <p:bldP spid="49" grpId="0" animBg="1"/>
      <p:bldP spid="50" grpId="0"/>
      <p:bldP spid="51" grpId="0"/>
      <p:bldP spid="52" grpId="0"/>
      <p:bldP spid="53" grpId="0"/>
      <p:bldP spid="54" grpId="0"/>
      <p:bldP spid="55" grpId="0"/>
      <p:bldP spid="56" grpId="0"/>
      <p:bldP spid="57" grpId="0"/>
      <p:bldP spid="58" grpId="0"/>
      <p:bldP spid="59" grpId="0"/>
      <p:bldP spid="60" grpId="0"/>
      <p:bldP spid="61" grpId="0"/>
      <p:bldP spid="62" grpId="0"/>
      <p:bldP spid="63" grpId="0"/>
      <p:bldP spid="64" grpId="0"/>
      <p:bldP spid="65" grpId="0"/>
      <p:bldP spid="66" grpId="0" build="allAtOnce"/>
      <p:bldP spid="68" grpId="0"/>
      <p:bldP spid="69" grpId="0"/>
      <p:bldP spid="70" grpId="0"/>
      <p:bldP spid="71" grpId="0"/>
      <p:bldP spid="72" grpId="0"/>
      <p:bldP spid="73" grpId="0"/>
      <p:bldP spid="74" grpId="0"/>
      <p:bldP spid="75" grpId="0"/>
      <p:bldP spid="76" grpId="0"/>
      <p:bldP spid="77" grpId="0"/>
    </p:bldLst>
  </p:timing>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Is de semantische boommethode een beslissingsprocedure voor de </a:t>
            </a:r>
            <a:r>
              <a:rPr lang="nl-NL" sz="3600" dirty="0" err="1" smtClean="0"/>
              <a:t>predikaatlogica</a:t>
            </a:r>
            <a:r>
              <a:rPr lang="nl-NL" sz="3600" dirty="0" smtClean="0"/>
              <a:t>?</a:t>
            </a:r>
            <a:endParaRPr lang="nl-NL" sz="3600" dirty="0"/>
          </a:p>
        </p:txBody>
      </p:sp>
      <p:sp>
        <p:nvSpPr>
          <p:cNvPr id="3" name="Content Placeholder 2"/>
          <p:cNvSpPr>
            <a:spLocks noGrp="1"/>
          </p:cNvSpPr>
          <p:nvPr>
            <p:ph idx="1"/>
          </p:nvPr>
        </p:nvSpPr>
        <p:spPr>
          <a:xfrm>
            <a:off x="457200" y="3040361"/>
            <a:ext cx="8686800" cy="820687"/>
          </a:xfrm>
        </p:spPr>
        <p:txBody>
          <a:bodyPr>
            <a:noAutofit/>
          </a:bodyPr>
          <a:lstStyle/>
          <a:p>
            <a:r>
              <a:rPr lang="nl-NL" sz="2000" dirty="0" smtClean="0"/>
              <a:t>De boommethode is een beslissingsprocedure voor de </a:t>
            </a:r>
            <a:r>
              <a:rPr lang="nl-NL" sz="2000" dirty="0" err="1" smtClean="0"/>
              <a:t>predikaatlogica</a:t>
            </a:r>
            <a:r>
              <a:rPr lang="nl-NL" sz="2000" dirty="0" smtClean="0"/>
              <a:t> </a:t>
            </a:r>
            <a:r>
              <a:rPr lang="nl-NL" sz="2000" i="1" dirty="0" smtClean="0"/>
              <a:t>indien</a:t>
            </a:r>
            <a:r>
              <a:rPr lang="nl-NL" sz="2000" dirty="0" smtClean="0"/>
              <a:t> ze voor iedere verzameling van </a:t>
            </a:r>
            <a:r>
              <a:rPr lang="nl-NL" sz="2000" dirty="0" err="1" smtClean="0"/>
              <a:t>predikaatlogische</a:t>
            </a:r>
            <a:r>
              <a:rPr lang="nl-NL" sz="2000" dirty="0" smtClean="0"/>
              <a:t> premissen </a:t>
            </a:r>
            <a:r>
              <a:rPr lang="el-GR" sz="2000" b="1" i="1" dirty="0" smtClean="0"/>
              <a:t>α</a:t>
            </a:r>
            <a:r>
              <a:rPr lang="nl-NL" sz="2000" b="1" i="1" baseline="-25000" dirty="0" smtClean="0"/>
              <a:t>1 </a:t>
            </a:r>
            <a:r>
              <a:rPr lang="nl-NL" sz="2000" dirty="0" smtClean="0"/>
              <a:t>,</a:t>
            </a:r>
            <a:r>
              <a:rPr lang="nl-NL" sz="2000" b="1" i="1" dirty="0" smtClean="0"/>
              <a:t> </a:t>
            </a:r>
            <a:r>
              <a:rPr lang="el-GR" sz="2000" b="1" i="1" dirty="0" smtClean="0"/>
              <a:t>α</a:t>
            </a:r>
            <a:r>
              <a:rPr lang="nl-NL" sz="2000" b="1" i="1" baseline="-25000" dirty="0" smtClean="0"/>
              <a:t>2</a:t>
            </a:r>
            <a:r>
              <a:rPr lang="nl-NL" sz="2000" b="1" i="1" dirty="0" smtClean="0"/>
              <a:t> </a:t>
            </a:r>
            <a:r>
              <a:rPr lang="nl-NL" sz="2000" dirty="0" smtClean="0"/>
              <a:t>,</a:t>
            </a:r>
            <a:r>
              <a:rPr lang="nl-NL" sz="2000" b="1" i="1" dirty="0" smtClean="0"/>
              <a:t> </a:t>
            </a:r>
            <a:r>
              <a:rPr lang="el-GR" sz="2000" b="1" i="1" dirty="0" smtClean="0"/>
              <a:t>α</a:t>
            </a:r>
            <a:r>
              <a:rPr lang="nl-NL" sz="2000" b="1" i="1" baseline="-25000" dirty="0" smtClean="0"/>
              <a:t>3</a:t>
            </a:r>
            <a:r>
              <a:rPr lang="nl-NL" sz="2000" b="1" i="1" dirty="0" smtClean="0"/>
              <a:t> </a:t>
            </a:r>
            <a:r>
              <a:rPr lang="nl-NL" sz="2000" dirty="0" smtClean="0"/>
              <a:t>en </a:t>
            </a:r>
            <a:r>
              <a:rPr lang="nl-NL" sz="2000" dirty="0" err="1" smtClean="0"/>
              <a:t>predikaatlogische</a:t>
            </a:r>
            <a:r>
              <a:rPr lang="nl-NL" sz="2000" dirty="0" smtClean="0"/>
              <a:t> conclusie </a:t>
            </a:r>
            <a:r>
              <a:rPr lang="el-GR" sz="2000" b="1" i="1" dirty="0" smtClean="0"/>
              <a:t>β</a:t>
            </a:r>
            <a:r>
              <a:rPr lang="nl-NL" sz="2000" dirty="0" smtClean="0"/>
              <a:t> netjes in een eindig aantal stappen bepaalt          of al dan niet </a:t>
            </a:r>
            <a:r>
              <a:rPr lang="el-GR" sz="2000" b="1" i="1" dirty="0" smtClean="0"/>
              <a:t>α</a:t>
            </a:r>
            <a:r>
              <a:rPr lang="nl-NL" sz="2000" b="1" i="1" baseline="-25000" dirty="0" smtClean="0"/>
              <a:t>1 </a:t>
            </a:r>
            <a:r>
              <a:rPr lang="nl-NL" sz="2000" dirty="0" smtClean="0"/>
              <a:t>,</a:t>
            </a:r>
            <a:r>
              <a:rPr lang="nl-NL" sz="2000" b="1" i="1" dirty="0" smtClean="0"/>
              <a:t> </a:t>
            </a:r>
            <a:r>
              <a:rPr lang="el-GR" sz="2000" b="1" i="1" dirty="0" smtClean="0"/>
              <a:t>α</a:t>
            </a:r>
            <a:r>
              <a:rPr lang="nl-NL" sz="2000" b="1" i="1" baseline="-25000" dirty="0" smtClean="0"/>
              <a:t>2</a:t>
            </a:r>
            <a:r>
              <a:rPr lang="nl-NL" sz="2000" b="1" i="1" dirty="0" smtClean="0"/>
              <a:t> </a:t>
            </a:r>
            <a:r>
              <a:rPr lang="nl-NL" sz="2000" dirty="0" smtClean="0"/>
              <a:t>,</a:t>
            </a:r>
            <a:r>
              <a:rPr lang="nl-NL" sz="2000" b="1" i="1" dirty="0" smtClean="0"/>
              <a:t> </a:t>
            </a:r>
            <a:r>
              <a:rPr lang="el-GR" sz="2000" b="1" i="1" dirty="0" smtClean="0"/>
              <a:t>α</a:t>
            </a:r>
            <a:r>
              <a:rPr lang="nl-NL" sz="2000" b="1" i="1" baseline="-25000" dirty="0" smtClean="0"/>
              <a:t>3</a:t>
            </a:r>
            <a:r>
              <a:rPr lang="nl-NL" sz="2000" b="1" i="1" dirty="0" smtClean="0"/>
              <a:t> </a:t>
            </a:r>
            <a:r>
              <a:rPr lang="nl-NL" sz="2000" b="1" dirty="0" smtClean="0"/>
              <a:t>|= </a:t>
            </a:r>
            <a:r>
              <a:rPr lang="el-GR" sz="2000" b="1" i="1" dirty="0" smtClean="0"/>
              <a:t>β</a:t>
            </a:r>
            <a:r>
              <a:rPr lang="nl-NL" sz="2000" b="1" i="1" dirty="0" smtClean="0"/>
              <a:t> </a:t>
            </a:r>
            <a:r>
              <a:rPr lang="nl-NL" sz="2000" dirty="0" smtClean="0"/>
              <a:t>het geval is.</a:t>
            </a:r>
          </a:p>
        </p:txBody>
      </p:sp>
      <p:sp>
        <p:nvSpPr>
          <p:cNvPr id="8" name="Content Placeholder 2"/>
          <p:cNvSpPr txBox="1">
            <a:spLocks/>
          </p:cNvSpPr>
          <p:nvPr/>
        </p:nvSpPr>
        <p:spPr>
          <a:xfrm>
            <a:off x="395536" y="4480520"/>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Tot dusver lijkt dat inderdaad het geval te zijn. </a:t>
            </a:r>
            <a:r>
              <a:rPr lang="nl-NL" sz="2000" dirty="0" smtClean="0"/>
              <a:t>V</a:t>
            </a:r>
            <a:r>
              <a:rPr lang="nl-NL" sz="2000" noProof="0" dirty="0" smtClean="0"/>
              <a:t>oor iedere </a:t>
            </a:r>
            <a:r>
              <a:rPr lang="nl-NL" sz="2000" noProof="0" dirty="0" err="1" smtClean="0"/>
              <a:t>predikaat-logische</a:t>
            </a:r>
            <a:r>
              <a:rPr lang="nl-NL" sz="2000" noProof="0" dirty="0" smtClean="0"/>
              <a:t> redenering die we bekeken konden we immers netjes na een eindig aantal stappen concluderen of die redenering al dan niet semantisch geldig is. Steeds vonden we immers een tegenvoorbeeld of sloot de boom.</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467544" y="1844824"/>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De semantische </a:t>
            </a:r>
            <a:r>
              <a:rPr lang="nl-NL" sz="2000" dirty="0" smtClean="0"/>
              <a:t>boommethode is een beslissingsprocedure voor de </a:t>
            </a:r>
            <a:r>
              <a:rPr lang="nl-NL" sz="2000" i="1" dirty="0" smtClean="0"/>
              <a:t>propositie</a:t>
            </a:r>
            <a:r>
              <a:rPr lang="nl-NL" sz="2000" dirty="0" smtClean="0"/>
              <a:t>logica. Maar dat betekent nog niet automatisch dat zij ook               een beslissingsprocedure voor de </a:t>
            </a:r>
            <a:r>
              <a:rPr lang="nl-NL" sz="2000" i="1" dirty="0" err="1" smtClean="0"/>
              <a:t>predikaat</a:t>
            </a:r>
            <a:r>
              <a:rPr lang="nl-NL" sz="2000" dirty="0" err="1" smtClean="0"/>
              <a:t>logica</a:t>
            </a:r>
            <a:r>
              <a:rPr lang="nl-NL" sz="2000" dirty="0" smtClean="0"/>
              <a:t>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animEffect transition="in" filter="fade">
                                      <p:cBhvr>
                                        <p:cTn id="1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8" grpId="0" build="allAtOnce"/>
      <p:bldP spid="9" grpId="0" build="allAtOnce"/>
    </p:bldLst>
  </p:timing>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Is de semantische boommethode een beslissingsprocedure voor de </a:t>
            </a:r>
            <a:r>
              <a:rPr lang="nl-NL" sz="3600" dirty="0" err="1" smtClean="0"/>
              <a:t>predikaatlogica</a:t>
            </a:r>
            <a:r>
              <a:rPr lang="nl-NL" sz="3600" dirty="0" smtClean="0"/>
              <a:t>?</a:t>
            </a:r>
            <a:endParaRPr lang="nl-NL" sz="3600" dirty="0"/>
          </a:p>
        </p:txBody>
      </p:sp>
      <p:sp>
        <p:nvSpPr>
          <p:cNvPr id="7" name="Content Placeholder 2"/>
          <p:cNvSpPr txBox="1">
            <a:spLocks/>
          </p:cNvSpPr>
          <p:nvPr/>
        </p:nvSpPr>
        <p:spPr>
          <a:xfrm>
            <a:off x="385192" y="1700808"/>
            <a:ext cx="8758808"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Toch is de boommethode </a:t>
            </a:r>
            <a:r>
              <a:rPr lang="nl-NL" sz="2000" dirty="0" err="1" smtClean="0"/>
              <a:t>géén</a:t>
            </a:r>
            <a:r>
              <a:rPr lang="nl-NL" sz="2000" dirty="0" smtClean="0"/>
              <a:t> beslissingsprocedure voor de </a:t>
            </a:r>
            <a:r>
              <a:rPr lang="nl-NL" sz="2000" dirty="0" err="1" smtClean="0"/>
              <a:t>predikaatlogica</a:t>
            </a:r>
            <a:r>
              <a:rPr lang="nl-NL" sz="2000" dirty="0" smtClean="0"/>
              <a:t>. Soms komen we namelijk niet uit op een tegenvoorbeeld </a:t>
            </a:r>
            <a:r>
              <a:rPr lang="nl-NL" sz="2000" i="1" dirty="0" smtClean="0"/>
              <a:t>en</a:t>
            </a:r>
            <a:r>
              <a:rPr lang="nl-NL" sz="2000" dirty="0" smtClean="0"/>
              <a:t> sluit de boom    zich ook niet. De boom wordt dan oneindig groot. In die gevallen geeft de methode dus </a:t>
            </a:r>
            <a:r>
              <a:rPr lang="nl-NL" sz="2000" dirty="0" err="1" smtClean="0"/>
              <a:t>géén</a:t>
            </a:r>
            <a:r>
              <a:rPr lang="nl-NL" sz="2000" dirty="0" smtClean="0"/>
              <a:t> uitsluitsel over de geldigheid van de redenering in kwestie.</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349696" y="3256384"/>
            <a:ext cx="5158408" cy="50405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Volgt nu dat </a:t>
            </a:r>
            <a:r>
              <a:rPr lang="nl-NL" sz="2000" dirty="0" err="1" smtClean="0"/>
              <a:t>predikaatlogica</a:t>
            </a:r>
            <a:r>
              <a:rPr lang="nl-NL" sz="2000" dirty="0" smtClean="0"/>
              <a:t> </a:t>
            </a:r>
            <a:r>
              <a:rPr lang="nl-NL" sz="2000" i="1" dirty="0" err="1" smtClean="0"/>
              <a:t>on</a:t>
            </a:r>
            <a:r>
              <a:rPr lang="nl-NL" sz="2000" dirty="0" err="1" smtClean="0"/>
              <a:t>beslisbaar</a:t>
            </a:r>
            <a:r>
              <a:rPr lang="nl-NL" sz="2000" dirty="0" smtClean="0"/>
              <a:t> is?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23528" y="3256384"/>
            <a:ext cx="8712968" cy="7486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                                                                                 </a:t>
            </a:r>
            <a:r>
              <a:rPr lang="nl-NL" sz="2000" dirty="0" smtClean="0">
                <a:solidFill>
                  <a:srgbClr val="FF0000"/>
                </a:solidFill>
              </a:rPr>
              <a:t>Nee</a:t>
            </a:r>
            <a:r>
              <a:rPr lang="nl-NL" sz="2000" dirty="0" smtClean="0"/>
              <a:t>, want wellicht is er nog een andere beslissingsprocedure. Dat kan vooralsnog niet uitgesloten worden!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Lst>
  </p:timing>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435280" cy="1143000"/>
          </a:xfrm>
        </p:spPr>
        <p:txBody>
          <a:bodyPr>
            <a:normAutofit/>
          </a:bodyPr>
          <a:lstStyle/>
          <a:p>
            <a:r>
              <a:rPr lang="nl-NL" sz="3200" dirty="0" smtClean="0"/>
              <a:t>Voorbeeld van een situatie waarin de boommethode </a:t>
            </a:r>
            <a:r>
              <a:rPr lang="nl-NL" sz="3200" dirty="0" err="1" smtClean="0"/>
              <a:t>géén</a:t>
            </a:r>
            <a:r>
              <a:rPr lang="nl-NL" sz="3200" dirty="0" smtClean="0"/>
              <a:t> uitsluitsel geeft</a:t>
            </a:r>
            <a:endParaRPr lang="nl-NL" sz="3200" dirty="0"/>
          </a:p>
        </p:txBody>
      </p:sp>
      <p:sp>
        <p:nvSpPr>
          <p:cNvPr id="29" name="Oval 28"/>
          <p:cNvSpPr/>
          <p:nvPr/>
        </p:nvSpPr>
        <p:spPr>
          <a:xfrm>
            <a:off x="2168340" y="177290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0" name="Rectangle 29"/>
          <p:cNvSpPr/>
          <p:nvPr/>
        </p:nvSpPr>
        <p:spPr>
          <a:xfrm>
            <a:off x="926091" y="1574884"/>
            <a:ext cx="1125629" cy="369332"/>
          </a:xfrm>
          <a:prstGeom prst="rect">
            <a:avLst/>
          </a:prstGeom>
        </p:spPr>
        <p:txBody>
          <a:bodyPr wrap="none">
            <a:spAutoFit/>
          </a:bodyPr>
          <a:lstStyle/>
          <a:p>
            <a:r>
              <a:rPr lang="nl-NL" b="1" dirty="0" smtClean="0"/>
              <a:t>∀x ∃y </a:t>
            </a:r>
            <a:r>
              <a:rPr lang="nl-NL" b="1" dirty="0" err="1" smtClean="0"/>
              <a:t>Rxy</a:t>
            </a:r>
            <a:endParaRPr lang="nl-NL" dirty="0"/>
          </a:p>
        </p:txBody>
      </p:sp>
      <p:sp>
        <p:nvSpPr>
          <p:cNvPr id="31" name="Rectangle 30"/>
          <p:cNvSpPr/>
          <p:nvPr/>
        </p:nvSpPr>
        <p:spPr>
          <a:xfrm>
            <a:off x="2253836" y="1574884"/>
            <a:ext cx="542136" cy="369332"/>
          </a:xfrm>
          <a:prstGeom prst="rect">
            <a:avLst/>
          </a:prstGeom>
        </p:spPr>
        <p:txBody>
          <a:bodyPr wrap="none">
            <a:spAutoFit/>
          </a:bodyPr>
          <a:lstStyle/>
          <a:p>
            <a:r>
              <a:rPr lang="nl-NL" b="1" dirty="0" err="1" smtClean="0"/>
              <a:t>Raa</a:t>
            </a:r>
            <a:endParaRPr lang="nl-NL" dirty="0"/>
          </a:p>
        </p:txBody>
      </p:sp>
      <p:cxnSp>
        <p:nvCxnSpPr>
          <p:cNvPr id="34" name="Straight Connector 33"/>
          <p:cNvCxnSpPr/>
          <p:nvPr/>
        </p:nvCxnSpPr>
        <p:spPr>
          <a:xfrm flipH="1">
            <a:off x="2195736" y="1926213"/>
            <a:ext cx="11901" cy="954107"/>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2171789" y="293432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6" name="Straight Connector 35"/>
          <p:cNvCxnSpPr/>
          <p:nvPr/>
        </p:nvCxnSpPr>
        <p:spPr>
          <a:xfrm>
            <a:off x="2207637" y="3078341"/>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7" name="Oval 36"/>
          <p:cNvSpPr/>
          <p:nvPr/>
        </p:nvSpPr>
        <p:spPr>
          <a:xfrm>
            <a:off x="2171789" y="35823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8" name="Straight Connector 37"/>
          <p:cNvCxnSpPr/>
          <p:nvPr/>
        </p:nvCxnSpPr>
        <p:spPr>
          <a:xfrm>
            <a:off x="2207637" y="3726413"/>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2171789" y="423046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0" name="Straight Connector 39"/>
          <p:cNvCxnSpPr/>
          <p:nvPr/>
        </p:nvCxnSpPr>
        <p:spPr>
          <a:xfrm>
            <a:off x="2207637" y="4383777"/>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2171789" y="488783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p:cNvSpPr/>
          <p:nvPr/>
        </p:nvSpPr>
        <p:spPr>
          <a:xfrm>
            <a:off x="1299463" y="2708920"/>
            <a:ext cx="824265" cy="646331"/>
          </a:xfrm>
          <a:prstGeom prst="rect">
            <a:avLst/>
          </a:prstGeom>
        </p:spPr>
        <p:txBody>
          <a:bodyPr wrap="square">
            <a:spAutoFit/>
          </a:bodyPr>
          <a:lstStyle/>
          <a:p>
            <a:r>
              <a:rPr lang="nl-NL" b="1" dirty="0" smtClean="0"/>
              <a:t>∃y </a:t>
            </a:r>
            <a:r>
              <a:rPr lang="nl-NL" b="1" dirty="0" err="1" smtClean="0"/>
              <a:t>Ray</a:t>
            </a:r>
            <a:endParaRPr lang="nl-NL" dirty="0" smtClean="0"/>
          </a:p>
          <a:p>
            <a:endParaRPr lang="nl-NL" dirty="0">
              <a:solidFill>
                <a:srgbClr val="FF0000"/>
              </a:solidFill>
            </a:endParaRPr>
          </a:p>
        </p:txBody>
      </p:sp>
      <p:sp>
        <p:nvSpPr>
          <p:cNvPr id="43" name="Rectangle 42"/>
          <p:cNvSpPr/>
          <p:nvPr/>
        </p:nvSpPr>
        <p:spPr>
          <a:xfrm>
            <a:off x="1619672" y="3429000"/>
            <a:ext cx="551754" cy="369332"/>
          </a:xfrm>
          <a:prstGeom prst="rect">
            <a:avLst/>
          </a:prstGeom>
        </p:spPr>
        <p:txBody>
          <a:bodyPr wrap="none">
            <a:spAutoFit/>
          </a:bodyPr>
          <a:lstStyle/>
          <a:p>
            <a:r>
              <a:rPr lang="nl-NL" b="1" dirty="0" smtClean="0"/>
              <a:t>Rab</a:t>
            </a:r>
            <a:endParaRPr lang="nl-NL" dirty="0"/>
          </a:p>
        </p:txBody>
      </p:sp>
      <p:cxnSp>
        <p:nvCxnSpPr>
          <p:cNvPr id="47" name="Straight Connector 46"/>
          <p:cNvCxnSpPr/>
          <p:nvPr/>
        </p:nvCxnSpPr>
        <p:spPr>
          <a:xfrm>
            <a:off x="2195736" y="504056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8" name="Oval 47"/>
          <p:cNvSpPr/>
          <p:nvPr/>
        </p:nvSpPr>
        <p:spPr>
          <a:xfrm>
            <a:off x="2160000" y="55446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0" name="Straight Connector 49"/>
          <p:cNvCxnSpPr/>
          <p:nvPr/>
        </p:nvCxnSpPr>
        <p:spPr>
          <a:xfrm>
            <a:off x="2195736" y="56886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2160000" y="61926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9" name="Rectangle 58"/>
          <p:cNvSpPr/>
          <p:nvPr/>
        </p:nvSpPr>
        <p:spPr>
          <a:xfrm>
            <a:off x="1331640" y="4078813"/>
            <a:ext cx="968281" cy="646331"/>
          </a:xfrm>
          <a:prstGeom prst="rect">
            <a:avLst/>
          </a:prstGeom>
        </p:spPr>
        <p:txBody>
          <a:bodyPr wrap="square">
            <a:spAutoFit/>
          </a:bodyPr>
          <a:lstStyle/>
          <a:p>
            <a:r>
              <a:rPr lang="nl-NL" b="1" dirty="0" smtClean="0"/>
              <a:t>∃y </a:t>
            </a:r>
            <a:r>
              <a:rPr lang="nl-NL" b="1" dirty="0" err="1" smtClean="0"/>
              <a:t>Rby</a:t>
            </a:r>
            <a:endParaRPr lang="nl-NL" dirty="0" smtClean="0"/>
          </a:p>
          <a:p>
            <a:endParaRPr lang="nl-NL" dirty="0">
              <a:solidFill>
                <a:srgbClr val="FF0000"/>
              </a:solidFill>
            </a:endParaRPr>
          </a:p>
        </p:txBody>
      </p:sp>
      <p:sp>
        <p:nvSpPr>
          <p:cNvPr id="60" name="Rectangle 59"/>
          <p:cNvSpPr/>
          <p:nvPr/>
        </p:nvSpPr>
        <p:spPr>
          <a:xfrm>
            <a:off x="1619672" y="4715852"/>
            <a:ext cx="534121" cy="369332"/>
          </a:xfrm>
          <a:prstGeom prst="rect">
            <a:avLst/>
          </a:prstGeom>
        </p:spPr>
        <p:txBody>
          <a:bodyPr wrap="none">
            <a:spAutoFit/>
          </a:bodyPr>
          <a:lstStyle/>
          <a:p>
            <a:r>
              <a:rPr lang="nl-NL" b="1" dirty="0" err="1" smtClean="0"/>
              <a:t>Rbc</a:t>
            </a:r>
            <a:endParaRPr lang="nl-NL" dirty="0"/>
          </a:p>
        </p:txBody>
      </p:sp>
      <p:sp>
        <p:nvSpPr>
          <p:cNvPr id="61" name="Rectangle 60"/>
          <p:cNvSpPr/>
          <p:nvPr/>
        </p:nvSpPr>
        <p:spPr>
          <a:xfrm>
            <a:off x="1299463" y="5374957"/>
            <a:ext cx="968281" cy="646331"/>
          </a:xfrm>
          <a:prstGeom prst="rect">
            <a:avLst/>
          </a:prstGeom>
        </p:spPr>
        <p:txBody>
          <a:bodyPr wrap="square">
            <a:spAutoFit/>
          </a:bodyPr>
          <a:lstStyle/>
          <a:p>
            <a:r>
              <a:rPr lang="nl-NL" b="1" dirty="0" smtClean="0"/>
              <a:t>∃y </a:t>
            </a:r>
            <a:r>
              <a:rPr lang="nl-NL" b="1" dirty="0" err="1" smtClean="0"/>
              <a:t>Rcy</a:t>
            </a:r>
            <a:endParaRPr lang="nl-NL" dirty="0" smtClean="0"/>
          </a:p>
          <a:p>
            <a:endParaRPr lang="nl-NL" dirty="0">
              <a:solidFill>
                <a:srgbClr val="FF0000"/>
              </a:solidFill>
            </a:endParaRPr>
          </a:p>
        </p:txBody>
      </p:sp>
      <p:sp>
        <p:nvSpPr>
          <p:cNvPr id="62" name="Rectangle 61"/>
          <p:cNvSpPr/>
          <p:nvPr/>
        </p:nvSpPr>
        <p:spPr>
          <a:xfrm>
            <a:off x="1589607" y="6011996"/>
            <a:ext cx="534121" cy="369332"/>
          </a:xfrm>
          <a:prstGeom prst="rect">
            <a:avLst/>
          </a:prstGeom>
        </p:spPr>
        <p:txBody>
          <a:bodyPr wrap="none">
            <a:spAutoFit/>
          </a:bodyPr>
          <a:lstStyle/>
          <a:p>
            <a:r>
              <a:rPr lang="nl-NL" b="1" dirty="0" err="1" smtClean="0"/>
              <a:t>Rcd</a:t>
            </a:r>
            <a:endParaRPr lang="nl-NL" dirty="0"/>
          </a:p>
        </p:txBody>
      </p:sp>
      <p:sp>
        <p:nvSpPr>
          <p:cNvPr id="63" name="TextBox 62"/>
          <p:cNvSpPr txBox="1"/>
          <p:nvPr/>
        </p:nvSpPr>
        <p:spPr>
          <a:xfrm>
            <a:off x="1187624" y="6444044"/>
            <a:ext cx="2376264" cy="369332"/>
          </a:xfrm>
          <a:prstGeom prst="rect">
            <a:avLst/>
          </a:prstGeom>
          <a:noFill/>
        </p:spPr>
        <p:txBody>
          <a:bodyPr wrap="square" rtlCol="0">
            <a:spAutoFit/>
          </a:bodyPr>
          <a:lstStyle/>
          <a:p>
            <a:r>
              <a:rPr lang="nl-NL" i="1" dirty="0" err="1" smtClean="0"/>
              <a:t>Etc</a:t>
            </a:r>
            <a:r>
              <a:rPr lang="nl-NL" i="1" dirty="0" smtClean="0"/>
              <a:t>… Ad </a:t>
            </a:r>
            <a:r>
              <a:rPr lang="nl-NL" i="1" dirty="0" err="1" smtClean="0"/>
              <a:t>infinitum</a:t>
            </a:r>
            <a:r>
              <a:rPr lang="nl-NL" i="1" dirty="0" smtClean="0"/>
              <a:t>…</a:t>
            </a:r>
            <a:endParaRPr lang="nl-NL" i="1" dirty="0"/>
          </a:p>
        </p:txBody>
      </p:sp>
      <p:sp>
        <p:nvSpPr>
          <p:cNvPr id="64" name="TextBox 63"/>
          <p:cNvSpPr txBox="1"/>
          <p:nvPr/>
        </p:nvSpPr>
        <p:spPr>
          <a:xfrm>
            <a:off x="3779912" y="1628800"/>
            <a:ext cx="5364088" cy="1754326"/>
          </a:xfrm>
          <a:prstGeom prst="rect">
            <a:avLst/>
          </a:prstGeom>
          <a:noFill/>
        </p:spPr>
        <p:txBody>
          <a:bodyPr wrap="square" rtlCol="0">
            <a:spAutoFit/>
          </a:bodyPr>
          <a:lstStyle/>
          <a:p>
            <a:r>
              <a:rPr lang="nl-NL" dirty="0" smtClean="0"/>
              <a:t>Door toepassing van de boommethode stuiten we nooit op een eindige uitontwikkelde open tak en dus ook nooit op een tegenvoorbeeld. En de boom sluit   ook nooit.  Er is sprake van een </a:t>
            </a:r>
            <a:r>
              <a:rPr lang="nl-NL" i="1" dirty="0" smtClean="0"/>
              <a:t>oneindige regressie</a:t>
            </a:r>
            <a:r>
              <a:rPr lang="nl-NL" dirty="0" smtClean="0"/>
              <a:t>.     De boommethode vertelt ons hier dus niet of de redenering in kwestie wel of niet semantisch geldig is. </a:t>
            </a:r>
            <a:endParaRPr lang="nl-NL" dirty="0"/>
          </a:p>
        </p:txBody>
      </p:sp>
      <p:sp>
        <p:nvSpPr>
          <p:cNvPr id="65" name="TextBox 64"/>
          <p:cNvSpPr txBox="1"/>
          <p:nvPr/>
        </p:nvSpPr>
        <p:spPr>
          <a:xfrm>
            <a:off x="3851920" y="3560817"/>
            <a:ext cx="4824536" cy="3108543"/>
          </a:xfrm>
          <a:prstGeom prst="rect">
            <a:avLst/>
          </a:prstGeom>
          <a:noFill/>
        </p:spPr>
        <p:txBody>
          <a:bodyPr wrap="square" rtlCol="0">
            <a:spAutoFit/>
          </a:bodyPr>
          <a:lstStyle/>
          <a:p>
            <a:r>
              <a:rPr lang="nl-NL" dirty="0" smtClean="0"/>
              <a:t>Toch kunnen we zelf inzien dat de redenering  semantisch ongeldig is. Neem maar de volgende </a:t>
            </a:r>
            <a:r>
              <a:rPr lang="nl-NL" i="1" dirty="0" smtClean="0"/>
              <a:t>interpretatie</a:t>
            </a:r>
            <a:r>
              <a:rPr lang="nl-NL" dirty="0" smtClean="0"/>
              <a:t>: </a:t>
            </a:r>
          </a:p>
          <a:p>
            <a:endParaRPr lang="nl-NL" sz="800" b="1" dirty="0" smtClean="0"/>
          </a:p>
          <a:p>
            <a:r>
              <a:rPr lang="nl-NL" b="1" dirty="0" smtClean="0"/>
              <a:t>Domein</a:t>
            </a:r>
            <a:r>
              <a:rPr lang="nl-NL" dirty="0" smtClean="0"/>
              <a:t>: mensen. </a:t>
            </a:r>
          </a:p>
          <a:p>
            <a:r>
              <a:rPr lang="nl-NL" b="1" dirty="0" err="1" smtClean="0"/>
              <a:t>Rxy</a:t>
            </a:r>
            <a:r>
              <a:rPr lang="nl-NL" dirty="0" smtClean="0"/>
              <a:t>: y is de moeder van x. </a:t>
            </a:r>
          </a:p>
          <a:p>
            <a:r>
              <a:rPr lang="nl-NL" b="1" dirty="0" smtClean="0"/>
              <a:t>a</a:t>
            </a:r>
            <a:r>
              <a:rPr lang="nl-NL" dirty="0" smtClean="0"/>
              <a:t>: Esther. </a:t>
            </a:r>
          </a:p>
          <a:p>
            <a:endParaRPr lang="nl-NL" sz="800" dirty="0" smtClean="0"/>
          </a:p>
          <a:p>
            <a:r>
              <a:rPr lang="nl-NL" dirty="0" smtClean="0"/>
              <a:t>Deze interpretatie maakt de premisse van de redenering waar (‘Iedereen heeft een moeder’) en de conclusie onwaar (‘Esther is de moeder van zichzelf’).  Dus inderdaad semantisch ongeldig.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animEffect transition="in" filter="fade">
                                      <p:cBhvr>
                                        <p:cTn id="7" dur="2000"/>
                                        <p:tgtEl>
                                          <p:spTgt spid="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
                                            <p:txEl>
                                              <p:pRg st="0" end="0"/>
                                            </p:txEl>
                                          </p:spTgt>
                                        </p:tgtEl>
                                        <p:attrNameLst>
                                          <p:attrName>style.visibility</p:attrName>
                                        </p:attrNameLst>
                                      </p:cBhvr>
                                      <p:to>
                                        <p:strVal val="visible"/>
                                      </p:to>
                                    </p:set>
                                    <p:animEffect transition="in" filter="fade">
                                      <p:cBhvr>
                                        <p:cTn id="12" dur="2000"/>
                                        <p:tgtEl>
                                          <p:spTgt spid="65">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5">
                                            <p:txEl>
                                              <p:pRg st="2" end="2"/>
                                            </p:txEl>
                                          </p:spTgt>
                                        </p:tgtEl>
                                        <p:attrNameLst>
                                          <p:attrName>style.visibility</p:attrName>
                                        </p:attrNameLst>
                                      </p:cBhvr>
                                      <p:to>
                                        <p:strVal val="visible"/>
                                      </p:to>
                                    </p:set>
                                    <p:animEffect transition="in" filter="fade">
                                      <p:cBhvr>
                                        <p:cTn id="15" dur="2000"/>
                                        <p:tgtEl>
                                          <p:spTgt spid="6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5">
                                            <p:txEl>
                                              <p:pRg st="3" end="3"/>
                                            </p:txEl>
                                          </p:spTgt>
                                        </p:tgtEl>
                                        <p:attrNameLst>
                                          <p:attrName>style.visibility</p:attrName>
                                        </p:attrNameLst>
                                      </p:cBhvr>
                                      <p:to>
                                        <p:strVal val="visible"/>
                                      </p:to>
                                    </p:set>
                                    <p:animEffect transition="in" filter="fade">
                                      <p:cBhvr>
                                        <p:cTn id="18" dur="2000"/>
                                        <p:tgtEl>
                                          <p:spTgt spid="6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5">
                                            <p:txEl>
                                              <p:pRg st="4" end="4"/>
                                            </p:txEl>
                                          </p:spTgt>
                                        </p:tgtEl>
                                        <p:attrNameLst>
                                          <p:attrName>style.visibility</p:attrName>
                                        </p:attrNameLst>
                                      </p:cBhvr>
                                      <p:to>
                                        <p:strVal val="visible"/>
                                      </p:to>
                                    </p:set>
                                    <p:animEffect transition="in" filter="fade">
                                      <p:cBhvr>
                                        <p:cTn id="21" dur="2000"/>
                                        <p:tgtEl>
                                          <p:spTgt spid="6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5">
                                            <p:txEl>
                                              <p:pRg st="6" end="6"/>
                                            </p:txEl>
                                          </p:spTgt>
                                        </p:tgtEl>
                                        <p:attrNameLst>
                                          <p:attrName>style.visibility</p:attrName>
                                        </p:attrNameLst>
                                      </p:cBhvr>
                                      <p:to>
                                        <p:strVal val="visible"/>
                                      </p:to>
                                    </p:set>
                                    <p:animEffect transition="in" filter="fade">
                                      <p:cBhvr>
                                        <p:cTn id="24" dur="2000"/>
                                        <p:tgtEl>
                                          <p:spTgt spid="6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build="allAtOnce"/>
      <p:bldP spid="65" grpId="0" build="allAtOnce"/>
    </p:bldLst>
  </p:timing>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De semantische boommethode is geen beslissingsprocedure voor de </a:t>
            </a:r>
            <a:r>
              <a:rPr lang="nl-NL" sz="3600" dirty="0" err="1" smtClean="0"/>
              <a:t>predikaatlogica</a:t>
            </a:r>
            <a:endParaRPr lang="nl-NL" sz="3600" dirty="0"/>
          </a:p>
        </p:txBody>
      </p:sp>
      <p:sp>
        <p:nvSpPr>
          <p:cNvPr id="8" name="Content Placeholder 2"/>
          <p:cNvSpPr txBox="1">
            <a:spLocks/>
          </p:cNvSpPr>
          <p:nvPr/>
        </p:nvSpPr>
        <p:spPr>
          <a:xfrm>
            <a:off x="395536" y="4984576"/>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Een oneindige regressie in één of meerdere takken (kortom: een oneindige boom) betekent dus niet automatisch dat de boommethode faalt! Als we daarnaast namelijk één of meerdere eindige uitontwikkelde open takken tegenkomen, dan </a:t>
            </a:r>
            <a:r>
              <a:rPr lang="nl-NL" sz="2000" dirty="0" smtClean="0"/>
              <a:t>leveren die takken nog steeds keurig tegenvoorbeelden op, zodat we weten dat de redenering </a:t>
            </a:r>
            <a:r>
              <a:rPr lang="nl-NL" sz="2000" noProof="0" dirty="0" smtClean="0"/>
              <a:t>in kwestie semantisch ongeldig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467544" y="1528192"/>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Soms krijgen we bij het toepassen van de boommethode een combinatie van één of meer eindige uitontwikkelde open takken (die dus elk een tegenvoorbeeld opleveren) en één of meer takken waar geen einde aan komt. Dit zijn dus situaties waarin de boommethode toch uitsluitsel geeft over het semantisch geldig of ongeldig zijn van de redenering in kwestie</a:t>
            </a:r>
          </a:p>
        </p:txBody>
      </p:sp>
      <p:sp>
        <p:nvSpPr>
          <p:cNvPr id="5" name="Oval 4"/>
          <p:cNvSpPr/>
          <p:nvPr/>
        </p:nvSpPr>
        <p:spPr>
          <a:xfrm>
            <a:off x="2171789" y="32129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Oval 6"/>
          <p:cNvSpPr/>
          <p:nvPr/>
        </p:nvSpPr>
        <p:spPr>
          <a:xfrm>
            <a:off x="2171789" y="363564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3" name="Straight Connector 12"/>
          <p:cNvCxnSpPr/>
          <p:nvPr/>
        </p:nvCxnSpPr>
        <p:spPr>
          <a:xfrm>
            <a:off x="2195736" y="3347611"/>
            <a:ext cx="0" cy="21602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279801" y="3779659"/>
            <a:ext cx="203967" cy="21602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Oval 15"/>
          <p:cNvSpPr/>
          <p:nvPr/>
        </p:nvSpPr>
        <p:spPr>
          <a:xfrm>
            <a:off x="2555776" y="399568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7" name="Straight Connector 16"/>
          <p:cNvCxnSpPr/>
          <p:nvPr/>
        </p:nvCxnSpPr>
        <p:spPr>
          <a:xfrm flipH="1">
            <a:off x="1907704" y="3779659"/>
            <a:ext cx="288032" cy="2880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1763688" y="406769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2" name="Straight Connector 21"/>
          <p:cNvCxnSpPr/>
          <p:nvPr/>
        </p:nvCxnSpPr>
        <p:spPr>
          <a:xfrm flipH="1">
            <a:off x="1475656" y="4211707"/>
            <a:ext cx="288032" cy="28803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27584" y="4581128"/>
            <a:ext cx="1656184" cy="369332"/>
          </a:xfrm>
          <a:prstGeom prst="rect">
            <a:avLst/>
          </a:prstGeom>
          <a:noFill/>
        </p:spPr>
        <p:txBody>
          <a:bodyPr wrap="square" rtlCol="0">
            <a:spAutoFit/>
          </a:bodyPr>
          <a:lstStyle/>
          <a:p>
            <a:r>
              <a:rPr lang="nl-NL" i="1" dirty="0" smtClean="0">
                <a:solidFill>
                  <a:srgbClr val="0070C0"/>
                </a:solidFill>
              </a:rPr>
              <a:t>Ad </a:t>
            </a:r>
            <a:r>
              <a:rPr lang="nl-NL" i="1" dirty="0" err="1" smtClean="0">
                <a:solidFill>
                  <a:srgbClr val="0070C0"/>
                </a:solidFill>
              </a:rPr>
              <a:t>Infinitum</a:t>
            </a:r>
            <a:endParaRPr lang="nl-NL" i="1" dirty="0">
              <a:solidFill>
                <a:srgbClr val="0070C0"/>
              </a:solidFill>
            </a:endParaRPr>
          </a:p>
        </p:txBody>
      </p:sp>
      <p:sp>
        <p:nvSpPr>
          <p:cNvPr id="24" name="TextBox 23"/>
          <p:cNvSpPr txBox="1"/>
          <p:nvPr/>
        </p:nvSpPr>
        <p:spPr>
          <a:xfrm>
            <a:off x="1187624" y="4365104"/>
            <a:ext cx="792088"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Lst>
  </p:timing>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propositielogica is </a:t>
            </a:r>
            <a:r>
              <a:rPr lang="nl-NL" sz="3600" i="1" dirty="0" smtClean="0"/>
              <a:t>volledig</a:t>
            </a:r>
            <a:r>
              <a:rPr lang="nl-NL" sz="3600" dirty="0" smtClean="0"/>
              <a:t> en </a:t>
            </a:r>
            <a:r>
              <a:rPr lang="nl-NL" sz="3600" i="1" dirty="0" smtClean="0"/>
              <a:t>correct</a:t>
            </a:r>
            <a:endParaRPr lang="nl-NL" sz="3600" i="1" dirty="0"/>
          </a:p>
        </p:txBody>
      </p:sp>
      <p:sp>
        <p:nvSpPr>
          <p:cNvPr id="3" name="Content Placeholder 2"/>
          <p:cNvSpPr>
            <a:spLocks noGrp="1"/>
          </p:cNvSpPr>
          <p:nvPr>
            <p:ph idx="1"/>
          </p:nvPr>
        </p:nvSpPr>
        <p:spPr>
          <a:xfrm>
            <a:off x="457200" y="1988840"/>
            <a:ext cx="8229600" cy="1972816"/>
          </a:xfrm>
        </p:spPr>
        <p:txBody>
          <a:bodyPr>
            <a:normAutofit fontScale="92500" lnSpcReduction="10000"/>
          </a:bodyPr>
          <a:lstStyle/>
          <a:p>
            <a:pPr>
              <a:buNone/>
            </a:pPr>
            <a:r>
              <a:rPr lang="nl-NL" sz="2400" dirty="0" smtClean="0"/>
              <a:t>	</a:t>
            </a:r>
            <a:r>
              <a:rPr lang="nl-NL" sz="2400" b="1" dirty="0" smtClean="0"/>
              <a:t>Volledigheidsstelling</a:t>
            </a:r>
          </a:p>
          <a:p>
            <a:pPr>
              <a:buNone/>
            </a:pPr>
            <a:r>
              <a:rPr lang="nl-NL" sz="2400" dirty="0" smtClean="0"/>
              <a:t>	Elke redenering in de propositielogica die semantisch geldig is, is ook syntactisch afleidbaar in het systeem van natuurlijke deductie.</a:t>
            </a:r>
          </a:p>
          <a:p>
            <a:pPr>
              <a:buNone/>
            </a:pPr>
            <a:endParaRPr lang="nl-NL" sz="800" dirty="0" smtClean="0"/>
          </a:p>
          <a:p>
            <a:pPr>
              <a:buNone/>
            </a:pPr>
            <a:r>
              <a:rPr lang="nl-NL" sz="2400" dirty="0" smtClean="0"/>
              <a:t>      </a:t>
            </a:r>
            <a:r>
              <a:rPr lang="nl-NL" sz="2400" i="1" dirty="0" smtClean="0"/>
              <a:t>Als</a:t>
            </a:r>
            <a:r>
              <a:rPr lang="nl-NL" sz="2400"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a:t>
            </a:r>
            <a:r>
              <a:rPr lang="nl-NL" sz="2400" dirty="0" smtClean="0"/>
              <a:t>  </a:t>
            </a:r>
            <a:r>
              <a:rPr lang="el-GR" sz="2400" b="1" i="1" dirty="0" smtClean="0"/>
              <a:t>β</a:t>
            </a:r>
            <a:r>
              <a:rPr lang="nl-NL" sz="2400" b="1" i="1" dirty="0" smtClean="0"/>
              <a:t>    </a:t>
            </a:r>
            <a:r>
              <a:rPr lang="nl-NL" sz="2400" i="1" dirty="0" smtClean="0"/>
              <a:t>Dan</a:t>
            </a:r>
            <a:r>
              <a:rPr lang="nl-NL" sz="2400" b="1" i="1"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Ⱶ</a:t>
            </a:r>
            <a:r>
              <a:rPr lang="nl-NL" sz="2400" dirty="0" smtClean="0"/>
              <a:t>   </a:t>
            </a:r>
            <a:r>
              <a:rPr lang="el-GR" sz="2400" b="1" i="1" dirty="0" smtClean="0"/>
              <a:t>β</a:t>
            </a:r>
            <a:endParaRPr lang="nl-NL" sz="2400" dirty="0" smtClean="0"/>
          </a:p>
          <a:p>
            <a:pPr>
              <a:buNone/>
            </a:pPr>
            <a:r>
              <a:rPr lang="nl-NL" sz="2400" dirty="0" smtClean="0"/>
              <a:t>	</a:t>
            </a:r>
          </a:p>
          <a:p>
            <a:pPr>
              <a:buNone/>
            </a:pPr>
            <a:endParaRPr lang="nl-NL" sz="2400" dirty="0"/>
          </a:p>
        </p:txBody>
      </p:sp>
      <p:sp>
        <p:nvSpPr>
          <p:cNvPr id="5" name="Content Placeholder 2"/>
          <p:cNvSpPr txBox="1">
            <a:spLocks/>
          </p:cNvSpPr>
          <p:nvPr/>
        </p:nvSpPr>
        <p:spPr>
          <a:xfrm>
            <a:off x="446856" y="3976464"/>
            <a:ext cx="8229600" cy="1972816"/>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Correctheidsstelling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Elke redenering in de </a:t>
            </a:r>
            <a:r>
              <a:rPr kumimoji="0" lang="nl-NL" sz="2400" b="0" i="0" u="none" strike="noStrike" kern="1200" cap="none" spc="0" normalizeH="0" baseline="0" noProof="0" dirty="0" smtClean="0">
                <a:ln>
                  <a:noFill/>
                </a:ln>
                <a:effectLst/>
                <a:uLnTx/>
                <a:uFillTx/>
                <a:latin typeface="+mn-lt"/>
                <a:ea typeface="+mn-ea"/>
                <a:cs typeface="+mn-cs"/>
              </a:rPr>
              <a:t>propositie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logica die syntactisch</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afleidbaar is in het systeem van natuurlijke deductie,</a:t>
            </a:r>
            <a:r>
              <a:rPr kumimoji="0" lang="nl-NL" sz="2400" b="0" i="0" u="none" strike="noStrike" kern="1200" cap="none" spc="0" normalizeH="0" noProof="0" dirty="0" smtClean="0">
                <a:ln>
                  <a:noFill/>
                </a:ln>
                <a:solidFill>
                  <a:schemeClr val="tx1"/>
                </a:solidFill>
                <a:effectLst/>
                <a:uLnTx/>
                <a:uFillTx/>
                <a:latin typeface="+mn-lt"/>
                <a:ea typeface="+mn-ea"/>
                <a:cs typeface="+mn-cs"/>
              </a:rPr>
              <a:t> is ook semantisch geldig</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Als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dirty="0" smtClean="0"/>
              <a:t>Ⱶ</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Dan</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noProof="0" dirty="0" smtClean="0"/>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323528" y="6093296"/>
            <a:ext cx="8640960" cy="400110"/>
          </a:xfrm>
          <a:prstGeom prst="rect">
            <a:avLst/>
          </a:prstGeom>
          <a:noFill/>
        </p:spPr>
        <p:txBody>
          <a:bodyPr wrap="square" rtlCol="0">
            <a:spAutoFit/>
          </a:bodyPr>
          <a:lstStyle/>
          <a:p>
            <a:r>
              <a:rPr lang="nl-NL" sz="2000" i="1" dirty="0" smtClean="0"/>
              <a:t>Uit de correctheidsstelling volgt dat de propositielogica consistent is. Waarom?</a:t>
            </a:r>
            <a:endParaRPr lang="nl-NL" sz="2000" i="1" dirty="0"/>
          </a:p>
        </p:txBody>
      </p:sp>
    </p:spTree>
  </p:cSld>
  <p:clrMapOvr>
    <a:masterClrMapping/>
  </p:clrMapOvr>
  <p:timing>
    <p:tnLst>
      <p:par>
        <p:cTn id="1" dur="indefinite" restart="never" nodeType="tmRoot"/>
      </p:par>
    </p:tnLst>
  </p:timing>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a:t>
            </a:r>
            <a:r>
              <a:rPr lang="nl-NL" sz="3600" dirty="0" smtClean="0">
                <a:solidFill>
                  <a:srgbClr val="0070C0"/>
                </a:solidFill>
              </a:rPr>
              <a:t>propositie</a:t>
            </a:r>
            <a:r>
              <a:rPr lang="nl-NL" sz="3600" dirty="0" smtClean="0"/>
              <a:t>logica is </a:t>
            </a:r>
            <a:r>
              <a:rPr lang="nl-NL" sz="3600" i="1" dirty="0" smtClean="0"/>
              <a:t>volledig</a:t>
            </a:r>
            <a:r>
              <a:rPr lang="nl-NL" sz="3600" dirty="0" smtClean="0"/>
              <a:t> en </a:t>
            </a:r>
            <a:r>
              <a:rPr lang="nl-NL" sz="3600" i="1" dirty="0" smtClean="0"/>
              <a:t>correct</a:t>
            </a:r>
            <a:endParaRPr lang="nl-NL" sz="3600" i="1" dirty="0"/>
          </a:p>
        </p:txBody>
      </p:sp>
      <p:sp>
        <p:nvSpPr>
          <p:cNvPr id="3" name="Content Placeholder 2"/>
          <p:cNvSpPr>
            <a:spLocks noGrp="1"/>
          </p:cNvSpPr>
          <p:nvPr>
            <p:ph idx="1"/>
          </p:nvPr>
        </p:nvSpPr>
        <p:spPr>
          <a:xfrm>
            <a:off x="457200" y="1988840"/>
            <a:ext cx="8229600" cy="1972816"/>
          </a:xfrm>
        </p:spPr>
        <p:txBody>
          <a:bodyPr>
            <a:normAutofit fontScale="92500" lnSpcReduction="10000"/>
          </a:bodyPr>
          <a:lstStyle/>
          <a:p>
            <a:pPr>
              <a:buNone/>
            </a:pPr>
            <a:r>
              <a:rPr lang="nl-NL" sz="2400" dirty="0" smtClean="0"/>
              <a:t>	</a:t>
            </a:r>
            <a:r>
              <a:rPr lang="nl-NL" sz="2400" b="1" dirty="0" smtClean="0"/>
              <a:t>Volledigheidsstelling</a:t>
            </a:r>
          </a:p>
          <a:p>
            <a:pPr>
              <a:buNone/>
            </a:pPr>
            <a:r>
              <a:rPr lang="nl-NL" sz="2400" dirty="0" smtClean="0"/>
              <a:t>	Elke redenering in de </a:t>
            </a:r>
            <a:r>
              <a:rPr lang="nl-NL" sz="2400" dirty="0" smtClean="0">
                <a:solidFill>
                  <a:srgbClr val="0070C0"/>
                </a:solidFill>
              </a:rPr>
              <a:t>propositie</a:t>
            </a:r>
            <a:r>
              <a:rPr lang="nl-NL" sz="2400" dirty="0" smtClean="0"/>
              <a:t>logica die semantisch geldig is, is ook syntactisch afleidbaar in het systeem van natuurlijke deductie.</a:t>
            </a:r>
          </a:p>
          <a:p>
            <a:pPr>
              <a:buNone/>
            </a:pPr>
            <a:endParaRPr lang="nl-NL" sz="800" dirty="0" smtClean="0"/>
          </a:p>
          <a:p>
            <a:pPr>
              <a:buNone/>
            </a:pPr>
            <a:r>
              <a:rPr lang="nl-NL" sz="2400" dirty="0" smtClean="0"/>
              <a:t>      </a:t>
            </a:r>
            <a:r>
              <a:rPr lang="nl-NL" sz="2400" i="1" dirty="0" smtClean="0"/>
              <a:t>Als</a:t>
            </a:r>
            <a:r>
              <a:rPr lang="nl-NL" sz="2400"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a:t>
            </a:r>
            <a:r>
              <a:rPr lang="nl-NL" sz="2400" dirty="0" smtClean="0"/>
              <a:t>  </a:t>
            </a:r>
            <a:r>
              <a:rPr lang="el-GR" sz="2400" b="1" i="1" dirty="0" smtClean="0"/>
              <a:t>β</a:t>
            </a:r>
            <a:r>
              <a:rPr lang="nl-NL" sz="2400" b="1" i="1" dirty="0" smtClean="0"/>
              <a:t>    </a:t>
            </a:r>
            <a:r>
              <a:rPr lang="nl-NL" sz="2400" i="1" dirty="0" smtClean="0"/>
              <a:t>Dan</a:t>
            </a:r>
            <a:r>
              <a:rPr lang="nl-NL" sz="2400" b="1" i="1"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Ⱶ</a:t>
            </a:r>
            <a:r>
              <a:rPr lang="nl-NL" sz="2400" dirty="0" smtClean="0"/>
              <a:t>   </a:t>
            </a:r>
            <a:r>
              <a:rPr lang="el-GR" sz="2400" b="1" i="1" dirty="0" smtClean="0"/>
              <a:t>β</a:t>
            </a:r>
            <a:endParaRPr lang="nl-NL" sz="2400" dirty="0" smtClean="0"/>
          </a:p>
          <a:p>
            <a:pPr>
              <a:buNone/>
            </a:pPr>
            <a:r>
              <a:rPr lang="nl-NL" sz="2400" dirty="0" smtClean="0"/>
              <a:t>	</a:t>
            </a:r>
          </a:p>
          <a:p>
            <a:pPr>
              <a:buNone/>
            </a:pPr>
            <a:endParaRPr lang="nl-NL" sz="2400" dirty="0"/>
          </a:p>
        </p:txBody>
      </p:sp>
      <p:sp>
        <p:nvSpPr>
          <p:cNvPr id="5" name="Content Placeholder 2"/>
          <p:cNvSpPr txBox="1">
            <a:spLocks/>
          </p:cNvSpPr>
          <p:nvPr/>
        </p:nvSpPr>
        <p:spPr>
          <a:xfrm>
            <a:off x="446856" y="3976464"/>
            <a:ext cx="8229600" cy="1972816"/>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Correctheidsstelling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Elke redenering in de </a:t>
            </a:r>
            <a:r>
              <a:rPr kumimoji="0" lang="nl-NL" sz="2400" b="0" i="0" u="none" strike="noStrike" kern="1200" cap="none" spc="0" normalizeH="0" baseline="0" noProof="0" dirty="0" smtClean="0">
                <a:ln>
                  <a:noFill/>
                </a:ln>
                <a:solidFill>
                  <a:srgbClr val="0070C0"/>
                </a:solidFill>
                <a:effectLst/>
                <a:uLnTx/>
                <a:uFillTx/>
                <a:latin typeface="+mn-lt"/>
                <a:ea typeface="+mn-ea"/>
                <a:cs typeface="+mn-cs"/>
              </a:rPr>
              <a:t>propositie</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logica die syntactisch</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afleidbaar is in het systeem van natuurlijke deductie,</a:t>
            </a:r>
            <a:r>
              <a:rPr kumimoji="0" lang="nl-NL" sz="2400" b="0" i="0" u="none" strike="noStrike" kern="1200" cap="none" spc="0" normalizeH="0" noProof="0" dirty="0" smtClean="0">
                <a:ln>
                  <a:noFill/>
                </a:ln>
                <a:solidFill>
                  <a:schemeClr val="tx1"/>
                </a:solidFill>
                <a:effectLst/>
                <a:uLnTx/>
                <a:uFillTx/>
                <a:latin typeface="+mn-lt"/>
                <a:ea typeface="+mn-ea"/>
                <a:cs typeface="+mn-cs"/>
              </a:rPr>
              <a:t> is ook semantisch geldig</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Als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dirty="0" smtClean="0"/>
              <a:t>Ⱶ</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Dan</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noProof="0" dirty="0" smtClean="0"/>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323528" y="6093296"/>
            <a:ext cx="8640960" cy="400110"/>
          </a:xfrm>
          <a:prstGeom prst="rect">
            <a:avLst/>
          </a:prstGeom>
          <a:noFill/>
        </p:spPr>
        <p:txBody>
          <a:bodyPr wrap="square" rtlCol="0">
            <a:spAutoFit/>
          </a:bodyPr>
          <a:lstStyle/>
          <a:p>
            <a:r>
              <a:rPr lang="nl-NL" sz="2000" i="1" dirty="0" smtClean="0"/>
              <a:t>Uit de correctheidsstelling volgt dat de </a:t>
            </a:r>
            <a:r>
              <a:rPr lang="nl-NL" sz="2000" i="1" dirty="0" smtClean="0">
                <a:solidFill>
                  <a:srgbClr val="0070C0"/>
                </a:solidFill>
              </a:rPr>
              <a:t>propositie</a:t>
            </a:r>
            <a:r>
              <a:rPr lang="nl-NL" sz="2000" i="1" dirty="0" smtClean="0"/>
              <a:t>logica consistent is. Waarom?</a:t>
            </a:r>
            <a:endParaRPr lang="nl-NL" sz="2000" i="1" dirty="0"/>
          </a:p>
        </p:txBody>
      </p:sp>
    </p:spTree>
  </p:cSld>
  <p:clrMapOvr>
    <a:masterClrMapping/>
  </p:clrMapOvr>
  <p:timing>
    <p:tnLst>
      <p:par>
        <p:cTn id="1" dur="indefinite" restart="never" nodeType="tmRoot"/>
      </p:par>
    </p:tnLst>
  </p:timing>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a:t>
            </a:r>
            <a:r>
              <a:rPr lang="nl-NL" sz="3600" dirty="0" err="1" smtClean="0">
                <a:solidFill>
                  <a:srgbClr val="C00000"/>
                </a:solidFill>
              </a:rPr>
              <a:t>predikaat</a:t>
            </a:r>
            <a:r>
              <a:rPr lang="nl-NL" sz="3600" dirty="0" err="1" smtClean="0"/>
              <a:t>logica</a:t>
            </a:r>
            <a:r>
              <a:rPr lang="nl-NL" sz="3600" dirty="0" smtClean="0"/>
              <a:t> is </a:t>
            </a:r>
            <a:r>
              <a:rPr lang="nl-NL" sz="3600" i="1" dirty="0" smtClean="0"/>
              <a:t>volledig</a:t>
            </a:r>
            <a:r>
              <a:rPr lang="nl-NL" sz="3600" dirty="0" smtClean="0"/>
              <a:t> en </a:t>
            </a:r>
            <a:r>
              <a:rPr lang="nl-NL" sz="3600" i="1" dirty="0" smtClean="0"/>
              <a:t>correct</a:t>
            </a:r>
            <a:endParaRPr lang="nl-NL" sz="3600" i="1" dirty="0"/>
          </a:p>
        </p:txBody>
      </p:sp>
      <p:sp>
        <p:nvSpPr>
          <p:cNvPr id="3" name="Content Placeholder 2"/>
          <p:cNvSpPr>
            <a:spLocks noGrp="1"/>
          </p:cNvSpPr>
          <p:nvPr>
            <p:ph idx="1"/>
          </p:nvPr>
        </p:nvSpPr>
        <p:spPr>
          <a:xfrm>
            <a:off x="457200" y="1988840"/>
            <a:ext cx="8229600" cy="1972816"/>
          </a:xfrm>
        </p:spPr>
        <p:txBody>
          <a:bodyPr>
            <a:normAutofit fontScale="92500" lnSpcReduction="10000"/>
          </a:bodyPr>
          <a:lstStyle/>
          <a:p>
            <a:pPr>
              <a:buNone/>
            </a:pPr>
            <a:r>
              <a:rPr lang="nl-NL" sz="2400" dirty="0" smtClean="0"/>
              <a:t>	</a:t>
            </a:r>
            <a:r>
              <a:rPr lang="nl-NL" sz="2400" b="1" dirty="0" smtClean="0"/>
              <a:t>Volledigheidsstelling</a:t>
            </a:r>
          </a:p>
          <a:p>
            <a:pPr>
              <a:buNone/>
            </a:pPr>
            <a:r>
              <a:rPr lang="nl-NL" sz="2400" dirty="0" smtClean="0"/>
              <a:t>	Elke redenering in de </a:t>
            </a:r>
            <a:r>
              <a:rPr lang="nl-NL" sz="2400" dirty="0" err="1" smtClean="0">
                <a:solidFill>
                  <a:srgbClr val="C00000"/>
                </a:solidFill>
              </a:rPr>
              <a:t>predikaat</a:t>
            </a:r>
            <a:r>
              <a:rPr lang="nl-NL" sz="2400" dirty="0" err="1" smtClean="0"/>
              <a:t>logica</a:t>
            </a:r>
            <a:r>
              <a:rPr lang="nl-NL" sz="2400" dirty="0" smtClean="0"/>
              <a:t> die semantisch geldig is, is ook syntactisch afleidbaar in het systeem van natuurlijke deductie.</a:t>
            </a:r>
          </a:p>
          <a:p>
            <a:pPr>
              <a:buNone/>
            </a:pPr>
            <a:endParaRPr lang="nl-NL" sz="800" dirty="0" smtClean="0"/>
          </a:p>
          <a:p>
            <a:pPr>
              <a:buNone/>
            </a:pPr>
            <a:r>
              <a:rPr lang="nl-NL" sz="2400" dirty="0" smtClean="0"/>
              <a:t>      </a:t>
            </a:r>
            <a:r>
              <a:rPr lang="nl-NL" sz="2400" i="1" dirty="0" smtClean="0"/>
              <a:t>Als</a:t>
            </a:r>
            <a:r>
              <a:rPr lang="nl-NL" sz="2400"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a:t>
            </a:r>
            <a:r>
              <a:rPr lang="nl-NL" sz="2400" dirty="0" smtClean="0"/>
              <a:t>  </a:t>
            </a:r>
            <a:r>
              <a:rPr lang="el-GR" sz="2400" b="1" i="1" dirty="0" smtClean="0"/>
              <a:t>β</a:t>
            </a:r>
            <a:r>
              <a:rPr lang="nl-NL" sz="2400" b="1" i="1" dirty="0" smtClean="0"/>
              <a:t>    </a:t>
            </a:r>
            <a:r>
              <a:rPr lang="nl-NL" sz="2400" i="1" dirty="0" smtClean="0"/>
              <a:t>Dan</a:t>
            </a:r>
            <a:r>
              <a:rPr lang="nl-NL" sz="2400" b="1" i="1"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Ⱶ</a:t>
            </a:r>
            <a:r>
              <a:rPr lang="nl-NL" sz="2400" dirty="0" smtClean="0"/>
              <a:t>   </a:t>
            </a:r>
            <a:r>
              <a:rPr lang="el-GR" sz="2400" b="1" i="1" dirty="0" smtClean="0"/>
              <a:t>β</a:t>
            </a:r>
            <a:endParaRPr lang="nl-NL" sz="2400" dirty="0" smtClean="0"/>
          </a:p>
          <a:p>
            <a:pPr>
              <a:buNone/>
            </a:pPr>
            <a:r>
              <a:rPr lang="nl-NL" sz="2400" dirty="0" smtClean="0"/>
              <a:t>	</a:t>
            </a:r>
          </a:p>
          <a:p>
            <a:pPr>
              <a:buNone/>
            </a:pPr>
            <a:endParaRPr lang="nl-NL" sz="2400" dirty="0"/>
          </a:p>
        </p:txBody>
      </p:sp>
      <p:sp>
        <p:nvSpPr>
          <p:cNvPr id="5" name="Content Placeholder 2"/>
          <p:cNvSpPr txBox="1">
            <a:spLocks/>
          </p:cNvSpPr>
          <p:nvPr/>
        </p:nvSpPr>
        <p:spPr>
          <a:xfrm>
            <a:off x="446856" y="3976464"/>
            <a:ext cx="8229600" cy="1972816"/>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1" i="0" u="none" strike="noStrike" kern="1200" cap="none" spc="0" normalizeH="0" baseline="0" noProof="0" dirty="0" smtClean="0">
                <a:ln>
                  <a:noFill/>
                </a:ln>
                <a:solidFill>
                  <a:schemeClr val="tx1"/>
                </a:solidFill>
                <a:effectLst/>
                <a:uLnTx/>
                <a:uFillTx/>
                <a:latin typeface="+mn-lt"/>
                <a:ea typeface="+mn-ea"/>
                <a:cs typeface="+mn-cs"/>
              </a:rPr>
              <a:t>Correctheidsstelling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Elke redenering in de </a:t>
            </a:r>
            <a:r>
              <a:rPr kumimoji="0" lang="nl-NL" sz="2400" b="0" i="0" u="none" strike="noStrike" kern="1200" cap="none" spc="0" normalizeH="0" baseline="0" noProof="0" dirty="0" err="1" smtClean="0">
                <a:ln>
                  <a:noFill/>
                </a:ln>
                <a:solidFill>
                  <a:srgbClr val="C00000"/>
                </a:solidFill>
                <a:effectLst/>
                <a:uLnTx/>
                <a:uFillTx/>
                <a:latin typeface="+mn-lt"/>
                <a:ea typeface="+mn-ea"/>
                <a:cs typeface="+mn-cs"/>
              </a:rPr>
              <a:t>predikaat</a:t>
            </a:r>
            <a:r>
              <a:rPr kumimoji="0" lang="nl-NL" sz="2400" b="0" i="0" u="none" strike="noStrike" kern="1200" cap="none" spc="0" normalizeH="0" baseline="0" noProof="0" dirty="0" err="1" smtClean="0">
                <a:ln>
                  <a:noFill/>
                </a:ln>
                <a:solidFill>
                  <a:schemeClr val="tx1"/>
                </a:solidFill>
                <a:effectLst/>
                <a:uLnTx/>
                <a:uFillTx/>
                <a:latin typeface="+mn-lt"/>
                <a:ea typeface="+mn-ea"/>
                <a:cs typeface="+mn-cs"/>
              </a:rPr>
              <a:t>logica</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die syntactisch</a:t>
            </a:r>
            <a:r>
              <a:rPr kumimoji="0" lang="nl-NL" sz="2400" b="0" i="0" u="none" strike="noStrike" kern="1200" cap="none" spc="0" normalizeH="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afleidbaar is in het systeem van natuurlijke deductie,</a:t>
            </a:r>
            <a:r>
              <a:rPr kumimoji="0" lang="nl-NL" sz="2400" b="0" i="0" u="none" strike="noStrike" kern="1200" cap="none" spc="0" normalizeH="0" noProof="0" dirty="0" smtClean="0">
                <a:ln>
                  <a:noFill/>
                </a:ln>
                <a:solidFill>
                  <a:schemeClr val="tx1"/>
                </a:solidFill>
                <a:effectLst/>
                <a:uLnTx/>
                <a:uFillTx/>
                <a:latin typeface="+mn-lt"/>
                <a:ea typeface="+mn-ea"/>
                <a:cs typeface="+mn-cs"/>
              </a:rPr>
              <a:t> is ook semantisch geldig</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Als</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dirty="0" smtClean="0"/>
              <a:t>Ⱶ</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1" u="none" strike="noStrike" kern="1200" cap="none" spc="0" normalizeH="0" baseline="0" noProof="0" dirty="0" smtClean="0">
                <a:ln>
                  <a:noFill/>
                </a:ln>
                <a:solidFill>
                  <a:schemeClr val="tx1"/>
                </a:solidFill>
                <a:effectLst/>
                <a:uLnTx/>
                <a:uFillTx/>
                <a:latin typeface="+mn-lt"/>
                <a:ea typeface="+mn-ea"/>
                <a:cs typeface="+mn-cs"/>
              </a:rPr>
              <a:t>Dan</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1</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2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3</a:t>
            </a:r>
            <a:r>
              <a:rPr kumimoji="0" lang="nl-NL" sz="2400" b="1" i="1" u="none" strike="noStrike" kern="1200" cap="none" spc="0" normalizeH="0" baseline="0" noProof="0" dirty="0" smtClean="0">
                <a:ln>
                  <a:noFill/>
                </a:ln>
                <a:solidFill>
                  <a:schemeClr val="tx1"/>
                </a:solidFill>
                <a:effectLst/>
                <a:uLnTx/>
                <a:uFillTx/>
                <a:latin typeface="+mn-lt"/>
                <a:ea typeface="+mn-ea"/>
                <a:cs typeface="+mn-cs"/>
              </a:rPr>
              <a:t> </a:t>
            </a: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α</a:t>
            </a:r>
            <a:r>
              <a:rPr kumimoji="0" lang="nl-NL" sz="2400" b="1" i="1" u="none" strike="noStrike" kern="1200" cap="none" spc="0" normalizeH="0" baseline="-25000" noProof="0" dirty="0" smtClean="0">
                <a:ln>
                  <a:noFill/>
                </a:ln>
                <a:solidFill>
                  <a:schemeClr val="tx1"/>
                </a:solidFill>
                <a:effectLst/>
                <a:uLnTx/>
                <a:uFillTx/>
                <a:latin typeface="+mn-lt"/>
                <a:ea typeface="+mn-ea"/>
                <a:cs typeface="+mn-cs"/>
              </a:rPr>
              <a:t>4  </a:t>
            </a:r>
            <a:r>
              <a:rPr lang="nl-NL" sz="2400" b="1" noProof="0" dirty="0" smtClean="0"/>
              <a:t>|=   </a:t>
            </a:r>
            <a:r>
              <a:rPr kumimoji="0" lang="el-GR" sz="2400" b="1" i="1" u="none" strike="noStrike" kern="1200" cap="none" spc="0" normalizeH="0" baseline="0" noProof="0" dirty="0" smtClean="0">
                <a:ln>
                  <a:noFill/>
                </a:ln>
                <a:solidFill>
                  <a:schemeClr val="tx1"/>
                </a:solidFill>
                <a:effectLst/>
                <a:uLnTx/>
                <a:uFillTx/>
                <a:latin typeface="+mn-lt"/>
                <a:ea typeface="+mn-ea"/>
                <a:cs typeface="+mn-cs"/>
              </a:rPr>
              <a:t>β</a:t>
            </a:r>
            <a:endParaRPr kumimoji="0" lang="nl-NL" sz="24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solidFill>
                  <a:schemeClr val="tx1"/>
                </a:solidFill>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TextBox 5"/>
          <p:cNvSpPr txBox="1"/>
          <p:nvPr/>
        </p:nvSpPr>
        <p:spPr>
          <a:xfrm>
            <a:off x="323528" y="6093296"/>
            <a:ext cx="8640960" cy="400110"/>
          </a:xfrm>
          <a:prstGeom prst="rect">
            <a:avLst/>
          </a:prstGeom>
          <a:noFill/>
        </p:spPr>
        <p:txBody>
          <a:bodyPr wrap="square" rtlCol="0">
            <a:spAutoFit/>
          </a:bodyPr>
          <a:lstStyle/>
          <a:p>
            <a:r>
              <a:rPr lang="nl-NL" sz="2000" i="1" dirty="0" smtClean="0"/>
              <a:t>Uit de correctheidsstelling volgt dat de </a:t>
            </a:r>
            <a:r>
              <a:rPr lang="nl-NL" sz="2000" i="1" dirty="0" err="1" smtClean="0">
                <a:solidFill>
                  <a:srgbClr val="C00000"/>
                </a:solidFill>
              </a:rPr>
              <a:t>predikaat</a:t>
            </a:r>
            <a:r>
              <a:rPr lang="nl-NL" sz="2000" i="1" dirty="0" err="1" smtClean="0"/>
              <a:t>logica</a:t>
            </a:r>
            <a:r>
              <a:rPr lang="nl-NL" sz="2000" i="1" dirty="0" smtClean="0"/>
              <a:t> consistent is. Waarom?</a:t>
            </a:r>
            <a:endParaRPr lang="nl-NL" sz="2000" i="1" dirty="0"/>
          </a:p>
        </p:txBody>
      </p:sp>
    </p:spTree>
  </p:cSld>
  <p:clrMapOvr>
    <a:masterClrMapping/>
  </p:clrMapOvr>
  <p:timing>
    <p:tnLst>
      <p:par>
        <p:cTn id="1" dur="indefinite" restart="never" nodeType="tmRoot"/>
      </p:par>
    </p:tnLst>
  </p:timing>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a:t>
            </a:r>
            <a:r>
              <a:rPr lang="nl-NL" sz="3600" dirty="0" err="1" smtClean="0"/>
              <a:t>predikaatlogica</a:t>
            </a:r>
            <a:r>
              <a:rPr lang="nl-NL" sz="3600" dirty="0" smtClean="0"/>
              <a:t> is </a:t>
            </a:r>
            <a:r>
              <a:rPr lang="nl-NL" sz="3600" i="1" dirty="0" smtClean="0"/>
              <a:t>volledig</a:t>
            </a:r>
            <a:r>
              <a:rPr lang="nl-NL" sz="3600" dirty="0" smtClean="0"/>
              <a:t> en </a:t>
            </a:r>
            <a:r>
              <a:rPr lang="nl-NL" sz="3600" i="1" dirty="0" smtClean="0"/>
              <a:t>correct</a:t>
            </a:r>
            <a:endParaRPr lang="nl-NL" sz="3600" i="1" dirty="0"/>
          </a:p>
        </p:txBody>
      </p:sp>
      <p:sp>
        <p:nvSpPr>
          <p:cNvPr id="3" name="Content Placeholder 2"/>
          <p:cNvSpPr>
            <a:spLocks noGrp="1"/>
          </p:cNvSpPr>
          <p:nvPr>
            <p:ph idx="1"/>
          </p:nvPr>
        </p:nvSpPr>
        <p:spPr>
          <a:xfrm>
            <a:off x="457200" y="1988840"/>
            <a:ext cx="8229600" cy="1972816"/>
          </a:xfrm>
        </p:spPr>
        <p:txBody>
          <a:bodyPr>
            <a:normAutofit fontScale="92500" lnSpcReduction="10000"/>
          </a:bodyPr>
          <a:lstStyle/>
          <a:p>
            <a:pPr>
              <a:buNone/>
            </a:pPr>
            <a:r>
              <a:rPr lang="nl-NL" sz="2400" dirty="0" smtClean="0"/>
              <a:t>	</a:t>
            </a:r>
            <a:r>
              <a:rPr lang="nl-NL" sz="2400" b="1" dirty="0" smtClean="0"/>
              <a:t>Volledigheidsstelling</a:t>
            </a:r>
          </a:p>
          <a:p>
            <a:pPr>
              <a:buNone/>
            </a:pPr>
            <a:r>
              <a:rPr lang="nl-NL" sz="2400" dirty="0" smtClean="0"/>
              <a:t>	Elke redenering in de </a:t>
            </a:r>
            <a:r>
              <a:rPr lang="nl-NL" sz="2400" dirty="0" err="1" smtClean="0"/>
              <a:t>predikaatlogica</a:t>
            </a:r>
            <a:r>
              <a:rPr lang="nl-NL" sz="2400" dirty="0" smtClean="0"/>
              <a:t> die semantisch geldig is, is ook syntactisch afleidbaar in het systeem van natuurlijke deductie.</a:t>
            </a:r>
          </a:p>
          <a:p>
            <a:pPr>
              <a:buNone/>
            </a:pPr>
            <a:endParaRPr lang="nl-NL" sz="800" dirty="0" smtClean="0"/>
          </a:p>
          <a:p>
            <a:pPr>
              <a:buNone/>
            </a:pPr>
            <a:r>
              <a:rPr lang="nl-NL" sz="2400" dirty="0" smtClean="0"/>
              <a:t>      </a:t>
            </a:r>
            <a:r>
              <a:rPr lang="nl-NL" sz="2400" i="1" dirty="0" smtClean="0"/>
              <a:t>Als</a:t>
            </a:r>
            <a:r>
              <a:rPr lang="nl-NL" sz="2400"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a:t>
            </a:r>
            <a:r>
              <a:rPr lang="nl-NL" sz="2400" dirty="0" smtClean="0"/>
              <a:t>  </a:t>
            </a:r>
            <a:r>
              <a:rPr lang="el-GR" sz="2400" b="1" i="1" dirty="0" smtClean="0"/>
              <a:t>β</a:t>
            </a:r>
            <a:r>
              <a:rPr lang="nl-NL" sz="2400" b="1" i="1" dirty="0" smtClean="0"/>
              <a:t>    </a:t>
            </a:r>
            <a:r>
              <a:rPr lang="nl-NL" sz="2400" i="1" dirty="0" smtClean="0"/>
              <a:t>Dan</a:t>
            </a:r>
            <a:r>
              <a:rPr lang="nl-NL" sz="2400" b="1" i="1" dirty="0" smtClean="0"/>
              <a:t>    </a:t>
            </a:r>
            <a:r>
              <a:rPr lang="el-GR" sz="2400" b="1" i="1" dirty="0" smtClean="0"/>
              <a:t>α</a:t>
            </a:r>
            <a:r>
              <a:rPr lang="nl-NL" sz="2400" b="1" i="1" baseline="-25000" dirty="0" smtClean="0"/>
              <a:t>1</a:t>
            </a:r>
            <a:r>
              <a:rPr lang="nl-NL" sz="2400" b="1" i="1" dirty="0" smtClean="0"/>
              <a:t> </a:t>
            </a:r>
            <a:r>
              <a:rPr lang="nl-NL" sz="2400" dirty="0" smtClean="0"/>
              <a:t>, </a:t>
            </a:r>
            <a:r>
              <a:rPr lang="el-GR" sz="2400" b="1" i="1" dirty="0" smtClean="0"/>
              <a:t>α</a:t>
            </a:r>
            <a:r>
              <a:rPr lang="nl-NL" sz="2400" b="1" i="1" baseline="-25000" dirty="0" smtClean="0"/>
              <a:t>2 </a:t>
            </a:r>
            <a:r>
              <a:rPr lang="nl-NL" sz="2400" dirty="0" smtClean="0"/>
              <a:t>, </a:t>
            </a:r>
            <a:r>
              <a:rPr lang="el-GR" sz="2400" b="1" i="1" dirty="0" smtClean="0"/>
              <a:t>α</a:t>
            </a:r>
            <a:r>
              <a:rPr lang="nl-NL" sz="2400" b="1" i="1" baseline="-25000" dirty="0" smtClean="0"/>
              <a:t>3</a:t>
            </a:r>
            <a:r>
              <a:rPr lang="nl-NL" sz="2400" b="1" i="1" dirty="0" smtClean="0"/>
              <a:t> </a:t>
            </a:r>
            <a:r>
              <a:rPr lang="nl-NL" sz="2400" dirty="0" smtClean="0"/>
              <a:t>, </a:t>
            </a:r>
            <a:r>
              <a:rPr lang="el-GR" sz="2400" b="1" i="1" dirty="0" smtClean="0"/>
              <a:t>α</a:t>
            </a:r>
            <a:r>
              <a:rPr lang="nl-NL" sz="2400" b="1" i="1" baseline="-25000" dirty="0" smtClean="0"/>
              <a:t>4   </a:t>
            </a:r>
            <a:r>
              <a:rPr lang="nl-NL" sz="2400" b="1" dirty="0" smtClean="0"/>
              <a:t>Ⱶ</a:t>
            </a:r>
            <a:r>
              <a:rPr lang="nl-NL" sz="2400" dirty="0" smtClean="0"/>
              <a:t>   </a:t>
            </a:r>
            <a:r>
              <a:rPr lang="el-GR" sz="2400" b="1" i="1" dirty="0" smtClean="0"/>
              <a:t>β</a:t>
            </a:r>
            <a:endParaRPr lang="nl-NL" sz="2400" dirty="0" smtClean="0"/>
          </a:p>
          <a:p>
            <a:pPr>
              <a:buNone/>
            </a:pPr>
            <a:r>
              <a:rPr lang="nl-NL" sz="2400" dirty="0" smtClean="0"/>
              <a:t>	</a:t>
            </a:r>
          </a:p>
          <a:p>
            <a:pPr>
              <a:buNone/>
            </a:pPr>
            <a:endParaRPr lang="nl-NL" sz="2400" dirty="0"/>
          </a:p>
        </p:txBody>
      </p:sp>
      <p:sp>
        <p:nvSpPr>
          <p:cNvPr id="5" name="Content Placeholder 2"/>
          <p:cNvSpPr txBox="1">
            <a:spLocks/>
          </p:cNvSpPr>
          <p:nvPr/>
        </p:nvSpPr>
        <p:spPr>
          <a:xfrm>
            <a:off x="446856" y="3976464"/>
            <a:ext cx="8229600" cy="1972816"/>
          </a:xfrm>
          <a:prstGeom prst="rect">
            <a:avLst/>
          </a:prstGeom>
        </p:spPr>
        <p:txBody>
          <a:bodyPr vert="horz" lIns="91440" tIns="45720" rIns="91440" bIns="45720" rtlCol="0">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effectLst/>
                <a:uLnTx/>
                <a:uFillTx/>
                <a:latin typeface="+mn-lt"/>
                <a:ea typeface="+mn-ea"/>
                <a:cs typeface="+mn-cs"/>
              </a:rPr>
              <a:t>	</a:t>
            </a:r>
            <a:r>
              <a:rPr kumimoji="0" lang="nl-NL" sz="2400" b="1" i="0" u="none" strike="noStrike" kern="1200" cap="none" spc="0" normalizeH="0" baseline="0" noProof="0" dirty="0" smtClean="0">
                <a:ln>
                  <a:noFill/>
                </a:ln>
                <a:effectLst/>
                <a:uLnTx/>
                <a:uFillTx/>
                <a:latin typeface="+mn-lt"/>
                <a:ea typeface="+mn-ea"/>
                <a:cs typeface="+mn-cs"/>
              </a:rPr>
              <a:t>Correctheidsstelling</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effectLst/>
                <a:uLnTx/>
                <a:uFillTx/>
                <a:latin typeface="+mn-lt"/>
                <a:ea typeface="+mn-ea"/>
                <a:cs typeface="+mn-cs"/>
              </a:rPr>
              <a:t>	Elke redenering in de </a:t>
            </a:r>
            <a:r>
              <a:rPr kumimoji="0" lang="nl-NL" sz="2400" b="0" i="0" u="none" strike="noStrike" kern="1200" cap="none" spc="0" normalizeH="0" baseline="0" noProof="0" dirty="0" err="1" smtClean="0">
                <a:ln>
                  <a:noFill/>
                </a:ln>
                <a:effectLst/>
                <a:uLnTx/>
                <a:uFillTx/>
                <a:latin typeface="+mn-lt"/>
                <a:ea typeface="+mn-ea"/>
                <a:cs typeface="+mn-cs"/>
              </a:rPr>
              <a:t>predikaatlogica</a:t>
            </a:r>
            <a:r>
              <a:rPr kumimoji="0" lang="nl-NL" sz="2400" b="0" i="0" u="none" strike="noStrike" kern="1200" cap="none" spc="0" normalizeH="0" baseline="0" noProof="0" dirty="0" smtClean="0">
                <a:ln>
                  <a:noFill/>
                </a:ln>
                <a:effectLst/>
                <a:uLnTx/>
                <a:uFillTx/>
                <a:latin typeface="+mn-lt"/>
                <a:ea typeface="+mn-ea"/>
                <a:cs typeface="+mn-cs"/>
              </a:rPr>
              <a:t> die syntactisch</a:t>
            </a:r>
            <a:r>
              <a:rPr kumimoji="0" lang="nl-NL" sz="2400" b="0" i="0" u="none" strike="noStrike" kern="1200" cap="none" spc="0" normalizeH="0" noProof="0" dirty="0" smtClean="0">
                <a:ln>
                  <a:noFill/>
                </a:ln>
                <a:effectLst/>
                <a:uLnTx/>
                <a:uFillTx/>
                <a:latin typeface="+mn-lt"/>
                <a:ea typeface="+mn-ea"/>
                <a:cs typeface="+mn-cs"/>
              </a:rPr>
              <a:t> </a:t>
            </a:r>
            <a:r>
              <a:rPr kumimoji="0" lang="nl-NL" sz="2400" b="0" i="0" u="none" strike="noStrike" kern="1200" cap="none" spc="0" normalizeH="0" baseline="0" noProof="0" dirty="0" smtClean="0">
                <a:ln>
                  <a:noFill/>
                </a:ln>
                <a:effectLst/>
                <a:uLnTx/>
                <a:uFillTx/>
                <a:latin typeface="+mn-lt"/>
                <a:ea typeface="+mn-ea"/>
                <a:cs typeface="+mn-cs"/>
              </a:rPr>
              <a:t>afleidbaar is in het systeem van natuurlijke deductie,</a:t>
            </a:r>
            <a:r>
              <a:rPr kumimoji="0" lang="nl-NL" sz="2400" b="0" i="0" u="none" strike="noStrike" kern="1200" cap="none" spc="0" normalizeH="0" noProof="0" dirty="0" smtClean="0">
                <a:ln>
                  <a:noFill/>
                </a:ln>
                <a:effectLst/>
                <a:uLnTx/>
                <a:uFillTx/>
                <a:latin typeface="+mn-lt"/>
                <a:ea typeface="+mn-ea"/>
                <a:cs typeface="+mn-cs"/>
              </a:rPr>
              <a:t> is ook semantisch geldig</a:t>
            </a:r>
            <a:endParaRPr kumimoji="0" lang="nl-NL" sz="2400" b="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effectLst/>
              <a:uLnTx/>
              <a:uFillTx/>
              <a:latin typeface="+mn-lt"/>
              <a:ea typeface="+mn-ea"/>
              <a:cs typeface="+mn-cs"/>
            </a:endParaRPr>
          </a:p>
          <a:p>
            <a:pPr marL="342900" lvl="0" indent="-342900">
              <a:spcBef>
                <a:spcPct val="20000"/>
              </a:spcBef>
            </a:pPr>
            <a:r>
              <a:rPr kumimoji="0" lang="nl-NL" sz="2400" b="0" i="0" u="none" strike="noStrike" kern="1200" cap="none" spc="0" normalizeH="0" baseline="0" noProof="0" dirty="0" smtClean="0">
                <a:ln>
                  <a:noFill/>
                </a:ln>
                <a:effectLst/>
                <a:uLnTx/>
                <a:uFillTx/>
                <a:latin typeface="+mn-lt"/>
                <a:ea typeface="+mn-ea"/>
                <a:cs typeface="+mn-cs"/>
              </a:rPr>
              <a:t>      </a:t>
            </a:r>
            <a:r>
              <a:rPr kumimoji="0" lang="nl-NL" sz="2400" b="0" i="1" u="none" strike="noStrike" kern="1200" cap="none" spc="0" normalizeH="0" baseline="0" noProof="0" dirty="0" smtClean="0">
                <a:ln>
                  <a:noFill/>
                </a:ln>
                <a:effectLst/>
                <a:uLnTx/>
                <a:uFillTx/>
                <a:latin typeface="+mn-lt"/>
                <a:ea typeface="+mn-ea"/>
                <a:cs typeface="+mn-cs"/>
              </a:rPr>
              <a:t>Als</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1</a:t>
            </a:r>
            <a:r>
              <a:rPr kumimoji="0" lang="nl-NL" sz="2400" b="1" i="1" u="none" strike="noStrike" kern="1200" cap="none" spc="0" normalizeH="0" baseline="0" noProof="0" dirty="0" smtClean="0">
                <a:ln>
                  <a:noFill/>
                </a:ln>
                <a:effectLst/>
                <a:uLnTx/>
                <a:uFillTx/>
                <a:latin typeface="+mn-lt"/>
                <a:ea typeface="+mn-ea"/>
                <a:cs typeface="+mn-cs"/>
              </a:rPr>
              <a:t> </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2 </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3</a:t>
            </a:r>
            <a:r>
              <a:rPr kumimoji="0" lang="nl-NL" sz="2400" b="1" i="1" u="none" strike="noStrike" kern="1200" cap="none" spc="0" normalizeH="0" baseline="0" noProof="0" dirty="0" smtClean="0">
                <a:ln>
                  <a:noFill/>
                </a:ln>
                <a:effectLst/>
                <a:uLnTx/>
                <a:uFillTx/>
                <a:latin typeface="+mn-lt"/>
                <a:ea typeface="+mn-ea"/>
                <a:cs typeface="+mn-cs"/>
              </a:rPr>
              <a:t> </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4    </a:t>
            </a:r>
            <a:r>
              <a:rPr lang="nl-NL" sz="2400" b="1" dirty="0" smtClean="0"/>
              <a:t>Ⱶ</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β</a:t>
            </a:r>
            <a:r>
              <a:rPr kumimoji="0" lang="nl-NL" sz="2400" b="1" i="1" u="none" strike="noStrike" kern="1200" cap="none" spc="0" normalizeH="0" baseline="0" noProof="0" dirty="0" smtClean="0">
                <a:ln>
                  <a:noFill/>
                </a:ln>
                <a:effectLst/>
                <a:uLnTx/>
                <a:uFillTx/>
                <a:latin typeface="+mn-lt"/>
                <a:ea typeface="+mn-ea"/>
                <a:cs typeface="+mn-cs"/>
              </a:rPr>
              <a:t>    </a:t>
            </a:r>
            <a:r>
              <a:rPr kumimoji="0" lang="nl-NL" sz="2400" b="0" i="1" u="none" strike="noStrike" kern="1200" cap="none" spc="0" normalizeH="0" baseline="0" noProof="0" dirty="0" smtClean="0">
                <a:ln>
                  <a:noFill/>
                </a:ln>
                <a:effectLst/>
                <a:uLnTx/>
                <a:uFillTx/>
                <a:latin typeface="+mn-lt"/>
                <a:ea typeface="+mn-ea"/>
                <a:cs typeface="+mn-cs"/>
              </a:rPr>
              <a:t>Dan</a:t>
            </a:r>
            <a:r>
              <a:rPr kumimoji="0" lang="nl-NL" sz="2400" b="1" i="1"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1</a:t>
            </a:r>
            <a:r>
              <a:rPr kumimoji="0" lang="nl-NL" sz="2400" b="1" i="1" u="none" strike="noStrike" kern="1200" cap="none" spc="0" normalizeH="0" baseline="0" noProof="0" dirty="0" smtClean="0">
                <a:ln>
                  <a:noFill/>
                </a:ln>
                <a:effectLst/>
                <a:uLnTx/>
                <a:uFillTx/>
                <a:latin typeface="+mn-lt"/>
                <a:ea typeface="+mn-ea"/>
                <a:cs typeface="+mn-cs"/>
              </a:rPr>
              <a:t> </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2 </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3</a:t>
            </a:r>
            <a:r>
              <a:rPr kumimoji="0" lang="nl-NL" sz="2400" b="1" i="1" u="none" strike="noStrike" kern="1200" cap="none" spc="0" normalizeH="0" baseline="0" noProof="0" dirty="0" smtClean="0">
                <a:ln>
                  <a:noFill/>
                </a:ln>
                <a:effectLst/>
                <a:uLnTx/>
                <a:uFillTx/>
                <a:latin typeface="+mn-lt"/>
                <a:ea typeface="+mn-ea"/>
                <a:cs typeface="+mn-cs"/>
              </a:rPr>
              <a:t> </a:t>
            </a:r>
            <a:r>
              <a:rPr kumimoji="0" lang="nl-NL" sz="2400" b="0" i="0" u="none" strike="noStrike" kern="1200" cap="none" spc="0" normalizeH="0" baseline="0" noProof="0" dirty="0" smtClean="0">
                <a:ln>
                  <a:noFill/>
                </a:ln>
                <a:effectLst/>
                <a:uLnTx/>
                <a:uFillTx/>
                <a:latin typeface="+mn-lt"/>
                <a:ea typeface="+mn-ea"/>
                <a:cs typeface="+mn-cs"/>
              </a:rPr>
              <a:t>, </a:t>
            </a:r>
            <a:r>
              <a:rPr kumimoji="0" lang="el-GR" sz="2400" b="1" i="1" u="none" strike="noStrike" kern="1200" cap="none" spc="0" normalizeH="0" baseline="0" noProof="0" dirty="0" smtClean="0">
                <a:ln>
                  <a:noFill/>
                </a:ln>
                <a:effectLst/>
                <a:uLnTx/>
                <a:uFillTx/>
                <a:latin typeface="+mn-lt"/>
                <a:ea typeface="+mn-ea"/>
                <a:cs typeface="+mn-cs"/>
              </a:rPr>
              <a:t>α</a:t>
            </a:r>
            <a:r>
              <a:rPr kumimoji="0" lang="nl-NL" sz="2400" b="1" i="1" u="none" strike="noStrike" kern="1200" cap="none" spc="0" normalizeH="0" baseline="-25000" noProof="0" dirty="0" smtClean="0">
                <a:ln>
                  <a:noFill/>
                </a:ln>
                <a:effectLst/>
                <a:uLnTx/>
                <a:uFillTx/>
                <a:latin typeface="+mn-lt"/>
                <a:ea typeface="+mn-ea"/>
                <a:cs typeface="+mn-cs"/>
              </a:rPr>
              <a:t>4  </a:t>
            </a:r>
            <a:r>
              <a:rPr lang="nl-NL" sz="2400" b="1" noProof="0" dirty="0" smtClean="0"/>
              <a:t>|=   </a:t>
            </a:r>
            <a:r>
              <a:rPr kumimoji="0" lang="el-GR" sz="2400" b="1" i="1" u="none" strike="noStrike" kern="1200" cap="none" spc="0" normalizeH="0" baseline="0" noProof="0" dirty="0" smtClean="0">
                <a:ln>
                  <a:noFill/>
                </a:ln>
                <a:effectLst/>
                <a:uLnTx/>
                <a:uFillTx/>
                <a:latin typeface="+mn-lt"/>
                <a:ea typeface="+mn-ea"/>
                <a:cs typeface="+mn-cs"/>
              </a:rPr>
              <a:t>β</a:t>
            </a:r>
            <a:endParaRPr kumimoji="0" lang="nl-NL" sz="2400" b="0" i="0" u="none" strike="noStrike" kern="1200" cap="none" spc="0" normalizeH="0" baseline="0" noProof="0" dirty="0" smtClean="0">
              <a:ln>
                <a:noFill/>
              </a:ln>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400" b="0" i="0" u="none" strike="noStrike" kern="1200" cap="none" spc="0" normalizeH="0" baseline="0" noProof="0" dirty="0" smtClean="0">
                <a:ln>
                  <a:noFill/>
                </a:ln>
                <a:effectLst/>
                <a:uLnTx/>
                <a:uFillTx/>
                <a:latin typeface="+mn-lt"/>
                <a:ea typeface="+mn-ea"/>
                <a:cs typeface="+mn-cs"/>
              </a:rPr>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400" b="0" i="0" u="none" strike="noStrike" kern="1200" cap="none" spc="0" normalizeH="0" baseline="0" noProof="0" dirty="0">
              <a:ln>
                <a:noFill/>
              </a:ln>
              <a:effectLst/>
              <a:uLnTx/>
              <a:uFillTx/>
              <a:latin typeface="+mn-lt"/>
              <a:ea typeface="+mn-ea"/>
              <a:cs typeface="+mn-cs"/>
            </a:endParaRPr>
          </a:p>
        </p:txBody>
      </p:sp>
      <p:sp>
        <p:nvSpPr>
          <p:cNvPr id="6" name="TextBox 5"/>
          <p:cNvSpPr txBox="1"/>
          <p:nvPr/>
        </p:nvSpPr>
        <p:spPr>
          <a:xfrm>
            <a:off x="323528" y="6093296"/>
            <a:ext cx="8640960" cy="400110"/>
          </a:xfrm>
          <a:prstGeom prst="rect">
            <a:avLst/>
          </a:prstGeom>
          <a:noFill/>
        </p:spPr>
        <p:txBody>
          <a:bodyPr wrap="square" rtlCol="0">
            <a:spAutoFit/>
          </a:bodyPr>
          <a:lstStyle/>
          <a:p>
            <a:r>
              <a:rPr lang="nl-NL" sz="2000" i="1" dirty="0" smtClean="0"/>
              <a:t>Uit de correctheidsstelling volgt dat de </a:t>
            </a:r>
            <a:r>
              <a:rPr lang="nl-NL" sz="2000" i="1" dirty="0" err="1" smtClean="0"/>
              <a:t>predikaatlogica</a:t>
            </a:r>
            <a:r>
              <a:rPr lang="nl-NL" sz="2000" i="1" dirty="0" smtClean="0"/>
              <a:t> consistent is. Waarom?</a:t>
            </a:r>
            <a:endParaRPr lang="nl-NL" sz="2000" i="1" dirty="0"/>
          </a:p>
        </p:txBody>
      </p:sp>
    </p:spTree>
  </p:cSld>
  <p:clrMapOvr>
    <a:masterClrMapping/>
  </p:clrMapOvr>
  <p:timing>
    <p:tnLst>
      <p:par>
        <p:cTn id="1" dur="indefinite" restart="never" nodeType="tmRoot"/>
      </p:par>
    </p:tnLst>
  </p:timing>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a:t>
            </a:r>
            <a:r>
              <a:rPr lang="nl-NL" sz="3600" dirty="0" err="1" smtClean="0"/>
              <a:t>predikaatlogica</a:t>
            </a:r>
            <a:r>
              <a:rPr lang="nl-NL" sz="3600" dirty="0" smtClean="0"/>
              <a:t> is echter niet beslisbaar</a:t>
            </a:r>
            <a:endParaRPr lang="nl-NL" sz="3600" dirty="0"/>
          </a:p>
        </p:txBody>
      </p:sp>
      <p:sp>
        <p:nvSpPr>
          <p:cNvPr id="9" name="Content Placeholder 2"/>
          <p:cNvSpPr txBox="1">
            <a:spLocks/>
          </p:cNvSpPr>
          <p:nvPr/>
        </p:nvSpPr>
        <p:spPr>
          <a:xfrm>
            <a:off x="467544" y="1528192"/>
            <a:ext cx="8363272"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Het is niet alleen zo dat de besproken </a:t>
            </a:r>
            <a:r>
              <a:rPr lang="nl-NL" sz="2000" dirty="0" err="1" smtClean="0"/>
              <a:t>semanitische</a:t>
            </a:r>
            <a:r>
              <a:rPr lang="nl-NL" sz="2000" dirty="0" smtClean="0"/>
              <a:t> boommethode geen beslissingsprocedure voor de </a:t>
            </a:r>
            <a:r>
              <a:rPr lang="nl-NL" sz="2000" dirty="0" err="1" smtClean="0"/>
              <a:t>predikaatlogica</a:t>
            </a:r>
            <a:r>
              <a:rPr lang="nl-NL" sz="2000" dirty="0" smtClean="0"/>
              <a:t> oplevert. Het is zelfs zo dat er überhaupt geen beslissingsprocedure voor de </a:t>
            </a:r>
            <a:r>
              <a:rPr lang="nl-NL" sz="2000" dirty="0" err="1" smtClean="0"/>
              <a:t>predikaatlogica</a:t>
            </a:r>
            <a:r>
              <a:rPr lang="nl-NL" sz="2000" dirty="0" smtClean="0"/>
              <a:t> bestaat.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uitdrukkingskracht van de </a:t>
            </a:r>
            <a:r>
              <a:rPr lang="nl-NL" sz="2000" dirty="0" err="1" smtClean="0"/>
              <a:t>predikaatlogica</a:t>
            </a:r>
            <a:r>
              <a:rPr lang="nl-NL" sz="2000" dirty="0" smtClean="0"/>
              <a:t> is namelijk zo groot dat er geen algemeen toepasbaar </a:t>
            </a:r>
            <a:r>
              <a:rPr lang="nl-NL" sz="2000" dirty="0" err="1" smtClean="0"/>
              <a:t>algorithme</a:t>
            </a:r>
            <a:r>
              <a:rPr lang="nl-NL" sz="2000" dirty="0" smtClean="0"/>
              <a:t> is waarmee in een eindig aantal stappen kan worden bepaald of een </a:t>
            </a:r>
            <a:r>
              <a:rPr lang="nl-NL" sz="2000" dirty="0" err="1" smtClean="0"/>
              <a:t>predikaatlogische</a:t>
            </a:r>
            <a:r>
              <a:rPr lang="nl-NL" sz="2000" dirty="0" smtClean="0"/>
              <a:t> redenering geldig of ongeldig is (waarom mogen we nu de kwalificatie ‘semantisch’ weglaten?).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Dit wordt </a:t>
            </a:r>
            <a:r>
              <a:rPr lang="nl-NL" sz="2000" i="1" dirty="0" smtClean="0"/>
              <a:t>de these van </a:t>
            </a:r>
            <a:r>
              <a:rPr lang="nl-NL" sz="2000" i="1" dirty="0" err="1" smtClean="0"/>
              <a:t>Church</a:t>
            </a:r>
            <a:r>
              <a:rPr lang="nl-NL" sz="2000" dirty="0" smtClean="0"/>
              <a:t> genoemd (naar de logicus </a:t>
            </a:r>
            <a:r>
              <a:rPr lang="nl-NL" sz="2000" dirty="0" err="1" smtClean="0"/>
              <a:t>Alonzo</a:t>
            </a:r>
            <a:r>
              <a:rPr lang="nl-NL" sz="2000" dirty="0" smtClean="0"/>
              <a:t> </a:t>
            </a:r>
            <a:r>
              <a:rPr lang="nl-NL" sz="2000" dirty="0" err="1" smtClean="0"/>
              <a:t>Church</a:t>
            </a: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Wel is het zo dat de semantische boommethode een </a:t>
            </a:r>
            <a:r>
              <a:rPr lang="nl-NL" sz="2000" i="1" dirty="0" smtClean="0"/>
              <a:t>bewijsprocedure</a:t>
            </a:r>
            <a:r>
              <a:rPr lang="nl-NL" sz="2000" dirty="0" smtClean="0"/>
              <a:t> vormt voor de </a:t>
            </a:r>
            <a:r>
              <a:rPr lang="nl-NL" sz="2000" dirty="0" err="1" smtClean="0"/>
              <a:t>predikatenlogica</a:t>
            </a:r>
            <a:r>
              <a:rPr lang="nl-NL" sz="2000" dirty="0" smtClean="0"/>
              <a:t>. </a:t>
            </a:r>
            <a:r>
              <a:rPr lang="nl-NL" sz="2000" u="sng" dirty="0" smtClean="0"/>
              <a:t>Als</a:t>
            </a:r>
            <a:r>
              <a:rPr lang="nl-NL" sz="2000" dirty="0" smtClean="0"/>
              <a:t> een bepaalde </a:t>
            </a:r>
            <a:r>
              <a:rPr lang="nl-NL" sz="2000" dirty="0" err="1" smtClean="0"/>
              <a:t>predikaat-logische</a:t>
            </a:r>
            <a:r>
              <a:rPr lang="nl-NL" sz="2000" dirty="0" smtClean="0"/>
              <a:t> redenering geldig is, </a:t>
            </a:r>
            <a:r>
              <a:rPr lang="nl-NL" sz="2000" u="sng" dirty="0" smtClean="0"/>
              <a:t>dan</a:t>
            </a:r>
            <a:r>
              <a:rPr lang="nl-NL" sz="2000" dirty="0" smtClean="0"/>
              <a:t> zal de boommethode na een eindig aantal   stappen een gesloten boom opleveren.</a:t>
            </a:r>
          </a:p>
        </p:txBody>
      </p:sp>
    </p:spTree>
  </p:cSld>
  <p:clrMapOvr>
    <a:masterClrMapping/>
  </p:clrMapOvr>
  <p:timing>
    <p:tnLst>
      <p:par>
        <p:cTn id="1" dur="indefinite" restart="never" nodeType="tmRoot"/>
      </p:par>
    </p:tnLst>
  </p:timing>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28192"/>
            <a:ext cx="83632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zagen dat de </a:t>
            </a:r>
            <a:r>
              <a:rPr lang="nl-NL" sz="2000" dirty="0" err="1" smtClean="0"/>
              <a:t>syllogistiek</a:t>
            </a:r>
            <a:r>
              <a:rPr lang="nl-NL" sz="2000" dirty="0" smtClean="0"/>
              <a:t> niet goed met relaties kan omgaan. De </a:t>
            </a:r>
            <a:r>
              <a:rPr lang="nl-NL" sz="2000" dirty="0" err="1" smtClean="0"/>
              <a:t>predikaatlogica</a:t>
            </a:r>
            <a:r>
              <a:rPr lang="nl-NL" sz="2000" dirty="0" smtClean="0"/>
              <a:t> lijkt het op dit punt een stuk beter te doen. Of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p:txBody>
      </p:sp>
      <p:sp>
        <p:nvSpPr>
          <p:cNvPr id="4" name="TextBox 3"/>
          <p:cNvSpPr txBox="1"/>
          <p:nvPr/>
        </p:nvSpPr>
        <p:spPr>
          <a:xfrm>
            <a:off x="467544" y="4077072"/>
            <a:ext cx="720080" cy="1200329"/>
          </a:xfrm>
          <a:prstGeom prst="rect">
            <a:avLst/>
          </a:prstGeom>
          <a:noFill/>
        </p:spPr>
        <p:txBody>
          <a:bodyPr wrap="square" rtlCol="0">
            <a:spAutoFit/>
          </a:bodyPr>
          <a:lstStyle/>
          <a:p>
            <a:r>
              <a:rPr lang="nl-NL" b="1" dirty="0" err="1" smtClean="0"/>
              <a:t>Gjp</a:t>
            </a:r>
            <a:endParaRPr lang="nl-NL" b="1" dirty="0" smtClean="0"/>
          </a:p>
          <a:p>
            <a:r>
              <a:rPr lang="nl-NL" b="1" dirty="0" err="1" smtClean="0"/>
              <a:t>Gpk</a:t>
            </a:r>
            <a:endParaRPr lang="nl-NL" b="1" dirty="0" smtClean="0"/>
          </a:p>
          <a:p>
            <a:r>
              <a:rPr lang="nl-NL" b="1" dirty="0" smtClean="0"/>
              <a:t>/ </a:t>
            </a:r>
            <a:r>
              <a:rPr lang="nl-NL" b="1" dirty="0" err="1" smtClean="0"/>
              <a:t>Gjk</a:t>
            </a:r>
            <a:endParaRPr lang="nl-NL" b="1" dirty="0" smtClean="0"/>
          </a:p>
          <a:p>
            <a:endParaRPr lang="nl-NL" b="1" dirty="0"/>
          </a:p>
        </p:txBody>
      </p:sp>
      <p:sp>
        <p:nvSpPr>
          <p:cNvPr id="5" name="TextBox 4"/>
          <p:cNvSpPr txBox="1"/>
          <p:nvPr/>
        </p:nvSpPr>
        <p:spPr>
          <a:xfrm>
            <a:off x="4572000" y="4077072"/>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6" name="TextBox 5"/>
          <p:cNvSpPr txBox="1"/>
          <p:nvPr/>
        </p:nvSpPr>
        <p:spPr>
          <a:xfrm>
            <a:off x="395536" y="2837952"/>
            <a:ext cx="3384376" cy="1311128"/>
          </a:xfrm>
          <a:prstGeom prst="rect">
            <a:avLst/>
          </a:prstGeom>
          <a:noFill/>
        </p:spPr>
        <p:txBody>
          <a:bodyPr wrap="square" rtlCol="0">
            <a:spAutoFit/>
          </a:bodyPr>
          <a:lstStyle/>
          <a:p>
            <a:pPr marL="342900" lvl="0" indent="-342900">
              <a:spcBef>
                <a:spcPct val="20000"/>
              </a:spcBef>
              <a:defRPr/>
            </a:pPr>
            <a:r>
              <a:rPr lang="nl-NL" dirty="0" smtClean="0"/>
              <a:t>Jan is groter dan Piet</a:t>
            </a:r>
          </a:p>
          <a:p>
            <a:pPr marL="342900" lvl="0" indent="-342900">
              <a:spcBef>
                <a:spcPct val="20000"/>
              </a:spcBef>
              <a:defRPr/>
            </a:pPr>
            <a:r>
              <a:rPr lang="nl-NL" dirty="0" smtClean="0"/>
              <a:t>Piet is groter dan Kees</a:t>
            </a:r>
          </a:p>
          <a:p>
            <a:pPr marL="342900" lvl="0" indent="-342900">
              <a:spcBef>
                <a:spcPct val="20000"/>
              </a:spcBef>
              <a:defRPr/>
            </a:pPr>
            <a:r>
              <a:rPr lang="nl-NL" dirty="0" smtClean="0"/>
              <a:t>/ Jan is groter dan Kees</a:t>
            </a:r>
          </a:p>
          <a:p>
            <a:endParaRPr lang="nl-NL" dirty="0"/>
          </a:p>
        </p:txBody>
      </p:sp>
      <p:sp>
        <p:nvSpPr>
          <p:cNvPr id="8" name="TextBox 7"/>
          <p:cNvSpPr txBox="1"/>
          <p:nvPr/>
        </p:nvSpPr>
        <p:spPr>
          <a:xfrm>
            <a:off x="5652120" y="4077072"/>
            <a:ext cx="2304256" cy="923330"/>
          </a:xfrm>
          <a:prstGeom prst="rect">
            <a:avLst/>
          </a:prstGeom>
          <a:noFill/>
        </p:spPr>
        <p:txBody>
          <a:bodyPr wrap="square" rtlCol="0">
            <a:spAutoFit/>
          </a:bodyPr>
          <a:lstStyle/>
          <a:p>
            <a:r>
              <a:rPr lang="nl-NL" b="1" dirty="0" err="1" smtClean="0"/>
              <a:t>Gxy</a:t>
            </a:r>
            <a:r>
              <a:rPr lang="nl-NL" dirty="0" smtClean="0"/>
              <a:t>:</a:t>
            </a:r>
            <a:r>
              <a:rPr lang="nl-NL" b="1" dirty="0" smtClean="0"/>
              <a:t> </a:t>
            </a:r>
            <a:r>
              <a:rPr lang="nl-NL" dirty="0" smtClean="0"/>
              <a:t>x is groter dan y</a:t>
            </a:r>
          </a:p>
          <a:p>
            <a:r>
              <a:rPr lang="nl-NL" dirty="0" smtClean="0"/>
              <a:t>Domein: mensen</a:t>
            </a:r>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fade">
                                      <p:cBhvr>
                                        <p:cTn id="18" dur="2000"/>
                                        <p:tgtEl>
                                          <p:spTgt spid="4">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2000"/>
                                        <p:tgtEl>
                                          <p:spTgt spid="4">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Effect transition="in" filter="fade">
                                      <p:cBhvr>
                                        <p:cTn id="24" dur="2000"/>
                                        <p:tgtEl>
                                          <p:spTgt spid="4">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fade">
                                      <p:cBhvr>
                                        <p:cTn id="27" dur="2000"/>
                                        <p:tgtEl>
                                          <p:spTgt spid="5">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xEl>
                                              <p:pRg st="1" end="1"/>
                                            </p:txEl>
                                          </p:spTgt>
                                        </p:tgtEl>
                                        <p:attrNameLst>
                                          <p:attrName>style.visibility</p:attrName>
                                        </p:attrNameLst>
                                      </p:cBhvr>
                                      <p:to>
                                        <p:strVal val="visible"/>
                                      </p:to>
                                    </p:set>
                                    <p:animEffect transition="in" filter="fade">
                                      <p:cBhvr>
                                        <p:cTn id="30" dur="2000"/>
                                        <p:tgtEl>
                                          <p:spTgt spid="5">
                                            <p:txEl>
                                              <p:pRg st="1" end="1"/>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animEffect transition="in" filter="fade">
                                      <p:cBhvr>
                                        <p:cTn id="33" dur="2000"/>
                                        <p:tgtEl>
                                          <p:spTgt spid="5">
                                            <p:txEl>
                                              <p:pRg st="2" end="2"/>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animEffect transition="in" filter="fade">
                                      <p:cBhvr>
                                        <p:cTn id="36" dur="2000"/>
                                        <p:tgtEl>
                                          <p:spTgt spid="8">
                                            <p:txEl>
                                              <p:pRg st="0" end="0"/>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xEl>
                                              <p:pRg st="1" end="1"/>
                                            </p:txEl>
                                          </p:spTgt>
                                        </p:tgtEl>
                                        <p:attrNameLst>
                                          <p:attrName>style.visibility</p:attrName>
                                        </p:attrNameLst>
                                      </p:cBhvr>
                                      <p:to>
                                        <p:strVal val="visible"/>
                                      </p:to>
                                    </p:set>
                                    <p:animEffect transition="in" filter="fade">
                                      <p:cBhvr>
                                        <p:cTn id="39" dur="2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6" grpId="0" build="allAtOnce"/>
      <p:bldP spid="8" grpId="0" build="allAtOnce"/>
    </p:bldLst>
  </p:timing>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28192"/>
            <a:ext cx="83632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zagen dat de </a:t>
            </a:r>
            <a:r>
              <a:rPr lang="nl-NL" sz="2000" dirty="0" err="1" smtClean="0"/>
              <a:t>syllogistiek</a:t>
            </a:r>
            <a:r>
              <a:rPr lang="nl-NL" sz="2000" dirty="0" smtClean="0"/>
              <a:t> niet goed met relaties kan omgaan. De </a:t>
            </a:r>
            <a:r>
              <a:rPr lang="nl-NL" sz="2000" dirty="0" err="1" smtClean="0"/>
              <a:t>predikaatlogica</a:t>
            </a:r>
            <a:r>
              <a:rPr lang="nl-NL" sz="2000" dirty="0" smtClean="0"/>
              <a:t> lijkt het op dit punt een stuk beter te doen. Of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p:txBody>
      </p:sp>
      <p:sp>
        <p:nvSpPr>
          <p:cNvPr id="4" name="TextBox 3"/>
          <p:cNvSpPr txBox="1"/>
          <p:nvPr/>
        </p:nvSpPr>
        <p:spPr>
          <a:xfrm>
            <a:off x="467544" y="4077072"/>
            <a:ext cx="720080" cy="1200329"/>
          </a:xfrm>
          <a:prstGeom prst="rect">
            <a:avLst/>
          </a:prstGeom>
          <a:noFill/>
        </p:spPr>
        <p:txBody>
          <a:bodyPr wrap="square" rtlCol="0">
            <a:spAutoFit/>
          </a:bodyPr>
          <a:lstStyle/>
          <a:p>
            <a:r>
              <a:rPr lang="nl-NL" b="1" dirty="0" err="1" smtClean="0">
                <a:solidFill>
                  <a:srgbClr val="FF0000"/>
                </a:solidFill>
              </a:rPr>
              <a:t>Gjp</a:t>
            </a:r>
            <a:endParaRPr lang="nl-NL" b="1" dirty="0" smtClean="0">
              <a:solidFill>
                <a:srgbClr val="FF0000"/>
              </a:solidFill>
            </a:endParaRPr>
          </a:p>
          <a:p>
            <a:r>
              <a:rPr lang="nl-NL" b="1" dirty="0" err="1" smtClean="0">
                <a:solidFill>
                  <a:srgbClr val="FF0000"/>
                </a:solidFill>
              </a:rPr>
              <a:t>Gpk</a:t>
            </a:r>
            <a:endParaRPr lang="nl-NL" b="1" dirty="0" smtClean="0">
              <a:solidFill>
                <a:srgbClr val="FF0000"/>
              </a:solidFill>
            </a:endParaRPr>
          </a:p>
          <a:p>
            <a:r>
              <a:rPr lang="nl-NL" b="1" dirty="0" smtClean="0">
                <a:solidFill>
                  <a:srgbClr val="FF0000"/>
                </a:solidFill>
              </a:rPr>
              <a:t>/ </a:t>
            </a:r>
            <a:r>
              <a:rPr lang="nl-NL" b="1" dirty="0" err="1" smtClean="0">
                <a:solidFill>
                  <a:srgbClr val="FF0000"/>
                </a:solidFill>
              </a:rPr>
              <a:t>Gjk</a:t>
            </a:r>
            <a:endParaRPr lang="nl-NL" b="1" dirty="0" smtClean="0">
              <a:solidFill>
                <a:srgbClr val="FF0000"/>
              </a:solidFill>
            </a:endParaRPr>
          </a:p>
          <a:p>
            <a:endParaRPr lang="nl-NL" b="1" dirty="0"/>
          </a:p>
        </p:txBody>
      </p:sp>
      <p:sp>
        <p:nvSpPr>
          <p:cNvPr id="5" name="TextBox 4"/>
          <p:cNvSpPr txBox="1"/>
          <p:nvPr/>
        </p:nvSpPr>
        <p:spPr>
          <a:xfrm>
            <a:off x="4572000" y="4077072"/>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6" name="TextBox 5"/>
          <p:cNvSpPr txBox="1"/>
          <p:nvPr/>
        </p:nvSpPr>
        <p:spPr>
          <a:xfrm>
            <a:off x="395536" y="2837952"/>
            <a:ext cx="3384376" cy="1311128"/>
          </a:xfrm>
          <a:prstGeom prst="rect">
            <a:avLst/>
          </a:prstGeom>
          <a:noFill/>
        </p:spPr>
        <p:txBody>
          <a:bodyPr wrap="square" rtlCol="0">
            <a:spAutoFit/>
          </a:bodyPr>
          <a:lstStyle/>
          <a:p>
            <a:pPr marL="342900" lvl="0" indent="-342900">
              <a:spcBef>
                <a:spcPct val="20000"/>
              </a:spcBef>
              <a:defRPr/>
            </a:pPr>
            <a:r>
              <a:rPr lang="nl-NL" dirty="0" smtClean="0"/>
              <a:t>Jan is groter dan Piet</a:t>
            </a:r>
          </a:p>
          <a:p>
            <a:pPr marL="342900" lvl="0" indent="-342900">
              <a:spcBef>
                <a:spcPct val="20000"/>
              </a:spcBef>
              <a:defRPr/>
            </a:pPr>
            <a:r>
              <a:rPr lang="nl-NL" dirty="0" smtClean="0"/>
              <a:t>Piet is groter dan Kees</a:t>
            </a:r>
          </a:p>
          <a:p>
            <a:pPr marL="342900" lvl="0" indent="-342900">
              <a:spcBef>
                <a:spcPct val="20000"/>
              </a:spcBef>
              <a:defRPr/>
            </a:pPr>
            <a:r>
              <a:rPr lang="nl-NL" dirty="0" smtClean="0"/>
              <a:t>/ Jan is groter dan Kees</a:t>
            </a:r>
          </a:p>
          <a:p>
            <a:endParaRPr lang="nl-NL" dirty="0"/>
          </a:p>
        </p:txBody>
      </p:sp>
      <p:sp>
        <p:nvSpPr>
          <p:cNvPr id="8" name="TextBox 7"/>
          <p:cNvSpPr txBox="1"/>
          <p:nvPr/>
        </p:nvSpPr>
        <p:spPr>
          <a:xfrm>
            <a:off x="5652120" y="4077072"/>
            <a:ext cx="2160240" cy="923330"/>
          </a:xfrm>
          <a:prstGeom prst="rect">
            <a:avLst/>
          </a:prstGeom>
          <a:noFill/>
        </p:spPr>
        <p:txBody>
          <a:bodyPr wrap="square" rtlCol="0">
            <a:spAutoFit/>
          </a:bodyPr>
          <a:lstStyle/>
          <a:p>
            <a:r>
              <a:rPr lang="nl-NL" b="1" dirty="0" err="1" smtClean="0"/>
              <a:t>Gxy</a:t>
            </a:r>
            <a:r>
              <a:rPr lang="nl-NL" dirty="0" smtClean="0"/>
              <a:t>:</a:t>
            </a:r>
            <a:r>
              <a:rPr lang="nl-NL" b="1" dirty="0" smtClean="0"/>
              <a:t> </a:t>
            </a:r>
            <a:r>
              <a:rPr lang="nl-NL" dirty="0" smtClean="0"/>
              <a:t>x is groter dan y</a:t>
            </a:r>
          </a:p>
          <a:p>
            <a:r>
              <a:rPr lang="nl-NL" dirty="0" smtClean="0"/>
              <a:t>Domein: mensen</a:t>
            </a:r>
          </a:p>
          <a:p>
            <a:endParaRPr lang="nl-NL" dirty="0"/>
          </a:p>
        </p:txBody>
      </p:sp>
      <p:sp>
        <p:nvSpPr>
          <p:cNvPr id="16" name="TextBox 15"/>
          <p:cNvSpPr txBox="1"/>
          <p:nvPr/>
        </p:nvSpPr>
        <p:spPr>
          <a:xfrm>
            <a:off x="467544" y="5108991"/>
            <a:ext cx="7488832" cy="1508105"/>
          </a:xfrm>
          <a:prstGeom prst="rect">
            <a:avLst/>
          </a:prstGeom>
          <a:noFill/>
        </p:spPr>
        <p:txBody>
          <a:bodyPr wrap="square" rtlCol="0">
            <a:spAutoFit/>
          </a:bodyPr>
          <a:lstStyle/>
          <a:p>
            <a:r>
              <a:rPr lang="nl-NL" b="1" dirty="0" err="1" smtClean="0"/>
              <a:t>Gjp</a:t>
            </a:r>
            <a:endParaRPr lang="nl-NL" b="1" dirty="0" smtClean="0"/>
          </a:p>
          <a:p>
            <a:r>
              <a:rPr lang="nl-NL" b="1" dirty="0" err="1" smtClean="0"/>
              <a:t>Gpk</a:t>
            </a:r>
            <a:endParaRPr lang="nl-NL" b="1" dirty="0" smtClean="0"/>
          </a:p>
          <a:p>
            <a:r>
              <a:rPr lang="nl-NL" b="1" dirty="0" smtClean="0"/>
              <a:t>∀x∀y∀z ((</a:t>
            </a:r>
            <a:r>
              <a:rPr lang="nl-NL" b="1" dirty="0" err="1" smtClean="0"/>
              <a:t>Gxy</a:t>
            </a:r>
            <a:r>
              <a:rPr lang="nl-NL" b="1" dirty="0" smtClean="0"/>
              <a:t> ∧ </a:t>
            </a:r>
            <a:r>
              <a:rPr lang="nl-NL" b="1" dirty="0" err="1" smtClean="0"/>
              <a:t>Gyz</a:t>
            </a:r>
            <a:r>
              <a:rPr lang="nl-NL" b="1" dirty="0" smtClean="0"/>
              <a:t>) → </a:t>
            </a:r>
            <a:r>
              <a:rPr lang="nl-NL" b="1" dirty="0" err="1" smtClean="0"/>
              <a:t>Gxz</a:t>
            </a:r>
            <a:r>
              <a:rPr lang="nl-NL" b="1" dirty="0" smtClean="0"/>
              <a:t>)</a:t>
            </a:r>
          </a:p>
          <a:p>
            <a:r>
              <a:rPr lang="nl-NL" b="1" dirty="0" smtClean="0"/>
              <a:t>/ </a:t>
            </a:r>
            <a:r>
              <a:rPr lang="nl-NL" b="1" dirty="0" err="1" smtClean="0"/>
              <a:t>Gjk</a:t>
            </a:r>
            <a:endParaRPr lang="nl-NL" b="1" dirty="0" smtClean="0"/>
          </a:p>
          <a:p>
            <a:endParaRPr lang="nl-NL" b="1" dirty="0"/>
          </a:p>
        </p:txBody>
      </p:sp>
      <p:sp>
        <p:nvSpPr>
          <p:cNvPr id="10" name="TextBox 9"/>
          <p:cNvSpPr txBox="1"/>
          <p:nvPr/>
        </p:nvSpPr>
        <p:spPr>
          <a:xfrm>
            <a:off x="1619672" y="4221088"/>
            <a:ext cx="1512168" cy="369332"/>
          </a:xfrm>
          <a:prstGeom prst="rect">
            <a:avLst/>
          </a:prstGeom>
          <a:noFill/>
        </p:spPr>
        <p:txBody>
          <a:bodyPr wrap="square" rtlCol="0">
            <a:spAutoFit/>
          </a:bodyPr>
          <a:lstStyle/>
          <a:p>
            <a:r>
              <a:rPr lang="nl-NL" i="1" dirty="0" smtClean="0"/>
              <a:t>Ongeldig</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2000"/>
                                        <p:tgtEl>
                                          <p:spTgt spid="1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2000"/>
                                        <p:tgtEl>
                                          <p:spTgt spid="1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fade">
                                      <p:cBhvr>
                                        <p:cTn id="16" dur="20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Lst>
  </p:timing>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28192"/>
            <a:ext cx="83632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zagen dat de </a:t>
            </a:r>
            <a:r>
              <a:rPr lang="nl-NL" sz="2000" dirty="0" err="1" smtClean="0"/>
              <a:t>syllogistiek</a:t>
            </a:r>
            <a:r>
              <a:rPr lang="nl-NL" sz="2000" dirty="0" smtClean="0"/>
              <a:t> niet goed met relaties kan omgaan. De </a:t>
            </a:r>
            <a:r>
              <a:rPr lang="nl-NL" sz="2000" dirty="0" err="1" smtClean="0"/>
              <a:t>predikaatlogica</a:t>
            </a:r>
            <a:r>
              <a:rPr lang="nl-NL" sz="2000" dirty="0" smtClean="0"/>
              <a:t> lijkt het op dit punt een stuk beter te doen. Of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p:txBody>
      </p:sp>
      <p:sp>
        <p:nvSpPr>
          <p:cNvPr id="4" name="TextBox 3"/>
          <p:cNvSpPr txBox="1"/>
          <p:nvPr/>
        </p:nvSpPr>
        <p:spPr>
          <a:xfrm>
            <a:off x="467544" y="4077072"/>
            <a:ext cx="720080" cy="1200329"/>
          </a:xfrm>
          <a:prstGeom prst="rect">
            <a:avLst/>
          </a:prstGeom>
          <a:noFill/>
        </p:spPr>
        <p:txBody>
          <a:bodyPr wrap="square" rtlCol="0">
            <a:spAutoFit/>
          </a:bodyPr>
          <a:lstStyle/>
          <a:p>
            <a:r>
              <a:rPr lang="nl-NL" b="1" dirty="0" err="1" smtClean="0">
                <a:solidFill>
                  <a:srgbClr val="FF0000"/>
                </a:solidFill>
              </a:rPr>
              <a:t>Gjp</a:t>
            </a:r>
            <a:endParaRPr lang="nl-NL" b="1" dirty="0" smtClean="0">
              <a:solidFill>
                <a:srgbClr val="FF0000"/>
              </a:solidFill>
            </a:endParaRPr>
          </a:p>
          <a:p>
            <a:r>
              <a:rPr lang="nl-NL" b="1" dirty="0" err="1" smtClean="0">
                <a:solidFill>
                  <a:srgbClr val="FF0000"/>
                </a:solidFill>
              </a:rPr>
              <a:t>Gpk</a:t>
            </a:r>
            <a:endParaRPr lang="nl-NL" b="1" dirty="0" smtClean="0">
              <a:solidFill>
                <a:srgbClr val="FF0000"/>
              </a:solidFill>
            </a:endParaRPr>
          </a:p>
          <a:p>
            <a:r>
              <a:rPr lang="nl-NL" b="1" dirty="0" smtClean="0">
                <a:solidFill>
                  <a:srgbClr val="FF0000"/>
                </a:solidFill>
              </a:rPr>
              <a:t>/ </a:t>
            </a:r>
            <a:r>
              <a:rPr lang="nl-NL" b="1" dirty="0" err="1" smtClean="0">
                <a:solidFill>
                  <a:srgbClr val="FF0000"/>
                </a:solidFill>
              </a:rPr>
              <a:t>Gjk</a:t>
            </a:r>
            <a:endParaRPr lang="nl-NL" b="1" dirty="0" smtClean="0">
              <a:solidFill>
                <a:srgbClr val="FF0000"/>
              </a:solidFill>
            </a:endParaRPr>
          </a:p>
          <a:p>
            <a:endParaRPr lang="nl-NL" b="1" dirty="0"/>
          </a:p>
        </p:txBody>
      </p:sp>
      <p:sp>
        <p:nvSpPr>
          <p:cNvPr id="5" name="TextBox 4"/>
          <p:cNvSpPr txBox="1"/>
          <p:nvPr/>
        </p:nvSpPr>
        <p:spPr>
          <a:xfrm>
            <a:off x="4572000" y="4077072"/>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6" name="TextBox 5"/>
          <p:cNvSpPr txBox="1"/>
          <p:nvPr/>
        </p:nvSpPr>
        <p:spPr>
          <a:xfrm>
            <a:off x="395536" y="2837952"/>
            <a:ext cx="3384376" cy="1311128"/>
          </a:xfrm>
          <a:prstGeom prst="rect">
            <a:avLst/>
          </a:prstGeom>
          <a:noFill/>
        </p:spPr>
        <p:txBody>
          <a:bodyPr wrap="square" rtlCol="0">
            <a:spAutoFit/>
          </a:bodyPr>
          <a:lstStyle/>
          <a:p>
            <a:pPr marL="342900" lvl="0" indent="-342900">
              <a:spcBef>
                <a:spcPct val="20000"/>
              </a:spcBef>
              <a:defRPr/>
            </a:pPr>
            <a:r>
              <a:rPr lang="nl-NL" dirty="0" smtClean="0"/>
              <a:t>Jan is groter dan Piet</a:t>
            </a:r>
          </a:p>
          <a:p>
            <a:pPr marL="342900" lvl="0" indent="-342900">
              <a:spcBef>
                <a:spcPct val="20000"/>
              </a:spcBef>
              <a:defRPr/>
            </a:pPr>
            <a:r>
              <a:rPr lang="nl-NL" dirty="0" smtClean="0"/>
              <a:t>Piet is groter dan Kees</a:t>
            </a:r>
          </a:p>
          <a:p>
            <a:pPr marL="342900" lvl="0" indent="-342900">
              <a:spcBef>
                <a:spcPct val="20000"/>
              </a:spcBef>
              <a:defRPr/>
            </a:pPr>
            <a:r>
              <a:rPr lang="nl-NL" dirty="0" smtClean="0"/>
              <a:t>/ Jan is groter dan Kees</a:t>
            </a:r>
          </a:p>
          <a:p>
            <a:endParaRPr lang="nl-NL" dirty="0"/>
          </a:p>
        </p:txBody>
      </p:sp>
      <p:sp>
        <p:nvSpPr>
          <p:cNvPr id="8" name="TextBox 7"/>
          <p:cNvSpPr txBox="1"/>
          <p:nvPr/>
        </p:nvSpPr>
        <p:spPr>
          <a:xfrm>
            <a:off x="5652120" y="4077072"/>
            <a:ext cx="2160240" cy="923330"/>
          </a:xfrm>
          <a:prstGeom prst="rect">
            <a:avLst/>
          </a:prstGeom>
          <a:noFill/>
        </p:spPr>
        <p:txBody>
          <a:bodyPr wrap="square" rtlCol="0">
            <a:spAutoFit/>
          </a:bodyPr>
          <a:lstStyle/>
          <a:p>
            <a:r>
              <a:rPr lang="nl-NL" b="1" dirty="0" err="1" smtClean="0"/>
              <a:t>Gxy</a:t>
            </a:r>
            <a:r>
              <a:rPr lang="nl-NL" dirty="0" smtClean="0"/>
              <a:t>:</a:t>
            </a:r>
            <a:r>
              <a:rPr lang="nl-NL" b="1" dirty="0" smtClean="0"/>
              <a:t> </a:t>
            </a:r>
            <a:r>
              <a:rPr lang="nl-NL" dirty="0" smtClean="0"/>
              <a:t>x is groter dan y</a:t>
            </a:r>
          </a:p>
          <a:p>
            <a:r>
              <a:rPr lang="nl-NL" dirty="0" smtClean="0"/>
              <a:t>Domein: mensen</a:t>
            </a:r>
          </a:p>
          <a:p>
            <a:endParaRPr lang="nl-NL" dirty="0"/>
          </a:p>
        </p:txBody>
      </p:sp>
      <p:sp>
        <p:nvSpPr>
          <p:cNvPr id="16" name="TextBox 15"/>
          <p:cNvSpPr txBox="1"/>
          <p:nvPr/>
        </p:nvSpPr>
        <p:spPr>
          <a:xfrm>
            <a:off x="467544" y="5108991"/>
            <a:ext cx="7488832" cy="1508105"/>
          </a:xfrm>
          <a:prstGeom prst="rect">
            <a:avLst/>
          </a:prstGeom>
          <a:noFill/>
        </p:spPr>
        <p:txBody>
          <a:bodyPr wrap="square" rtlCol="0">
            <a:spAutoFit/>
          </a:bodyPr>
          <a:lstStyle/>
          <a:p>
            <a:r>
              <a:rPr lang="nl-NL" b="1" dirty="0" err="1" smtClean="0"/>
              <a:t>Gjp</a:t>
            </a:r>
            <a:endParaRPr lang="nl-NL" b="1" dirty="0" smtClean="0"/>
          </a:p>
          <a:p>
            <a:r>
              <a:rPr lang="nl-NL" b="1" dirty="0" err="1" smtClean="0"/>
              <a:t>Gpk</a:t>
            </a:r>
            <a:endParaRPr lang="nl-NL" b="1" dirty="0" smtClean="0"/>
          </a:p>
          <a:p>
            <a:r>
              <a:rPr lang="nl-NL" b="1" dirty="0" smtClean="0">
                <a:solidFill>
                  <a:srgbClr val="0070C0"/>
                </a:solidFill>
              </a:rPr>
              <a:t>∀x∀y∀z ((</a:t>
            </a:r>
            <a:r>
              <a:rPr lang="nl-NL" b="1" dirty="0" err="1" smtClean="0">
                <a:solidFill>
                  <a:srgbClr val="0070C0"/>
                </a:solidFill>
              </a:rPr>
              <a:t>Gxy</a:t>
            </a:r>
            <a:r>
              <a:rPr lang="nl-NL" b="1" dirty="0" smtClean="0">
                <a:solidFill>
                  <a:srgbClr val="0070C0"/>
                </a:solidFill>
              </a:rPr>
              <a:t> ∧ </a:t>
            </a:r>
            <a:r>
              <a:rPr lang="nl-NL" b="1" dirty="0" err="1" smtClean="0">
                <a:solidFill>
                  <a:srgbClr val="0070C0"/>
                </a:solidFill>
              </a:rPr>
              <a:t>Gyz</a:t>
            </a:r>
            <a:r>
              <a:rPr lang="nl-NL" b="1" dirty="0" smtClean="0">
                <a:solidFill>
                  <a:srgbClr val="0070C0"/>
                </a:solidFill>
              </a:rPr>
              <a:t>) → </a:t>
            </a:r>
            <a:r>
              <a:rPr lang="nl-NL" b="1" dirty="0" err="1" smtClean="0">
                <a:solidFill>
                  <a:srgbClr val="0070C0"/>
                </a:solidFill>
              </a:rPr>
              <a:t>Gxz</a:t>
            </a:r>
            <a:r>
              <a:rPr lang="nl-NL" b="1" dirty="0" smtClean="0">
                <a:solidFill>
                  <a:srgbClr val="0070C0"/>
                </a:solidFill>
              </a:rPr>
              <a:t>)</a:t>
            </a:r>
          </a:p>
          <a:p>
            <a:r>
              <a:rPr lang="nl-NL" b="1" dirty="0" smtClean="0"/>
              <a:t>/ </a:t>
            </a:r>
            <a:r>
              <a:rPr lang="nl-NL" b="1" dirty="0" err="1" smtClean="0"/>
              <a:t>Gjk</a:t>
            </a:r>
            <a:endParaRPr lang="nl-NL" b="1" dirty="0" smtClean="0"/>
          </a:p>
          <a:p>
            <a:endParaRPr lang="nl-NL" b="1" dirty="0"/>
          </a:p>
        </p:txBody>
      </p:sp>
      <p:sp>
        <p:nvSpPr>
          <p:cNvPr id="11" name="TextBox 10"/>
          <p:cNvSpPr txBox="1"/>
          <p:nvPr/>
        </p:nvSpPr>
        <p:spPr>
          <a:xfrm>
            <a:off x="4139952" y="5373216"/>
            <a:ext cx="3744416" cy="923330"/>
          </a:xfrm>
          <a:prstGeom prst="rect">
            <a:avLst/>
          </a:prstGeom>
          <a:noFill/>
        </p:spPr>
        <p:txBody>
          <a:bodyPr wrap="square" rtlCol="0">
            <a:spAutoFit/>
          </a:bodyPr>
          <a:lstStyle/>
          <a:p>
            <a:r>
              <a:rPr lang="nl-NL" dirty="0" smtClean="0">
                <a:solidFill>
                  <a:srgbClr val="0070C0"/>
                </a:solidFill>
              </a:rPr>
              <a:t>Dit was de verzwegen premisse. Zodra we die toevoegen ontstaat keurig een </a:t>
            </a:r>
            <a:r>
              <a:rPr lang="nl-NL" b="1" i="1" dirty="0" smtClean="0">
                <a:solidFill>
                  <a:srgbClr val="0070C0"/>
                </a:solidFill>
              </a:rPr>
              <a:t>geldige</a:t>
            </a:r>
            <a:r>
              <a:rPr lang="nl-NL" dirty="0" smtClean="0">
                <a:solidFill>
                  <a:srgbClr val="0070C0"/>
                </a:solidFill>
              </a:rPr>
              <a:t> redenering.</a:t>
            </a:r>
            <a:endParaRPr lang="nl-NL" dirty="0">
              <a:solidFill>
                <a:srgbClr val="0070C0"/>
              </a:solidFill>
            </a:endParaRPr>
          </a:p>
        </p:txBody>
      </p:sp>
      <p:sp>
        <p:nvSpPr>
          <p:cNvPr id="12" name="TextBox 11"/>
          <p:cNvSpPr txBox="1"/>
          <p:nvPr/>
        </p:nvSpPr>
        <p:spPr>
          <a:xfrm>
            <a:off x="1619672" y="4221088"/>
            <a:ext cx="1512168" cy="369332"/>
          </a:xfrm>
          <a:prstGeom prst="rect">
            <a:avLst/>
          </a:prstGeom>
          <a:noFill/>
        </p:spPr>
        <p:txBody>
          <a:bodyPr wrap="square" rtlCol="0">
            <a:spAutoFit/>
          </a:bodyPr>
          <a:lstStyle/>
          <a:p>
            <a:r>
              <a:rPr lang="nl-NL" i="1" dirty="0" smtClean="0"/>
              <a:t>Ongeldig</a:t>
            </a:r>
            <a:endParaRPr lang="nl-NL" i="1" dirty="0"/>
          </a:p>
        </p:txBody>
      </p:sp>
    </p:spTree>
  </p:cSld>
  <p:clrMapOvr>
    <a:masterClrMapping/>
  </p:clrMapOvr>
  <p:timing>
    <p:tnLst>
      <p:par>
        <p:cTn id="1" dur="indefinite" restart="never" nodeType="tmRoot"/>
      </p:par>
    </p:tnLst>
  </p:timing>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28192"/>
            <a:ext cx="83632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zagen dat de </a:t>
            </a:r>
            <a:r>
              <a:rPr lang="nl-NL" sz="2000" dirty="0" err="1" smtClean="0"/>
              <a:t>syllogistiek</a:t>
            </a:r>
            <a:r>
              <a:rPr lang="nl-NL" sz="2000" dirty="0" smtClean="0"/>
              <a:t> niet goed met relaties kan omgaan. De </a:t>
            </a:r>
            <a:r>
              <a:rPr lang="nl-NL" sz="2000" dirty="0" err="1" smtClean="0"/>
              <a:t>predikaatlogica</a:t>
            </a:r>
            <a:r>
              <a:rPr lang="nl-NL" sz="2000" dirty="0" smtClean="0"/>
              <a:t> lijkt het op dit punt een stuk beter te doen. Of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p:txBody>
      </p:sp>
      <p:sp>
        <p:nvSpPr>
          <p:cNvPr id="4" name="TextBox 3"/>
          <p:cNvSpPr txBox="1"/>
          <p:nvPr/>
        </p:nvSpPr>
        <p:spPr>
          <a:xfrm>
            <a:off x="467544" y="4077072"/>
            <a:ext cx="720080" cy="1200329"/>
          </a:xfrm>
          <a:prstGeom prst="rect">
            <a:avLst/>
          </a:prstGeom>
          <a:noFill/>
        </p:spPr>
        <p:txBody>
          <a:bodyPr wrap="square" rtlCol="0">
            <a:spAutoFit/>
          </a:bodyPr>
          <a:lstStyle/>
          <a:p>
            <a:r>
              <a:rPr lang="nl-NL" b="1" dirty="0" err="1" smtClean="0"/>
              <a:t>Vjp</a:t>
            </a:r>
            <a:endParaRPr lang="nl-NL" b="1" dirty="0" smtClean="0"/>
          </a:p>
          <a:p>
            <a:r>
              <a:rPr lang="nl-NL" b="1" dirty="0" err="1" smtClean="0"/>
              <a:t>Vpk</a:t>
            </a:r>
            <a:endParaRPr lang="nl-NL" b="1" dirty="0" smtClean="0"/>
          </a:p>
          <a:p>
            <a:r>
              <a:rPr lang="nl-NL" b="1" dirty="0" smtClean="0"/>
              <a:t>/ </a:t>
            </a:r>
            <a:r>
              <a:rPr lang="nl-NL" b="1" dirty="0" err="1" smtClean="0"/>
              <a:t>Vjk</a:t>
            </a:r>
            <a:endParaRPr lang="nl-NL" b="1" dirty="0" smtClean="0"/>
          </a:p>
          <a:p>
            <a:endParaRPr lang="nl-NL" b="1" dirty="0"/>
          </a:p>
        </p:txBody>
      </p:sp>
      <p:sp>
        <p:nvSpPr>
          <p:cNvPr id="5" name="TextBox 4"/>
          <p:cNvSpPr txBox="1"/>
          <p:nvPr/>
        </p:nvSpPr>
        <p:spPr>
          <a:xfrm>
            <a:off x="4572000" y="4077072"/>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6" name="TextBox 5"/>
          <p:cNvSpPr txBox="1"/>
          <p:nvPr/>
        </p:nvSpPr>
        <p:spPr>
          <a:xfrm>
            <a:off x="395536" y="2837952"/>
            <a:ext cx="3384376" cy="1311128"/>
          </a:xfrm>
          <a:prstGeom prst="rect">
            <a:avLst/>
          </a:prstGeom>
          <a:noFill/>
        </p:spPr>
        <p:txBody>
          <a:bodyPr wrap="square" rtlCol="0">
            <a:spAutoFit/>
          </a:bodyPr>
          <a:lstStyle/>
          <a:p>
            <a:pPr marL="342900" lvl="0" indent="-342900">
              <a:spcBef>
                <a:spcPct val="20000"/>
              </a:spcBef>
              <a:defRPr/>
            </a:pPr>
            <a:r>
              <a:rPr lang="nl-NL" dirty="0" smtClean="0"/>
              <a:t>Jan is vader van Piet</a:t>
            </a:r>
          </a:p>
          <a:p>
            <a:pPr marL="342900" lvl="0" indent="-342900">
              <a:spcBef>
                <a:spcPct val="20000"/>
              </a:spcBef>
              <a:defRPr/>
            </a:pPr>
            <a:r>
              <a:rPr lang="nl-NL" dirty="0" smtClean="0"/>
              <a:t>Piet is vader van Kees</a:t>
            </a:r>
          </a:p>
          <a:p>
            <a:pPr marL="342900" lvl="0" indent="-342900">
              <a:spcBef>
                <a:spcPct val="20000"/>
              </a:spcBef>
              <a:defRPr/>
            </a:pPr>
            <a:r>
              <a:rPr lang="nl-NL" dirty="0" smtClean="0"/>
              <a:t>/ Jan is vader van Kees</a:t>
            </a:r>
          </a:p>
          <a:p>
            <a:endParaRPr lang="nl-NL" dirty="0"/>
          </a:p>
        </p:txBody>
      </p:sp>
      <p:sp>
        <p:nvSpPr>
          <p:cNvPr id="8" name="TextBox 7"/>
          <p:cNvSpPr txBox="1"/>
          <p:nvPr/>
        </p:nvSpPr>
        <p:spPr>
          <a:xfrm>
            <a:off x="5652120" y="4077072"/>
            <a:ext cx="2160240" cy="923330"/>
          </a:xfrm>
          <a:prstGeom prst="rect">
            <a:avLst/>
          </a:prstGeom>
          <a:noFill/>
        </p:spPr>
        <p:txBody>
          <a:bodyPr wrap="square" rtlCol="0">
            <a:spAutoFit/>
          </a:bodyPr>
          <a:lstStyle/>
          <a:p>
            <a:r>
              <a:rPr lang="nl-NL" b="1" dirty="0" err="1" smtClean="0"/>
              <a:t>Vxy</a:t>
            </a:r>
            <a:r>
              <a:rPr lang="nl-NL" dirty="0" smtClean="0"/>
              <a:t>:</a:t>
            </a:r>
            <a:r>
              <a:rPr lang="nl-NL" b="1" dirty="0" smtClean="0"/>
              <a:t> </a:t>
            </a:r>
            <a:r>
              <a:rPr lang="nl-NL" dirty="0" smtClean="0"/>
              <a:t>x is vader van y</a:t>
            </a:r>
          </a:p>
          <a:p>
            <a:r>
              <a:rPr lang="nl-NL" dirty="0" smtClean="0"/>
              <a:t>Domein: mensen</a:t>
            </a:r>
          </a:p>
          <a:p>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2000"/>
                                        <p:tgtEl>
                                          <p:spTgt spid="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2000"/>
                                        <p:tgtEl>
                                          <p:spTgt spid="4">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2000"/>
                                        <p:tgtEl>
                                          <p:spTgt spid="5">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2000"/>
                                        <p:tgtEl>
                                          <p:spTgt spid="5">
                                            <p:txEl>
                                              <p:pRg st="1" end="1"/>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2000"/>
                                        <p:tgtEl>
                                          <p:spTgt spid="5">
                                            <p:txEl>
                                              <p:pRg st="2" end="2"/>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20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animEffect transition="in" filter="fade">
                                      <p:cBhvr>
                                        <p:cTn id="28" dur="2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5" grpId="0" build="allAtOnce"/>
      <p:bldP spid="8" grpId="0" build="allAtOnce"/>
    </p:bldLst>
  </p:timing>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28192"/>
            <a:ext cx="83632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zagen dat de </a:t>
            </a:r>
            <a:r>
              <a:rPr lang="nl-NL" sz="2000" dirty="0" err="1" smtClean="0"/>
              <a:t>syllogistiek</a:t>
            </a:r>
            <a:r>
              <a:rPr lang="nl-NL" sz="2000" dirty="0" smtClean="0"/>
              <a:t> niet goed met relaties kan omgaan. De </a:t>
            </a:r>
            <a:r>
              <a:rPr lang="nl-NL" sz="2000" dirty="0" err="1" smtClean="0"/>
              <a:t>predikaatlogica</a:t>
            </a:r>
            <a:r>
              <a:rPr lang="nl-NL" sz="2000" dirty="0" smtClean="0"/>
              <a:t> lijkt het op dit punt een stuk beter te doen. Of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p:txBody>
      </p:sp>
      <p:sp>
        <p:nvSpPr>
          <p:cNvPr id="4" name="TextBox 3"/>
          <p:cNvSpPr txBox="1"/>
          <p:nvPr/>
        </p:nvSpPr>
        <p:spPr>
          <a:xfrm>
            <a:off x="467544" y="4077072"/>
            <a:ext cx="720080" cy="1200329"/>
          </a:xfrm>
          <a:prstGeom prst="rect">
            <a:avLst/>
          </a:prstGeom>
          <a:noFill/>
        </p:spPr>
        <p:txBody>
          <a:bodyPr wrap="square" rtlCol="0">
            <a:spAutoFit/>
          </a:bodyPr>
          <a:lstStyle/>
          <a:p>
            <a:r>
              <a:rPr lang="nl-NL" b="1" dirty="0" err="1" smtClean="0">
                <a:solidFill>
                  <a:srgbClr val="FF0000"/>
                </a:solidFill>
              </a:rPr>
              <a:t>Vjp</a:t>
            </a:r>
            <a:endParaRPr lang="nl-NL" b="1" dirty="0" smtClean="0">
              <a:solidFill>
                <a:srgbClr val="FF0000"/>
              </a:solidFill>
            </a:endParaRPr>
          </a:p>
          <a:p>
            <a:r>
              <a:rPr lang="nl-NL" b="1" dirty="0" err="1" smtClean="0">
                <a:solidFill>
                  <a:srgbClr val="FF0000"/>
                </a:solidFill>
              </a:rPr>
              <a:t>Vpk</a:t>
            </a:r>
            <a:endParaRPr lang="nl-NL" b="1" dirty="0" smtClean="0">
              <a:solidFill>
                <a:srgbClr val="FF0000"/>
              </a:solidFill>
            </a:endParaRPr>
          </a:p>
          <a:p>
            <a:r>
              <a:rPr lang="nl-NL" b="1" dirty="0" smtClean="0">
                <a:solidFill>
                  <a:srgbClr val="FF0000"/>
                </a:solidFill>
              </a:rPr>
              <a:t>/ </a:t>
            </a:r>
            <a:r>
              <a:rPr lang="nl-NL" b="1" dirty="0" err="1" smtClean="0">
                <a:solidFill>
                  <a:srgbClr val="FF0000"/>
                </a:solidFill>
              </a:rPr>
              <a:t>Vjk</a:t>
            </a:r>
            <a:endParaRPr lang="nl-NL" b="1" dirty="0" smtClean="0">
              <a:solidFill>
                <a:srgbClr val="FF0000"/>
              </a:solidFill>
            </a:endParaRPr>
          </a:p>
          <a:p>
            <a:endParaRPr lang="nl-NL" b="1" dirty="0"/>
          </a:p>
        </p:txBody>
      </p:sp>
      <p:sp>
        <p:nvSpPr>
          <p:cNvPr id="5" name="TextBox 4"/>
          <p:cNvSpPr txBox="1"/>
          <p:nvPr/>
        </p:nvSpPr>
        <p:spPr>
          <a:xfrm>
            <a:off x="4572000" y="4077072"/>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6" name="TextBox 5"/>
          <p:cNvSpPr txBox="1"/>
          <p:nvPr/>
        </p:nvSpPr>
        <p:spPr>
          <a:xfrm>
            <a:off x="395536" y="2837952"/>
            <a:ext cx="3384376" cy="1311128"/>
          </a:xfrm>
          <a:prstGeom prst="rect">
            <a:avLst/>
          </a:prstGeom>
          <a:noFill/>
        </p:spPr>
        <p:txBody>
          <a:bodyPr wrap="square" rtlCol="0">
            <a:spAutoFit/>
          </a:bodyPr>
          <a:lstStyle/>
          <a:p>
            <a:pPr marL="342900" lvl="0" indent="-342900">
              <a:spcBef>
                <a:spcPct val="20000"/>
              </a:spcBef>
              <a:defRPr/>
            </a:pPr>
            <a:r>
              <a:rPr lang="nl-NL" dirty="0" smtClean="0"/>
              <a:t>Jan is vader van Piet</a:t>
            </a:r>
          </a:p>
          <a:p>
            <a:pPr marL="342900" lvl="0" indent="-342900">
              <a:spcBef>
                <a:spcPct val="20000"/>
              </a:spcBef>
              <a:defRPr/>
            </a:pPr>
            <a:r>
              <a:rPr lang="nl-NL" dirty="0" smtClean="0"/>
              <a:t>Piet is vader van Kees</a:t>
            </a:r>
          </a:p>
          <a:p>
            <a:pPr marL="342900" lvl="0" indent="-342900">
              <a:spcBef>
                <a:spcPct val="20000"/>
              </a:spcBef>
              <a:defRPr/>
            </a:pPr>
            <a:r>
              <a:rPr lang="nl-NL" dirty="0" smtClean="0"/>
              <a:t>/ Jan is vader van Kees</a:t>
            </a:r>
          </a:p>
          <a:p>
            <a:endParaRPr lang="nl-NL" dirty="0"/>
          </a:p>
        </p:txBody>
      </p:sp>
      <p:sp>
        <p:nvSpPr>
          <p:cNvPr id="8" name="TextBox 7"/>
          <p:cNvSpPr txBox="1"/>
          <p:nvPr/>
        </p:nvSpPr>
        <p:spPr>
          <a:xfrm>
            <a:off x="5652120" y="4077072"/>
            <a:ext cx="2376264" cy="923330"/>
          </a:xfrm>
          <a:prstGeom prst="rect">
            <a:avLst/>
          </a:prstGeom>
          <a:noFill/>
        </p:spPr>
        <p:txBody>
          <a:bodyPr wrap="square" rtlCol="0">
            <a:spAutoFit/>
          </a:bodyPr>
          <a:lstStyle/>
          <a:p>
            <a:r>
              <a:rPr lang="nl-NL" b="1" dirty="0" err="1" smtClean="0"/>
              <a:t>Vxy</a:t>
            </a:r>
            <a:r>
              <a:rPr lang="nl-NL" dirty="0" smtClean="0"/>
              <a:t>:</a:t>
            </a:r>
            <a:r>
              <a:rPr lang="nl-NL" b="1" dirty="0" smtClean="0"/>
              <a:t> </a:t>
            </a:r>
            <a:r>
              <a:rPr lang="nl-NL" dirty="0" smtClean="0"/>
              <a:t>x is vader van y</a:t>
            </a:r>
          </a:p>
          <a:p>
            <a:r>
              <a:rPr lang="nl-NL" dirty="0" smtClean="0"/>
              <a:t>Domein: mensen</a:t>
            </a:r>
          </a:p>
          <a:p>
            <a:endParaRPr lang="nl-NL" dirty="0"/>
          </a:p>
        </p:txBody>
      </p:sp>
      <p:sp>
        <p:nvSpPr>
          <p:cNvPr id="16" name="TextBox 15"/>
          <p:cNvSpPr txBox="1"/>
          <p:nvPr/>
        </p:nvSpPr>
        <p:spPr>
          <a:xfrm>
            <a:off x="467544" y="5108991"/>
            <a:ext cx="7488832" cy="1508105"/>
          </a:xfrm>
          <a:prstGeom prst="rect">
            <a:avLst/>
          </a:prstGeom>
          <a:noFill/>
        </p:spPr>
        <p:txBody>
          <a:bodyPr wrap="square" rtlCol="0">
            <a:spAutoFit/>
          </a:bodyPr>
          <a:lstStyle/>
          <a:p>
            <a:r>
              <a:rPr lang="nl-NL" b="1" dirty="0" err="1" smtClean="0"/>
              <a:t>Vjp</a:t>
            </a:r>
            <a:endParaRPr lang="nl-NL" b="1" dirty="0" smtClean="0"/>
          </a:p>
          <a:p>
            <a:r>
              <a:rPr lang="nl-NL" b="1" dirty="0" err="1" smtClean="0"/>
              <a:t>Vpk</a:t>
            </a:r>
            <a:endParaRPr lang="nl-NL" b="1" dirty="0" smtClean="0"/>
          </a:p>
          <a:p>
            <a:r>
              <a:rPr lang="nl-NL" b="1" dirty="0" smtClean="0"/>
              <a:t>∀x∀y∀z ((</a:t>
            </a:r>
            <a:r>
              <a:rPr lang="nl-NL" b="1" dirty="0" err="1" smtClean="0"/>
              <a:t>Vxy</a:t>
            </a:r>
            <a:r>
              <a:rPr lang="nl-NL" b="1" dirty="0" smtClean="0"/>
              <a:t> ∧ </a:t>
            </a:r>
            <a:r>
              <a:rPr lang="nl-NL" b="1" dirty="0" err="1" smtClean="0"/>
              <a:t>Vyz</a:t>
            </a:r>
            <a:r>
              <a:rPr lang="nl-NL" b="1" dirty="0" smtClean="0"/>
              <a:t>) → </a:t>
            </a:r>
            <a:r>
              <a:rPr lang="nl-NL" b="1" dirty="0" err="1" smtClean="0"/>
              <a:t>Vxz</a:t>
            </a:r>
            <a:r>
              <a:rPr lang="nl-NL" b="1" dirty="0" smtClean="0"/>
              <a:t>)</a:t>
            </a:r>
          </a:p>
          <a:p>
            <a:r>
              <a:rPr lang="nl-NL" b="1" dirty="0" smtClean="0"/>
              <a:t>/ </a:t>
            </a:r>
            <a:r>
              <a:rPr lang="nl-NL" b="1" dirty="0" err="1" smtClean="0"/>
              <a:t>Vjk</a:t>
            </a:r>
            <a:endParaRPr lang="nl-NL" b="1" dirty="0" smtClean="0"/>
          </a:p>
          <a:p>
            <a:endParaRPr lang="nl-NL" b="1" dirty="0"/>
          </a:p>
        </p:txBody>
      </p:sp>
      <p:sp>
        <p:nvSpPr>
          <p:cNvPr id="11" name="TextBox 10"/>
          <p:cNvSpPr txBox="1"/>
          <p:nvPr/>
        </p:nvSpPr>
        <p:spPr>
          <a:xfrm>
            <a:off x="1619672" y="4221088"/>
            <a:ext cx="1512168" cy="369332"/>
          </a:xfrm>
          <a:prstGeom prst="rect">
            <a:avLst/>
          </a:prstGeom>
          <a:noFill/>
        </p:spPr>
        <p:txBody>
          <a:bodyPr wrap="square" rtlCol="0">
            <a:spAutoFit/>
          </a:bodyPr>
          <a:lstStyle/>
          <a:p>
            <a:r>
              <a:rPr lang="nl-NL" i="1" dirty="0" smtClean="0"/>
              <a:t>Ongeldig</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xEl>
                                              <p:pRg st="1" end="1"/>
                                            </p:txEl>
                                          </p:spTgt>
                                        </p:tgtEl>
                                        <p:attrNameLst>
                                          <p:attrName>style.visibility</p:attrName>
                                        </p:attrNameLst>
                                      </p:cBhvr>
                                      <p:to>
                                        <p:strVal val="visible"/>
                                      </p:to>
                                    </p:set>
                                    <p:animEffect transition="in" filter="fade">
                                      <p:cBhvr>
                                        <p:cTn id="10" dur="2000"/>
                                        <p:tgtEl>
                                          <p:spTgt spid="1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2000"/>
                                        <p:tgtEl>
                                          <p:spTgt spid="1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fade">
                                      <p:cBhvr>
                                        <p:cTn id="16" dur="20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Lst>
  </p:timing>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28192"/>
            <a:ext cx="83632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We zagen dat de </a:t>
            </a:r>
            <a:r>
              <a:rPr lang="nl-NL" sz="2000" dirty="0" err="1" smtClean="0"/>
              <a:t>syllogistiek</a:t>
            </a:r>
            <a:r>
              <a:rPr lang="nl-NL" sz="2000" dirty="0" smtClean="0"/>
              <a:t> niet goed met relaties kan omgaan. De </a:t>
            </a:r>
            <a:r>
              <a:rPr lang="nl-NL" sz="2000" dirty="0" err="1" smtClean="0"/>
              <a:t>predikaatlogica</a:t>
            </a:r>
            <a:r>
              <a:rPr lang="nl-NL" sz="2000" dirty="0" smtClean="0"/>
              <a:t> lijkt het op dit punt een stuk beter te doen. Of niet?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p:txBody>
      </p:sp>
      <p:sp>
        <p:nvSpPr>
          <p:cNvPr id="4" name="TextBox 3"/>
          <p:cNvSpPr txBox="1"/>
          <p:nvPr/>
        </p:nvSpPr>
        <p:spPr>
          <a:xfrm>
            <a:off x="467544" y="4077072"/>
            <a:ext cx="720080" cy="1200329"/>
          </a:xfrm>
          <a:prstGeom prst="rect">
            <a:avLst/>
          </a:prstGeom>
          <a:noFill/>
        </p:spPr>
        <p:txBody>
          <a:bodyPr wrap="square" rtlCol="0">
            <a:spAutoFit/>
          </a:bodyPr>
          <a:lstStyle/>
          <a:p>
            <a:r>
              <a:rPr lang="nl-NL" b="1" dirty="0" err="1" smtClean="0">
                <a:solidFill>
                  <a:srgbClr val="FF0000"/>
                </a:solidFill>
              </a:rPr>
              <a:t>Vjp</a:t>
            </a:r>
            <a:endParaRPr lang="nl-NL" b="1" dirty="0" smtClean="0">
              <a:solidFill>
                <a:srgbClr val="FF0000"/>
              </a:solidFill>
            </a:endParaRPr>
          </a:p>
          <a:p>
            <a:r>
              <a:rPr lang="nl-NL" b="1" dirty="0" err="1" smtClean="0">
                <a:solidFill>
                  <a:srgbClr val="FF0000"/>
                </a:solidFill>
              </a:rPr>
              <a:t>Vpk</a:t>
            </a:r>
            <a:endParaRPr lang="nl-NL" b="1" dirty="0" smtClean="0">
              <a:solidFill>
                <a:srgbClr val="FF0000"/>
              </a:solidFill>
            </a:endParaRPr>
          </a:p>
          <a:p>
            <a:r>
              <a:rPr lang="nl-NL" b="1" dirty="0" smtClean="0">
                <a:solidFill>
                  <a:srgbClr val="FF0000"/>
                </a:solidFill>
              </a:rPr>
              <a:t>/ </a:t>
            </a:r>
            <a:r>
              <a:rPr lang="nl-NL" b="1" dirty="0" err="1" smtClean="0">
                <a:solidFill>
                  <a:srgbClr val="FF0000"/>
                </a:solidFill>
              </a:rPr>
              <a:t>Vjk</a:t>
            </a:r>
            <a:endParaRPr lang="nl-NL" b="1" dirty="0" smtClean="0">
              <a:solidFill>
                <a:srgbClr val="FF0000"/>
              </a:solidFill>
            </a:endParaRPr>
          </a:p>
          <a:p>
            <a:endParaRPr lang="nl-NL" b="1" dirty="0"/>
          </a:p>
        </p:txBody>
      </p:sp>
      <p:sp>
        <p:nvSpPr>
          <p:cNvPr id="5" name="TextBox 4"/>
          <p:cNvSpPr txBox="1"/>
          <p:nvPr/>
        </p:nvSpPr>
        <p:spPr>
          <a:xfrm>
            <a:off x="4572000" y="4077072"/>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6" name="TextBox 5"/>
          <p:cNvSpPr txBox="1"/>
          <p:nvPr/>
        </p:nvSpPr>
        <p:spPr>
          <a:xfrm>
            <a:off x="395536" y="2837952"/>
            <a:ext cx="3384376" cy="1311128"/>
          </a:xfrm>
          <a:prstGeom prst="rect">
            <a:avLst/>
          </a:prstGeom>
          <a:noFill/>
        </p:spPr>
        <p:txBody>
          <a:bodyPr wrap="square" rtlCol="0">
            <a:spAutoFit/>
          </a:bodyPr>
          <a:lstStyle/>
          <a:p>
            <a:pPr marL="342900" lvl="0" indent="-342900">
              <a:spcBef>
                <a:spcPct val="20000"/>
              </a:spcBef>
              <a:defRPr/>
            </a:pPr>
            <a:r>
              <a:rPr lang="nl-NL" dirty="0" smtClean="0"/>
              <a:t>Jan is vader van Piet</a:t>
            </a:r>
          </a:p>
          <a:p>
            <a:pPr marL="342900" lvl="0" indent="-342900">
              <a:spcBef>
                <a:spcPct val="20000"/>
              </a:spcBef>
              <a:defRPr/>
            </a:pPr>
            <a:r>
              <a:rPr lang="nl-NL" dirty="0" smtClean="0"/>
              <a:t>Piet is vader van Kees</a:t>
            </a:r>
          </a:p>
          <a:p>
            <a:pPr marL="342900" lvl="0" indent="-342900">
              <a:spcBef>
                <a:spcPct val="20000"/>
              </a:spcBef>
              <a:defRPr/>
            </a:pPr>
            <a:r>
              <a:rPr lang="nl-NL" dirty="0" smtClean="0"/>
              <a:t>/ Jan is vader van Kees</a:t>
            </a:r>
          </a:p>
          <a:p>
            <a:endParaRPr lang="nl-NL" dirty="0"/>
          </a:p>
        </p:txBody>
      </p:sp>
      <p:sp>
        <p:nvSpPr>
          <p:cNvPr id="8" name="TextBox 7"/>
          <p:cNvSpPr txBox="1"/>
          <p:nvPr/>
        </p:nvSpPr>
        <p:spPr>
          <a:xfrm>
            <a:off x="5652120" y="4077072"/>
            <a:ext cx="2232248" cy="923330"/>
          </a:xfrm>
          <a:prstGeom prst="rect">
            <a:avLst/>
          </a:prstGeom>
          <a:noFill/>
        </p:spPr>
        <p:txBody>
          <a:bodyPr wrap="square" rtlCol="0">
            <a:spAutoFit/>
          </a:bodyPr>
          <a:lstStyle/>
          <a:p>
            <a:r>
              <a:rPr lang="nl-NL" b="1" dirty="0" err="1" smtClean="0"/>
              <a:t>Vxy</a:t>
            </a:r>
            <a:r>
              <a:rPr lang="nl-NL" dirty="0" smtClean="0"/>
              <a:t>:</a:t>
            </a:r>
            <a:r>
              <a:rPr lang="nl-NL" b="1" dirty="0" smtClean="0"/>
              <a:t> </a:t>
            </a:r>
            <a:r>
              <a:rPr lang="nl-NL" dirty="0" smtClean="0"/>
              <a:t>x is vader van y</a:t>
            </a:r>
          </a:p>
          <a:p>
            <a:r>
              <a:rPr lang="nl-NL" dirty="0" smtClean="0"/>
              <a:t>Domein: mensen</a:t>
            </a:r>
          </a:p>
          <a:p>
            <a:endParaRPr lang="nl-NL" dirty="0"/>
          </a:p>
        </p:txBody>
      </p:sp>
      <p:sp>
        <p:nvSpPr>
          <p:cNvPr id="16" name="TextBox 15"/>
          <p:cNvSpPr txBox="1"/>
          <p:nvPr/>
        </p:nvSpPr>
        <p:spPr>
          <a:xfrm>
            <a:off x="467544" y="5108991"/>
            <a:ext cx="7488832" cy="1508105"/>
          </a:xfrm>
          <a:prstGeom prst="rect">
            <a:avLst/>
          </a:prstGeom>
          <a:noFill/>
        </p:spPr>
        <p:txBody>
          <a:bodyPr wrap="square" rtlCol="0">
            <a:spAutoFit/>
          </a:bodyPr>
          <a:lstStyle/>
          <a:p>
            <a:r>
              <a:rPr lang="nl-NL" b="1" dirty="0" err="1" smtClean="0"/>
              <a:t>Vjp</a:t>
            </a:r>
            <a:endParaRPr lang="nl-NL" b="1" dirty="0" smtClean="0"/>
          </a:p>
          <a:p>
            <a:r>
              <a:rPr lang="nl-NL" b="1" dirty="0" err="1" smtClean="0"/>
              <a:t>Vpk</a:t>
            </a:r>
            <a:endParaRPr lang="nl-NL" b="1" dirty="0" smtClean="0"/>
          </a:p>
          <a:p>
            <a:r>
              <a:rPr lang="nl-NL" b="1" dirty="0" smtClean="0">
                <a:solidFill>
                  <a:srgbClr val="0070C0"/>
                </a:solidFill>
              </a:rPr>
              <a:t>∀x∀y∀z ((</a:t>
            </a:r>
            <a:r>
              <a:rPr lang="nl-NL" b="1" dirty="0" err="1" smtClean="0">
                <a:solidFill>
                  <a:srgbClr val="0070C0"/>
                </a:solidFill>
              </a:rPr>
              <a:t>Vxy</a:t>
            </a:r>
            <a:r>
              <a:rPr lang="nl-NL" b="1" dirty="0" smtClean="0">
                <a:solidFill>
                  <a:srgbClr val="0070C0"/>
                </a:solidFill>
              </a:rPr>
              <a:t> ∧ </a:t>
            </a:r>
            <a:r>
              <a:rPr lang="nl-NL" b="1" dirty="0" err="1" smtClean="0">
                <a:solidFill>
                  <a:srgbClr val="0070C0"/>
                </a:solidFill>
              </a:rPr>
              <a:t>Vyz</a:t>
            </a:r>
            <a:r>
              <a:rPr lang="nl-NL" b="1" dirty="0" smtClean="0">
                <a:solidFill>
                  <a:srgbClr val="0070C0"/>
                </a:solidFill>
              </a:rPr>
              <a:t>) → </a:t>
            </a:r>
            <a:r>
              <a:rPr lang="nl-NL" b="1" dirty="0" err="1" smtClean="0">
                <a:solidFill>
                  <a:srgbClr val="0070C0"/>
                </a:solidFill>
              </a:rPr>
              <a:t>Vxz</a:t>
            </a:r>
            <a:r>
              <a:rPr lang="nl-NL" b="1" dirty="0" smtClean="0">
                <a:solidFill>
                  <a:srgbClr val="0070C0"/>
                </a:solidFill>
              </a:rPr>
              <a:t>)</a:t>
            </a:r>
          </a:p>
          <a:p>
            <a:r>
              <a:rPr lang="nl-NL" b="1" dirty="0" smtClean="0"/>
              <a:t>/ </a:t>
            </a:r>
            <a:r>
              <a:rPr lang="nl-NL" b="1" dirty="0" err="1" smtClean="0"/>
              <a:t>Vjk</a:t>
            </a:r>
            <a:endParaRPr lang="nl-NL" b="1" dirty="0" smtClean="0"/>
          </a:p>
          <a:p>
            <a:endParaRPr lang="nl-NL" b="1" dirty="0"/>
          </a:p>
        </p:txBody>
      </p:sp>
      <p:sp>
        <p:nvSpPr>
          <p:cNvPr id="11" name="TextBox 10"/>
          <p:cNvSpPr txBox="1"/>
          <p:nvPr/>
        </p:nvSpPr>
        <p:spPr>
          <a:xfrm>
            <a:off x="4139952" y="5373216"/>
            <a:ext cx="3744416" cy="923330"/>
          </a:xfrm>
          <a:prstGeom prst="rect">
            <a:avLst/>
          </a:prstGeom>
          <a:noFill/>
        </p:spPr>
        <p:txBody>
          <a:bodyPr wrap="square" rtlCol="0">
            <a:spAutoFit/>
          </a:bodyPr>
          <a:lstStyle/>
          <a:p>
            <a:r>
              <a:rPr lang="nl-NL" dirty="0" smtClean="0">
                <a:solidFill>
                  <a:srgbClr val="0070C0"/>
                </a:solidFill>
              </a:rPr>
              <a:t>Dit was de verzwegen premisse. Zodra we die toevoegen ontstaat keurig een </a:t>
            </a:r>
            <a:r>
              <a:rPr lang="nl-NL" b="1" i="1" dirty="0" smtClean="0">
                <a:solidFill>
                  <a:srgbClr val="0070C0"/>
                </a:solidFill>
              </a:rPr>
              <a:t>geldige</a:t>
            </a:r>
            <a:r>
              <a:rPr lang="nl-NL" dirty="0" smtClean="0">
                <a:solidFill>
                  <a:srgbClr val="0070C0"/>
                </a:solidFill>
              </a:rPr>
              <a:t> redenering.</a:t>
            </a:r>
            <a:endParaRPr lang="nl-NL" dirty="0">
              <a:solidFill>
                <a:srgbClr val="0070C0"/>
              </a:solidFill>
            </a:endParaRPr>
          </a:p>
        </p:txBody>
      </p:sp>
      <p:sp>
        <p:nvSpPr>
          <p:cNvPr id="12" name="TextBox 11"/>
          <p:cNvSpPr txBox="1"/>
          <p:nvPr/>
        </p:nvSpPr>
        <p:spPr>
          <a:xfrm>
            <a:off x="1619672" y="4221088"/>
            <a:ext cx="1512168" cy="369332"/>
          </a:xfrm>
          <a:prstGeom prst="rect">
            <a:avLst/>
          </a:prstGeom>
          <a:noFill/>
        </p:spPr>
        <p:txBody>
          <a:bodyPr wrap="square" rtlCol="0">
            <a:spAutoFit/>
          </a:bodyPr>
          <a:lstStyle/>
          <a:p>
            <a:r>
              <a:rPr lang="nl-NL" i="1" dirty="0" smtClean="0"/>
              <a:t>Ongeldig</a:t>
            </a:r>
            <a:endParaRPr lang="nl-NL" i="1" dirty="0"/>
          </a:p>
        </p:txBody>
      </p:sp>
    </p:spTree>
  </p:cSld>
  <p:clrMapOvr>
    <a:masterClrMapping/>
  </p:clrMapOvr>
  <p:timing>
    <p:tnLst>
      <p:par>
        <p:cTn id="1" dur="indefinite" restart="never" nodeType="tmRoot"/>
      </p:par>
    </p:tnLst>
  </p:timing>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9" name="Content Placeholder 2"/>
          <p:cNvSpPr txBox="1">
            <a:spLocks/>
          </p:cNvSpPr>
          <p:nvPr/>
        </p:nvSpPr>
        <p:spPr>
          <a:xfrm>
            <a:off x="467544" y="1548000"/>
            <a:ext cx="8676456" cy="6912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Beide redeneringen zijn dus geldig nadat we de verzwegen premisse hebben toegevoegd. Maar zou je ook in beide gevallen de conclusie accepteren?</a:t>
            </a:r>
            <a:endParaRPr lang="nl-NL" sz="800" dirty="0" smtClean="0"/>
          </a:p>
        </p:txBody>
      </p:sp>
      <p:sp>
        <p:nvSpPr>
          <p:cNvPr id="16" name="TextBox 15"/>
          <p:cNvSpPr txBox="1"/>
          <p:nvPr/>
        </p:nvSpPr>
        <p:spPr>
          <a:xfrm>
            <a:off x="4427984" y="2808000"/>
            <a:ext cx="3096344" cy="1508105"/>
          </a:xfrm>
          <a:prstGeom prst="rect">
            <a:avLst/>
          </a:prstGeom>
          <a:noFill/>
        </p:spPr>
        <p:txBody>
          <a:bodyPr wrap="square" rtlCol="0">
            <a:spAutoFit/>
          </a:bodyPr>
          <a:lstStyle/>
          <a:p>
            <a:r>
              <a:rPr lang="nl-NL" b="1" dirty="0" err="1" smtClean="0"/>
              <a:t>Vjp</a:t>
            </a:r>
            <a:endParaRPr lang="nl-NL" b="1" dirty="0" smtClean="0"/>
          </a:p>
          <a:p>
            <a:r>
              <a:rPr lang="nl-NL" b="1" dirty="0" err="1" smtClean="0"/>
              <a:t>Vpk</a:t>
            </a:r>
            <a:endParaRPr lang="nl-NL" b="1" dirty="0" smtClean="0"/>
          </a:p>
          <a:p>
            <a:r>
              <a:rPr lang="nl-NL" b="1" dirty="0" smtClean="0"/>
              <a:t>∀x∀y∀z ((</a:t>
            </a:r>
            <a:r>
              <a:rPr lang="nl-NL" b="1" dirty="0" err="1" smtClean="0"/>
              <a:t>Vxy</a:t>
            </a:r>
            <a:r>
              <a:rPr lang="nl-NL" b="1" dirty="0" smtClean="0"/>
              <a:t> ∧ </a:t>
            </a:r>
            <a:r>
              <a:rPr lang="nl-NL" b="1" dirty="0" err="1" smtClean="0"/>
              <a:t>Vyz</a:t>
            </a:r>
            <a:r>
              <a:rPr lang="nl-NL" b="1" dirty="0" smtClean="0"/>
              <a:t>) → </a:t>
            </a:r>
            <a:r>
              <a:rPr lang="nl-NL" b="1" dirty="0" err="1" smtClean="0"/>
              <a:t>Vxz</a:t>
            </a:r>
            <a:r>
              <a:rPr lang="nl-NL" b="1" dirty="0" smtClean="0"/>
              <a:t>)</a:t>
            </a:r>
          </a:p>
          <a:p>
            <a:r>
              <a:rPr lang="nl-NL" b="1" dirty="0" smtClean="0"/>
              <a:t>/ </a:t>
            </a:r>
            <a:r>
              <a:rPr lang="nl-NL" b="1" dirty="0" err="1" smtClean="0"/>
              <a:t>Vjk</a:t>
            </a:r>
            <a:endParaRPr lang="nl-NL" b="1" dirty="0" smtClean="0"/>
          </a:p>
          <a:p>
            <a:endParaRPr lang="nl-NL" b="1" dirty="0"/>
          </a:p>
        </p:txBody>
      </p:sp>
      <p:sp>
        <p:nvSpPr>
          <p:cNvPr id="13" name="Rectangle 12"/>
          <p:cNvSpPr/>
          <p:nvPr/>
        </p:nvSpPr>
        <p:spPr>
          <a:xfrm>
            <a:off x="1043608" y="2808000"/>
            <a:ext cx="3006080" cy="1200329"/>
          </a:xfrm>
          <a:prstGeom prst="rect">
            <a:avLst/>
          </a:prstGeom>
        </p:spPr>
        <p:txBody>
          <a:bodyPr wrap="square">
            <a:spAutoFit/>
          </a:bodyPr>
          <a:lstStyle/>
          <a:p>
            <a:r>
              <a:rPr lang="nl-NL" b="1" dirty="0" err="1" smtClean="0"/>
              <a:t>Gjp</a:t>
            </a:r>
            <a:endParaRPr lang="nl-NL" b="1" dirty="0" smtClean="0"/>
          </a:p>
          <a:p>
            <a:r>
              <a:rPr lang="nl-NL" b="1" dirty="0" err="1" smtClean="0"/>
              <a:t>Gpk</a:t>
            </a:r>
            <a:endParaRPr lang="nl-NL" b="1" dirty="0" smtClean="0"/>
          </a:p>
          <a:p>
            <a:r>
              <a:rPr lang="nl-NL" b="1" dirty="0" smtClean="0"/>
              <a:t>∀x∀y∀z ((</a:t>
            </a:r>
            <a:r>
              <a:rPr lang="nl-NL" b="1" dirty="0" err="1" smtClean="0"/>
              <a:t>Gxy</a:t>
            </a:r>
            <a:r>
              <a:rPr lang="nl-NL" b="1" dirty="0" smtClean="0"/>
              <a:t> ∧ </a:t>
            </a:r>
            <a:r>
              <a:rPr lang="nl-NL" b="1" dirty="0" err="1" smtClean="0"/>
              <a:t>Gyz</a:t>
            </a:r>
            <a:r>
              <a:rPr lang="nl-NL" b="1" dirty="0" smtClean="0"/>
              <a:t>) → </a:t>
            </a:r>
            <a:r>
              <a:rPr lang="nl-NL" b="1" dirty="0" err="1" smtClean="0"/>
              <a:t>Gxz</a:t>
            </a:r>
            <a:r>
              <a:rPr lang="nl-NL" b="1" dirty="0" smtClean="0"/>
              <a:t>)</a:t>
            </a:r>
          </a:p>
          <a:p>
            <a:r>
              <a:rPr lang="nl-NL" b="1" dirty="0" smtClean="0"/>
              <a:t>/ </a:t>
            </a:r>
            <a:r>
              <a:rPr lang="nl-NL" b="1" dirty="0" err="1" smtClean="0"/>
              <a:t>Gjk</a:t>
            </a:r>
            <a:endParaRPr lang="nl-NL" b="1" dirty="0" smtClean="0"/>
          </a:p>
        </p:txBody>
      </p:sp>
    </p:spTree>
  </p:cSld>
  <p:clrMapOvr>
    <a:masterClrMapping/>
  </p:clrMapOvr>
  <p:timing>
    <p:tnLst>
      <p:par>
        <p:cTn id="1" dur="indefinite" restart="never" nodeType="tmRoot"/>
      </p:par>
    </p:tnLst>
  </p:timing>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Relaties</a:t>
            </a:r>
            <a:endParaRPr lang="nl-NL" sz="3600" dirty="0"/>
          </a:p>
        </p:txBody>
      </p:sp>
      <p:sp>
        <p:nvSpPr>
          <p:cNvPr id="16" name="TextBox 15"/>
          <p:cNvSpPr txBox="1"/>
          <p:nvPr/>
        </p:nvSpPr>
        <p:spPr>
          <a:xfrm>
            <a:off x="4427984" y="2809528"/>
            <a:ext cx="3096344" cy="1508105"/>
          </a:xfrm>
          <a:prstGeom prst="rect">
            <a:avLst/>
          </a:prstGeom>
          <a:noFill/>
        </p:spPr>
        <p:txBody>
          <a:bodyPr wrap="square" rtlCol="0">
            <a:spAutoFit/>
          </a:bodyPr>
          <a:lstStyle/>
          <a:p>
            <a:r>
              <a:rPr lang="nl-NL" b="1" dirty="0" err="1" smtClean="0">
                <a:solidFill>
                  <a:srgbClr val="00B050"/>
                </a:solidFill>
              </a:rPr>
              <a:t>Vjp</a:t>
            </a:r>
            <a:endParaRPr lang="nl-NL" b="1" dirty="0" smtClean="0">
              <a:solidFill>
                <a:srgbClr val="00B050"/>
              </a:solidFill>
            </a:endParaRPr>
          </a:p>
          <a:p>
            <a:r>
              <a:rPr lang="nl-NL" b="1" dirty="0" err="1" smtClean="0">
                <a:solidFill>
                  <a:srgbClr val="00B050"/>
                </a:solidFill>
              </a:rPr>
              <a:t>Vpk</a:t>
            </a:r>
            <a:endParaRPr lang="nl-NL" b="1" dirty="0" smtClean="0">
              <a:solidFill>
                <a:srgbClr val="00B050"/>
              </a:solidFill>
            </a:endParaRPr>
          </a:p>
          <a:p>
            <a:r>
              <a:rPr lang="nl-NL" b="1" dirty="0" smtClean="0">
                <a:solidFill>
                  <a:srgbClr val="FF0000"/>
                </a:solidFill>
              </a:rPr>
              <a:t>∀x∀y∀z ((</a:t>
            </a:r>
            <a:r>
              <a:rPr lang="nl-NL" b="1" dirty="0" err="1" smtClean="0">
                <a:solidFill>
                  <a:srgbClr val="FF0000"/>
                </a:solidFill>
              </a:rPr>
              <a:t>Vxy</a:t>
            </a:r>
            <a:r>
              <a:rPr lang="nl-NL" b="1" dirty="0" smtClean="0">
                <a:solidFill>
                  <a:srgbClr val="FF0000"/>
                </a:solidFill>
              </a:rPr>
              <a:t> ∧ </a:t>
            </a:r>
            <a:r>
              <a:rPr lang="nl-NL" b="1" dirty="0" err="1" smtClean="0">
                <a:solidFill>
                  <a:srgbClr val="FF0000"/>
                </a:solidFill>
              </a:rPr>
              <a:t>Vyz</a:t>
            </a:r>
            <a:r>
              <a:rPr lang="nl-NL" b="1" dirty="0" smtClean="0">
                <a:solidFill>
                  <a:srgbClr val="FF0000"/>
                </a:solidFill>
              </a:rPr>
              <a:t>) → </a:t>
            </a:r>
            <a:r>
              <a:rPr lang="nl-NL" b="1" dirty="0" err="1" smtClean="0">
                <a:solidFill>
                  <a:srgbClr val="FF0000"/>
                </a:solidFill>
              </a:rPr>
              <a:t>Vxz</a:t>
            </a:r>
            <a:r>
              <a:rPr lang="nl-NL" b="1" dirty="0" smtClean="0">
                <a:solidFill>
                  <a:srgbClr val="FF0000"/>
                </a:solidFill>
              </a:rPr>
              <a:t>)</a:t>
            </a:r>
          </a:p>
          <a:p>
            <a:r>
              <a:rPr lang="nl-NL" b="1" dirty="0" smtClean="0"/>
              <a:t>/ </a:t>
            </a:r>
            <a:r>
              <a:rPr lang="nl-NL" b="1" dirty="0" err="1" smtClean="0"/>
              <a:t>Vjk</a:t>
            </a:r>
            <a:endParaRPr lang="nl-NL" b="1" dirty="0" smtClean="0"/>
          </a:p>
          <a:p>
            <a:endParaRPr lang="nl-NL" b="1" dirty="0"/>
          </a:p>
        </p:txBody>
      </p:sp>
      <p:sp>
        <p:nvSpPr>
          <p:cNvPr id="13" name="Rectangle 12"/>
          <p:cNvSpPr/>
          <p:nvPr/>
        </p:nvSpPr>
        <p:spPr>
          <a:xfrm>
            <a:off x="1043608" y="2809528"/>
            <a:ext cx="3006080" cy="1200329"/>
          </a:xfrm>
          <a:prstGeom prst="rect">
            <a:avLst/>
          </a:prstGeom>
        </p:spPr>
        <p:txBody>
          <a:bodyPr wrap="square">
            <a:spAutoFit/>
          </a:bodyPr>
          <a:lstStyle/>
          <a:p>
            <a:r>
              <a:rPr lang="nl-NL" b="1" dirty="0" err="1" smtClean="0">
                <a:solidFill>
                  <a:srgbClr val="00B050"/>
                </a:solidFill>
              </a:rPr>
              <a:t>Gjp</a:t>
            </a:r>
            <a:endParaRPr lang="nl-NL" b="1" dirty="0" smtClean="0">
              <a:solidFill>
                <a:srgbClr val="00B050"/>
              </a:solidFill>
            </a:endParaRPr>
          </a:p>
          <a:p>
            <a:r>
              <a:rPr lang="nl-NL" b="1" dirty="0" err="1" smtClean="0">
                <a:solidFill>
                  <a:srgbClr val="00B050"/>
                </a:solidFill>
              </a:rPr>
              <a:t>Gpk</a:t>
            </a:r>
            <a:endParaRPr lang="nl-NL" b="1" dirty="0" smtClean="0">
              <a:solidFill>
                <a:srgbClr val="00B050"/>
              </a:solidFill>
            </a:endParaRPr>
          </a:p>
          <a:p>
            <a:r>
              <a:rPr lang="nl-NL" b="1" dirty="0" smtClean="0">
                <a:solidFill>
                  <a:srgbClr val="00B050"/>
                </a:solidFill>
              </a:rPr>
              <a:t>∀x∀y∀z ((</a:t>
            </a:r>
            <a:r>
              <a:rPr lang="nl-NL" b="1" dirty="0" err="1" smtClean="0">
                <a:solidFill>
                  <a:srgbClr val="00B050"/>
                </a:solidFill>
              </a:rPr>
              <a:t>Gxy</a:t>
            </a:r>
            <a:r>
              <a:rPr lang="nl-NL" b="1" dirty="0" smtClean="0">
                <a:solidFill>
                  <a:srgbClr val="00B050"/>
                </a:solidFill>
              </a:rPr>
              <a:t> ∧ </a:t>
            </a:r>
            <a:r>
              <a:rPr lang="nl-NL" b="1" dirty="0" err="1" smtClean="0">
                <a:solidFill>
                  <a:srgbClr val="00B050"/>
                </a:solidFill>
              </a:rPr>
              <a:t>Gyz</a:t>
            </a:r>
            <a:r>
              <a:rPr lang="nl-NL" b="1" dirty="0" smtClean="0">
                <a:solidFill>
                  <a:srgbClr val="00B050"/>
                </a:solidFill>
              </a:rPr>
              <a:t>) → </a:t>
            </a:r>
            <a:r>
              <a:rPr lang="nl-NL" b="1" dirty="0" err="1" smtClean="0">
                <a:solidFill>
                  <a:srgbClr val="00B050"/>
                </a:solidFill>
              </a:rPr>
              <a:t>Gxz</a:t>
            </a:r>
            <a:r>
              <a:rPr lang="nl-NL" b="1" dirty="0" smtClean="0">
                <a:solidFill>
                  <a:srgbClr val="00B050"/>
                </a:solidFill>
              </a:rPr>
              <a:t>)</a:t>
            </a:r>
          </a:p>
          <a:p>
            <a:r>
              <a:rPr lang="nl-NL" b="1" dirty="0" smtClean="0"/>
              <a:t>/ </a:t>
            </a:r>
            <a:r>
              <a:rPr lang="nl-NL" b="1" dirty="0" err="1" smtClean="0"/>
              <a:t>Gjk</a:t>
            </a:r>
            <a:endParaRPr lang="nl-NL" b="1" dirty="0" smtClean="0"/>
          </a:p>
        </p:txBody>
      </p:sp>
      <p:sp>
        <p:nvSpPr>
          <p:cNvPr id="6" name="TextBox 5"/>
          <p:cNvSpPr txBox="1"/>
          <p:nvPr/>
        </p:nvSpPr>
        <p:spPr>
          <a:xfrm>
            <a:off x="251520" y="4509120"/>
            <a:ext cx="5688632" cy="1600438"/>
          </a:xfrm>
          <a:prstGeom prst="rect">
            <a:avLst/>
          </a:prstGeom>
          <a:noFill/>
        </p:spPr>
        <p:txBody>
          <a:bodyPr wrap="square" rtlCol="0">
            <a:spAutoFit/>
          </a:bodyPr>
          <a:lstStyle/>
          <a:p>
            <a:r>
              <a:rPr lang="nl-NL" dirty="0" smtClean="0"/>
              <a:t>De relatie </a:t>
            </a:r>
            <a:r>
              <a:rPr lang="nl-NL" b="1" dirty="0" smtClean="0"/>
              <a:t>G</a:t>
            </a:r>
            <a:r>
              <a:rPr lang="nl-NL" dirty="0" smtClean="0"/>
              <a:t> (‘is groter dan’) is </a:t>
            </a:r>
            <a:r>
              <a:rPr lang="nl-NL" u="sng" dirty="0" smtClean="0"/>
              <a:t>transitief</a:t>
            </a:r>
            <a:r>
              <a:rPr lang="nl-NL" dirty="0" smtClean="0"/>
              <a:t>. Er geldt namelijk:</a:t>
            </a:r>
          </a:p>
          <a:p>
            <a:endParaRPr lang="nl-NL" sz="800" b="1" dirty="0" smtClean="0"/>
          </a:p>
          <a:p>
            <a:r>
              <a:rPr lang="nl-NL" b="1" dirty="0" smtClean="0"/>
              <a:t>∀x∀y∀z ((</a:t>
            </a:r>
            <a:r>
              <a:rPr lang="nl-NL" b="1" dirty="0" err="1" smtClean="0"/>
              <a:t>Gxy</a:t>
            </a:r>
            <a:r>
              <a:rPr lang="nl-NL" b="1" dirty="0" smtClean="0"/>
              <a:t> ∧ </a:t>
            </a:r>
            <a:r>
              <a:rPr lang="nl-NL" b="1" dirty="0" err="1" smtClean="0"/>
              <a:t>Gyz</a:t>
            </a:r>
            <a:r>
              <a:rPr lang="nl-NL" b="1" dirty="0" smtClean="0"/>
              <a:t>) → </a:t>
            </a:r>
            <a:r>
              <a:rPr lang="nl-NL" b="1" dirty="0" err="1" smtClean="0"/>
              <a:t>Gxz</a:t>
            </a:r>
            <a:r>
              <a:rPr lang="nl-NL" b="1" dirty="0" smtClean="0"/>
              <a:t>)</a:t>
            </a:r>
          </a:p>
          <a:p>
            <a:endParaRPr lang="nl-NL" dirty="0" smtClean="0"/>
          </a:p>
          <a:p>
            <a:endParaRPr lang="nl-NL" dirty="0" smtClean="0"/>
          </a:p>
          <a:p>
            <a:endParaRPr lang="nl-NL" dirty="0"/>
          </a:p>
        </p:txBody>
      </p:sp>
      <p:sp>
        <p:nvSpPr>
          <p:cNvPr id="7" name="TextBox 6"/>
          <p:cNvSpPr txBox="1"/>
          <p:nvPr/>
        </p:nvSpPr>
        <p:spPr>
          <a:xfrm>
            <a:off x="251520" y="5373216"/>
            <a:ext cx="5544616" cy="369332"/>
          </a:xfrm>
          <a:prstGeom prst="rect">
            <a:avLst/>
          </a:prstGeom>
          <a:noFill/>
        </p:spPr>
        <p:txBody>
          <a:bodyPr wrap="square" rtlCol="0">
            <a:spAutoFit/>
          </a:bodyPr>
          <a:lstStyle/>
          <a:p>
            <a:r>
              <a:rPr lang="nl-NL" dirty="0" smtClean="0"/>
              <a:t>De relatie </a:t>
            </a:r>
            <a:r>
              <a:rPr lang="nl-NL" b="1" dirty="0" smtClean="0"/>
              <a:t>V</a:t>
            </a:r>
            <a:r>
              <a:rPr lang="nl-NL" dirty="0" smtClean="0"/>
              <a:t> (‘is vader van’) is niet transitief.</a:t>
            </a:r>
            <a:endParaRPr lang="nl-NL" dirty="0"/>
          </a:p>
        </p:txBody>
      </p:sp>
      <p:sp>
        <p:nvSpPr>
          <p:cNvPr id="8" name="TextBox 7"/>
          <p:cNvSpPr txBox="1"/>
          <p:nvPr/>
        </p:nvSpPr>
        <p:spPr>
          <a:xfrm>
            <a:off x="251520" y="5877272"/>
            <a:ext cx="5544616" cy="1600438"/>
          </a:xfrm>
          <a:prstGeom prst="rect">
            <a:avLst/>
          </a:prstGeom>
          <a:noFill/>
        </p:spPr>
        <p:txBody>
          <a:bodyPr wrap="square" rtlCol="0">
            <a:spAutoFit/>
          </a:bodyPr>
          <a:lstStyle/>
          <a:p>
            <a:r>
              <a:rPr lang="nl-NL" dirty="0" smtClean="0"/>
              <a:t>Sterker nog, de relatie </a:t>
            </a:r>
            <a:r>
              <a:rPr lang="nl-NL" b="1" dirty="0" smtClean="0"/>
              <a:t>V</a:t>
            </a:r>
            <a:r>
              <a:rPr lang="nl-NL" dirty="0" smtClean="0"/>
              <a:t> is </a:t>
            </a:r>
            <a:r>
              <a:rPr lang="nl-NL" u="sng" dirty="0" smtClean="0"/>
              <a:t>intransitief</a:t>
            </a:r>
            <a:r>
              <a:rPr lang="nl-NL" dirty="0" smtClean="0"/>
              <a:t>. Er geldt namelijk:</a:t>
            </a:r>
          </a:p>
          <a:p>
            <a:endParaRPr lang="nl-NL" sz="800" b="1" dirty="0" smtClean="0"/>
          </a:p>
          <a:p>
            <a:r>
              <a:rPr lang="nl-NL" b="1" dirty="0" smtClean="0"/>
              <a:t>∀x∀y∀z ((</a:t>
            </a:r>
            <a:r>
              <a:rPr lang="nl-NL" b="1" dirty="0" err="1" smtClean="0"/>
              <a:t>Vxy</a:t>
            </a:r>
            <a:r>
              <a:rPr lang="nl-NL" b="1" dirty="0" smtClean="0"/>
              <a:t> ∧ </a:t>
            </a:r>
            <a:r>
              <a:rPr lang="nl-NL" b="1" dirty="0" err="1" smtClean="0"/>
              <a:t>Vyz</a:t>
            </a:r>
            <a:r>
              <a:rPr lang="nl-NL" b="1" dirty="0" smtClean="0"/>
              <a:t>) → ¬</a:t>
            </a:r>
            <a:r>
              <a:rPr lang="nl-NL" b="1" dirty="0" err="1" smtClean="0"/>
              <a:t>Vxz</a:t>
            </a:r>
            <a:r>
              <a:rPr lang="nl-NL" b="1" dirty="0" smtClean="0"/>
              <a:t>)</a:t>
            </a:r>
          </a:p>
          <a:p>
            <a:endParaRPr lang="nl-NL" dirty="0" smtClean="0"/>
          </a:p>
          <a:p>
            <a:endParaRPr lang="nl-NL" dirty="0" smtClean="0"/>
          </a:p>
          <a:p>
            <a:endParaRPr lang="nl-NL" dirty="0"/>
          </a:p>
        </p:txBody>
      </p:sp>
      <p:sp>
        <p:nvSpPr>
          <p:cNvPr id="10" name="TextBox 9"/>
          <p:cNvSpPr txBox="1"/>
          <p:nvPr/>
        </p:nvSpPr>
        <p:spPr>
          <a:xfrm>
            <a:off x="6444208" y="4465712"/>
            <a:ext cx="2016224" cy="1200329"/>
          </a:xfrm>
          <a:prstGeom prst="rect">
            <a:avLst/>
          </a:prstGeom>
          <a:noFill/>
        </p:spPr>
        <p:txBody>
          <a:bodyPr wrap="square" rtlCol="0">
            <a:spAutoFit/>
          </a:bodyPr>
          <a:lstStyle/>
          <a:p>
            <a:r>
              <a:rPr lang="nl-NL" dirty="0" smtClean="0"/>
              <a:t>Zijn er ook relaties die niet transitief zijn en ook niet intransitief?</a:t>
            </a:r>
            <a:endParaRPr lang="nl-NL" dirty="0"/>
          </a:p>
        </p:txBody>
      </p:sp>
      <p:sp>
        <p:nvSpPr>
          <p:cNvPr id="11" name="TextBox 10"/>
          <p:cNvSpPr txBox="1"/>
          <p:nvPr/>
        </p:nvSpPr>
        <p:spPr>
          <a:xfrm>
            <a:off x="6444208" y="5807005"/>
            <a:ext cx="2016224" cy="646331"/>
          </a:xfrm>
          <a:prstGeom prst="rect">
            <a:avLst/>
          </a:prstGeom>
          <a:noFill/>
        </p:spPr>
        <p:txBody>
          <a:bodyPr wrap="square" rtlCol="0">
            <a:spAutoFit/>
          </a:bodyPr>
          <a:lstStyle/>
          <a:p>
            <a:r>
              <a:rPr lang="nl-NL" dirty="0" smtClean="0"/>
              <a:t>Jazeker. Neem  </a:t>
            </a:r>
            <a:r>
              <a:rPr lang="nl-NL" b="1" dirty="0" err="1" smtClean="0"/>
              <a:t>Hxy</a:t>
            </a:r>
            <a:r>
              <a:rPr lang="nl-NL" dirty="0" smtClean="0"/>
              <a:t>: x houdt van y</a:t>
            </a:r>
            <a:endParaRPr lang="nl-NL" dirty="0"/>
          </a:p>
        </p:txBody>
      </p:sp>
      <p:sp>
        <p:nvSpPr>
          <p:cNvPr id="12" name="Content Placeholder 2"/>
          <p:cNvSpPr txBox="1">
            <a:spLocks/>
          </p:cNvSpPr>
          <p:nvPr/>
        </p:nvSpPr>
        <p:spPr>
          <a:xfrm>
            <a:off x="467544" y="1548000"/>
            <a:ext cx="8676456" cy="6912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Beide redeneringen zijn dus geldig nadat we de verzwegen premisse hebben toegevoegd. Maar zou je ook in beide gevallen de conclusie accepteren?</a:t>
            </a:r>
            <a:endParaRPr lang="nl-NL" sz="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fade">
                                      <p:cBhvr>
                                        <p:cTn id="10" dur="2000"/>
                                        <p:tgtEl>
                                          <p:spTgt spid="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20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fade">
                                      <p:cBhvr>
                                        <p:cTn id="20" dur="2000"/>
                                        <p:tgtEl>
                                          <p:spTgt spid="8">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animEffect transition="in" filter="fade">
                                      <p:cBhvr>
                                        <p:cTn id="23" dur="2000"/>
                                        <p:tgtEl>
                                          <p:spTgt spid="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2000"/>
                                        <p:tgtEl>
                                          <p:spTgt spid="10">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animEffect transition="in" filter="fade">
                                      <p:cBhvr>
                                        <p:cTn id="33"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10" grpId="0" build="allAtOnce"/>
      <p:bldP spid="11" grpId="0" build="allAtOnce"/>
    </p:bldLst>
  </p:timing>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a:t>
            </a:r>
            <a:r>
              <a:rPr lang="nl-NL" sz="3600" dirty="0" err="1" smtClean="0"/>
              <a:t>twee-plaatsige</a:t>
            </a:r>
            <a:r>
              <a:rPr lang="nl-NL" sz="3600" dirty="0" smtClean="0"/>
              <a:t> relaties</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transitief</a:t>
            </a:r>
            <a:r>
              <a:rPr lang="nl-NL" dirty="0" smtClean="0"/>
              <a:t>  dan en slechts dan als </a:t>
            </a:r>
            <a:r>
              <a:rPr lang="nl-NL" b="1" dirty="0" smtClean="0"/>
              <a:t>∀x∀y∀z ((</a:t>
            </a:r>
            <a:r>
              <a:rPr lang="nl-NL" b="1" dirty="0" err="1" smtClean="0"/>
              <a:t>Gxy</a:t>
            </a:r>
            <a:r>
              <a:rPr lang="nl-NL" b="1" dirty="0" smtClean="0"/>
              <a:t> ∧ </a:t>
            </a:r>
            <a:r>
              <a:rPr lang="nl-NL" b="1" dirty="0" err="1" smtClean="0"/>
              <a:t>Gyz</a:t>
            </a:r>
            <a:r>
              <a:rPr lang="nl-NL" b="1" dirty="0" smtClean="0"/>
              <a:t>) → </a:t>
            </a:r>
            <a:r>
              <a:rPr lang="nl-NL" b="1" dirty="0" err="1" smtClean="0"/>
              <a:t>Gxz</a:t>
            </a:r>
            <a:r>
              <a:rPr lang="nl-NL" b="1" dirty="0" smtClean="0"/>
              <a:t>)</a:t>
            </a:r>
            <a:endParaRPr lang="nl-NL" dirty="0"/>
          </a:p>
        </p:txBody>
      </p:sp>
      <p:sp>
        <p:nvSpPr>
          <p:cNvPr id="17" name="Rectangle 16"/>
          <p:cNvSpPr/>
          <p:nvPr/>
        </p:nvSpPr>
        <p:spPr>
          <a:xfrm>
            <a:off x="539552" y="2420888"/>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intransitief</a:t>
            </a:r>
            <a:r>
              <a:rPr lang="nl-NL" dirty="0" smtClean="0"/>
              <a:t>  dan en slechts dan als </a:t>
            </a:r>
            <a:r>
              <a:rPr lang="nl-NL" b="1" dirty="0" smtClean="0"/>
              <a:t>∀x∀y∀z ((</a:t>
            </a:r>
            <a:r>
              <a:rPr lang="nl-NL" b="1" dirty="0" err="1" smtClean="0"/>
              <a:t>Gxy</a:t>
            </a:r>
            <a:r>
              <a:rPr lang="nl-NL" b="1" dirty="0" smtClean="0"/>
              <a:t> ∧ </a:t>
            </a:r>
            <a:r>
              <a:rPr lang="nl-NL" b="1" dirty="0" err="1" smtClean="0"/>
              <a:t>Gyz</a:t>
            </a:r>
            <a:r>
              <a:rPr lang="nl-NL" b="1" dirty="0" smtClean="0"/>
              <a:t>) → ¬</a:t>
            </a:r>
            <a:r>
              <a:rPr lang="nl-NL" b="1" dirty="0" err="1" smtClean="0"/>
              <a:t>Gxz</a:t>
            </a:r>
            <a:r>
              <a:rPr lang="nl-NL" b="1" dirty="0" smtClean="0"/>
              <a:t>)</a:t>
            </a:r>
            <a:endParaRPr lang="nl-NL" dirty="0"/>
          </a:p>
        </p:txBody>
      </p:sp>
      <p:sp>
        <p:nvSpPr>
          <p:cNvPr id="18" name="Rectangle 17"/>
          <p:cNvSpPr/>
          <p:nvPr/>
        </p:nvSpPr>
        <p:spPr>
          <a:xfrm>
            <a:off x="539552" y="3347700"/>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a:t>
            </a:r>
            <a:endParaRPr lang="nl-NL" dirty="0"/>
          </a:p>
        </p:txBody>
      </p:sp>
      <p:sp>
        <p:nvSpPr>
          <p:cNvPr id="19" name="Rectangle 18"/>
          <p:cNvSpPr/>
          <p:nvPr/>
        </p:nvSpPr>
        <p:spPr>
          <a:xfrm>
            <a:off x="539552" y="4355812"/>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asymmetrisch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a:t>
            </a:r>
            <a:endParaRPr lang="nl-NL" dirty="0"/>
          </a:p>
        </p:txBody>
      </p:sp>
      <p:sp>
        <p:nvSpPr>
          <p:cNvPr id="20" name="TextBox 19"/>
          <p:cNvSpPr txBox="1"/>
          <p:nvPr/>
        </p:nvSpPr>
        <p:spPr>
          <a:xfrm>
            <a:off x="539552" y="3717032"/>
            <a:ext cx="1872208" cy="369332"/>
          </a:xfrm>
          <a:prstGeom prst="rect">
            <a:avLst/>
          </a:prstGeom>
          <a:noFill/>
        </p:spPr>
        <p:txBody>
          <a:bodyPr wrap="square" rtlCol="0">
            <a:spAutoFit/>
          </a:bodyPr>
          <a:lstStyle/>
          <a:p>
            <a:r>
              <a:rPr lang="nl-NL" i="1" dirty="0" smtClean="0"/>
              <a:t>‘Gehuwd met’</a:t>
            </a:r>
            <a:endParaRPr lang="nl-NL" i="1" dirty="0"/>
          </a:p>
        </p:txBody>
      </p:sp>
      <p:sp>
        <p:nvSpPr>
          <p:cNvPr id="21" name="TextBox 20"/>
          <p:cNvSpPr txBox="1"/>
          <p:nvPr/>
        </p:nvSpPr>
        <p:spPr>
          <a:xfrm>
            <a:off x="2051720" y="3717032"/>
            <a:ext cx="1872208" cy="369332"/>
          </a:xfrm>
          <a:prstGeom prst="rect">
            <a:avLst/>
          </a:prstGeom>
          <a:noFill/>
        </p:spPr>
        <p:txBody>
          <a:bodyPr wrap="square" rtlCol="0">
            <a:spAutoFit/>
          </a:bodyPr>
          <a:lstStyle/>
          <a:p>
            <a:r>
              <a:rPr lang="nl-NL" i="1" dirty="0" smtClean="0"/>
              <a:t>‘Even groot als’</a:t>
            </a:r>
            <a:endParaRPr lang="nl-NL" i="1" dirty="0"/>
          </a:p>
        </p:txBody>
      </p:sp>
      <p:sp>
        <p:nvSpPr>
          <p:cNvPr id="22" name="TextBox 21"/>
          <p:cNvSpPr txBox="1"/>
          <p:nvPr/>
        </p:nvSpPr>
        <p:spPr>
          <a:xfrm>
            <a:off x="539552" y="4787860"/>
            <a:ext cx="1872208" cy="369332"/>
          </a:xfrm>
          <a:prstGeom prst="rect">
            <a:avLst/>
          </a:prstGeom>
          <a:noFill/>
        </p:spPr>
        <p:txBody>
          <a:bodyPr wrap="square" rtlCol="0">
            <a:spAutoFit/>
          </a:bodyPr>
          <a:lstStyle/>
          <a:p>
            <a:r>
              <a:rPr lang="nl-NL" i="1" dirty="0" smtClean="0"/>
              <a:t>‘Is vader van’</a:t>
            </a:r>
            <a:endParaRPr lang="nl-NL" i="1" dirty="0"/>
          </a:p>
        </p:txBody>
      </p:sp>
      <p:sp>
        <p:nvSpPr>
          <p:cNvPr id="23" name="TextBox 22"/>
          <p:cNvSpPr txBox="1"/>
          <p:nvPr/>
        </p:nvSpPr>
        <p:spPr>
          <a:xfrm>
            <a:off x="2051720" y="4787860"/>
            <a:ext cx="1872208" cy="369332"/>
          </a:xfrm>
          <a:prstGeom prst="rect">
            <a:avLst/>
          </a:prstGeom>
          <a:noFill/>
        </p:spPr>
        <p:txBody>
          <a:bodyPr wrap="square" rtlCol="0">
            <a:spAutoFit/>
          </a:bodyPr>
          <a:lstStyle/>
          <a:p>
            <a:r>
              <a:rPr lang="nl-NL" i="1" dirty="0" smtClean="0"/>
              <a:t>‘Is groter dan’</a:t>
            </a:r>
            <a:endParaRPr lang="nl-NL" i="1" dirty="0"/>
          </a:p>
        </p:txBody>
      </p:sp>
      <p:sp>
        <p:nvSpPr>
          <p:cNvPr id="24" name="TextBox 23"/>
          <p:cNvSpPr txBox="1"/>
          <p:nvPr/>
        </p:nvSpPr>
        <p:spPr>
          <a:xfrm>
            <a:off x="539552" y="5445224"/>
            <a:ext cx="7272808" cy="369332"/>
          </a:xfrm>
          <a:prstGeom prst="rect">
            <a:avLst/>
          </a:prstGeom>
          <a:noFill/>
        </p:spPr>
        <p:txBody>
          <a:bodyPr wrap="square" rtlCol="0">
            <a:spAutoFit/>
          </a:bodyPr>
          <a:lstStyle/>
          <a:p>
            <a:r>
              <a:rPr lang="nl-NL" dirty="0" smtClean="0"/>
              <a:t>Zijn er ook relaties die noch symmetrisch, noch asymmetrisch zijn?</a:t>
            </a:r>
            <a:endParaRPr lang="nl-NL" dirty="0"/>
          </a:p>
        </p:txBody>
      </p:sp>
      <p:sp>
        <p:nvSpPr>
          <p:cNvPr id="25" name="TextBox 24"/>
          <p:cNvSpPr txBox="1"/>
          <p:nvPr/>
        </p:nvSpPr>
        <p:spPr>
          <a:xfrm>
            <a:off x="539552" y="5939988"/>
            <a:ext cx="7272808" cy="369332"/>
          </a:xfrm>
          <a:prstGeom prst="rect">
            <a:avLst/>
          </a:prstGeom>
          <a:noFill/>
        </p:spPr>
        <p:txBody>
          <a:bodyPr wrap="square" rtlCol="0">
            <a:spAutoFit/>
          </a:bodyPr>
          <a:lstStyle/>
          <a:p>
            <a:r>
              <a:rPr lang="nl-NL" dirty="0" smtClean="0"/>
              <a:t>Jazeker, neem maar eens de relatie </a:t>
            </a:r>
            <a:r>
              <a:rPr lang="nl-NL" i="1" dirty="0" smtClean="0"/>
              <a:t>‘Is broer van’</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20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20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0">
                                            <p:txEl>
                                              <p:pRg st="0" end="0"/>
                                            </p:txEl>
                                          </p:spTgt>
                                        </p:tgtEl>
                                        <p:attrNameLst>
                                          <p:attrName>style.visibility</p:attrName>
                                        </p:attrNameLst>
                                      </p:cBhvr>
                                      <p:to>
                                        <p:strVal val="visible"/>
                                      </p:to>
                                    </p:set>
                                    <p:animEffect transition="in" filter="fade">
                                      <p:cBhvr>
                                        <p:cTn id="22" dur="2000"/>
                                        <p:tgtEl>
                                          <p:spTgt spid="20">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xEl>
                                              <p:pRg st="0" end="0"/>
                                            </p:txEl>
                                          </p:spTgt>
                                        </p:tgtEl>
                                        <p:attrNameLst>
                                          <p:attrName>style.visibility</p:attrName>
                                        </p:attrNameLst>
                                      </p:cBhvr>
                                      <p:to>
                                        <p:strVal val="visible"/>
                                      </p:to>
                                    </p:set>
                                    <p:animEffect transition="in" filter="fade">
                                      <p:cBhvr>
                                        <p:cTn id="25" dur="2000"/>
                                        <p:tgtEl>
                                          <p:spTgt spid="2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xEl>
                                              <p:pRg st="0" end="0"/>
                                            </p:txEl>
                                          </p:spTgt>
                                        </p:tgtEl>
                                        <p:attrNameLst>
                                          <p:attrName>style.visibility</p:attrName>
                                        </p:attrNameLst>
                                      </p:cBhvr>
                                      <p:to>
                                        <p:strVal val="visible"/>
                                      </p:to>
                                    </p:set>
                                    <p:animEffect transition="in" filter="fade">
                                      <p:cBhvr>
                                        <p:cTn id="30" dur="2000"/>
                                        <p:tgtEl>
                                          <p:spTgt spid="1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xEl>
                                              <p:pRg st="0" end="0"/>
                                            </p:txEl>
                                          </p:spTgt>
                                        </p:tgtEl>
                                        <p:attrNameLst>
                                          <p:attrName>style.visibility</p:attrName>
                                        </p:attrNameLst>
                                      </p:cBhvr>
                                      <p:to>
                                        <p:strVal val="visible"/>
                                      </p:to>
                                    </p:set>
                                    <p:animEffect transition="in" filter="fade">
                                      <p:cBhvr>
                                        <p:cTn id="35" dur="2000"/>
                                        <p:tgtEl>
                                          <p:spTgt spid="22">
                                            <p:txEl>
                                              <p:pRg st="0" end="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xEl>
                                              <p:pRg st="0" end="0"/>
                                            </p:txEl>
                                          </p:spTgt>
                                        </p:tgtEl>
                                        <p:attrNameLst>
                                          <p:attrName>style.visibility</p:attrName>
                                        </p:attrNameLst>
                                      </p:cBhvr>
                                      <p:to>
                                        <p:strVal val="visible"/>
                                      </p:to>
                                    </p:set>
                                    <p:animEffect transition="in" filter="fade">
                                      <p:cBhvr>
                                        <p:cTn id="38" dur="2000"/>
                                        <p:tgtEl>
                                          <p:spTgt spid="2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4">
                                            <p:txEl>
                                              <p:pRg st="0" end="0"/>
                                            </p:txEl>
                                          </p:spTgt>
                                        </p:tgtEl>
                                        <p:attrNameLst>
                                          <p:attrName>style.visibility</p:attrName>
                                        </p:attrNameLst>
                                      </p:cBhvr>
                                      <p:to>
                                        <p:strVal val="visible"/>
                                      </p:to>
                                    </p:set>
                                    <p:animEffect transition="in" filter="fade">
                                      <p:cBhvr>
                                        <p:cTn id="43" dur="2000"/>
                                        <p:tgtEl>
                                          <p:spTgt spid="2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5">
                                            <p:txEl>
                                              <p:pRg st="0" end="0"/>
                                            </p:txEl>
                                          </p:spTgt>
                                        </p:tgtEl>
                                        <p:attrNameLst>
                                          <p:attrName>style.visibility</p:attrName>
                                        </p:attrNameLst>
                                      </p:cBhvr>
                                      <p:to>
                                        <p:strVal val="visible"/>
                                      </p:to>
                                    </p:set>
                                    <p:animEffect transition="in" filter="fade">
                                      <p:cBhvr>
                                        <p:cTn id="48"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P spid="17" grpId="0" build="allAtOnce"/>
      <p:bldP spid="18" grpId="0" build="allAtOnce"/>
      <p:bldP spid="19" grpId="0" build="allAtOnce"/>
      <p:bldP spid="20" grpId="0" build="allAtOnce"/>
      <p:bldP spid="21" grpId="0" build="allAtOnce"/>
      <p:bldP spid="22" grpId="0" build="allAtOnce"/>
      <p:bldP spid="23" grpId="0" build="allAtOnce"/>
      <p:bldP spid="24" grpId="0" build="allAtOnce"/>
      <p:bldP spid="25" grpId="0" build="allAtOnce"/>
    </p:bldLst>
  </p:timing>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a:t>
            </a:r>
            <a:r>
              <a:rPr lang="nl-NL" sz="3600" dirty="0" err="1" smtClean="0"/>
              <a:t>twee-plaatsige</a:t>
            </a:r>
            <a:r>
              <a:rPr lang="nl-NL" sz="3600" dirty="0" smtClean="0"/>
              <a:t> relaties</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reflexief</a:t>
            </a:r>
            <a:r>
              <a:rPr lang="nl-NL" dirty="0" smtClean="0"/>
              <a:t> dan en slechts dan als </a:t>
            </a:r>
            <a:r>
              <a:rPr lang="nl-NL" b="1" dirty="0" smtClean="0"/>
              <a:t>∀x </a:t>
            </a:r>
            <a:r>
              <a:rPr lang="nl-NL" b="1" dirty="0" err="1" smtClean="0"/>
              <a:t>Rxx</a:t>
            </a:r>
            <a:endParaRPr lang="nl-NL" dirty="0"/>
          </a:p>
        </p:txBody>
      </p:sp>
      <p:sp>
        <p:nvSpPr>
          <p:cNvPr id="17" name="Rectangle 16"/>
          <p:cNvSpPr/>
          <p:nvPr/>
        </p:nvSpPr>
        <p:spPr>
          <a:xfrm>
            <a:off x="539552" y="2420888"/>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err="1" smtClean="0"/>
              <a:t>irreflexief</a:t>
            </a:r>
            <a:r>
              <a:rPr lang="nl-NL" dirty="0" smtClean="0"/>
              <a:t> dan en slechts dan als </a:t>
            </a:r>
            <a:r>
              <a:rPr lang="nl-NL" b="1" dirty="0" smtClean="0"/>
              <a:t>∀x ¬</a:t>
            </a:r>
            <a:r>
              <a:rPr lang="nl-NL" b="1" dirty="0" err="1" smtClean="0"/>
              <a:t>Rxx</a:t>
            </a:r>
            <a:endParaRPr lang="nl-NL" dirty="0"/>
          </a:p>
        </p:txBody>
      </p:sp>
      <p:sp>
        <p:nvSpPr>
          <p:cNvPr id="24" name="TextBox 23"/>
          <p:cNvSpPr txBox="1"/>
          <p:nvPr/>
        </p:nvSpPr>
        <p:spPr>
          <a:xfrm>
            <a:off x="539552" y="3284984"/>
            <a:ext cx="7272808" cy="369332"/>
          </a:xfrm>
          <a:prstGeom prst="rect">
            <a:avLst/>
          </a:prstGeom>
          <a:noFill/>
        </p:spPr>
        <p:txBody>
          <a:bodyPr wrap="square" rtlCol="0">
            <a:spAutoFit/>
          </a:bodyPr>
          <a:lstStyle/>
          <a:p>
            <a:r>
              <a:rPr lang="nl-NL" dirty="0" smtClean="0"/>
              <a:t>Zijn er ook relaties die noch reflexief, noch </a:t>
            </a:r>
            <a:r>
              <a:rPr lang="nl-NL" dirty="0" err="1" smtClean="0"/>
              <a:t>irreflexief</a:t>
            </a:r>
            <a:r>
              <a:rPr lang="nl-NL" dirty="0" smtClean="0"/>
              <a:t> zijn?</a:t>
            </a:r>
            <a:endParaRPr lang="nl-NL" dirty="0"/>
          </a:p>
        </p:txBody>
      </p:sp>
      <p:sp>
        <p:nvSpPr>
          <p:cNvPr id="25" name="TextBox 24"/>
          <p:cNvSpPr txBox="1"/>
          <p:nvPr/>
        </p:nvSpPr>
        <p:spPr>
          <a:xfrm>
            <a:off x="539552" y="3779748"/>
            <a:ext cx="7272808" cy="369332"/>
          </a:xfrm>
          <a:prstGeom prst="rect">
            <a:avLst/>
          </a:prstGeom>
          <a:noFill/>
        </p:spPr>
        <p:txBody>
          <a:bodyPr wrap="square" rtlCol="0">
            <a:spAutoFit/>
          </a:bodyPr>
          <a:lstStyle/>
          <a:p>
            <a:r>
              <a:rPr lang="nl-NL" dirty="0" smtClean="0"/>
              <a:t>Jazeker, neem maar eens de relatie </a:t>
            </a:r>
            <a:r>
              <a:rPr lang="nl-NL" i="1" dirty="0" smtClean="0"/>
              <a:t>‘Is werkgever van’ </a:t>
            </a:r>
            <a:endParaRPr lang="nl-NL" i="1" dirty="0"/>
          </a:p>
        </p:txBody>
      </p:sp>
      <p:sp>
        <p:nvSpPr>
          <p:cNvPr id="13" name="TextBox 12"/>
          <p:cNvSpPr txBox="1"/>
          <p:nvPr/>
        </p:nvSpPr>
        <p:spPr>
          <a:xfrm>
            <a:off x="539552" y="1907540"/>
            <a:ext cx="1872208" cy="369332"/>
          </a:xfrm>
          <a:prstGeom prst="rect">
            <a:avLst/>
          </a:prstGeom>
          <a:noFill/>
        </p:spPr>
        <p:txBody>
          <a:bodyPr wrap="square" rtlCol="0">
            <a:spAutoFit/>
          </a:bodyPr>
          <a:lstStyle/>
          <a:p>
            <a:r>
              <a:rPr lang="nl-NL" i="1" dirty="0" smtClean="0"/>
              <a:t>‘Is gelijk aan’</a:t>
            </a:r>
            <a:endParaRPr lang="nl-NL" i="1" dirty="0"/>
          </a:p>
        </p:txBody>
      </p:sp>
      <p:sp>
        <p:nvSpPr>
          <p:cNvPr id="14" name="TextBox 13"/>
          <p:cNvSpPr txBox="1"/>
          <p:nvPr/>
        </p:nvSpPr>
        <p:spPr>
          <a:xfrm>
            <a:off x="539552" y="2771636"/>
            <a:ext cx="1872208" cy="369332"/>
          </a:xfrm>
          <a:prstGeom prst="rect">
            <a:avLst/>
          </a:prstGeom>
          <a:noFill/>
        </p:spPr>
        <p:txBody>
          <a:bodyPr wrap="square" rtlCol="0">
            <a:spAutoFit/>
          </a:bodyPr>
          <a:lstStyle/>
          <a:p>
            <a:r>
              <a:rPr lang="nl-NL" i="1" dirty="0" smtClean="0"/>
              <a:t>‘Is groter dan’</a:t>
            </a:r>
            <a:endParaRPr lang="nl-NL" i="1" dirty="0"/>
          </a:p>
        </p:txBody>
      </p:sp>
      <p:sp>
        <p:nvSpPr>
          <p:cNvPr id="16" name="TextBox 15"/>
          <p:cNvSpPr txBox="1"/>
          <p:nvPr/>
        </p:nvSpPr>
        <p:spPr>
          <a:xfrm>
            <a:off x="539552" y="4581128"/>
            <a:ext cx="4320480" cy="1477328"/>
          </a:xfrm>
          <a:prstGeom prst="rect">
            <a:avLst/>
          </a:prstGeom>
          <a:noFill/>
        </p:spPr>
        <p:txBody>
          <a:bodyPr wrap="square" rtlCol="0">
            <a:spAutoFit/>
          </a:bodyPr>
          <a:lstStyle/>
          <a:p>
            <a:r>
              <a:rPr lang="nl-NL" b="1" dirty="0" smtClean="0"/>
              <a:t>Voorbeeld</a:t>
            </a:r>
            <a:endParaRPr lang="nl-NL" dirty="0" smtClean="0"/>
          </a:p>
          <a:p>
            <a:endParaRPr lang="nl-NL" dirty="0" smtClean="0"/>
          </a:p>
          <a:p>
            <a:r>
              <a:rPr lang="nl-NL" dirty="0" smtClean="0"/>
              <a:t>Neem als domein alle mensen en neem als relatie ‘houdt van’. Welke eigenschappen heeft deze relatie? </a:t>
            </a:r>
          </a:p>
        </p:txBody>
      </p:sp>
      <p:sp>
        <p:nvSpPr>
          <p:cNvPr id="26" name="TextBox 25"/>
          <p:cNvSpPr txBox="1"/>
          <p:nvPr/>
        </p:nvSpPr>
        <p:spPr>
          <a:xfrm>
            <a:off x="5220072" y="4581128"/>
            <a:ext cx="1512168" cy="369332"/>
          </a:xfrm>
          <a:prstGeom prst="rect">
            <a:avLst/>
          </a:prstGeom>
          <a:noFill/>
        </p:spPr>
        <p:txBody>
          <a:bodyPr wrap="square" rtlCol="0">
            <a:spAutoFit/>
          </a:bodyPr>
          <a:lstStyle/>
          <a:p>
            <a:r>
              <a:rPr lang="nl-NL" dirty="0" smtClean="0"/>
              <a:t>Transitief?</a:t>
            </a:r>
            <a:endParaRPr lang="nl-NL" dirty="0"/>
          </a:p>
        </p:txBody>
      </p:sp>
      <p:sp>
        <p:nvSpPr>
          <p:cNvPr id="27" name="TextBox 26"/>
          <p:cNvSpPr txBox="1"/>
          <p:nvPr/>
        </p:nvSpPr>
        <p:spPr>
          <a:xfrm>
            <a:off x="5220072" y="4931876"/>
            <a:ext cx="1512168" cy="369332"/>
          </a:xfrm>
          <a:prstGeom prst="rect">
            <a:avLst/>
          </a:prstGeom>
          <a:noFill/>
        </p:spPr>
        <p:txBody>
          <a:bodyPr wrap="square" rtlCol="0">
            <a:spAutoFit/>
          </a:bodyPr>
          <a:lstStyle/>
          <a:p>
            <a:r>
              <a:rPr lang="nl-NL" dirty="0" smtClean="0"/>
              <a:t>Intransitief?</a:t>
            </a:r>
            <a:endParaRPr lang="nl-NL" dirty="0"/>
          </a:p>
        </p:txBody>
      </p:sp>
      <p:sp>
        <p:nvSpPr>
          <p:cNvPr id="28" name="TextBox 27"/>
          <p:cNvSpPr txBox="1"/>
          <p:nvPr/>
        </p:nvSpPr>
        <p:spPr>
          <a:xfrm>
            <a:off x="5220072" y="5291916"/>
            <a:ext cx="1512168" cy="369332"/>
          </a:xfrm>
          <a:prstGeom prst="rect">
            <a:avLst/>
          </a:prstGeom>
          <a:noFill/>
        </p:spPr>
        <p:txBody>
          <a:bodyPr wrap="square" rtlCol="0">
            <a:spAutoFit/>
          </a:bodyPr>
          <a:lstStyle/>
          <a:p>
            <a:r>
              <a:rPr lang="nl-NL" dirty="0" smtClean="0"/>
              <a:t>Symmetrisch?</a:t>
            </a:r>
            <a:endParaRPr lang="nl-NL" dirty="0"/>
          </a:p>
        </p:txBody>
      </p:sp>
      <p:sp>
        <p:nvSpPr>
          <p:cNvPr id="29" name="TextBox 28"/>
          <p:cNvSpPr txBox="1"/>
          <p:nvPr/>
        </p:nvSpPr>
        <p:spPr>
          <a:xfrm>
            <a:off x="5220072" y="5661248"/>
            <a:ext cx="1800200" cy="369332"/>
          </a:xfrm>
          <a:prstGeom prst="rect">
            <a:avLst/>
          </a:prstGeom>
          <a:noFill/>
        </p:spPr>
        <p:txBody>
          <a:bodyPr wrap="square" rtlCol="0">
            <a:spAutoFit/>
          </a:bodyPr>
          <a:lstStyle/>
          <a:p>
            <a:r>
              <a:rPr lang="nl-NL" dirty="0" smtClean="0"/>
              <a:t>Asymmetrisch?</a:t>
            </a:r>
            <a:endParaRPr lang="nl-NL" dirty="0"/>
          </a:p>
        </p:txBody>
      </p:sp>
      <p:sp>
        <p:nvSpPr>
          <p:cNvPr id="30" name="TextBox 29"/>
          <p:cNvSpPr txBox="1"/>
          <p:nvPr/>
        </p:nvSpPr>
        <p:spPr>
          <a:xfrm>
            <a:off x="5220072" y="6011996"/>
            <a:ext cx="1800200" cy="369332"/>
          </a:xfrm>
          <a:prstGeom prst="rect">
            <a:avLst/>
          </a:prstGeom>
          <a:noFill/>
        </p:spPr>
        <p:txBody>
          <a:bodyPr wrap="square" rtlCol="0">
            <a:spAutoFit/>
          </a:bodyPr>
          <a:lstStyle/>
          <a:p>
            <a:r>
              <a:rPr lang="nl-NL" dirty="0" smtClean="0"/>
              <a:t>Reflexief?</a:t>
            </a:r>
            <a:endParaRPr lang="nl-NL" dirty="0"/>
          </a:p>
        </p:txBody>
      </p:sp>
      <p:sp>
        <p:nvSpPr>
          <p:cNvPr id="31" name="TextBox 30"/>
          <p:cNvSpPr txBox="1"/>
          <p:nvPr/>
        </p:nvSpPr>
        <p:spPr>
          <a:xfrm>
            <a:off x="5220072" y="6372036"/>
            <a:ext cx="1800200" cy="369332"/>
          </a:xfrm>
          <a:prstGeom prst="rect">
            <a:avLst/>
          </a:prstGeom>
          <a:noFill/>
        </p:spPr>
        <p:txBody>
          <a:bodyPr wrap="square" rtlCol="0">
            <a:spAutoFit/>
          </a:bodyPr>
          <a:lstStyle/>
          <a:p>
            <a:r>
              <a:rPr lang="nl-NL" dirty="0" err="1" smtClean="0"/>
              <a:t>Irreflexief</a:t>
            </a:r>
            <a:r>
              <a:rPr lang="nl-NL" dirty="0" smtClean="0"/>
              <a:t>?</a:t>
            </a:r>
            <a:endParaRPr lang="nl-NL" dirty="0"/>
          </a:p>
        </p:txBody>
      </p:sp>
      <p:sp>
        <p:nvSpPr>
          <p:cNvPr id="32" name="TextBox 31"/>
          <p:cNvSpPr txBox="1"/>
          <p:nvPr/>
        </p:nvSpPr>
        <p:spPr>
          <a:xfrm>
            <a:off x="7020272" y="4571836"/>
            <a:ext cx="564578" cy="369332"/>
          </a:xfrm>
          <a:prstGeom prst="rect">
            <a:avLst/>
          </a:prstGeom>
          <a:noFill/>
        </p:spPr>
        <p:txBody>
          <a:bodyPr wrap="none" rtlCol="0">
            <a:spAutoFit/>
          </a:bodyPr>
          <a:lstStyle/>
          <a:p>
            <a:r>
              <a:rPr lang="nl-NL" i="1" dirty="0" smtClean="0"/>
              <a:t>Nee</a:t>
            </a:r>
            <a:endParaRPr lang="nl-NL" i="1" dirty="0"/>
          </a:p>
        </p:txBody>
      </p:sp>
      <p:sp>
        <p:nvSpPr>
          <p:cNvPr id="33" name="TextBox 32"/>
          <p:cNvSpPr txBox="1"/>
          <p:nvPr/>
        </p:nvSpPr>
        <p:spPr>
          <a:xfrm>
            <a:off x="7020272" y="4931876"/>
            <a:ext cx="564578" cy="369332"/>
          </a:xfrm>
          <a:prstGeom prst="rect">
            <a:avLst/>
          </a:prstGeom>
          <a:noFill/>
        </p:spPr>
        <p:txBody>
          <a:bodyPr wrap="none" rtlCol="0">
            <a:spAutoFit/>
          </a:bodyPr>
          <a:lstStyle/>
          <a:p>
            <a:r>
              <a:rPr lang="nl-NL" i="1" dirty="0" smtClean="0"/>
              <a:t>Nee</a:t>
            </a:r>
            <a:endParaRPr lang="nl-NL" i="1" dirty="0"/>
          </a:p>
        </p:txBody>
      </p:sp>
      <p:sp>
        <p:nvSpPr>
          <p:cNvPr id="34" name="TextBox 33"/>
          <p:cNvSpPr txBox="1"/>
          <p:nvPr/>
        </p:nvSpPr>
        <p:spPr>
          <a:xfrm>
            <a:off x="7020272" y="5291916"/>
            <a:ext cx="564578" cy="369332"/>
          </a:xfrm>
          <a:prstGeom prst="rect">
            <a:avLst/>
          </a:prstGeom>
          <a:noFill/>
        </p:spPr>
        <p:txBody>
          <a:bodyPr wrap="none" rtlCol="0">
            <a:spAutoFit/>
          </a:bodyPr>
          <a:lstStyle/>
          <a:p>
            <a:r>
              <a:rPr lang="nl-NL" i="1" dirty="0" smtClean="0"/>
              <a:t>Nee</a:t>
            </a:r>
            <a:endParaRPr lang="nl-NL" i="1" dirty="0"/>
          </a:p>
        </p:txBody>
      </p:sp>
      <p:sp>
        <p:nvSpPr>
          <p:cNvPr id="35" name="TextBox 34"/>
          <p:cNvSpPr txBox="1"/>
          <p:nvPr/>
        </p:nvSpPr>
        <p:spPr>
          <a:xfrm>
            <a:off x="7020272" y="5651956"/>
            <a:ext cx="564578" cy="369332"/>
          </a:xfrm>
          <a:prstGeom prst="rect">
            <a:avLst/>
          </a:prstGeom>
          <a:noFill/>
        </p:spPr>
        <p:txBody>
          <a:bodyPr wrap="none" rtlCol="0">
            <a:spAutoFit/>
          </a:bodyPr>
          <a:lstStyle/>
          <a:p>
            <a:r>
              <a:rPr lang="nl-NL" i="1" dirty="0" smtClean="0"/>
              <a:t>Nee</a:t>
            </a:r>
            <a:endParaRPr lang="nl-NL" i="1" dirty="0"/>
          </a:p>
        </p:txBody>
      </p:sp>
      <p:sp>
        <p:nvSpPr>
          <p:cNvPr id="36" name="TextBox 35"/>
          <p:cNvSpPr txBox="1"/>
          <p:nvPr/>
        </p:nvSpPr>
        <p:spPr>
          <a:xfrm>
            <a:off x="7031758" y="6011996"/>
            <a:ext cx="564578" cy="369332"/>
          </a:xfrm>
          <a:prstGeom prst="rect">
            <a:avLst/>
          </a:prstGeom>
          <a:noFill/>
        </p:spPr>
        <p:txBody>
          <a:bodyPr wrap="none" rtlCol="0">
            <a:spAutoFit/>
          </a:bodyPr>
          <a:lstStyle/>
          <a:p>
            <a:r>
              <a:rPr lang="nl-NL" i="1" dirty="0" smtClean="0"/>
              <a:t>Nee</a:t>
            </a:r>
            <a:endParaRPr lang="nl-NL" i="1" dirty="0"/>
          </a:p>
        </p:txBody>
      </p:sp>
      <p:sp>
        <p:nvSpPr>
          <p:cNvPr id="37" name="TextBox 36"/>
          <p:cNvSpPr txBox="1"/>
          <p:nvPr/>
        </p:nvSpPr>
        <p:spPr>
          <a:xfrm>
            <a:off x="7020272" y="6372036"/>
            <a:ext cx="564578" cy="369332"/>
          </a:xfrm>
          <a:prstGeom prst="rect">
            <a:avLst/>
          </a:prstGeom>
          <a:noFill/>
        </p:spPr>
        <p:txBody>
          <a:bodyPr wrap="none" rtlCol="0">
            <a:spAutoFit/>
          </a:bodyPr>
          <a:lstStyle/>
          <a:p>
            <a:r>
              <a:rPr lang="nl-NL" i="1" dirty="0" smtClean="0"/>
              <a:t>Nee</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20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fade">
                                      <p:cBhvr>
                                        <p:cTn id="17" dur="2000"/>
                                        <p:tgtEl>
                                          <p:spTgt spid="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xEl>
                                              <p:pRg st="0" end="0"/>
                                            </p:txEl>
                                          </p:spTgt>
                                        </p:tgtEl>
                                        <p:attrNameLst>
                                          <p:attrName>style.visibility</p:attrName>
                                        </p:attrNameLst>
                                      </p:cBhvr>
                                      <p:to>
                                        <p:strVal val="visible"/>
                                      </p:to>
                                    </p:set>
                                    <p:animEffect transition="in" filter="fade">
                                      <p:cBhvr>
                                        <p:cTn id="22" dur="2000"/>
                                        <p:tgtEl>
                                          <p:spTgt spid="1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xEl>
                                              <p:pRg st="0" end="0"/>
                                            </p:txEl>
                                          </p:spTgt>
                                        </p:tgtEl>
                                        <p:attrNameLst>
                                          <p:attrName>style.visibility</p:attrName>
                                        </p:attrNameLst>
                                      </p:cBhvr>
                                      <p:to>
                                        <p:strVal val="visible"/>
                                      </p:to>
                                    </p:set>
                                    <p:animEffect transition="in" filter="fade">
                                      <p:cBhvr>
                                        <p:cTn id="27" dur="2000"/>
                                        <p:tgtEl>
                                          <p:spTgt spid="2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xEl>
                                              <p:pRg st="0" end="0"/>
                                            </p:txEl>
                                          </p:spTgt>
                                        </p:tgtEl>
                                        <p:attrNameLst>
                                          <p:attrName>style.visibility</p:attrName>
                                        </p:attrNameLst>
                                      </p:cBhvr>
                                      <p:to>
                                        <p:strVal val="visible"/>
                                      </p:to>
                                    </p:set>
                                    <p:animEffect transition="in" filter="fade">
                                      <p:cBhvr>
                                        <p:cTn id="32" dur="2000"/>
                                        <p:tgtEl>
                                          <p:spTgt spid="2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xEl>
                                              <p:pRg st="0" end="0"/>
                                            </p:txEl>
                                          </p:spTgt>
                                        </p:tgtEl>
                                        <p:attrNameLst>
                                          <p:attrName>style.visibility</p:attrName>
                                        </p:attrNameLst>
                                      </p:cBhvr>
                                      <p:to>
                                        <p:strVal val="visible"/>
                                      </p:to>
                                    </p:set>
                                    <p:animEffect transition="in" filter="fade">
                                      <p:cBhvr>
                                        <p:cTn id="37" dur="2000"/>
                                        <p:tgtEl>
                                          <p:spTgt spid="16">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xEl>
                                              <p:pRg st="2" end="2"/>
                                            </p:txEl>
                                          </p:spTgt>
                                        </p:tgtEl>
                                        <p:attrNameLst>
                                          <p:attrName>style.visibility</p:attrName>
                                        </p:attrNameLst>
                                      </p:cBhvr>
                                      <p:to>
                                        <p:strVal val="visible"/>
                                      </p:to>
                                    </p:set>
                                    <p:animEffect transition="in" filter="fade">
                                      <p:cBhvr>
                                        <p:cTn id="40" dur="2000"/>
                                        <p:tgtEl>
                                          <p:spTgt spid="16">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6">
                                            <p:txEl>
                                              <p:pRg st="0" end="0"/>
                                            </p:txEl>
                                          </p:spTgt>
                                        </p:tgtEl>
                                        <p:attrNameLst>
                                          <p:attrName>style.visibility</p:attrName>
                                        </p:attrNameLst>
                                      </p:cBhvr>
                                      <p:to>
                                        <p:strVal val="visible"/>
                                      </p:to>
                                    </p:set>
                                    <p:animEffect transition="in" filter="fade">
                                      <p:cBhvr>
                                        <p:cTn id="45" dur="2000"/>
                                        <p:tgtEl>
                                          <p:spTgt spid="26">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2">
                                            <p:txEl>
                                              <p:pRg st="0" end="0"/>
                                            </p:txEl>
                                          </p:spTgt>
                                        </p:tgtEl>
                                        <p:attrNameLst>
                                          <p:attrName>style.visibility</p:attrName>
                                        </p:attrNameLst>
                                      </p:cBhvr>
                                      <p:to>
                                        <p:strVal val="visible"/>
                                      </p:to>
                                    </p:set>
                                    <p:animEffect transition="in" filter="fade">
                                      <p:cBhvr>
                                        <p:cTn id="50" dur="2000"/>
                                        <p:tgtEl>
                                          <p:spTgt spid="32">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7">
                                            <p:txEl>
                                              <p:pRg st="0" end="0"/>
                                            </p:txEl>
                                          </p:spTgt>
                                        </p:tgtEl>
                                        <p:attrNameLst>
                                          <p:attrName>style.visibility</p:attrName>
                                        </p:attrNameLst>
                                      </p:cBhvr>
                                      <p:to>
                                        <p:strVal val="visible"/>
                                      </p:to>
                                    </p:set>
                                    <p:animEffect transition="in" filter="fade">
                                      <p:cBhvr>
                                        <p:cTn id="55" dur="2000"/>
                                        <p:tgtEl>
                                          <p:spTgt spid="27">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3">
                                            <p:txEl>
                                              <p:pRg st="0" end="0"/>
                                            </p:txEl>
                                          </p:spTgt>
                                        </p:tgtEl>
                                        <p:attrNameLst>
                                          <p:attrName>style.visibility</p:attrName>
                                        </p:attrNameLst>
                                      </p:cBhvr>
                                      <p:to>
                                        <p:strVal val="visible"/>
                                      </p:to>
                                    </p:set>
                                    <p:animEffect transition="in" filter="fade">
                                      <p:cBhvr>
                                        <p:cTn id="60" dur="2000"/>
                                        <p:tgtEl>
                                          <p:spTgt spid="33">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8">
                                            <p:txEl>
                                              <p:pRg st="0" end="0"/>
                                            </p:txEl>
                                          </p:spTgt>
                                        </p:tgtEl>
                                        <p:attrNameLst>
                                          <p:attrName>style.visibility</p:attrName>
                                        </p:attrNameLst>
                                      </p:cBhvr>
                                      <p:to>
                                        <p:strVal val="visible"/>
                                      </p:to>
                                    </p:set>
                                    <p:animEffect transition="in" filter="fade">
                                      <p:cBhvr>
                                        <p:cTn id="65" dur="2000"/>
                                        <p:tgtEl>
                                          <p:spTgt spid="28">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4">
                                            <p:txEl>
                                              <p:pRg st="0" end="0"/>
                                            </p:txEl>
                                          </p:spTgt>
                                        </p:tgtEl>
                                        <p:attrNameLst>
                                          <p:attrName>style.visibility</p:attrName>
                                        </p:attrNameLst>
                                      </p:cBhvr>
                                      <p:to>
                                        <p:strVal val="visible"/>
                                      </p:to>
                                    </p:set>
                                    <p:animEffect transition="in" filter="fade">
                                      <p:cBhvr>
                                        <p:cTn id="70" dur="2000"/>
                                        <p:tgtEl>
                                          <p:spTgt spid="34">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9">
                                            <p:txEl>
                                              <p:pRg st="0" end="0"/>
                                            </p:txEl>
                                          </p:spTgt>
                                        </p:tgtEl>
                                        <p:attrNameLst>
                                          <p:attrName>style.visibility</p:attrName>
                                        </p:attrNameLst>
                                      </p:cBhvr>
                                      <p:to>
                                        <p:strVal val="visible"/>
                                      </p:to>
                                    </p:set>
                                    <p:animEffect transition="in" filter="fade">
                                      <p:cBhvr>
                                        <p:cTn id="75" dur="2000"/>
                                        <p:tgtEl>
                                          <p:spTgt spid="29">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5">
                                            <p:txEl>
                                              <p:pRg st="0" end="0"/>
                                            </p:txEl>
                                          </p:spTgt>
                                        </p:tgtEl>
                                        <p:attrNameLst>
                                          <p:attrName>style.visibility</p:attrName>
                                        </p:attrNameLst>
                                      </p:cBhvr>
                                      <p:to>
                                        <p:strVal val="visible"/>
                                      </p:to>
                                    </p:set>
                                    <p:animEffect transition="in" filter="fade">
                                      <p:cBhvr>
                                        <p:cTn id="80" dur="2000"/>
                                        <p:tgtEl>
                                          <p:spTgt spid="35">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0">
                                            <p:txEl>
                                              <p:pRg st="0" end="0"/>
                                            </p:txEl>
                                          </p:spTgt>
                                        </p:tgtEl>
                                        <p:attrNameLst>
                                          <p:attrName>style.visibility</p:attrName>
                                        </p:attrNameLst>
                                      </p:cBhvr>
                                      <p:to>
                                        <p:strVal val="visible"/>
                                      </p:to>
                                    </p:set>
                                    <p:animEffect transition="in" filter="fade">
                                      <p:cBhvr>
                                        <p:cTn id="85" dur="2000"/>
                                        <p:tgtEl>
                                          <p:spTgt spid="30">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36">
                                            <p:txEl>
                                              <p:pRg st="0" end="0"/>
                                            </p:txEl>
                                          </p:spTgt>
                                        </p:tgtEl>
                                        <p:attrNameLst>
                                          <p:attrName>style.visibility</p:attrName>
                                        </p:attrNameLst>
                                      </p:cBhvr>
                                      <p:to>
                                        <p:strVal val="visible"/>
                                      </p:to>
                                    </p:set>
                                    <p:animEffect transition="in" filter="fade">
                                      <p:cBhvr>
                                        <p:cTn id="90" dur="2000"/>
                                        <p:tgtEl>
                                          <p:spTgt spid="36">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31">
                                            <p:txEl>
                                              <p:pRg st="0" end="0"/>
                                            </p:txEl>
                                          </p:spTgt>
                                        </p:tgtEl>
                                        <p:attrNameLst>
                                          <p:attrName>style.visibility</p:attrName>
                                        </p:attrNameLst>
                                      </p:cBhvr>
                                      <p:to>
                                        <p:strVal val="visible"/>
                                      </p:to>
                                    </p:set>
                                    <p:animEffect transition="in" filter="fade">
                                      <p:cBhvr>
                                        <p:cTn id="95" dur="2000"/>
                                        <p:tgtEl>
                                          <p:spTgt spid="31">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37">
                                            <p:txEl>
                                              <p:pRg st="0" end="0"/>
                                            </p:txEl>
                                          </p:spTgt>
                                        </p:tgtEl>
                                        <p:attrNameLst>
                                          <p:attrName>style.visibility</p:attrName>
                                        </p:attrNameLst>
                                      </p:cBhvr>
                                      <p:to>
                                        <p:strVal val="visible"/>
                                      </p:to>
                                    </p:set>
                                    <p:animEffect transition="in" filter="fade">
                                      <p:cBhvr>
                                        <p:cTn id="100" dur="20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P spid="17" grpId="0" build="allAtOnce"/>
      <p:bldP spid="24" grpId="0" build="allAtOnce"/>
      <p:bldP spid="25" grpId="0" build="allAtOnce"/>
      <p:bldP spid="13" grpId="0" build="allAtOnce"/>
      <p:bldP spid="14" grpId="0" build="allAtOnce"/>
      <p:bldP spid="16" grpId="0" build="allAtOnce"/>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Lst>
  </p:timing>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a:t>
            </a:r>
            <a:r>
              <a:rPr lang="nl-NL" sz="3600" dirty="0" err="1" smtClean="0"/>
              <a:t>twee-plaatsige</a:t>
            </a:r>
            <a:r>
              <a:rPr lang="nl-NL" sz="3600" dirty="0" smtClean="0"/>
              <a:t> relaties</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reflexief</a:t>
            </a:r>
            <a:r>
              <a:rPr lang="nl-NL" dirty="0" smtClean="0"/>
              <a:t> dan en slechts dan als </a:t>
            </a:r>
            <a:r>
              <a:rPr lang="nl-NL" b="1" dirty="0" smtClean="0"/>
              <a:t>∀x </a:t>
            </a:r>
            <a:r>
              <a:rPr lang="nl-NL" b="1" dirty="0" err="1" smtClean="0"/>
              <a:t>Rxx</a:t>
            </a:r>
            <a:endParaRPr lang="nl-NL" dirty="0"/>
          </a:p>
        </p:txBody>
      </p:sp>
      <p:sp>
        <p:nvSpPr>
          <p:cNvPr id="17" name="Rectangle 16"/>
          <p:cNvSpPr/>
          <p:nvPr/>
        </p:nvSpPr>
        <p:spPr>
          <a:xfrm>
            <a:off x="539552" y="2420888"/>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err="1" smtClean="0"/>
              <a:t>irreflexief</a:t>
            </a:r>
            <a:r>
              <a:rPr lang="nl-NL" dirty="0" smtClean="0"/>
              <a:t> dan en slechts dan als </a:t>
            </a:r>
            <a:r>
              <a:rPr lang="nl-NL" b="1" dirty="0" smtClean="0"/>
              <a:t>∀x ¬</a:t>
            </a:r>
            <a:r>
              <a:rPr lang="nl-NL" b="1" dirty="0" err="1" smtClean="0"/>
              <a:t>Rxx</a:t>
            </a:r>
            <a:endParaRPr lang="nl-NL" dirty="0"/>
          </a:p>
        </p:txBody>
      </p:sp>
      <p:sp>
        <p:nvSpPr>
          <p:cNvPr id="24" name="TextBox 23"/>
          <p:cNvSpPr txBox="1"/>
          <p:nvPr/>
        </p:nvSpPr>
        <p:spPr>
          <a:xfrm>
            <a:off x="539552" y="3284984"/>
            <a:ext cx="7272808" cy="369332"/>
          </a:xfrm>
          <a:prstGeom prst="rect">
            <a:avLst/>
          </a:prstGeom>
          <a:noFill/>
        </p:spPr>
        <p:txBody>
          <a:bodyPr wrap="square" rtlCol="0">
            <a:spAutoFit/>
          </a:bodyPr>
          <a:lstStyle/>
          <a:p>
            <a:r>
              <a:rPr lang="nl-NL" dirty="0" smtClean="0"/>
              <a:t>Zijn er ook relaties die noch reflexief, noch </a:t>
            </a:r>
            <a:r>
              <a:rPr lang="nl-NL" dirty="0" err="1" smtClean="0"/>
              <a:t>irreflexief</a:t>
            </a:r>
            <a:r>
              <a:rPr lang="nl-NL" dirty="0" smtClean="0"/>
              <a:t> zijn?</a:t>
            </a:r>
            <a:endParaRPr lang="nl-NL" dirty="0"/>
          </a:p>
        </p:txBody>
      </p:sp>
      <p:sp>
        <p:nvSpPr>
          <p:cNvPr id="25" name="TextBox 24"/>
          <p:cNvSpPr txBox="1"/>
          <p:nvPr/>
        </p:nvSpPr>
        <p:spPr>
          <a:xfrm>
            <a:off x="539552" y="3779748"/>
            <a:ext cx="7272808" cy="369332"/>
          </a:xfrm>
          <a:prstGeom prst="rect">
            <a:avLst/>
          </a:prstGeom>
          <a:noFill/>
        </p:spPr>
        <p:txBody>
          <a:bodyPr wrap="square" rtlCol="0">
            <a:spAutoFit/>
          </a:bodyPr>
          <a:lstStyle/>
          <a:p>
            <a:r>
              <a:rPr lang="nl-NL" dirty="0" smtClean="0"/>
              <a:t>Jazeker, neem maar eens de relatie </a:t>
            </a:r>
            <a:r>
              <a:rPr lang="nl-NL" i="1" dirty="0" smtClean="0"/>
              <a:t>‘Is werkgever van’ </a:t>
            </a:r>
            <a:endParaRPr lang="nl-NL" i="1" dirty="0"/>
          </a:p>
        </p:txBody>
      </p:sp>
      <p:sp>
        <p:nvSpPr>
          <p:cNvPr id="13" name="TextBox 12"/>
          <p:cNvSpPr txBox="1"/>
          <p:nvPr/>
        </p:nvSpPr>
        <p:spPr>
          <a:xfrm>
            <a:off x="539552" y="1907540"/>
            <a:ext cx="1872208" cy="369332"/>
          </a:xfrm>
          <a:prstGeom prst="rect">
            <a:avLst/>
          </a:prstGeom>
          <a:noFill/>
        </p:spPr>
        <p:txBody>
          <a:bodyPr wrap="square" rtlCol="0">
            <a:spAutoFit/>
          </a:bodyPr>
          <a:lstStyle/>
          <a:p>
            <a:r>
              <a:rPr lang="nl-NL" i="1" dirty="0" smtClean="0"/>
              <a:t>‘Is gelijk aan’</a:t>
            </a:r>
            <a:endParaRPr lang="nl-NL" i="1" dirty="0"/>
          </a:p>
        </p:txBody>
      </p:sp>
      <p:sp>
        <p:nvSpPr>
          <p:cNvPr id="14" name="TextBox 13"/>
          <p:cNvSpPr txBox="1"/>
          <p:nvPr/>
        </p:nvSpPr>
        <p:spPr>
          <a:xfrm>
            <a:off x="539552" y="2771636"/>
            <a:ext cx="1872208" cy="369332"/>
          </a:xfrm>
          <a:prstGeom prst="rect">
            <a:avLst/>
          </a:prstGeom>
          <a:noFill/>
        </p:spPr>
        <p:txBody>
          <a:bodyPr wrap="square" rtlCol="0">
            <a:spAutoFit/>
          </a:bodyPr>
          <a:lstStyle/>
          <a:p>
            <a:r>
              <a:rPr lang="nl-NL" i="1" dirty="0" smtClean="0"/>
              <a:t>‘Is groter dan’</a:t>
            </a:r>
            <a:endParaRPr lang="nl-NL" i="1" dirty="0"/>
          </a:p>
        </p:txBody>
      </p:sp>
      <p:sp>
        <p:nvSpPr>
          <p:cNvPr id="16" name="TextBox 15"/>
          <p:cNvSpPr txBox="1"/>
          <p:nvPr/>
        </p:nvSpPr>
        <p:spPr>
          <a:xfrm>
            <a:off x="539552" y="4581128"/>
            <a:ext cx="4320480" cy="1477328"/>
          </a:xfrm>
          <a:prstGeom prst="rect">
            <a:avLst/>
          </a:prstGeom>
          <a:noFill/>
        </p:spPr>
        <p:txBody>
          <a:bodyPr wrap="square" rtlCol="0">
            <a:spAutoFit/>
          </a:bodyPr>
          <a:lstStyle/>
          <a:p>
            <a:r>
              <a:rPr lang="nl-NL" b="1" dirty="0" smtClean="0"/>
              <a:t>Voorbeeld</a:t>
            </a:r>
          </a:p>
          <a:p>
            <a:endParaRPr lang="nl-NL" dirty="0" smtClean="0"/>
          </a:p>
          <a:p>
            <a:r>
              <a:rPr lang="nl-NL" dirty="0" smtClean="0"/>
              <a:t>Neem als domein alle punten op een lijn en als relatie ‘ligt links van’. Welke eigenschappen heeft deze relatie? </a:t>
            </a:r>
          </a:p>
        </p:txBody>
      </p:sp>
      <p:sp>
        <p:nvSpPr>
          <p:cNvPr id="26" name="TextBox 25"/>
          <p:cNvSpPr txBox="1"/>
          <p:nvPr/>
        </p:nvSpPr>
        <p:spPr>
          <a:xfrm>
            <a:off x="5220072" y="4581128"/>
            <a:ext cx="1512168" cy="369332"/>
          </a:xfrm>
          <a:prstGeom prst="rect">
            <a:avLst/>
          </a:prstGeom>
          <a:noFill/>
        </p:spPr>
        <p:txBody>
          <a:bodyPr wrap="square" rtlCol="0">
            <a:spAutoFit/>
          </a:bodyPr>
          <a:lstStyle/>
          <a:p>
            <a:r>
              <a:rPr lang="nl-NL" dirty="0" smtClean="0"/>
              <a:t>Transitief?</a:t>
            </a:r>
            <a:endParaRPr lang="nl-NL" dirty="0"/>
          </a:p>
        </p:txBody>
      </p:sp>
      <p:sp>
        <p:nvSpPr>
          <p:cNvPr id="27" name="TextBox 26"/>
          <p:cNvSpPr txBox="1"/>
          <p:nvPr/>
        </p:nvSpPr>
        <p:spPr>
          <a:xfrm>
            <a:off x="5220072" y="4931876"/>
            <a:ext cx="1512168" cy="369332"/>
          </a:xfrm>
          <a:prstGeom prst="rect">
            <a:avLst/>
          </a:prstGeom>
          <a:noFill/>
        </p:spPr>
        <p:txBody>
          <a:bodyPr wrap="square" rtlCol="0">
            <a:spAutoFit/>
          </a:bodyPr>
          <a:lstStyle/>
          <a:p>
            <a:r>
              <a:rPr lang="nl-NL" dirty="0" smtClean="0"/>
              <a:t>Intransitief?</a:t>
            </a:r>
            <a:endParaRPr lang="nl-NL" dirty="0"/>
          </a:p>
        </p:txBody>
      </p:sp>
      <p:sp>
        <p:nvSpPr>
          <p:cNvPr id="28" name="TextBox 27"/>
          <p:cNvSpPr txBox="1"/>
          <p:nvPr/>
        </p:nvSpPr>
        <p:spPr>
          <a:xfrm>
            <a:off x="5220072" y="5291916"/>
            <a:ext cx="1512168" cy="369332"/>
          </a:xfrm>
          <a:prstGeom prst="rect">
            <a:avLst/>
          </a:prstGeom>
          <a:noFill/>
        </p:spPr>
        <p:txBody>
          <a:bodyPr wrap="square" rtlCol="0">
            <a:spAutoFit/>
          </a:bodyPr>
          <a:lstStyle/>
          <a:p>
            <a:r>
              <a:rPr lang="nl-NL" dirty="0" smtClean="0"/>
              <a:t>Symmetrisch?</a:t>
            </a:r>
            <a:endParaRPr lang="nl-NL" dirty="0"/>
          </a:p>
        </p:txBody>
      </p:sp>
      <p:sp>
        <p:nvSpPr>
          <p:cNvPr id="29" name="TextBox 28"/>
          <p:cNvSpPr txBox="1"/>
          <p:nvPr/>
        </p:nvSpPr>
        <p:spPr>
          <a:xfrm>
            <a:off x="5220072" y="5661248"/>
            <a:ext cx="1800200" cy="369332"/>
          </a:xfrm>
          <a:prstGeom prst="rect">
            <a:avLst/>
          </a:prstGeom>
          <a:noFill/>
        </p:spPr>
        <p:txBody>
          <a:bodyPr wrap="square" rtlCol="0">
            <a:spAutoFit/>
          </a:bodyPr>
          <a:lstStyle/>
          <a:p>
            <a:r>
              <a:rPr lang="nl-NL" dirty="0" smtClean="0"/>
              <a:t>Asymmetrisch?</a:t>
            </a:r>
            <a:endParaRPr lang="nl-NL" dirty="0"/>
          </a:p>
        </p:txBody>
      </p:sp>
      <p:sp>
        <p:nvSpPr>
          <p:cNvPr id="30" name="TextBox 29"/>
          <p:cNvSpPr txBox="1"/>
          <p:nvPr/>
        </p:nvSpPr>
        <p:spPr>
          <a:xfrm>
            <a:off x="5220072" y="6011996"/>
            <a:ext cx="1800200" cy="369332"/>
          </a:xfrm>
          <a:prstGeom prst="rect">
            <a:avLst/>
          </a:prstGeom>
          <a:noFill/>
        </p:spPr>
        <p:txBody>
          <a:bodyPr wrap="square" rtlCol="0">
            <a:spAutoFit/>
          </a:bodyPr>
          <a:lstStyle/>
          <a:p>
            <a:r>
              <a:rPr lang="nl-NL" dirty="0" smtClean="0"/>
              <a:t>Reflexief?</a:t>
            </a:r>
            <a:endParaRPr lang="nl-NL" dirty="0"/>
          </a:p>
        </p:txBody>
      </p:sp>
      <p:sp>
        <p:nvSpPr>
          <p:cNvPr id="31" name="TextBox 30"/>
          <p:cNvSpPr txBox="1"/>
          <p:nvPr/>
        </p:nvSpPr>
        <p:spPr>
          <a:xfrm>
            <a:off x="5220072" y="6372036"/>
            <a:ext cx="1800200" cy="369332"/>
          </a:xfrm>
          <a:prstGeom prst="rect">
            <a:avLst/>
          </a:prstGeom>
          <a:noFill/>
        </p:spPr>
        <p:txBody>
          <a:bodyPr wrap="square" rtlCol="0">
            <a:spAutoFit/>
          </a:bodyPr>
          <a:lstStyle/>
          <a:p>
            <a:r>
              <a:rPr lang="nl-NL" dirty="0" err="1" smtClean="0"/>
              <a:t>Irreflexief</a:t>
            </a:r>
            <a:r>
              <a:rPr lang="nl-NL" dirty="0" smtClean="0"/>
              <a:t>?</a:t>
            </a:r>
            <a:endParaRPr lang="nl-NL" dirty="0"/>
          </a:p>
        </p:txBody>
      </p:sp>
      <p:sp>
        <p:nvSpPr>
          <p:cNvPr id="32" name="TextBox 31"/>
          <p:cNvSpPr txBox="1"/>
          <p:nvPr/>
        </p:nvSpPr>
        <p:spPr>
          <a:xfrm>
            <a:off x="7020272" y="4571836"/>
            <a:ext cx="377026" cy="369332"/>
          </a:xfrm>
          <a:prstGeom prst="rect">
            <a:avLst/>
          </a:prstGeom>
          <a:noFill/>
        </p:spPr>
        <p:txBody>
          <a:bodyPr wrap="none" rtlCol="0">
            <a:spAutoFit/>
          </a:bodyPr>
          <a:lstStyle/>
          <a:p>
            <a:r>
              <a:rPr lang="nl-NL" i="1" dirty="0" smtClean="0"/>
              <a:t>Ja</a:t>
            </a:r>
            <a:endParaRPr lang="nl-NL" i="1" dirty="0"/>
          </a:p>
        </p:txBody>
      </p:sp>
      <p:sp>
        <p:nvSpPr>
          <p:cNvPr id="33" name="TextBox 32"/>
          <p:cNvSpPr txBox="1"/>
          <p:nvPr/>
        </p:nvSpPr>
        <p:spPr>
          <a:xfrm>
            <a:off x="7020272" y="4931876"/>
            <a:ext cx="564578" cy="369332"/>
          </a:xfrm>
          <a:prstGeom prst="rect">
            <a:avLst/>
          </a:prstGeom>
          <a:noFill/>
        </p:spPr>
        <p:txBody>
          <a:bodyPr wrap="none" rtlCol="0">
            <a:spAutoFit/>
          </a:bodyPr>
          <a:lstStyle/>
          <a:p>
            <a:r>
              <a:rPr lang="nl-NL" i="1" dirty="0" smtClean="0"/>
              <a:t>Nee</a:t>
            </a:r>
            <a:endParaRPr lang="nl-NL" i="1" dirty="0"/>
          </a:p>
        </p:txBody>
      </p:sp>
      <p:sp>
        <p:nvSpPr>
          <p:cNvPr id="34" name="TextBox 33"/>
          <p:cNvSpPr txBox="1"/>
          <p:nvPr/>
        </p:nvSpPr>
        <p:spPr>
          <a:xfrm>
            <a:off x="7020272" y="5291916"/>
            <a:ext cx="564578" cy="369332"/>
          </a:xfrm>
          <a:prstGeom prst="rect">
            <a:avLst/>
          </a:prstGeom>
          <a:noFill/>
        </p:spPr>
        <p:txBody>
          <a:bodyPr wrap="none" rtlCol="0">
            <a:spAutoFit/>
          </a:bodyPr>
          <a:lstStyle/>
          <a:p>
            <a:r>
              <a:rPr lang="nl-NL" i="1" dirty="0" smtClean="0"/>
              <a:t>Nee</a:t>
            </a:r>
            <a:endParaRPr lang="nl-NL" i="1" dirty="0"/>
          </a:p>
        </p:txBody>
      </p:sp>
      <p:sp>
        <p:nvSpPr>
          <p:cNvPr id="35" name="TextBox 34"/>
          <p:cNvSpPr txBox="1"/>
          <p:nvPr/>
        </p:nvSpPr>
        <p:spPr>
          <a:xfrm>
            <a:off x="7020272" y="5651956"/>
            <a:ext cx="377026" cy="369332"/>
          </a:xfrm>
          <a:prstGeom prst="rect">
            <a:avLst/>
          </a:prstGeom>
          <a:noFill/>
        </p:spPr>
        <p:txBody>
          <a:bodyPr wrap="none" rtlCol="0">
            <a:spAutoFit/>
          </a:bodyPr>
          <a:lstStyle/>
          <a:p>
            <a:r>
              <a:rPr lang="nl-NL" i="1" dirty="0" smtClean="0"/>
              <a:t>Ja</a:t>
            </a:r>
            <a:endParaRPr lang="nl-NL" i="1" dirty="0"/>
          </a:p>
        </p:txBody>
      </p:sp>
      <p:sp>
        <p:nvSpPr>
          <p:cNvPr id="36" name="TextBox 35"/>
          <p:cNvSpPr txBox="1"/>
          <p:nvPr/>
        </p:nvSpPr>
        <p:spPr>
          <a:xfrm>
            <a:off x="7031758" y="6011996"/>
            <a:ext cx="554960" cy="369332"/>
          </a:xfrm>
          <a:prstGeom prst="rect">
            <a:avLst/>
          </a:prstGeom>
          <a:noFill/>
        </p:spPr>
        <p:txBody>
          <a:bodyPr wrap="none" rtlCol="0">
            <a:spAutoFit/>
          </a:bodyPr>
          <a:lstStyle/>
          <a:p>
            <a:r>
              <a:rPr lang="nl-NL" i="1" dirty="0" smtClean="0"/>
              <a:t>Nee</a:t>
            </a:r>
            <a:endParaRPr lang="nl-NL" i="1" dirty="0"/>
          </a:p>
        </p:txBody>
      </p:sp>
      <p:sp>
        <p:nvSpPr>
          <p:cNvPr id="37" name="TextBox 36"/>
          <p:cNvSpPr txBox="1"/>
          <p:nvPr/>
        </p:nvSpPr>
        <p:spPr>
          <a:xfrm>
            <a:off x="7020272" y="6372036"/>
            <a:ext cx="377026" cy="369332"/>
          </a:xfrm>
          <a:prstGeom prst="rect">
            <a:avLst/>
          </a:prstGeom>
          <a:noFill/>
        </p:spPr>
        <p:txBody>
          <a:bodyPr wrap="none" rtlCol="0">
            <a:spAutoFit/>
          </a:bodyPr>
          <a:lstStyle/>
          <a:p>
            <a:r>
              <a:rPr lang="nl-NL" i="1" dirty="0" smtClean="0"/>
              <a:t>Ja</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20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animEffect transition="in" filter="fade">
                                      <p:cBhvr>
                                        <p:cTn id="12" dur="2000"/>
                                        <p:tgtEl>
                                          <p:spTgt spid="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Effect transition="in" filter="fade">
                                      <p:cBhvr>
                                        <p:cTn id="17" dur="2000"/>
                                        <p:tgtEl>
                                          <p:spTgt spid="2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
                                            <p:txEl>
                                              <p:pRg st="0" end="0"/>
                                            </p:txEl>
                                          </p:spTgt>
                                        </p:tgtEl>
                                        <p:attrNameLst>
                                          <p:attrName>style.visibility</p:attrName>
                                        </p:attrNameLst>
                                      </p:cBhvr>
                                      <p:to>
                                        <p:strVal val="visible"/>
                                      </p:to>
                                    </p:set>
                                    <p:animEffect transition="in" filter="fade">
                                      <p:cBhvr>
                                        <p:cTn id="22" dur="2000"/>
                                        <p:tgtEl>
                                          <p:spTgt spid="3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xEl>
                                              <p:pRg st="0" end="0"/>
                                            </p:txEl>
                                          </p:spTgt>
                                        </p:tgtEl>
                                        <p:attrNameLst>
                                          <p:attrName>style.visibility</p:attrName>
                                        </p:attrNameLst>
                                      </p:cBhvr>
                                      <p:to>
                                        <p:strVal val="visible"/>
                                      </p:to>
                                    </p:set>
                                    <p:animEffect transition="in" filter="fade">
                                      <p:cBhvr>
                                        <p:cTn id="27" dur="2000"/>
                                        <p:tgtEl>
                                          <p:spTgt spid="2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xEl>
                                              <p:pRg st="0" end="0"/>
                                            </p:txEl>
                                          </p:spTgt>
                                        </p:tgtEl>
                                        <p:attrNameLst>
                                          <p:attrName>style.visibility</p:attrName>
                                        </p:attrNameLst>
                                      </p:cBhvr>
                                      <p:to>
                                        <p:strVal val="visible"/>
                                      </p:to>
                                    </p:set>
                                    <p:animEffect transition="in" filter="fade">
                                      <p:cBhvr>
                                        <p:cTn id="32" dur="2000"/>
                                        <p:tgtEl>
                                          <p:spTgt spid="3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xEl>
                                              <p:pRg st="0" end="0"/>
                                            </p:txEl>
                                          </p:spTgt>
                                        </p:tgtEl>
                                        <p:attrNameLst>
                                          <p:attrName>style.visibility</p:attrName>
                                        </p:attrNameLst>
                                      </p:cBhvr>
                                      <p:to>
                                        <p:strVal val="visible"/>
                                      </p:to>
                                    </p:set>
                                    <p:animEffect transition="in" filter="fade">
                                      <p:cBhvr>
                                        <p:cTn id="37" dur="2000"/>
                                        <p:tgtEl>
                                          <p:spTgt spid="2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5">
                                            <p:txEl>
                                              <p:pRg st="0" end="0"/>
                                            </p:txEl>
                                          </p:spTgt>
                                        </p:tgtEl>
                                        <p:attrNameLst>
                                          <p:attrName>style.visibility</p:attrName>
                                        </p:attrNameLst>
                                      </p:cBhvr>
                                      <p:to>
                                        <p:strVal val="visible"/>
                                      </p:to>
                                    </p:set>
                                    <p:animEffect transition="in" filter="fade">
                                      <p:cBhvr>
                                        <p:cTn id="42" dur="2000"/>
                                        <p:tgtEl>
                                          <p:spTgt spid="3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xEl>
                                              <p:pRg st="0" end="0"/>
                                            </p:txEl>
                                          </p:spTgt>
                                        </p:tgtEl>
                                        <p:attrNameLst>
                                          <p:attrName>style.visibility</p:attrName>
                                        </p:attrNameLst>
                                      </p:cBhvr>
                                      <p:to>
                                        <p:strVal val="visible"/>
                                      </p:to>
                                    </p:set>
                                    <p:animEffect transition="in" filter="fade">
                                      <p:cBhvr>
                                        <p:cTn id="47" dur="2000"/>
                                        <p:tgtEl>
                                          <p:spTgt spid="3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6">
                                            <p:txEl>
                                              <p:pRg st="0" end="0"/>
                                            </p:txEl>
                                          </p:spTgt>
                                        </p:tgtEl>
                                        <p:attrNameLst>
                                          <p:attrName>style.visibility</p:attrName>
                                        </p:attrNameLst>
                                      </p:cBhvr>
                                      <p:to>
                                        <p:strVal val="visible"/>
                                      </p:to>
                                    </p:set>
                                    <p:animEffect transition="in" filter="fade">
                                      <p:cBhvr>
                                        <p:cTn id="52" dur="2000"/>
                                        <p:tgtEl>
                                          <p:spTgt spid="3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
                                            <p:txEl>
                                              <p:pRg st="0" end="0"/>
                                            </p:txEl>
                                          </p:spTgt>
                                        </p:tgtEl>
                                        <p:attrNameLst>
                                          <p:attrName>style.visibility</p:attrName>
                                        </p:attrNameLst>
                                      </p:cBhvr>
                                      <p:to>
                                        <p:strVal val="visible"/>
                                      </p:to>
                                    </p:set>
                                    <p:animEffect transition="in" filter="fade">
                                      <p:cBhvr>
                                        <p:cTn id="57" dur="2000"/>
                                        <p:tgtEl>
                                          <p:spTgt spid="3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
                                            <p:txEl>
                                              <p:pRg st="0" end="0"/>
                                            </p:txEl>
                                          </p:spTgt>
                                        </p:tgtEl>
                                        <p:attrNameLst>
                                          <p:attrName>style.visibility</p:attrName>
                                        </p:attrNameLst>
                                      </p:cBhvr>
                                      <p:to>
                                        <p:strVal val="visible"/>
                                      </p:to>
                                    </p:set>
                                    <p:animEffect transition="in" filter="fade">
                                      <p:cBhvr>
                                        <p:cTn id="62" dur="20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Lst>
  </p:timing>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a:t>
            </a:r>
            <a:r>
              <a:rPr lang="nl-NL" sz="3600" dirty="0" err="1" smtClean="0"/>
              <a:t>twee-plaatsige</a:t>
            </a:r>
            <a:r>
              <a:rPr lang="nl-NL" sz="3600" dirty="0" smtClean="0"/>
              <a:t> relaties</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reflexief</a:t>
            </a:r>
            <a:r>
              <a:rPr lang="nl-NL" dirty="0" smtClean="0"/>
              <a:t> dan en slechts dan als </a:t>
            </a:r>
            <a:r>
              <a:rPr lang="nl-NL" b="1" dirty="0" smtClean="0"/>
              <a:t>∀x </a:t>
            </a:r>
            <a:r>
              <a:rPr lang="nl-NL" b="1" dirty="0" err="1" smtClean="0"/>
              <a:t>Rxx</a:t>
            </a:r>
            <a:endParaRPr lang="nl-NL" dirty="0"/>
          </a:p>
        </p:txBody>
      </p:sp>
      <p:sp>
        <p:nvSpPr>
          <p:cNvPr id="17" name="Rectangle 16"/>
          <p:cNvSpPr/>
          <p:nvPr/>
        </p:nvSpPr>
        <p:spPr>
          <a:xfrm>
            <a:off x="539552" y="2420888"/>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err="1" smtClean="0"/>
              <a:t>irreflexief</a:t>
            </a:r>
            <a:r>
              <a:rPr lang="nl-NL" dirty="0" smtClean="0"/>
              <a:t> dan en slechts dan als </a:t>
            </a:r>
            <a:r>
              <a:rPr lang="nl-NL" b="1" dirty="0" smtClean="0"/>
              <a:t>∀x ¬</a:t>
            </a:r>
            <a:r>
              <a:rPr lang="nl-NL" b="1" dirty="0" err="1" smtClean="0"/>
              <a:t>Rxx</a:t>
            </a:r>
            <a:endParaRPr lang="nl-NL" dirty="0"/>
          </a:p>
        </p:txBody>
      </p:sp>
      <p:sp>
        <p:nvSpPr>
          <p:cNvPr id="24" name="TextBox 23"/>
          <p:cNvSpPr txBox="1"/>
          <p:nvPr/>
        </p:nvSpPr>
        <p:spPr>
          <a:xfrm>
            <a:off x="539552" y="3284984"/>
            <a:ext cx="7272808" cy="369332"/>
          </a:xfrm>
          <a:prstGeom prst="rect">
            <a:avLst/>
          </a:prstGeom>
          <a:noFill/>
        </p:spPr>
        <p:txBody>
          <a:bodyPr wrap="square" rtlCol="0">
            <a:spAutoFit/>
          </a:bodyPr>
          <a:lstStyle/>
          <a:p>
            <a:r>
              <a:rPr lang="nl-NL" dirty="0" smtClean="0"/>
              <a:t>Zijn er ook relaties die noch reflexief, noch </a:t>
            </a:r>
            <a:r>
              <a:rPr lang="nl-NL" dirty="0" err="1" smtClean="0"/>
              <a:t>irreflexief</a:t>
            </a:r>
            <a:r>
              <a:rPr lang="nl-NL" dirty="0" smtClean="0"/>
              <a:t> zijn?</a:t>
            </a:r>
            <a:endParaRPr lang="nl-NL" dirty="0"/>
          </a:p>
        </p:txBody>
      </p:sp>
      <p:sp>
        <p:nvSpPr>
          <p:cNvPr id="25" name="TextBox 24"/>
          <p:cNvSpPr txBox="1"/>
          <p:nvPr/>
        </p:nvSpPr>
        <p:spPr>
          <a:xfrm>
            <a:off x="539552" y="3779748"/>
            <a:ext cx="7272808" cy="369332"/>
          </a:xfrm>
          <a:prstGeom prst="rect">
            <a:avLst/>
          </a:prstGeom>
          <a:noFill/>
        </p:spPr>
        <p:txBody>
          <a:bodyPr wrap="square" rtlCol="0">
            <a:spAutoFit/>
          </a:bodyPr>
          <a:lstStyle/>
          <a:p>
            <a:r>
              <a:rPr lang="nl-NL" dirty="0" smtClean="0"/>
              <a:t>Jazeker, neem maar eens de relatie </a:t>
            </a:r>
            <a:r>
              <a:rPr lang="nl-NL" i="1" dirty="0" smtClean="0"/>
              <a:t>‘Is werkgever van’ </a:t>
            </a:r>
            <a:endParaRPr lang="nl-NL" i="1" dirty="0"/>
          </a:p>
        </p:txBody>
      </p:sp>
      <p:sp>
        <p:nvSpPr>
          <p:cNvPr id="13" name="TextBox 12"/>
          <p:cNvSpPr txBox="1"/>
          <p:nvPr/>
        </p:nvSpPr>
        <p:spPr>
          <a:xfrm>
            <a:off x="539552" y="1907540"/>
            <a:ext cx="1872208" cy="369332"/>
          </a:xfrm>
          <a:prstGeom prst="rect">
            <a:avLst/>
          </a:prstGeom>
          <a:noFill/>
        </p:spPr>
        <p:txBody>
          <a:bodyPr wrap="square" rtlCol="0">
            <a:spAutoFit/>
          </a:bodyPr>
          <a:lstStyle/>
          <a:p>
            <a:r>
              <a:rPr lang="nl-NL" i="1" dirty="0" smtClean="0"/>
              <a:t>‘Is gelijk aan’</a:t>
            </a:r>
            <a:endParaRPr lang="nl-NL" i="1" dirty="0"/>
          </a:p>
        </p:txBody>
      </p:sp>
      <p:sp>
        <p:nvSpPr>
          <p:cNvPr id="14" name="TextBox 13"/>
          <p:cNvSpPr txBox="1"/>
          <p:nvPr/>
        </p:nvSpPr>
        <p:spPr>
          <a:xfrm>
            <a:off x="539552" y="2771636"/>
            <a:ext cx="1872208" cy="369332"/>
          </a:xfrm>
          <a:prstGeom prst="rect">
            <a:avLst/>
          </a:prstGeom>
          <a:noFill/>
        </p:spPr>
        <p:txBody>
          <a:bodyPr wrap="square" rtlCol="0">
            <a:spAutoFit/>
          </a:bodyPr>
          <a:lstStyle/>
          <a:p>
            <a:r>
              <a:rPr lang="nl-NL" i="1" dirty="0" smtClean="0"/>
              <a:t>‘Is groter dan’</a:t>
            </a:r>
            <a:endParaRPr lang="nl-NL" i="1" dirty="0"/>
          </a:p>
        </p:txBody>
      </p:sp>
      <p:sp>
        <p:nvSpPr>
          <p:cNvPr id="16" name="TextBox 15"/>
          <p:cNvSpPr txBox="1"/>
          <p:nvPr/>
        </p:nvSpPr>
        <p:spPr>
          <a:xfrm>
            <a:off x="539552" y="4581128"/>
            <a:ext cx="4320480" cy="1477328"/>
          </a:xfrm>
          <a:prstGeom prst="rect">
            <a:avLst/>
          </a:prstGeom>
          <a:noFill/>
        </p:spPr>
        <p:txBody>
          <a:bodyPr wrap="square" rtlCol="0">
            <a:spAutoFit/>
          </a:bodyPr>
          <a:lstStyle/>
          <a:p>
            <a:r>
              <a:rPr lang="nl-NL" b="1" dirty="0" smtClean="0"/>
              <a:t>Voorbeeld</a:t>
            </a:r>
          </a:p>
          <a:p>
            <a:endParaRPr lang="nl-NL" dirty="0" smtClean="0"/>
          </a:p>
          <a:p>
            <a:r>
              <a:rPr lang="nl-NL" dirty="0" smtClean="0"/>
              <a:t>Neem als domein alle driehoeken en als relatie ‘gelijkvormig’. Welke eigenschappen heeft deze relatie? </a:t>
            </a:r>
          </a:p>
        </p:txBody>
      </p:sp>
      <p:sp>
        <p:nvSpPr>
          <p:cNvPr id="26" name="TextBox 25"/>
          <p:cNvSpPr txBox="1"/>
          <p:nvPr/>
        </p:nvSpPr>
        <p:spPr>
          <a:xfrm>
            <a:off x="5220072" y="4581128"/>
            <a:ext cx="1512168" cy="369332"/>
          </a:xfrm>
          <a:prstGeom prst="rect">
            <a:avLst/>
          </a:prstGeom>
          <a:noFill/>
        </p:spPr>
        <p:txBody>
          <a:bodyPr wrap="square" rtlCol="0">
            <a:spAutoFit/>
          </a:bodyPr>
          <a:lstStyle/>
          <a:p>
            <a:r>
              <a:rPr lang="nl-NL" dirty="0" smtClean="0"/>
              <a:t>Transitief?</a:t>
            </a:r>
            <a:endParaRPr lang="nl-NL" dirty="0"/>
          </a:p>
        </p:txBody>
      </p:sp>
      <p:sp>
        <p:nvSpPr>
          <p:cNvPr id="27" name="TextBox 26"/>
          <p:cNvSpPr txBox="1"/>
          <p:nvPr/>
        </p:nvSpPr>
        <p:spPr>
          <a:xfrm>
            <a:off x="5220072" y="4931876"/>
            <a:ext cx="1512168" cy="369332"/>
          </a:xfrm>
          <a:prstGeom prst="rect">
            <a:avLst/>
          </a:prstGeom>
          <a:noFill/>
        </p:spPr>
        <p:txBody>
          <a:bodyPr wrap="square" rtlCol="0">
            <a:spAutoFit/>
          </a:bodyPr>
          <a:lstStyle/>
          <a:p>
            <a:r>
              <a:rPr lang="nl-NL" dirty="0" smtClean="0"/>
              <a:t>Intransitief?</a:t>
            </a:r>
            <a:endParaRPr lang="nl-NL" dirty="0"/>
          </a:p>
        </p:txBody>
      </p:sp>
      <p:sp>
        <p:nvSpPr>
          <p:cNvPr id="28" name="TextBox 27"/>
          <p:cNvSpPr txBox="1"/>
          <p:nvPr/>
        </p:nvSpPr>
        <p:spPr>
          <a:xfrm>
            <a:off x="5220072" y="5291916"/>
            <a:ext cx="1512168" cy="369332"/>
          </a:xfrm>
          <a:prstGeom prst="rect">
            <a:avLst/>
          </a:prstGeom>
          <a:noFill/>
        </p:spPr>
        <p:txBody>
          <a:bodyPr wrap="square" rtlCol="0">
            <a:spAutoFit/>
          </a:bodyPr>
          <a:lstStyle/>
          <a:p>
            <a:r>
              <a:rPr lang="nl-NL" dirty="0" smtClean="0"/>
              <a:t>Symmetrisch?</a:t>
            </a:r>
            <a:endParaRPr lang="nl-NL" dirty="0"/>
          </a:p>
        </p:txBody>
      </p:sp>
      <p:sp>
        <p:nvSpPr>
          <p:cNvPr id="29" name="TextBox 28"/>
          <p:cNvSpPr txBox="1"/>
          <p:nvPr/>
        </p:nvSpPr>
        <p:spPr>
          <a:xfrm>
            <a:off x="5220072" y="5661248"/>
            <a:ext cx="1800200" cy="369332"/>
          </a:xfrm>
          <a:prstGeom prst="rect">
            <a:avLst/>
          </a:prstGeom>
          <a:noFill/>
        </p:spPr>
        <p:txBody>
          <a:bodyPr wrap="square" rtlCol="0">
            <a:spAutoFit/>
          </a:bodyPr>
          <a:lstStyle/>
          <a:p>
            <a:r>
              <a:rPr lang="nl-NL" dirty="0" smtClean="0"/>
              <a:t>Asymmetrisch?</a:t>
            </a:r>
            <a:endParaRPr lang="nl-NL" dirty="0"/>
          </a:p>
        </p:txBody>
      </p:sp>
      <p:sp>
        <p:nvSpPr>
          <p:cNvPr id="30" name="TextBox 29"/>
          <p:cNvSpPr txBox="1"/>
          <p:nvPr/>
        </p:nvSpPr>
        <p:spPr>
          <a:xfrm>
            <a:off x="5220072" y="6011996"/>
            <a:ext cx="1800200" cy="369332"/>
          </a:xfrm>
          <a:prstGeom prst="rect">
            <a:avLst/>
          </a:prstGeom>
          <a:noFill/>
        </p:spPr>
        <p:txBody>
          <a:bodyPr wrap="square" rtlCol="0">
            <a:spAutoFit/>
          </a:bodyPr>
          <a:lstStyle/>
          <a:p>
            <a:r>
              <a:rPr lang="nl-NL" dirty="0" smtClean="0"/>
              <a:t>Reflexief?</a:t>
            </a:r>
            <a:endParaRPr lang="nl-NL" dirty="0"/>
          </a:p>
        </p:txBody>
      </p:sp>
      <p:sp>
        <p:nvSpPr>
          <p:cNvPr id="31" name="TextBox 30"/>
          <p:cNvSpPr txBox="1"/>
          <p:nvPr/>
        </p:nvSpPr>
        <p:spPr>
          <a:xfrm>
            <a:off x="5220072" y="6372036"/>
            <a:ext cx="1800200" cy="369332"/>
          </a:xfrm>
          <a:prstGeom prst="rect">
            <a:avLst/>
          </a:prstGeom>
          <a:noFill/>
        </p:spPr>
        <p:txBody>
          <a:bodyPr wrap="square" rtlCol="0">
            <a:spAutoFit/>
          </a:bodyPr>
          <a:lstStyle/>
          <a:p>
            <a:r>
              <a:rPr lang="nl-NL" dirty="0" err="1" smtClean="0"/>
              <a:t>Irreflexief</a:t>
            </a:r>
            <a:r>
              <a:rPr lang="nl-NL" dirty="0" smtClean="0"/>
              <a:t>?</a:t>
            </a:r>
            <a:endParaRPr lang="nl-NL" dirty="0"/>
          </a:p>
        </p:txBody>
      </p:sp>
      <p:sp>
        <p:nvSpPr>
          <p:cNvPr id="32" name="TextBox 31"/>
          <p:cNvSpPr txBox="1"/>
          <p:nvPr/>
        </p:nvSpPr>
        <p:spPr>
          <a:xfrm>
            <a:off x="7020272" y="4571836"/>
            <a:ext cx="377026" cy="369332"/>
          </a:xfrm>
          <a:prstGeom prst="rect">
            <a:avLst/>
          </a:prstGeom>
          <a:noFill/>
        </p:spPr>
        <p:txBody>
          <a:bodyPr wrap="none" rtlCol="0">
            <a:spAutoFit/>
          </a:bodyPr>
          <a:lstStyle/>
          <a:p>
            <a:r>
              <a:rPr lang="nl-NL" i="1" dirty="0" smtClean="0"/>
              <a:t>Ja</a:t>
            </a:r>
            <a:endParaRPr lang="nl-NL" i="1" dirty="0"/>
          </a:p>
        </p:txBody>
      </p:sp>
      <p:sp>
        <p:nvSpPr>
          <p:cNvPr id="33" name="TextBox 32"/>
          <p:cNvSpPr txBox="1"/>
          <p:nvPr/>
        </p:nvSpPr>
        <p:spPr>
          <a:xfrm>
            <a:off x="7020272" y="4931876"/>
            <a:ext cx="564578" cy="369332"/>
          </a:xfrm>
          <a:prstGeom prst="rect">
            <a:avLst/>
          </a:prstGeom>
          <a:noFill/>
        </p:spPr>
        <p:txBody>
          <a:bodyPr wrap="none" rtlCol="0">
            <a:spAutoFit/>
          </a:bodyPr>
          <a:lstStyle/>
          <a:p>
            <a:r>
              <a:rPr lang="nl-NL" i="1" dirty="0" smtClean="0"/>
              <a:t>Nee</a:t>
            </a:r>
            <a:endParaRPr lang="nl-NL" i="1" dirty="0"/>
          </a:p>
        </p:txBody>
      </p:sp>
      <p:sp>
        <p:nvSpPr>
          <p:cNvPr id="34" name="TextBox 33"/>
          <p:cNvSpPr txBox="1"/>
          <p:nvPr/>
        </p:nvSpPr>
        <p:spPr>
          <a:xfrm>
            <a:off x="7020272" y="5291916"/>
            <a:ext cx="377026" cy="369332"/>
          </a:xfrm>
          <a:prstGeom prst="rect">
            <a:avLst/>
          </a:prstGeom>
          <a:noFill/>
        </p:spPr>
        <p:txBody>
          <a:bodyPr wrap="none" rtlCol="0">
            <a:spAutoFit/>
          </a:bodyPr>
          <a:lstStyle/>
          <a:p>
            <a:r>
              <a:rPr lang="nl-NL" i="1" dirty="0" smtClean="0"/>
              <a:t>Ja</a:t>
            </a:r>
            <a:endParaRPr lang="nl-NL" i="1" dirty="0"/>
          </a:p>
        </p:txBody>
      </p:sp>
      <p:sp>
        <p:nvSpPr>
          <p:cNvPr id="35" name="TextBox 34"/>
          <p:cNvSpPr txBox="1"/>
          <p:nvPr/>
        </p:nvSpPr>
        <p:spPr>
          <a:xfrm>
            <a:off x="7020272" y="5651956"/>
            <a:ext cx="554960" cy="369332"/>
          </a:xfrm>
          <a:prstGeom prst="rect">
            <a:avLst/>
          </a:prstGeom>
          <a:noFill/>
        </p:spPr>
        <p:txBody>
          <a:bodyPr wrap="none" rtlCol="0">
            <a:spAutoFit/>
          </a:bodyPr>
          <a:lstStyle/>
          <a:p>
            <a:r>
              <a:rPr lang="nl-NL" i="1" dirty="0" smtClean="0"/>
              <a:t>Nee</a:t>
            </a:r>
            <a:endParaRPr lang="nl-NL" i="1" dirty="0"/>
          </a:p>
        </p:txBody>
      </p:sp>
      <p:sp>
        <p:nvSpPr>
          <p:cNvPr id="36" name="TextBox 35"/>
          <p:cNvSpPr txBox="1"/>
          <p:nvPr/>
        </p:nvSpPr>
        <p:spPr>
          <a:xfrm>
            <a:off x="7031758" y="6011996"/>
            <a:ext cx="377026" cy="369332"/>
          </a:xfrm>
          <a:prstGeom prst="rect">
            <a:avLst/>
          </a:prstGeom>
          <a:noFill/>
        </p:spPr>
        <p:txBody>
          <a:bodyPr wrap="none" rtlCol="0">
            <a:spAutoFit/>
          </a:bodyPr>
          <a:lstStyle/>
          <a:p>
            <a:r>
              <a:rPr lang="nl-NL" i="1" dirty="0" smtClean="0"/>
              <a:t>Ja</a:t>
            </a:r>
            <a:endParaRPr lang="nl-NL" i="1" dirty="0"/>
          </a:p>
        </p:txBody>
      </p:sp>
      <p:sp>
        <p:nvSpPr>
          <p:cNvPr id="37" name="TextBox 36"/>
          <p:cNvSpPr txBox="1"/>
          <p:nvPr/>
        </p:nvSpPr>
        <p:spPr>
          <a:xfrm>
            <a:off x="7020272" y="6372036"/>
            <a:ext cx="554960" cy="369332"/>
          </a:xfrm>
          <a:prstGeom prst="rect">
            <a:avLst/>
          </a:prstGeom>
          <a:noFill/>
        </p:spPr>
        <p:txBody>
          <a:bodyPr wrap="none" rtlCol="0">
            <a:spAutoFit/>
          </a:bodyPr>
          <a:lstStyle/>
          <a:p>
            <a:r>
              <a:rPr lang="nl-NL" i="1" dirty="0" smtClean="0"/>
              <a:t>Nee</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20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animEffect transition="in" filter="fade">
                                      <p:cBhvr>
                                        <p:cTn id="12" dur="2000"/>
                                        <p:tgtEl>
                                          <p:spTgt spid="3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
                                            <p:txEl>
                                              <p:pRg st="0" end="0"/>
                                            </p:txEl>
                                          </p:spTgt>
                                        </p:tgtEl>
                                        <p:attrNameLst>
                                          <p:attrName>style.visibility</p:attrName>
                                        </p:attrNameLst>
                                      </p:cBhvr>
                                      <p:to>
                                        <p:strVal val="visible"/>
                                      </p:to>
                                    </p:set>
                                    <p:animEffect transition="in" filter="fade">
                                      <p:cBhvr>
                                        <p:cTn id="17" dur="2000"/>
                                        <p:tgtEl>
                                          <p:spTgt spid="2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3">
                                            <p:txEl>
                                              <p:pRg st="0" end="0"/>
                                            </p:txEl>
                                          </p:spTgt>
                                        </p:tgtEl>
                                        <p:attrNameLst>
                                          <p:attrName>style.visibility</p:attrName>
                                        </p:attrNameLst>
                                      </p:cBhvr>
                                      <p:to>
                                        <p:strVal val="visible"/>
                                      </p:to>
                                    </p:set>
                                    <p:animEffect transition="in" filter="fade">
                                      <p:cBhvr>
                                        <p:cTn id="22" dur="2000"/>
                                        <p:tgtEl>
                                          <p:spTgt spid="3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8">
                                            <p:txEl>
                                              <p:pRg st="0" end="0"/>
                                            </p:txEl>
                                          </p:spTgt>
                                        </p:tgtEl>
                                        <p:attrNameLst>
                                          <p:attrName>style.visibility</p:attrName>
                                        </p:attrNameLst>
                                      </p:cBhvr>
                                      <p:to>
                                        <p:strVal val="visible"/>
                                      </p:to>
                                    </p:set>
                                    <p:animEffect transition="in" filter="fade">
                                      <p:cBhvr>
                                        <p:cTn id="27" dur="2000"/>
                                        <p:tgtEl>
                                          <p:spTgt spid="2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
                                            <p:txEl>
                                              <p:pRg st="0" end="0"/>
                                            </p:txEl>
                                          </p:spTgt>
                                        </p:tgtEl>
                                        <p:attrNameLst>
                                          <p:attrName>style.visibility</p:attrName>
                                        </p:attrNameLst>
                                      </p:cBhvr>
                                      <p:to>
                                        <p:strVal val="visible"/>
                                      </p:to>
                                    </p:set>
                                    <p:animEffect transition="in" filter="fade">
                                      <p:cBhvr>
                                        <p:cTn id="32" dur="2000"/>
                                        <p:tgtEl>
                                          <p:spTgt spid="3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xEl>
                                              <p:pRg st="0" end="0"/>
                                            </p:txEl>
                                          </p:spTgt>
                                        </p:tgtEl>
                                        <p:attrNameLst>
                                          <p:attrName>style.visibility</p:attrName>
                                        </p:attrNameLst>
                                      </p:cBhvr>
                                      <p:to>
                                        <p:strVal val="visible"/>
                                      </p:to>
                                    </p:set>
                                    <p:animEffect transition="in" filter="fade">
                                      <p:cBhvr>
                                        <p:cTn id="37" dur="2000"/>
                                        <p:tgtEl>
                                          <p:spTgt spid="2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5">
                                            <p:txEl>
                                              <p:pRg st="0" end="0"/>
                                            </p:txEl>
                                          </p:spTgt>
                                        </p:tgtEl>
                                        <p:attrNameLst>
                                          <p:attrName>style.visibility</p:attrName>
                                        </p:attrNameLst>
                                      </p:cBhvr>
                                      <p:to>
                                        <p:strVal val="visible"/>
                                      </p:to>
                                    </p:set>
                                    <p:animEffect transition="in" filter="fade">
                                      <p:cBhvr>
                                        <p:cTn id="42" dur="2000"/>
                                        <p:tgtEl>
                                          <p:spTgt spid="3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xEl>
                                              <p:pRg st="0" end="0"/>
                                            </p:txEl>
                                          </p:spTgt>
                                        </p:tgtEl>
                                        <p:attrNameLst>
                                          <p:attrName>style.visibility</p:attrName>
                                        </p:attrNameLst>
                                      </p:cBhvr>
                                      <p:to>
                                        <p:strVal val="visible"/>
                                      </p:to>
                                    </p:set>
                                    <p:animEffect transition="in" filter="fade">
                                      <p:cBhvr>
                                        <p:cTn id="47" dur="2000"/>
                                        <p:tgtEl>
                                          <p:spTgt spid="30">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6">
                                            <p:txEl>
                                              <p:pRg st="0" end="0"/>
                                            </p:txEl>
                                          </p:spTgt>
                                        </p:tgtEl>
                                        <p:attrNameLst>
                                          <p:attrName>style.visibility</p:attrName>
                                        </p:attrNameLst>
                                      </p:cBhvr>
                                      <p:to>
                                        <p:strVal val="visible"/>
                                      </p:to>
                                    </p:set>
                                    <p:animEffect transition="in" filter="fade">
                                      <p:cBhvr>
                                        <p:cTn id="52" dur="2000"/>
                                        <p:tgtEl>
                                          <p:spTgt spid="3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1">
                                            <p:txEl>
                                              <p:pRg st="0" end="0"/>
                                            </p:txEl>
                                          </p:spTgt>
                                        </p:tgtEl>
                                        <p:attrNameLst>
                                          <p:attrName>style.visibility</p:attrName>
                                        </p:attrNameLst>
                                      </p:cBhvr>
                                      <p:to>
                                        <p:strVal val="visible"/>
                                      </p:to>
                                    </p:set>
                                    <p:animEffect transition="in" filter="fade">
                                      <p:cBhvr>
                                        <p:cTn id="57" dur="2000"/>
                                        <p:tgtEl>
                                          <p:spTgt spid="3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
                                            <p:txEl>
                                              <p:pRg st="0" end="0"/>
                                            </p:txEl>
                                          </p:spTgt>
                                        </p:tgtEl>
                                        <p:attrNameLst>
                                          <p:attrName>style.visibility</p:attrName>
                                        </p:attrNameLst>
                                      </p:cBhvr>
                                      <p:to>
                                        <p:strVal val="visible"/>
                                      </p:to>
                                    </p:set>
                                    <p:animEffect transition="in" filter="fade">
                                      <p:cBhvr>
                                        <p:cTn id="62" dur="2000"/>
                                        <p:tgtEl>
                                          <p:spTgt spid="3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allAtOnce"/>
      <p:bldP spid="27" grpId="0" build="allAtOnce"/>
      <p:bldP spid="28" grpId="0" build="allAtOnce"/>
      <p:bldP spid="29" grpId="0" build="allAtOnce"/>
      <p:bldP spid="30" grpId="0" build="allAtOnce"/>
      <p:bldP spid="31" grpId="0" build="allAtOnce"/>
      <p:bldP spid="32" grpId="0" build="allAtOnce"/>
      <p:bldP spid="33" grpId="0" build="allAtOnce"/>
      <p:bldP spid="34" grpId="0" build="allAtOnce"/>
      <p:bldP spid="35" grpId="0" build="allAtOnce"/>
      <p:bldP spid="36" grpId="0" build="allAtOnce"/>
      <p:bldP spid="37" grpId="0" build="allAtOnce"/>
    </p:bldLst>
  </p:timing>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Verbanden tussen </a:t>
            </a:r>
            <a:r>
              <a:rPr lang="nl-NL" sz="3600" dirty="0" err="1" smtClean="0"/>
              <a:t>twee-plaatsige</a:t>
            </a:r>
            <a:r>
              <a:rPr lang="nl-NL" sz="3600" dirty="0" smtClean="0"/>
              <a:t> relaties</a:t>
            </a:r>
            <a:endParaRPr lang="nl-NL" sz="3600" dirty="0"/>
          </a:p>
        </p:txBody>
      </p:sp>
      <p:sp>
        <p:nvSpPr>
          <p:cNvPr id="15" name="Rectangle 14"/>
          <p:cNvSpPr/>
          <p:nvPr/>
        </p:nvSpPr>
        <p:spPr>
          <a:xfrm>
            <a:off x="360040" y="1556792"/>
            <a:ext cx="8604448" cy="369332"/>
          </a:xfrm>
          <a:prstGeom prst="rect">
            <a:avLst/>
          </a:prstGeom>
        </p:spPr>
        <p:txBody>
          <a:bodyPr wrap="square">
            <a:spAutoFit/>
          </a:bodyPr>
          <a:lstStyle/>
          <a:p>
            <a:r>
              <a:rPr lang="nl-NL" dirty="0" smtClean="0"/>
              <a:t>Relatie </a:t>
            </a:r>
            <a:r>
              <a:rPr lang="nl-NL" b="1" dirty="0" err="1" smtClean="0"/>
              <a:t>Fxy</a:t>
            </a:r>
            <a:r>
              <a:rPr lang="nl-NL" b="1" dirty="0" smtClean="0"/>
              <a:t> </a:t>
            </a:r>
            <a:r>
              <a:rPr lang="nl-NL" dirty="0" smtClean="0"/>
              <a:t>is de </a:t>
            </a:r>
            <a:r>
              <a:rPr lang="nl-NL" u="sng" dirty="0" smtClean="0"/>
              <a:t>omkeerrelatie</a:t>
            </a:r>
            <a:r>
              <a:rPr lang="nl-NL" dirty="0" smtClean="0"/>
              <a:t> van relatie </a:t>
            </a:r>
            <a:r>
              <a:rPr lang="nl-NL" b="1" dirty="0" err="1" smtClean="0"/>
              <a:t>Gxy</a:t>
            </a:r>
            <a:r>
              <a:rPr lang="nl-NL" dirty="0" smtClean="0"/>
              <a:t> dan en slechts dan als </a:t>
            </a:r>
            <a:r>
              <a:rPr lang="nl-NL" b="1" dirty="0" smtClean="0"/>
              <a:t>∀x∀y (</a:t>
            </a:r>
            <a:r>
              <a:rPr lang="nl-NL" b="1" dirty="0" err="1" smtClean="0"/>
              <a:t>Gxy</a:t>
            </a:r>
            <a:r>
              <a:rPr lang="nl-NL" b="1" dirty="0" smtClean="0"/>
              <a:t> ↔ </a:t>
            </a:r>
            <a:r>
              <a:rPr lang="nl-NL" b="1" dirty="0" err="1" smtClean="0"/>
              <a:t>Fyx</a:t>
            </a:r>
            <a:r>
              <a:rPr lang="nl-NL" b="1" dirty="0" smtClean="0"/>
              <a:t>)</a:t>
            </a:r>
            <a:endParaRPr lang="nl-NL" dirty="0"/>
          </a:p>
        </p:txBody>
      </p:sp>
      <p:sp>
        <p:nvSpPr>
          <p:cNvPr id="13" name="TextBox 12"/>
          <p:cNvSpPr txBox="1"/>
          <p:nvPr/>
        </p:nvSpPr>
        <p:spPr>
          <a:xfrm>
            <a:off x="323528" y="2060848"/>
            <a:ext cx="5688632" cy="369332"/>
          </a:xfrm>
          <a:prstGeom prst="rect">
            <a:avLst/>
          </a:prstGeom>
          <a:noFill/>
        </p:spPr>
        <p:txBody>
          <a:bodyPr wrap="square" rtlCol="0">
            <a:spAutoFit/>
          </a:bodyPr>
          <a:lstStyle/>
          <a:p>
            <a:r>
              <a:rPr lang="nl-NL" i="1" dirty="0" smtClean="0"/>
              <a:t>‘Ligt links van’ is de omkeerrelatie van ‘Ligt rechts van’</a:t>
            </a:r>
            <a:endParaRPr lang="nl-NL" i="1" dirty="0"/>
          </a:p>
        </p:txBody>
      </p:sp>
      <p:sp>
        <p:nvSpPr>
          <p:cNvPr id="22" name="TextBox 21"/>
          <p:cNvSpPr txBox="1"/>
          <p:nvPr/>
        </p:nvSpPr>
        <p:spPr>
          <a:xfrm>
            <a:off x="323528" y="2411596"/>
            <a:ext cx="5688632" cy="369332"/>
          </a:xfrm>
          <a:prstGeom prst="rect">
            <a:avLst/>
          </a:prstGeom>
          <a:noFill/>
        </p:spPr>
        <p:txBody>
          <a:bodyPr wrap="square" rtlCol="0">
            <a:spAutoFit/>
          </a:bodyPr>
          <a:lstStyle/>
          <a:p>
            <a:r>
              <a:rPr lang="nl-NL" i="1" dirty="0" smtClean="0"/>
              <a:t>‘Ligt recht van’ is de omkeerrelatie van ‘Ligt links van’</a:t>
            </a:r>
            <a:endParaRPr lang="nl-NL" i="1" dirty="0"/>
          </a:p>
        </p:txBody>
      </p:sp>
      <p:sp>
        <p:nvSpPr>
          <p:cNvPr id="38" name="TextBox 37"/>
          <p:cNvSpPr txBox="1"/>
          <p:nvPr/>
        </p:nvSpPr>
        <p:spPr>
          <a:xfrm>
            <a:off x="323528" y="3149791"/>
            <a:ext cx="3384376" cy="1311128"/>
          </a:xfrm>
          <a:prstGeom prst="rect">
            <a:avLst/>
          </a:prstGeom>
          <a:noFill/>
        </p:spPr>
        <p:txBody>
          <a:bodyPr wrap="square" rtlCol="0">
            <a:spAutoFit/>
          </a:bodyPr>
          <a:lstStyle/>
          <a:p>
            <a:pPr marL="342900" lvl="0" indent="-342900">
              <a:spcBef>
                <a:spcPct val="20000"/>
              </a:spcBef>
              <a:defRPr/>
            </a:pPr>
            <a:r>
              <a:rPr lang="nl-NL" dirty="0" smtClean="0"/>
              <a:t>Jan is groter dan Piet</a:t>
            </a:r>
          </a:p>
          <a:p>
            <a:pPr marL="342900" lvl="0" indent="-342900">
              <a:spcBef>
                <a:spcPct val="20000"/>
              </a:spcBef>
              <a:defRPr/>
            </a:pPr>
            <a:r>
              <a:rPr lang="nl-NL" dirty="0" smtClean="0"/>
              <a:t>Piet is groter dan Kees</a:t>
            </a:r>
          </a:p>
          <a:p>
            <a:pPr marL="342900" lvl="0" indent="-342900">
              <a:spcBef>
                <a:spcPct val="20000"/>
              </a:spcBef>
              <a:defRPr/>
            </a:pPr>
            <a:r>
              <a:rPr lang="nl-NL" dirty="0" smtClean="0"/>
              <a:t>/ Kees is kleiner dan Jan</a:t>
            </a:r>
          </a:p>
          <a:p>
            <a:endParaRPr lang="nl-NL" dirty="0"/>
          </a:p>
        </p:txBody>
      </p:sp>
      <p:sp>
        <p:nvSpPr>
          <p:cNvPr id="40" name="TextBox 39"/>
          <p:cNvSpPr txBox="1"/>
          <p:nvPr/>
        </p:nvSpPr>
        <p:spPr>
          <a:xfrm>
            <a:off x="4572000" y="3092767"/>
            <a:ext cx="936104" cy="1200329"/>
          </a:xfrm>
          <a:prstGeom prst="rect">
            <a:avLst/>
          </a:prstGeom>
          <a:noFill/>
        </p:spPr>
        <p:txBody>
          <a:bodyPr wrap="square" rtlCol="0">
            <a:spAutoFit/>
          </a:bodyPr>
          <a:lstStyle/>
          <a:p>
            <a:r>
              <a:rPr lang="nl-NL" b="1" dirty="0" smtClean="0"/>
              <a:t>j</a:t>
            </a:r>
            <a:r>
              <a:rPr lang="nl-NL" dirty="0" smtClean="0"/>
              <a:t>: Jan         </a:t>
            </a:r>
          </a:p>
          <a:p>
            <a:r>
              <a:rPr lang="nl-NL" b="1" dirty="0" smtClean="0"/>
              <a:t>p</a:t>
            </a:r>
            <a:r>
              <a:rPr lang="nl-NL" dirty="0" smtClean="0"/>
              <a:t>: Piet</a:t>
            </a:r>
          </a:p>
          <a:p>
            <a:r>
              <a:rPr lang="nl-NL" b="1" dirty="0" smtClean="0"/>
              <a:t>k</a:t>
            </a:r>
            <a:r>
              <a:rPr lang="nl-NL" dirty="0" smtClean="0"/>
              <a:t>: Kees</a:t>
            </a:r>
          </a:p>
          <a:p>
            <a:endParaRPr lang="nl-NL" dirty="0"/>
          </a:p>
        </p:txBody>
      </p:sp>
      <p:sp>
        <p:nvSpPr>
          <p:cNvPr id="41" name="TextBox 40"/>
          <p:cNvSpPr txBox="1"/>
          <p:nvPr/>
        </p:nvSpPr>
        <p:spPr>
          <a:xfrm>
            <a:off x="5652120" y="3092767"/>
            <a:ext cx="2376264" cy="1200329"/>
          </a:xfrm>
          <a:prstGeom prst="rect">
            <a:avLst/>
          </a:prstGeom>
          <a:noFill/>
        </p:spPr>
        <p:txBody>
          <a:bodyPr wrap="square" rtlCol="0">
            <a:spAutoFit/>
          </a:bodyPr>
          <a:lstStyle/>
          <a:p>
            <a:r>
              <a:rPr lang="nl-NL" b="1" dirty="0" err="1" smtClean="0"/>
              <a:t>Gxy</a:t>
            </a:r>
            <a:r>
              <a:rPr lang="nl-NL" dirty="0" smtClean="0"/>
              <a:t>:</a:t>
            </a:r>
            <a:r>
              <a:rPr lang="nl-NL" b="1" dirty="0" smtClean="0"/>
              <a:t> </a:t>
            </a:r>
            <a:r>
              <a:rPr lang="nl-NL" dirty="0" smtClean="0"/>
              <a:t>x is groter dan y</a:t>
            </a:r>
          </a:p>
          <a:p>
            <a:r>
              <a:rPr lang="nl-NL" b="1" dirty="0" err="1" smtClean="0"/>
              <a:t>Kxy</a:t>
            </a:r>
            <a:r>
              <a:rPr lang="nl-NL" dirty="0" smtClean="0"/>
              <a:t>: x is kleiner dan y</a:t>
            </a:r>
          </a:p>
          <a:p>
            <a:r>
              <a:rPr lang="nl-NL" dirty="0" smtClean="0"/>
              <a:t>Domein: mensen</a:t>
            </a:r>
          </a:p>
          <a:p>
            <a:endParaRPr lang="nl-NL" dirty="0"/>
          </a:p>
        </p:txBody>
      </p:sp>
      <p:sp>
        <p:nvSpPr>
          <p:cNvPr id="42" name="TextBox 41"/>
          <p:cNvSpPr txBox="1"/>
          <p:nvPr/>
        </p:nvSpPr>
        <p:spPr>
          <a:xfrm>
            <a:off x="323528" y="4365104"/>
            <a:ext cx="7488832" cy="1754326"/>
          </a:xfrm>
          <a:prstGeom prst="rect">
            <a:avLst/>
          </a:prstGeom>
          <a:noFill/>
        </p:spPr>
        <p:txBody>
          <a:bodyPr wrap="square" rtlCol="0">
            <a:spAutoFit/>
          </a:bodyPr>
          <a:lstStyle/>
          <a:p>
            <a:r>
              <a:rPr lang="nl-NL" b="1" dirty="0" err="1" smtClean="0"/>
              <a:t>Gjp</a:t>
            </a:r>
            <a:endParaRPr lang="nl-NL" b="1" dirty="0" smtClean="0"/>
          </a:p>
          <a:p>
            <a:r>
              <a:rPr lang="nl-NL" b="1" dirty="0" err="1" smtClean="0"/>
              <a:t>Gpk</a:t>
            </a:r>
            <a:endParaRPr lang="nl-NL" b="1" dirty="0" smtClean="0"/>
          </a:p>
          <a:p>
            <a:r>
              <a:rPr lang="nl-NL" b="1" dirty="0" smtClean="0"/>
              <a:t>∀x∀y∀z ((</a:t>
            </a:r>
            <a:r>
              <a:rPr lang="nl-NL" b="1" dirty="0" err="1" smtClean="0"/>
              <a:t>Gxy</a:t>
            </a:r>
            <a:r>
              <a:rPr lang="nl-NL" b="1" dirty="0" smtClean="0"/>
              <a:t> ∧ </a:t>
            </a:r>
            <a:r>
              <a:rPr lang="nl-NL" b="1" dirty="0" err="1" smtClean="0"/>
              <a:t>Gyz</a:t>
            </a:r>
            <a:r>
              <a:rPr lang="nl-NL" b="1" dirty="0" smtClean="0"/>
              <a:t>) → </a:t>
            </a:r>
            <a:r>
              <a:rPr lang="nl-NL" b="1" dirty="0" err="1" smtClean="0"/>
              <a:t>Gxz</a:t>
            </a:r>
            <a:r>
              <a:rPr lang="nl-NL" b="1" dirty="0" smtClean="0"/>
              <a:t>)</a:t>
            </a:r>
          </a:p>
          <a:p>
            <a:r>
              <a:rPr lang="nl-NL" b="1" dirty="0" smtClean="0"/>
              <a:t>∀x∀y (</a:t>
            </a:r>
            <a:r>
              <a:rPr lang="nl-NL" b="1" dirty="0" err="1" smtClean="0"/>
              <a:t>Gxy</a:t>
            </a:r>
            <a:r>
              <a:rPr lang="nl-NL" b="1" dirty="0" smtClean="0"/>
              <a:t> ↔ </a:t>
            </a:r>
            <a:r>
              <a:rPr lang="nl-NL" b="1" dirty="0" err="1" smtClean="0"/>
              <a:t>Kyx</a:t>
            </a:r>
            <a:r>
              <a:rPr lang="nl-NL" b="1" dirty="0" smtClean="0"/>
              <a:t>)</a:t>
            </a:r>
          </a:p>
          <a:p>
            <a:r>
              <a:rPr lang="nl-NL" b="1" dirty="0" smtClean="0"/>
              <a:t>/ </a:t>
            </a:r>
            <a:r>
              <a:rPr lang="nl-NL" b="1" dirty="0" err="1" smtClean="0"/>
              <a:t>Kkj</a:t>
            </a:r>
            <a:endParaRPr lang="nl-NL" b="1" dirty="0" smtClean="0"/>
          </a:p>
          <a:p>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2000"/>
                                        <p:tgtEl>
                                          <p:spTgt spid="2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8">
                                            <p:txEl>
                                              <p:pRg st="0" end="0"/>
                                            </p:txEl>
                                          </p:spTgt>
                                        </p:tgtEl>
                                        <p:attrNameLst>
                                          <p:attrName>style.visibility</p:attrName>
                                        </p:attrNameLst>
                                      </p:cBhvr>
                                      <p:to>
                                        <p:strVal val="visible"/>
                                      </p:to>
                                    </p:set>
                                    <p:animEffect transition="in" filter="fade">
                                      <p:cBhvr>
                                        <p:cTn id="17" dur="2000"/>
                                        <p:tgtEl>
                                          <p:spTgt spid="38">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8">
                                            <p:txEl>
                                              <p:pRg st="1" end="1"/>
                                            </p:txEl>
                                          </p:spTgt>
                                        </p:tgtEl>
                                        <p:attrNameLst>
                                          <p:attrName>style.visibility</p:attrName>
                                        </p:attrNameLst>
                                      </p:cBhvr>
                                      <p:to>
                                        <p:strVal val="visible"/>
                                      </p:to>
                                    </p:set>
                                    <p:animEffect transition="in" filter="fade">
                                      <p:cBhvr>
                                        <p:cTn id="20" dur="2000"/>
                                        <p:tgtEl>
                                          <p:spTgt spid="38">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8">
                                            <p:txEl>
                                              <p:pRg st="2" end="2"/>
                                            </p:txEl>
                                          </p:spTgt>
                                        </p:tgtEl>
                                        <p:attrNameLst>
                                          <p:attrName>style.visibility</p:attrName>
                                        </p:attrNameLst>
                                      </p:cBhvr>
                                      <p:to>
                                        <p:strVal val="visible"/>
                                      </p:to>
                                    </p:set>
                                    <p:animEffect transition="in" filter="fade">
                                      <p:cBhvr>
                                        <p:cTn id="23" dur="2000"/>
                                        <p:tgtEl>
                                          <p:spTgt spid="38">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40">
                                            <p:txEl>
                                              <p:pRg st="0" end="0"/>
                                            </p:txEl>
                                          </p:spTgt>
                                        </p:tgtEl>
                                        <p:attrNameLst>
                                          <p:attrName>style.visibility</p:attrName>
                                        </p:attrNameLst>
                                      </p:cBhvr>
                                      <p:to>
                                        <p:strVal val="visible"/>
                                      </p:to>
                                    </p:set>
                                    <p:animEffect transition="in" filter="fade">
                                      <p:cBhvr>
                                        <p:cTn id="28" dur="2000"/>
                                        <p:tgtEl>
                                          <p:spTgt spid="40">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0">
                                            <p:txEl>
                                              <p:pRg st="1" end="1"/>
                                            </p:txEl>
                                          </p:spTgt>
                                        </p:tgtEl>
                                        <p:attrNameLst>
                                          <p:attrName>style.visibility</p:attrName>
                                        </p:attrNameLst>
                                      </p:cBhvr>
                                      <p:to>
                                        <p:strVal val="visible"/>
                                      </p:to>
                                    </p:set>
                                    <p:animEffect transition="in" filter="fade">
                                      <p:cBhvr>
                                        <p:cTn id="31" dur="2000"/>
                                        <p:tgtEl>
                                          <p:spTgt spid="40">
                                            <p:txEl>
                                              <p:pRg st="1" end="1"/>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xEl>
                                              <p:pRg st="2" end="2"/>
                                            </p:txEl>
                                          </p:spTgt>
                                        </p:tgtEl>
                                        <p:attrNameLst>
                                          <p:attrName>style.visibility</p:attrName>
                                        </p:attrNameLst>
                                      </p:cBhvr>
                                      <p:to>
                                        <p:strVal val="visible"/>
                                      </p:to>
                                    </p:set>
                                    <p:animEffect transition="in" filter="fade">
                                      <p:cBhvr>
                                        <p:cTn id="34" dur="2000"/>
                                        <p:tgtEl>
                                          <p:spTgt spid="40">
                                            <p:txEl>
                                              <p:pRg st="2" end="2"/>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1">
                                            <p:txEl>
                                              <p:pRg st="0" end="0"/>
                                            </p:txEl>
                                          </p:spTgt>
                                        </p:tgtEl>
                                        <p:attrNameLst>
                                          <p:attrName>style.visibility</p:attrName>
                                        </p:attrNameLst>
                                      </p:cBhvr>
                                      <p:to>
                                        <p:strVal val="visible"/>
                                      </p:to>
                                    </p:set>
                                    <p:animEffect transition="in" filter="fade">
                                      <p:cBhvr>
                                        <p:cTn id="37" dur="2000"/>
                                        <p:tgtEl>
                                          <p:spTgt spid="41">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1">
                                            <p:txEl>
                                              <p:pRg st="1" end="1"/>
                                            </p:txEl>
                                          </p:spTgt>
                                        </p:tgtEl>
                                        <p:attrNameLst>
                                          <p:attrName>style.visibility</p:attrName>
                                        </p:attrNameLst>
                                      </p:cBhvr>
                                      <p:to>
                                        <p:strVal val="visible"/>
                                      </p:to>
                                    </p:set>
                                    <p:animEffect transition="in" filter="fade">
                                      <p:cBhvr>
                                        <p:cTn id="40" dur="2000"/>
                                        <p:tgtEl>
                                          <p:spTgt spid="41">
                                            <p:txEl>
                                              <p:pRg st="1" end="1"/>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1">
                                            <p:txEl>
                                              <p:pRg st="2" end="2"/>
                                            </p:txEl>
                                          </p:spTgt>
                                        </p:tgtEl>
                                        <p:attrNameLst>
                                          <p:attrName>style.visibility</p:attrName>
                                        </p:attrNameLst>
                                      </p:cBhvr>
                                      <p:to>
                                        <p:strVal val="visible"/>
                                      </p:to>
                                    </p:set>
                                    <p:animEffect transition="in" filter="fade">
                                      <p:cBhvr>
                                        <p:cTn id="43" dur="2000"/>
                                        <p:tgtEl>
                                          <p:spTgt spid="41">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42">
                                            <p:txEl>
                                              <p:pRg st="0" end="0"/>
                                            </p:txEl>
                                          </p:spTgt>
                                        </p:tgtEl>
                                        <p:attrNameLst>
                                          <p:attrName>style.visibility</p:attrName>
                                        </p:attrNameLst>
                                      </p:cBhvr>
                                      <p:to>
                                        <p:strVal val="visible"/>
                                      </p:to>
                                    </p:set>
                                    <p:animEffect transition="in" filter="fade">
                                      <p:cBhvr>
                                        <p:cTn id="48" dur="2000"/>
                                        <p:tgtEl>
                                          <p:spTgt spid="42">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2">
                                            <p:txEl>
                                              <p:pRg st="1" end="1"/>
                                            </p:txEl>
                                          </p:spTgt>
                                        </p:tgtEl>
                                        <p:attrNameLst>
                                          <p:attrName>style.visibility</p:attrName>
                                        </p:attrNameLst>
                                      </p:cBhvr>
                                      <p:to>
                                        <p:strVal val="visible"/>
                                      </p:to>
                                    </p:set>
                                    <p:animEffect transition="in" filter="fade">
                                      <p:cBhvr>
                                        <p:cTn id="51" dur="2000"/>
                                        <p:tgtEl>
                                          <p:spTgt spid="42">
                                            <p:txEl>
                                              <p:pRg st="1" end="1"/>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2">
                                            <p:txEl>
                                              <p:pRg st="2" end="2"/>
                                            </p:txEl>
                                          </p:spTgt>
                                        </p:tgtEl>
                                        <p:attrNameLst>
                                          <p:attrName>style.visibility</p:attrName>
                                        </p:attrNameLst>
                                      </p:cBhvr>
                                      <p:to>
                                        <p:strVal val="visible"/>
                                      </p:to>
                                    </p:set>
                                    <p:animEffect transition="in" filter="fade">
                                      <p:cBhvr>
                                        <p:cTn id="54" dur="2000"/>
                                        <p:tgtEl>
                                          <p:spTgt spid="42">
                                            <p:txEl>
                                              <p:pRg st="2" end="2"/>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xEl>
                                              <p:pRg st="3" end="3"/>
                                            </p:txEl>
                                          </p:spTgt>
                                        </p:tgtEl>
                                        <p:attrNameLst>
                                          <p:attrName>style.visibility</p:attrName>
                                        </p:attrNameLst>
                                      </p:cBhvr>
                                      <p:to>
                                        <p:strVal val="visible"/>
                                      </p:to>
                                    </p:set>
                                    <p:animEffect transition="in" filter="fade">
                                      <p:cBhvr>
                                        <p:cTn id="57" dur="2000"/>
                                        <p:tgtEl>
                                          <p:spTgt spid="42">
                                            <p:txEl>
                                              <p:pRg st="3" end="3"/>
                                            </p:txEl>
                                          </p:spTgt>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2">
                                            <p:txEl>
                                              <p:pRg st="4" end="4"/>
                                            </p:txEl>
                                          </p:spTgt>
                                        </p:tgtEl>
                                        <p:attrNameLst>
                                          <p:attrName>style.visibility</p:attrName>
                                        </p:attrNameLst>
                                      </p:cBhvr>
                                      <p:to>
                                        <p:strVal val="visible"/>
                                      </p:to>
                                    </p:set>
                                    <p:animEffect transition="in" filter="fade">
                                      <p:cBhvr>
                                        <p:cTn id="60" dur="2000"/>
                                        <p:tgtEl>
                                          <p:spTgt spid="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P spid="22" grpId="0" build="allAtOnce"/>
      <p:bldP spid="38" grpId="0" build="allAtOnce"/>
      <p:bldP spid="40" grpId="0" build="allAtOnce"/>
      <p:bldP spid="41" grpId="0" build="allAtOnce"/>
      <p:bldP spid="42" grpId="0" build="allAtOnce"/>
    </p:bldLst>
  </p:timing>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Equivalentierelaties</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even groot als</a:t>
            </a:r>
          </a:p>
          <a:p>
            <a:r>
              <a:rPr lang="nl-NL" i="1" dirty="0" smtClean="0"/>
              <a:t>Is gelijkvorming met</a:t>
            </a:r>
          </a:p>
          <a:p>
            <a:r>
              <a:rPr lang="nl-NL" i="1" dirty="0" smtClean="0"/>
              <a:t>Weegt hetzelfde als</a:t>
            </a:r>
          </a:p>
          <a:p>
            <a:r>
              <a:rPr lang="nl-NL" i="1" dirty="0" smtClean="0"/>
              <a:t>Heeft dezelfde kleur als</a:t>
            </a:r>
          </a:p>
          <a:p>
            <a:r>
              <a:rPr lang="nl-NL" i="1" dirty="0" smtClean="0"/>
              <a:t>Is even oud als</a:t>
            </a:r>
          </a:p>
          <a:p>
            <a:r>
              <a:rPr lang="nl-NL" i="1" dirty="0" smtClean="0"/>
              <a:t>Is even lang als</a:t>
            </a:r>
          </a:p>
          <a:p>
            <a:r>
              <a:rPr lang="nl-NL" dirty="0" smtClean="0"/>
              <a:t>  </a:t>
            </a:r>
          </a:p>
          <a:p>
            <a:endParaRPr lang="nl-NL" dirty="0"/>
          </a:p>
        </p:txBody>
      </p:sp>
      <p:sp>
        <p:nvSpPr>
          <p:cNvPr id="30" name="TextBox 29"/>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reflexief</a:t>
            </a:r>
          </a:p>
          <a:p>
            <a:r>
              <a:rPr lang="nl-NL" dirty="0" smtClean="0"/>
              <a:t>2. transitief</a:t>
            </a:r>
          </a:p>
          <a:p>
            <a:r>
              <a:rPr lang="nl-NL" dirty="0" smtClean="0"/>
              <a:t>3. symmetrisch</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2000"/>
                                        <p:tgtEl>
                                          <p:spTgt spid="3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xEl>
                                              <p:pRg st="2" end="2"/>
                                            </p:txEl>
                                          </p:spTgt>
                                        </p:tgtEl>
                                        <p:attrNameLst>
                                          <p:attrName>style.visibility</p:attrName>
                                        </p:attrNameLst>
                                      </p:cBhvr>
                                      <p:to>
                                        <p:strVal val="visible"/>
                                      </p:to>
                                    </p:set>
                                    <p:animEffect transition="in" filter="fade">
                                      <p:cBhvr>
                                        <p:cTn id="10" dur="2000"/>
                                        <p:tgtEl>
                                          <p:spTgt spid="30">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xEl>
                                              <p:pRg st="3" end="3"/>
                                            </p:txEl>
                                          </p:spTgt>
                                        </p:tgtEl>
                                        <p:attrNameLst>
                                          <p:attrName>style.visibility</p:attrName>
                                        </p:attrNameLst>
                                      </p:cBhvr>
                                      <p:to>
                                        <p:strVal val="visible"/>
                                      </p:to>
                                    </p:set>
                                    <p:animEffect transition="in" filter="fade">
                                      <p:cBhvr>
                                        <p:cTn id="13" dur="2000"/>
                                        <p:tgtEl>
                                          <p:spTgt spid="30">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xEl>
                                              <p:pRg st="4" end="4"/>
                                            </p:txEl>
                                          </p:spTgt>
                                        </p:tgtEl>
                                        <p:attrNameLst>
                                          <p:attrName>style.visibility</p:attrName>
                                        </p:attrNameLst>
                                      </p:cBhvr>
                                      <p:to>
                                        <p:strVal val="visible"/>
                                      </p:to>
                                    </p:set>
                                    <p:animEffect transition="in" filter="fade">
                                      <p:cBhvr>
                                        <p:cTn id="16" dur="2000"/>
                                        <p:tgtEl>
                                          <p:spTgt spid="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p:bldLst>
  </p:timing>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Equivalentierelaties</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even groot als</a:t>
            </a:r>
          </a:p>
          <a:p>
            <a:r>
              <a:rPr lang="nl-NL" i="1" dirty="0" smtClean="0"/>
              <a:t>Is gelijkvorming met</a:t>
            </a:r>
          </a:p>
          <a:p>
            <a:r>
              <a:rPr lang="nl-NL" i="1" dirty="0" smtClean="0"/>
              <a:t>Weegt hetzelfde als</a:t>
            </a:r>
          </a:p>
          <a:p>
            <a:r>
              <a:rPr lang="nl-NL" i="1" dirty="0" smtClean="0"/>
              <a:t>Heeft dezelfde kleur als</a:t>
            </a:r>
          </a:p>
          <a:p>
            <a:r>
              <a:rPr lang="nl-NL" i="1" dirty="0" smtClean="0"/>
              <a:t>Is even oud als</a:t>
            </a:r>
          </a:p>
          <a:p>
            <a:r>
              <a:rPr lang="nl-NL" i="1" dirty="0" smtClean="0"/>
              <a:t>Is even lang als</a:t>
            </a:r>
          </a:p>
          <a:p>
            <a:r>
              <a:rPr lang="nl-NL" dirty="0" smtClean="0"/>
              <a:t>  </a:t>
            </a:r>
          </a:p>
          <a:p>
            <a:endParaRPr lang="nl-NL" dirty="0"/>
          </a:p>
        </p:txBody>
      </p:sp>
      <p:sp>
        <p:nvSpPr>
          <p:cNvPr id="10" name="Rectangle 9"/>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8" name="TextBox 27"/>
          <p:cNvSpPr txBox="1"/>
          <p:nvPr/>
        </p:nvSpPr>
        <p:spPr>
          <a:xfrm>
            <a:off x="7884368" y="4941168"/>
            <a:ext cx="1008112" cy="369332"/>
          </a:xfrm>
          <a:prstGeom prst="rect">
            <a:avLst/>
          </a:prstGeom>
          <a:noFill/>
        </p:spPr>
        <p:txBody>
          <a:bodyPr wrap="square" rtlCol="0">
            <a:spAutoFit/>
          </a:bodyPr>
          <a:lstStyle/>
          <a:p>
            <a:r>
              <a:rPr lang="nl-NL" i="1" dirty="0" smtClean="0"/>
              <a:t>Domein</a:t>
            </a:r>
            <a:endParaRPr lang="nl-NL" i="1" dirty="0"/>
          </a:p>
        </p:txBody>
      </p:sp>
      <p:sp>
        <p:nvSpPr>
          <p:cNvPr id="7" name="TextBox 6"/>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reflexief</a:t>
            </a:r>
          </a:p>
          <a:p>
            <a:r>
              <a:rPr lang="nl-NL" dirty="0" smtClean="0"/>
              <a:t>2. transitief</a:t>
            </a:r>
          </a:p>
          <a:p>
            <a:r>
              <a:rPr lang="nl-NL" dirty="0" smtClean="0"/>
              <a:t>3. symmetrisch</a:t>
            </a:r>
            <a:endParaRPr lang="nl-NL" dirty="0"/>
          </a:p>
        </p:txBody>
      </p:sp>
    </p:spTree>
  </p:cSld>
  <p:clrMapOvr>
    <a:masterClrMapping/>
  </p:clrMapOvr>
  <p:timing>
    <p:tnLst>
      <p:par>
        <p:cTn id="1" dur="indefinite" restart="never" nodeType="tmRoot"/>
      </p:par>
    </p:tnLst>
  </p:timing>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Equivalentierelaties</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even groot als</a:t>
            </a:r>
          </a:p>
          <a:p>
            <a:r>
              <a:rPr lang="nl-NL" i="1" dirty="0" smtClean="0"/>
              <a:t>Is gelijkvorming met</a:t>
            </a:r>
          </a:p>
          <a:p>
            <a:r>
              <a:rPr lang="nl-NL" i="1" dirty="0" smtClean="0"/>
              <a:t>Weegt hetzelfde als</a:t>
            </a:r>
          </a:p>
          <a:p>
            <a:r>
              <a:rPr lang="nl-NL" i="1" dirty="0" smtClean="0"/>
              <a:t>Heeft dezelfde kleur als</a:t>
            </a:r>
          </a:p>
          <a:p>
            <a:r>
              <a:rPr lang="nl-NL" i="1" dirty="0" smtClean="0"/>
              <a:t>Is even oud als</a:t>
            </a:r>
          </a:p>
          <a:p>
            <a:r>
              <a:rPr lang="nl-NL" i="1" dirty="0" smtClean="0"/>
              <a:t>Is even lang als</a:t>
            </a:r>
          </a:p>
          <a:p>
            <a:r>
              <a:rPr lang="nl-NL" dirty="0" smtClean="0"/>
              <a:t>  </a:t>
            </a:r>
          </a:p>
          <a:p>
            <a:endParaRPr lang="nl-NL" dirty="0"/>
          </a:p>
        </p:txBody>
      </p:sp>
      <p:sp>
        <p:nvSpPr>
          <p:cNvPr id="10" name="Rectangle 9"/>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5796136"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740352"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0" idx="0"/>
            <a:endCxn id="10" idx="2"/>
          </p:cNvCxnSpPr>
          <p:nvPr/>
        </p:nvCxnSpPr>
        <p:spPr>
          <a:xfrm>
            <a:off x="6804248"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0" idx="1"/>
            <a:endCxn id="10" idx="3"/>
          </p:cNvCxnSpPr>
          <p:nvPr/>
        </p:nvCxnSpPr>
        <p:spPr>
          <a:xfrm>
            <a:off x="4860032" y="3248980"/>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860032" y="2420888"/>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860032" y="4005064"/>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884368" y="4941168"/>
            <a:ext cx="1008112" cy="369332"/>
          </a:xfrm>
          <a:prstGeom prst="rect">
            <a:avLst/>
          </a:prstGeom>
          <a:noFill/>
        </p:spPr>
        <p:txBody>
          <a:bodyPr wrap="square" rtlCol="0">
            <a:spAutoFit/>
          </a:bodyPr>
          <a:lstStyle/>
          <a:p>
            <a:r>
              <a:rPr lang="nl-NL" i="1" dirty="0" smtClean="0"/>
              <a:t>Domein</a:t>
            </a:r>
            <a:endParaRPr lang="nl-NL" i="1" dirty="0"/>
          </a:p>
        </p:txBody>
      </p:sp>
      <p:sp>
        <p:nvSpPr>
          <p:cNvPr id="12" name="TextBox 11"/>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reflexief</a:t>
            </a:r>
          </a:p>
          <a:p>
            <a:r>
              <a:rPr lang="nl-NL" dirty="0" smtClean="0"/>
              <a:t>2. transitief</a:t>
            </a:r>
          </a:p>
          <a:p>
            <a:r>
              <a:rPr lang="nl-NL" dirty="0" smtClean="0"/>
              <a:t>3. symmetrisch</a:t>
            </a:r>
            <a:endParaRPr lang="nl-NL" dirty="0"/>
          </a:p>
        </p:txBody>
      </p:sp>
    </p:spTree>
  </p:cSld>
  <p:clrMapOvr>
    <a:masterClrMapping/>
  </p:clrMapOvr>
  <p:timing>
    <p:tnLst>
      <p:par>
        <p:cTn id="1" dur="indefinite" restart="never" nodeType="tmRoot"/>
      </p:par>
    </p:tnLst>
  </p:timing>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Equivalentierelaties</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even groot als</a:t>
            </a:r>
          </a:p>
          <a:p>
            <a:r>
              <a:rPr lang="nl-NL" i="1" dirty="0" smtClean="0"/>
              <a:t>Is gelijkvorming met</a:t>
            </a:r>
          </a:p>
          <a:p>
            <a:r>
              <a:rPr lang="nl-NL" i="1" dirty="0" smtClean="0"/>
              <a:t>Weegt hetzelfde als</a:t>
            </a:r>
          </a:p>
          <a:p>
            <a:r>
              <a:rPr lang="nl-NL" i="1" dirty="0" smtClean="0"/>
              <a:t>Heeft dezelfde kleur als</a:t>
            </a:r>
          </a:p>
          <a:p>
            <a:r>
              <a:rPr lang="nl-NL" i="1" dirty="0" smtClean="0"/>
              <a:t>Is even oud als</a:t>
            </a:r>
          </a:p>
          <a:p>
            <a:r>
              <a:rPr lang="nl-NL" i="1" dirty="0" smtClean="0"/>
              <a:t>Is even lang als</a:t>
            </a:r>
          </a:p>
          <a:p>
            <a:r>
              <a:rPr lang="nl-NL" dirty="0" smtClean="0"/>
              <a:t>  </a:t>
            </a:r>
          </a:p>
          <a:p>
            <a:endParaRPr lang="nl-NL" dirty="0"/>
          </a:p>
        </p:txBody>
      </p:sp>
      <p:sp>
        <p:nvSpPr>
          <p:cNvPr id="10" name="Rectangle 9"/>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5796136"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740352"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0" idx="0"/>
            <a:endCxn id="10" idx="2"/>
          </p:cNvCxnSpPr>
          <p:nvPr/>
        </p:nvCxnSpPr>
        <p:spPr>
          <a:xfrm>
            <a:off x="6804248"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0" idx="1"/>
            <a:endCxn id="10" idx="3"/>
          </p:cNvCxnSpPr>
          <p:nvPr/>
        </p:nvCxnSpPr>
        <p:spPr>
          <a:xfrm>
            <a:off x="4860032" y="3248980"/>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860032" y="2420888"/>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860032" y="4005064"/>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884368" y="4941168"/>
            <a:ext cx="1008112" cy="369332"/>
          </a:xfrm>
          <a:prstGeom prst="rect">
            <a:avLst/>
          </a:prstGeom>
          <a:noFill/>
        </p:spPr>
        <p:txBody>
          <a:bodyPr wrap="square" rtlCol="0">
            <a:spAutoFit/>
          </a:bodyPr>
          <a:lstStyle/>
          <a:p>
            <a:r>
              <a:rPr lang="nl-NL" i="1" dirty="0" smtClean="0"/>
              <a:t>Domein</a:t>
            </a:r>
            <a:endParaRPr lang="nl-NL" i="1" dirty="0"/>
          </a:p>
        </p:txBody>
      </p:sp>
      <p:sp>
        <p:nvSpPr>
          <p:cNvPr id="13" name="Freeform 12"/>
          <p:cNvSpPr/>
          <p:nvPr/>
        </p:nvSpPr>
        <p:spPr>
          <a:xfrm>
            <a:off x="3546143" y="4437112"/>
            <a:ext cx="1708245" cy="709683"/>
          </a:xfrm>
          <a:custGeom>
            <a:avLst/>
            <a:gdLst>
              <a:gd name="connsiteX0" fmla="*/ 1708245 w 1708245"/>
              <a:gd name="connsiteY0" fmla="*/ 0 h 709683"/>
              <a:gd name="connsiteX1" fmla="*/ 152400 w 1708245"/>
              <a:gd name="connsiteY1" fmla="*/ 518615 h 709683"/>
              <a:gd name="connsiteX2" fmla="*/ 793845 w 1708245"/>
              <a:gd name="connsiteY2" fmla="*/ 709683 h 709683"/>
            </a:gdLst>
            <a:ahLst/>
            <a:cxnLst>
              <a:cxn ang="0">
                <a:pos x="connsiteX0" y="connsiteY0"/>
              </a:cxn>
              <a:cxn ang="0">
                <a:pos x="connsiteX1" y="connsiteY1"/>
              </a:cxn>
              <a:cxn ang="0">
                <a:pos x="connsiteX2" y="connsiteY2"/>
              </a:cxn>
            </a:cxnLst>
            <a:rect l="l" t="t" r="r" b="b"/>
            <a:pathLst>
              <a:path w="1708245" h="709683">
                <a:moveTo>
                  <a:pt x="1708245" y="0"/>
                </a:moveTo>
                <a:cubicBezTo>
                  <a:pt x="1006522" y="200167"/>
                  <a:pt x="304800" y="400335"/>
                  <a:pt x="152400" y="518615"/>
                </a:cubicBezTo>
                <a:cubicBezTo>
                  <a:pt x="0" y="636895"/>
                  <a:pt x="396922" y="673289"/>
                  <a:pt x="793845" y="709683"/>
                </a:cubicBezTo>
              </a:path>
            </a:pathLst>
          </a:cu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4" name="TextBox 13"/>
          <p:cNvSpPr txBox="1"/>
          <p:nvPr/>
        </p:nvSpPr>
        <p:spPr>
          <a:xfrm>
            <a:off x="4355976" y="5013176"/>
            <a:ext cx="2160240" cy="369332"/>
          </a:xfrm>
          <a:prstGeom prst="rect">
            <a:avLst/>
          </a:prstGeom>
          <a:noFill/>
        </p:spPr>
        <p:txBody>
          <a:bodyPr wrap="square" rtlCol="0">
            <a:spAutoFit/>
          </a:bodyPr>
          <a:lstStyle/>
          <a:p>
            <a:r>
              <a:rPr lang="nl-NL" b="1" dirty="0" smtClean="0"/>
              <a:t>Equivalentieklasse</a:t>
            </a:r>
            <a:endParaRPr lang="nl-NL" b="1" dirty="0"/>
          </a:p>
        </p:txBody>
      </p:sp>
      <p:sp>
        <p:nvSpPr>
          <p:cNvPr id="17" name="TextBox 16"/>
          <p:cNvSpPr txBox="1"/>
          <p:nvPr/>
        </p:nvSpPr>
        <p:spPr>
          <a:xfrm>
            <a:off x="5364088" y="5589240"/>
            <a:ext cx="2808312" cy="646331"/>
          </a:xfrm>
          <a:prstGeom prst="rect">
            <a:avLst/>
          </a:prstGeom>
          <a:noFill/>
        </p:spPr>
        <p:txBody>
          <a:bodyPr wrap="square" rtlCol="0">
            <a:spAutoFit/>
          </a:bodyPr>
          <a:lstStyle/>
          <a:p>
            <a:r>
              <a:rPr lang="nl-NL" dirty="0" smtClean="0"/>
              <a:t>In dit voorbeeld zijn er dus 16 equivalentieklassen</a:t>
            </a:r>
            <a:endParaRPr lang="nl-NL" dirty="0"/>
          </a:p>
        </p:txBody>
      </p:sp>
      <p:sp>
        <p:nvSpPr>
          <p:cNvPr id="21" name="TextBox 20"/>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reflexief</a:t>
            </a:r>
          </a:p>
          <a:p>
            <a:r>
              <a:rPr lang="nl-NL" dirty="0" smtClean="0"/>
              <a:t>2. transitief</a:t>
            </a:r>
          </a:p>
          <a:p>
            <a:r>
              <a:rPr lang="nl-NL" dirty="0" smtClean="0"/>
              <a:t>3. symmetrisch</a:t>
            </a:r>
            <a:endParaRPr lang="nl-NL" dirty="0"/>
          </a:p>
        </p:txBody>
      </p:sp>
      <p:sp>
        <p:nvSpPr>
          <p:cNvPr id="22" name="TextBox 21"/>
          <p:cNvSpPr txBox="1"/>
          <p:nvPr/>
        </p:nvSpPr>
        <p:spPr>
          <a:xfrm>
            <a:off x="323528" y="5805264"/>
            <a:ext cx="2952328" cy="646331"/>
          </a:xfrm>
          <a:prstGeom prst="rect">
            <a:avLst/>
          </a:prstGeom>
          <a:noFill/>
        </p:spPr>
        <p:txBody>
          <a:bodyPr wrap="square" rtlCol="0">
            <a:spAutoFit/>
          </a:bodyPr>
          <a:lstStyle/>
          <a:p>
            <a:r>
              <a:rPr lang="nl-NL" dirty="0" smtClean="0"/>
              <a:t>We noemen dit soort relaties daarom </a:t>
            </a:r>
            <a:r>
              <a:rPr lang="nl-NL" b="1" dirty="0" smtClean="0"/>
              <a:t>equivalentierelaties</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xEl>
                                              <p:pRg st="0" end="0"/>
                                            </p:txEl>
                                          </p:spTgt>
                                        </p:tgtEl>
                                        <p:attrNameLst>
                                          <p:attrName>style.visibility</p:attrName>
                                        </p:attrNameLst>
                                      </p:cBhvr>
                                      <p:to>
                                        <p:strVal val="visible"/>
                                      </p:to>
                                    </p:set>
                                    <p:animEffect transition="in" filter="fade">
                                      <p:cBhvr>
                                        <p:cTn id="12" dur="2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22" grpId="0" build="allAtOnce"/>
    </p:bldLst>
  </p:timing>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Equivalentierelaties</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even groot als</a:t>
            </a:r>
          </a:p>
          <a:p>
            <a:r>
              <a:rPr lang="nl-NL" i="1" dirty="0" smtClean="0"/>
              <a:t>Is gelijkvorming met</a:t>
            </a:r>
          </a:p>
          <a:p>
            <a:r>
              <a:rPr lang="nl-NL" i="1" dirty="0" smtClean="0"/>
              <a:t>Weegt hetzelfde als</a:t>
            </a:r>
          </a:p>
          <a:p>
            <a:r>
              <a:rPr lang="nl-NL" i="1" dirty="0" smtClean="0"/>
              <a:t>Heeft dezelfde kleur als</a:t>
            </a:r>
          </a:p>
          <a:p>
            <a:r>
              <a:rPr lang="nl-NL" i="1" dirty="0" smtClean="0"/>
              <a:t>Is even oud als</a:t>
            </a:r>
          </a:p>
          <a:p>
            <a:r>
              <a:rPr lang="nl-NL" i="1" dirty="0" smtClean="0"/>
              <a:t>Is even lang als</a:t>
            </a:r>
          </a:p>
          <a:p>
            <a:r>
              <a:rPr lang="nl-NL" dirty="0" smtClean="0"/>
              <a:t>  </a:t>
            </a:r>
          </a:p>
          <a:p>
            <a:endParaRPr lang="nl-NL" dirty="0"/>
          </a:p>
        </p:txBody>
      </p:sp>
      <p:sp>
        <p:nvSpPr>
          <p:cNvPr id="10" name="Rectangle 9"/>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5796136"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740352"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0" idx="0"/>
            <a:endCxn id="10" idx="2"/>
          </p:cNvCxnSpPr>
          <p:nvPr/>
        </p:nvCxnSpPr>
        <p:spPr>
          <a:xfrm>
            <a:off x="6804248"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0" idx="1"/>
            <a:endCxn id="10" idx="3"/>
          </p:cNvCxnSpPr>
          <p:nvPr/>
        </p:nvCxnSpPr>
        <p:spPr>
          <a:xfrm>
            <a:off x="4860032" y="3248980"/>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860032" y="2420888"/>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860032" y="4005064"/>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884368" y="4941168"/>
            <a:ext cx="1008112" cy="369332"/>
          </a:xfrm>
          <a:prstGeom prst="rect">
            <a:avLst/>
          </a:prstGeom>
          <a:noFill/>
        </p:spPr>
        <p:txBody>
          <a:bodyPr wrap="square" rtlCol="0">
            <a:spAutoFit/>
          </a:bodyPr>
          <a:lstStyle/>
          <a:p>
            <a:r>
              <a:rPr lang="nl-NL" i="1" dirty="0" smtClean="0"/>
              <a:t>Domein</a:t>
            </a:r>
            <a:endParaRPr lang="nl-NL" i="1" dirty="0"/>
          </a:p>
        </p:txBody>
      </p:sp>
      <p:sp>
        <p:nvSpPr>
          <p:cNvPr id="13" name="Freeform 12"/>
          <p:cNvSpPr/>
          <p:nvPr/>
        </p:nvSpPr>
        <p:spPr>
          <a:xfrm>
            <a:off x="3546143" y="4437112"/>
            <a:ext cx="1708245" cy="709683"/>
          </a:xfrm>
          <a:custGeom>
            <a:avLst/>
            <a:gdLst>
              <a:gd name="connsiteX0" fmla="*/ 1708245 w 1708245"/>
              <a:gd name="connsiteY0" fmla="*/ 0 h 709683"/>
              <a:gd name="connsiteX1" fmla="*/ 152400 w 1708245"/>
              <a:gd name="connsiteY1" fmla="*/ 518615 h 709683"/>
              <a:gd name="connsiteX2" fmla="*/ 793845 w 1708245"/>
              <a:gd name="connsiteY2" fmla="*/ 709683 h 709683"/>
            </a:gdLst>
            <a:ahLst/>
            <a:cxnLst>
              <a:cxn ang="0">
                <a:pos x="connsiteX0" y="connsiteY0"/>
              </a:cxn>
              <a:cxn ang="0">
                <a:pos x="connsiteX1" y="connsiteY1"/>
              </a:cxn>
              <a:cxn ang="0">
                <a:pos x="connsiteX2" y="connsiteY2"/>
              </a:cxn>
            </a:cxnLst>
            <a:rect l="l" t="t" r="r" b="b"/>
            <a:pathLst>
              <a:path w="1708245" h="709683">
                <a:moveTo>
                  <a:pt x="1708245" y="0"/>
                </a:moveTo>
                <a:cubicBezTo>
                  <a:pt x="1006522" y="200167"/>
                  <a:pt x="304800" y="400335"/>
                  <a:pt x="152400" y="518615"/>
                </a:cubicBezTo>
                <a:cubicBezTo>
                  <a:pt x="0" y="636895"/>
                  <a:pt x="396922" y="673289"/>
                  <a:pt x="793845" y="709683"/>
                </a:cubicBezTo>
              </a:path>
            </a:pathLst>
          </a:cu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4" name="TextBox 13"/>
          <p:cNvSpPr txBox="1"/>
          <p:nvPr/>
        </p:nvSpPr>
        <p:spPr>
          <a:xfrm>
            <a:off x="4355976" y="5013176"/>
            <a:ext cx="2160240" cy="369332"/>
          </a:xfrm>
          <a:prstGeom prst="rect">
            <a:avLst/>
          </a:prstGeom>
          <a:noFill/>
        </p:spPr>
        <p:txBody>
          <a:bodyPr wrap="square" rtlCol="0">
            <a:spAutoFit/>
          </a:bodyPr>
          <a:lstStyle/>
          <a:p>
            <a:r>
              <a:rPr lang="nl-NL" b="1" dirty="0" smtClean="0"/>
              <a:t>Equivalentieklasse</a:t>
            </a:r>
            <a:endParaRPr lang="nl-NL" b="1" dirty="0"/>
          </a:p>
        </p:txBody>
      </p:sp>
      <p:sp>
        <p:nvSpPr>
          <p:cNvPr id="21" name="TextBox 20"/>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reflexief</a:t>
            </a:r>
          </a:p>
          <a:p>
            <a:r>
              <a:rPr lang="nl-NL" dirty="0" smtClean="0"/>
              <a:t>2. transitief</a:t>
            </a:r>
          </a:p>
          <a:p>
            <a:r>
              <a:rPr lang="nl-NL" dirty="0" smtClean="0"/>
              <a:t>3. symmetrisch</a:t>
            </a:r>
            <a:endParaRPr lang="nl-NL" dirty="0"/>
          </a:p>
        </p:txBody>
      </p:sp>
      <p:sp>
        <p:nvSpPr>
          <p:cNvPr id="24" name="TextBox 23"/>
          <p:cNvSpPr txBox="1"/>
          <p:nvPr/>
        </p:nvSpPr>
        <p:spPr>
          <a:xfrm>
            <a:off x="4211960" y="5723964"/>
            <a:ext cx="5508104" cy="369332"/>
          </a:xfrm>
          <a:prstGeom prst="rect">
            <a:avLst/>
          </a:prstGeom>
          <a:noFill/>
        </p:spPr>
        <p:txBody>
          <a:bodyPr wrap="square" rtlCol="0">
            <a:spAutoFit/>
          </a:bodyPr>
          <a:lstStyle/>
          <a:p>
            <a:r>
              <a:rPr lang="nl-NL" dirty="0" smtClean="0"/>
              <a:t>Vullen equivalentierelaties altijd het hele domein? </a:t>
            </a:r>
            <a:endParaRPr lang="nl-NL" dirty="0"/>
          </a:p>
        </p:txBody>
      </p:sp>
      <p:sp>
        <p:nvSpPr>
          <p:cNvPr id="26" name="TextBox 25"/>
          <p:cNvSpPr txBox="1"/>
          <p:nvPr/>
        </p:nvSpPr>
        <p:spPr>
          <a:xfrm>
            <a:off x="4211960" y="6093296"/>
            <a:ext cx="5472608" cy="646331"/>
          </a:xfrm>
          <a:prstGeom prst="rect">
            <a:avLst/>
          </a:prstGeom>
          <a:noFill/>
        </p:spPr>
        <p:txBody>
          <a:bodyPr wrap="square" rtlCol="0">
            <a:spAutoFit/>
          </a:bodyPr>
          <a:lstStyle/>
          <a:p>
            <a:r>
              <a:rPr lang="nl-NL" dirty="0" smtClean="0"/>
              <a:t>Nee! Neem maar de relatie ‘weegt hetzelfde als’                   en als domein ‘dingen met en zonder massa’</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20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allAtOnce"/>
    </p:bldLst>
  </p:timing>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4211960" y="1340768"/>
            <a:ext cx="4536504" cy="345638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le 1"/>
          <p:cNvSpPr>
            <a:spLocks noGrp="1"/>
          </p:cNvSpPr>
          <p:nvPr>
            <p:ph type="title"/>
          </p:nvPr>
        </p:nvSpPr>
        <p:spPr/>
        <p:txBody>
          <a:bodyPr>
            <a:normAutofit/>
          </a:bodyPr>
          <a:lstStyle/>
          <a:p>
            <a:r>
              <a:rPr lang="nl-NL" sz="3600" dirty="0" smtClean="0"/>
              <a:t>Equivalentierelaties</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even groot als</a:t>
            </a:r>
          </a:p>
          <a:p>
            <a:r>
              <a:rPr lang="nl-NL" i="1" dirty="0" smtClean="0"/>
              <a:t>Is gelijkvorming met</a:t>
            </a:r>
          </a:p>
          <a:p>
            <a:r>
              <a:rPr lang="nl-NL" i="1" dirty="0" smtClean="0"/>
              <a:t>Weegt hetzelfde als</a:t>
            </a:r>
          </a:p>
          <a:p>
            <a:r>
              <a:rPr lang="nl-NL" i="1" dirty="0" smtClean="0"/>
              <a:t>Heeft dezelfde kleur als</a:t>
            </a:r>
          </a:p>
          <a:p>
            <a:r>
              <a:rPr lang="nl-NL" i="1" dirty="0" smtClean="0"/>
              <a:t>Is even oud als</a:t>
            </a:r>
          </a:p>
          <a:p>
            <a:r>
              <a:rPr lang="nl-NL" i="1" dirty="0" smtClean="0"/>
              <a:t>Is even lang als</a:t>
            </a:r>
          </a:p>
          <a:p>
            <a:r>
              <a:rPr lang="nl-NL" dirty="0" smtClean="0"/>
              <a:t>  </a:t>
            </a:r>
          </a:p>
          <a:p>
            <a:endParaRPr lang="nl-NL" dirty="0"/>
          </a:p>
        </p:txBody>
      </p:sp>
      <p:sp>
        <p:nvSpPr>
          <p:cNvPr id="10" name="Rectangle 9"/>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6" name="Straight Connector 15"/>
          <p:cNvCxnSpPr/>
          <p:nvPr/>
        </p:nvCxnSpPr>
        <p:spPr>
          <a:xfrm>
            <a:off x="5796136"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7740352"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0" idx="0"/>
            <a:endCxn id="10" idx="2"/>
          </p:cNvCxnSpPr>
          <p:nvPr/>
        </p:nvCxnSpPr>
        <p:spPr>
          <a:xfrm>
            <a:off x="6804248" y="1700808"/>
            <a:ext cx="0" cy="3096344"/>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0" idx="1"/>
            <a:endCxn id="10" idx="3"/>
          </p:cNvCxnSpPr>
          <p:nvPr/>
        </p:nvCxnSpPr>
        <p:spPr>
          <a:xfrm>
            <a:off x="4860032" y="3248980"/>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4860032" y="2420888"/>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860032" y="4005064"/>
            <a:ext cx="388843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7884368" y="4941168"/>
            <a:ext cx="1008112" cy="400110"/>
          </a:xfrm>
          <a:prstGeom prst="rect">
            <a:avLst/>
          </a:prstGeom>
          <a:noFill/>
        </p:spPr>
        <p:txBody>
          <a:bodyPr wrap="square" rtlCol="0">
            <a:spAutoFit/>
          </a:bodyPr>
          <a:lstStyle/>
          <a:p>
            <a:r>
              <a:rPr lang="nl-NL" sz="2000" b="1" i="1" dirty="0" smtClean="0">
                <a:solidFill>
                  <a:srgbClr val="0070C0"/>
                </a:solidFill>
              </a:rPr>
              <a:t>Domein</a:t>
            </a:r>
            <a:endParaRPr lang="nl-NL" sz="2000" b="1" i="1" dirty="0">
              <a:solidFill>
                <a:srgbClr val="0070C0"/>
              </a:solidFill>
            </a:endParaRPr>
          </a:p>
        </p:txBody>
      </p:sp>
      <p:sp>
        <p:nvSpPr>
          <p:cNvPr id="13" name="Freeform 12"/>
          <p:cNvSpPr/>
          <p:nvPr/>
        </p:nvSpPr>
        <p:spPr>
          <a:xfrm>
            <a:off x="3546143" y="4437112"/>
            <a:ext cx="1708245" cy="709683"/>
          </a:xfrm>
          <a:custGeom>
            <a:avLst/>
            <a:gdLst>
              <a:gd name="connsiteX0" fmla="*/ 1708245 w 1708245"/>
              <a:gd name="connsiteY0" fmla="*/ 0 h 709683"/>
              <a:gd name="connsiteX1" fmla="*/ 152400 w 1708245"/>
              <a:gd name="connsiteY1" fmla="*/ 518615 h 709683"/>
              <a:gd name="connsiteX2" fmla="*/ 793845 w 1708245"/>
              <a:gd name="connsiteY2" fmla="*/ 709683 h 709683"/>
            </a:gdLst>
            <a:ahLst/>
            <a:cxnLst>
              <a:cxn ang="0">
                <a:pos x="connsiteX0" y="connsiteY0"/>
              </a:cxn>
              <a:cxn ang="0">
                <a:pos x="connsiteX1" y="connsiteY1"/>
              </a:cxn>
              <a:cxn ang="0">
                <a:pos x="connsiteX2" y="connsiteY2"/>
              </a:cxn>
            </a:cxnLst>
            <a:rect l="l" t="t" r="r" b="b"/>
            <a:pathLst>
              <a:path w="1708245" h="709683">
                <a:moveTo>
                  <a:pt x="1708245" y="0"/>
                </a:moveTo>
                <a:cubicBezTo>
                  <a:pt x="1006522" y="200167"/>
                  <a:pt x="304800" y="400335"/>
                  <a:pt x="152400" y="518615"/>
                </a:cubicBezTo>
                <a:cubicBezTo>
                  <a:pt x="0" y="636895"/>
                  <a:pt x="396922" y="673289"/>
                  <a:pt x="793845" y="709683"/>
                </a:cubicBezTo>
              </a:path>
            </a:pathLst>
          </a:cu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nl-NL"/>
          </a:p>
        </p:txBody>
      </p:sp>
      <p:sp>
        <p:nvSpPr>
          <p:cNvPr id="14" name="TextBox 13"/>
          <p:cNvSpPr txBox="1"/>
          <p:nvPr/>
        </p:nvSpPr>
        <p:spPr>
          <a:xfrm>
            <a:off x="4355976" y="5013176"/>
            <a:ext cx="2160240" cy="369332"/>
          </a:xfrm>
          <a:prstGeom prst="rect">
            <a:avLst/>
          </a:prstGeom>
          <a:noFill/>
        </p:spPr>
        <p:txBody>
          <a:bodyPr wrap="square" rtlCol="0">
            <a:spAutoFit/>
          </a:bodyPr>
          <a:lstStyle/>
          <a:p>
            <a:r>
              <a:rPr lang="nl-NL" b="1" dirty="0" smtClean="0"/>
              <a:t>Equivalentieklasse</a:t>
            </a:r>
            <a:endParaRPr lang="nl-NL" b="1" dirty="0"/>
          </a:p>
        </p:txBody>
      </p:sp>
      <p:sp>
        <p:nvSpPr>
          <p:cNvPr id="21" name="TextBox 20"/>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reflexief</a:t>
            </a:r>
          </a:p>
          <a:p>
            <a:r>
              <a:rPr lang="nl-NL" dirty="0" smtClean="0"/>
              <a:t>2. transitief</a:t>
            </a:r>
          </a:p>
          <a:p>
            <a:r>
              <a:rPr lang="nl-NL" dirty="0" smtClean="0"/>
              <a:t>3. symmetrisch</a:t>
            </a:r>
            <a:endParaRPr lang="nl-NL" dirty="0"/>
          </a:p>
        </p:txBody>
      </p:sp>
      <p:sp>
        <p:nvSpPr>
          <p:cNvPr id="24" name="TextBox 23"/>
          <p:cNvSpPr txBox="1"/>
          <p:nvPr/>
        </p:nvSpPr>
        <p:spPr>
          <a:xfrm>
            <a:off x="4211960" y="5723964"/>
            <a:ext cx="5508104" cy="369332"/>
          </a:xfrm>
          <a:prstGeom prst="rect">
            <a:avLst/>
          </a:prstGeom>
          <a:noFill/>
        </p:spPr>
        <p:txBody>
          <a:bodyPr wrap="square" rtlCol="0">
            <a:spAutoFit/>
          </a:bodyPr>
          <a:lstStyle/>
          <a:p>
            <a:r>
              <a:rPr lang="nl-NL" dirty="0" smtClean="0"/>
              <a:t>Vullen equivalentierelaties altijd het hele domein? </a:t>
            </a:r>
            <a:endParaRPr lang="nl-NL" dirty="0"/>
          </a:p>
        </p:txBody>
      </p:sp>
      <p:sp>
        <p:nvSpPr>
          <p:cNvPr id="26" name="TextBox 25"/>
          <p:cNvSpPr txBox="1"/>
          <p:nvPr/>
        </p:nvSpPr>
        <p:spPr>
          <a:xfrm>
            <a:off x="4211960" y="6093296"/>
            <a:ext cx="5472608" cy="646331"/>
          </a:xfrm>
          <a:prstGeom prst="rect">
            <a:avLst/>
          </a:prstGeom>
          <a:noFill/>
        </p:spPr>
        <p:txBody>
          <a:bodyPr wrap="square" rtlCol="0">
            <a:spAutoFit/>
          </a:bodyPr>
          <a:lstStyle/>
          <a:p>
            <a:r>
              <a:rPr lang="nl-NL" dirty="0" smtClean="0"/>
              <a:t>Nee! Neem maar de relatie ‘weegt hetzelfde als’                   en als domein ‘dingen met en zonder massa’</a:t>
            </a:r>
            <a:endParaRPr lang="nl-NL" dirty="0"/>
          </a:p>
        </p:txBody>
      </p:sp>
    </p:spTree>
  </p:cSld>
  <p:clrMapOvr>
    <a:masterClrMapping/>
  </p:clrMapOvr>
  <p:timing>
    <p:tnLst>
      <p:par>
        <p:cTn id="1" dur="indefinite" restart="never" nodeType="tmRoot"/>
      </p:par>
    </p:tnLst>
  </p:timing>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Ordeningsrelaties (partiële ordeningen)</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groter dan</a:t>
            </a:r>
          </a:p>
          <a:p>
            <a:r>
              <a:rPr lang="nl-NL" i="1" dirty="0" smtClean="0"/>
              <a:t>Is langer dan</a:t>
            </a:r>
          </a:p>
          <a:p>
            <a:r>
              <a:rPr lang="nl-NL" i="1" dirty="0" smtClean="0"/>
              <a:t>Ligt links van</a:t>
            </a:r>
          </a:p>
          <a:p>
            <a:r>
              <a:rPr lang="nl-NL" i="1" dirty="0" smtClean="0"/>
              <a:t>Is zwaarder dan</a:t>
            </a:r>
          </a:p>
          <a:p>
            <a:r>
              <a:rPr lang="nl-NL" i="1" dirty="0" smtClean="0"/>
              <a:t>Ligt ten noorden van</a:t>
            </a:r>
          </a:p>
          <a:p>
            <a:r>
              <a:rPr lang="nl-NL" i="1" dirty="0" smtClean="0"/>
              <a:t>Is later dan</a:t>
            </a:r>
          </a:p>
          <a:p>
            <a:r>
              <a:rPr lang="nl-NL" dirty="0" smtClean="0"/>
              <a:t>  </a:t>
            </a:r>
          </a:p>
          <a:p>
            <a:endParaRPr lang="nl-NL" dirty="0"/>
          </a:p>
        </p:txBody>
      </p:sp>
      <p:sp>
        <p:nvSpPr>
          <p:cNvPr id="30" name="TextBox 29"/>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a:t>
            </a:r>
            <a:r>
              <a:rPr lang="nl-NL" dirty="0" err="1" smtClean="0"/>
              <a:t>irreflexief</a:t>
            </a:r>
            <a:endParaRPr lang="nl-NL" dirty="0" smtClean="0"/>
          </a:p>
          <a:p>
            <a:r>
              <a:rPr lang="nl-NL" dirty="0" smtClean="0"/>
              <a:t>2. asymmetrisch</a:t>
            </a:r>
          </a:p>
          <a:p>
            <a:r>
              <a:rPr lang="nl-NL" dirty="0" smtClean="0"/>
              <a:t>3. transitief</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fade">
                                      <p:cBhvr>
                                        <p:cTn id="7" dur="2000"/>
                                        <p:tgtEl>
                                          <p:spTgt spid="3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
                                            <p:txEl>
                                              <p:pRg st="2" end="2"/>
                                            </p:txEl>
                                          </p:spTgt>
                                        </p:tgtEl>
                                        <p:attrNameLst>
                                          <p:attrName>style.visibility</p:attrName>
                                        </p:attrNameLst>
                                      </p:cBhvr>
                                      <p:to>
                                        <p:strVal val="visible"/>
                                      </p:to>
                                    </p:set>
                                    <p:animEffect transition="in" filter="fade">
                                      <p:cBhvr>
                                        <p:cTn id="10" dur="2000"/>
                                        <p:tgtEl>
                                          <p:spTgt spid="30">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xEl>
                                              <p:pRg st="3" end="3"/>
                                            </p:txEl>
                                          </p:spTgt>
                                        </p:tgtEl>
                                        <p:attrNameLst>
                                          <p:attrName>style.visibility</p:attrName>
                                        </p:attrNameLst>
                                      </p:cBhvr>
                                      <p:to>
                                        <p:strVal val="visible"/>
                                      </p:to>
                                    </p:set>
                                    <p:animEffect transition="in" filter="fade">
                                      <p:cBhvr>
                                        <p:cTn id="13" dur="2000"/>
                                        <p:tgtEl>
                                          <p:spTgt spid="30">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xEl>
                                              <p:pRg st="4" end="4"/>
                                            </p:txEl>
                                          </p:spTgt>
                                        </p:tgtEl>
                                        <p:attrNameLst>
                                          <p:attrName>style.visibility</p:attrName>
                                        </p:attrNameLst>
                                      </p:cBhvr>
                                      <p:to>
                                        <p:strVal val="visible"/>
                                      </p:to>
                                    </p:set>
                                    <p:animEffect transition="in" filter="fade">
                                      <p:cBhvr>
                                        <p:cTn id="16" dur="2000"/>
                                        <p:tgtEl>
                                          <p:spTgt spid="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uild="allAtOnce"/>
    </p:bldLst>
  </p:timing>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Ordeningsrelaties (partiële ordeningen)</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groter dan</a:t>
            </a:r>
          </a:p>
          <a:p>
            <a:r>
              <a:rPr lang="nl-NL" i="1" dirty="0" smtClean="0"/>
              <a:t>Is langer dan</a:t>
            </a:r>
          </a:p>
          <a:p>
            <a:r>
              <a:rPr lang="nl-NL" i="1" dirty="0" smtClean="0"/>
              <a:t>Ligt links van</a:t>
            </a:r>
          </a:p>
          <a:p>
            <a:r>
              <a:rPr lang="nl-NL" i="1" dirty="0" smtClean="0"/>
              <a:t>Is zwaarder dan</a:t>
            </a:r>
          </a:p>
          <a:p>
            <a:r>
              <a:rPr lang="nl-NL" i="1" dirty="0" smtClean="0"/>
              <a:t>Ligt ten noorden van</a:t>
            </a:r>
          </a:p>
          <a:p>
            <a:r>
              <a:rPr lang="nl-NL" i="1" dirty="0" smtClean="0"/>
              <a:t>Is later dan</a:t>
            </a:r>
          </a:p>
          <a:p>
            <a:r>
              <a:rPr lang="nl-NL" dirty="0" smtClean="0"/>
              <a:t>  </a:t>
            </a:r>
          </a:p>
          <a:p>
            <a:endParaRPr lang="nl-NL" dirty="0"/>
          </a:p>
        </p:txBody>
      </p:sp>
      <p:sp>
        <p:nvSpPr>
          <p:cNvPr id="30" name="TextBox 29"/>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a:t>
            </a:r>
            <a:r>
              <a:rPr lang="nl-NL" dirty="0" err="1" smtClean="0"/>
              <a:t>irreflexief</a:t>
            </a:r>
            <a:endParaRPr lang="nl-NL" dirty="0" smtClean="0"/>
          </a:p>
          <a:p>
            <a:r>
              <a:rPr lang="nl-NL" dirty="0" smtClean="0"/>
              <a:t>2. asymmetrisch</a:t>
            </a:r>
          </a:p>
          <a:p>
            <a:r>
              <a:rPr lang="nl-NL" dirty="0" smtClean="0"/>
              <a:t>3. transitief</a:t>
            </a:r>
            <a:endParaRPr lang="nl-NL" dirty="0"/>
          </a:p>
        </p:txBody>
      </p:sp>
      <p:sp>
        <p:nvSpPr>
          <p:cNvPr id="6" name="Rectangle 5"/>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TextBox 6"/>
          <p:cNvSpPr txBox="1"/>
          <p:nvPr/>
        </p:nvSpPr>
        <p:spPr>
          <a:xfrm>
            <a:off x="7884368" y="4941168"/>
            <a:ext cx="1008112" cy="369332"/>
          </a:xfrm>
          <a:prstGeom prst="rect">
            <a:avLst/>
          </a:prstGeom>
          <a:noFill/>
        </p:spPr>
        <p:txBody>
          <a:bodyPr wrap="square" rtlCol="0">
            <a:spAutoFit/>
          </a:bodyPr>
          <a:lstStyle/>
          <a:p>
            <a:r>
              <a:rPr lang="nl-NL" i="1" dirty="0" smtClean="0"/>
              <a:t>Domein</a:t>
            </a:r>
            <a:endParaRPr lang="nl-NL" i="1" dirty="0"/>
          </a:p>
        </p:txBody>
      </p:sp>
    </p:spTree>
  </p:cSld>
  <p:clrMapOvr>
    <a:masterClrMapping/>
  </p:clrMapOvr>
  <p:timing>
    <p:tnLst>
      <p:par>
        <p:cTn id="1" dur="indefinite" restart="never" nodeType="tmRoot"/>
      </p:par>
    </p:tnLst>
  </p:timing>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Ordeningsrelaties (partiële ordeningen)</a:t>
            </a:r>
            <a:endParaRPr lang="nl-NL" sz="3600" dirty="0"/>
          </a:p>
        </p:txBody>
      </p:sp>
      <p:sp>
        <p:nvSpPr>
          <p:cNvPr id="15" name="Rectangle 14"/>
          <p:cNvSpPr/>
          <p:nvPr/>
        </p:nvSpPr>
        <p:spPr>
          <a:xfrm>
            <a:off x="360040" y="1556792"/>
            <a:ext cx="8604448" cy="2862322"/>
          </a:xfrm>
          <a:prstGeom prst="rect">
            <a:avLst/>
          </a:prstGeom>
        </p:spPr>
        <p:txBody>
          <a:bodyPr wrap="square">
            <a:spAutoFit/>
          </a:bodyPr>
          <a:lstStyle/>
          <a:p>
            <a:r>
              <a:rPr lang="nl-NL" dirty="0" smtClean="0"/>
              <a:t>Neem de volgende relaties:</a:t>
            </a:r>
          </a:p>
          <a:p>
            <a:endParaRPr lang="nl-NL" dirty="0" smtClean="0"/>
          </a:p>
          <a:p>
            <a:r>
              <a:rPr lang="nl-NL" i="1" dirty="0" smtClean="0"/>
              <a:t>Is groter dan</a:t>
            </a:r>
          </a:p>
          <a:p>
            <a:r>
              <a:rPr lang="nl-NL" i="1" dirty="0" smtClean="0"/>
              <a:t>Is langer dan</a:t>
            </a:r>
          </a:p>
          <a:p>
            <a:r>
              <a:rPr lang="nl-NL" i="1" dirty="0" smtClean="0"/>
              <a:t>Ligt links van</a:t>
            </a:r>
          </a:p>
          <a:p>
            <a:r>
              <a:rPr lang="nl-NL" i="1" dirty="0" smtClean="0"/>
              <a:t>Is zwaarder dan</a:t>
            </a:r>
          </a:p>
          <a:p>
            <a:r>
              <a:rPr lang="nl-NL" i="1" dirty="0" smtClean="0"/>
              <a:t>Ligt ten noorden van</a:t>
            </a:r>
          </a:p>
          <a:p>
            <a:r>
              <a:rPr lang="nl-NL" i="1" dirty="0" smtClean="0"/>
              <a:t>Is later dan</a:t>
            </a:r>
          </a:p>
          <a:p>
            <a:r>
              <a:rPr lang="nl-NL" dirty="0" smtClean="0"/>
              <a:t>  </a:t>
            </a:r>
          </a:p>
          <a:p>
            <a:endParaRPr lang="nl-NL" dirty="0"/>
          </a:p>
        </p:txBody>
      </p:sp>
      <p:sp>
        <p:nvSpPr>
          <p:cNvPr id="30" name="TextBox 29"/>
          <p:cNvSpPr txBox="1"/>
          <p:nvPr/>
        </p:nvSpPr>
        <p:spPr>
          <a:xfrm>
            <a:off x="323528" y="4149080"/>
            <a:ext cx="2952328" cy="1323439"/>
          </a:xfrm>
          <a:prstGeom prst="rect">
            <a:avLst/>
          </a:prstGeom>
          <a:noFill/>
        </p:spPr>
        <p:txBody>
          <a:bodyPr wrap="square" rtlCol="0">
            <a:spAutoFit/>
          </a:bodyPr>
          <a:lstStyle/>
          <a:p>
            <a:r>
              <a:rPr lang="nl-NL" dirty="0" smtClean="0"/>
              <a:t>Al deze relaties zijn</a:t>
            </a:r>
          </a:p>
          <a:p>
            <a:endParaRPr lang="nl-NL" sz="800" dirty="0" smtClean="0"/>
          </a:p>
          <a:p>
            <a:r>
              <a:rPr lang="nl-NL" dirty="0" smtClean="0"/>
              <a:t>1. </a:t>
            </a:r>
            <a:r>
              <a:rPr lang="nl-NL" dirty="0" err="1" smtClean="0"/>
              <a:t>irreflexief</a:t>
            </a:r>
            <a:endParaRPr lang="nl-NL" dirty="0" smtClean="0"/>
          </a:p>
          <a:p>
            <a:r>
              <a:rPr lang="nl-NL" dirty="0" smtClean="0"/>
              <a:t>2. asymmetrisch</a:t>
            </a:r>
          </a:p>
          <a:p>
            <a:r>
              <a:rPr lang="nl-NL" dirty="0" smtClean="0"/>
              <a:t>3. transitief</a:t>
            </a:r>
            <a:endParaRPr lang="nl-NL" dirty="0"/>
          </a:p>
        </p:txBody>
      </p:sp>
      <p:sp>
        <p:nvSpPr>
          <p:cNvPr id="6" name="Rectangle 5"/>
          <p:cNvSpPr/>
          <p:nvPr/>
        </p:nvSpPr>
        <p:spPr>
          <a:xfrm>
            <a:off x="4860032" y="1700808"/>
            <a:ext cx="3888432" cy="30963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TextBox 6"/>
          <p:cNvSpPr txBox="1"/>
          <p:nvPr/>
        </p:nvSpPr>
        <p:spPr>
          <a:xfrm>
            <a:off x="7884368" y="4941168"/>
            <a:ext cx="1008112" cy="369332"/>
          </a:xfrm>
          <a:prstGeom prst="rect">
            <a:avLst/>
          </a:prstGeom>
          <a:noFill/>
        </p:spPr>
        <p:txBody>
          <a:bodyPr wrap="square" rtlCol="0">
            <a:spAutoFit/>
          </a:bodyPr>
          <a:lstStyle/>
          <a:p>
            <a:r>
              <a:rPr lang="nl-NL" i="1" dirty="0" smtClean="0"/>
              <a:t>Domein</a:t>
            </a:r>
            <a:endParaRPr lang="nl-NL" i="1" dirty="0"/>
          </a:p>
        </p:txBody>
      </p:sp>
      <p:sp>
        <p:nvSpPr>
          <p:cNvPr id="10" name="Oval 9"/>
          <p:cNvSpPr/>
          <p:nvPr/>
        </p:nvSpPr>
        <p:spPr>
          <a:xfrm>
            <a:off x="6012160" y="27809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Oval 11"/>
          <p:cNvSpPr/>
          <p:nvPr/>
        </p:nvSpPr>
        <p:spPr>
          <a:xfrm>
            <a:off x="6660232" y="256490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3" name="Oval 12"/>
          <p:cNvSpPr/>
          <p:nvPr/>
        </p:nvSpPr>
        <p:spPr>
          <a:xfrm>
            <a:off x="6876256" y="314096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Oval 13"/>
          <p:cNvSpPr/>
          <p:nvPr/>
        </p:nvSpPr>
        <p:spPr>
          <a:xfrm>
            <a:off x="7524328" y="285293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Oval 15"/>
          <p:cNvSpPr/>
          <p:nvPr/>
        </p:nvSpPr>
        <p:spPr>
          <a:xfrm>
            <a:off x="7596336" y="34290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l 16"/>
          <p:cNvSpPr/>
          <p:nvPr/>
        </p:nvSpPr>
        <p:spPr>
          <a:xfrm>
            <a:off x="8172400" y="256490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Oval 17"/>
          <p:cNvSpPr/>
          <p:nvPr/>
        </p:nvSpPr>
        <p:spPr>
          <a:xfrm>
            <a:off x="8172400" y="38610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Oval 18"/>
          <p:cNvSpPr/>
          <p:nvPr/>
        </p:nvSpPr>
        <p:spPr>
          <a:xfrm>
            <a:off x="5220072" y="27809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Oval 20"/>
          <p:cNvSpPr/>
          <p:nvPr/>
        </p:nvSpPr>
        <p:spPr>
          <a:xfrm>
            <a:off x="5292080" y="32849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Oval 21"/>
          <p:cNvSpPr/>
          <p:nvPr/>
        </p:nvSpPr>
        <p:spPr>
          <a:xfrm>
            <a:off x="5076056" y="22768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4" name="Straight Arrow Connector 23"/>
          <p:cNvCxnSpPr/>
          <p:nvPr/>
        </p:nvCxnSpPr>
        <p:spPr>
          <a:xfrm>
            <a:off x="5220072" y="2348880"/>
            <a:ext cx="730625" cy="442593"/>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5364088" y="2816932"/>
            <a:ext cx="576064" cy="2545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425551" y="2852936"/>
            <a:ext cx="514601" cy="49351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6156176" y="2636912"/>
            <a:ext cx="432048" cy="14401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228184" y="2852936"/>
            <a:ext cx="576064" cy="28803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6804248" y="2636912"/>
            <a:ext cx="648072" cy="21602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7668344" y="2636912"/>
            <a:ext cx="432048" cy="21602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7020272" y="3212976"/>
            <a:ext cx="576064" cy="216024"/>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a:off x="7740352" y="3501008"/>
            <a:ext cx="432048" cy="36004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211960" y="5723964"/>
            <a:ext cx="5508104" cy="369332"/>
          </a:xfrm>
          <a:prstGeom prst="rect">
            <a:avLst/>
          </a:prstGeom>
          <a:noFill/>
        </p:spPr>
        <p:txBody>
          <a:bodyPr wrap="square" rtlCol="0">
            <a:spAutoFit/>
          </a:bodyPr>
          <a:lstStyle/>
          <a:p>
            <a:r>
              <a:rPr lang="nl-NL" dirty="0" smtClean="0"/>
              <a:t>Vullen partiële ordeningen altijd het hele domein? </a:t>
            </a:r>
            <a:endParaRPr lang="nl-NL" dirty="0"/>
          </a:p>
        </p:txBody>
      </p:sp>
      <p:sp>
        <p:nvSpPr>
          <p:cNvPr id="51" name="TextBox 50"/>
          <p:cNvSpPr txBox="1"/>
          <p:nvPr/>
        </p:nvSpPr>
        <p:spPr>
          <a:xfrm>
            <a:off x="4211960" y="6093296"/>
            <a:ext cx="5472608" cy="646331"/>
          </a:xfrm>
          <a:prstGeom prst="rect">
            <a:avLst/>
          </a:prstGeom>
          <a:noFill/>
        </p:spPr>
        <p:txBody>
          <a:bodyPr wrap="square" rtlCol="0">
            <a:spAutoFit/>
          </a:bodyPr>
          <a:lstStyle/>
          <a:p>
            <a:r>
              <a:rPr lang="nl-NL" dirty="0" smtClean="0"/>
              <a:t>Nee! Neem maar de relatie ‘ligt links van’ en als    domein ‘dingen </a:t>
            </a:r>
            <a:r>
              <a:rPr lang="nl-NL" smtClean="0"/>
              <a:t>met of </a:t>
            </a:r>
            <a:r>
              <a:rPr lang="nl-NL" dirty="0" smtClean="0"/>
              <a:t>zonder ruimtelijk plaats’</a:t>
            </a:r>
            <a:endParaRPr lang="nl-NL" dirty="0"/>
          </a:p>
        </p:txBody>
      </p:sp>
      <p:sp>
        <p:nvSpPr>
          <p:cNvPr id="28" name="TextBox 27"/>
          <p:cNvSpPr txBox="1"/>
          <p:nvPr/>
        </p:nvSpPr>
        <p:spPr>
          <a:xfrm>
            <a:off x="323528" y="5805264"/>
            <a:ext cx="2952328" cy="923330"/>
          </a:xfrm>
          <a:prstGeom prst="rect">
            <a:avLst/>
          </a:prstGeom>
          <a:noFill/>
        </p:spPr>
        <p:txBody>
          <a:bodyPr wrap="square" rtlCol="0">
            <a:spAutoFit/>
          </a:bodyPr>
          <a:lstStyle/>
          <a:p>
            <a:r>
              <a:rPr lang="nl-NL" dirty="0" smtClean="0"/>
              <a:t>We noemen dit soort relaties </a:t>
            </a:r>
            <a:r>
              <a:rPr lang="nl-NL" b="1" dirty="0" smtClean="0"/>
              <a:t>ordeningsrelaties</a:t>
            </a:r>
            <a:r>
              <a:rPr lang="nl-NL" dirty="0" smtClean="0"/>
              <a:t> (of </a:t>
            </a:r>
            <a:r>
              <a:rPr lang="nl-NL" b="1" dirty="0" smtClean="0"/>
              <a:t>partiële ordeningen</a:t>
            </a:r>
            <a:r>
              <a:rPr lang="nl-NL" dirty="0" smtClean="0"/>
              <a:t>).</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2000"/>
                                        <p:tgtEl>
                                          <p:spTgt spid="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
                                            <p:txEl>
                                              <p:pRg st="0" end="0"/>
                                            </p:txEl>
                                          </p:spTgt>
                                        </p:tgtEl>
                                        <p:attrNameLst>
                                          <p:attrName>style.visibility</p:attrName>
                                        </p:attrNameLst>
                                      </p:cBhvr>
                                      <p:to>
                                        <p:strVal val="visible"/>
                                      </p:to>
                                    </p:set>
                                    <p:animEffect transition="in" filter="fade">
                                      <p:cBhvr>
                                        <p:cTn id="12" dur="2000"/>
                                        <p:tgtEl>
                                          <p:spTgt spid="5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
                                            <p:txEl>
                                              <p:pRg st="0" end="0"/>
                                            </p:txEl>
                                          </p:spTgt>
                                        </p:tgtEl>
                                        <p:attrNameLst>
                                          <p:attrName>style.visibility</p:attrName>
                                        </p:attrNameLst>
                                      </p:cBhvr>
                                      <p:to>
                                        <p:strVal val="visible"/>
                                      </p:to>
                                    </p:set>
                                    <p:animEffect transition="in" filter="fade">
                                      <p:cBhvr>
                                        <p:cTn id="17" dur="20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uild="allAtOnce"/>
      <p:bldP spid="51" grpId="0" build="allAtOnce"/>
      <p:bldP spid="28" grpId="0" build="allAtOnce"/>
    </p:bldLst>
  </p:timing>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Verbanden tussen eigenschappen van relaties </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Toon aan dat iedere asymmetrische relatie tevens </a:t>
            </a:r>
            <a:r>
              <a:rPr lang="nl-NL" dirty="0" err="1" smtClean="0"/>
              <a:t>irreflexief</a:t>
            </a:r>
            <a:r>
              <a:rPr lang="nl-NL" dirty="0" smtClean="0"/>
              <a:t> is</a:t>
            </a:r>
          </a:p>
        </p:txBody>
      </p:sp>
      <p:sp>
        <p:nvSpPr>
          <p:cNvPr id="13" name="Rectangle 12"/>
          <p:cNvSpPr/>
          <p:nvPr/>
        </p:nvSpPr>
        <p:spPr>
          <a:xfrm>
            <a:off x="539552" y="2204864"/>
            <a:ext cx="7974632" cy="923330"/>
          </a:xfrm>
          <a:prstGeom prst="rect">
            <a:avLst/>
          </a:prstGeom>
        </p:spPr>
        <p:txBody>
          <a:bodyPr wrap="square">
            <a:spAutoFit/>
          </a:bodyPr>
          <a:lstStyle/>
          <a:p>
            <a:pPr marL="342900" indent="-342900"/>
            <a:r>
              <a:rPr lang="nl-NL" b="1" dirty="0" err="1" smtClean="0"/>
              <a:t>Rxy</a:t>
            </a:r>
            <a:r>
              <a:rPr lang="nl-NL" dirty="0" smtClean="0"/>
              <a:t> is </a:t>
            </a:r>
            <a:r>
              <a:rPr lang="nl-NL" i="1" dirty="0" smtClean="0"/>
              <a:t>asymmetrisch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a:t>
            </a:r>
          </a:p>
          <a:p>
            <a:pPr marL="342900" indent="-342900"/>
            <a:endParaRPr lang="nl-NL" b="1" dirty="0" smtClean="0"/>
          </a:p>
          <a:p>
            <a:pPr marL="342900" indent="-342900"/>
            <a:r>
              <a:rPr lang="nl-NL" b="1" dirty="0" err="1" smtClean="0"/>
              <a:t>Rxy</a:t>
            </a:r>
            <a:r>
              <a:rPr lang="nl-NL" b="1" dirty="0" smtClean="0"/>
              <a:t> </a:t>
            </a:r>
            <a:r>
              <a:rPr lang="nl-NL" dirty="0" smtClean="0"/>
              <a:t>is </a:t>
            </a:r>
            <a:r>
              <a:rPr lang="nl-NL" i="1" dirty="0" err="1" smtClean="0"/>
              <a:t>irreflexief</a:t>
            </a:r>
            <a:r>
              <a:rPr lang="nl-NL" dirty="0" smtClean="0"/>
              <a:t> dan en slechts dan als </a:t>
            </a:r>
            <a:r>
              <a:rPr lang="nl-NL" b="1" dirty="0" smtClean="0"/>
              <a:t>∀x ¬</a:t>
            </a:r>
            <a:r>
              <a:rPr lang="nl-NL" b="1" dirty="0" err="1" smtClean="0"/>
              <a:t>Rxx</a:t>
            </a:r>
            <a:endParaRPr lang="nl-NL" dirty="0" smtClean="0"/>
          </a:p>
        </p:txBody>
      </p:sp>
      <p:sp>
        <p:nvSpPr>
          <p:cNvPr id="14" name="Rectangle 13"/>
          <p:cNvSpPr/>
          <p:nvPr/>
        </p:nvSpPr>
        <p:spPr>
          <a:xfrm>
            <a:off x="557808" y="3369766"/>
            <a:ext cx="7974632" cy="369332"/>
          </a:xfrm>
          <a:prstGeom prst="rect">
            <a:avLst/>
          </a:prstGeom>
        </p:spPr>
        <p:txBody>
          <a:bodyPr wrap="square">
            <a:spAutoFit/>
          </a:bodyPr>
          <a:lstStyle/>
          <a:p>
            <a:pPr marL="342900" indent="-342900"/>
            <a:r>
              <a:rPr lang="nl-NL" b="1" dirty="0" smtClean="0"/>
              <a:t>∀x∀y (</a:t>
            </a:r>
            <a:r>
              <a:rPr lang="nl-NL" b="1" dirty="0" err="1" smtClean="0"/>
              <a:t>Rxy</a:t>
            </a:r>
            <a:r>
              <a:rPr lang="nl-NL" b="1" dirty="0" smtClean="0"/>
              <a:t> → ¬</a:t>
            </a:r>
            <a:r>
              <a:rPr lang="nl-NL" b="1" dirty="0" err="1" smtClean="0"/>
              <a:t>Ryx</a:t>
            </a:r>
            <a:r>
              <a:rPr lang="nl-NL" b="1" dirty="0" smtClean="0"/>
              <a:t>)    Ⱶ    ∀x ¬</a:t>
            </a:r>
            <a:r>
              <a:rPr lang="nl-NL" b="1" dirty="0" err="1" smtClean="0"/>
              <a:t>Rxx</a:t>
            </a:r>
            <a:endParaRPr lang="nl-NL" dirty="0" smtClean="0"/>
          </a:p>
        </p:txBody>
      </p:sp>
      <p:sp>
        <p:nvSpPr>
          <p:cNvPr id="16" name="Rectangle 15"/>
          <p:cNvSpPr/>
          <p:nvPr/>
        </p:nvSpPr>
        <p:spPr>
          <a:xfrm>
            <a:off x="539552" y="4077072"/>
            <a:ext cx="5112568" cy="2308324"/>
          </a:xfrm>
          <a:prstGeom prst="rect">
            <a:avLst/>
          </a:prstGeom>
        </p:spPr>
        <p:txBody>
          <a:bodyPr wrap="square">
            <a:spAutoFit/>
          </a:bodyPr>
          <a:lstStyle/>
          <a:p>
            <a:r>
              <a:rPr lang="nl-NL" dirty="0" smtClean="0"/>
              <a:t>1.</a:t>
            </a:r>
            <a:r>
              <a:rPr lang="nl-NL" b="1" dirty="0" smtClean="0"/>
              <a:t>  ∀x ∀y (</a:t>
            </a:r>
            <a:r>
              <a:rPr lang="nl-NL" b="1" dirty="0" err="1" smtClean="0"/>
              <a:t>Rxy</a:t>
            </a:r>
            <a:r>
              <a:rPr lang="nl-NL" b="1" dirty="0" smtClean="0"/>
              <a:t> → ¬</a:t>
            </a:r>
            <a:r>
              <a:rPr lang="nl-NL" b="1" dirty="0" err="1" smtClean="0"/>
              <a:t>Ryx</a:t>
            </a:r>
            <a:r>
              <a:rPr lang="nl-NL" b="1" dirty="0" smtClean="0"/>
              <a:t>) 		</a:t>
            </a:r>
            <a:r>
              <a:rPr lang="nl-NL" dirty="0" smtClean="0"/>
              <a:t>Prem.</a:t>
            </a:r>
          </a:p>
          <a:p>
            <a:r>
              <a:rPr lang="nl-NL" dirty="0" smtClean="0"/>
              <a:t>2.  </a:t>
            </a:r>
            <a:r>
              <a:rPr lang="nl-NL" b="1" dirty="0" err="1" smtClean="0"/>
              <a:t>Raa</a:t>
            </a:r>
            <a:r>
              <a:rPr lang="nl-NL" b="1" dirty="0" smtClean="0"/>
              <a:t>		 		</a:t>
            </a:r>
            <a:r>
              <a:rPr lang="nl-NL" dirty="0" err="1" smtClean="0"/>
              <a:t>Ass</a:t>
            </a:r>
            <a:r>
              <a:rPr lang="nl-NL" dirty="0" smtClean="0"/>
              <a:t>.</a:t>
            </a:r>
          </a:p>
          <a:p>
            <a:r>
              <a:rPr lang="nl-NL" dirty="0" smtClean="0"/>
              <a:t>3.  </a:t>
            </a:r>
            <a:r>
              <a:rPr lang="nl-NL" b="1" dirty="0" smtClean="0"/>
              <a:t>∀y (</a:t>
            </a:r>
            <a:r>
              <a:rPr lang="nl-NL" b="1" dirty="0" err="1" smtClean="0"/>
              <a:t>Ray</a:t>
            </a:r>
            <a:r>
              <a:rPr lang="nl-NL" b="1" dirty="0" smtClean="0"/>
              <a:t> → ¬</a:t>
            </a:r>
            <a:r>
              <a:rPr lang="nl-NL" b="1" dirty="0" err="1" smtClean="0"/>
              <a:t>Rya</a:t>
            </a:r>
            <a:r>
              <a:rPr lang="nl-NL" b="1" dirty="0" smtClean="0"/>
              <a:t>) 	 	</a:t>
            </a:r>
            <a:r>
              <a:rPr lang="nl-NL" dirty="0" smtClean="0"/>
              <a:t>G ∀ (1)</a:t>
            </a:r>
            <a:r>
              <a:rPr lang="nl-NL" b="1" dirty="0" smtClean="0"/>
              <a:t> 	</a:t>
            </a:r>
            <a:endParaRPr lang="nl-NL" dirty="0" smtClean="0"/>
          </a:p>
          <a:p>
            <a:r>
              <a:rPr lang="nl-NL" dirty="0" smtClean="0"/>
              <a:t>4.  </a:t>
            </a:r>
            <a:r>
              <a:rPr lang="nl-NL" b="1" dirty="0" err="1" smtClean="0"/>
              <a:t>Raa</a:t>
            </a:r>
            <a:r>
              <a:rPr lang="nl-NL" b="1" dirty="0" smtClean="0"/>
              <a:t> → ¬</a:t>
            </a:r>
            <a:r>
              <a:rPr lang="nl-NL" b="1" dirty="0" err="1" smtClean="0"/>
              <a:t>Raa</a:t>
            </a:r>
            <a:r>
              <a:rPr lang="nl-NL" b="1" dirty="0" smtClean="0"/>
              <a:t>			</a:t>
            </a:r>
            <a:r>
              <a:rPr lang="nl-NL" dirty="0" smtClean="0"/>
              <a:t>G ∀ (3)</a:t>
            </a:r>
            <a:r>
              <a:rPr lang="nl-NL" b="1" dirty="0" smtClean="0"/>
              <a:t> </a:t>
            </a:r>
            <a:endParaRPr lang="nl-NL" dirty="0" smtClean="0"/>
          </a:p>
          <a:p>
            <a:r>
              <a:rPr lang="nl-NL" dirty="0" smtClean="0"/>
              <a:t>5.  </a:t>
            </a:r>
            <a:r>
              <a:rPr lang="nl-NL" b="1" dirty="0" smtClean="0"/>
              <a:t>¬</a:t>
            </a:r>
            <a:r>
              <a:rPr lang="nl-NL" b="1" dirty="0" err="1" smtClean="0"/>
              <a:t>Raa</a:t>
            </a:r>
            <a:r>
              <a:rPr lang="nl-NL" b="1" dirty="0" smtClean="0"/>
              <a:t> 				</a:t>
            </a:r>
            <a:r>
              <a:rPr lang="nl-NL" dirty="0" smtClean="0"/>
              <a:t>G → (2,4) </a:t>
            </a:r>
          </a:p>
          <a:p>
            <a:r>
              <a:rPr lang="nl-NL" dirty="0" smtClean="0"/>
              <a:t>6.  </a:t>
            </a:r>
            <a:r>
              <a:rPr lang="nl-NL" b="1" dirty="0" err="1" smtClean="0"/>
              <a:t>Raa</a:t>
            </a:r>
            <a:r>
              <a:rPr lang="nl-NL" b="1" dirty="0" smtClean="0"/>
              <a:t> ∧ ¬</a:t>
            </a:r>
            <a:r>
              <a:rPr lang="nl-NL" b="1" dirty="0" err="1" smtClean="0"/>
              <a:t>Raa</a:t>
            </a:r>
            <a:r>
              <a:rPr lang="nl-NL" b="1" dirty="0" smtClean="0"/>
              <a:t>  			</a:t>
            </a:r>
            <a:r>
              <a:rPr lang="nl-NL" dirty="0" smtClean="0"/>
              <a:t>I ∧ (2,5)</a:t>
            </a:r>
          </a:p>
          <a:p>
            <a:r>
              <a:rPr lang="nl-NL" dirty="0" smtClean="0"/>
              <a:t>7.  </a:t>
            </a:r>
            <a:r>
              <a:rPr lang="nl-NL" b="1" dirty="0" smtClean="0"/>
              <a:t>¬</a:t>
            </a:r>
            <a:r>
              <a:rPr lang="nl-NL" b="1" dirty="0" err="1" smtClean="0"/>
              <a:t>Raa</a:t>
            </a:r>
            <a:r>
              <a:rPr lang="nl-NL" b="1" dirty="0" smtClean="0"/>
              <a:t> 				</a:t>
            </a:r>
            <a:r>
              <a:rPr lang="nl-NL" dirty="0" smtClean="0"/>
              <a:t>I ¬ (2,6)</a:t>
            </a:r>
          </a:p>
          <a:p>
            <a:r>
              <a:rPr lang="nl-NL" dirty="0" smtClean="0"/>
              <a:t>8.  </a:t>
            </a:r>
            <a:r>
              <a:rPr lang="nl-NL" b="1" dirty="0" smtClean="0"/>
              <a:t>∀x ¬</a:t>
            </a:r>
            <a:r>
              <a:rPr lang="nl-NL" b="1" dirty="0" err="1" smtClean="0"/>
              <a:t>Rxx</a:t>
            </a:r>
            <a:r>
              <a:rPr lang="nl-NL" b="1" dirty="0" smtClean="0"/>
              <a:t> 			</a:t>
            </a:r>
            <a:r>
              <a:rPr lang="nl-NL" dirty="0" smtClean="0"/>
              <a:t>I ∀ (7)</a:t>
            </a:r>
            <a:endParaRPr lang="nl-NL" dirty="0"/>
          </a:p>
        </p:txBody>
      </p:sp>
      <p:cxnSp>
        <p:nvCxnSpPr>
          <p:cNvPr id="26" name="Straight Connector 25"/>
          <p:cNvCxnSpPr/>
          <p:nvPr/>
        </p:nvCxnSpPr>
        <p:spPr>
          <a:xfrm flipH="1">
            <a:off x="467544" y="4437112"/>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67544" y="4437112"/>
            <a:ext cx="0" cy="136815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a:off x="467544" y="5805264"/>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28184" y="3717032"/>
            <a:ext cx="2232248" cy="1200329"/>
          </a:xfrm>
          <a:prstGeom prst="rect">
            <a:avLst/>
          </a:prstGeom>
          <a:noFill/>
        </p:spPr>
        <p:txBody>
          <a:bodyPr wrap="square" rtlCol="0">
            <a:spAutoFit/>
          </a:bodyPr>
          <a:lstStyle/>
          <a:p>
            <a:r>
              <a:rPr lang="nl-NL" dirty="0" smtClean="0"/>
              <a:t>Hadden we het ook nog op een andere manier kunnen aantonen?</a:t>
            </a:r>
            <a:endParaRPr lang="nl-NL" dirty="0"/>
          </a:p>
        </p:txBody>
      </p:sp>
      <p:sp>
        <p:nvSpPr>
          <p:cNvPr id="30" name="TextBox 29"/>
          <p:cNvSpPr txBox="1"/>
          <p:nvPr/>
        </p:nvSpPr>
        <p:spPr>
          <a:xfrm>
            <a:off x="6228184" y="4941168"/>
            <a:ext cx="2232248" cy="1200329"/>
          </a:xfrm>
          <a:prstGeom prst="rect">
            <a:avLst/>
          </a:prstGeom>
          <a:noFill/>
        </p:spPr>
        <p:txBody>
          <a:bodyPr wrap="square" rtlCol="0">
            <a:spAutoFit/>
          </a:bodyPr>
          <a:lstStyle/>
          <a:p>
            <a:r>
              <a:rPr lang="nl-NL" dirty="0" smtClean="0"/>
              <a:t>Ja, we hadden ook de semantische boom- methode kunnen gebruiken.</a:t>
            </a:r>
            <a:endParaRPr lang="nl-NL" dirty="0"/>
          </a:p>
        </p:txBody>
      </p:sp>
      <p:sp>
        <p:nvSpPr>
          <p:cNvPr id="12" name="TextBox 11"/>
          <p:cNvSpPr txBox="1"/>
          <p:nvPr/>
        </p:nvSpPr>
        <p:spPr>
          <a:xfrm>
            <a:off x="6228184" y="6165304"/>
            <a:ext cx="1728192" cy="646331"/>
          </a:xfrm>
          <a:prstGeom prst="rect">
            <a:avLst/>
          </a:prstGeom>
          <a:noFill/>
        </p:spPr>
        <p:txBody>
          <a:bodyPr wrap="square" rtlCol="0">
            <a:spAutoFit/>
          </a:bodyPr>
          <a:lstStyle/>
          <a:p>
            <a:r>
              <a:rPr lang="nl-NL" dirty="0" smtClean="0"/>
              <a:t>Zien we het ook intuïtief in?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2" end="2"/>
                                            </p:txEl>
                                          </p:spTgt>
                                        </p:tgtEl>
                                        <p:attrNameLst>
                                          <p:attrName>style.visibility</p:attrName>
                                        </p:attrNameLst>
                                      </p:cBhvr>
                                      <p:to>
                                        <p:strVal val="visible"/>
                                      </p:to>
                                    </p:set>
                                    <p:animEffect transition="in" filter="fade">
                                      <p:cBhvr>
                                        <p:cTn id="10" dur="2000"/>
                                        <p:tgtEl>
                                          <p:spTgt spid="1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fade">
                                      <p:cBhvr>
                                        <p:cTn id="15" dur="2000"/>
                                        <p:tgtEl>
                                          <p:spTgt spid="1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20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2000"/>
                                        <p:tgtEl>
                                          <p:spTgt spid="26"/>
                                        </p:tgtEl>
                                      </p:cBhvr>
                                    </p:animEffect>
                                  </p:childTnLst>
                                </p:cTn>
                              </p:par>
                              <p:par>
                                <p:cTn id="24" presetID="10" presetClass="entr" presetSubtype="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fade">
                                      <p:cBhvr>
                                        <p:cTn id="26" dur="2000"/>
                                        <p:tgtEl>
                                          <p:spTgt spid="27"/>
                                        </p:tgtEl>
                                      </p:cBhvr>
                                    </p:animEffect>
                                  </p:childTnLst>
                                </p:cTn>
                              </p:par>
                              <p:par>
                                <p:cTn id="27" presetID="10"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20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9">
                                            <p:txEl>
                                              <p:pRg st="0" end="0"/>
                                            </p:txEl>
                                          </p:spTgt>
                                        </p:tgtEl>
                                        <p:attrNameLst>
                                          <p:attrName>style.visibility</p:attrName>
                                        </p:attrNameLst>
                                      </p:cBhvr>
                                      <p:to>
                                        <p:strVal val="visible"/>
                                      </p:to>
                                    </p:set>
                                    <p:animEffect transition="in" filter="fade">
                                      <p:cBhvr>
                                        <p:cTn id="34" dur="2000"/>
                                        <p:tgtEl>
                                          <p:spTgt spid="29">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0">
                                            <p:txEl>
                                              <p:pRg st="0" end="0"/>
                                            </p:txEl>
                                          </p:spTgt>
                                        </p:tgtEl>
                                        <p:attrNameLst>
                                          <p:attrName>style.visibility</p:attrName>
                                        </p:attrNameLst>
                                      </p:cBhvr>
                                      <p:to>
                                        <p:strVal val="visible"/>
                                      </p:to>
                                    </p:set>
                                    <p:animEffect transition="in" filter="fade">
                                      <p:cBhvr>
                                        <p:cTn id="39" dur="2000"/>
                                        <p:tgtEl>
                                          <p:spTgt spid="30">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2">
                                            <p:txEl>
                                              <p:pRg st="0" end="0"/>
                                            </p:txEl>
                                          </p:spTgt>
                                        </p:tgtEl>
                                        <p:attrNameLst>
                                          <p:attrName>style.visibility</p:attrName>
                                        </p:attrNameLst>
                                      </p:cBhvr>
                                      <p:to>
                                        <p:strVal val="visible"/>
                                      </p:to>
                                    </p:set>
                                    <p:animEffect transition="in" filter="fade">
                                      <p:cBhvr>
                                        <p:cTn id="44"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P spid="14" grpId="0" build="allAtOnce"/>
      <p:bldP spid="16" grpId="0"/>
      <p:bldP spid="29" grpId="0" build="allAtOnce"/>
      <p:bldP spid="30" grpId="0" build="allAtOnce"/>
      <p:bldP spid="12" grpId="0" build="allAtOnce"/>
    </p:bldLst>
  </p:timing>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Verbanden tussen eigenschappen van relaties </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Is iedere symmetrische en transitieve relatie ook reflexief?</a:t>
            </a:r>
          </a:p>
        </p:txBody>
      </p:sp>
      <p:sp>
        <p:nvSpPr>
          <p:cNvPr id="13" name="Rectangle 12"/>
          <p:cNvSpPr/>
          <p:nvPr/>
        </p:nvSpPr>
        <p:spPr>
          <a:xfrm>
            <a:off x="539552" y="2204864"/>
            <a:ext cx="7974632" cy="1477328"/>
          </a:xfrm>
          <a:prstGeom prst="rect">
            <a:avLst/>
          </a:prstGeom>
        </p:spPr>
        <p:txBody>
          <a:bodyPr wrap="square">
            <a:spAutoFit/>
          </a:bodyPr>
          <a:lstStyle/>
          <a:p>
            <a:pPr marL="342900" indent="-342900"/>
            <a:r>
              <a:rPr lang="nl-NL" b="1" dirty="0" err="1" smtClean="0"/>
              <a:t>Rxy</a:t>
            </a:r>
            <a:r>
              <a:rPr lang="nl-NL" dirty="0" smtClean="0"/>
              <a:t> is </a:t>
            </a:r>
            <a:r>
              <a:rPr lang="nl-NL" i="1" dirty="0" smtClean="0"/>
              <a:t>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a:t>
            </a:r>
          </a:p>
          <a:p>
            <a:pPr marL="342900" indent="-342900"/>
            <a:endParaRPr lang="nl-NL" b="1" dirty="0" smtClean="0"/>
          </a:p>
          <a:p>
            <a:pPr marL="342900" indent="-342900"/>
            <a:r>
              <a:rPr lang="nl-NL" b="1" dirty="0" err="1" smtClean="0"/>
              <a:t>Rxy</a:t>
            </a:r>
            <a:r>
              <a:rPr lang="nl-NL" b="1" dirty="0" smtClean="0"/>
              <a:t> </a:t>
            </a:r>
            <a:r>
              <a:rPr lang="nl-NL" dirty="0" smtClean="0"/>
              <a:t>is </a:t>
            </a:r>
            <a:r>
              <a:rPr lang="nl-NL" i="1" dirty="0" smtClean="0"/>
              <a:t>transitief</a:t>
            </a:r>
            <a:r>
              <a:rPr lang="nl-NL" dirty="0" smtClean="0"/>
              <a:t> dan en slechts dan als </a:t>
            </a:r>
            <a:r>
              <a:rPr lang="nl-NL" b="1" dirty="0" smtClean="0"/>
              <a:t>∀x∀y∀z ((</a:t>
            </a:r>
            <a:r>
              <a:rPr lang="nl-NL" b="1" dirty="0" err="1" smtClean="0"/>
              <a:t>Rxy</a:t>
            </a:r>
            <a:r>
              <a:rPr lang="nl-NL" b="1" dirty="0" smtClean="0"/>
              <a:t> ∧ </a:t>
            </a:r>
            <a:r>
              <a:rPr lang="nl-NL" b="1" dirty="0" err="1" smtClean="0"/>
              <a:t>Ryz</a:t>
            </a:r>
            <a:r>
              <a:rPr lang="nl-NL" b="1" dirty="0" smtClean="0"/>
              <a:t>) → </a:t>
            </a:r>
            <a:r>
              <a:rPr lang="nl-NL" b="1" dirty="0" err="1" smtClean="0"/>
              <a:t>Rxz</a:t>
            </a:r>
            <a:r>
              <a:rPr lang="nl-NL" b="1" dirty="0" smtClean="0"/>
              <a:t>)</a:t>
            </a:r>
            <a:r>
              <a:rPr lang="nl-NL" dirty="0" smtClean="0"/>
              <a:t>  </a:t>
            </a:r>
          </a:p>
          <a:p>
            <a:pPr marL="342900" indent="-342900"/>
            <a:endParaRPr lang="nl-NL" b="1" dirty="0" smtClean="0"/>
          </a:p>
          <a:p>
            <a:pPr marL="342900" indent="-342900"/>
            <a:r>
              <a:rPr lang="nl-NL" b="1" dirty="0" err="1" smtClean="0"/>
              <a:t>Rxy</a:t>
            </a:r>
            <a:r>
              <a:rPr lang="nl-NL" b="1" dirty="0" smtClean="0"/>
              <a:t> </a:t>
            </a:r>
            <a:r>
              <a:rPr lang="nl-NL" dirty="0" smtClean="0"/>
              <a:t>is </a:t>
            </a:r>
            <a:r>
              <a:rPr lang="nl-NL" i="1" dirty="0" smtClean="0"/>
              <a:t>reflexief</a:t>
            </a:r>
            <a:r>
              <a:rPr lang="nl-NL" dirty="0" smtClean="0"/>
              <a:t> dan en slechts dan als </a:t>
            </a:r>
            <a:r>
              <a:rPr lang="nl-NL" b="1" dirty="0" smtClean="0"/>
              <a:t>∀x </a:t>
            </a:r>
            <a:r>
              <a:rPr lang="nl-NL" b="1" dirty="0" err="1" smtClean="0"/>
              <a:t>Rxx</a:t>
            </a:r>
            <a:endParaRPr lang="nl-NL" dirty="0" smtClean="0"/>
          </a:p>
        </p:txBody>
      </p:sp>
      <p:sp>
        <p:nvSpPr>
          <p:cNvPr id="29" name="TextBox 28"/>
          <p:cNvSpPr txBox="1"/>
          <p:nvPr/>
        </p:nvSpPr>
        <p:spPr>
          <a:xfrm>
            <a:off x="539552" y="3934797"/>
            <a:ext cx="7488832" cy="646331"/>
          </a:xfrm>
          <a:prstGeom prst="rect">
            <a:avLst/>
          </a:prstGeom>
          <a:noFill/>
        </p:spPr>
        <p:txBody>
          <a:bodyPr wrap="square" rtlCol="0">
            <a:spAutoFit/>
          </a:bodyPr>
          <a:lstStyle/>
          <a:p>
            <a:r>
              <a:rPr lang="nl-NL" dirty="0" smtClean="0"/>
              <a:t>Om deze vraag te beantwoorden is de semantische boom methode het                meest geschikt. Waarom?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xEl>
                                              <p:pRg st="2" end="2"/>
                                            </p:txEl>
                                          </p:spTgt>
                                        </p:tgtEl>
                                        <p:attrNameLst>
                                          <p:attrName>style.visibility</p:attrName>
                                        </p:attrNameLst>
                                      </p:cBhvr>
                                      <p:to>
                                        <p:strVal val="visible"/>
                                      </p:to>
                                    </p:set>
                                    <p:animEffect transition="in" filter="fade">
                                      <p:cBhvr>
                                        <p:cTn id="10" dur="2000"/>
                                        <p:tgtEl>
                                          <p:spTgt spid="1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xEl>
                                              <p:pRg st="4" end="4"/>
                                            </p:txEl>
                                          </p:spTgt>
                                        </p:tgtEl>
                                        <p:attrNameLst>
                                          <p:attrName>style.visibility</p:attrName>
                                        </p:attrNameLst>
                                      </p:cBhvr>
                                      <p:to>
                                        <p:strVal val="visible"/>
                                      </p:to>
                                    </p:set>
                                    <p:animEffect transition="in" filter="fade">
                                      <p:cBhvr>
                                        <p:cTn id="13" dur="2000"/>
                                        <p:tgtEl>
                                          <p:spTgt spid="1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9">
                                            <p:txEl>
                                              <p:pRg st="0" end="0"/>
                                            </p:txEl>
                                          </p:spTgt>
                                        </p:tgtEl>
                                        <p:attrNameLst>
                                          <p:attrName>style.visibility</p:attrName>
                                        </p:attrNameLst>
                                      </p:cBhvr>
                                      <p:to>
                                        <p:strVal val="visible"/>
                                      </p:to>
                                    </p:set>
                                    <p:animEffect transition="in" filter="fade">
                                      <p:cBhvr>
                                        <p:cTn id="18" dur="20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P spid="29" grpId="0" build="allAtOnce"/>
    </p:bldLst>
  </p:timing>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3906278" y="360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 name="Straight Connector 6"/>
          <p:cNvCxnSpPr/>
          <p:nvPr/>
        </p:nvCxnSpPr>
        <p:spPr>
          <a:xfrm>
            <a:off x="3945575" y="50405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3909727" y="1008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 name="Straight Connector 8"/>
          <p:cNvCxnSpPr/>
          <p:nvPr/>
        </p:nvCxnSpPr>
        <p:spPr>
          <a:xfrm>
            <a:off x="3945575" y="115212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909727" y="1656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1" name="Straight Connector 10"/>
          <p:cNvCxnSpPr/>
          <p:nvPr/>
        </p:nvCxnSpPr>
        <p:spPr>
          <a:xfrm>
            <a:off x="3945575" y="1800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3909727" y="23042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Rectangle 18"/>
          <p:cNvSpPr/>
          <p:nvPr/>
        </p:nvSpPr>
        <p:spPr>
          <a:xfrm>
            <a:off x="1964807" y="144016"/>
            <a:ext cx="1882951" cy="369332"/>
          </a:xfrm>
          <a:prstGeom prst="rect">
            <a:avLst/>
          </a:prstGeom>
        </p:spPr>
        <p:txBody>
          <a:bodyPr wrap="none">
            <a:spAutoFit/>
          </a:bodyPr>
          <a:lstStyle/>
          <a:p>
            <a:r>
              <a:rPr lang="nl-NL" b="1" dirty="0" smtClean="0"/>
              <a:t>∀x∀y (</a:t>
            </a:r>
            <a:r>
              <a:rPr lang="nl-NL" b="1" dirty="0" err="1" smtClean="0"/>
              <a:t>Rxy</a:t>
            </a:r>
            <a:r>
              <a:rPr lang="nl-NL" b="1" dirty="0" smtClean="0"/>
              <a:t> → </a:t>
            </a:r>
            <a:r>
              <a:rPr lang="nl-NL" b="1" dirty="0" err="1" smtClean="0"/>
              <a:t>Ryx</a:t>
            </a:r>
            <a:r>
              <a:rPr lang="nl-NL" b="1" dirty="0" smtClean="0"/>
              <a:t>)</a:t>
            </a:r>
            <a:endParaRPr lang="nl-NL" dirty="0"/>
          </a:p>
        </p:txBody>
      </p:sp>
      <p:cxnSp>
        <p:nvCxnSpPr>
          <p:cNvPr id="24" name="Straight Connector 23"/>
          <p:cNvCxnSpPr/>
          <p:nvPr/>
        </p:nvCxnSpPr>
        <p:spPr>
          <a:xfrm flipH="1">
            <a:off x="2839646" y="2448272"/>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508150" y="573325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642438" y="366311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1" name="Rectangle 30"/>
          <p:cNvSpPr/>
          <p:nvPr/>
        </p:nvSpPr>
        <p:spPr>
          <a:xfrm>
            <a:off x="1036411" y="432048"/>
            <a:ext cx="2811347" cy="369332"/>
          </a:xfrm>
          <a:prstGeom prst="rect">
            <a:avLst/>
          </a:prstGeom>
        </p:spPr>
        <p:txBody>
          <a:bodyPr wrap="none">
            <a:spAutoFit/>
          </a:bodyPr>
          <a:lstStyle/>
          <a:p>
            <a:r>
              <a:rPr lang="nl-NL" b="1" dirty="0" smtClean="0"/>
              <a:t>∀x∀y∀z ((</a:t>
            </a:r>
            <a:r>
              <a:rPr lang="nl-NL" b="1" dirty="0" err="1" smtClean="0"/>
              <a:t>Rxy</a:t>
            </a:r>
            <a:r>
              <a:rPr lang="nl-NL" b="1" dirty="0" smtClean="0"/>
              <a:t> ∧ </a:t>
            </a:r>
            <a:r>
              <a:rPr lang="nl-NL" b="1" dirty="0" err="1" smtClean="0"/>
              <a:t>Ryz</a:t>
            </a:r>
            <a:r>
              <a:rPr lang="nl-NL" b="1" dirty="0" smtClean="0"/>
              <a:t>) → </a:t>
            </a:r>
            <a:r>
              <a:rPr lang="nl-NL" b="1" dirty="0" err="1" smtClean="0"/>
              <a:t>Rxz</a:t>
            </a:r>
            <a:r>
              <a:rPr lang="nl-NL" b="1" dirty="0" smtClean="0"/>
              <a:t>)</a:t>
            </a:r>
            <a:endParaRPr lang="nl-NL" dirty="0"/>
          </a:p>
        </p:txBody>
      </p:sp>
      <p:sp>
        <p:nvSpPr>
          <p:cNvPr id="32" name="Rectangle 31"/>
          <p:cNvSpPr/>
          <p:nvPr/>
        </p:nvSpPr>
        <p:spPr>
          <a:xfrm>
            <a:off x="4063782" y="206732"/>
            <a:ext cx="827471" cy="369332"/>
          </a:xfrm>
          <a:prstGeom prst="rect">
            <a:avLst/>
          </a:prstGeom>
        </p:spPr>
        <p:txBody>
          <a:bodyPr wrap="none">
            <a:spAutoFit/>
          </a:bodyPr>
          <a:lstStyle/>
          <a:p>
            <a:r>
              <a:rPr lang="nl-NL" b="1" dirty="0" smtClean="0"/>
              <a:t>∀x </a:t>
            </a:r>
            <a:r>
              <a:rPr lang="nl-NL" b="1" dirty="0" err="1" smtClean="0"/>
              <a:t>Rxx</a:t>
            </a:r>
            <a:endParaRPr lang="nl-NL" dirty="0"/>
          </a:p>
        </p:txBody>
      </p:sp>
      <p:sp>
        <p:nvSpPr>
          <p:cNvPr id="33" name="Rectangle 32"/>
          <p:cNvSpPr/>
          <p:nvPr/>
        </p:nvSpPr>
        <p:spPr>
          <a:xfrm>
            <a:off x="3991774" y="854804"/>
            <a:ext cx="542136" cy="369332"/>
          </a:xfrm>
          <a:prstGeom prst="rect">
            <a:avLst/>
          </a:prstGeom>
        </p:spPr>
        <p:txBody>
          <a:bodyPr wrap="none">
            <a:spAutoFit/>
          </a:bodyPr>
          <a:lstStyle/>
          <a:p>
            <a:r>
              <a:rPr lang="nl-NL" b="1" dirty="0" err="1" smtClean="0"/>
              <a:t>Raa</a:t>
            </a:r>
            <a:endParaRPr lang="nl-NL" dirty="0"/>
          </a:p>
        </p:txBody>
      </p:sp>
      <p:sp>
        <p:nvSpPr>
          <p:cNvPr id="34" name="Rectangle 33"/>
          <p:cNvSpPr/>
          <p:nvPr/>
        </p:nvSpPr>
        <p:spPr>
          <a:xfrm>
            <a:off x="2263582" y="1440160"/>
            <a:ext cx="1642886" cy="369332"/>
          </a:xfrm>
          <a:prstGeom prst="rect">
            <a:avLst/>
          </a:prstGeom>
        </p:spPr>
        <p:txBody>
          <a:bodyPr wrap="none">
            <a:spAutoFit/>
          </a:bodyPr>
          <a:lstStyle/>
          <a:p>
            <a:r>
              <a:rPr lang="nl-NL" b="1" dirty="0" smtClean="0"/>
              <a:t>∀y (</a:t>
            </a:r>
            <a:r>
              <a:rPr lang="nl-NL" b="1" dirty="0" err="1" smtClean="0"/>
              <a:t>Ray</a:t>
            </a:r>
            <a:r>
              <a:rPr lang="nl-NL" b="1" dirty="0" smtClean="0"/>
              <a:t> → </a:t>
            </a:r>
            <a:r>
              <a:rPr lang="nl-NL" b="1" dirty="0" err="1" smtClean="0"/>
              <a:t>Rya</a:t>
            </a:r>
            <a:r>
              <a:rPr lang="nl-NL" b="1" dirty="0" smtClean="0"/>
              <a:t>)</a:t>
            </a:r>
            <a:endParaRPr lang="nl-NL" dirty="0"/>
          </a:p>
        </p:txBody>
      </p:sp>
      <p:sp>
        <p:nvSpPr>
          <p:cNvPr id="35" name="Rectangle 34"/>
          <p:cNvSpPr/>
          <p:nvPr/>
        </p:nvSpPr>
        <p:spPr>
          <a:xfrm>
            <a:off x="2623622" y="2088232"/>
            <a:ext cx="1213794" cy="369332"/>
          </a:xfrm>
          <a:prstGeom prst="rect">
            <a:avLst/>
          </a:prstGeom>
        </p:spPr>
        <p:txBody>
          <a:bodyPr wrap="none">
            <a:spAutoFit/>
          </a:bodyPr>
          <a:lstStyle/>
          <a:p>
            <a:r>
              <a:rPr lang="nl-NL" b="1" dirty="0" err="1" smtClean="0"/>
              <a:t>Raa</a:t>
            </a:r>
            <a:r>
              <a:rPr lang="nl-NL" b="1" dirty="0" smtClean="0"/>
              <a:t> → </a:t>
            </a:r>
            <a:r>
              <a:rPr lang="nl-NL" b="1" dirty="0" err="1" smtClean="0"/>
              <a:t>Raa</a:t>
            </a:r>
            <a:endParaRPr lang="nl-NL" dirty="0"/>
          </a:p>
        </p:txBody>
      </p:sp>
      <p:cxnSp>
        <p:nvCxnSpPr>
          <p:cNvPr id="39" name="Straight Connector 38"/>
          <p:cNvCxnSpPr/>
          <p:nvPr/>
        </p:nvCxnSpPr>
        <p:spPr>
          <a:xfrm>
            <a:off x="2678286" y="38071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2642438" y="43111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1" name="Straight Connector 40"/>
          <p:cNvCxnSpPr/>
          <p:nvPr/>
        </p:nvCxnSpPr>
        <p:spPr>
          <a:xfrm>
            <a:off x="2678286" y="445520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2" name="Oval 41"/>
          <p:cNvSpPr/>
          <p:nvPr/>
        </p:nvSpPr>
        <p:spPr>
          <a:xfrm>
            <a:off x="2642438" y="495926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5" name="Rectangle 44"/>
          <p:cNvSpPr/>
          <p:nvPr/>
        </p:nvSpPr>
        <p:spPr>
          <a:xfrm>
            <a:off x="107504" y="3456384"/>
            <a:ext cx="2574744" cy="369332"/>
          </a:xfrm>
          <a:prstGeom prst="rect">
            <a:avLst/>
          </a:prstGeom>
        </p:spPr>
        <p:txBody>
          <a:bodyPr wrap="none">
            <a:spAutoFit/>
          </a:bodyPr>
          <a:lstStyle/>
          <a:p>
            <a:r>
              <a:rPr lang="nl-NL" b="1" dirty="0" smtClean="0"/>
              <a:t>∀y∀z ((</a:t>
            </a:r>
            <a:r>
              <a:rPr lang="nl-NL" b="1" dirty="0" err="1" smtClean="0"/>
              <a:t>Ray</a:t>
            </a:r>
            <a:r>
              <a:rPr lang="nl-NL" b="1" dirty="0" smtClean="0"/>
              <a:t> ∧ </a:t>
            </a:r>
            <a:r>
              <a:rPr lang="nl-NL" b="1" dirty="0" err="1" smtClean="0"/>
              <a:t>Ryz</a:t>
            </a:r>
            <a:r>
              <a:rPr lang="nl-NL" b="1" dirty="0" smtClean="0"/>
              <a:t>) → </a:t>
            </a:r>
            <a:r>
              <a:rPr lang="nl-NL" b="1" dirty="0" err="1" smtClean="0"/>
              <a:t>Raz</a:t>
            </a:r>
            <a:r>
              <a:rPr lang="nl-NL" b="1" dirty="0" smtClean="0"/>
              <a:t>)</a:t>
            </a:r>
            <a:endParaRPr lang="nl-NL" dirty="0"/>
          </a:p>
        </p:txBody>
      </p:sp>
      <p:sp>
        <p:nvSpPr>
          <p:cNvPr id="46" name="Rectangle 45"/>
          <p:cNvSpPr/>
          <p:nvPr/>
        </p:nvSpPr>
        <p:spPr>
          <a:xfrm>
            <a:off x="323528" y="4095164"/>
            <a:ext cx="2340705" cy="369332"/>
          </a:xfrm>
          <a:prstGeom prst="rect">
            <a:avLst/>
          </a:prstGeom>
        </p:spPr>
        <p:txBody>
          <a:bodyPr wrap="none">
            <a:spAutoFit/>
          </a:bodyPr>
          <a:lstStyle/>
          <a:p>
            <a:r>
              <a:rPr lang="nl-NL" b="1" dirty="0" smtClean="0"/>
              <a:t>∀z ((</a:t>
            </a:r>
            <a:r>
              <a:rPr lang="nl-NL" b="1" dirty="0" err="1" smtClean="0"/>
              <a:t>Raa</a:t>
            </a:r>
            <a:r>
              <a:rPr lang="nl-NL" b="1" dirty="0" smtClean="0"/>
              <a:t> ∧ </a:t>
            </a:r>
            <a:r>
              <a:rPr lang="nl-NL" b="1" dirty="0" err="1" smtClean="0"/>
              <a:t>Raz</a:t>
            </a:r>
            <a:r>
              <a:rPr lang="nl-NL" b="1" dirty="0" smtClean="0"/>
              <a:t>) → </a:t>
            </a:r>
            <a:r>
              <a:rPr lang="nl-NL" b="1" dirty="0" err="1" smtClean="0"/>
              <a:t>Raz</a:t>
            </a:r>
            <a:r>
              <a:rPr lang="nl-NL" b="1" dirty="0" smtClean="0"/>
              <a:t>)</a:t>
            </a:r>
            <a:endParaRPr lang="nl-NL" dirty="0"/>
          </a:p>
        </p:txBody>
      </p:sp>
      <p:sp>
        <p:nvSpPr>
          <p:cNvPr id="47" name="Rectangle 46"/>
          <p:cNvSpPr/>
          <p:nvPr/>
        </p:nvSpPr>
        <p:spPr>
          <a:xfrm>
            <a:off x="692091" y="4733944"/>
            <a:ext cx="2026517" cy="369332"/>
          </a:xfrm>
          <a:prstGeom prst="rect">
            <a:avLst/>
          </a:prstGeom>
        </p:spPr>
        <p:txBody>
          <a:bodyPr wrap="none">
            <a:spAutoFit/>
          </a:bodyPr>
          <a:lstStyle/>
          <a:p>
            <a:r>
              <a:rPr lang="nl-NL" b="1" dirty="0" smtClean="0"/>
              <a:t>(</a:t>
            </a:r>
            <a:r>
              <a:rPr lang="nl-NL" b="1" dirty="0" err="1" smtClean="0"/>
              <a:t>Raa</a:t>
            </a:r>
            <a:r>
              <a:rPr lang="nl-NL" b="1" dirty="0" smtClean="0"/>
              <a:t> ∧ </a:t>
            </a:r>
            <a:r>
              <a:rPr lang="nl-NL" b="1" dirty="0" err="1" smtClean="0"/>
              <a:t>Raa</a:t>
            </a:r>
            <a:r>
              <a:rPr lang="nl-NL" b="1" dirty="0" smtClean="0"/>
              <a:t>) → </a:t>
            </a:r>
            <a:r>
              <a:rPr lang="nl-NL" b="1" dirty="0" err="1" smtClean="0"/>
              <a:t>Raa</a:t>
            </a:r>
            <a:endParaRPr lang="nl-NL" dirty="0"/>
          </a:p>
        </p:txBody>
      </p:sp>
      <p:cxnSp>
        <p:nvCxnSpPr>
          <p:cNvPr id="48" name="Straight Connector 47"/>
          <p:cNvCxnSpPr/>
          <p:nvPr/>
        </p:nvCxnSpPr>
        <p:spPr>
          <a:xfrm flipH="1">
            <a:off x="1566480" y="510327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2718608" y="510327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1475656" y="56073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1" name="Oval 50"/>
          <p:cNvSpPr/>
          <p:nvPr/>
        </p:nvSpPr>
        <p:spPr>
          <a:xfrm>
            <a:off x="3942744" y="56073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Rectangle 51"/>
          <p:cNvSpPr/>
          <p:nvPr/>
        </p:nvSpPr>
        <p:spPr>
          <a:xfrm>
            <a:off x="1638488" y="5463316"/>
            <a:ext cx="1138453" cy="369332"/>
          </a:xfrm>
          <a:prstGeom prst="rect">
            <a:avLst/>
          </a:prstGeom>
        </p:spPr>
        <p:txBody>
          <a:bodyPr wrap="none">
            <a:spAutoFit/>
          </a:bodyPr>
          <a:lstStyle/>
          <a:p>
            <a:r>
              <a:rPr lang="nl-NL" b="1" dirty="0" err="1" smtClean="0"/>
              <a:t>Raa</a:t>
            </a:r>
            <a:r>
              <a:rPr lang="nl-NL" b="1" dirty="0" smtClean="0"/>
              <a:t> ∧ </a:t>
            </a:r>
            <a:r>
              <a:rPr lang="nl-NL" b="1" dirty="0" err="1" smtClean="0"/>
              <a:t>Raa</a:t>
            </a:r>
            <a:endParaRPr lang="nl-NL" dirty="0"/>
          </a:p>
        </p:txBody>
      </p:sp>
      <p:sp>
        <p:nvSpPr>
          <p:cNvPr id="53" name="Rectangle 52"/>
          <p:cNvSpPr/>
          <p:nvPr/>
        </p:nvSpPr>
        <p:spPr>
          <a:xfrm>
            <a:off x="3184584" y="5454024"/>
            <a:ext cx="542136" cy="369332"/>
          </a:xfrm>
          <a:prstGeom prst="rect">
            <a:avLst/>
          </a:prstGeom>
        </p:spPr>
        <p:txBody>
          <a:bodyPr wrap="none">
            <a:spAutoFit/>
          </a:bodyPr>
          <a:lstStyle/>
          <a:p>
            <a:r>
              <a:rPr lang="nl-NL" b="1" dirty="0" err="1" smtClean="0"/>
              <a:t>Raa</a:t>
            </a:r>
            <a:endParaRPr lang="nl-NL" dirty="0"/>
          </a:p>
        </p:txBody>
      </p:sp>
      <p:sp>
        <p:nvSpPr>
          <p:cNvPr id="54" name="Oval 53"/>
          <p:cNvSpPr/>
          <p:nvPr/>
        </p:nvSpPr>
        <p:spPr>
          <a:xfrm>
            <a:off x="2699792" y="29523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5" name="Straight Connector 54"/>
          <p:cNvCxnSpPr/>
          <p:nvPr/>
        </p:nvCxnSpPr>
        <p:spPr>
          <a:xfrm>
            <a:off x="2699792" y="309634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3991774" y="5354052"/>
            <a:ext cx="364202" cy="523220"/>
          </a:xfrm>
          <a:prstGeom prst="rect">
            <a:avLst/>
          </a:prstGeom>
        </p:spPr>
        <p:txBody>
          <a:bodyPr wrap="none">
            <a:spAutoFit/>
          </a:bodyPr>
          <a:lstStyle/>
          <a:p>
            <a:r>
              <a:rPr lang="nl-NL" sz="2800" b="1" dirty="0" smtClean="0"/>
              <a:t>+</a:t>
            </a:r>
            <a:endParaRPr lang="nl-NL" b="1" dirty="0"/>
          </a:p>
        </p:txBody>
      </p:sp>
      <p:cxnSp>
        <p:nvCxnSpPr>
          <p:cNvPr id="67" name="Straight Connector 66"/>
          <p:cNvCxnSpPr/>
          <p:nvPr/>
        </p:nvCxnSpPr>
        <p:spPr>
          <a:xfrm flipH="1">
            <a:off x="356022" y="573325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429464" y="6093296"/>
            <a:ext cx="542136" cy="369332"/>
          </a:xfrm>
          <a:prstGeom prst="rect">
            <a:avLst/>
          </a:prstGeom>
        </p:spPr>
        <p:txBody>
          <a:bodyPr wrap="none">
            <a:spAutoFit/>
          </a:bodyPr>
          <a:lstStyle/>
          <a:p>
            <a:r>
              <a:rPr lang="nl-NL" b="1" dirty="0" err="1" smtClean="0"/>
              <a:t>Raa</a:t>
            </a:r>
            <a:endParaRPr lang="nl-NL" dirty="0"/>
          </a:p>
        </p:txBody>
      </p:sp>
      <p:sp>
        <p:nvSpPr>
          <p:cNvPr id="69" name="Rectangle 68"/>
          <p:cNvSpPr/>
          <p:nvPr/>
        </p:nvSpPr>
        <p:spPr>
          <a:xfrm>
            <a:off x="2699792" y="6093296"/>
            <a:ext cx="542136" cy="369332"/>
          </a:xfrm>
          <a:prstGeom prst="rect">
            <a:avLst/>
          </a:prstGeom>
        </p:spPr>
        <p:txBody>
          <a:bodyPr wrap="none">
            <a:spAutoFit/>
          </a:bodyPr>
          <a:lstStyle/>
          <a:p>
            <a:r>
              <a:rPr lang="nl-NL" b="1" dirty="0" err="1" smtClean="0"/>
              <a:t>Raa</a:t>
            </a:r>
            <a:endParaRPr lang="nl-NL" dirty="0"/>
          </a:p>
        </p:txBody>
      </p:sp>
      <p:sp>
        <p:nvSpPr>
          <p:cNvPr id="70" name="Oval 69"/>
          <p:cNvSpPr/>
          <p:nvPr/>
        </p:nvSpPr>
        <p:spPr>
          <a:xfrm>
            <a:off x="251520" y="63093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Oval 72"/>
          <p:cNvSpPr/>
          <p:nvPr/>
        </p:nvSpPr>
        <p:spPr>
          <a:xfrm>
            <a:off x="2699792" y="63093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4" name="TextBox 73"/>
          <p:cNvSpPr txBox="1"/>
          <p:nvPr/>
        </p:nvSpPr>
        <p:spPr>
          <a:xfrm>
            <a:off x="5076056" y="4233862"/>
            <a:ext cx="3960440" cy="1200329"/>
          </a:xfrm>
          <a:prstGeom prst="rect">
            <a:avLst/>
          </a:prstGeom>
          <a:noFill/>
        </p:spPr>
        <p:txBody>
          <a:bodyPr wrap="square" rtlCol="0">
            <a:spAutoFit/>
          </a:bodyPr>
          <a:lstStyle/>
          <a:p>
            <a:r>
              <a:rPr lang="nl-NL" dirty="0" smtClean="0"/>
              <a:t>Er zijn twee uitontwikkelde open takken, die allebei hetzelfde tegenvoorbeeld opleveren: Een domein D met één object </a:t>
            </a:r>
            <a:r>
              <a:rPr lang="nl-NL" b="1" dirty="0" smtClean="0"/>
              <a:t>a</a:t>
            </a:r>
            <a:r>
              <a:rPr lang="nl-NL" dirty="0" smtClean="0"/>
              <a:t> en </a:t>
            </a:r>
            <a:r>
              <a:rPr lang="nl-NL" b="1" dirty="0" err="1" smtClean="0"/>
              <a:t>Raa</a:t>
            </a:r>
            <a:r>
              <a:rPr lang="nl-NL" dirty="0" smtClean="0"/>
              <a:t> onwaar.</a:t>
            </a:r>
            <a:endParaRPr lang="nl-NL" dirty="0"/>
          </a:p>
        </p:txBody>
      </p:sp>
      <p:sp>
        <p:nvSpPr>
          <p:cNvPr id="75" name="TextBox 74"/>
          <p:cNvSpPr txBox="1"/>
          <p:nvPr/>
        </p:nvSpPr>
        <p:spPr>
          <a:xfrm>
            <a:off x="5076056" y="5530006"/>
            <a:ext cx="3960440" cy="923330"/>
          </a:xfrm>
          <a:prstGeom prst="rect">
            <a:avLst/>
          </a:prstGeom>
          <a:noFill/>
        </p:spPr>
        <p:txBody>
          <a:bodyPr wrap="square" rtlCol="0">
            <a:spAutoFit/>
          </a:bodyPr>
          <a:lstStyle/>
          <a:p>
            <a:r>
              <a:rPr lang="nl-NL" dirty="0" smtClean="0"/>
              <a:t>Het antwoord op de vraag is dus                 ‘nee’, </a:t>
            </a:r>
            <a:r>
              <a:rPr lang="nl-NL" i="1" dirty="0" smtClean="0"/>
              <a:t>niet</a:t>
            </a:r>
            <a:r>
              <a:rPr lang="nl-NL" dirty="0" smtClean="0"/>
              <a:t> iedere symmetrische                          en transitieve relatie is reflexief</a:t>
            </a:r>
            <a:endParaRPr lang="nl-NL" dirty="0"/>
          </a:p>
        </p:txBody>
      </p:sp>
      <p:cxnSp>
        <p:nvCxnSpPr>
          <p:cNvPr id="44" name="Straight Connector 43"/>
          <p:cNvCxnSpPr/>
          <p:nvPr/>
        </p:nvCxnSpPr>
        <p:spPr>
          <a:xfrm>
            <a:off x="3995936" y="2420888"/>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5148064" y="29249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8" name="Rectangle 57"/>
          <p:cNvSpPr/>
          <p:nvPr/>
        </p:nvSpPr>
        <p:spPr>
          <a:xfrm>
            <a:off x="4499992" y="2780928"/>
            <a:ext cx="542136" cy="369332"/>
          </a:xfrm>
          <a:prstGeom prst="rect">
            <a:avLst/>
          </a:prstGeom>
        </p:spPr>
        <p:txBody>
          <a:bodyPr wrap="none">
            <a:spAutoFit/>
          </a:bodyPr>
          <a:lstStyle/>
          <a:p>
            <a:r>
              <a:rPr lang="nl-NL" b="1" dirty="0" err="1" smtClean="0"/>
              <a:t>Raa</a:t>
            </a:r>
            <a:endParaRPr lang="nl-NL" dirty="0"/>
          </a:p>
        </p:txBody>
      </p:sp>
      <p:sp>
        <p:nvSpPr>
          <p:cNvPr id="59" name="Rectangle 58"/>
          <p:cNvSpPr/>
          <p:nvPr/>
        </p:nvSpPr>
        <p:spPr>
          <a:xfrm>
            <a:off x="5148064" y="2780928"/>
            <a:ext cx="364202" cy="523220"/>
          </a:xfrm>
          <a:prstGeom prst="rect">
            <a:avLst/>
          </a:prstGeom>
        </p:spPr>
        <p:txBody>
          <a:bodyPr wrap="none">
            <a:spAutoFit/>
          </a:bodyPr>
          <a:lstStyle/>
          <a:p>
            <a:r>
              <a:rPr lang="nl-NL" sz="2800" b="1" dirty="0" smtClean="0"/>
              <a:t>+</a:t>
            </a:r>
            <a:endParaRPr lang="nl-NL" b="1" dirty="0"/>
          </a:p>
        </p:txBody>
      </p:sp>
      <p:sp>
        <p:nvSpPr>
          <p:cNvPr id="60" name="Rectangle 59"/>
          <p:cNvSpPr/>
          <p:nvPr/>
        </p:nvSpPr>
        <p:spPr>
          <a:xfrm>
            <a:off x="2987824" y="2780928"/>
            <a:ext cx="542136" cy="369332"/>
          </a:xfrm>
          <a:prstGeom prst="rect">
            <a:avLst/>
          </a:prstGeom>
        </p:spPr>
        <p:txBody>
          <a:bodyPr wrap="none">
            <a:spAutoFit/>
          </a:bodyPr>
          <a:lstStyle/>
          <a:p>
            <a:r>
              <a:rPr lang="nl-NL" b="1" dirty="0" err="1" smtClean="0"/>
              <a:t>Raa</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animEffect transition="in" filter="fade">
                                      <p:cBhvr>
                                        <p:cTn id="7" dur="2000"/>
                                        <p:tgtEl>
                                          <p:spTgt spid="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5">
                                            <p:txEl>
                                              <p:pRg st="0" end="0"/>
                                            </p:txEl>
                                          </p:spTgt>
                                        </p:tgtEl>
                                        <p:attrNameLst>
                                          <p:attrName>style.visibility</p:attrName>
                                        </p:attrNameLst>
                                      </p:cBhvr>
                                      <p:to>
                                        <p:strVal val="visible"/>
                                      </p:to>
                                    </p:set>
                                    <p:animEffect transition="in" filter="fade">
                                      <p:cBhvr>
                                        <p:cTn id="12" dur="2000"/>
                                        <p:tgtEl>
                                          <p:spTgt spid="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build="allAtOnce"/>
      <p:bldP spid="75" grpId="0" build="allAtOnce"/>
    </p:bldLst>
  </p:timing>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Identiteit</a:t>
            </a:r>
            <a:endParaRPr lang="nl-NL" sz="3600" dirty="0"/>
          </a:p>
        </p:txBody>
      </p:sp>
      <p:sp>
        <p:nvSpPr>
          <p:cNvPr id="15" name="Rectangle 14"/>
          <p:cNvSpPr/>
          <p:nvPr/>
        </p:nvSpPr>
        <p:spPr>
          <a:xfrm>
            <a:off x="539552" y="1556792"/>
            <a:ext cx="7974632" cy="2031325"/>
          </a:xfrm>
          <a:prstGeom prst="rect">
            <a:avLst/>
          </a:prstGeom>
        </p:spPr>
        <p:txBody>
          <a:bodyPr wrap="square">
            <a:spAutoFit/>
          </a:bodyPr>
          <a:lstStyle/>
          <a:p>
            <a:r>
              <a:rPr lang="nl-NL" dirty="0" smtClean="0"/>
              <a:t>Neem de volgende uitspraak:</a:t>
            </a:r>
          </a:p>
          <a:p>
            <a:endParaRPr lang="nl-NL" dirty="0" smtClean="0"/>
          </a:p>
          <a:p>
            <a:r>
              <a:rPr lang="nl-NL" i="1" dirty="0" smtClean="0"/>
              <a:t>De ochtendster is de </a:t>
            </a:r>
            <a:r>
              <a:rPr lang="nl-NL" i="1" dirty="0" err="1" smtClean="0"/>
              <a:t>avondster</a:t>
            </a:r>
            <a:endParaRPr lang="nl-NL" i="1" dirty="0" smtClean="0"/>
          </a:p>
          <a:p>
            <a:endParaRPr lang="nl-NL" dirty="0" smtClean="0"/>
          </a:p>
          <a:p>
            <a:r>
              <a:rPr lang="nl-NL" dirty="0" smtClean="0"/>
              <a:t>Kunnen we deze uitspraak uitdrukken in de </a:t>
            </a:r>
            <a:r>
              <a:rPr lang="nl-NL" dirty="0" err="1" smtClean="0"/>
              <a:t>predikaat-logica</a:t>
            </a:r>
            <a:r>
              <a:rPr lang="nl-NL" dirty="0" smtClean="0"/>
              <a:t>?</a:t>
            </a:r>
          </a:p>
          <a:p>
            <a:endParaRPr lang="nl-NL" dirty="0" smtClean="0"/>
          </a:p>
          <a:p>
            <a:endParaRPr lang="nl-NL" dirty="0" smtClean="0"/>
          </a:p>
        </p:txBody>
      </p:sp>
      <p:sp>
        <p:nvSpPr>
          <p:cNvPr id="6" name="TextBox 5"/>
          <p:cNvSpPr txBox="1"/>
          <p:nvPr/>
        </p:nvSpPr>
        <p:spPr>
          <a:xfrm>
            <a:off x="1835696" y="3284984"/>
            <a:ext cx="2880320" cy="923330"/>
          </a:xfrm>
          <a:prstGeom prst="rect">
            <a:avLst/>
          </a:prstGeom>
          <a:noFill/>
        </p:spPr>
        <p:txBody>
          <a:bodyPr wrap="square" rtlCol="0">
            <a:spAutoFit/>
          </a:bodyPr>
          <a:lstStyle/>
          <a:p>
            <a:r>
              <a:rPr lang="nl-NL" b="1" dirty="0" smtClean="0"/>
              <a:t>a</a:t>
            </a:r>
            <a:r>
              <a:rPr lang="nl-NL" dirty="0" smtClean="0"/>
              <a:t>: De ochtendster         </a:t>
            </a:r>
          </a:p>
          <a:p>
            <a:r>
              <a:rPr lang="nl-NL" b="1" dirty="0" smtClean="0"/>
              <a:t>b</a:t>
            </a:r>
            <a:r>
              <a:rPr lang="nl-NL" dirty="0" smtClean="0"/>
              <a:t>: De </a:t>
            </a:r>
            <a:r>
              <a:rPr lang="nl-NL" dirty="0" err="1" smtClean="0"/>
              <a:t>avondster</a:t>
            </a:r>
            <a:endParaRPr lang="nl-NL" dirty="0" smtClean="0"/>
          </a:p>
          <a:p>
            <a:r>
              <a:rPr lang="nl-NL" b="1" dirty="0" err="1" smtClean="0"/>
              <a:t>Rxy</a:t>
            </a:r>
            <a:r>
              <a:rPr lang="nl-NL" dirty="0" smtClean="0"/>
              <a:t>: x is gelijk aan y</a:t>
            </a:r>
          </a:p>
        </p:txBody>
      </p:sp>
      <p:sp>
        <p:nvSpPr>
          <p:cNvPr id="7" name="TextBox 6"/>
          <p:cNvSpPr txBox="1"/>
          <p:nvPr/>
        </p:nvSpPr>
        <p:spPr>
          <a:xfrm>
            <a:off x="539552" y="3284984"/>
            <a:ext cx="2376264" cy="369332"/>
          </a:xfrm>
          <a:prstGeom prst="rect">
            <a:avLst/>
          </a:prstGeom>
          <a:noFill/>
        </p:spPr>
        <p:txBody>
          <a:bodyPr wrap="square" rtlCol="0">
            <a:spAutoFit/>
          </a:bodyPr>
          <a:lstStyle/>
          <a:p>
            <a:r>
              <a:rPr lang="nl-NL" b="1" dirty="0" smtClean="0"/>
              <a:t>Rab</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fade">
                                      <p:cBhvr>
                                        <p:cTn id="16"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Lst>
  </p:timing>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Identiteit</a:t>
            </a:r>
            <a:endParaRPr lang="nl-NL" sz="3600" dirty="0"/>
          </a:p>
        </p:txBody>
      </p:sp>
      <p:sp>
        <p:nvSpPr>
          <p:cNvPr id="15" name="Rectangle 14"/>
          <p:cNvSpPr/>
          <p:nvPr/>
        </p:nvSpPr>
        <p:spPr>
          <a:xfrm>
            <a:off x="539552" y="1556792"/>
            <a:ext cx="7974632" cy="2031325"/>
          </a:xfrm>
          <a:prstGeom prst="rect">
            <a:avLst/>
          </a:prstGeom>
        </p:spPr>
        <p:txBody>
          <a:bodyPr wrap="square">
            <a:spAutoFit/>
          </a:bodyPr>
          <a:lstStyle/>
          <a:p>
            <a:r>
              <a:rPr lang="nl-NL" dirty="0" smtClean="0"/>
              <a:t>Neem de volgende uitspraak:</a:t>
            </a:r>
          </a:p>
          <a:p>
            <a:endParaRPr lang="nl-NL" dirty="0" smtClean="0"/>
          </a:p>
          <a:p>
            <a:r>
              <a:rPr lang="nl-NL" i="1" dirty="0" smtClean="0"/>
              <a:t>De ochtendster is de </a:t>
            </a:r>
            <a:r>
              <a:rPr lang="nl-NL" i="1" dirty="0" err="1" smtClean="0"/>
              <a:t>avondster</a:t>
            </a:r>
            <a:endParaRPr lang="nl-NL" i="1" dirty="0" smtClean="0"/>
          </a:p>
          <a:p>
            <a:endParaRPr lang="nl-NL" dirty="0" smtClean="0"/>
          </a:p>
          <a:p>
            <a:r>
              <a:rPr lang="nl-NL" dirty="0" smtClean="0"/>
              <a:t>Kunnen we deze uitspraak uitdrukken in de </a:t>
            </a:r>
            <a:r>
              <a:rPr lang="nl-NL" dirty="0" err="1" smtClean="0"/>
              <a:t>predikaat-logica</a:t>
            </a:r>
            <a:r>
              <a:rPr lang="nl-NL" dirty="0" smtClean="0"/>
              <a:t>?</a:t>
            </a:r>
          </a:p>
          <a:p>
            <a:endParaRPr lang="nl-NL" dirty="0" smtClean="0"/>
          </a:p>
          <a:p>
            <a:endParaRPr lang="nl-NL" dirty="0" smtClean="0"/>
          </a:p>
        </p:txBody>
      </p:sp>
      <p:sp>
        <p:nvSpPr>
          <p:cNvPr id="6" name="TextBox 5"/>
          <p:cNvSpPr txBox="1"/>
          <p:nvPr/>
        </p:nvSpPr>
        <p:spPr>
          <a:xfrm>
            <a:off x="1835696" y="3284984"/>
            <a:ext cx="2880320" cy="923330"/>
          </a:xfrm>
          <a:prstGeom prst="rect">
            <a:avLst/>
          </a:prstGeom>
          <a:noFill/>
        </p:spPr>
        <p:txBody>
          <a:bodyPr wrap="square" rtlCol="0">
            <a:spAutoFit/>
          </a:bodyPr>
          <a:lstStyle/>
          <a:p>
            <a:r>
              <a:rPr lang="nl-NL" b="1" dirty="0" smtClean="0"/>
              <a:t>a</a:t>
            </a:r>
            <a:r>
              <a:rPr lang="nl-NL" dirty="0" smtClean="0"/>
              <a:t>: De ochtendster         </a:t>
            </a:r>
          </a:p>
          <a:p>
            <a:r>
              <a:rPr lang="nl-NL" b="1" dirty="0" smtClean="0"/>
              <a:t>b</a:t>
            </a:r>
            <a:r>
              <a:rPr lang="nl-NL" dirty="0" smtClean="0"/>
              <a:t>: De </a:t>
            </a:r>
            <a:r>
              <a:rPr lang="nl-NL" dirty="0" err="1" smtClean="0"/>
              <a:t>avondster</a:t>
            </a:r>
            <a:endParaRPr lang="nl-NL" dirty="0" smtClean="0"/>
          </a:p>
          <a:p>
            <a:r>
              <a:rPr lang="nl-NL" b="1" dirty="0" smtClean="0"/>
              <a:t>=</a:t>
            </a:r>
            <a:r>
              <a:rPr lang="nl-NL" b="1" dirty="0" err="1" smtClean="0"/>
              <a:t>xy</a:t>
            </a:r>
            <a:r>
              <a:rPr lang="nl-NL" dirty="0" smtClean="0"/>
              <a:t>: x is gelijk aan y</a:t>
            </a:r>
          </a:p>
        </p:txBody>
      </p:sp>
      <p:sp>
        <p:nvSpPr>
          <p:cNvPr id="7" name="TextBox 6"/>
          <p:cNvSpPr txBox="1"/>
          <p:nvPr/>
        </p:nvSpPr>
        <p:spPr>
          <a:xfrm>
            <a:off x="539552" y="3284984"/>
            <a:ext cx="2376264" cy="369332"/>
          </a:xfrm>
          <a:prstGeom prst="rect">
            <a:avLst/>
          </a:prstGeom>
          <a:noFill/>
        </p:spPr>
        <p:txBody>
          <a:bodyPr wrap="square" rtlCol="0">
            <a:spAutoFit/>
          </a:bodyPr>
          <a:lstStyle/>
          <a:p>
            <a:r>
              <a:rPr lang="nl-NL" b="1" dirty="0" smtClean="0"/>
              <a:t>=</a:t>
            </a:r>
            <a:r>
              <a:rPr lang="nl-NL" b="1" dirty="0" err="1" smtClean="0"/>
              <a:t>ab</a:t>
            </a:r>
            <a:endParaRPr lang="nl-NL" dirty="0"/>
          </a:p>
        </p:txBody>
      </p:sp>
    </p:spTree>
  </p:cSld>
  <p:clrMapOvr>
    <a:masterClrMapping/>
  </p:clrMapOvr>
  <p:timing>
    <p:tnLst>
      <p:par>
        <p:cTn id="1" dur="indefinite" restart="never" nodeType="tmRoot"/>
      </p:par>
    </p:tnLst>
  </p:timing>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Identiteit</a:t>
            </a:r>
            <a:endParaRPr lang="nl-NL" sz="3600" dirty="0"/>
          </a:p>
        </p:txBody>
      </p:sp>
      <p:sp>
        <p:nvSpPr>
          <p:cNvPr id="15" name="Rectangle 14"/>
          <p:cNvSpPr/>
          <p:nvPr/>
        </p:nvSpPr>
        <p:spPr>
          <a:xfrm>
            <a:off x="539552" y="1556792"/>
            <a:ext cx="7974632" cy="2031325"/>
          </a:xfrm>
          <a:prstGeom prst="rect">
            <a:avLst/>
          </a:prstGeom>
        </p:spPr>
        <p:txBody>
          <a:bodyPr wrap="square">
            <a:spAutoFit/>
          </a:bodyPr>
          <a:lstStyle/>
          <a:p>
            <a:r>
              <a:rPr lang="nl-NL" dirty="0" smtClean="0"/>
              <a:t>Neem de volgende uitspraak:</a:t>
            </a:r>
          </a:p>
          <a:p>
            <a:endParaRPr lang="nl-NL" dirty="0" smtClean="0"/>
          </a:p>
          <a:p>
            <a:r>
              <a:rPr lang="nl-NL" i="1" dirty="0" smtClean="0"/>
              <a:t>De ochtendster is de </a:t>
            </a:r>
            <a:r>
              <a:rPr lang="nl-NL" i="1" dirty="0" err="1" smtClean="0"/>
              <a:t>avondster</a:t>
            </a:r>
            <a:endParaRPr lang="nl-NL" i="1" dirty="0" smtClean="0"/>
          </a:p>
          <a:p>
            <a:endParaRPr lang="nl-NL" dirty="0" smtClean="0"/>
          </a:p>
          <a:p>
            <a:r>
              <a:rPr lang="nl-NL" dirty="0" smtClean="0"/>
              <a:t>Kunnen we deze uitspraak uitdrukken in de </a:t>
            </a:r>
            <a:r>
              <a:rPr lang="nl-NL" dirty="0" err="1" smtClean="0"/>
              <a:t>predikaat-logica</a:t>
            </a:r>
            <a:r>
              <a:rPr lang="nl-NL" dirty="0" smtClean="0"/>
              <a:t>?</a:t>
            </a:r>
          </a:p>
          <a:p>
            <a:endParaRPr lang="nl-NL" dirty="0" smtClean="0"/>
          </a:p>
          <a:p>
            <a:endParaRPr lang="nl-NL" dirty="0" smtClean="0"/>
          </a:p>
        </p:txBody>
      </p:sp>
      <p:sp>
        <p:nvSpPr>
          <p:cNvPr id="6" name="TextBox 5"/>
          <p:cNvSpPr txBox="1"/>
          <p:nvPr/>
        </p:nvSpPr>
        <p:spPr>
          <a:xfrm>
            <a:off x="1835696" y="3284984"/>
            <a:ext cx="2880320" cy="646331"/>
          </a:xfrm>
          <a:prstGeom prst="rect">
            <a:avLst/>
          </a:prstGeom>
          <a:noFill/>
        </p:spPr>
        <p:txBody>
          <a:bodyPr wrap="square" rtlCol="0">
            <a:spAutoFit/>
          </a:bodyPr>
          <a:lstStyle/>
          <a:p>
            <a:r>
              <a:rPr lang="nl-NL" b="1" dirty="0" smtClean="0"/>
              <a:t>a</a:t>
            </a:r>
            <a:r>
              <a:rPr lang="nl-NL" dirty="0" smtClean="0"/>
              <a:t>: De ochtendster         </a:t>
            </a:r>
          </a:p>
          <a:p>
            <a:r>
              <a:rPr lang="nl-NL" b="1" dirty="0" smtClean="0"/>
              <a:t>b</a:t>
            </a:r>
            <a:r>
              <a:rPr lang="nl-NL" dirty="0" smtClean="0"/>
              <a:t>: De </a:t>
            </a:r>
            <a:r>
              <a:rPr lang="nl-NL" dirty="0" err="1" smtClean="0"/>
              <a:t>avondster</a:t>
            </a:r>
            <a:endParaRPr lang="nl-NL" dirty="0" smtClean="0"/>
          </a:p>
        </p:txBody>
      </p:sp>
      <p:sp>
        <p:nvSpPr>
          <p:cNvPr id="7" name="TextBox 6"/>
          <p:cNvSpPr txBox="1"/>
          <p:nvPr/>
        </p:nvSpPr>
        <p:spPr>
          <a:xfrm>
            <a:off x="539552" y="3284984"/>
            <a:ext cx="2376264" cy="369332"/>
          </a:xfrm>
          <a:prstGeom prst="rect">
            <a:avLst/>
          </a:prstGeom>
          <a:noFill/>
        </p:spPr>
        <p:txBody>
          <a:bodyPr wrap="square" rtlCol="0">
            <a:spAutoFit/>
          </a:bodyPr>
          <a:lstStyle/>
          <a:p>
            <a:r>
              <a:rPr lang="nl-NL" b="1" dirty="0" smtClean="0"/>
              <a:t>a=b</a:t>
            </a:r>
            <a:endParaRPr lang="nl-NL" dirty="0"/>
          </a:p>
        </p:txBody>
      </p:sp>
      <p:sp>
        <p:nvSpPr>
          <p:cNvPr id="8" name="TextBox 7"/>
          <p:cNvSpPr txBox="1"/>
          <p:nvPr/>
        </p:nvSpPr>
        <p:spPr>
          <a:xfrm>
            <a:off x="4211960" y="3356992"/>
            <a:ext cx="4392488" cy="369332"/>
          </a:xfrm>
          <a:prstGeom prst="rect">
            <a:avLst/>
          </a:prstGeom>
          <a:noFill/>
        </p:spPr>
        <p:txBody>
          <a:bodyPr wrap="square" rtlCol="0">
            <a:spAutoFit/>
          </a:bodyPr>
          <a:lstStyle/>
          <a:p>
            <a:r>
              <a:rPr lang="nl-NL" dirty="0" smtClean="0"/>
              <a:t>Met </a:t>
            </a:r>
            <a:r>
              <a:rPr lang="nl-NL" b="1" dirty="0" smtClean="0"/>
              <a:t>=</a:t>
            </a:r>
            <a:r>
              <a:rPr lang="nl-NL" dirty="0" smtClean="0"/>
              <a:t> een nieuwe logische constante!</a:t>
            </a:r>
            <a:endParaRPr lang="nl-NL" dirty="0"/>
          </a:p>
        </p:txBody>
      </p:sp>
      <p:sp>
        <p:nvSpPr>
          <p:cNvPr id="10" name="Rectangle 9"/>
          <p:cNvSpPr/>
          <p:nvPr/>
        </p:nvSpPr>
        <p:spPr>
          <a:xfrm>
            <a:off x="4211960" y="3933056"/>
            <a:ext cx="2733441" cy="369332"/>
          </a:xfrm>
          <a:prstGeom prst="rect">
            <a:avLst/>
          </a:prstGeom>
        </p:spPr>
        <p:txBody>
          <a:bodyPr wrap="none">
            <a:spAutoFit/>
          </a:bodyPr>
          <a:lstStyle/>
          <a:p>
            <a:r>
              <a:rPr lang="nl-NL" b="1" dirty="0" smtClean="0">
                <a:solidFill>
                  <a:srgbClr val="0070C0"/>
                </a:solidFill>
              </a:rPr>
              <a:t>∧ , V , → , ¬ , ↔ , ∀ , ∃ ,</a:t>
            </a:r>
            <a:r>
              <a:rPr lang="nl-NL" b="1" dirty="0" smtClean="0"/>
              <a:t>  </a:t>
            </a:r>
            <a:r>
              <a:rPr lang="nl-NL" b="1" dirty="0" smtClean="0">
                <a:solidFill>
                  <a:srgbClr val="0070C0"/>
                </a:solidFill>
              </a:rPr>
              <a:t>= </a:t>
            </a:r>
            <a:endParaRPr lang="nl-NL" b="1" dirty="0">
              <a:solidFill>
                <a:srgbClr val="0070C0"/>
              </a:solidFill>
            </a:endParaRPr>
          </a:p>
        </p:txBody>
      </p:sp>
      <p:sp>
        <p:nvSpPr>
          <p:cNvPr id="13" name="Rectangle 12"/>
          <p:cNvSpPr/>
          <p:nvPr/>
        </p:nvSpPr>
        <p:spPr>
          <a:xfrm>
            <a:off x="539552" y="4581128"/>
            <a:ext cx="7974632" cy="369332"/>
          </a:xfrm>
          <a:prstGeom prst="rect">
            <a:avLst/>
          </a:prstGeom>
        </p:spPr>
        <p:txBody>
          <a:bodyPr wrap="square">
            <a:spAutoFit/>
          </a:bodyPr>
          <a:lstStyle/>
          <a:p>
            <a:r>
              <a:rPr lang="nl-NL" i="1" dirty="0" smtClean="0"/>
              <a:t>De ochtendster is niet de </a:t>
            </a:r>
            <a:r>
              <a:rPr lang="nl-NL" i="1" dirty="0" err="1" smtClean="0"/>
              <a:t>avondster</a:t>
            </a:r>
            <a:endParaRPr lang="nl-NL" i="1" dirty="0" smtClean="0"/>
          </a:p>
        </p:txBody>
      </p:sp>
      <p:sp>
        <p:nvSpPr>
          <p:cNvPr id="14" name="TextBox 13"/>
          <p:cNvSpPr txBox="1"/>
          <p:nvPr/>
        </p:nvSpPr>
        <p:spPr>
          <a:xfrm>
            <a:off x="539552" y="5147900"/>
            <a:ext cx="2376264" cy="369332"/>
          </a:xfrm>
          <a:prstGeom prst="rect">
            <a:avLst/>
          </a:prstGeom>
          <a:noFill/>
        </p:spPr>
        <p:txBody>
          <a:bodyPr wrap="square" rtlCol="0">
            <a:spAutoFit/>
          </a:bodyPr>
          <a:lstStyle/>
          <a:p>
            <a:r>
              <a:rPr lang="nl-NL" b="1" dirty="0" smtClean="0"/>
              <a:t>¬(a=b)</a:t>
            </a:r>
            <a:endParaRPr lang="nl-NL" dirty="0"/>
          </a:p>
        </p:txBody>
      </p:sp>
      <p:sp>
        <p:nvSpPr>
          <p:cNvPr id="16" name="TextBox 15"/>
          <p:cNvSpPr txBox="1"/>
          <p:nvPr/>
        </p:nvSpPr>
        <p:spPr>
          <a:xfrm>
            <a:off x="539552" y="5651956"/>
            <a:ext cx="2376264" cy="369332"/>
          </a:xfrm>
          <a:prstGeom prst="rect">
            <a:avLst/>
          </a:prstGeom>
          <a:noFill/>
        </p:spPr>
        <p:txBody>
          <a:bodyPr wrap="square" rtlCol="0">
            <a:spAutoFit/>
          </a:bodyPr>
          <a:lstStyle/>
          <a:p>
            <a:r>
              <a:rPr lang="nl-NL" b="1" dirty="0" smtClean="0"/>
              <a:t>a</a:t>
            </a:r>
            <a:r>
              <a:rPr lang="nl-NL" dirty="0" smtClean="0"/>
              <a:t> </a:t>
            </a:r>
            <a:r>
              <a:rPr lang="nl-NL" b="1" dirty="0" smtClean="0"/>
              <a:t>≠</a:t>
            </a:r>
            <a:r>
              <a:rPr lang="nl-NL" dirty="0" smtClean="0"/>
              <a:t> </a:t>
            </a:r>
            <a:r>
              <a:rPr lang="nl-NL" b="1" dirty="0" smtClean="0"/>
              <a:t>b</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20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fade">
                                      <p:cBhvr>
                                        <p:cTn id="17" dur="20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xEl>
                                              <p:pRg st="0" end="0"/>
                                            </p:txEl>
                                          </p:spTgt>
                                        </p:tgtEl>
                                        <p:attrNameLst>
                                          <p:attrName>style.visibility</p:attrName>
                                        </p:attrNameLst>
                                      </p:cBhvr>
                                      <p:to>
                                        <p:strVal val="visible"/>
                                      </p:to>
                                    </p:set>
                                    <p:animEffect transition="in" filter="fade">
                                      <p:cBhvr>
                                        <p:cTn id="22"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3" grpId="0" build="allAtOnce"/>
      <p:bldP spid="14" grpId="0" build="allAtOnce"/>
      <p:bldP spid="16" grpId="0" build="allAtOnce"/>
    </p:bldLst>
  </p:timing>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relaties (vervolg)</a:t>
            </a:r>
            <a:endParaRPr lang="nl-NL" sz="3600" dirty="0"/>
          </a:p>
        </p:txBody>
      </p:sp>
      <p:sp>
        <p:nvSpPr>
          <p:cNvPr id="15" name="Rectangle 14"/>
          <p:cNvSpPr/>
          <p:nvPr/>
        </p:nvSpPr>
        <p:spPr>
          <a:xfrm>
            <a:off x="539552" y="1556792"/>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samenhangend</a:t>
            </a:r>
            <a:r>
              <a:rPr lang="nl-NL" dirty="0" smtClean="0"/>
              <a:t> dan en slechts dan als </a:t>
            </a:r>
            <a:r>
              <a:rPr lang="nl-NL" b="1" dirty="0" smtClean="0"/>
              <a:t>∀x∀y (x ≠ y → (</a:t>
            </a:r>
            <a:r>
              <a:rPr lang="nl-NL" b="1" dirty="0" err="1" smtClean="0"/>
              <a:t>Rxy</a:t>
            </a:r>
            <a:r>
              <a:rPr lang="nl-NL" b="1" dirty="0" smtClean="0"/>
              <a:t> V </a:t>
            </a:r>
            <a:r>
              <a:rPr lang="nl-NL" b="1" dirty="0" err="1" smtClean="0"/>
              <a:t>Ryx</a:t>
            </a:r>
            <a:r>
              <a:rPr lang="nl-NL" b="1" dirty="0" smtClean="0"/>
              <a:t>))</a:t>
            </a:r>
            <a:endParaRPr lang="nl-NL" dirty="0"/>
          </a:p>
        </p:txBody>
      </p:sp>
      <p:sp>
        <p:nvSpPr>
          <p:cNvPr id="17" name="Rectangle 16"/>
          <p:cNvSpPr/>
          <p:nvPr/>
        </p:nvSpPr>
        <p:spPr>
          <a:xfrm>
            <a:off x="539552" y="2420888"/>
            <a:ext cx="7974632" cy="646331"/>
          </a:xfrm>
          <a:prstGeom prst="rect">
            <a:avLst/>
          </a:prstGeom>
        </p:spPr>
        <p:txBody>
          <a:bodyPr wrap="square">
            <a:spAutoFit/>
          </a:bodyPr>
          <a:lstStyle/>
          <a:p>
            <a:r>
              <a:rPr lang="nl-NL" dirty="0" smtClean="0"/>
              <a:t>Een relatie </a:t>
            </a:r>
            <a:r>
              <a:rPr lang="nl-NL" b="1" dirty="0" err="1" smtClean="0"/>
              <a:t>Rxy</a:t>
            </a:r>
            <a:r>
              <a:rPr lang="nl-NL" dirty="0" smtClean="0"/>
              <a:t> is een </a:t>
            </a:r>
            <a:r>
              <a:rPr lang="nl-NL" u="sng" dirty="0" smtClean="0"/>
              <a:t>totale ordening</a:t>
            </a:r>
            <a:r>
              <a:rPr lang="nl-NL" dirty="0" smtClean="0"/>
              <a:t> (of </a:t>
            </a:r>
            <a:r>
              <a:rPr lang="nl-NL" u="sng" dirty="0" smtClean="0"/>
              <a:t>lineaire ordening</a:t>
            </a:r>
            <a:r>
              <a:rPr lang="nl-NL" dirty="0" smtClean="0"/>
              <a:t>) dan en slechts dan als </a:t>
            </a:r>
            <a:r>
              <a:rPr lang="nl-NL" b="1" dirty="0" err="1" smtClean="0"/>
              <a:t>Rxy</a:t>
            </a:r>
            <a:r>
              <a:rPr lang="nl-NL" dirty="0" smtClean="0"/>
              <a:t> een samenhangende ordeningsrelatie (partiële ordening) is</a:t>
            </a:r>
            <a:endParaRPr lang="nl-NL" dirty="0"/>
          </a:p>
        </p:txBody>
      </p:sp>
      <p:sp>
        <p:nvSpPr>
          <p:cNvPr id="13" name="TextBox 12"/>
          <p:cNvSpPr txBox="1"/>
          <p:nvPr/>
        </p:nvSpPr>
        <p:spPr>
          <a:xfrm>
            <a:off x="539552" y="1907540"/>
            <a:ext cx="5256584" cy="369332"/>
          </a:xfrm>
          <a:prstGeom prst="rect">
            <a:avLst/>
          </a:prstGeom>
          <a:noFill/>
        </p:spPr>
        <p:txBody>
          <a:bodyPr wrap="square" rtlCol="0">
            <a:spAutoFit/>
          </a:bodyPr>
          <a:lstStyle/>
          <a:p>
            <a:r>
              <a:rPr lang="nl-NL" i="1" dirty="0" smtClean="0"/>
              <a:t>‘Is groter dan’ met als domein ‘getallen’</a:t>
            </a:r>
            <a:endParaRPr lang="nl-NL" i="1" dirty="0"/>
          </a:p>
        </p:txBody>
      </p:sp>
      <p:sp>
        <p:nvSpPr>
          <p:cNvPr id="14" name="TextBox 13"/>
          <p:cNvSpPr txBox="1"/>
          <p:nvPr/>
        </p:nvSpPr>
        <p:spPr>
          <a:xfrm>
            <a:off x="539552" y="3068960"/>
            <a:ext cx="4104456" cy="369332"/>
          </a:xfrm>
          <a:prstGeom prst="rect">
            <a:avLst/>
          </a:prstGeom>
          <a:noFill/>
        </p:spPr>
        <p:txBody>
          <a:bodyPr wrap="square" rtlCol="0">
            <a:spAutoFit/>
          </a:bodyPr>
          <a:lstStyle/>
          <a:p>
            <a:r>
              <a:rPr lang="nl-NL" i="1" dirty="0" smtClean="0"/>
              <a:t>‘Is groter dan’ met als domein ‘getallen’</a:t>
            </a:r>
          </a:p>
        </p:txBody>
      </p:sp>
      <p:sp>
        <p:nvSpPr>
          <p:cNvPr id="22" name="TextBox 21"/>
          <p:cNvSpPr txBox="1"/>
          <p:nvPr/>
        </p:nvSpPr>
        <p:spPr>
          <a:xfrm>
            <a:off x="539552" y="3717032"/>
            <a:ext cx="8208912" cy="646331"/>
          </a:xfrm>
          <a:prstGeom prst="rect">
            <a:avLst/>
          </a:prstGeom>
          <a:noFill/>
        </p:spPr>
        <p:txBody>
          <a:bodyPr wrap="square" rtlCol="0">
            <a:spAutoFit/>
          </a:bodyPr>
          <a:lstStyle/>
          <a:p>
            <a:r>
              <a:rPr lang="nl-NL" dirty="0" smtClean="0"/>
              <a:t>Een totale ordening kan worden gerepresenteerd door een </a:t>
            </a:r>
            <a:r>
              <a:rPr lang="nl-NL" b="1" i="1" dirty="0" smtClean="0">
                <a:solidFill>
                  <a:srgbClr val="0070C0"/>
                </a:solidFill>
              </a:rPr>
              <a:t>geordende lijn</a:t>
            </a:r>
            <a:r>
              <a:rPr lang="nl-NL" i="1" dirty="0" smtClean="0"/>
              <a:t>. </a:t>
            </a:r>
            <a:r>
              <a:rPr lang="nl-NL" dirty="0" smtClean="0"/>
              <a:t>Daarom wordt een totale ordening ook wel een lineaire ordening genoemd. </a:t>
            </a:r>
            <a:endParaRPr lang="nl-NL" dirty="0"/>
          </a:p>
        </p:txBody>
      </p:sp>
      <p:sp>
        <p:nvSpPr>
          <p:cNvPr id="23" name="Oval 22"/>
          <p:cNvSpPr/>
          <p:nvPr/>
        </p:nvSpPr>
        <p:spPr>
          <a:xfrm>
            <a:off x="395536"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9" name="Straight Arrow Connector 38"/>
          <p:cNvCxnSpPr/>
          <p:nvPr/>
        </p:nvCxnSpPr>
        <p:spPr>
          <a:xfrm>
            <a:off x="539552"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1" name="Oval 40"/>
          <p:cNvSpPr/>
          <p:nvPr/>
        </p:nvSpPr>
        <p:spPr>
          <a:xfrm>
            <a:off x="1115616"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2" name="Straight Arrow Connector 41"/>
          <p:cNvCxnSpPr/>
          <p:nvPr/>
        </p:nvCxnSpPr>
        <p:spPr>
          <a:xfrm>
            <a:off x="1259632"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3" name="Oval 42"/>
          <p:cNvSpPr/>
          <p:nvPr/>
        </p:nvSpPr>
        <p:spPr>
          <a:xfrm>
            <a:off x="1907704"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4" name="Straight Arrow Connector 43"/>
          <p:cNvCxnSpPr/>
          <p:nvPr/>
        </p:nvCxnSpPr>
        <p:spPr>
          <a:xfrm>
            <a:off x="2051720"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2627784"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6" name="Straight Arrow Connector 45"/>
          <p:cNvCxnSpPr/>
          <p:nvPr/>
        </p:nvCxnSpPr>
        <p:spPr>
          <a:xfrm>
            <a:off x="2771800"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3347864"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8" name="Straight Arrow Connector 47"/>
          <p:cNvCxnSpPr/>
          <p:nvPr/>
        </p:nvCxnSpPr>
        <p:spPr>
          <a:xfrm>
            <a:off x="3491880"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4067944"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0" name="Straight Arrow Connector 49"/>
          <p:cNvCxnSpPr/>
          <p:nvPr/>
        </p:nvCxnSpPr>
        <p:spPr>
          <a:xfrm>
            <a:off x="4211960"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4860032"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2" name="Straight Arrow Connector 51"/>
          <p:cNvCxnSpPr/>
          <p:nvPr/>
        </p:nvCxnSpPr>
        <p:spPr>
          <a:xfrm>
            <a:off x="5004048"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5580112"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4" name="Straight Arrow Connector 53"/>
          <p:cNvCxnSpPr/>
          <p:nvPr/>
        </p:nvCxnSpPr>
        <p:spPr>
          <a:xfrm>
            <a:off x="5724128"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5" name="Oval 54"/>
          <p:cNvSpPr/>
          <p:nvPr/>
        </p:nvSpPr>
        <p:spPr>
          <a:xfrm>
            <a:off x="6300192"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6" name="Straight Arrow Connector 55"/>
          <p:cNvCxnSpPr/>
          <p:nvPr/>
        </p:nvCxnSpPr>
        <p:spPr>
          <a:xfrm>
            <a:off x="6444208"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7" name="Oval 56"/>
          <p:cNvSpPr/>
          <p:nvPr/>
        </p:nvSpPr>
        <p:spPr>
          <a:xfrm>
            <a:off x="7020272"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8" name="Straight Arrow Connector 57"/>
          <p:cNvCxnSpPr/>
          <p:nvPr/>
        </p:nvCxnSpPr>
        <p:spPr>
          <a:xfrm>
            <a:off x="7164288"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59" name="Oval 58"/>
          <p:cNvSpPr/>
          <p:nvPr/>
        </p:nvSpPr>
        <p:spPr>
          <a:xfrm>
            <a:off x="7812360"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60" name="Straight Arrow Connector 59"/>
          <p:cNvCxnSpPr/>
          <p:nvPr/>
        </p:nvCxnSpPr>
        <p:spPr>
          <a:xfrm>
            <a:off x="7956376" y="4797152"/>
            <a:ext cx="5040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8532440" y="4725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2" name="TextBox 61"/>
          <p:cNvSpPr txBox="1"/>
          <p:nvPr/>
        </p:nvSpPr>
        <p:spPr>
          <a:xfrm>
            <a:off x="395536" y="5229200"/>
            <a:ext cx="7344816" cy="369332"/>
          </a:xfrm>
          <a:prstGeom prst="rect">
            <a:avLst/>
          </a:prstGeom>
          <a:noFill/>
        </p:spPr>
        <p:txBody>
          <a:bodyPr wrap="square" rtlCol="0">
            <a:spAutoFit/>
          </a:bodyPr>
          <a:lstStyle/>
          <a:p>
            <a:r>
              <a:rPr lang="nl-NL" i="1" dirty="0" smtClean="0"/>
              <a:t>‘Is ouder dan’ een totale ordening op het domein van alle mensen?</a:t>
            </a:r>
          </a:p>
        </p:txBody>
      </p:sp>
      <p:sp>
        <p:nvSpPr>
          <p:cNvPr id="63" name="TextBox 62"/>
          <p:cNvSpPr txBox="1"/>
          <p:nvPr/>
        </p:nvSpPr>
        <p:spPr>
          <a:xfrm>
            <a:off x="395536" y="5661248"/>
            <a:ext cx="8136904" cy="369332"/>
          </a:xfrm>
          <a:prstGeom prst="rect">
            <a:avLst/>
          </a:prstGeom>
          <a:noFill/>
        </p:spPr>
        <p:txBody>
          <a:bodyPr wrap="square" rtlCol="0">
            <a:spAutoFit/>
          </a:bodyPr>
          <a:lstStyle/>
          <a:p>
            <a:r>
              <a:rPr lang="nl-NL" dirty="0" smtClean="0"/>
              <a:t>Nee, het is weliswaar een partiële ordening (ga na), maar niet samenhangend (ga na).</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20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fade">
                                      <p:cBhvr>
                                        <p:cTn id="17" dur="2000"/>
                                        <p:tgtEl>
                                          <p:spTgt spid="1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20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2000"/>
                                        <p:tgtEl>
                                          <p:spTgt spid="23"/>
                                        </p:tgtEl>
                                      </p:cBhvr>
                                    </p:animEffect>
                                  </p:childTnLst>
                                </p:cTn>
                              </p:par>
                              <p:par>
                                <p:cTn id="26" presetID="10" presetClass="entr" presetSubtype="0" fill="hold"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2000"/>
                                        <p:tgtEl>
                                          <p:spTgt spid="3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2000"/>
                                        <p:tgtEl>
                                          <p:spTgt spid="41"/>
                                        </p:tgtEl>
                                      </p:cBhvr>
                                    </p:animEffect>
                                  </p:childTnLst>
                                </p:cTn>
                              </p:par>
                              <p:par>
                                <p:cTn id="32" presetID="10" presetClass="entr" presetSubtype="0" fill="hold"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2000"/>
                                        <p:tgtEl>
                                          <p:spTgt spid="4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2000"/>
                                        <p:tgtEl>
                                          <p:spTgt spid="43"/>
                                        </p:tgtEl>
                                      </p:cBhvr>
                                    </p:animEffect>
                                  </p:childTnLst>
                                </p:cTn>
                              </p:par>
                              <p:par>
                                <p:cTn id="38" presetID="10" presetClass="entr" presetSubtype="0" fill="hold"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2000"/>
                                        <p:tgtEl>
                                          <p:spTgt spid="4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fade">
                                      <p:cBhvr>
                                        <p:cTn id="43" dur="2000"/>
                                        <p:tgtEl>
                                          <p:spTgt spid="45"/>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2000"/>
                                        <p:tgtEl>
                                          <p:spTgt spid="4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7"/>
                                        </p:tgtEl>
                                        <p:attrNameLst>
                                          <p:attrName>style.visibility</p:attrName>
                                        </p:attrNameLst>
                                      </p:cBhvr>
                                      <p:to>
                                        <p:strVal val="visible"/>
                                      </p:to>
                                    </p:set>
                                    <p:animEffect transition="in" filter="fade">
                                      <p:cBhvr>
                                        <p:cTn id="49" dur="2000"/>
                                        <p:tgtEl>
                                          <p:spTgt spid="47"/>
                                        </p:tgtEl>
                                      </p:cBhvr>
                                    </p:animEffect>
                                  </p:childTnLst>
                                </p:cTn>
                              </p:par>
                              <p:par>
                                <p:cTn id="50" presetID="10" presetClass="entr" presetSubtype="0" fill="hold" nodeType="withEffect">
                                  <p:stCondLst>
                                    <p:cond delay="0"/>
                                  </p:stCondLst>
                                  <p:childTnLst>
                                    <p:set>
                                      <p:cBhvr>
                                        <p:cTn id="51" dur="1" fill="hold">
                                          <p:stCondLst>
                                            <p:cond delay="0"/>
                                          </p:stCondLst>
                                        </p:cTn>
                                        <p:tgtEl>
                                          <p:spTgt spid="48"/>
                                        </p:tgtEl>
                                        <p:attrNameLst>
                                          <p:attrName>style.visibility</p:attrName>
                                        </p:attrNameLst>
                                      </p:cBhvr>
                                      <p:to>
                                        <p:strVal val="visible"/>
                                      </p:to>
                                    </p:set>
                                    <p:animEffect transition="in" filter="fade">
                                      <p:cBhvr>
                                        <p:cTn id="52" dur="2000"/>
                                        <p:tgtEl>
                                          <p:spTgt spid="4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fade">
                                      <p:cBhvr>
                                        <p:cTn id="55" dur="2000"/>
                                        <p:tgtEl>
                                          <p:spTgt spid="49"/>
                                        </p:tgtEl>
                                      </p:cBhvr>
                                    </p:animEffect>
                                  </p:childTnLst>
                                </p:cTn>
                              </p:par>
                              <p:par>
                                <p:cTn id="56" presetID="10" presetClass="entr" presetSubtype="0" fill="hold" nodeType="withEffect">
                                  <p:stCondLst>
                                    <p:cond delay="0"/>
                                  </p:stCondLst>
                                  <p:childTnLst>
                                    <p:set>
                                      <p:cBhvr>
                                        <p:cTn id="57" dur="1" fill="hold">
                                          <p:stCondLst>
                                            <p:cond delay="0"/>
                                          </p:stCondLst>
                                        </p:cTn>
                                        <p:tgtEl>
                                          <p:spTgt spid="50"/>
                                        </p:tgtEl>
                                        <p:attrNameLst>
                                          <p:attrName>style.visibility</p:attrName>
                                        </p:attrNameLst>
                                      </p:cBhvr>
                                      <p:to>
                                        <p:strVal val="visible"/>
                                      </p:to>
                                    </p:set>
                                    <p:animEffect transition="in" filter="fade">
                                      <p:cBhvr>
                                        <p:cTn id="58" dur="2000"/>
                                        <p:tgtEl>
                                          <p:spTgt spid="5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1"/>
                                        </p:tgtEl>
                                        <p:attrNameLst>
                                          <p:attrName>style.visibility</p:attrName>
                                        </p:attrNameLst>
                                      </p:cBhvr>
                                      <p:to>
                                        <p:strVal val="visible"/>
                                      </p:to>
                                    </p:set>
                                    <p:animEffect transition="in" filter="fade">
                                      <p:cBhvr>
                                        <p:cTn id="61" dur="2000"/>
                                        <p:tgtEl>
                                          <p:spTgt spid="51"/>
                                        </p:tgtEl>
                                      </p:cBhvr>
                                    </p:animEffect>
                                  </p:childTnLst>
                                </p:cTn>
                              </p:par>
                              <p:par>
                                <p:cTn id="62" presetID="10" presetClass="entr" presetSubtype="0" fill="hold" nodeType="withEffect">
                                  <p:stCondLst>
                                    <p:cond delay="0"/>
                                  </p:stCondLst>
                                  <p:childTnLst>
                                    <p:set>
                                      <p:cBhvr>
                                        <p:cTn id="63" dur="1" fill="hold">
                                          <p:stCondLst>
                                            <p:cond delay="0"/>
                                          </p:stCondLst>
                                        </p:cTn>
                                        <p:tgtEl>
                                          <p:spTgt spid="52"/>
                                        </p:tgtEl>
                                        <p:attrNameLst>
                                          <p:attrName>style.visibility</p:attrName>
                                        </p:attrNameLst>
                                      </p:cBhvr>
                                      <p:to>
                                        <p:strVal val="visible"/>
                                      </p:to>
                                    </p:set>
                                    <p:animEffect transition="in" filter="fade">
                                      <p:cBhvr>
                                        <p:cTn id="64" dur="2000"/>
                                        <p:tgtEl>
                                          <p:spTgt spid="5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fade">
                                      <p:cBhvr>
                                        <p:cTn id="67" dur="2000"/>
                                        <p:tgtEl>
                                          <p:spTgt spid="53"/>
                                        </p:tgtEl>
                                      </p:cBhvr>
                                    </p:animEffect>
                                  </p:childTnLst>
                                </p:cTn>
                              </p:par>
                              <p:par>
                                <p:cTn id="68" presetID="10" presetClass="entr" presetSubtype="0" fill="hold"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fade">
                                      <p:cBhvr>
                                        <p:cTn id="70" dur="2000"/>
                                        <p:tgtEl>
                                          <p:spTgt spid="5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animEffect transition="in" filter="fade">
                                      <p:cBhvr>
                                        <p:cTn id="73" dur="2000"/>
                                        <p:tgtEl>
                                          <p:spTgt spid="55"/>
                                        </p:tgtEl>
                                      </p:cBhvr>
                                    </p:animEffect>
                                  </p:childTnLst>
                                </p:cTn>
                              </p:par>
                              <p:par>
                                <p:cTn id="74" presetID="10" presetClass="entr" presetSubtype="0" fill="hold" nodeType="withEffect">
                                  <p:stCondLst>
                                    <p:cond delay="0"/>
                                  </p:stCondLst>
                                  <p:childTnLst>
                                    <p:set>
                                      <p:cBhvr>
                                        <p:cTn id="75" dur="1" fill="hold">
                                          <p:stCondLst>
                                            <p:cond delay="0"/>
                                          </p:stCondLst>
                                        </p:cTn>
                                        <p:tgtEl>
                                          <p:spTgt spid="56"/>
                                        </p:tgtEl>
                                        <p:attrNameLst>
                                          <p:attrName>style.visibility</p:attrName>
                                        </p:attrNameLst>
                                      </p:cBhvr>
                                      <p:to>
                                        <p:strVal val="visible"/>
                                      </p:to>
                                    </p:set>
                                    <p:animEffect transition="in" filter="fade">
                                      <p:cBhvr>
                                        <p:cTn id="76" dur="2000"/>
                                        <p:tgtEl>
                                          <p:spTgt spid="5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fade">
                                      <p:cBhvr>
                                        <p:cTn id="79" dur="2000"/>
                                        <p:tgtEl>
                                          <p:spTgt spid="57"/>
                                        </p:tgtEl>
                                      </p:cBhvr>
                                    </p:animEffect>
                                  </p:childTnLst>
                                </p:cTn>
                              </p:par>
                              <p:par>
                                <p:cTn id="80" presetID="10" presetClass="entr" presetSubtype="0" fill="hold"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2000"/>
                                        <p:tgtEl>
                                          <p:spTgt spid="5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59"/>
                                        </p:tgtEl>
                                        <p:attrNameLst>
                                          <p:attrName>style.visibility</p:attrName>
                                        </p:attrNameLst>
                                      </p:cBhvr>
                                      <p:to>
                                        <p:strVal val="visible"/>
                                      </p:to>
                                    </p:set>
                                    <p:animEffect transition="in" filter="fade">
                                      <p:cBhvr>
                                        <p:cTn id="85" dur="2000"/>
                                        <p:tgtEl>
                                          <p:spTgt spid="59"/>
                                        </p:tgtEl>
                                      </p:cBhvr>
                                    </p:animEffect>
                                  </p:childTnLst>
                                </p:cTn>
                              </p:par>
                              <p:par>
                                <p:cTn id="86" presetID="10" presetClass="entr" presetSubtype="0" fill="hold" nodeType="withEffect">
                                  <p:stCondLst>
                                    <p:cond delay="0"/>
                                  </p:stCondLst>
                                  <p:childTnLst>
                                    <p:set>
                                      <p:cBhvr>
                                        <p:cTn id="87" dur="1" fill="hold">
                                          <p:stCondLst>
                                            <p:cond delay="0"/>
                                          </p:stCondLst>
                                        </p:cTn>
                                        <p:tgtEl>
                                          <p:spTgt spid="60"/>
                                        </p:tgtEl>
                                        <p:attrNameLst>
                                          <p:attrName>style.visibility</p:attrName>
                                        </p:attrNameLst>
                                      </p:cBhvr>
                                      <p:to>
                                        <p:strVal val="visible"/>
                                      </p:to>
                                    </p:set>
                                    <p:animEffect transition="in" filter="fade">
                                      <p:cBhvr>
                                        <p:cTn id="88" dur="2000"/>
                                        <p:tgtEl>
                                          <p:spTgt spid="6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2000"/>
                                        <p:tgtEl>
                                          <p:spTgt spid="61"/>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62">
                                            <p:txEl>
                                              <p:pRg st="0" end="0"/>
                                            </p:txEl>
                                          </p:spTgt>
                                        </p:tgtEl>
                                        <p:attrNameLst>
                                          <p:attrName>style.visibility</p:attrName>
                                        </p:attrNameLst>
                                      </p:cBhvr>
                                      <p:to>
                                        <p:strVal val="visible"/>
                                      </p:to>
                                    </p:set>
                                    <p:animEffect transition="in" filter="fade">
                                      <p:cBhvr>
                                        <p:cTn id="96" dur="2000"/>
                                        <p:tgtEl>
                                          <p:spTgt spid="62">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63">
                                            <p:txEl>
                                              <p:pRg st="0" end="0"/>
                                            </p:txEl>
                                          </p:spTgt>
                                        </p:tgtEl>
                                        <p:attrNameLst>
                                          <p:attrName>style.visibility</p:attrName>
                                        </p:attrNameLst>
                                      </p:cBhvr>
                                      <p:to>
                                        <p:strVal val="visible"/>
                                      </p:to>
                                    </p:set>
                                    <p:animEffect transition="in" filter="fade">
                                      <p:cBhvr>
                                        <p:cTn id="101" dur="2000"/>
                                        <p:tgtEl>
                                          <p:spTgt spid="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3" grpId="0" build="allAtOnce"/>
      <p:bldP spid="14" grpId="0" build="allAtOnce"/>
      <p:bldP spid="22" grpId="0"/>
      <p:bldP spid="23" grpId="0" animBg="1"/>
      <p:bldP spid="41" grpId="0" animBg="1"/>
      <p:bldP spid="43" grpId="0" animBg="1"/>
      <p:bldP spid="45" grpId="0" animBg="1"/>
      <p:bldP spid="47" grpId="0" animBg="1"/>
      <p:bldP spid="49" grpId="0" animBg="1"/>
      <p:bldP spid="51" grpId="0" animBg="1"/>
      <p:bldP spid="53" grpId="0" animBg="1"/>
      <p:bldP spid="55" grpId="0" animBg="1"/>
      <p:bldP spid="57" grpId="0" animBg="1"/>
      <p:bldP spid="59" grpId="0" animBg="1"/>
      <p:bldP spid="61" grpId="0" animBg="1"/>
      <p:bldP spid="62" grpId="0" build="allAtOnce"/>
      <p:bldP spid="63" grpId="0" build="allAtOnce"/>
    </p:bldLst>
  </p:timing>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relaties (vervolg)</a:t>
            </a:r>
            <a:endParaRPr lang="nl-NL" sz="3600" dirty="0"/>
          </a:p>
        </p:txBody>
      </p:sp>
      <p:sp>
        <p:nvSpPr>
          <p:cNvPr id="15" name="Rectangle 14"/>
          <p:cNvSpPr/>
          <p:nvPr/>
        </p:nvSpPr>
        <p:spPr>
          <a:xfrm>
            <a:off x="539552" y="1268760"/>
            <a:ext cx="797463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antisymmetrisch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 → x=y) </a:t>
            </a:r>
            <a:endParaRPr lang="nl-NL" dirty="0"/>
          </a:p>
        </p:txBody>
      </p:sp>
      <p:sp>
        <p:nvSpPr>
          <p:cNvPr id="17" name="Rectangle 16"/>
          <p:cNvSpPr/>
          <p:nvPr/>
        </p:nvSpPr>
        <p:spPr>
          <a:xfrm>
            <a:off x="539552" y="2411596"/>
            <a:ext cx="7974632" cy="369332"/>
          </a:xfrm>
          <a:prstGeom prst="rect">
            <a:avLst/>
          </a:prstGeom>
        </p:spPr>
        <p:txBody>
          <a:bodyPr wrap="square">
            <a:spAutoFit/>
          </a:bodyPr>
          <a:lstStyle/>
          <a:p>
            <a:r>
              <a:rPr lang="nl-NL" dirty="0" smtClean="0"/>
              <a:t>Let op! Verwar het begrip antisymmetrisch </a:t>
            </a:r>
            <a:r>
              <a:rPr lang="nl-NL" i="1" dirty="0" smtClean="0"/>
              <a:t>niet</a:t>
            </a:r>
            <a:r>
              <a:rPr lang="nl-NL" dirty="0" smtClean="0"/>
              <a:t> met…</a:t>
            </a:r>
            <a:endParaRPr lang="nl-NL" dirty="0"/>
          </a:p>
        </p:txBody>
      </p:sp>
      <p:sp>
        <p:nvSpPr>
          <p:cNvPr id="13" name="TextBox 12"/>
          <p:cNvSpPr txBox="1"/>
          <p:nvPr/>
        </p:nvSpPr>
        <p:spPr>
          <a:xfrm>
            <a:off x="539552" y="1619508"/>
            <a:ext cx="5256584" cy="369332"/>
          </a:xfrm>
          <a:prstGeom prst="rect">
            <a:avLst/>
          </a:prstGeom>
          <a:noFill/>
        </p:spPr>
        <p:txBody>
          <a:bodyPr wrap="square" rtlCol="0">
            <a:spAutoFit/>
          </a:bodyPr>
          <a:lstStyle/>
          <a:p>
            <a:r>
              <a:rPr lang="nl-NL" i="1" dirty="0" smtClean="0"/>
              <a:t>‘Is groter dan of gelijk aan’</a:t>
            </a:r>
            <a:endParaRPr lang="nl-NL" i="1" dirty="0"/>
          </a:p>
        </p:txBody>
      </p:sp>
      <p:sp>
        <p:nvSpPr>
          <p:cNvPr id="34" name="Rectangle 33"/>
          <p:cNvSpPr/>
          <p:nvPr/>
        </p:nvSpPr>
        <p:spPr>
          <a:xfrm>
            <a:off x="539552" y="2987660"/>
            <a:ext cx="820891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asymmetrisch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a:t>
            </a:r>
            <a:endParaRPr lang="nl-NL" dirty="0"/>
          </a:p>
        </p:txBody>
      </p:sp>
      <p:sp>
        <p:nvSpPr>
          <p:cNvPr id="35" name="Rectangle 34"/>
          <p:cNvSpPr/>
          <p:nvPr/>
        </p:nvSpPr>
        <p:spPr>
          <a:xfrm>
            <a:off x="539552" y="3573016"/>
            <a:ext cx="8208912" cy="369332"/>
          </a:xfrm>
          <a:prstGeom prst="rect">
            <a:avLst/>
          </a:prstGeom>
        </p:spPr>
        <p:txBody>
          <a:bodyPr wrap="square">
            <a:spAutoFit/>
          </a:bodyPr>
          <a:lstStyle/>
          <a:p>
            <a:r>
              <a:rPr lang="nl-NL" dirty="0" smtClean="0"/>
              <a:t>Een relatie </a:t>
            </a:r>
            <a:r>
              <a:rPr lang="nl-NL" b="1" dirty="0" err="1" smtClean="0"/>
              <a:t>Rxy</a:t>
            </a:r>
            <a:r>
              <a:rPr lang="nl-NL" dirty="0" smtClean="0"/>
              <a:t> is </a:t>
            </a:r>
            <a:r>
              <a:rPr lang="nl-NL" u="sng" dirty="0" smtClean="0"/>
              <a:t>niet symmetrisch</a:t>
            </a:r>
            <a:r>
              <a:rPr lang="nl-NL" dirty="0" smtClean="0"/>
              <a:t> dan en slechts dan als </a:t>
            </a:r>
            <a:r>
              <a:rPr lang="nl-NL" b="1" dirty="0" smtClean="0"/>
              <a:t>¬∀x∀y (</a:t>
            </a:r>
            <a:r>
              <a:rPr lang="nl-NL" b="1" dirty="0" err="1" smtClean="0"/>
              <a:t>Rxy</a:t>
            </a:r>
            <a:r>
              <a:rPr lang="nl-NL" b="1" dirty="0" smtClean="0"/>
              <a:t> → </a:t>
            </a:r>
            <a:r>
              <a:rPr lang="nl-NL" b="1" dirty="0" err="1" smtClean="0"/>
              <a:t>Ryx</a:t>
            </a:r>
            <a:r>
              <a:rPr lang="nl-NL" b="1"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fade">
                                      <p:cBhvr>
                                        <p:cTn id="12" dur="2000"/>
                                        <p:tgtEl>
                                          <p:spTgt spid="17">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4">
                                            <p:txEl>
                                              <p:pRg st="0" end="0"/>
                                            </p:txEl>
                                          </p:spTgt>
                                        </p:tgtEl>
                                        <p:attrNameLst>
                                          <p:attrName>style.visibility</p:attrName>
                                        </p:attrNameLst>
                                      </p:cBhvr>
                                      <p:to>
                                        <p:strVal val="visible"/>
                                      </p:to>
                                    </p:set>
                                    <p:animEffect transition="in" filter="fade">
                                      <p:cBhvr>
                                        <p:cTn id="15" dur="2000"/>
                                        <p:tgtEl>
                                          <p:spTgt spid="34">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5">
                                            <p:txEl>
                                              <p:pRg st="0" end="0"/>
                                            </p:txEl>
                                          </p:spTgt>
                                        </p:tgtEl>
                                        <p:attrNameLst>
                                          <p:attrName>style.visibility</p:attrName>
                                        </p:attrNameLst>
                                      </p:cBhvr>
                                      <p:to>
                                        <p:strVal val="visible"/>
                                      </p:to>
                                    </p:set>
                                    <p:animEffect transition="in" filter="fade">
                                      <p:cBhvr>
                                        <p:cTn id="18" dur="2000"/>
                                        <p:tgtEl>
                                          <p:spTgt spid="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3" grpId="0" build="allAtOnce"/>
      <p:bldP spid="34" grpId="0" build="allAtOnce"/>
      <p:bldP spid="35" grpId="0" build="allAtOnce"/>
    </p:bldLst>
  </p:timing>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relaties (vervolg)</a:t>
            </a:r>
            <a:endParaRPr lang="nl-NL" sz="3600" dirty="0"/>
          </a:p>
        </p:txBody>
      </p:sp>
      <p:sp>
        <p:nvSpPr>
          <p:cNvPr id="36" name="TextBox 35"/>
          <p:cNvSpPr txBox="1"/>
          <p:nvPr/>
        </p:nvSpPr>
        <p:spPr>
          <a:xfrm>
            <a:off x="539552" y="1484784"/>
            <a:ext cx="8280920" cy="646331"/>
          </a:xfrm>
          <a:prstGeom prst="rect">
            <a:avLst/>
          </a:prstGeom>
          <a:noFill/>
        </p:spPr>
        <p:txBody>
          <a:bodyPr wrap="square" rtlCol="0">
            <a:spAutoFit/>
          </a:bodyPr>
          <a:lstStyle/>
          <a:p>
            <a:r>
              <a:rPr lang="nl-NL" dirty="0" smtClean="0">
                <a:solidFill>
                  <a:srgbClr val="0070C0"/>
                </a:solidFill>
              </a:rPr>
              <a:t>Stel dat de relatie </a:t>
            </a:r>
            <a:r>
              <a:rPr lang="nl-NL" b="1" dirty="0" err="1" smtClean="0">
                <a:solidFill>
                  <a:srgbClr val="0070C0"/>
                </a:solidFill>
              </a:rPr>
              <a:t>Kxy</a:t>
            </a:r>
            <a:r>
              <a:rPr lang="nl-NL" dirty="0" smtClean="0">
                <a:solidFill>
                  <a:srgbClr val="0070C0"/>
                </a:solidFill>
              </a:rPr>
              <a:t> samenhangend, antisymmetrisch, reflexief en transitief is.       Laat zien dat de relatie </a:t>
            </a:r>
            <a:r>
              <a:rPr lang="nl-NL" b="1" dirty="0" err="1" smtClean="0">
                <a:solidFill>
                  <a:srgbClr val="0070C0"/>
                </a:solidFill>
              </a:rPr>
              <a:t>Lxy</a:t>
            </a:r>
            <a:r>
              <a:rPr lang="nl-NL" dirty="0" smtClean="0">
                <a:solidFill>
                  <a:srgbClr val="0070C0"/>
                </a:solidFill>
              </a:rPr>
              <a:t> =</a:t>
            </a:r>
            <a:r>
              <a:rPr lang="nl-NL" baseline="-25000" dirty="0" err="1" smtClean="0">
                <a:solidFill>
                  <a:srgbClr val="0070C0"/>
                </a:solidFill>
              </a:rPr>
              <a:t>def</a:t>
            </a:r>
            <a:r>
              <a:rPr lang="nl-NL" dirty="0" smtClean="0">
                <a:solidFill>
                  <a:srgbClr val="0070C0"/>
                </a:solidFill>
              </a:rPr>
              <a:t> </a:t>
            </a:r>
            <a:r>
              <a:rPr lang="nl-NL" b="1" dirty="0" err="1" smtClean="0">
                <a:solidFill>
                  <a:srgbClr val="0070C0"/>
                </a:solidFill>
              </a:rPr>
              <a:t>Kxy</a:t>
            </a:r>
            <a:r>
              <a:rPr lang="nl-NL" dirty="0" smtClean="0">
                <a:solidFill>
                  <a:srgbClr val="0070C0"/>
                </a:solidFill>
              </a:rPr>
              <a:t> </a:t>
            </a:r>
            <a:r>
              <a:rPr lang="nl-NL" b="1" dirty="0" smtClean="0">
                <a:solidFill>
                  <a:srgbClr val="0070C0"/>
                </a:solidFill>
              </a:rPr>
              <a:t>∧ x ≠ y </a:t>
            </a:r>
            <a:r>
              <a:rPr lang="nl-NL" dirty="0" smtClean="0">
                <a:solidFill>
                  <a:srgbClr val="0070C0"/>
                </a:solidFill>
              </a:rPr>
              <a:t>een lineaire ordening is. </a:t>
            </a:r>
            <a:endParaRPr lang="nl-NL" dirty="0">
              <a:solidFill>
                <a:srgbClr val="0070C0"/>
              </a:solidFill>
            </a:endParaRPr>
          </a:p>
        </p:txBody>
      </p:sp>
      <p:sp>
        <p:nvSpPr>
          <p:cNvPr id="37" name="TextBox 36"/>
          <p:cNvSpPr txBox="1"/>
          <p:nvPr/>
        </p:nvSpPr>
        <p:spPr>
          <a:xfrm>
            <a:off x="539552" y="1124744"/>
            <a:ext cx="1800200" cy="369332"/>
          </a:xfrm>
          <a:prstGeom prst="rect">
            <a:avLst/>
          </a:prstGeom>
          <a:noFill/>
        </p:spPr>
        <p:txBody>
          <a:bodyPr wrap="square" rtlCol="0">
            <a:spAutoFit/>
          </a:bodyPr>
          <a:lstStyle/>
          <a:p>
            <a:r>
              <a:rPr lang="nl-NL" b="1" dirty="0" smtClean="0">
                <a:solidFill>
                  <a:srgbClr val="0070C0"/>
                </a:solidFill>
              </a:rPr>
              <a:t>Voorbeeld</a:t>
            </a:r>
            <a:endParaRPr lang="nl-NL" b="1" dirty="0">
              <a:solidFill>
                <a:srgbClr val="0070C0"/>
              </a:solidFill>
            </a:endParaRPr>
          </a:p>
        </p:txBody>
      </p:sp>
      <p:sp>
        <p:nvSpPr>
          <p:cNvPr id="38" name="TextBox 37"/>
          <p:cNvSpPr txBox="1"/>
          <p:nvPr/>
        </p:nvSpPr>
        <p:spPr>
          <a:xfrm>
            <a:off x="539552" y="2348880"/>
            <a:ext cx="2592288" cy="369332"/>
          </a:xfrm>
          <a:prstGeom prst="rect">
            <a:avLst/>
          </a:prstGeom>
          <a:noFill/>
        </p:spPr>
        <p:txBody>
          <a:bodyPr wrap="square" rtlCol="0">
            <a:spAutoFit/>
          </a:bodyPr>
          <a:lstStyle/>
          <a:p>
            <a:r>
              <a:rPr lang="nl-NL" dirty="0" smtClean="0"/>
              <a:t>Is </a:t>
            </a:r>
            <a:r>
              <a:rPr lang="nl-NL" b="1" dirty="0" err="1" smtClean="0"/>
              <a:t>Lxy</a:t>
            </a:r>
            <a:r>
              <a:rPr lang="nl-NL" dirty="0" smtClean="0"/>
              <a:t> samenhangend? </a:t>
            </a:r>
            <a:endParaRPr lang="nl-NL" dirty="0"/>
          </a:p>
        </p:txBody>
      </p:sp>
      <p:sp>
        <p:nvSpPr>
          <p:cNvPr id="40" name="TextBox 39"/>
          <p:cNvSpPr txBox="1"/>
          <p:nvPr/>
        </p:nvSpPr>
        <p:spPr>
          <a:xfrm>
            <a:off x="539552" y="4149080"/>
            <a:ext cx="1800200" cy="369332"/>
          </a:xfrm>
          <a:prstGeom prst="rect">
            <a:avLst/>
          </a:prstGeom>
          <a:noFill/>
        </p:spPr>
        <p:txBody>
          <a:bodyPr wrap="square" rtlCol="0">
            <a:spAutoFit/>
          </a:bodyPr>
          <a:lstStyle/>
          <a:p>
            <a:r>
              <a:rPr lang="nl-NL" dirty="0" smtClean="0"/>
              <a:t>Is </a:t>
            </a:r>
            <a:r>
              <a:rPr lang="nl-NL" b="1" dirty="0" err="1" smtClean="0"/>
              <a:t>Lxy</a:t>
            </a:r>
            <a:r>
              <a:rPr lang="nl-NL" dirty="0" smtClean="0"/>
              <a:t> </a:t>
            </a:r>
            <a:r>
              <a:rPr lang="nl-NL" dirty="0" err="1" smtClean="0"/>
              <a:t>irreflexief</a:t>
            </a:r>
            <a:r>
              <a:rPr lang="nl-NL" dirty="0" smtClean="0"/>
              <a:t>? </a:t>
            </a:r>
            <a:endParaRPr lang="nl-NL" dirty="0"/>
          </a:p>
        </p:txBody>
      </p:sp>
      <p:sp>
        <p:nvSpPr>
          <p:cNvPr id="64" name="TextBox 63"/>
          <p:cNvSpPr txBox="1"/>
          <p:nvPr/>
        </p:nvSpPr>
        <p:spPr>
          <a:xfrm>
            <a:off x="2771800" y="4149081"/>
            <a:ext cx="5040560" cy="369332"/>
          </a:xfrm>
          <a:prstGeom prst="rect">
            <a:avLst/>
          </a:prstGeom>
          <a:noFill/>
        </p:spPr>
        <p:txBody>
          <a:bodyPr wrap="square" rtlCol="0">
            <a:spAutoFit/>
          </a:bodyPr>
          <a:lstStyle/>
          <a:p>
            <a:r>
              <a:rPr lang="nl-NL" dirty="0" smtClean="0"/>
              <a:t>Neem </a:t>
            </a:r>
            <a:r>
              <a:rPr lang="nl-NL" b="1" dirty="0" err="1" smtClean="0"/>
              <a:t>Laa</a:t>
            </a:r>
            <a:r>
              <a:rPr lang="nl-NL" dirty="0" smtClean="0"/>
              <a:t> voor willekeurige </a:t>
            </a:r>
            <a:r>
              <a:rPr lang="nl-NL" b="1" dirty="0" smtClean="0"/>
              <a:t>a</a:t>
            </a:r>
            <a:r>
              <a:rPr lang="nl-NL" dirty="0" smtClean="0"/>
              <a:t>. Dan </a:t>
            </a:r>
            <a:r>
              <a:rPr lang="nl-NL" b="1" dirty="0" err="1" smtClean="0"/>
              <a:t>Kaa</a:t>
            </a:r>
            <a:r>
              <a:rPr lang="nl-NL" dirty="0" smtClean="0"/>
              <a:t> </a:t>
            </a:r>
            <a:r>
              <a:rPr lang="nl-NL" b="1" dirty="0" smtClean="0"/>
              <a:t>∧</a:t>
            </a:r>
            <a:r>
              <a:rPr lang="nl-NL" dirty="0" smtClean="0"/>
              <a:t> </a:t>
            </a:r>
            <a:r>
              <a:rPr lang="nl-NL" b="1" dirty="0" smtClean="0"/>
              <a:t>a ≠ a</a:t>
            </a:r>
            <a:r>
              <a:rPr lang="nl-NL" dirty="0" smtClean="0"/>
              <a:t>. </a:t>
            </a:r>
          </a:p>
        </p:txBody>
      </p:sp>
      <p:sp>
        <p:nvSpPr>
          <p:cNvPr id="65" name="TextBox 64"/>
          <p:cNvSpPr txBox="1"/>
          <p:nvPr/>
        </p:nvSpPr>
        <p:spPr>
          <a:xfrm>
            <a:off x="539552" y="5066600"/>
            <a:ext cx="1800200" cy="369332"/>
          </a:xfrm>
          <a:prstGeom prst="rect">
            <a:avLst/>
          </a:prstGeom>
          <a:noFill/>
        </p:spPr>
        <p:txBody>
          <a:bodyPr wrap="square" rtlCol="0">
            <a:spAutoFit/>
          </a:bodyPr>
          <a:lstStyle/>
          <a:p>
            <a:r>
              <a:rPr lang="nl-NL" dirty="0" smtClean="0"/>
              <a:t>Is </a:t>
            </a:r>
            <a:r>
              <a:rPr lang="nl-NL" b="1" dirty="0" err="1" smtClean="0"/>
              <a:t>Lxy</a:t>
            </a:r>
            <a:r>
              <a:rPr lang="nl-NL" dirty="0" smtClean="0"/>
              <a:t> transitief? </a:t>
            </a:r>
            <a:endParaRPr lang="nl-NL" dirty="0"/>
          </a:p>
        </p:txBody>
      </p:sp>
      <p:sp>
        <p:nvSpPr>
          <p:cNvPr id="66" name="TextBox 65"/>
          <p:cNvSpPr txBox="1"/>
          <p:nvPr/>
        </p:nvSpPr>
        <p:spPr>
          <a:xfrm>
            <a:off x="2771800" y="5066600"/>
            <a:ext cx="4896544" cy="369332"/>
          </a:xfrm>
          <a:prstGeom prst="rect">
            <a:avLst/>
          </a:prstGeom>
          <a:noFill/>
        </p:spPr>
        <p:txBody>
          <a:bodyPr wrap="square" rtlCol="0">
            <a:spAutoFit/>
          </a:bodyPr>
          <a:lstStyle/>
          <a:p>
            <a:r>
              <a:rPr lang="nl-NL" dirty="0" smtClean="0"/>
              <a:t>Stel </a:t>
            </a:r>
            <a:r>
              <a:rPr lang="nl-NL" b="1" dirty="0" smtClean="0"/>
              <a:t>Lab</a:t>
            </a:r>
            <a:r>
              <a:rPr lang="nl-NL" dirty="0" smtClean="0"/>
              <a:t> en </a:t>
            </a:r>
            <a:r>
              <a:rPr lang="nl-NL" b="1" dirty="0" err="1" smtClean="0"/>
              <a:t>Lbc</a:t>
            </a:r>
            <a:r>
              <a:rPr lang="nl-NL" dirty="0" smtClean="0"/>
              <a:t> voor willekeurige </a:t>
            </a:r>
            <a:r>
              <a:rPr lang="nl-NL" b="1" dirty="0" smtClean="0"/>
              <a:t>a</a:t>
            </a:r>
            <a:r>
              <a:rPr lang="nl-NL" dirty="0" smtClean="0"/>
              <a:t>, </a:t>
            </a:r>
            <a:r>
              <a:rPr lang="nl-NL" b="1" dirty="0" smtClean="0"/>
              <a:t>b</a:t>
            </a:r>
            <a:r>
              <a:rPr lang="nl-NL" dirty="0" smtClean="0"/>
              <a:t> en </a:t>
            </a:r>
            <a:r>
              <a:rPr lang="nl-NL" b="1" dirty="0" smtClean="0"/>
              <a:t>c</a:t>
            </a:r>
            <a:r>
              <a:rPr lang="nl-NL" dirty="0" smtClean="0"/>
              <a:t>. </a:t>
            </a:r>
            <a:endParaRPr lang="nl-NL" dirty="0"/>
          </a:p>
        </p:txBody>
      </p:sp>
      <p:sp>
        <p:nvSpPr>
          <p:cNvPr id="24" name="TextBox 23"/>
          <p:cNvSpPr txBox="1"/>
          <p:nvPr/>
        </p:nvSpPr>
        <p:spPr>
          <a:xfrm>
            <a:off x="2771800" y="5426640"/>
            <a:ext cx="2880320" cy="369332"/>
          </a:xfrm>
          <a:prstGeom prst="rect">
            <a:avLst/>
          </a:prstGeom>
          <a:noFill/>
        </p:spPr>
        <p:txBody>
          <a:bodyPr wrap="square" rtlCol="0">
            <a:spAutoFit/>
          </a:bodyPr>
          <a:lstStyle/>
          <a:p>
            <a:r>
              <a:rPr lang="nl-NL" dirty="0" smtClean="0"/>
              <a:t>Dan </a:t>
            </a:r>
            <a:r>
              <a:rPr lang="nl-NL" b="1" dirty="0" err="1" smtClean="0"/>
              <a:t>Kab</a:t>
            </a:r>
            <a:r>
              <a:rPr lang="nl-NL" dirty="0" smtClean="0"/>
              <a:t> , </a:t>
            </a:r>
            <a:r>
              <a:rPr lang="nl-NL" b="1" dirty="0" err="1" smtClean="0"/>
              <a:t>Kbc</a:t>
            </a:r>
            <a:r>
              <a:rPr lang="nl-NL" dirty="0" smtClean="0"/>
              <a:t>, </a:t>
            </a:r>
            <a:r>
              <a:rPr lang="nl-NL" b="1" dirty="0" smtClean="0"/>
              <a:t>a ≠ b</a:t>
            </a:r>
            <a:r>
              <a:rPr lang="nl-NL" dirty="0" smtClean="0"/>
              <a:t> en </a:t>
            </a:r>
            <a:r>
              <a:rPr lang="nl-NL" b="1" dirty="0" smtClean="0"/>
              <a:t>b ≠ c</a:t>
            </a:r>
            <a:r>
              <a:rPr lang="nl-NL" dirty="0" smtClean="0"/>
              <a:t>.</a:t>
            </a:r>
            <a:endParaRPr lang="nl-NL" dirty="0"/>
          </a:p>
        </p:txBody>
      </p:sp>
      <p:sp>
        <p:nvSpPr>
          <p:cNvPr id="25" name="TextBox 24"/>
          <p:cNvSpPr txBox="1"/>
          <p:nvPr/>
        </p:nvSpPr>
        <p:spPr>
          <a:xfrm>
            <a:off x="5580112" y="5426640"/>
            <a:ext cx="2808312" cy="369332"/>
          </a:xfrm>
          <a:prstGeom prst="rect">
            <a:avLst/>
          </a:prstGeom>
          <a:noFill/>
        </p:spPr>
        <p:txBody>
          <a:bodyPr wrap="square" rtlCol="0">
            <a:spAutoFit/>
          </a:bodyPr>
          <a:lstStyle/>
          <a:p>
            <a:r>
              <a:rPr lang="nl-NL" b="1" dirty="0" smtClean="0"/>
              <a:t>K</a:t>
            </a:r>
            <a:r>
              <a:rPr lang="nl-NL" dirty="0" smtClean="0"/>
              <a:t> is transitief, dus </a:t>
            </a:r>
            <a:r>
              <a:rPr lang="nl-NL" b="1" dirty="0" err="1" smtClean="0"/>
              <a:t>Kac</a:t>
            </a:r>
            <a:endParaRPr lang="nl-NL" b="1" dirty="0"/>
          </a:p>
        </p:txBody>
      </p:sp>
      <p:sp>
        <p:nvSpPr>
          <p:cNvPr id="26" name="TextBox 25"/>
          <p:cNvSpPr txBox="1"/>
          <p:nvPr/>
        </p:nvSpPr>
        <p:spPr>
          <a:xfrm>
            <a:off x="2771800" y="5795972"/>
            <a:ext cx="1512168" cy="369332"/>
          </a:xfrm>
          <a:prstGeom prst="rect">
            <a:avLst/>
          </a:prstGeom>
          <a:noFill/>
        </p:spPr>
        <p:txBody>
          <a:bodyPr wrap="square" rtlCol="0">
            <a:spAutoFit/>
          </a:bodyPr>
          <a:lstStyle/>
          <a:p>
            <a:r>
              <a:rPr lang="nl-NL" dirty="0" smtClean="0"/>
              <a:t>Is ook </a:t>
            </a:r>
            <a:r>
              <a:rPr lang="nl-NL" b="1" dirty="0" smtClean="0"/>
              <a:t>a ≠ c</a:t>
            </a:r>
            <a:r>
              <a:rPr lang="nl-NL" dirty="0" smtClean="0"/>
              <a:t>?  </a:t>
            </a:r>
            <a:r>
              <a:rPr lang="nl-NL" b="1" dirty="0" smtClean="0"/>
              <a:t> </a:t>
            </a:r>
            <a:endParaRPr lang="nl-NL" b="1" dirty="0"/>
          </a:p>
        </p:txBody>
      </p:sp>
      <p:sp>
        <p:nvSpPr>
          <p:cNvPr id="27" name="TextBox 26"/>
          <p:cNvSpPr txBox="1"/>
          <p:nvPr/>
        </p:nvSpPr>
        <p:spPr>
          <a:xfrm>
            <a:off x="3923928" y="5795972"/>
            <a:ext cx="3600400" cy="369332"/>
          </a:xfrm>
          <a:prstGeom prst="rect">
            <a:avLst/>
          </a:prstGeom>
          <a:noFill/>
        </p:spPr>
        <p:txBody>
          <a:bodyPr wrap="square" rtlCol="0">
            <a:spAutoFit/>
          </a:bodyPr>
          <a:lstStyle/>
          <a:p>
            <a:r>
              <a:rPr lang="nl-NL" dirty="0" smtClean="0"/>
              <a:t>Stel </a:t>
            </a:r>
            <a:r>
              <a:rPr lang="nl-NL" b="1" dirty="0" smtClean="0"/>
              <a:t>a = c</a:t>
            </a:r>
            <a:r>
              <a:rPr lang="nl-NL" dirty="0" smtClean="0"/>
              <a:t>. Dan </a:t>
            </a:r>
            <a:r>
              <a:rPr lang="nl-NL" b="1" dirty="0" err="1" smtClean="0"/>
              <a:t>Kab</a:t>
            </a:r>
            <a:r>
              <a:rPr lang="nl-NL" dirty="0" smtClean="0"/>
              <a:t> en </a:t>
            </a:r>
            <a:r>
              <a:rPr lang="nl-NL" b="1" dirty="0" err="1" smtClean="0"/>
              <a:t>Kba</a:t>
            </a:r>
            <a:r>
              <a:rPr lang="nl-NL" dirty="0" smtClean="0"/>
              <a:t>, dus </a:t>
            </a:r>
            <a:r>
              <a:rPr lang="nl-NL" b="1" dirty="0" smtClean="0"/>
              <a:t>a=b</a:t>
            </a:r>
            <a:r>
              <a:rPr lang="nl-NL" dirty="0" smtClean="0"/>
              <a:t>.    </a:t>
            </a:r>
            <a:r>
              <a:rPr lang="nl-NL" b="1" dirty="0" smtClean="0"/>
              <a:t> </a:t>
            </a:r>
            <a:endParaRPr lang="nl-NL" b="1" dirty="0"/>
          </a:p>
        </p:txBody>
      </p:sp>
      <p:sp>
        <p:nvSpPr>
          <p:cNvPr id="28" name="TextBox 27"/>
          <p:cNvSpPr txBox="1"/>
          <p:nvPr/>
        </p:nvSpPr>
        <p:spPr>
          <a:xfrm>
            <a:off x="7308304" y="5786680"/>
            <a:ext cx="1512168" cy="369332"/>
          </a:xfrm>
          <a:prstGeom prst="rect">
            <a:avLst/>
          </a:prstGeom>
          <a:noFill/>
        </p:spPr>
        <p:txBody>
          <a:bodyPr wrap="square" rtlCol="0">
            <a:spAutoFit/>
          </a:bodyPr>
          <a:lstStyle/>
          <a:p>
            <a:r>
              <a:rPr lang="nl-NL" dirty="0" smtClean="0"/>
              <a:t>Tegenspraak! </a:t>
            </a:r>
            <a:endParaRPr lang="nl-NL" b="1" dirty="0"/>
          </a:p>
        </p:txBody>
      </p:sp>
      <p:sp>
        <p:nvSpPr>
          <p:cNvPr id="29" name="TextBox 28"/>
          <p:cNvSpPr txBox="1"/>
          <p:nvPr/>
        </p:nvSpPr>
        <p:spPr>
          <a:xfrm>
            <a:off x="2771800" y="4437112"/>
            <a:ext cx="5040560" cy="369332"/>
          </a:xfrm>
          <a:prstGeom prst="rect">
            <a:avLst/>
          </a:prstGeom>
          <a:noFill/>
        </p:spPr>
        <p:txBody>
          <a:bodyPr wrap="square" rtlCol="0">
            <a:spAutoFit/>
          </a:bodyPr>
          <a:lstStyle/>
          <a:p>
            <a:r>
              <a:rPr lang="nl-NL" dirty="0" smtClean="0"/>
              <a:t>Dus </a:t>
            </a:r>
            <a:r>
              <a:rPr lang="nl-NL" b="1" dirty="0" smtClean="0"/>
              <a:t>a ≠ a</a:t>
            </a:r>
            <a:r>
              <a:rPr lang="nl-NL" dirty="0" smtClean="0"/>
              <a:t>. Maar dan is </a:t>
            </a:r>
            <a:r>
              <a:rPr lang="nl-NL" b="1" dirty="0" err="1" smtClean="0"/>
              <a:t>Lxy</a:t>
            </a:r>
            <a:r>
              <a:rPr lang="nl-NL" dirty="0" smtClean="0"/>
              <a:t> inderdaad </a:t>
            </a:r>
            <a:r>
              <a:rPr lang="nl-NL" dirty="0" err="1" smtClean="0"/>
              <a:t>irreflexief</a:t>
            </a:r>
            <a:r>
              <a:rPr lang="nl-NL" dirty="0" smtClean="0"/>
              <a:t> </a:t>
            </a:r>
            <a:endParaRPr lang="nl-NL" dirty="0"/>
          </a:p>
        </p:txBody>
      </p:sp>
      <p:sp>
        <p:nvSpPr>
          <p:cNvPr id="30" name="TextBox 29"/>
          <p:cNvSpPr txBox="1"/>
          <p:nvPr/>
        </p:nvSpPr>
        <p:spPr>
          <a:xfrm>
            <a:off x="2987824" y="2348880"/>
            <a:ext cx="5040560" cy="369332"/>
          </a:xfrm>
          <a:prstGeom prst="rect">
            <a:avLst/>
          </a:prstGeom>
          <a:noFill/>
        </p:spPr>
        <p:txBody>
          <a:bodyPr wrap="square" rtlCol="0">
            <a:spAutoFit/>
          </a:bodyPr>
          <a:lstStyle/>
          <a:p>
            <a:endParaRPr lang="nl-NL" dirty="0" smtClean="0"/>
          </a:p>
        </p:txBody>
      </p:sp>
      <p:sp>
        <p:nvSpPr>
          <p:cNvPr id="34" name="TextBox 33"/>
          <p:cNvSpPr txBox="1"/>
          <p:nvPr/>
        </p:nvSpPr>
        <p:spPr>
          <a:xfrm>
            <a:off x="2843808" y="2348880"/>
            <a:ext cx="5040560" cy="369332"/>
          </a:xfrm>
          <a:prstGeom prst="rect">
            <a:avLst/>
          </a:prstGeom>
          <a:noFill/>
        </p:spPr>
        <p:txBody>
          <a:bodyPr wrap="square" rtlCol="0">
            <a:spAutoFit/>
          </a:bodyPr>
          <a:lstStyle/>
          <a:p>
            <a:r>
              <a:rPr lang="nl-NL" dirty="0" smtClean="0"/>
              <a:t>Laat </a:t>
            </a:r>
            <a:r>
              <a:rPr lang="nl-NL" b="1" dirty="0" smtClean="0"/>
              <a:t>a ≠ b </a:t>
            </a:r>
            <a:r>
              <a:rPr lang="nl-NL" dirty="0" smtClean="0"/>
              <a:t>voor willekeurige </a:t>
            </a:r>
            <a:r>
              <a:rPr lang="nl-NL" b="1" dirty="0" smtClean="0"/>
              <a:t>a</a:t>
            </a:r>
            <a:r>
              <a:rPr lang="nl-NL" dirty="0" smtClean="0"/>
              <a:t> en </a:t>
            </a:r>
            <a:r>
              <a:rPr lang="nl-NL" b="1" dirty="0" smtClean="0"/>
              <a:t>b</a:t>
            </a:r>
            <a:r>
              <a:rPr lang="nl-NL" dirty="0" smtClean="0"/>
              <a:t>.</a:t>
            </a:r>
          </a:p>
        </p:txBody>
      </p:sp>
      <p:sp>
        <p:nvSpPr>
          <p:cNvPr id="35" name="TextBox 34"/>
          <p:cNvSpPr txBox="1"/>
          <p:nvPr/>
        </p:nvSpPr>
        <p:spPr>
          <a:xfrm>
            <a:off x="2843808" y="2699628"/>
            <a:ext cx="5040560" cy="369332"/>
          </a:xfrm>
          <a:prstGeom prst="rect">
            <a:avLst/>
          </a:prstGeom>
          <a:noFill/>
        </p:spPr>
        <p:txBody>
          <a:bodyPr wrap="square" rtlCol="0">
            <a:spAutoFit/>
          </a:bodyPr>
          <a:lstStyle/>
          <a:p>
            <a:r>
              <a:rPr lang="nl-NL" b="1" dirty="0" err="1" smtClean="0"/>
              <a:t>Kxy</a:t>
            </a:r>
            <a:r>
              <a:rPr lang="nl-NL" dirty="0" smtClean="0"/>
              <a:t> is samenhangend, dus </a:t>
            </a:r>
            <a:r>
              <a:rPr lang="nl-NL" b="1" dirty="0" err="1" smtClean="0"/>
              <a:t>Kab</a:t>
            </a:r>
            <a:r>
              <a:rPr lang="nl-NL" b="1" dirty="0" smtClean="0"/>
              <a:t> V </a:t>
            </a:r>
            <a:r>
              <a:rPr lang="nl-NL" b="1" dirty="0" err="1" smtClean="0"/>
              <a:t>Kba</a:t>
            </a:r>
            <a:r>
              <a:rPr lang="nl-NL" dirty="0" smtClean="0"/>
              <a:t> </a:t>
            </a:r>
          </a:p>
        </p:txBody>
      </p:sp>
      <p:sp>
        <p:nvSpPr>
          <p:cNvPr id="39" name="TextBox 38"/>
          <p:cNvSpPr txBox="1"/>
          <p:nvPr/>
        </p:nvSpPr>
        <p:spPr>
          <a:xfrm>
            <a:off x="2843808" y="3059668"/>
            <a:ext cx="5040560" cy="369332"/>
          </a:xfrm>
          <a:prstGeom prst="rect">
            <a:avLst/>
          </a:prstGeom>
          <a:noFill/>
        </p:spPr>
        <p:txBody>
          <a:bodyPr wrap="square" rtlCol="0">
            <a:spAutoFit/>
          </a:bodyPr>
          <a:lstStyle/>
          <a:p>
            <a:r>
              <a:rPr lang="nl-NL" dirty="0" smtClean="0"/>
              <a:t>Dus ook </a:t>
            </a:r>
            <a:r>
              <a:rPr lang="nl-NL" b="1" dirty="0" smtClean="0"/>
              <a:t>(</a:t>
            </a:r>
            <a:r>
              <a:rPr lang="nl-NL" b="1" dirty="0" err="1" smtClean="0"/>
              <a:t>Kab</a:t>
            </a:r>
            <a:r>
              <a:rPr lang="nl-NL" b="1" dirty="0" smtClean="0"/>
              <a:t> ∧ a≠b) V (</a:t>
            </a:r>
            <a:r>
              <a:rPr lang="nl-NL" b="1" dirty="0" err="1" smtClean="0"/>
              <a:t>Kba</a:t>
            </a:r>
            <a:r>
              <a:rPr lang="nl-NL" b="1" dirty="0" smtClean="0"/>
              <a:t> ∧ a≠b) </a:t>
            </a:r>
            <a:endParaRPr lang="nl-NL" dirty="0" smtClean="0"/>
          </a:p>
        </p:txBody>
      </p:sp>
      <p:sp>
        <p:nvSpPr>
          <p:cNvPr id="41" name="TextBox 40"/>
          <p:cNvSpPr txBox="1"/>
          <p:nvPr/>
        </p:nvSpPr>
        <p:spPr>
          <a:xfrm>
            <a:off x="2843808" y="3429000"/>
            <a:ext cx="4536504" cy="369332"/>
          </a:xfrm>
          <a:prstGeom prst="rect">
            <a:avLst/>
          </a:prstGeom>
          <a:noFill/>
        </p:spPr>
        <p:txBody>
          <a:bodyPr wrap="square" rtlCol="0">
            <a:spAutoFit/>
          </a:bodyPr>
          <a:lstStyle/>
          <a:p>
            <a:r>
              <a:rPr lang="nl-NL" dirty="0" smtClean="0"/>
              <a:t>Dus ook </a:t>
            </a:r>
            <a:r>
              <a:rPr lang="nl-NL" b="1" dirty="0" smtClean="0"/>
              <a:t>Lab V </a:t>
            </a:r>
            <a:r>
              <a:rPr lang="nl-NL" b="1" dirty="0" err="1" smtClean="0"/>
              <a:t>Lba</a:t>
            </a:r>
            <a:r>
              <a:rPr lang="nl-NL" dirty="0" smtClean="0"/>
              <a:t>. Dus </a:t>
            </a:r>
            <a:r>
              <a:rPr lang="nl-NL" b="1" dirty="0" err="1" smtClean="0"/>
              <a:t>Lxy</a:t>
            </a:r>
            <a:r>
              <a:rPr lang="nl-NL" dirty="0" smtClean="0"/>
              <a:t> samenhangend.</a:t>
            </a:r>
          </a:p>
        </p:txBody>
      </p:sp>
      <p:sp>
        <p:nvSpPr>
          <p:cNvPr id="42" name="TextBox 41"/>
          <p:cNvSpPr txBox="1"/>
          <p:nvPr/>
        </p:nvSpPr>
        <p:spPr>
          <a:xfrm>
            <a:off x="2771800" y="6165304"/>
            <a:ext cx="6624736" cy="369332"/>
          </a:xfrm>
          <a:prstGeom prst="rect">
            <a:avLst/>
          </a:prstGeom>
          <a:noFill/>
        </p:spPr>
        <p:txBody>
          <a:bodyPr wrap="square" rtlCol="0">
            <a:spAutoFit/>
          </a:bodyPr>
          <a:lstStyle/>
          <a:p>
            <a:r>
              <a:rPr lang="nl-NL" dirty="0" smtClean="0"/>
              <a:t>Dus </a:t>
            </a:r>
            <a:r>
              <a:rPr lang="nl-NL" b="1" dirty="0" smtClean="0"/>
              <a:t>a ≠ c</a:t>
            </a:r>
            <a:r>
              <a:rPr lang="nl-NL" dirty="0" smtClean="0"/>
              <a:t>. Ook </a:t>
            </a:r>
            <a:r>
              <a:rPr lang="nl-NL" b="1" dirty="0" err="1" smtClean="0"/>
              <a:t>Kac</a:t>
            </a:r>
            <a:r>
              <a:rPr lang="nl-NL" dirty="0" smtClean="0"/>
              <a:t>. Maar dan ook </a:t>
            </a:r>
            <a:r>
              <a:rPr lang="nl-NL" b="1" dirty="0" err="1" smtClean="0"/>
              <a:t>Lac</a:t>
            </a:r>
            <a:r>
              <a:rPr lang="nl-NL" dirty="0" smtClean="0"/>
              <a:t>. Dus </a:t>
            </a:r>
            <a:r>
              <a:rPr lang="nl-NL" b="1" dirty="0" err="1" smtClean="0"/>
              <a:t>Lxy</a:t>
            </a:r>
            <a:r>
              <a:rPr lang="nl-NL" b="1" dirty="0" smtClean="0"/>
              <a:t> </a:t>
            </a:r>
            <a:r>
              <a:rPr lang="nl-NL" dirty="0" smtClean="0"/>
              <a:t>transitief.  </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2000"/>
                                        <p:tgtEl>
                                          <p:spTgt spid="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xEl>
                                              <p:pRg st="0" end="0"/>
                                            </p:txEl>
                                          </p:spTgt>
                                        </p:tgtEl>
                                        <p:attrNameLst>
                                          <p:attrName>style.visibility</p:attrName>
                                        </p:attrNameLst>
                                      </p:cBhvr>
                                      <p:to>
                                        <p:strVal val="visible"/>
                                      </p:to>
                                    </p:set>
                                    <p:animEffect transition="in" filter="fade">
                                      <p:cBhvr>
                                        <p:cTn id="12" dur="2000"/>
                                        <p:tgtEl>
                                          <p:spTgt spid="3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
                                            <p:txEl>
                                              <p:pRg st="0" end="0"/>
                                            </p:txEl>
                                          </p:spTgt>
                                        </p:tgtEl>
                                        <p:attrNameLst>
                                          <p:attrName>style.visibility</p:attrName>
                                        </p:attrNameLst>
                                      </p:cBhvr>
                                      <p:to>
                                        <p:strVal val="visible"/>
                                      </p:to>
                                    </p:set>
                                    <p:animEffect transition="in" filter="fade">
                                      <p:cBhvr>
                                        <p:cTn id="17" dur="2000"/>
                                        <p:tgtEl>
                                          <p:spTgt spid="3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9">
                                            <p:txEl>
                                              <p:pRg st="0" end="0"/>
                                            </p:txEl>
                                          </p:spTgt>
                                        </p:tgtEl>
                                        <p:attrNameLst>
                                          <p:attrName>style.visibility</p:attrName>
                                        </p:attrNameLst>
                                      </p:cBhvr>
                                      <p:to>
                                        <p:strVal val="visible"/>
                                      </p:to>
                                    </p:set>
                                    <p:animEffect transition="in" filter="fade">
                                      <p:cBhvr>
                                        <p:cTn id="22" dur="2000"/>
                                        <p:tgtEl>
                                          <p:spTgt spid="3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1">
                                            <p:txEl>
                                              <p:pRg st="0" end="0"/>
                                            </p:txEl>
                                          </p:spTgt>
                                        </p:tgtEl>
                                        <p:attrNameLst>
                                          <p:attrName>style.visibility</p:attrName>
                                        </p:attrNameLst>
                                      </p:cBhvr>
                                      <p:to>
                                        <p:strVal val="visible"/>
                                      </p:to>
                                    </p:set>
                                    <p:animEffect transition="in" filter="fade">
                                      <p:cBhvr>
                                        <p:cTn id="27" dur="2000"/>
                                        <p:tgtEl>
                                          <p:spTgt spid="4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0">
                                            <p:txEl>
                                              <p:pRg st="0" end="0"/>
                                            </p:txEl>
                                          </p:spTgt>
                                        </p:tgtEl>
                                        <p:attrNameLst>
                                          <p:attrName>style.visibility</p:attrName>
                                        </p:attrNameLst>
                                      </p:cBhvr>
                                      <p:to>
                                        <p:strVal val="visible"/>
                                      </p:to>
                                    </p:set>
                                    <p:animEffect transition="in" filter="fade">
                                      <p:cBhvr>
                                        <p:cTn id="32" dur="2000"/>
                                        <p:tgtEl>
                                          <p:spTgt spid="4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4">
                                            <p:txEl>
                                              <p:pRg st="0" end="0"/>
                                            </p:txEl>
                                          </p:spTgt>
                                        </p:tgtEl>
                                        <p:attrNameLst>
                                          <p:attrName>style.visibility</p:attrName>
                                        </p:attrNameLst>
                                      </p:cBhvr>
                                      <p:to>
                                        <p:strVal val="visible"/>
                                      </p:to>
                                    </p:set>
                                    <p:animEffect transition="in" filter="fade">
                                      <p:cBhvr>
                                        <p:cTn id="37" dur="2000"/>
                                        <p:tgtEl>
                                          <p:spTgt spid="6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xEl>
                                              <p:pRg st="0" end="0"/>
                                            </p:txEl>
                                          </p:spTgt>
                                        </p:tgtEl>
                                        <p:attrNameLst>
                                          <p:attrName>style.visibility</p:attrName>
                                        </p:attrNameLst>
                                      </p:cBhvr>
                                      <p:to>
                                        <p:strVal val="visible"/>
                                      </p:to>
                                    </p:set>
                                    <p:animEffect transition="in" filter="fade">
                                      <p:cBhvr>
                                        <p:cTn id="42" dur="2000"/>
                                        <p:tgtEl>
                                          <p:spTgt spid="2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5">
                                            <p:txEl>
                                              <p:pRg st="0" end="0"/>
                                            </p:txEl>
                                          </p:spTgt>
                                        </p:tgtEl>
                                        <p:attrNameLst>
                                          <p:attrName>style.visibility</p:attrName>
                                        </p:attrNameLst>
                                      </p:cBhvr>
                                      <p:to>
                                        <p:strVal val="visible"/>
                                      </p:to>
                                    </p:set>
                                    <p:animEffect transition="in" filter="fade">
                                      <p:cBhvr>
                                        <p:cTn id="47" dur="2000"/>
                                        <p:tgtEl>
                                          <p:spTgt spid="6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6">
                                            <p:txEl>
                                              <p:pRg st="0" end="0"/>
                                            </p:txEl>
                                          </p:spTgt>
                                        </p:tgtEl>
                                        <p:attrNameLst>
                                          <p:attrName>style.visibility</p:attrName>
                                        </p:attrNameLst>
                                      </p:cBhvr>
                                      <p:to>
                                        <p:strVal val="visible"/>
                                      </p:to>
                                    </p:set>
                                    <p:animEffect transition="in" filter="fade">
                                      <p:cBhvr>
                                        <p:cTn id="52" dur="2000"/>
                                        <p:tgtEl>
                                          <p:spTgt spid="6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4">
                                            <p:txEl>
                                              <p:pRg st="0" end="0"/>
                                            </p:txEl>
                                          </p:spTgt>
                                        </p:tgtEl>
                                        <p:attrNameLst>
                                          <p:attrName>style.visibility</p:attrName>
                                        </p:attrNameLst>
                                      </p:cBhvr>
                                      <p:to>
                                        <p:strVal val="visible"/>
                                      </p:to>
                                    </p:set>
                                    <p:animEffect transition="in" filter="fade">
                                      <p:cBhvr>
                                        <p:cTn id="57" dur="2000"/>
                                        <p:tgtEl>
                                          <p:spTgt spid="2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5">
                                            <p:txEl>
                                              <p:pRg st="0" end="0"/>
                                            </p:txEl>
                                          </p:spTgt>
                                        </p:tgtEl>
                                        <p:attrNameLst>
                                          <p:attrName>style.visibility</p:attrName>
                                        </p:attrNameLst>
                                      </p:cBhvr>
                                      <p:to>
                                        <p:strVal val="visible"/>
                                      </p:to>
                                    </p:set>
                                    <p:animEffect transition="in" filter="fade">
                                      <p:cBhvr>
                                        <p:cTn id="62" dur="2000"/>
                                        <p:tgtEl>
                                          <p:spTgt spid="25">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xEl>
                                              <p:pRg st="0" end="0"/>
                                            </p:txEl>
                                          </p:spTgt>
                                        </p:tgtEl>
                                        <p:attrNameLst>
                                          <p:attrName>style.visibility</p:attrName>
                                        </p:attrNameLst>
                                      </p:cBhvr>
                                      <p:to>
                                        <p:strVal val="visible"/>
                                      </p:to>
                                    </p:set>
                                    <p:animEffect transition="in" filter="fade">
                                      <p:cBhvr>
                                        <p:cTn id="67" dur="2000"/>
                                        <p:tgtEl>
                                          <p:spTgt spid="2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7">
                                            <p:txEl>
                                              <p:pRg st="0" end="0"/>
                                            </p:txEl>
                                          </p:spTgt>
                                        </p:tgtEl>
                                        <p:attrNameLst>
                                          <p:attrName>style.visibility</p:attrName>
                                        </p:attrNameLst>
                                      </p:cBhvr>
                                      <p:to>
                                        <p:strVal val="visible"/>
                                      </p:to>
                                    </p:set>
                                    <p:animEffect transition="in" filter="fade">
                                      <p:cBhvr>
                                        <p:cTn id="72" dur="2000"/>
                                        <p:tgtEl>
                                          <p:spTgt spid="27">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8">
                                            <p:txEl>
                                              <p:pRg st="0" end="0"/>
                                            </p:txEl>
                                          </p:spTgt>
                                        </p:tgtEl>
                                        <p:attrNameLst>
                                          <p:attrName>style.visibility</p:attrName>
                                        </p:attrNameLst>
                                      </p:cBhvr>
                                      <p:to>
                                        <p:strVal val="visible"/>
                                      </p:to>
                                    </p:set>
                                    <p:animEffect transition="in" filter="fade">
                                      <p:cBhvr>
                                        <p:cTn id="77" dur="2000"/>
                                        <p:tgtEl>
                                          <p:spTgt spid="28">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2">
                                            <p:txEl>
                                              <p:pRg st="0" end="0"/>
                                            </p:txEl>
                                          </p:spTgt>
                                        </p:tgtEl>
                                        <p:attrNameLst>
                                          <p:attrName>style.visibility</p:attrName>
                                        </p:attrNameLst>
                                      </p:cBhvr>
                                      <p:to>
                                        <p:strVal val="visible"/>
                                      </p:to>
                                    </p:set>
                                    <p:animEffect transition="in" filter="fade">
                                      <p:cBhvr>
                                        <p:cTn id="82" dur="20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build="allAtOnce"/>
      <p:bldP spid="40" grpId="0" build="allAtOnce"/>
      <p:bldP spid="64" grpId="0" build="allAtOnce"/>
      <p:bldP spid="65" grpId="0" build="allAtOnce"/>
      <p:bldP spid="66" grpId="0" build="allAtOnce"/>
      <p:bldP spid="24" grpId="0" build="allAtOnce"/>
      <p:bldP spid="25" grpId="0" build="allAtOnce"/>
      <p:bldP spid="26" grpId="0" build="allAtOnce"/>
      <p:bldP spid="27" grpId="0" build="allAtOnce"/>
      <p:bldP spid="28" grpId="0" build="allAtOnce"/>
      <p:bldP spid="29" grpId="0" build="allAtOnce"/>
      <p:bldP spid="34" grpId="0" build="allAtOnce"/>
      <p:bldP spid="35" grpId="0" build="allAtOnce"/>
      <p:bldP spid="39" grpId="0" build="allAtOnce"/>
      <p:bldP spid="41" grpId="0" build="allAtOnce"/>
      <p:bldP spid="42" grpId="0" build="allAtOnce"/>
    </p:bldLst>
  </p:timing>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Soorten relaties (vervolg)</a:t>
            </a:r>
            <a:endParaRPr lang="nl-NL" sz="3600" dirty="0"/>
          </a:p>
        </p:txBody>
      </p:sp>
      <p:sp>
        <p:nvSpPr>
          <p:cNvPr id="36" name="TextBox 35"/>
          <p:cNvSpPr txBox="1"/>
          <p:nvPr/>
        </p:nvSpPr>
        <p:spPr>
          <a:xfrm>
            <a:off x="539552" y="1484784"/>
            <a:ext cx="8280920" cy="646331"/>
          </a:xfrm>
          <a:prstGeom prst="rect">
            <a:avLst/>
          </a:prstGeom>
          <a:noFill/>
        </p:spPr>
        <p:txBody>
          <a:bodyPr wrap="square" rtlCol="0">
            <a:spAutoFit/>
          </a:bodyPr>
          <a:lstStyle/>
          <a:p>
            <a:r>
              <a:rPr lang="nl-NL" dirty="0" smtClean="0">
                <a:solidFill>
                  <a:srgbClr val="0070C0"/>
                </a:solidFill>
              </a:rPr>
              <a:t>Stel dat de relatie </a:t>
            </a:r>
            <a:r>
              <a:rPr lang="nl-NL" b="1" dirty="0" err="1" smtClean="0">
                <a:solidFill>
                  <a:srgbClr val="0070C0"/>
                </a:solidFill>
              </a:rPr>
              <a:t>Kxy</a:t>
            </a:r>
            <a:r>
              <a:rPr lang="nl-NL" dirty="0" smtClean="0">
                <a:solidFill>
                  <a:srgbClr val="0070C0"/>
                </a:solidFill>
              </a:rPr>
              <a:t> samenhangend, antisymmetrisch, reflexief en transitief is.       Laat zien dat de relatie </a:t>
            </a:r>
            <a:r>
              <a:rPr lang="nl-NL" b="1" dirty="0" err="1" smtClean="0">
                <a:solidFill>
                  <a:srgbClr val="0070C0"/>
                </a:solidFill>
              </a:rPr>
              <a:t>Lxy</a:t>
            </a:r>
            <a:r>
              <a:rPr lang="nl-NL" dirty="0" smtClean="0">
                <a:solidFill>
                  <a:srgbClr val="0070C0"/>
                </a:solidFill>
              </a:rPr>
              <a:t> =</a:t>
            </a:r>
            <a:r>
              <a:rPr lang="nl-NL" baseline="-25000" dirty="0" err="1" smtClean="0">
                <a:solidFill>
                  <a:srgbClr val="0070C0"/>
                </a:solidFill>
              </a:rPr>
              <a:t>def</a:t>
            </a:r>
            <a:r>
              <a:rPr lang="nl-NL" dirty="0" smtClean="0">
                <a:solidFill>
                  <a:srgbClr val="0070C0"/>
                </a:solidFill>
              </a:rPr>
              <a:t> </a:t>
            </a:r>
            <a:r>
              <a:rPr lang="nl-NL" b="1" dirty="0" err="1" smtClean="0">
                <a:solidFill>
                  <a:srgbClr val="0070C0"/>
                </a:solidFill>
              </a:rPr>
              <a:t>Kxy</a:t>
            </a:r>
            <a:r>
              <a:rPr lang="nl-NL" dirty="0" smtClean="0">
                <a:solidFill>
                  <a:srgbClr val="0070C0"/>
                </a:solidFill>
              </a:rPr>
              <a:t> </a:t>
            </a:r>
            <a:r>
              <a:rPr lang="nl-NL" b="1" dirty="0" smtClean="0">
                <a:solidFill>
                  <a:srgbClr val="0070C0"/>
                </a:solidFill>
              </a:rPr>
              <a:t>∧ x ≠ y </a:t>
            </a:r>
            <a:r>
              <a:rPr lang="nl-NL" dirty="0" smtClean="0">
                <a:solidFill>
                  <a:srgbClr val="0070C0"/>
                </a:solidFill>
              </a:rPr>
              <a:t>een lineaire ordening is. </a:t>
            </a:r>
            <a:endParaRPr lang="nl-NL" dirty="0">
              <a:solidFill>
                <a:srgbClr val="0070C0"/>
              </a:solidFill>
            </a:endParaRPr>
          </a:p>
        </p:txBody>
      </p:sp>
      <p:sp>
        <p:nvSpPr>
          <p:cNvPr id="37" name="TextBox 36"/>
          <p:cNvSpPr txBox="1"/>
          <p:nvPr/>
        </p:nvSpPr>
        <p:spPr>
          <a:xfrm>
            <a:off x="539552" y="1124744"/>
            <a:ext cx="1800200" cy="369332"/>
          </a:xfrm>
          <a:prstGeom prst="rect">
            <a:avLst/>
          </a:prstGeom>
          <a:noFill/>
        </p:spPr>
        <p:txBody>
          <a:bodyPr wrap="square" rtlCol="0">
            <a:spAutoFit/>
          </a:bodyPr>
          <a:lstStyle/>
          <a:p>
            <a:r>
              <a:rPr lang="nl-NL" b="1" dirty="0" smtClean="0">
                <a:solidFill>
                  <a:srgbClr val="0070C0"/>
                </a:solidFill>
              </a:rPr>
              <a:t>Voorbeeld</a:t>
            </a:r>
            <a:endParaRPr lang="nl-NL" b="1" dirty="0">
              <a:solidFill>
                <a:srgbClr val="0070C0"/>
              </a:solidFill>
            </a:endParaRPr>
          </a:p>
        </p:txBody>
      </p:sp>
      <p:sp>
        <p:nvSpPr>
          <p:cNvPr id="67" name="TextBox 66"/>
          <p:cNvSpPr txBox="1"/>
          <p:nvPr/>
        </p:nvSpPr>
        <p:spPr>
          <a:xfrm>
            <a:off x="539552" y="2492896"/>
            <a:ext cx="2160240" cy="369332"/>
          </a:xfrm>
          <a:prstGeom prst="rect">
            <a:avLst/>
          </a:prstGeom>
          <a:noFill/>
        </p:spPr>
        <p:txBody>
          <a:bodyPr wrap="square" rtlCol="0">
            <a:spAutoFit/>
          </a:bodyPr>
          <a:lstStyle/>
          <a:p>
            <a:r>
              <a:rPr lang="nl-NL" dirty="0" smtClean="0"/>
              <a:t>Is </a:t>
            </a:r>
            <a:r>
              <a:rPr lang="nl-NL" b="1" dirty="0" err="1" smtClean="0"/>
              <a:t>Lxy</a:t>
            </a:r>
            <a:r>
              <a:rPr lang="nl-NL" dirty="0" smtClean="0"/>
              <a:t> asymmetrisch? </a:t>
            </a:r>
            <a:endParaRPr lang="nl-NL" dirty="0"/>
          </a:p>
        </p:txBody>
      </p:sp>
      <p:sp>
        <p:nvSpPr>
          <p:cNvPr id="68" name="TextBox 67"/>
          <p:cNvSpPr txBox="1"/>
          <p:nvPr/>
        </p:nvSpPr>
        <p:spPr>
          <a:xfrm>
            <a:off x="2627784" y="2502188"/>
            <a:ext cx="3384376" cy="369332"/>
          </a:xfrm>
          <a:prstGeom prst="rect">
            <a:avLst/>
          </a:prstGeom>
          <a:noFill/>
        </p:spPr>
        <p:txBody>
          <a:bodyPr wrap="square" rtlCol="0">
            <a:spAutoFit/>
          </a:bodyPr>
          <a:lstStyle/>
          <a:p>
            <a:r>
              <a:rPr lang="nl-NL" dirty="0" smtClean="0"/>
              <a:t>Stel </a:t>
            </a:r>
            <a:r>
              <a:rPr lang="nl-NL" b="1" dirty="0" smtClean="0"/>
              <a:t>Lab</a:t>
            </a:r>
            <a:r>
              <a:rPr lang="nl-NL" dirty="0" smtClean="0"/>
              <a:t> voor willekeurige </a:t>
            </a:r>
            <a:r>
              <a:rPr lang="nl-NL" b="1" dirty="0" smtClean="0"/>
              <a:t>a</a:t>
            </a:r>
            <a:r>
              <a:rPr lang="nl-NL" dirty="0" smtClean="0"/>
              <a:t> en </a:t>
            </a:r>
            <a:r>
              <a:rPr lang="nl-NL" b="1" dirty="0" smtClean="0"/>
              <a:t>b</a:t>
            </a:r>
            <a:r>
              <a:rPr lang="nl-NL" dirty="0" smtClean="0"/>
              <a:t>. </a:t>
            </a:r>
            <a:endParaRPr lang="nl-NL" dirty="0"/>
          </a:p>
        </p:txBody>
      </p:sp>
      <p:sp>
        <p:nvSpPr>
          <p:cNvPr id="69" name="TextBox 68"/>
          <p:cNvSpPr txBox="1"/>
          <p:nvPr/>
        </p:nvSpPr>
        <p:spPr>
          <a:xfrm>
            <a:off x="5724128" y="2492896"/>
            <a:ext cx="3384376" cy="369332"/>
          </a:xfrm>
          <a:prstGeom prst="rect">
            <a:avLst/>
          </a:prstGeom>
          <a:noFill/>
        </p:spPr>
        <p:txBody>
          <a:bodyPr wrap="square" rtlCol="0">
            <a:spAutoFit/>
          </a:bodyPr>
          <a:lstStyle/>
          <a:p>
            <a:r>
              <a:rPr lang="nl-NL" dirty="0" smtClean="0"/>
              <a:t>Dan </a:t>
            </a:r>
            <a:r>
              <a:rPr lang="nl-NL" b="1" dirty="0" err="1" smtClean="0"/>
              <a:t>Kab</a:t>
            </a:r>
            <a:r>
              <a:rPr lang="nl-NL" dirty="0" smtClean="0"/>
              <a:t> en </a:t>
            </a:r>
            <a:r>
              <a:rPr lang="nl-NL" b="1" dirty="0" smtClean="0"/>
              <a:t>a ≠ b</a:t>
            </a:r>
            <a:r>
              <a:rPr lang="nl-NL" dirty="0" smtClean="0"/>
              <a:t> </a:t>
            </a:r>
            <a:endParaRPr lang="nl-NL" dirty="0"/>
          </a:p>
        </p:txBody>
      </p:sp>
      <p:sp>
        <p:nvSpPr>
          <p:cNvPr id="70" name="TextBox 69"/>
          <p:cNvSpPr txBox="1"/>
          <p:nvPr/>
        </p:nvSpPr>
        <p:spPr>
          <a:xfrm>
            <a:off x="2627784" y="3059668"/>
            <a:ext cx="5184576" cy="369332"/>
          </a:xfrm>
          <a:prstGeom prst="rect">
            <a:avLst/>
          </a:prstGeom>
          <a:noFill/>
        </p:spPr>
        <p:txBody>
          <a:bodyPr wrap="square" rtlCol="0">
            <a:spAutoFit/>
          </a:bodyPr>
          <a:lstStyle/>
          <a:p>
            <a:r>
              <a:rPr lang="nl-NL" dirty="0" smtClean="0"/>
              <a:t>Te bewijzen dat </a:t>
            </a:r>
            <a:r>
              <a:rPr lang="nl-NL" b="1" dirty="0" smtClean="0"/>
              <a:t>¬</a:t>
            </a:r>
            <a:r>
              <a:rPr lang="nl-NL" b="1" dirty="0" err="1" smtClean="0"/>
              <a:t>Lba</a:t>
            </a:r>
            <a:r>
              <a:rPr lang="nl-NL" dirty="0" smtClean="0"/>
              <a:t>. Dus bewijzen dat </a:t>
            </a:r>
            <a:r>
              <a:rPr lang="nl-NL" b="1" dirty="0" smtClean="0"/>
              <a:t>¬</a:t>
            </a:r>
            <a:r>
              <a:rPr lang="nl-NL" b="1" dirty="0" err="1" smtClean="0"/>
              <a:t>Kba</a:t>
            </a:r>
            <a:r>
              <a:rPr lang="nl-NL" b="1" dirty="0" smtClean="0"/>
              <a:t> </a:t>
            </a:r>
            <a:r>
              <a:rPr lang="nl-NL" dirty="0" smtClean="0"/>
              <a:t>of </a:t>
            </a:r>
            <a:r>
              <a:rPr lang="nl-NL" b="1" dirty="0" smtClean="0"/>
              <a:t>b=a</a:t>
            </a:r>
            <a:r>
              <a:rPr lang="nl-NL" dirty="0" smtClean="0"/>
              <a:t> </a:t>
            </a:r>
            <a:endParaRPr lang="nl-NL" dirty="0"/>
          </a:p>
        </p:txBody>
      </p:sp>
      <p:sp>
        <p:nvSpPr>
          <p:cNvPr id="71" name="TextBox 70"/>
          <p:cNvSpPr txBox="1"/>
          <p:nvPr/>
        </p:nvSpPr>
        <p:spPr>
          <a:xfrm>
            <a:off x="2627784" y="3645024"/>
            <a:ext cx="2808312" cy="369332"/>
          </a:xfrm>
          <a:prstGeom prst="rect">
            <a:avLst/>
          </a:prstGeom>
          <a:noFill/>
        </p:spPr>
        <p:txBody>
          <a:bodyPr wrap="square" rtlCol="0">
            <a:spAutoFit/>
          </a:bodyPr>
          <a:lstStyle/>
          <a:p>
            <a:r>
              <a:rPr lang="nl-NL" dirty="0" smtClean="0"/>
              <a:t>Dus bewijzen dat </a:t>
            </a:r>
            <a:r>
              <a:rPr lang="nl-NL" b="1" dirty="0" smtClean="0"/>
              <a:t>¬</a:t>
            </a:r>
            <a:r>
              <a:rPr lang="nl-NL" b="1" dirty="0" err="1" smtClean="0"/>
              <a:t>Kba</a:t>
            </a:r>
            <a:r>
              <a:rPr lang="nl-NL" dirty="0" smtClean="0"/>
              <a:t>. </a:t>
            </a:r>
            <a:endParaRPr lang="nl-NL" dirty="0"/>
          </a:p>
        </p:txBody>
      </p:sp>
      <p:sp>
        <p:nvSpPr>
          <p:cNvPr id="72" name="TextBox 71"/>
          <p:cNvSpPr txBox="1"/>
          <p:nvPr/>
        </p:nvSpPr>
        <p:spPr>
          <a:xfrm>
            <a:off x="4860032" y="3645024"/>
            <a:ext cx="3600400" cy="369332"/>
          </a:xfrm>
          <a:prstGeom prst="rect">
            <a:avLst/>
          </a:prstGeom>
          <a:noFill/>
        </p:spPr>
        <p:txBody>
          <a:bodyPr wrap="square" rtlCol="0">
            <a:spAutoFit/>
          </a:bodyPr>
          <a:lstStyle/>
          <a:p>
            <a:r>
              <a:rPr lang="nl-NL" dirty="0" smtClean="0"/>
              <a:t>Doe assumptie (voor </a:t>
            </a:r>
            <a:r>
              <a:rPr lang="nl-NL" dirty="0" err="1" smtClean="0"/>
              <a:t>reductio</a:t>
            </a:r>
            <a:r>
              <a:rPr lang="nl-NL" dirty="0" smtClean="0"/>
              <a:t>): </a:t>
            </a:r>
            <a:r>
              <a:rPr lang="nl-NL" b="1" dirty="0" err="1" smtClean="0"/>
              <a:t>Kba</a:t>
            </a:r>
            <a:r>
              <a:rPr lang="nl-NL" dirty="0" smtClean="0"/>
              <a:t> </a:t>
            </a:r>
            <a:endParaRPr lang="nl-NL" dirty="0"/>
          </a:p>
        </p:txBody>
      </p:sp>
      <p:sp>
        <p:nvSpPr>
          <p:cNvPr id="73" name="Rectangle 72"/>
          <p:cNvSpPr/>
          <p:nvPr/>
        </p:nvSpPr>
        <p:spPr>
          <a:xfrm>
            <a:off x="7587315" y="3059668"/>
            <a:ext cx="1305165" cy="369332"/>
          </a:xfrm>
          <a:prstGeom prst="rect">
            <a:avLst/>
          </a:prstGeom>
        </p:spPr>
        <p:txBody>
          <a:bodyPr wrap="none">
            <a:spAutoFit/>
          </a:bodyPr>
          <a:lstStyle/>
          <a:p>
            <a:r>
              <a:rPr lang="nl-NL" dirty="0" smtClean="0"/>
              <a:t>Maar </a:t>
            </a:r>
            <a:r>
              <a:rPr lang="nl-NL" b="1" dirty="0" smtClean="0"/>
              <a:t>b ≠ a</a:t>
            </a:r>
            <a:r>
              <a:rPr lang="nl-NL" dirty="0" smtClean="0"/>
              <a:t>. </a:t>
            </a:r>
            <a:endParaRPr lang="nl-NL" dirty="0"/>
          </a:p>
        </p:txBody>
      </p:sp>
      <p:sp>
        <p:nvSpPr>
          <p:cNvPr id="74" name="TextBox 73"/>
          <p:cNvSpPr txBox="1"/>
          <p:nvPr/>
        </p:nvSpPr>
        <p:spPr>
          <a:xfrm>
            <a:off x="2627784" y="4211796"/>
            <a:ext cx="5904656" cy="369332"/>
          </a:xfrm>
          <a:prstGeom prst="rect">
            <a:avLst/>
          </a:prstGeom>
          <a:noFill/>
        </p:spPr>
        <p:txBody>
          <a:bodyPr wrap="square" rtlCol="0">
            <a:spAutoFit/>
          </a:bodyPr>
          <a:lstStyle/>
          <a:p>
            <a:r>
              <a:rPr lang="nl-NL" dirty="0" smtClean="0"/>
              <a:t>Uit </a:t>
            </a:r>
            <a:r>
              <a:rPr lang="nl-NL" b="1" dirty="0" err="1" smtClean="0"/>
              <a:t>Kab</a:t>
            </a:r>
            <a:r>
              <a:rPr lang="nl-NL" dirty="0" smtClean="0"/>
              <a:t> en </a:t>
            </a:r>
            <a:r>
              <a:rPr lang="nl-NL" b="1" dirty="0" err="1" smtClean="0"/>
              <a:t>Kba</a:t>
            </a:r>
            <a:r>
              <a:rPr lang="nl-NL" dirty="0" smtClean="0"/>
              <a:t> volgt dan (wegens antisymmetrie K) dat </a:t>
            </a:r>
            <a:r>
              <a:rPr lang="nl-NL" b="1" dirty="0" smtClean="0"/>
              <a:t>a =b</a:t>
            </a:r>
            <a:r>
              <a:rPr lang="nl-NL" dirty="0" smtClean="0"/>
              <a:t>.</a:t>
            </a:r>
            <a:endParaRPr lang="nl-NL" dirty="0"/>
          </a:p>
        </p:txBody>
      </p:sp>
      <p:sp>
        <p:nvSpPr>
          <p:cNvPr id="75" name="TextBox 74"/>
          <p:cNvSpPr txBox="1"/>
          <p:nvPr/>
        </p:nvSpPr>
        <p:spPr>
          <a:xfrm>
            <a:off x="2627784" y="4797152"/>
            <a:ext cx="6768752" cy="369332"/>
          </a:xfrm>
          <a:prstGeom prst="rect">
            <a:avLst/>
          </a:prstGeom>
          <a:noFill/>
        </p:spPr>
        <p:txBody>
          <a:bodyPr wrap="square" rtlCol="0">
            <a:spAutoFit/>
          </a:bodyPr>
          <a:lstStyle/>
          <a:p>
            <a:r>
              <a:rPr lang="nl-NL" dirty="0" smtClean="0"/>
              <a:t>Dus </a:t>
            </a:r>
            <a:r>
              <a:rPr lang="nl-NL" b="1" dirty="0" smtClean="0"/>
              <a:t>a ≠ b</a:t>
            </a:r>
            <a:r>
              <a:rPr lang="nl-NL" dirty="0" smtClean="0"/>
              <a:t> en </a:t>
            </a:r>
            <a:r>
              <a:rPr lang="nl-NL" b="1" dirty="0" smtClean="0"/>
              <a:t>a=b</a:t>
            </a:r>
            <a:r>
              <a:rPr lang="nl-NL" dirty="0" smtClean="0"/>
              <a:t>. Tegenspraak! Dus </a:t>
            </a:r>
            <a:r>
              <a:rPr lang="nl-NL" b="1" dirty="0" smtClean="0"/>
              <a:t>¬</a:t>
            </a:r>
            <a:r>
              <a:rPr lang="nl-NL" b="1" dirty="0" err="1" smtClean="0"/>
              <a:t>Kba</a:t>
            </a:r>
            <a:r>
              <a:rPr lang="nl-NL" dirty="0" smtClean="0"/>
              <a:t> en dus </a:t>
            </a:r>
            <a:r>
              <a:rPr lang="nl-NL" b="1" dirty="0" err="1" smtClean="0"/>
              <a:t>Lxy</a:t>
            </a:r>
            <a:r>
              <a:rPr lang="nl-NL" dirty="0" smtClean="0"/>
              <a:t> asymmetrisch</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7">
                                            <p:txEl>
                                              <p:pRg st="0" end="0"/>
                                            </p:txEl>
                                          </p:spTgt>
                                        </p:tgtEl>
                                        <p:attrNameLst>
                                          <p:attrName>style.visibility</p:attrName>
                                        </p:attrNameLst>
                                      </p:cBhvr>
                                      <p:to>
                                        <p:strVal val="visible"/>
                                      </p:to>
                                    </p:set>
                                    <p:animEffect transition="in" filter="fade">
                                      <p:cBhvr>
                                        <p:cTn id="7" dur="2000"/>
                                        <p:tgtEl>
                                          <p:spTgt spid="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8">
                                            <p:txEl>
                                              <p:pRg st="0" end="0"/>
                                            </p:txEl>
                                          </p:spTgt>
                                        </p:tgtEl>
                                        <p:attrNameLst>
                                          <p:attrName>style.visibility</p:attrName>
                                        </p:attrNameLst>
                                      </p:cBhvr>
                                      <p:to>
                                        <p:strVal val="visible"/>
                                      </p:to>
                                    </p:set>
                                    <p:animEffect transition="in" filter="fade">
                                      <p:cBhvr>
                                        <p:cTn id="12" dur="2000"/>
                                        <p:tgtEl>
                                          <p:spTgt spid="6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9">
                                            <p:txEl>
                                              <p:pRg st="0" end="0"/>
                                            </p:txEl>
                                          </p:spTgt>
                                        </p:tgtEl>
                                        <p:attrNameLst>
                                          <p:attrName>style.visibility</p:attrName>
                                        </p:attrNameLst>
                                      </p:cBhvr>
                                      <p:to>
                                        <p:strVal val="visible"/>
                                      </p:to>
                                    </p:set>
                                    <p:animEffect transition="in" filter="fade">
                                      <p:cBhvr>
                                        <p:cTn id="17" dur="2000"/>
                                        <p:tgtEl>
                                          <p:spTgt spid="6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0">
                                            <p:txEl>
                                              <p:pRg st="0" end="0"/>
                                            </p:txEl>
                                          </p:spTgt>
                                        </p:tgtEl>
                                        <p:attrNameLst>
                                          <p:attrName>style.visibility</p:attrName>
                                        </p:attrNameLst>
                                      </p:cBhvr>
                                      <p:to>
                                        <p:strVal val="visible"/>
                                      </p:to>
                                    </p:set>
                                    <p:animEffect transition="in" filter="fade">
                                      <p:cBhvr>
                                        <p:cTn id="22" dur="2000"/>
                                        <p:tgtEl>
                                          <p:spTgt spid="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3">
                                            <p:txEl>
                                              <p:pRg st="0" end="0"/>
                                            </p:txEl>
                                          </p:spTgt>
                                        </p:tgtEl>
                                        <p:attrNameLst>
                                          <p:attrName>style.visibility</p:attrName>
                                        </p:attrNameLst>
                                      </p:cBhvr>
                                      <p:to>
                                        <p:strVal val="visible"/>
                                      </p:to>
                                    </p:set>
                                    <p:animEffect transition="in" filter="fade">
                                      <p:cBhvr>
                                        <p:cTn id="27" dur="2000"/>
                                        <p:tgtEl>
                                          <p:spTgt spid="7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1">
                                            <p:txEl>
                                              <p:pRg st="0" end="0"/>
                                            </p:txEl>
                                          </p:spTgt>
                                        </p:tgtEl>
                                        <p:attrNameLst>
                                          <p:attrName>style.visibility</p:attrName>
                                        </p:attrNameLst>
                                      </p:cBhvr>
                                      <p:to>
                                        <p:strVal val="visible"/>
                                      </p:to>
                                    </p:set>
                                    <p:animEffect transition="in" filter="fade">
                                      <p:cBhvr>
                                        <p:cTn id="32" dur="2000"/>
                                        <p:tgtEl>
                                          <p:spTgt spid="7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2">
                                            <p:txEl>
                                              <p:pRg st="0" end="0"/>
                                            </p:txEl>
                                          </p:spTgt>
                                        </p:tgtEl>
                                        <p:attrNameLst>
                                          <p:attrName>style.visibility</p:attrName>
                                        </p:attrNameLst>
                                      </p:cBhvr>
                                      <p:to>
                                        <p:strVal val="visible"/>
                                      </p:to>
                                    </p:set>
                                    <p:animEffect transition="in" filter="fade">
                                      <p:cBhvr>
                                        <p:cTn id="37" dur="2000"/>
                                        <p:tgtEl>
                                          <p:spTgt spid="7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4">
                                            <p:txEl>
                                              <p:pRg st="0" end="0"/>
                                            </p:txEl>
                                          </p:spTgt>
                                        </p:tgtEl>
                                        <p:attrNameLst>
                                          <p:attrName>style.visibility</p:attrName>
                                        </p:attrNameLst>
                                      </p:cBhvr>
                                      <p:to>
                                        <p:strVal val="visible"/>
                                      </p:to>
                                    </p:set>
                                    <p:animEffect transition="in" filter="fade">
                                      <p:cBhvr>
                                        <p:cTn id="42" dur="2000"/>
                                        <p:tgtEl>
                                          <p:spTgt spid="7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5">
                                            <p:txEl>
                                              <p:pRg st="0" end="0"/>
                                            </p:txEl>
                                          </p:spTgt>
                                        </p:tgtEl>
                                        <p:attrNameLst>
                                          <p:attrName>style.visibility</p:attrName>
                                        </p:attrNameLst>
                                      </p:cBhvr>
                                      <p:to>
                                        <p:strVal val="visible"/>
                                      </p:to>
                                    </p:set>
                                    <p:animEffect transition="in" filter="fade">
                                      <p:cBhvr>
                                        <p:cTn id="47" dur="2000"/>
                                        <p:tgtEl>
                                          <p:spTgt spid="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build="allAtOnce"/>
      <p:bldP spid="68" grpId="0" build="allAtOnce"/>
      <p:bldP spid="69" grpId="0" build="allAtOnce"/>
      <p:bldP spid="70" grpId="0" build="allAtOnce"/>
      <p:bldP spid="71" grpId="0" build="allAtOnce"/>
      <p:bldP spid="72" grpId="0" build="allAtOnce"/>
      <p:bldP spid="73" grpId="0" build="allAtOnce"/>
      <p:bldP spid="74" grpId="0" build="allAtOnce"/>
      <p:bldP spid="75" grpId="0" build="allAtOnce"/>
    </p:bldLst>
  </p:timing>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Vertalingen met identiteit</a:t>
            </a:r>
            <a:endParaRPr lang="nl-NL" sz="3600" dirty="0"/>
          </a:p>
        </p:txBody>
      </p:sp>
      <p:sp>
        <p:nvSpPr>
          <p:cNvPr id="15" name="Rectangle 14"/>
          <p:cNvSpPr/>
          <p:nvPr/>
        </p:nvSpPr>
        <p:spPr>
          <a:xfrm>
            <a:off x="251520" y="1619508"/>
            <a:ext cx="3888432" cy="646331"/>
          </a:xfrm>
          <a:prstGeom prst="rect">
            <a:avLst/>
          </a:prstGeom>
        </p:spPr>
        <p:txBody>
          <a:bodyPr wrap="square">
            <a:spAutoFit/>
          </a:bodyPr>
          <a:lstStyle/>
          <a:p>
            <a:r>
              <a:rPr lang="nl-NL" dirty="0" smtClean="0"/>
              <a:t>Op Kees na ging niemand                                naar de disco</a:t>
            </a:r>
            <a:endParaRPr lang="nl-NL" dirty="0"/>
          </a:p>
        </p:txBody>
      </p:sp>
      <p:sp>
        <p:nvSpPr>
          <p:cNvPr id="33" name="Rectangle 32"/>
          <p:cNvSpPr/>
          <p:nvPr/>
        </p:nvSpPr>
        <p:spPr>
          <a:xfrm>
            <a:off x="251520" y="2768154"/>
            <a:ext cx="3888432" cy="646331"/>
          </a:xfrm>
          <a:prstGeom prst="rect">
            <a:avLst/>
          </a:prstGeom>
        </p:spPr>
        <p:txBody>
          <a:bodyPr wrap="square">
            <a:spAutoFit/>
          </a:bodyPr>
          <a:lstStyle/>
          <a:p>
            <a:r>
              <a:rPr lang="nl-NL" dirty="0" smtClean="0"/>
              <a:t>Niemand won van                                  iedereen</a:t>
            </a:r>
            <a:endParaRPr lang="nl-NL" dirty="0"/>
          </a:p>
        </p:txBody>
      </p:sp>
      <p:sp>
        <p:nvSpPr>
          <p:cNvPr id="34" name="Rectangle 33"/>
          <p:cNvSpPr/>
          <p:nvPr/>
        </p:nvSpPr>
        <p:spPr>
          <a:xfrm>
            <a:off x="251520" y="3811106"/>
            <a:ext cx="3888432" cy="646331"/>
          </a:xfrm>
          <a:prstGeom prst="rect">
            <a:avLst/>
          </a:prstGeom>
        </p:spPr>
        <p:txBody>
          <a:bodyPr wrap="square">
            <a:spAutoFit/>
          </a:bodyPr>
          <a:lstStyle/>
          <a:p>
            <a:r>
              <a:rPr lang="nl-NL" dirty="0" smtClean="0"/>
              <a:t>Behalve Jan en Piet at                              iedereen mee</a:t>
            </a:r>
            <a:endParaRPr lang="nl-NL" dirty="0"/>
          </a:p>
        </p:txBody>
      </p:sp>
      <p:sp>
        <p:nvSpPr>
          <p:cNvPr id="36" name="TextBox 35"/>
          <p:cNvSpPr txBox="1"/>
          <p:nvPr/>
        </p:nvSpPr>
        <p:spPr>
          <a:xfrm>
            <a:off x="6948264" y="1628800"/>
            <a:ext cx="2376264" cy="1200329"/>
          </a:xfrm>
          <a:prstGeom prst="rect">
            <a:avLst/>
          </a:prstGeom>
          <a:noFill/>
        </p:spPr>
        <p:txBody>
          <a:bodyPr wrap="square" rtlCol="0">
            <a:spAutoFit/>
          </a:bodyPr>
          <a:lstStyle/>
          <a:p>
            <a:r>
              <a:rPr lang="nl-NL" b="1" dirty="0" smtClean="0"/>
              <a:t>k</a:t>
            </a:r>
            <a:r>
              <a:rPr lang="nl-NL" dirty="0" smtClean="0"/>
              <a:t>:</a:t>
            </a:r>
            <a:r>
              <a:rPr lang="nl-NL" b="1" dirty="0" smtClean="0"/>
              <a:t> </a:t>
            </a:r>
            <a:r>
              <a:rPr lang="nl-NL" dirty="0" smtClean="0"/>
              <a:t>Kees</a:t>
            </a:r>
          </a:p>
          <a:p>
            <a:r>
              <a:rPr lang="nl-NL" b="1" dirty="0" err="1" smtClean="0"/>
              <a:t>Dx</a:t>
            </a:r>
            <a:r>
              <a:rPr lang="nl-NL" dirty="0" smtClean="0"/>
              <a:t>:</a:t>
            </a:r>
            <a:r>
              <a:rPr lang="nl-NL" b="1" dirty="0" smtClean="0"/>
              <a:t> </a:t>
            </a:r>
            <a:r>
              <a:rPr lang="nl-NL" dirty="0" smtClean="0"/>
              <a:t>x ging naar disco</a:t>
            </a:r>
          </a:p>
          <a:p>
            <a:r>
              <a:rPr lang="nl-NL" dirty="0" smtClean="0"/>
              <a:t>Domein: mensen</a:t>
            </a:r>
          </a:p>
          <a:p>
            <a:endParaRPr lang="nl-NL" dirty="0"/>
          </a:p>
        </p:txBody>
      </p:sp>
      <p:sp>
        <p:nvSpPr>
          <p:cNvPr id="37" name="Rectangle 36"/>
          <p:cNvSpPr/>
          <p:nvPr/>
        </p:nvSpPr>
        <p:spPr>
          <a:xfrm>
            <a:off x="3203848" y="1628800"/>
            <a:ext cx="2138727" cy="369332"/>
          </a:xfrm>
          <a:prstGeom prst="rect">
            <a:avLst/>
          </a:prstGeom>
        </p:spPr>
        <p:txBody>
          <a:bodyPr wrap="none">
            <a:spAutoFit/>
          </a:bodyPr>
          <a:lstStyle/>
          <a:p>
            <a:r>
              <a:rPr lang="nl-NL" b="1" dirty="0" err="1" smtClean="0"/>
              <a:t>Dk</a:t>
            </a:r>
            <a:r>
              <a:rPr lang="nl-NL" b="1" dirty="0" smtClean="0"/>
              <a:t> ∧ ∀x (x≠k → ¬</a:t>
            </a:r>
            <a:r>
              <a:rPr lang="nl-NL" b="1" dirty="0" err="1" smtClean="0"/>
              <a:t>Dx</a:t>
            </a:r>
            <a:r>
              <a:rPr lang="nl-NL" b="1" dirty="0" smtClean="0"/>
              <a:t>)</a:t>
            </a:r>
            <a:endParaRPr lang="nl-NL" dirty="0"/>
          </a:p>
        </p:txBody>
      </p:sp>
      <p:sp>
        <p:nvSpPr>
          <p:cNvPr id="38" name="TextBox 37"/>
          <p:cNvSpPr txBox="1"/>
          <p:nvPr/>
        </p:nvSpPr>
        <p:spPr>
          <a:xfrm>
            <a:off x="6948264" y="2708920"/>
            <a:ext cx="2376264" cy="923330"/>
          </a:xfrm>
          <a:prstGeom prst="rect">
            <a:avLst/>
          </a:prstGeom>
          <a:noFill/>
        </p:spPr>
        <p:txBody>
          <a:bodyPr wrap="square" rtlCol="0">
            <a:spAutoFit/>
          </a:bodyPr>
          <a:lstStyle/>
          <a:p>
            <a:r>
              <a:rPr lang="nl-NL" b="1" dirty="0" err="1" smtClean="0"/>
              <a:t>Wxy</a:t>
            </a:r>
            <a:r>
              <a:rPr lang="nl-NL" dirty="0" smtClean="0"/>
              <a:t>:</a:t>
            </a:r>
            <a:r>
              <a:rPr lang="nl-NL" b="1" dirty="0" smtClean="0"/>
              <a:t> </a:t>
            </a:r>
            <a:r>
              <a:rPr lang="nl-NL" dirty="0" smtClean="0"/>
              <a:t>x won van y</a:t>
            </a:r>
          </a:p>
          <a:p>
            <a:r>
              <a:rPr lang="nl-NL" dirty="0" smtClean="0"/>
              <a:t>Domein: mensen</a:t>
            </a:r>
          </a:p>
          <a:p>
            <a:endParaRPr lang="nl-NL" dirty="0"/>
          </a:p>
        </p:txBody>
      </p:sp>
      <p:sp>
        <p:nvSpPr>
          <p:cNvPr id="40" name="Rectangle 39"/>
          <p:cNvSpPr/>
          <p:nvPr/>
        </p:nvSpPr>
        <p:spPr>
          <a:xfrm>
            <a:off x="3203848" y="2758862"/>
            <a:ext cx="2056973" cy="369332"/>
          </a:xfrm>
          <a:prstGeom prst="rect">
            <a:avLst/>
          </a:prstGeom>
        </p:spPr>
        <p:txBody>
          <a:bodyPr wrap="none">
            <a:spAutoFit/>
          </a:bodyPr>
          <a:lstStyle/>
          <a:p>
            <a:r>
              <a:rPr lang="nl-NL" b="1" dirty="0" smtClean="0"/>
              <a:t>¬∃x∀y (x≠y → </a:t>
            </a:r>
            <a:r>
              <a:rPr lang="nl-NL" b="1" dirty="0" err="1" smtClean="0"/>
              <a:t>Wxy</a:t>
            </a:r>
            <a:r>
              <a:rPr lang="nl-NL" b="1" dirty="0" smtClean="0"/>
              <a:t>)</a:t>
            </a:r>
            <a:endParaRPr lang="nl-NL" dirty="0"/>
          </a:p>
        </p:txBody>
      </p:sp>
      <p:sp>
        <p:nvSpPr>
          <p:cNvPr id="64" name="TextBox 63"/>
          <p:cNvSpPr txBox="1"/>
          <p:nvPr/>
        </p:nvSpPr>
        <p:spPr>
          <a:xfrm>
            <a:off x="6948264" y="3679864"/>
            <a:ext cx="2376264" cy="1477328"/>
          </a:xfrm>
          <a:prstGeom prst="rect">
            <a:avLst/>
          </a:prstGeom>
          <a:noFill/>
        </p:spPr>
        <p:txBody>
          <a:bodyPr wrap="square" rtlCol="0">
            <a:spAutoFit/>
          </a:bodyPr>
          <a:lstStyle/>
          <a:p>
            <a:r>
              <a:rPr lang="nl-NL" b="1" dirty="0" smtClean="0"/>
              <a:t>j</a:t>
            </a:r>
            <a:r>
              <a:rPr lang="nl-NL" dirty="0" smtClean="0"/>
              <a:t>: Jan</a:t>
            </a:r>
          </a:p>
          <a:p>
            <a:r>
              <a:rPr lang="nl-NL" b="1" dirty="0" smtClean="0"/>
              <a:t>p</a:t>
            </a:r>
            <a:r>
              <a:rPr lang="nl-NL" dirty="0" smtClean="0"/>
              <a:t>: Piet</a:t>
            </a:r>
          </a:p>
          <a:p>
            <a:r>
              <a:rPr lang="nl-NL" b="1" dirty="0" smtClean="0"/>
              <a:t>Ex</a:t>
            </a:r>
            <a:r>
              <a:rPr lang="nl-NL" dirty="0" smtClean="0"/>
              <a:t>:</a:t>
            </a:r>
            <a:r>
              <a:rPr lang="nl-NL" b="1" dirty="0" smtClean="0"/>
              <a:t> </a:t>
            </a:r>
            <a:r>
              <a:rPr lang="nl-NL" dirty="0" smtClean="0"/>
              <a:t>x eet mee</a:t>
            </a:r>
          </a:p>
          <a:p>
            <a:r>
              <a:rPr lang="nl-NL" dirty="0" smtClean="0"/>
              <a:t>Domein: mensen</a:t>
            </a:r>
          </a:p>
          <a:p>
            <a:endParaRPr lang="nl-NL" dirty="0"/>
          </a:p>
        </p:txBody>
      </p:sp>
      <p:sp>
        <p:nvSpPr>
          <p:cNvPr id="65" name="Rectangle 64"/>
          <p:cNvSpPr/>
          <p:nvPr/>
        </p:nvSpPr>
        <p:spPr>
          <a:xfrm>
            <a:off x="3131840" y="3873822"/>
            <a:ext cx="3454792" cy="369332"/>
          </a:xfrm>
          <a:prstGeom prst="rect">
            <a:avLst/>
          </a:prstGeom>
        </p:spPr>
        <p:txBody>
          <a:bodyPr wrap="none">
            <a:spAutoFit/>
          </a:bodyPr>
          <a:lstStyle/>
          <a:p>
            <a:r>
              <a:rPr lang="nl-NL" b="1" dirty="0" smtClean="0"/>
              <a:t>¬</a:t>
            </a:r>
            <a:r>
              <a:rPr lang="nl-NL" b="1" dirty="0" err="1" smtClean="0"/>
              <a:t>Ej</a:t>
            </a:r>
            <a:r>
              <a:rPr lang="nl-NL" b="1" dirty="0" smtClean="0"/>
              <a:t> ∧ ¬</a:t>
            </a:r>
            <a:r>
              <a:rPr lang="nl-NL" b="1" dirty="0" err="1" smtClean="0"/>
              <a:t>Ep</a:t>
            </a:r>
            <a:r>
              <a:rPr lang="nl-NL" b="1" dirty="0" smtClean="0"/>
              <a:t> ∧  ∀x ((x≠j ∧ x≠p) → Ex)</a:t>
            </a:r>
            <a:endParaRPr lang="nl-NL" dirty="0"/>
          </a:p>
        </p:txBody>
      </p:sp>
      <p:sp>
        <p:nvSpPr>
          <p:cNvPr id="66" name="Rectangle 65"/>
          <p:cNvSpPr/>
          <p:nvPr/>
        </p:nvSpPr>
        <p:spPr>
          <a:xfrm>
            <a:off x="251520" y="5120024"/>
            <a:ext cx="3888432" cy="1477328"/>
          </a:xfrm>
          <a:prstGeom prst="rect">
            <a:avLst/>
          </a:prstGeom>
        </p:spPr>
        <p:txBody>
          <a:bodyPr wrap="square">
            <a:spAutoFit/>
          </a:bodyPr>
          <a:lstStyle/>
          <a:p>
            <a:r>
              <a:rPr lang="nl-NL" dirty="0" smtClean="0"/>
              <a:t>Voor de relatie R geldt dat er een object r bestaat zodanig dat voor ieder object y dat van r verschilt geldt: (i) r staat in de relatie R tot y, en (</a:t>
            </a:r>
            <a:r>
              <a:rPr lang="nl-NL" dirty="0" err="1" smtClean="0"/>
              <a:t>ii</a:t>
            </a:r>
            <a:r>
              <a:rPr lang="nl-NL" dirty="0" smtClean="0"/>
              <a:t>) y staat niet in de relatie R tot a </a:t>
            </a:r>
            <a:endParaRPr lang="nl-NL" dirty="0"/>
          </a:p>
        </p:txBody>
      </p:sp>
      <p:sp>
        <p:nvSpPr>
          <p:cNvPr id="67" name="Rectangle 66"/>
          <p:cNvSpPr/>
          <p:nvPr/>
        </p:nvSpPr>
        <p:spPr>
          <a:xfrm>
            <a:off x="4625581" y="5651956"/>
            <a:ext cx="2610715" cy="369332"/>
          </a:xfrm>
          <a:prstGeom prst="rect">
            <a:avLst/>
          </a:prstGeom>
        </p:spPr>
        <p:txBody>
          <a:bodyPr wrap="none">
            <a:spAutoFit/>
          </a:bodyPr>
          <a:lstStyle/>
          <a:p>
            <a:r>
              <a:rPr lang="nl-NL" b="1" dirty="0" smtClean="0"/>
              <a:t>∃x∀y (y≠x → </a:t>
            </a:r>
            <a:r>
              <a:rPr lang="nl-NL" b="1" dirty="0" err="1" smtClean="0"/>
              <a:t>Rxy</a:t>
            </a:r>
            <a:r>
              <a:rPr lang="nl-NL" b="1" dirty="0" smtClean="0"/>
              <a:t> ∧ ¬</a:t>
            </a:r>
            <a:r>
              <a:rPr lang="nl-NL" b="1" dirty="0" err="1" smtClean="0"/>
              <a:t>Ryx</a:t>
            </a:r>
            <a:r>
              <a:rPr lang="nl-NL" b="1" dirty="0" smtClean="0"/>
              <a: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20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Effect transition="in" filter="fade">
                                      <p:cBhvr>
                                        <p:cTn id="12" dur="2000"/>
                                        <p:tgtEl>
                                          <p:spTgt spid="36">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6">
                                            <p:txEl>
                                              <p:pRg st="1" end="1"/>
                                            </p:txEl>
                                          </p:spTgt>
                                        </p:tgtEl>
                                        <p:attrNameLst>
                                          <p:attrName>style.visibility</p:attrName>
                                        </p:attrNameLst>
                                      </p:cBhvr>
                                      <p:to>
                                        <p:strVal val="visible"/>
                                      </p:to>
                                    </p:set>
                                    <p:animEffect transition="in" filter="fade">
                                      <p:cBhvr>
                                        <p:cTn id="15" dur="2000"/>
                                        <p:tgtEl>
                                          <p:spTgt spid="3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6">
                                            <p:txEl>
                                              <p:pRg st="2" end="2"/>
                                            </p:txEl>
                                          </p:spTgt>
                                        </p:tgtEl>
                                        <p:attrNameLst>
                                          <p:attrName>style.visibility</p:attrName>
                                        </p:attrNameLst>
                                      </p:cBhvr>
                                      <p:to>
                                        <p:strVal val="visible"/>
                                      </p:to>
                                    </p:set>
                                    <p:animEffect transition="in" filter="fade">
                                      <p:cBhvr>
                                        <p:cTn id="18" dur="2000"/>
                                        <p:tgtEl>
                                          <p:spTgt spid="36">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xEl>
                                              <p:pRg st="0" end="0"/>
                                            </p:txEl>
                                          </p:spTgt>
                                        </p:tgtEl>
                                        <p:attrNameLst>
                                          <p:attrName>style.visibility</p:attrName>
                                        </p:attrNameLst>
                                      </p:cBhvr>
                                      <p:to>
                                        <p:strVal val="visible"/>
                                      </p:to>
                                    </p:set>
                                    <p:animEffect transition="in" filter="fade">
                                      <p:cBhvr>
                                        <p:cTn id="21" dur="2000"/>
                                        <p:tgtEl>
                                          <p:spTgt spid="37">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3">
                                            <p:txEl>
                                              <p:pRg st="0" end="0"/>
                                            </p:txEl>
                                          </p:spTgt>
                                        </p:tgtEl>
                                        <p:attrNameLst>
                                          <p:attrName>style.visibility</p:attrName>
                                        </p:attrNameLst>
                                      </p:cBhvr>
                                      <p:to>
                                        <p:strVal val="visible"/>
                                      </p:to>
                                    </p:set>
                                    <p:animEffect transition="in" filter="fade">
                                      <p:cBhvr>
                                        <p:cTn id="26" dur="2000"/>
                                        <p:tgtEl>
                                          <p:spTgt spid="33">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8">
                                            <p:txEl>
                                              <p:pRg st="0" end="0"/>
                                            </p:txEl>
                                          </p:spTgt>
                                        </p:tgtEl>
                                        <p:attrNameLst>
                                          <p:attrName>style.visibility</p:attrName>
                                        </p:attrNameLst>
                                      </p:cBhvr>
                                      <p:to>
                                        <p:strVal val="visible"/>
                                      </p:to>
                                    </p:set>
                                    <p:animEffect transition="in" filter="fade">
                                      <p:cBhvr>
                                        <p:cTn id="31" dur="2000"/>
                                        <p:tgtEl>
                                          <p:spTgt spid="38">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xEl>
                                              <p:pRg st="1" end="1"/>
                                            </p:txEl>
                                          </p:spTgt>
                                        </p:tgtEl>
                                        <p:attrNameLst>
                                          <p:attrName>style.visibility</p:attrName>
                                        </p:attrNameLst>
                                      </p:cBhvr>
                                      <p:to>
                                        <p:strVal val="visible"/>
                                      </p:to>
                                    </p:set>
                                    <p:animEffect transition="in" filter="fade">
                                      <p:cBhvr>
                                        <p:cTn id="34" dur="2000"/>
                                        <p:tgtEl>
                                          <p:spTgt spid="38">
                                            <p:txEl>
                                              <p:pRg st="1" end="1"/>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0">
                                            <p:txEl>
                                              <p:pRg st="0" end="0"/>
                                            </p:txEl>
                                          </p:spTgt>
                                        </p:tgtEl>
                                        <p:attrNameLst>
                                          <p:attrName>style.visibility</p:attrName>
                                        </p:attrNameLst>
                                      </p:cBhvr>
                                      <p:to>
                                        <p:strVal val="visible"/>
                                      </p:to>
                                    </p:set>
                                    <p:animEffect transition="in" filter="fade">
                                      <p:cBhvr>
                                        <p:cTn id="37" dur="2000"/>
                                        <p:tgtEl>
                                          <p:spTgt spid="4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4">
                                            <p:txEl>
                                              <p:pRg st="0" end="0"/>
                                            </p:txEl>
                                          </p:spTgt>
                                        </p:tgtEl>
                                        <p:attrNameLst>
                                          <p:attrName>style.visibility</p:attrName>
                                        </p:attrNameLst>
                                      </p:cBhvr>
                                      <p:to>
                                        <p:strVal val="visible"/>
                                      </p:to>
                                    </p:set>
                                    <p:animEffect transition="in" filter="fade">
                                      <p:cBhvr>
                                        <p:cTn id="42" dur="2000"/>
                                        <p:tgtEl>
                                          <p:spTgt spid="3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4">
                                            <p:txEl>
                                              <p:pRg st="0" end="0"/>
                                            </p:txEl>
                                          </p:spTgt>
                                        </p:tgtEl>
                                        <p:attrNameLst>
                                          <p:attrName>style.visibility</p:attrName>
                                        </p:attrNameLst>
                                      </p:cBhvr>
                                      <p:to>
                                        <p:strVal val="visible"/>
                                      </p:to>
                                    </p:set>
                                    <p:animEffect transition="in" filter="fade">
                                      <p:cBhvr>
                                        <p:cTn id="47" dur="2000"/>
                                        <p:tgtEl>
                                          <p:spTgt spid="64">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4">
                                            <p:txEl>
                                              <p:pRg st="1" end="1"/>
                                            </p:txEl>
                                          </p:spTgt>
                                        </p:tgtEl>
                                        <p:attrNameLst>
                                          <p:attrName>style.visibility</p:attrName>
                                        </p:attrNameLst>
                                      </p:cBhvr>
                                      <p:to>
                                        <p:strVal val="visible"/>
                                      </p:to>
                                    </p:set>
                                    <p:animEffect transition="in" filter="fade">
                                      <p:cBhvr>
                                        <p:cTn id="50" dur="2000"/>
                                        <p:tgtEl>
                                          <p:spTgt spid="64">
                                            <p:txEl>
                                              <p:pRg st="1" end="1"/>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4">
                                            <p:txEl>
                                              <p:pRg st="2" end="2"/>
                                            </p:txEl>
                                          </p:spTgt>
                                        </p:tgtEl>
                                        <p:attrNameLst>
                                          <p:attrName>style.visibility</p:attrName>
                                        </p:attrNameLst>
                                      </p:cBhvr>
                                      <p:to>
                                        <p:strVal val="visible"/>
                                      </p:to>
                                    </p:set>
                                    <p:animEffect transition="in" filter="fade">
                                      <p:cBhvr>
                                        <p:cTn id="53" dur="2000"/>
                                        <p:tgtEl>
                                          <p:spTgt spid="64">
                                            <p:txEl>
                                              <p:pRg st="2" end="2"/>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xEl>
                                              <p:pRg st="3" end="3"/>
                                            </p:txEl>
                                          </p:spTgt>
                                        </p:tgtEl>
                                        <p:attrNameLst>
                                          <p:attrName>style.visibility</p:attrName>
                                        </p:attrNameLst>
                                      </p:cBhvr>
                                      <p:to>
                                        <p:strVal val="visible"/>
                                      </p:to>
                                    </p:set>
                                    <p:animEffect transition="in" filter="fade">
                                      <p:cBhvr>
                                        <p:cTn id="56" dur="2000"/>
                                        <p:tgtEl>
                                          <p:spTgt spid="64">
                                            <p:txEl>
                                              <p:pRg st="3" end="3"/>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5">
                                            <p:txEl>
                                              <p:pRg st="0" end="0"/>
                                            </p:txEl>
                                          </p:spTgt>
                                        </p:tgtEl>
                                        <p:attrNameLst>
                                          <p:attrName>style.visibility</p:attrName>
                                        </p:attrNameLst>
                                      </p:cBhvr>
                                      <p:to>
                                        <p:strVal val="visible"/>
                                      </p:to>
                                    </p:set>
                                    <p:animEffect transition="in" filter="fade">
                                      <p:cBhvr>
                                        <p:cTn id="59" dur="2000"/>
                                        <p:tgtEl>
                                          <p:spTgt spid="65">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66">
                                            <p:txEl>
                                              <p:pRg st="0" end="0"/>
                                            </p:txEl>
                                          </p:spTgt>
                                        </p:tgtEl>
                                        <p:attrNameLst>
                                          <p:attrName>style.visibility</p:attrName>
                                        </p:attrNameLst>
                                      </p:cBhvr>
                                      <p:to>
                                        <p:strVal val="visible"/>
                                      </p:to>
                                    </p:set>
                                    <p:animEffect transition="in" filter="fade">
                                      <p:cBhvr>
                                        <p:cTn id="64" dur="2000"/>
                                        <p:tgtEl>
                                          <p:spTgt spid="66">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67">
                                            <p:txEl>
                                              <p:pRg st="0" end="0"/>
                                            </p:txEl>
                                          </p:spTgt>
                                        </p:tgtEl>
                                        <p:attrNameLst>
                                          <p:attrName>style.visibility</p:attrName>
                                        </p:attrNameLst>
                                      </p:cBhvr>
                                      <p:to>
                                        <p:strVal val="visible"/>
                                      </p:to>
                                    </p:set>
                                    <p:animEffect transition="in" filter="fade">
                                      <p:cBhvr>
                                        <p:cTn id="69" dur="2000"/>
                                        <p:tgtEl>
                                          <p:spTgt spid="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allAtOnce"/>
      <p:bldP spid="33" grpId="0" build="allAtOnce"/>
      <p:bldP spid="34" grpId="0" build="allAtOnce"/>
      <p:bldP spid="36" grpId="0" build="allAtOnce"/>
      <p:bldP spid="37" grpId="0" build="allAtOnce"/>
      <p:bldP spid="38" grpId="0" build="allAtOnce"/>
      <p:bldP spid="40" grpId="0" build="allAtOnce"/>
      <p:bldP spid="64" grpId="0" build="allAtOnce"/>
      <p:bldP spid="65" grpId="0" build="allAtOnce"/>
      <p:bldP spid="66" grpId="0" build="allAtOnce"/>
      <p:bldP spid="67" grpId="0" build="allAtOnce"/>
    </p:bldLst>
  </p:timing>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Identiteit (=) nader geanalyseerd</a:t>
            </a:r>
            <a:endParaRPr lang="nl-NL" sz="3600" dirty="0"/>
          </a:p>
        </p:txBody>
      </p:sp>
      <p:sp>
        <p:nvSpPr>
          <p:cNvPr id="14" name="Content Placeholder 2"/>
          <p:cNvSpPr txBox="1">
            <a:spLocks/>
          </p:cNvSpPr>
          <p:nvPr/>
        </p:nvSpPr>
        <p:spPr>
          <a:xfrm>
            <a:off x="467544" y="1412776"/>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identiteit is een </a:t>
            </a:r>
            <a:r>
              <a:rPr lang="nl-NL" sz="2000" dirty="0" smtClean="0">
                <a:solidFill>
                  <a:srgbClr val="0070C0"/>
                </a:solidFill>
              </a:rPr>
              <a:t>equivalentierelatie</a:t>
            </a:r>
            <a:r>
              <a:rPr lang="nl-NL" sz="2000" dirty="0" smtClean="0"/>
              <a:t>:</a:t>
            </a:r>
          </a:p>
        </p:txBody>
      </p:sp>
      <p:sp>
        <p:nvSpPr>
          <p:cNvPr id="16" name="Rectangle 15"/>
          <p:cNvSpPr/>
          <p:nvPr/>
        </p:nvSpPr>
        <p:spPr>
          <a:xfrm>
            <a:off x="827584" y="1945432"/>
            <a:ext cx="6912768" cy="923330"/>
          </a:xfrm>
          <a:prstGeom prst="rect">
            <a:avLst/>
          </a:prstGeom>
        </p:spPr>
        <p:txBody>
          <a:bodyPr wrap="square">
            <a:spAutoFit/>
          </a:bodyPr>
          <a:lstStyle/>
          <a:p>
            <a:r>
              <a:rPr lang="nl-NL" b="1" dirty="0" smtClean="0"/>
              <a:t>∀x </a:t>
            </a:r>
            <a:r>
              <a:rPr lang="nl-NL" b="1" dirty="0" err="1" smtClean="0"/>
              <a:t>x</a:t>
            </a:r>
            <a:r>
              <a:rPr lang="nl-NL" b="1" dirty="0" smtClean="0"/>
              <a:t>=x				</a:t>
            </a:r>
            <a:r>
              <a:rPr lang="nl-NL" i="1" dirty="0" smtClean="0"/>
              <a:t>Reflexiviteit</a:t>
            </a:r>
          </a:p>
          <a:p>
            <a:r>
              <a:rPr lang="nl-NL" b="1" dirty="0" smtClean="0"/>
              <a:t>∀x ∀y (x=y → y=x)			</a:t>
            </a:r>
            <a:r>
              <a:rPr lang="nl-NL" i="1" dirty="0" smtClean="0"/>
              <a:t>Symmetrie</a:t>
            </a:r>
          </a:p>
          <a:p>
            <a:r>
              <a:rPr lang="nl-NL" b="1" dirty="0" smtClean="0"/>
              <a:t>∀x ∀y ∀z ((x=y ∧ y=z) → x=z) 		</a:t>
            </a:r>
            <a:r>
              <a:rPr lang="nl-NL" i="1" dirty="0" err="1" smtClean="0"/>
              <a:t>Transitiviteit</a:t>
            </a:r>
            <a:endParaRPr lang="nl-NL" i="1" dirty="0"/>
          </a:p>
        </p:txBody>
      </p:sp>
      <p:sp>
        <p:nvSpPr>
          <p:cNvPr id="17" name="Content Placeholder 2"/>
          <p:cNvSpPr txBox="1">
            <a:spLocks/>
          </p:cNvSpPr>
          <p:nvPr/>
        </p:nvSpPr>
        <p:spPr>
          <a:xfrm>
            <a:off x="529208" y="3097560"/>
            <a:ext cx="8363272" cy="3886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Maar wat onderscheid de identiteit dan van andere equivalentierelaties?</a:t>
            </a:r>
          </a:p>
        </p:txBody>
      </p:sp>
      <p:sp>
        <p:nvSpPr>
          <p:cNvPr id="18" name="Content Placeholder 2"/>
          <p:cNvSpPr txBox="1">
            <a:spLocks/>
          </p:cNvSpPr>
          <p:nvPr/>
        </p:nvSpPr>
        <p:spPr>
          <a:xfrm>
            <a:off x="467544" y="3645024"/>
            <a:ext cx="8363272" cy="15407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identiteit voldoet aan </a:t>
            </a:r>
            <a:r>
              <a:rPr lang="nl-NL" sz="2000" dirty="0" err="1" smtClean="0"/>
              <a:t>Leibniz’s</a:t>
            </a:r>
            <a:r>
              <a:rPr lang="nl-NL" sz="2000" dirty="0" smtClean="0"/>
              <a:t> </a:t>
            </a:r>
            <a:r>
              <a:rPr lang="nl-NL" sz="2000" dirty="0" smtClean="0">
                <a:solidFill>
                  <a:srgbClr val="0070C0"/>
                </a:solidFill>
              </a:rPr>
              <a:t>principe van de identiteit van het                niet onderscheidbare</a:t>
            </a:r>
            <a:r>
              <a:rPr lang="nl-NL" sz="2000" dirty="0" smtClean="0"/>
              <a:t>: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Als alles wat naar waarheid van </a:t>
            </a:r>
            <a:r>
              <a:rPr lang="nl-NL" sz="2000" b="1" dirty="0" smtClean="0"/>
              <a:t>a</a:t>
            </a:r>
            <a:r>
              <a:rPr lang="nl-NL" sz="2000" dirty="0" smtClean="0"/>
              <a:t> gezegd kan worden ook naar waarheid van </a:t>
            </a:r>
            <a:r>
              <a:rPr lang="nl-NL" sz="2000" b="1" dirty="0" smtClean="0"/>
              <a:t>b</a:t>
            </a:r>
            <a:r>
              <a:rPr lang="nl-NL" sz="2000" dirty="0" smtClean="0"/>
              <a:t> gezegd kan worden (en omgekeerd), dan geldt </a:t>
            </a:r>
            <a:r>
              <a:rPr lang="nl-NL" sz="2000" b="1" dirty="0" smtClean="0"/>
              <a:t>a=b</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b="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	</a:t>
            </a:r>
            <a:r>
              <a:rPr lang="nl-NL" sz="2000" dirty="0" smtClean="0"/>
              <a:t> </a:t>
            </a:r>
          </a:p>
        </p:txBody>
      </p:sp>
      <p:sp>
        <p:nvSpPr>
          <p:cNvPr id="19" name="Content Placeholder 2"/>
          <p:cNvSpPr txBox="1">
            <a:spLocks/>
          </p:cNvSpPr>
          <p:nvPr/>
        </p:nvSpPr>
        <p:spPr>
          <a:xfrm>
            <a:off x="395536" y="5257800"/>
            <a:ext cx="8363272" cy="129614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Anders gezegd:</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Als </a:t>
            </a:r>
            <a:r>
              <a:rPr lang="nl-NL" sz="2000" b="1" dirty="0" smtClean="0"/>
              <a:t>a</a:t>
            </a:r>
            <a:r>
              <a:rPr lang="nl-NL" sz="2000" dirty="0" smtClean="0"/>
              <a:t> altijd kan worden vervangen door </a:t>
            </a:r>
            <a:r>
              <a:rPr lang="nl-NL" sz="2000" b="1" dirty="0" smtClean="0"/>
              <a:t>b</a:t>
            </a:r>
            <a:r>
              <a:rPr lang="nl-NL" sz="2000" dirty="0" smtClean="0"/>
              <a:t> met behoud van </a:t>
            </a:r>
            <a:r>
              <a:rPr lang="nl-NL" sz="2000" dirty="0" err="1" smtClean="0"/>
              <a:t>waarheids</a:t>
            </a:r>
            <a:r>
              <a:rPr lang="nl-NL" sz="2000" dirty="0" smtClean="0"/>
              <a:t>- </a:t>
            </a:r>
            <a:br>
              <a:rPr lang="nl-NL" sz="2000" dirty="0" smtClean="0"/>
            </a:br>
            <a:r>
              <a:rPr lang="nl-NL" sz="2000" dirty="0" smtClean="0"/>
              <a:t> waarde  (en omgekeerd), dan geldt </a:t>
            </a:r>
            <a:r>
              <a:rPr lang="nl-NL" sz="2000" b="1" dirty="0" smtClean="0"/>
              <a:t>a=b</a:t>
            </a:r>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	</a:t>
            </a:r>
            <a:r>
              <a:rPr lang="nl-NL" sz="20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animEffect transition="in" filter="fade">
                                      <p:cBhvr>
                                        <p:cTn id="15" dur="2000"/>
                                        <p:tgtEl>
                                          <p:spTgt spid="1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xEl>
                                              <p:pRg st="4" end="4"/>
                                            </p:txEl>
                                          </p:spTgt>
                                        </p:tgtEl>
                                        <p:attrNameLst>
                                          <p:attrName>style.visibility</p:attrName>
                                        </p:attrNameLst>
                                      </p:cBhvr>
                                      <p:to>
                                        <p:strVal val="visible"/>
                                      </p:to>
                                    </p:set>
                                    <p:animEffect transition="in" filter="fade">
                                      <p:cBhvr>
                                        <p:cTn id="18" dur="2000"/>
                                        <p:tgtEl>
                                          <p:spTgt spid="1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xEl>
                                              <p:pRg st="0" end="0"/>
                                            </p:txEl>
                                          </p:spTgt>
                                        </p:tgtEl>
                                        <p:attrNameLst>
                                          <p:attrName>style.visibility</p:attrName>
                                        </p:attrNameLst>
                                      </p:cBhvr>
                                      <p:to>
                                        <p:strVal val="visible"/>
                                      </p:to>
                                    </p:set>
                                    <p:animEffect transition="in" filter="fade">
                                      <p:cBhvr>
                                        <p:cTn id="23" dur="2000"/>
                                        <p:tgtEl>
                                          <p:spTgt spid="19">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9">
                                            <p:txEl>
                                              <p:pRg st="2" end="2"/>
                                            </p:txEl>
                                          </p:spTgt>
                                        </p:tgtEl>
                                        <p:attrNameLst>
                                          <p:attrName>style.visibility</p:attrName>
                                        </p:attrNameLst>
                                      </p:cBhvr>
                                      <p:to>
                                        <p:strVal val="visible"/>
                                      </p:to>
                                    </p:set>
                                    <p:animEffect transition="in" filter="fade">
                                      <p:cBhvr>
                                        <p:cTn id="26" dur="2000"/>
                                        <p:tgtEl>
                                          <p:spTgt spid="19">
                                            <p:txEl>
                                              <p:pRg st="2" end="2"/>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xEl>
                                              <p:pRg st="3" end="3"/>
                                            </p:txEl>
                                          </p:spTgt>
                                        </p:tgtEl>
                                        <p:attrNameLst>
                                          <p:attrName>style.visibility</p:attrName>
                                        </p:attrNameLst>
                                      </p:cBhvr>
                                      <p:to>
                                        <p:strVal val="visible"/>
                                      </p:to>
                                    </p:set>
                                    <p:animEffect transition="in" filter="fade">
                                      <p:cBhvr>
                                        <p:cTn id="29" dur="20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8" grpId="0" build="allAtOnce"/>
      <p:bldP spid="19" grpId="0" build="allAtOnce"/>
    </p:bldLst>
  </p:timing>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Identiteit (=) nader geanalyseerd</a:t>
            </a:r>
            <a:endParaRPr lang="nl-NL" sz="3600" dirty="0"/>
          </a:p>
        </p:txBody>
      </p:sp>
      <p:sp>
        <p:nvSpPr>
          <p:cNvPr id="14" name="Content Placeholder 2"/>
          <p:cNvSpPr txBox="1">
            <a:spLocks/>
          </p:cNvSpPr>
          <p:nvPr/>
        </p:nvSpPr>
        <p:spPr>
          <a:xfrm>
            <a:off x="467544" y="1412776"/>
            <a:ext cx="8363272"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Of wat formeler gezegd:</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a:p>
            <a:pPr marL="342900" lvl="0" indent="-342900">
              <a:spcBef>
                <a:spcPct val="20000"/>
              </a:spcBef>
              <a:defRPr/>
            </a:pPr>
            <a:r>
              <a:rPr lang="nl-NL" sz="2000" dirty="0" smtClean="0"/>
              <a:t>	Als voor elke formule </a:t>
            </a:r>
            <a:r>
              <a:rPr lang="el-GR" sz="2000" b="1" i="1" dirty="0" smtClean="0"/>
              <a:t>α</a:t>
            </a:r>
            <a:r>
              <a:rPr lang="nl-NL" sz="2000" b="1" dirty="0" smtClean="0"/>
              <a:t>[x]</a:t>
            </a:r>
            <a:r>
              <a:rPr lang="nl-NL" sz="2000" dirty="0" smtClean="0"/>
              <a:t> waarin </a:t>
            </a:r>
            <a:r>
              <a:rPr lang="nl-NL" sz="2000" b="1" dirty="0" smtClean="0"/>
              <a:t>x</a:t>
            </a:r>
            <a:r>
              <a:rPr lang="nl-NL" sz="2000" dirty="0" smtClean="0"/>
              <a:t> de </a:t>
            </a:r>
            <a:r>
              <a:rPr lang="nl-NL" sz="2000" i="1" dirty="0" smtClean="0"/>
              <a:t>enige</a:t>
            </a:r>
            <a:r>
              <a:rPr lang="nl-NL" sz="2000" dirty="0" smtClean="0"/>
              <a:t> </a:t>
            </a:r>
            <a:r>
              <a:rPr lang="nl-NL" sz="2000" dirty="0" err="1" smtClean="0"/>
              <a:t>variable</a:t>
            </a:r>
            <a:r>
              <a:rPr lang="nl-NL" sz="2000" dirty="0" smtClean="0"/>
              <a:t> is die vrij optreedt     en vrij is, geldt: </a:t>
            </a:r>
            <a:r>
              <a:rPr lang="el-GR" sz="2000" b="1" i="1" dirty="0" smtClean="0"/>
              <a:t>α</a:t>
            </a:r>
            <a:r>
              <a:rPr lang="nl-NL" sz="2000" b="1" dirty="0" smtClean="0"/>
              <a:t>[a] ↔</a:t>
            </a:r>
            <a:r>
              <a:rPr lang="nl-NL" sz="2000" b="1" dirty="0" smtClean="0">
                <a:solidFill>
                  <a:srgbClr val="0070C0"/>
                </a:solidFill>
              </a:rPr>
              <a:t> </a:t>
            </a:r>
            <a:r>
              <a:rPr lang="el-GR" sz="2000" b="1" i="1" dirty="0" smtClean="0"/>
              <a:t>α</a:t>
            </a:r>
            <a:r>
              <a:rPr lang="nl-NL" sz="2000" b="1" dirty="0" smtClean="0"/>
              <a:t>[b]</a:t>
            </a:r>
            <a:r>
              <a:rPr lang="nl-NL" sz="2000" dirty="0" smtClean="0"/>
              <a:t>, dan </a:t>
            </a:r>
            <a:r>
              <a:rPr lang="nl-NL" sz="2000" b="1" dirty="0" smtClean="0"/>
              <a:t>a=b</a:t>
            </a:r>
            <a:r>
              <a:rPr lang="nl-NL" sz="2000" dirty="0" smtClean="0"/>
              <a:t> </a:t>
            </a:r>
            <a:r>
              <a:rPr lang="nl-NL" sz="2000" b="1" dirty="0" smtClean="0">
                <a:solidFill>
                  <a:srgbClr val="0070C0"/>
                </a:solidFill>
              </a:rPr>
              <a:t> </a:t>
            </a:r>
            <a:r>
              <a:rPr lang="nl-NL" sz="2000" b="1" dirty="0" smtClean="0"/>
              <a:t> </a:t>
            </a:r>
            <a:r>
              <a:rPr lang="nl-NL" sz="2000" dirty="0" smtClean="0"/>
              <a:t>   </a:t>
            </a:r>
          </a:p>
        </p:txBody>
      </p:sp>
      <p:sp>
        <p:nvSpPr>
          <p:cNvPr id="10" name="TextBox 9"/>
          <p:cNvSpPr txBox="1"/>
          <p:nvPr/>
        </p:nvSpPr>
        <p:spPr>
          <a:xfrm>
            <a:off x="5508104" y="2566645"/>
            <a:ext cx="2808312" cy="646331"/>
          </a:xfrm>
          <a:prstGeom prst="rect">
            <a:avLst/>
          </a:prstGeom>
          <a:noFill/>
        </p:spPr>
        <p:txBody>
          <a:bodyPr wrap="square" rtlCol="0">
            <a:spAutoFit/>
          </a:bodyPr>
          <a:lstStyle/>
          <a:p>
            <a:r>
              <a:rPr lang="nl-NL" i="1" dirty="0" smtClean="0"/>
              <a:t>Waarom mogen we niet schrijven </a:t>
            </a:r>
            <a:r>
              <a:rPr lang="el-GR" b="1" i="1" dirty="0" smtClean="0"/>
              <a:t>α</a:t>
            </a:r>
            <a:r>
              <a:rPr lang="nl-NL" b="1" i="1" dirty="0" smtClean="0"/>
              <a:t>[a] = </a:t>
            </a:r>
            <a:r>
              <a:rPr lang="el-GR" b="1" i="1" dirty="0" smtClean="0"/>
              <a:t>α</a:t>
            </a:r>
            <a:r>
              <a:rPr lang="nl-NL" b="1" i="1" dirty="0" smtClean="0"/>
              <a:t>[b]</a:t>
            </a:r>
            <a:r>
              <a:rPr lang="nl-NL" i="1" dirty="0" smtClean="0"/>
              <a:t> ? </a:t>
            </a:r>
            <a:endParaRPr lang="nl-NL" i="1" dirty="0"/>
          </a:p>
        </p:txBody>
      </p:sp>
      <p:sp>
        <p:nvSpPr>
          <p:cNvPr id="11" name="Content Placeholder 2"/>
          <p:cNvSpPr txBox="1">
            <a:spLocks/>
          </p:cNvSpPr>
          <p:nvPr/>
        </p:nvSpPr>
        <p:spPr>
          <a:xfrm>
            <a:off x="385192" y="3429000"/>
            <a:ext cx="8363272" cy="792088"/>
          </a:xfrm>
          <a:prstGeom prst="rect">
            <a:avLst/>
          </a:prstGeom>
        </p:spPr>
        <p:txBody>
          <a:bodyPr vert="horz" lIns="91440" tIns="45720" rIns="91440" bIns="45720" rtlCol="0">
            <a:noAutofit/>
          </a:bodyPr>
          <a:lstStyle/>
          <a:p>
            <a:pPr marL="342900" lvl="0" indent="-342900">
              <a:spcBef>
                <a:spcPct val="20000"/>
              </a:spcBef>
              <a:defRPr/>
            </a:pPr>
            <a:r>
              <a:rPr lang="nl-NL" sz="2000" dirty="0" smtClean="0">
                <a:solidFill>
                  <a:srgbClr val="C00000"/>
                </a:solidFill>
              </a:rPr>
              <a:t>	Een formule </a:t>
            </a:r>
            <a:r>
              <a:rPr lang="el-GR" sz="2000" b="1" i="1" dirty="0" smtClean="0">
                <a:solidFill>
                  <a:srgbClr val="C00000"/>
                </a:solidFill>
              </a:rPr>
              <a:t>α</a:t>
            </a:r>
            <a:r>
              <a:rPr lang="nl-NL" sz="2000" b="1" dirty="0" smtClean="0">
                <a:solidFill>
                  <a:srgbClr val="C00000"/>
                </a:solidFill>
              </a:rPr>
              <a:t>[x]</a:t>
            </a:r>
            <a:r>
              <a:rPr lang="nl-NL" sz="2000" dirty="0" smtClean="0">
                <a:solidFill>
                  <a:srgbClr val="C00000"/>
                </a:solidFill>
              </a:rPr>
              <a:t> waarin </a:t>
            </a:r>
            <a:r>
              <a:rPr lang="nl-NL" sz="2000" b="1" dirty="0" smtClean="0">
                <a:solidFill>
                  <a:srgbClr val="C00000"/>
                </a:solidFill>
              </a:rPr>
              <a:t>x</a:t>
            </a:r>
            <a:r>
              <a:rPr lang="nl-NL" sz="2000" dirty="0" smtClean="0">
                <a:solidFill>
                  <a:srgbClr val="C00000"/>
                </a:solidFill>
              </a:rPr>
              <a:t> de </a:t>
            </a:r>
            <a:r>
              <a:rPr lang="nl-NL" sz="2000" i="1" dirty="0" smtClean="0">
                <a:solidFill>
                  <a:srgbClr val="C00000"/>
                </a:solidFill>
              </a:rPr>
              <a:t>enige</a:t>
            </a:r>
            <a:r>
              <a:rPr lang="nl-NL" sz="2000" dirty="0" smtClean="0">
                <a:solidFill>
                  <a:srgbClr val="C00000"/>
                </a:solidFill>
              </a:rPr>
              <a:t> </a:t>
            </a:r>
            <a:r>
              <a:rPr lang="nl-NL" sz="2000" dirty="0" err="1" smtClean="0">
                <a:solidFill>
                  <a:srgbClr val="C00000"/>
                </a:solidFill>
              </a:rPr>
              <a:t>variable</a:t>
            </a:r>
            <a:r>
              <a:rPr lang="nl-NL" sz="2000" dirty="0" smtClean="0">
                <a:solidFill>
                  <a:srgbClr val="C00000"/>
                </a:solidFill>
              </a:rPr>
              <a:t> is die vrij optreedt en vrij is, wordt ook wel een </a:t>
            </a:r>
            <a:r>
              <a:rPr lang="nl-NL" sz="2000" u="sng" dirty="0" err="1" smtClean="0">
                <a:solidFill>
                  <a:srgbClr val="C00000"/>
                </a:solidFill>
              </a:rPr>
              <a:t>predikatieve</a:t>
            </a:r>
            <a:r>
              <a:rPr lang="nl-NL" sz="2000" u="sng" dirty="0" smtClean="0">
                <a:solidFill>
                  <a:srgbClr val="C00000"/>
                </a:solidFill>
              </a:rPr>
              <a:t> expressie</a:t>
            </a:r>
            <a:r>
              <a:rPr lang="nl-NL" sz="2000" dirty="0" smtClean="0">
                <a:solidFill>
                  <a:srgbClr val="C00000"/>
                </a:solidFill>
              </a:rPr>
              <a:t> genoemd en genoteerd als </a:t>
            </a:r>
            <a:r>
              <a:rPr lang="el-GR" sz="2000" b="1" i="1" dirty="0" smtClean="0">
                <a:solidFill>
                  <a:srgbClr val="C00000"/>
                </a:solidFill>
              </a:rPr>
              <a:t>α</a:t>
            </a:r>
            <a:r>
              <a:rPr lang="nl-NL" sz="2000" b="1" dirty="0" smtClean="0">
                <a:solidFill>
                  <a:srgbClr val="FF0000"/>
                </a:solidFill>
              </a:rPr>
              <a:t>(</a:t>
            </a:r>
            <a:r>
              <a:rPr lang="nl-NL" sz="2000" b="1" dirty="0" smtClean="0">
                <a:solidFill>
                  <a:srgbClr val="C00000"/>
                </a:solidFill>
              </a:rPr>
              <a:t>x</a:t>
            </a:r>
            <a:r>
              <a:rPr lang="nl-NL" sz="2000" b="1" dirty="0" smtClean="0">
                <a:solidFill>
                  <a:srgbClr val="FF0000"/>
                </a:solidFill>
              </a:rPr>
              <a:t>)</a:t>
            </a:r>
            <a:r>
              <a:rPr lang="nl-NL" sz="2000" dirty="0" smtClean="0">
                <a:solidFill>
                  <a:srgbClr val="C00000"/>
                </a:solidFill>
              </a:rPr>
              <a:t> </a:t>
            </a:r>
          </a:p>
        </p:txBody>
      </p:sp>
      <p:sp>
        <p:nvSpPr>
          <p:cNvPr id="12" name="Content Placeholder 2"/>
          <p:cNvSpPr txBox="1">
            <a:spLocks/>
          </p:cNvSpPr>
          <p:nvPr/>
        </p:nvSpPr>
        <p:spPr>
          <a:xfrm>
            <a:off x="395536" y="5229200"/>
            <a:ext cx="8363272"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Het principe van de identiteit van het niet onderscheidbare wordt nu:</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a:p>
            <a:pPr marL="342900" lvl="0" indent="-342900">
              <a:spcBef>
                <a:spcPct val="20000"/>
              </a:spcBef>
              <a:defRPr/>
            </a:pPr>
            <a:r>
              <a:rPr lang="nl-NL" sz="2000" dirty="0" smtClean="0"/>
              <a:t>	Als voor elke </a:t>
            </a:r>
            <a:r>
              <a:rPr lang="nl-NL" sz="2000" dirty="0" err="1" smtClean="0"/>
              <a:t>predikatieve</a:t>
            </a:r>
            <a:r>
              <a:rPr lang="nl-NL" sz="2000" dirty="0" smtClean="0"/>
              <a:t> expressie </a:t>
            </a:r>
            <a:r>
              <a:rPr lang="el-GR" sz="2000" b="1" i="1" dirty="0" smtClean="0"/>
              <a:t>α</a:t>
            </a:r>
            <a:r>
              <a:rPr lang="nl-NL" sz="2000" b="1" dirty="0" smtClean="0"/>
              <a:t>(x)</a:t>
            </a:r>
            <a:r>
              <a:rPr lang="nl-NL" sz="2000" dirty="0" smtClean="0"/>
              <a:t> geldt: </a:t>
            </a:r>
            <a:r>
              <a:rPr lang="el-GR" sz="2000" b="1" i="1" dirty="0" smtClean="0"/>
              <a:t>α</a:t>
            </a:r>
            <a:r>
              <a:rPr lang="nl-NL" sz="2000" b="1" dirty="0" smtClean="0"/>
              <a:t>(a) ↔</a:t>
            </a:r>
            <a:r>
              <a:rPr lang="nl-NL" sz="2000" b="1" dirty="0" smtClean="0">
                <a:solidFill>
                  <a:srgbClr val="0070C0"/>
                </a:solidFill>
              </a:rPr>
              <a:t> </a:t>
            </a:r>
            <a:r>
              <a:rPr lang="el-GR" sz="2000" b="1" i="1" dirty="0" smtClean="0"/>
              <a:t>α</a:t>
            </a:r>
            <a:r>
              <a:rPr lang="nl-NL" sz="2000" b="1" dirty="0" smtClean="0"/>
              <a:t>(b)</a:t>
            </a:r>
            <a:r>
              <a:rPr lang="nl-NL" sz="2000" dirty="0" smtClean="0"/>
              <a:t>, dan </a:t>
            </a:r>
            <a:r>
              <a:rPr lang="nl-NL" sz="2000" b="1" dirty="0" smtClean="0"/>
              <a:t>a=b</a:t>
            </a:r>
            <a:r>
              <a:rPr lang="nl-NL" sz="2000" dirty="0" smtClean="0"/>
              <a:t> </a:t>
            </a:r>
            <a:r>
              <a:rPr lang="nl-NL" sz="2000" b="1" dirty="0" smtClean="0">
                <a:solidFill>
                  <a:srgbClr val="0070C0"/>
                </a:solidFill>
              </a:rPr>
              <a:t> </a:t>
            </a:r>
            <a:r>
              <a:rPr lang="nl-NL" sz="2000" b="1" dirty="0" smtClean="0"/>
              <a:t> </a:t>
            </a:r>
            <a:r>
              <a:rPr lang="nl-NL" sz="2000" dirty="0" smtClean="0"/>
              <a:t>   </a:t>
            </a:r>
          </a:p>
        </p:txBody>
      </p:sp>
      <p:sp>
        <p:nvSpPr>
          <p:cNvPr id="13" name="Content Placeholder 2"/>
          <p:cNvSpPr txBox="1">
            <a:spLocks/>
          </p:cNvSpPr>
          <p:nvPr/>
        </p:nvSpPr>
        <p:spPr>
          <a:xfrm>
            <a:off x="385192" y="4149080"/>
            <a:ext cx="8363272" cy="504056"/>
          </a:xfrm>
          <a:prstGeom prst="rect">
            <a:avLst/>
          </a:prstGeom>
        </p:spPr>
        <p:txBody>
          <a:bodyPr vert="horz" lIns="91440" tIns="45720" rIns="91440" bIns="45720" rtlCol="0">
            <a:noAutofit/>
          </a:bodyPr>
          <a:lstStyle/>
          <a:p>
            <a:pPr marL="342900" lvl="0" indent="-342900">
              <a:spcBef>
                <a:spcPct val="20000"/>
              </a:spcBef>
              <a:defRPr/>
            </a:pPr>
            <a:r>
              <a:rPr lang="nl-NL" sz="2000" dirty="0" smtClean="0">
                <a:solidFill>
                  <a:srgbClr val="C00000"/>
                </a:solidFill>
              </a:rPr>
              <a:t>	Voorbeelden van </a:t>
            </a:r>
            <a:r>
              <a:rPr lang="nl-NL" sz="2000" dirty="0" err="1" smtClean="0">
                <a:solidFill>
                  <a:srgbClr val="C00000"/>
                </a:solidFill>
              </a:rPr>
              <a:t>predikatieve</a:t>
            </a:r>
            <a:r>
              <a:rPr lang="nl-NL" sz="2000" dirty="0" smtClean="0">
                <a:solidFill>
                  <a:srgbClr val="C00000"/>
                </a:solidFill>
              </a:rPr>
              <a:t> expressies </a:t>
            </a:r>
            <a:r>
              <a:rPr lang="el-GR" sz="2000" b="1" i="1" dirty="0" smtClean="0">
                <a:solidFill>
                  <a:srgbClr val="C00000"/>
                </a:solidFill>
              </a:rPr>
              <a:t>α</a:t>
            </a:r>
            <a:r>
              <a:rPr lang="nl-NL" sz="2000" b="1" dirty="0" smtClean="0">
                <a:solidFill>
                  <a:srgbClr val="C00000"/>
                </a:solidFill>
              </a:rPr>
              <a:t>(x) </a:t>
            </a:r>
            <a:r>
              <a:rPr lang="nl-NL" sz="2000" dirty="0" smtClean="0">
                <a:solidFill>
                  <a:srgbClr val="C00000"/>
                </a:solidFill>
              </a:rPr>
              <a:t>zijn: </a:t>
            </a:r>
            <a:r>
              <a:rPr lang="nl-NL" sz="2000" b="1" dirty="0" smtClean="0">
                <a:solidFill>
                  <a:srgbClr val="C00000"/>
                </a:solidFill>
              </a:rPr>
              <a:t>∃y </a:t>
            </a:r>
            <a:r>
              <a:rPr lang="nl-NL" sz="2000" b="1" dirty="0" err="1" smtClean="0">
                <a:solidFill>
                  <a:srgbClr val="C00000"/>
                </a:solidFill>
              </a:rPr>
              <a:t>Fxy</a:t>
            </a:r>
            <a:r>
              <a:rPr lang="nl-NL" sz="2000" b="1" dirty="0" smtClean="0">
                <a:solidFill>
                  <a:srgbClr val="C00000"/>
                </a:solidFill>
              </a:rPr>
              <a:t> </a:t>
            </a:r>
            <a:r>
              <a:rPr lang="nl-NL" sz="2000" dirty="0" smtClean="0">
                <a:solidFill>
                  <a:srgbClr val="C00000"/>
                </a:solidFill>
              </a:rPr>
              <a:t>, </a:t>
            </a:r>
            <a:r>
              <a:rPr lang="nl-NL" sz="2000" b="1" dirty="0" err="1" smtClean="0">
                <a:solidFill>
                  <a:srgbClr val="C00000"/>
                </a:solidFill>
              </a:rPr>
              <a:t>Axb</a:t>
            </a:r>
            <a:r>
              <a:rPr lang="nl-NL" sz="2000" b="1" dirty="0" smtClean="0">
                <a:solidFill>
                  <a:srgbClr val="C00000"/>
                </a:solidFill>
              </a:rPr>
              <a:t> en x=a</a:t>
            </a:r>
          </a:p>
          <a:p>
            <a:pPr marL="342900" lvl="0" indent="-342900">
              <a:spcBef>
                <a:spcPct val="20000"/>
              </a:spcBef>
              <a:defRPr/>
            </a:pPr>
            <a:r>
              <a:rPr lang="nl-NL" sz="2000" b="1" dirty="0" smtClean="0">
                <a:solidFill>
                  <a:srgbClr val="C00000"/>
                </a:solidFill>
              </a:rPr>
              <a:t>	</a:t>
            </a:r>
            <a:r>
              <a:rPr lang="nl-NL" sz="2000" dirty="0" smtClean="0">
                <a:solidFill>
                  <a:srgbClr val="C00000"/>
                </a:solidFill>
              </a:rPr>
              <a:t>Het tweede voorbeeld is een </a:t>
            </a:r>
            <a:r>
              <a:rPr lang="nl-NL" sz="2000" i="1" dirty="0" smtClean="0">
                <a:solidFill>
                  <a:srgbClr val="C00000"/>
                </a:solidFill>
              </a:rPr>
              <a:t>atomaire</a:t>
            </a:r>
            <a:r>
              <a:rPr lang="nl-NL" sz="2000" dirty="0" smtClean="0">
                <a:solidFill>
                  <a:srgbClr val="C00000"/>
                </a:solidFill>
              </a:rPr>
              <a:t> </a:t>
            </a:r>
            <a:r>
              <a:rPr lang="nl-NL" sz="2000" dirty="0" err="1" smtClean="0">
                <a:solidFill>
                  <a:srgbClr val="C00000"/>
                </a:solidFill>
              </a:rPr>
              <a:t>predikatieve</a:t>
            </a:r>
            <a:r>
              <a:rPr lang="nl-NL" sz="2000" dirty="0" smtClean="0">
                <a:solidFill>
                  <a:srgbClr val="C00000"/>
                </a:solidFill>
              </a:rPr>
              <a:t> expressie.</a:t>
            </a:r>
          </a:p>
          <a:p>
            <a:pPr marL="342900" lvl="0" indent="-342900">
              <a:spcBef>
                <a:spcPct val="20000"/>
              </a:spcBef>
              <a:defRPr/>
            </a:pPr>
            <a:endParaRPr lang="nl-NL" sz="2000" dirty="0" smtClean="0">
              <a:solidFill>
                <a:srgbClr val="C00000"/>
              </a:solidFill>
            </a:endParaRPr>
          </a:p>
          <a:p>
            <a:pPr marL="342900" lvl="0" indent="-342900">
              <a:spcBef>
                <a:spcPct val="20000"/>
              </a:spcBef>
              <a:defRPr/>
            </a:pPr>
            <a:r>
              <a:rPr lang="nl-NL" sz="2000" dirty="0" smtClean="0">
                <a:solidFill>
                  <a:srgbClr val="C00000"/>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2000"/>
                                        <p:tgtEl>
                                          <p:spTgt spid="13">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xEl>
                                              <p:pRg st="1" end="1"/>
                                            </p:txEl>
                                          </p:spTgt>
                                        </p:tgtEl>
                                        <p:attrNameLst>
                                          <p:attrName>style.visibility</p:attrName>
                                        </p:attrNameLst>
                                      </p:cBhvr>
                                      <p:to>
                                        <p:strVal val="visible"/>
                                      </p:to>
                                    </p:set>
                                    <p:animEffect transition="in" filter="fade">
                                      <p:cBhvr>
                                        <p:cTn id="20" dur="2000"/>
                                        <p:tgtEl>
                                          <p:spTgt spid="13">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fade">
                                      <p:cBhvr>
                                        <p:cTn id="23" dur="2000"/>
                                        <p:tgtEl>
                                          <p:spTgt spid="1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xEl>
                                              <p:pRg st="0" end="0"/>
                                            </p:txEl>
                                          </p:spTgt>
                                        </p:tgtEl>
                                        <p:attrNameLst>
                                          <p:attrName>style.visibility</p:attrName>
                                        </p:attrNameLst>
                                      </p:cBhvr>
                                      <p:to>
                                        <p:strVal val="visible"/>
                                      </p:to>
                                    </p:set>
                                    <p:animEffect transition="in" filter="fade">
                                      <p:cBhvr>
                                        <p:cTn id="28" dur="2000"/>
                                        <p:tgtEl>
                                          <p:spTgt spid="12">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Effect transition="in" filter="fade">
                                      <p:cBhvr>
                                        <p:cTn id="31" dur="20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13" grpId="0" build="allAtOnce"/>
    </p:bldLst>
  </p:timing>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Identiteit (=) nader geanalyseerd</a:t>
            </a:r>
            <a:endParaRPr lang="nl-NL" sz="3600" dirty="0"/>
          </a:p>
        </p:txBody>
      </p:sp>
      <p:sp>
        <p:nvSpPr>
          <p:cNvPr id="8" name="Content Placeholder 2"/>
          <p:cNvSpPr txBox="1">
            <a:spLocks/>
          </p:cNvSpPr>
          <p:nvPr/>
        </p:nvSpPr>
        <p:spPr>
          <a:xfrm>
            <a:off x="467544" y="1556792"/>
            <a:ext cx="8363272" cy="208823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identiteit voldoet eveneens aan de omkering van genoemd principe. Deze omkering is ook een principe en staat bekend als </a:t>
            </a:r>
            <a:r>
              <a:rPr lang="nl-NL" sz="2000" dirty="0" smtClean="0">
                <a:solidFill>
                  <a:srgbClr val="0070C0"/>
                </a:solidFill>
              </a:rPr>
              <a:t>het principe van       de niet onderscheidbaarheid van het identieke</a:t>
            </a: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lang="nl-NL" sz="2000" dirty="0" smtClean="0"/>
              <a:t>	Als </a:t>
            </a:r>
            <a:r>
              <a:rPr lang="nl-NL" sz="2000" b="1" dirty="0" smtClean="0"/>
              <a:t>a=b</a:t>
            </a:r>
            <a:r>
              <a:rPr lang="nl-NL" sz="2000" dirty="0" smtClean="0"/>
              <a:t>, dan geldt voor elke </a:t>
            </a:r>
            <a:r>
              <a:rPr lang="nl-NL" sz="2000" dirty="0" err="1" smtClean="0"/>
              <a:t>predikatieve</a:t>
            </a:r>
            <a:r>
              <a:rPr lang="nl-NL" sz="2000" dirty="0" smtClean="0"/>
              <a:t> expressie </a:t>
            </a:r>
            <a:r>
              <a:rPr lang="el-GR" sz="2000" b="1" i="1" dirty="0" smtClean="0"/>
              <a:t>α</a:t>
            </a:r>
            <a:r>
              <a:rPr lang="nl-NL" sz="2000" b="1" dirty="0" smtClean="0"/>
              <a:t>(x)</a:t>
            </a:r>
            <a:r>
              <a:rPr lang="nl-NL" sz="2000" dirty="0" smtClean="0"/>
              <a:t>: </a:t>
            </a:r>
            <a:r>
              <a:rPr lang="el-GR" sz="2000" b="1" i="1" dirty="0" smtClean="0"/>
              <a:t>α</a:t>
            </a:r>
            <a:r>
              <a:rPr lang="nl-NL" sz="2000" b="1" dirty="0" smtClean="0"/>
              <a:t>(a) ↔</a:t>
            </a:r>
            <a:r>
              <a:rPr lang="nl-NL" sz="2000" b="1" dirty="0" smtClean="0">
                <a:solidFill>
                  <a:srgbClr val="0070C0"/>
                </a:solidFill>
              </a:rPr>
              <a:t> </a:t>
            </a:r>
            <a:r>
              <a:rPr lang="el-GR" sz="2000" b="1" i="1" dirty="0" smtClean="0"/>
              <a:t>α</a:t>
            </a:r>
            <a:r>
              <a:rPr lang="nl-NL" sz="2000" b="1" dirty="0" smtClean="0"/>
              <a:t>(b)</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b="1"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b="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	</a:t>
            </a:r>
            <a:r>
              <a:rPr lang="nl-NL" sz="2000" dirty="0" smtClean="0"/>
              <a:t> </a:t>
            </a:r>
          </a:p>
        </p:txBody>
      </p:sp>
      <p:sp>
        <p:nvSpPr>
          <p:cNvPr id="9" name="Content Placeholder 2"/>
          <p:cNvSpPr txBox="1">
            <a:spLocks/>
          </p:cNvSpPr>
          <p:nvPr/>
        </p:nvSpPr>
        <p:spPr>
          <a:xfrm>
            <a:off x="457200" y="3356992"/>
            <a:ext cx="8686800" cy="1296144"/>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Wanneer we beide hierboven genoemde principes combineren, krijgen we: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800" dirty="0" smtClean="0"/>
          </a:p>
          <a:p>
            <a:pPr marL="342900" lvl="0" indent="-342900">
              <a:spcBef>
                <a:spcPct val="20000"/>
              </a:spcBef>
              <a:defRPr/>
            </a:pPr>
            <a:r>
              <a:rPr lang="nl-NL" sz="2000" dirty="0" smtClean="0"/>
              <a:t>	</a:t>
            </a:r>
            <a:r>
              <a:rPr lang="nl-NL" sz="2000" b="1" dirty="0" smtClean="0"/>
              <a:t>a=b</a:t>
            </a:r>
            <a:r>
              <a:rPr lang="nl-NL" sz="2000" dirty="0" smtClean="0"/>
              <a:t> dan en slechts dan als voor elke </a:t>
            </a:r>
            <a:r>
              <a:rPr lang="nl-NL" sz="2000" dirty="0" err="1" smtClean="0"/>
              <a:t>predikatieve</a:t>
            </a:r>
            <a:r>
              <a:rPr lang="nl-NL" sz="2000" dirty="0" smtClean="0"/>
              <a:t> expressie </a:t>
            </a:r>
            <a:r>
              <a:rPr lang="el-GR" sz="2000" b="1" i="1" dirty="0" smtClean="0"/>
              <a:t>α</a:t>
            </a:r>
            <a:r>
              <a:rPr lang="nl-NL" sz="2000" b="1" dirty="0" smtClean="0"/>
              <a:t>(x)</a:t>
            </a:r>
            <a:r>
              <a:rPr lang="nl-NL" sz="2000" dirty="0" smtClean="0"/>
              <a:t>: </a:t>
            </a:r>
            <a:r>
              <a:rPr lang="el-GR" sz="2000" b="1" i="1" dirty="0" smtClean="0"/>
              <a:t>α</a:t>
            </a:r>
            <a:r>
              <a:rPr lang="nl-NL" sz="2000" b="1" dirty="0" smtClean="0"/>
              <a:t>(a) ↔</a:t>
            </a:r>
            <a:r>
              <a:rPr lang="nl-NL" sz="2000" b="1" dirty="0" smtClean="0">
                <a:solidFill>
                  <a:srgbClr val="0070C0"/>
                </a:solidFill>
              </a:rPr>
              <a:t> </a:t>
            </a:r>
            <a:r>
              <a:rPr lang="el-GR" sz="2000" b="1" i="1" dirty="0" smtClean="0"/>
              <a:t>α</a:t>
            </a:r>
            <a:r>
              <a:rPr lang="nl-NL" sz="2000" b="1" dirty="0" smtClean="0"/>
              <a:t>(b)</a:t>
            </a:r>
            <a:endParaRPr lang="nl-NL" sz="2000"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b="1" dirty="0" smtClean="0"/>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b="1"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sz="2000" b="1" dirty="0" smtClean="0"/>
              <a:t>	</a:t>
            </a:r>
            <a:r>
              <a:rPr lang="nl-NL" sz="20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fade">
                                      <p:cBhvr>
                                        <p:cTn id="10" dur="2000"/>
                                        <p:tgtEl>
                                          <p:spTgt spid="9">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animEffect transition="in" filter="fade">
                                      <p:cBhvr>
                                        <p:cTn id="13" dur="2000"/>
                                        <p:tgtEl>
                                          <p:spTgt spid="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Identiteit toevoegen aan natuurlijke deductie</a:t>
            </a:r>
            <a:endParaRPr lang="nl-NL" sz="3600" dirty="0"/>
          </a:p>
        </p:txBody>
      </p:sp>
      <p:sp>
        <p:nvSpPr>
          <p:cNvPr id="8" name="Content Placeholder 2"/>
          <p:cNvSpPr txBox="1">
            <a:spLocks/>
          </p:cNvSpPr>
          <p:nvPr/>
        </p:nvSpPr>
        <p:spPr>
          <a:xfrm>
            <a:off x="467544" y="1556792"/>
            <a:ext cx="8363272" cy="10801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Tot dusver hebben we nog geen afleidingen in het systeem van natuurlijke deductie gemaakt met de identiteit. We hebben voor deze nieuwe logische constante immers nog geen </a:t>
            </a:r>
            <a:r>
              <a:rPr lang="nl-NL" sz="2000" i="1" dirty="0" err="1" smtClean="0"/>
              <a:t>gebruiks</a:t>
            </a:r>
            <a:r>
              <a:rPr lang="nl-NL" sz="2000" i="1" dirty="0" smtClean="0"/>
              <a:t>- en introductieregel </a:t>
            </a:r>
            <a:r>
              <a:rPr lang="nl-NL" sz="2000" dirty="0" smtClean="0"/>
              <a:t>geïntroduceerd!</a:t>
            </a:r>
          </a:p>
        </p:txBody>
      </p:sp>
      <p:sp>
        <p:nvSpPr>
          <p:cNvPr id="5" name="Content Placeholder 2"/>
          <p:cNvSpPr txBox="1">
            <a:spLocks/>
          </p:cNvSpPr>
          <p:nvPr/>
        </p:nvSpPr>
        <p:spPr>
          <a:xfrm>
            <a:off x="467544" y="2708920"/>
            <a:ext cx="8363272"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Wat zou een geschikte gebruiksregel zijn voor de identiteit?</a:t>
            </a:r>
          </a:p>
        </p:txBody>
      </p:sp>
      <p:sp>
        <p:nvSpPr>
          <p:cNvPr id="6" name="Content Placeholder 2"/>
          <p:cNvSpPr txBox="1">
            <a:spLocks/>
          </p:cNvSpPr>
          <p:nvPr/>
        </p:nvSpPr>
        <p:spPr>
          <a:xfrm>
            <a:off x="827584" y="3429000"/>
            <a:ext cx="2998168" cy="30243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pPr>
            <a:r>
              <a:rPr lang="nl-NL" sz="2000" dirty="0" smtClean="0"/>
              <a:t>3. </a:t>
            </a:r>
            <a:r>
              <a:rPr lang="nl-NL" sz="2000" b="1" dirty="0" smtClean="0"/>
              <a:t>a = b</a:t>
            </a:r>
          </a:p>
          <a:p>
            <a:pPr marL="342900" lvl="0" indent="-342900">
              <a:spcBef>
                <a:spcPct val="20000"/>
              </a:spcBef>
            </a:pPr>
            <a:r>
              <a:rPr lang="nl-NL" sz="2000" dirty="0" smtClean="0"/>
              <a:t>….</a:t>
            </a:r>
          </a:p>
          <a:p>
            <a:pPr marL="342900" lvl="0" indent="-342900">
              <a:spcBef>
                <a:spcPct val="20000"/>
              </a:spcBef>
            </a:pPr>
            <a:r>
              <a:rPr lang="nl-NL" sz="2000" dirty="0" smtClean="0"/>
              <a:t>6. </a:t>
            </a:r>
            <a:r>
              <a:rPr lang="el-GR" sz="2000" b="1" i="1" dirty="0" smtClean="0"/>
              <a:t>α</a:t>
            </a:r>
            <a:r>
              <a:rPr lang="nl-NL" sz="2000" b="1" dirty="0" smtClean="0"/>
              <a:t>(a)</a:t>
            </a:r>
            <a:r>
              <a:rPr lang="nl-NL" sz="2000" dirty="0" smtClean="0"/>
              <a:t> </a:t>
            </a:r>
          </a:p>
          <a:p>
            <a:pPr marL="342900" lvl="0" indent="-342900">
              <a:spcBef>
                <a:spcPct val="20000"/>
              </a:spcBef>
            </a:pPr>
            <a:r>
              <a:rPr lang="nl-NL" sz="2000" dirty="0" smtClean="0"/>
              <a:t>….</a:t>
            </a:r>
          </a:p>
          <a:p>
            <a:pPr marL="342900" lvl="0" indent="-342900">
              <a:spcBef>
                <a:spcPct val="20000"/>
              </a:spcBef>
            </a:pPr>
            <a:r>
              <a:rPr lang="nl-NL" sz="2000" dirty="0" smtClean="0"/>
              <a:t>9. </a:t>
            </a:r>
            <a:r>
              <a:rPr lang="el-GR" sz="2000" b="1" i="1" dirty="0" smtClean="0"/>
              <a:t>α</a:t>
            </a:r>
            <a:r>
              <a:rPr lang="nl-NL" sz="2000" b="1" dirty="0" smtClean="0"/>
              <a:t>(b)</a:t>
            </a:r>
            <a:r>
              <a:rPr lang="nl-NL" sz="2000" dirty="0" smtClean="0"/>
              <a:t> </a:t>
            </a:r>
            <a:r>
              <a:rPr lang="nl-NL" sz="2000" b="1" dirty="0" smtClean="0"/>
              <a:t>	 G = (3,6)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TextBox 9"/>
          <p:cNvSpPr txBox="1"/>
          <p:nvPr/>
        </p:nvSpPr>
        <p:spPr>
          <a:xfrm>
            <a:off x="3635896" y="3645024"/>
            <a:ext cx="2160240" cy="923330"/>
          </a:xfrm>
          <a:prstGeom prst="rect">
            <a:avLst/>
          </a:prstGeom>
          <a:noFill/>
        </p:spPr>
        <p:txBody>
          <a:bodyPr wrap="square" rtlCol="0">
            <a:spAutoFit/>
          </a:bodyPr>
          <a:lstStyle/>
          <a:p>
            <a:r>
              <a:rPr lang="nl-NL" dirty="0" smtClean="0"/>
              <a:t>Op welk principe is deze gebruiksregel gebaseerd?</a:t>
            </a:r>
            <a:endParaRPr lang="nl-NL" dirty="0"/>
          </a:p>
        </p:txBody>
      </p:sp>
      <p:sp>
        <p:nvSpPr>
          <p:cNvPr id="11" name="TextBox 10"/>
          <p:cNvSpPr txBox="1"/>
          <p:nvPr/>
        </p:nvSpPr>
        <p:spPr>
          <a:xfrm>
            <a:off x="6012160" y="3657798"/>
            <a:ext cx="2880320" cy="923330"/>
          </a:xfrm>
          <a:prstGeom prst="rect">
            <a:avLst/>
          </a:prstGeom>
          <a:noFill/>
        </p:spPr>
        <p:txBody>
          <a:bodyPr wrap="square" rtlCol="0">
            <a:spAutoFit/>
          </a:bodyPr>
          <a:lstStyle/>
          <a:p>
            <a:r>
              <a:rPr lang="nl-NL" dirty="0" smtClean="0">
                <a:solidFill>
                  <a:srgbClr val="0070C0"/>
                </a:solidFill>
              </a:rPr>
              <a:t>Het principe van de niet onderscheidbaarheid            van het identieke</a:t>
            </a:r>
            <a:endParaRPr lang="nl-NL" dirty="0"/>
          </a:p>
        </p:txBody>
      </p:sp>
      <p:sp>
        <p:nvSpPr>
          <p:cNvPr id="12" name="TextBox 11"/>
          <p:cNvSpPr txBox="1"/>
          <p:nvPr/>
        </p:nvSpPr>
        <p:spPr>
          <a:xfrm>
            <a:off x="6084168" y="4797152"/>
            <a:ext cx="2448272" cy="1631216"/>
          </a:xfrm>
          <a:prstGeom prst="rect">
            <a:avLst/>
          </a:prstGeom>
          <a:noFill/>
        </p:spPr>
        <p:txBody>
          <a:bodyPr wrap="square" rtlCol="0">
            <a:spAutoFit/>
          </a:bodyPr>
          <a:lstStyle/>
          <a:p>
            <a:r>
              <a:rPr lang="nl-NL" sz="2000" b="1" dirty="0" smtClean="0"/>
              <a:t>3. a = b</a:t>
            </a:r>
          </a:p>
          <a:p>
            <a:r>
              <a:rPr lang="nl-NL" sz="2000" b="1" dirty="0" smtClean="0"/>
              <a:t>6</a:t>
            </a:r>
            <a:r>
              <a:rPr lang="nl-NL" sz="2000" b="1" i="1" dirty="0" smtClean="0"/>
              <a:t>. </a:t>
            </a:r>
            <a:r>
              <a:rPr lang="el-GR" sz="2000" b="1" i="1" dirty="0" smtClean="0"/>
              <a:t>α</a:t>
            </a:r>
            <a:r>
              <a:rPr lang="nl-NL" sz="2000" b="1" dirty="0" smtClean="0"/>
              <a:t>(a)</a:t>
            </a:r>
          </a:p>
          <a:p>
            <a:r>
              <a:rPr lang="nl-NL" sz="2000" b="1" dirty="0" smtClean="0"/>
              <a:t>7. </a:t>
            </a:r>
            <a:r>
              <a:rPr lang="el-GR" sz="2000" b="1" i="1" dirty="0" smtClean="0">
                <a:solidFill>
                  <a:srgbClr val="0070C0"/>
                </a:solidFill>
              </a:rPr>
              <a:t>α</a:t>
            </a:r>
            <a:r>
              <a:rPr lang="nl-NL" sz="2000" b="1" dirty="0" smtClean="0">
                <a:solidFill>
                  <a:srgbClr val="0070C0"/>
                </a:solidFill>
              </a:rPr>
              <a:t>(a) ↔ </a:t>
            </a:r>
            <a:r>
              <a:rPr lang="el-GR" sz="2000" b="1" i="1" dirty="0" smtClean="0">
                <a:solidFill>
                  <a:srgbClr val="0070C0"/>
                </a:solidFill>
              </a:rPr>
              <a:t>α</a:t>
            </a:r>
            <a:r>
              <a:rPr lang="nl-NL" sz="2000" b="1" dirty="0" smtClean="0">
                <a:solidFill>
                  <a:srgbClr val="0070C0"/>
                </a:solidFill>
              </a:rPr>
              <a:t>(b)</a:t>
            </a:r>
          </a:p>
          <a:p>
            <a:r>
              <a:rPr lang="nl-NL" sz="2000" b="1" dirty="0" smtClean="0"/>
              <a:t>8. </a:t>
            </a:r>
            <a:r>
              <a:rPr lang="el-GR" sz="2000" b="1" i="1" dirty="0" smtClean="0"/>
              <a:t>α</a:t>
            </a:r>
            <a:r>
              <a:rPr lang="nl-NL" sz="2000" b="1" dirty="0" smtClean="0"/>
              <a:t>(a) → </a:t>
            </a:r>
            <a:r>
              <a:rPr lang="el-GR" sz="2000" b="1" i="1" dirty="0" smtClean="0"/>
              <a:t>α</a:t>
            </a:r>
            <a:r>
              <a:rPr lang="nl-NL" sz="2000" b="1" dirty="0" smtClean="0"/>
              <a:t>(b)</a:t>
            </a:r>
          </a:p>
          <a:p>
            <a:r>
              <a:rPr lang="nl-NL" sz="2000" b="1" dirty="0" smtClean="0"/>
              <a:t>9. </a:t>
            </a:r>
            <a:r>
              <a:rPr lang="el-GR" sz="2000" b="1" i="1" dirty="0" smtClean="0"/>
              <a:t>α</a:t>
            </a:r>
            <a:r>
              <a:rPr lang="nl-NL" sz="2000" b="1" dirty="0" smtClean="0"/>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2000"/>
                                        <p:tgtEl>
                                          <p:spTgt spid="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2000"/>
                                        <p:tgtEl>
                                          <p:spTgt spid="6">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2000"/>
                                        <p:tgtEl>
                                          <p:spTgt spid="6">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fade">
                                      <p:cBhvr>
                                        <p:cTn id="24" dur="2000"/>
                                        <p:tgtEl>
                                          <p:spTgt spid="6">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fade">
                                      <p:cBhvr>
                                        <p:cTn id="27" dur="2000"/>
                                        <p:tgtEl>
                                          <p:spTgt spid="6">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fade">
                                      <p:cBhvr>
                                        <p:cTn id="30" dur="2000"/>
                                        <p:tgtEl>
                                          <p:spTgt spid="6">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2000"/>
                                        <p:tgtEl>
                                          <p:spTgt spid="10">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1">
                                            <p:txEl>
                                              <p:pRg st="0" end="0"/>
                                            </p:txEl>
                                          </p:spTgt>
                                        </p:tgtEl>
                                        <p:attrNameLst>
                                          <p:attrName>style.visibility</p:attrName>
                                        </p:attrNameLst>
                                      </p:cBhvr>
                                      <p:to>
                                        <p:strVal val="visible"/>
                                      </p:to>
                                    </p:set>
                                    <p:animEffect transition="in" filter="fade">
                                      <p:cBhvr>
                                        <p:cTn id="40" dur="2000"/>
                                        <p:tgtEl>
                                          <p:spTgt spid="11">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2">
                                            <p:txEl>
                                              <p:pRg st="0" end="0"/>
                                            </p:txEl>
                                          </p:spTgt>
                                        </p:tgtEl>
                                        <p:attrNameLst>
                                          <p:attrName>style.visibility</p:attrName>
                                        </p:attrNameLst>
                                      </p:cBhvr>
                                      <p:to>
                                        <p:strVal val="visible"/>
                                      </p:to>
                                    </p:set>
                                    <p:animEffect transition="in" filter="fade">
                                      <p:cBhvr>
                                        <p:cTn id="45" dur="2000"/>
                                        <p:tgtEl>
                                          <p:spTgt spid="12">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2">
                                            <p:txEl>
                                              <p:pRg st="1" end="1"/>
                                            </p:txEl>
                                          </p:spTgt>
                                        </p:tgtEl>
                                        <p:attrNameLst>
                                          <p:attrName>style.visibility</p:attrName>
                                        </p:attrNameLst>
                                      </p:cBhvr>
                                      <p:to>
                                        <p:strVal val="visible"/>
                                      </p:to>
                                    </p:set>
                                    <p:animEffect transition="in" filter="fade">
                                      <p:cBhvr>
                                        <p:cTn id="48" dur="2000"/>
                                        <p:tgtEl>
                                          <p:spTgt spid="12">
                                            <p:txEl>
                                              <p:pRg st="1" end="1"/>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2">
                                            <p:txEl>
                                              <p:pRg st="2" end="2"/>
                                            </p:txEl>
                                          </p:spTgt>
                                        </p:tgtEl>
                                        <p:attrNameLst>
                                          <p:attrName>style.visibility</p:attrName>
                                        </p:attrNameLst>
                                      </p:cBhvr>
                                      <p:to>
                                        <p:strVal val="visible"/>
                                      </p:to>
                                    </p:set>
                                    <p:animEffect transition="in" filter="fade">
                                      <p:cBhvr>
                                        <p:cTn id="51" dur="2000"/>
                                        <p:tgtEl>
                                          <p:spTgt spid="12">
                                            <p:txEl>
                                              <p:pRg st="2" end="2"/>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2">
                                            <p:txEl>
                                              <p:pRg st="3" end="3"/>
                                            </p:txEl>
                                          </p:spTgt>
                                        </p:tgtEl>
                                        <p:attrNameLst>
                                          <p:attrName>style.visibility</p:attrName>
                                        </p:attrNameLst>
                                      </p:cBhvr>
                                      <p:to>
                                        <p:strVal val="visible"/>
                                      </p:to>
                                    </p:set>
                                    <p:animEffect transition="in" filter="fade">
                                      <p:cBhvr>
                                        <p:cTn id="54" dur="2000"/>
                                        <p:tgtEl>
                                          <p:spTgt spid="12">
                                            <p:txEl>
                                              <p:pRg st="3" end="3"/>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2">
                                            <p:txEl>
                                              <p:pRg st="4" end="4"/>
                                            </p:txEl>
                                          </p:spTgt>
                                        </p:tgtEl>
                                        <p:attrNameLst>
                                          <p:attrName>style.visibility</p:attrName>
                                        </p:attrNameLst>
                                      </p:cBhvr>
                                      <p:to>
                                        <p:strVal val="visible"/>
                                      </p:to>
                                    </p:set>
                                    <p:animEffect transition="in" filter="fade">
                                      <p:cBhvr>
                                        <p:cTn id="57" dur="20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10" grpId="0" build="allAtOnce"/>
      <p:bldP spid="11" grpId="0" build="allAtOnce"/>
      <p:bldP spid="12" grpId="0" build="allAtOnce"/>
    </p:bldLst>
  </p:timing>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Identiteit toevoegen aan natuurlijke deductie</a:t>
            </a:r>
            <a:endParaRPr lang="nl-NL" sz="3600" dirty="0"/>
          </a:p>
        </p:txBody>
      </p:sp>
      <p:sp>
        <p:nvSpPr>
          <p:cNvPr id="5" name="Content Placeholder 2"/>
          <p:cNvSpPr txBox="1">
            <a:spLocks/>
          </p:cNvSpPr>
          <p:nvPr/>
        </p:nvSpPr>
        <p:spPr>
          <a:xfrm>
            <a:off x="467544" y="1556792"/>
            <a:ext cx="8363272" cy="43204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Wat zou een geschikte introductieregel zijn voor de identiteit?</a:t>
            </a:r>
          </a:p>
        </p:txBody>
      </p:sp>
      <p:sp>
        <p:nvSpPr>
          <p:cNvPr id="6" name="Content Placeholder 2"/>
          <p:cNvSpPr txBox="1">
            <a:spLocks/>
          </p:cNvSpPr>
          <p:nvPr/>
        </p:nvSpPr>
        <p:spPr>
          <a:xfrm>
            <a:off x="827584" y="2276872"/>
            <a:ext cx="3168352" cy="21602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a:t>
            </a:r>
          </a:p>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p>
          <a:p>
            <a:pPr marL="342900" lvl="0" indent="-342900">
              <a:spcBef>
                <a:spcPct val="20000"/>
              </a:spcBef>
            </a:pPr>
            <a:r>
              <a:rPr lang="nl-NL" sz="2000" dirty="0" smtClean="0"/>
              <a:t>….</a:t>
            </a:r>
          </a:p>
          <a:p>
            <a:pPr marL="342900" lvl="0" indent="-342900">
              <a:spcBef>
                <a:spcPct val="20000"/>
              </a:spcBef>
            </a:pPr>
            <a:r>
              <a:rPr lang="nl-NL" sz="2000" dirty="0" smtClean="0"/>
              <a:t>5. </a:t>
            </a:r>
            <a:r>
              <a:rPr lang="nl-NL" sz="2000" b="1" dirty="0" smtClean="0"/>
              <a:t>a=a</a:t>
            </a:r>
            <a:r>
              <a:rPr lang="nl-NL" sz="2000" dirty="0" smtClean="0"/>
              <a:t> </a:t>
            </a:r>
            <a:r>
              <a:rPr lang="nl-NL" sz="2000" b="1" dirty="0" smtClean="0"/>
              <a:t>	 I= </a:t>
            </a:r>
          </a:p>
          <a:p>
            <a:pPr marL="342900" lvl="0" indent="-342900">
              <a:spcBef>
                <a:spcPct val="20000"/>
              </a:spcBef>
            </a:pPr>
            <a:r>
              <a:rPr lang="nl-NL" sz="2000" b="1" dirty="0" smtClean="0"/>
              <a:t>		</a:t>
            </a:r>
            <a:r>
              <a:rPr lang="nl-NL" sz="2000" dirty="0" smtClean="0"/>
              <a:t>Voor </a:t>
            </a:r>
            <a:r>
              <a:rPr lang="nl-NL" sz="2000" i="1" dirty="0" smtClean="0"/>
              <a:t>iedere</a:t>
            </a:r>
            <a:r>
              <a:rPr lang="nl-NL" sz="2000" dirty="0" smtClean="0"/>
              <a:t> 	individuconstante </a:t>
            </a:r>
            <a:r>
              <a:rPr lang="nl-NL" sz="2000" b="1" dirty="0" smtClean="0"/>
              <a:t>a</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TextBox 6"/>
          <p:cNvSpPr txBox="1"/>
          <p:nvPr/>
        </p:nvSpPr>
        <p:spPr>
          <a:xfrm>
            <a:off x="4644008" y="2204864"/>
            <a:ext cx="4248472" cy="369332"/>
          </a:xfrm>
          <a:prstGeom prst="rect">
            <a:avLst/>
          </a:prstGeom>
          <a:noFill/>
        </p:spPr>
        <p:txBody>
          <a:bodyPr wrap="square" rtlCol="0">
            <a:spAutoFit/>
          </a:bodyPr>
          <a:lstStyle/>
          <a:p>
            <a:r>
              <a:rPr lang="nl-NL" dirty="0" smtClean="0"/>
              <a:t>Bewijs dat de identiteit symmetrisch is.</a:t>
            </a:r>
            <a:endParaRPr lang="nl-NL" dirty="0"/>
          </a:p>
        </p:txBody>
      </p:sp>
      <p:sp>
        <p:nvSpPr>
          <p:cNvPr id="8" name="TextBox 7"/>
          <p:cNvSpPr txBox="1"/>
          <p:nvPr/>
        </p:nvSpPr>
        <p:spPr>
          <a:xfrm>
            <a:off x="4716016" y="2699628"/>
            <a:ext cx="4248472" cy="369332"/>
          </a:xfrm>
          <a:prstGeom prst="rect">
            <a:avLst/>
          </a:prstGeom>
          <a:noFill/>
        </p:spPr>
        <p:txBody>
          <a:bodyPr wrap="square" rtlCol="0">
            <a:spAutoFit/>
          </a:bodyPr>
          <a:lstStyle/>
          <a:p>
            <a:r>
              <a:rPr lang="nl-NL" b="1" dirty="0" smtClean="0"/>
              <a:t>Ⱶ  ∀x ∀y (x=y → y=x) </a:t>
            </a:r>
            <a:endParaRPr lang="nl-NL" b="1" dirty="0"/>
          </a:p>
        </p:txBody>
      </p:sp>
      <p:sp>
        <p:nvSpPr>
          <p:cNvPr id="9" name="Rectangle 8"/>
          <p:cNvSpPr/>
          <p:nvPr/>
        </p:nvSpPr>
        <p:spPr>
          <a:xfrm>
            <a:off x="4788024" y="3212976"/>
            <a:ext cx="5112568" cy="1754326"/>
          </a:xfrm>
          <a:prstGeom prst="rect">
            <a:avLst/>
          </a:prstGeom>
        </p:spPr>
        <p:txBody>
          <a:bodyPr wrap="square">
            <a:spAutoFit/>
          </a:bodyPr>
          <a:lstStyle/>
          <a:p>
            <a:r>
              <a:rPr lang="nl-NL" dirty="0" smtClean="0"/>
              <a:t>1.</a:t>
            </a:r>
            <a:r>
              <a:rPr lang="nl-NL" b="1" dirty="0" smtClean="0"/>
              <a:t>  a=b 			</a:t>
            </a:r>
            <a:r>
              <a:rPr lang="nl-NL" dirty="0" err="1" smtClean="0"/>
              <a:t>Ass</a:t>
            </a:r>
            <a:r>
              <a:rPr lang="nl-NL" dirty="0" smtClean="0"/>
              <a:t>.</a:t>
            </a:r>
          </a:p>
          <a:p>
            <a:r>
              <a:rPr lang="nl-NL" dirty="0" smtClean="0"/>
              <a:t>2.  </a:t>
            </a:r>
            <a:r>
              <a:rPr lang="nl-NL" b="1" dirty="0" smtClean="0"/>
              <a:t>a=a			</a:t>
            </a:r>
            <a:r>
              <a:rPr lang="nl-NL" dirty="0" smtClean="0"/>
              <a:t>I=</a:t>
            </a:r>
          </a:p>
          <a:p>
            <a:r>
              <a:rPr lang="nl-NL" dirty="0" smtClean="0"/>
              <a:t>3.  </a:t>
            </a:r>
            <a:r>
              <a:rPr lang="nl-NL" b="1" dirty="0" smtClean="0"/>
              <a:t>b=a		 	</a:t>
            </a:r>
            <a:r>
              <a:rPr lang="nl-NL" dirty="0" smtClean="0"/>
              <a:t>G = (1,2)</a:t>
            </a:r>
            <a:r>
              <a:rPr lang="nl-NL" b="1" dirty="0" smtClean="0"/>
              <a:t> 	</a:t>
            </a:r>
            <a:endParaRPr lang="nl-NL" dirty="0" smtClean="0"/>
          </a:p>
          <a:p>
            <a:r>
              <a:rPr lang="nl-NL" dirty="0" smtClean="0"/>
              <a:t>4.  </a:t>
            </a:r>
            <a:r>
              <a:rPr lang="nl-NL" b="1" dirty="0" smtClean="0"/>
              <a:t>a=b → b=a		</a:t>
            </a:r>
            <a:r>
              <a:rPr lang="nl-NL" dirty="0" smtClean="0"/>
              <a:t>I → (1,3)</a:t>
            </a:r>
            <a:r>
              <a:rPr lang="nl-NL" b="1" dirty="0" smtClean="0"/>
              <a:t> </a:t>
            </a:r>
            <a:endParaRPr lang="nl-NL" dirty="0" smtClean="0"/>
          </a:p>
          <a:p>
            <a:r>
              <a:rPr lang="nl-NL" dirty="0" smtClean="0"/>
              <a:t>5. </a:t>
            </a:r>
            <a:r>
              <a:rPr lang="nl-NL" b="1" dirty="0" smtClean="0"/>
              <a:t>∀y (a=y → y=a) 		</a:t>
            </a:r>
            <a:r>
              <a:rPr lang="nl-NL" dirty="0" smtClean="0"/>
              <a:t>I ∀(4) </a:t>
            </a:r>
          </a:p>
          <a:p>
            <a:r>
              <a:rPr lang="nl-NL" dirty="0" smtClean="0"/>
              <a:t>6. </a:t>
            </a:r>
            <a:r>
              <a:rPr lang="nl-NL" b="1" dirty="0" smtClean="0"/>
              <a:t>∀x ∀y (x=y → y=x)  	</a:t>
            </a:r>
            <a:r>
              <a:rPr lang="nl-NL" dirty="0" smtClean="0"/>
              <a:t>I ∀(5)</a:t>
            </a:r>
          </a:p>
        </p:txBody>
      </p:sp>
      <p:cxnSp>
        <p:nvCxnSpPr>
          <p:cNvPr id="10" name="Straight Connector 9"/>
          <p:cNvCxnSpPr/>
          <p:nvPr/>
        </p:nvCxnSpPr>
        <p:spPr>
          <a:xfrm flipH="1">
            <a:off x="4716016" y="3289052"/>
            <a:ext cx="720080"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716016" y="3289052"/>
            <a:ext cx="0" cy="7920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4716016" y="4081140"/>
            <a:ext cx="1728192"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644008" y="5085184"/>
            <a:ext cx="4248472" cy="369332"/>
          </a:xfrm>
          <a:prstGeom prst="rect">
            <a:avLst/>
          </a:prstGeom>
          <a:noFill/>
        </p:spPr>
        <p:txBody>
          <a:bodyPr wrap="square" rtlCol="0">
            <a:spAutoFit/>
          </a:bodyPr>
          <a:lstStyle/>
          <a:p>
            <a:r>
              <a:rPr lang="nl-NL" dirty="0" smtClean="0"/>
              <a:t>Geldt nu ook </a:t>
            </a:r>
            <a:r>
              <a:rPr lang="nl-NL" b="1" dirty="0" smtClean="0"/>
              <a:t>|=  ∀x ∀y (x=y → y=x) </a:t>
            </a:r>
            <a:r>
              <a:rPr lang="nl-NL" dirty="0" smtClean="0"/>
              <a:t>?</a:t>
            </a:r>
            <a:r>
              <a:rPr lang="nl-NL" b="1" dirty="0" smtClean="0"/>
              <a:t> </a:t>
            </a:r>
            <a:endParaRPr lang="nl-NL" b="1" dirty="0"/>
          </a:p>
        </p:txBody>
      </p:sp>
      <p:sp>
        <p:nvSpPr>
          <p:cNvPr id="17" name="TextBox 16"/>
          <p:cNvSpPr txBox="1"/>
          <p:nvPr/>
        </p:nvSpPr>
        <p:spPr>
          <a:xfrm>
            <a:off x="4644008" y="5661248"/>
            <a:ext cx="4464496" cy="1200329"/>
          </a:xfrm>
          <a:prstGeom prst="rect">
            <a:avLst/>
          </a:prstGeom>
          <a:noFill/>
        </p:spPr>
        <p:txBody>
          <a:bodyPr wrap="square" rtlCol="0">
            <a:spAutoFit/>
          </a:bodyPr>
          <a:lstStyle/>
          <a:p>
            <a:r>
              <a:rPr lang="nl-NL" dirty="0" smtClean="0"/>
              <a:t>Dat is vooralsnog onduidelijk. We hebben nog geen semantische boomregels voor </a:t>
            </a:r>
            <a:r>
              <a:rPr lang="nl-NL" b="1" dirty="0" smtClean="0"/>
              <a:t>=</a:t>
            </a:r>
            <a:r>
              <a:rPr lang="nl-NL" dirty="0" smtClean="0"/>
              <a:t> en we weten ook nog niet of </a:t>
            </a:r>
            <a:r>
              <a:rPr lang="nl-NL" dirty="0" err="1" smtClean="0"/>
              <a:t>predikaatlogica</a:t>
            </a:r>
            <a:r>
              <a:rPr lang="nl-NL" dirty="0" smtClean="0"/>
              <a:t> uitgebreid met </a:t>
            </a:r>
            <a:r>
              <a:rPr lang="nl-NL" b="1" dirty="0" smtClean="0"/>
              <a:t>=</a:t>
            </a:r>
            <a:r>
              <a:rPr lang="nl-NL" dirty="0" smtClean="0"/>
              <a:t> correct (en volledig) is!</a:t>
            </a:r>
            <a:endParaRPr lang="nl-NL" b="1" dirty="0"/>
          </a:p>
        </p:txBody>
      </p:sp>
      <p:sp>
        <p:nvSpPr>
          <p:cNvPr id="18" name="TextBox 17"/>
          <p:cNvSpPr txBox="1"/>
          <p:nvPr/>
        </p:nvSpPr>
        <p:spPr>
          <a:xfrm>
            <a:off x="251520" y="4797152"/>
            <a:ext cx="4248472" cy="369332"/>
          </a:xfrm>
          <a:prstGeom prst="rect">
            <a:avLst/>
          </a:prstGeom>
          <a:noFill/>
        </p:spPr>
        <p:txBody>
          <a:bodyPr wrap="square" rtlCol="0">
            <a:spAutoFit/>
          </a:bodyPr>
          <a:lstStyle/>
          <a:p>
            <a:r>
              <a:rPr lang="nl-NL" dirty="0" smtClean="0"/>
              <a:t>Bewijs dat de identiteit reflexief is.</a:t>
            </a:r>
            <a:endParaRPr lang="nl-NL" dirty="0"/>
          </a:p>
        </p:txBody>
      </p:sp>
      <p:sp>
        <p:nvSpPr>
          <p:cNvPr id="19" name="TextBox 18"/>
          <p:cNvSpPr txBox="1"/>
          <p:nvPr/>
        </p:nvSpPr>
        <p:spPr>
          <a:xfrm>
            <a:off x="323528" y="5291916"/>
            <a:ext cx="4248472" cy="369332"/>
          </a:xfrm>
          <a:prstGeom prst="rect">
            <a:avLst/>
          </a:prstGeom>
          <a:noFill/>
        </p:spPr>
        <p:txBody>
          <a:bodyPr wrap="square" rtlCol="0">
            <a:spAutoFit/>
          </a:bodyPr>
          <a:lstStyle/>
          <a:p>
            <a:r>
              <a:rPr lang="nl-NL" b="1" dirty="0" smtClean="0"/>
              <a:t>Ⱶ  ∀x </a:t>
            </a:r>
            <a:r>
              <a:rPr lang="nl-NL" b="1" dirty="0" err="1" smtClean="0"/>
              <a:t>x</a:t>
            </a:r>
            <a:r>
              <a:rPr lang="nl-NL" b="1" dirty="0" smtClean="0"/>
              <a:t>=x </a:t>
            </a:r>
            <a:endParaRPr lang="nl-NL" b="1" dirty="0"/>
          </a:p>
        </p:txBody>
      </p:sp>
      <p:sp>
        <p:nvSpPr>
          <p:cNvPr id="20" name="Rectangle 19"/>
          <p:cNvSpPr/>
          <p:nvPr/>
        </p:nvSpPr>
        <p:spPr>
          <a:xfrm>
            <a:off x="323528" y="5801196"/>
            <a:ext cx="2664296" cy="646331"/>
          </a:xfrm>
          <a:prstGeom prst="rect">
            <a:avLst/>
          </a:prstGeom>
        </p:spPr>
        <p:txBody>
          <a:bodyPr wrap="square">
            <a:spAutoFit/>
          </a:bodyPr>
          <a:lstStyle/>
          <a:p>
            <a:r>
              <a:rPr lang="nl-NL" dirty="0" smtClean="0"/>
              <a:t>1.</a:t>
            </a:r>
            <a:r>
              <a:rPr lang="nl-NL" b="1" dirty="0" smtClean="0"/>
              <a:t> a=a 		</a:t>
            </a:r>
            <a:r>
              <a:rPr lang="nl-NL" dirty="0" smtClean="0"/>
              <a:t>I=</a:t>
            </a:r>
            <a:r>
              <a:rPr lang="nl-NL" b="1" dirty="0" smtClean="0"/>
              <a:t> </a:t>
            </a:r>
            <a:endParaRPr lang="nl-NL" dirty="0" smtClean="0"/>
          </a:p>
          <a:p>
            <a:r>
              <a:rPr lang="nl-NL" dirty="0" smtClean="0"/>
              <a:t>2. </a:t>
            </a:r>
            <a:r>
              <a:rPr lang="nl-NL" b="1" dirty="0" smtClean="0"/>
              <a:t>∀x </a:t>
            </a:r>
            <a:r>
              <a:rPr lang="nl-NL" b="1" dirty="0" err="1" smtClean="0"/>
              <a:t>x</a:t>
            </a:r>
            <a:r>
              <a:rPr lang="nl-NL" b="1" dirty="0" smtClean="0"/>
              <a:t>=x</a:t>
            </a:r>
            <a:r>
              <a:rPr lang="nl-NL" dirty="0" smtClean="0"/>
              <a:t>  </a:t>
            </a:r>
            <a:r>
              <a:rPr lang="nl-NL" b="1" dirty="0" smtClean="0"/>
              <a:t>	</a:t>
            </a:r>
            <a:r>
              <a:rPr lang="nl-NL" dirty="0" smtClean="0"/>
              <a:t>I ∀(1) </a:t>
            </a:r>
          </a:p>
        </p:txBody>
      </p:sp>
      <p:sp>
        <p:nvSpPr>
          <p:cNvPr id="24" name="TextBox 23"/>
          <p:cNvSpPr txBox="1"/>
          <p:nvPr/>
        </p:nvSpPr>
        <p:spPr>
          <a:xfrm>
            <a:off x="251520" y="7677472"/>
            <a:ext cx="4248472" cy="369332"/>
          </a:xfrm>
          <a:prstGeom prst="rect">
            <a:avLst/>
          </a:prstGeom>
          <a:noFill/>
        </p:spPr>
        <p:txBody>
          <a:bodyPr wrap="square" rtlCol="0">
            <a:spAutoFit/>
          </a:bodyPr>
          <a:lstStyle/>
          <a:p>
            <a:r>
              <a:rPr lang="nl-NL" dirty="0" smtClean="0"/>
              <a:t>Geldt nu ook </a:t>
            </a:r>
            <a:r>
              <a:rPr lang="nl-NL" b="1" dirty="0" smtClean="0"/>
              <a:t>|=  ∀x ∀y (x=y → y=x) </a:t>
            </a:r>
            <a:r>
              <a:rPr lang="nl-NL" dirty="0" smtClean="0"/>
              <a:t>?</a:t>
            </a:r>
            <a:r>
              <a:rPr lang="nl-NL" b="1" dirty="0" smtClean="0"/>
              <a:t> </a:t>
            </a:r>
            <a:endParaRPr lang="nl-NL" b="1" dirty="0"/>
          </a:p>
        </p:txBody>
      </p:sp>
      <p:sp>
        <p:nvSpPr>
          <p:cNvPr id="25" name="TextBox 24"/>
          <p:cNvSpPr txBox="1"/>
          <p:nvPr/>
        </p:nvSpPr>
        <p:spPr>
          <a:xfrm>
            <a:off x="251520" y="8194302"/>
            <a:ext cx="4464496" cy="923330"/>
          </a:xfrm>
          <a:prstGeom prst="rect">
            <a:avLst/>
          </a:prstGeom>
          <a:noFill/>
        </p:spPr>
        <p:txBody>
          <a:bodyPr wrap="square" rtlCol="0">
            <a:spAutoFit/>
          </a:bodyPr>
          <a:lstStyle/>
          <a:p>
            <a:r>
              <a:rPr lang="nl-NL" dirty="0" smtClean="0"/>
              <a:t>Dat is niet duidelijk. We weten vooralsnog niet of de </a:t>
            </a:r>
            <a:r>
              <a:rPr lang="nl-NL" dirty="0" err="1" smtClean="0"/>
              <a:t>predikatenlogica</a:t>
            </a:r>
            <a:r>
              <a:rPr lang="nl-NL" dirty="0" smtClean="0"/>
              <a:t> uitgebreid met = als logische constantie correct en volledig is!</a:t>
            </a:r>
            <a:endParaRPr lang="nl-NL"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2000"/>
                                        <p:tgtEl>
                                          <p:spTgt spid="6">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2000"/>
                                        <p:tgtEl>
                                          <p:spTgt spid="6">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2000"/>
                                        <p:tgtEl>
                                          <p:spTgt spid="6">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2000"/>
                                        <p:tgtEl>
                                          <p:spTgt spid="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8">
                                            <p:txEl>
                                              <p:pRg st="0" end="0"/>
                                            </p:txEl>
                                          </p:spTgt>
                                        </p:tgtEl>
                                        <p:attrNameLst>
                                          <p:attrName>style.visibility</p:attrName>
                                        </p:attrNameLst>
                                      </p:cBhvr>
                                      <p:to>
                                        <p:strVal val="visible"/>
                                      </p:to>
                                    </p:set>
                                    <p:animEffect transition="in" filter="fade">
                                      <p:cBhvr>
                                        <p:cTn id="24" dur="2000"/>
                                        <p:tgtEl>
                                          <p:spTgt spid="18">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xEl>
                                              <p:pRg st="0" end="0"/>
                                            </p:txEl>
                                          </p:spTgt>
                                        </p:tgtEl>
                                        <p:attrNameLst>
                                          <p:attrName>style.visibility</p:attrName>
                                        </p:attrNameLst>
                                      </p:cBhvr>
                                      <p:to>
                                        <p:strVal val="visible"/>
                                      </p:to>
                                    </p:set>
                                    <p:animEffect transition="in" filter="fade">
                                      <p:cBhvr>
                                        <p:cTn id="29" dur="2000"/>
                                        <p:tgtEl>
                                          <p:spTgt spid="19">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0">
                                            <p:txEl>
                                              <p:pRg st="0" end="0"/>
                                            </p:txEl>
                                          </p:spTgt>
                                        </p:tgtEl>
                                        <p:attrNameLst>
                                          <p:attrName>style.visibility</p:attrName>
                                        </p:attrNameLst>
                                      </p:cBhvr>
                                      <p:to>
                                        <p:strVal val="visible"/>
                                      </p:to>
                                    </p:set>
                                    <p:animEffect transition="in" filter="fade">
                                      <p:cBhvr>
                                        <p:cTn id="34" dur="2000"/>
                                        <p:tgtEl>
                                          <p:spTgt spid="20">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xEl>
                                              <p:pRg st="1" end="1"/>
                                            </p:txEl>
                                          </p:spTgt>
                                        </p:tgtEl>
                                        <p:attrNameLst>
                                          <p:attrName>style.visibility</p:attrName>
                                        </p:attrNameLst>
                                      </p:cBhvr>
                                      <p:to>
                                        <p:strVal val="visible"/>
                                      </p:to>
                                    </p:set>
                                    <p:animEffect transition="in" filter="fade">
                                      <p:cBhvr>
                                        <p:cTn id="37" dur="2000"/>
                                        <p:tgtEl>
                                          <p:spTgt spid="20">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7">
                                            <p:txEl>
                                              <p:pRg st="0" end="0"/>
                                            </p:txEl>
                                          </p:spTgt>
                                        </p:tgtEl>
                                        <p:attrNameLst>
                                          <p:attrName>style.visibility</p:attrName>
                                        </p:attrNameLst>
                                      </p:cBhvr>
                                      <p:to>
                                        <p:strVal val="visible"/>
                                      </p:to>
                                    </p:set>
                                    <p:animEffect transition="in" filter="fade">
                                      <p:cBhvr>
                                        <p:cTn id="42" dur="2000"/>
                                        <p:tgtEl>
                                          <p:spTgt spid="7">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Effect transition="in" filter="fade">
                                      <p:cBhvr>
                                        <p:cTn id="47" dur="2000"/>
                                        <p:tgtEl>
                                          <p:spTgt spid="8">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2000"/>
                                        <p:tgtEl>
                                          <p:spTgt spid="9"/>
                                        </p:tgtEl>
                                      </p:cBhvr>
                                    </p:animEffect>
                                  </p:childTnLst>
                                </p:cTn>
                              </p:par>
                              <p:par>
                                <p:cTn id="53" presetID="10" presetClass="entr" presetSubtype="0" fill="hold" nodeType="with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2000"/>
                                        <p:tgtEl>
                                          <p:spTgt spid="10"/>
                                        </p:tgtEl>
                                      </p:cBhvr>
                                    </p:animEffect>
                                  </p:childTnLst>
                                </p:cTn>
                              </p:par>
                              <p:par>
                                <p:cTn id="56" presetID="10" presetClass="entr" presetSubtype="0" fill="hold" nodeType="with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fade">
                                      <p:cBhvr>
                                        <p:cTn id="58" dur="2000"/>
                                        <p:tgtEl>
                                          <p:spTgt spid="11"/>
                                        </p:tgtEl>
                                      </p:cBhvr>
                                    </p:animEffect>
                                  </p:childTnLst>
                                </p:cTn>
                              </p:par>
                              <p:par>
                                <p:cTn id="59" presetID="10" presetClass="entr" presetSubtype="0" fill="hold"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20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6">
                                            <p:txEl>
                                              <p:pRg st="0" end="0"/>
                                            </p:txEl>
                                          </p:spTgt>
                                        </p:tgtEl>
                                        <p:attrNameLst>
                                          <p:attrName>style.visibility</p:attrName>
                                        </p:attrNameLst>
                                      </p:cBhvr>
                                      <p:to>
                                        <p:strVal val="visible"/>
                                      </p:to>
                                    </p:set>
                                    <p:animEffect transition="in" filter="fade">
                                      <p:cBhvr>
                                        <p:cTn id="66" dur="2000"/>
                                        <p:tgtEl>
                                          <p:spTgt spid="16">
                                            <p:txEl>
                                              <p:pRg st="0" end="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7">
                                            <p:txEl>
                                              <p:pRg st="0" end="0"/>
                                            </p:txEl>
                                          </p:spTgt>
                                        </p:tgtEl>
                                        <p:attrNameLst>
                                          <p:attrName>style.visibility</p:attrName>
                                        </p:attrNameLst>
                                      </p:cBhvr>
                                      <p:to>
                                        <p:strVal val="visible"/>
                                      </p:to>
                                    </p:set>
                                    <p:animEffect transition="in" filter="fade">
                                      <p:cBhvr>
                                        <p:cTn id="71" dur="2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8" grpId="0" build="allAtOnce"/>
      <p:bldP spid="9" grpId="0"/>
      <p:bldP spid="16" grpId="0" build="allAtOnce"/>
      <p:bldP spid="17" grpId="0" build="allAtOnce"/>
      <p:bldP spid="18" grpId="0" build="allAtOnce"/>
      <p:bldP spid="19" grpId="0" build="allAtOnce"/>
      <p:bldP spid="20" grpId="0" build="allAtOnce"/>
    </p:bldLst>
  </p:timing>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Semantische boomregels voor identiteit</a:t>
            </a:r>
            <a:endParaRPr lang="nl-NL" sz="3600" dirty="0"/>
          </a:p>
        </p:txBody>
      </p:sp>
      <p:sp>
        <p:nvSpPr>
          <p:cNvPr id="24" name="TextBox 23"/>
          <p:cNvSpPr txBox="1"/>
          <p:nvPr/>
        </p:nvSpPr>
        <p:spPr>
          <a:xfrm>
            <a:off x="251520" y="7677472"/>
            <a:ext cx="4248472" cy="369332"/>
          </a:xfrm>
          <a:prstGeom prst="rect">
            <a:avLst/>
          </a:prstGeom>
          <a:noFill/>
        </p:spPr>
        <p:txBody>
          <a:bodyPr wrap="square" rtlCol="0">
            <a:spAutoFit/>
          </a:bodyPr>
          <a:lstStyle/>
          <a:p>
            <a:r>
              <a:rPr lang="nl-NL" dirty="0" smtClean="0"/>
              <a:t>Geldt nu ook </a:t>
            </a:r>
            <a:r>
              <a:rPr lang="nl-NL" b="1" dirty="0" smtClean="0"/>
              <a:t>|=  ∀x ∀y (x=y → y=x) </a:t>
            </a:r>
            <a:r>
              <a:rPr lang="nl-NL" dirty="0" smtClean="0"/>
              <a:t>?</a:t>
            </a:r>
            <a:r>
              <a:rPr lang="nl-NL" b="1" dirty="0" smtClean="0"/>
              <a:t> </a:t>
            </a:r>
            <a:endParaRPr lang="nl-NL" b="1" dirty="0"/>
          </a:p>
        </p:txBody>
      </p:sp>
      <p:sp>
        <p:nvSpPr>
          <p:cNvPr id="25" name="TextBox 24"/>
          <p:cNvSpPr txBox="1"/>
          <p:nvPr/>
        </p:nvSpPr>
        <p:spPr>
          <a:xfrm>
            <a:off x="251520" y="8194302"/>
            <a:ext cx="4464496" cy="923330"/>
          </a:xfrm>
          <a:prstGeom prst="rect">
            <a:avLst/>
          </a:prstGeom>
          <a:noFill/>
        </p:spPr>
        <p:txBody>
          <a:bodyPr wrap="square" rtlCol="0">
            <a:spAutoFit/>
          </a:bodyPr>
          <a:lstStyle/>
          <a:p>
            <a:r>
              <a:rPr lang="nl-NL" dirty="0" smtClean="0"/>
              <a:t>Dat is niet duidelijk. We weten vooralsnog niet of de </a:t>
            </a:r>
            <a:r>
              <a:rPr lang="nl-NL" dirty="0" err="1" smtClean="0"/>
              <a:t>predikatenlogica</a:t>
            </a:r>
            <a:r>
              <a:rPr lang="nl-NL" dirty="0" smtClean="0"/>
              <a:t> uitgebreid met = als logische constantie correct en volledig is!</a:t>
            </a:r>
            <a:endParaRPr lang="nl-NL" b="1" dirty="0"/>
          </a:p>
        </p:txBody>
      </p:sp>
      <p:sp>
        <p:nvSpPr>
          <p:cNvPr id="21" name="Oval 20"/>
          <p:cNvSpPr/>
          <p:nvPr/>
        </p:nvSpPr>
        <p:spPr>
          <a:xfrm>
            <a:off x="2123728" y="279370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2" name="Straight Connector 21"/>
          <p:cNvCxnSpPr/>
          <p:nvPr/>
        </p:nvCxnSpPr>
        <p:spPr>
          <a:xfrm>
            <a:off x="2159824" y="293771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2159824" y="365779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2123728" y="416185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7" name="Rectangle 26"/>
          <p:cNvSpPr/>
          <p:nvPr/>
        </p:nvSpPr>
        <p:spPr>
          <a:xfrm>
            <a:off x="1475656" y="2577678"/>
            <a:ext cx="532518" cy="369332"/>
          </a:xfrm>
          <a:prstGeom prst="rect">
            <a:avLst/>
          </a:prstGeom>
        </p:spPr>
        <p:txBody>
          <a:bodyPr wrap="none">
            <a:spAutoFit/>
          </a:bodyPr>
          <a:lstStyle/>
          <a:p>
            <a:r>
              <a:rPr lang="nl-NL" b="1" dirty="0" smtClean="0"/>
              <a:t>a=b</a:t>
            </a:r>
            <a:endParaRPr lang="nl-NL" b="1" dirty="0"/>
          </a:p>
        </p:txBody>
      </p:sp>
      <p:sp>
        <p:nvSpPr>
          <p:cNvPr id="28" name="Rectangle 27"/>
          <p:cNvSpPr/>
          <p:nvPr/>
        </p:nvSpPr>
        <p:spPr>
          <a:xfrm>
            <a:off x="683568" y="4017838"/>
            <a:ext cx="1388522" cy="369332"/>
          </a:xfrm>
          <a:prstGeom prst="rect">
            <a:avLst/>
          </a:prstGeom>
        </p:spPr>
        <p:txBody>
          <a:bodyPr wrap="none">
            <a:spAutoFit/>
          </a:bodyPr>
          <a:lstStyle/>
          <a:p>
            <a:r>
              <a:rPr lang="el-GR" b="1" i="1" dirty="0" smtClean="0"/>
              <a:t>α</a:t>
            </a:r>
            <a:r>
              <a:rPr lang="nl-NL" b="1" dirty="0" smtClean="0"/>
              <a:t>(a) ↔</a:t>
            </a:r>
            <a:r>
              <a:rPr lang="nl-NL" b="1" dirty="0" smtClean="0">
                <a:solidFill>
                  <a:srgbClr val="0070C0"/>
                </a:solidFill>
              </a:rPr>
              <a:t> </a:t>
            </a:r>
            <a:r>
              <a:rPr lang="el-GR" b="1" i="1" dirty="0" smtClean="0"/>
              <a:t>α</a:t>
            </a:r>
            <a:r>
              <a:rPr lang="nl-NL" b="1" dirty="0" smtClean="0"/>
              <a:t>(b)</a:t>
            </a:r>
            <a:endParaRPr lang="nl-NL" dirty="0"/>
          </a:p>
        </p:txBody>
      </p:sp>
      <p:sp>
        <p:nvSpPr>
          <p:cNvPr id="29" name="TextBox 28"/>
          <p:cNvSpPr txBox="1"/>
          <p:nvPr/>
        </p:nvSpPr>
        <p:spPr>
          <a:xfrm>
            <a:off x="1475656" y="4593902"/>
            <a:ext cx="2808312" cy="923330"/>
          </a:xfrm>
          <a:prstGeom prst="rect">
            <a:avLst/>
          </a:prstGeom>
          <a:noFill/>
        </p:spPr>
        <p:txBody>
          <a:bodyPr wrap="square" rtlCol="0">
            <a:spAutoFit/>
          </a:bodyPr>
          <a:lstStyle/>
          <a:p>
            <a:r>
              <a:rPr lang="nl-NL" dirty="0" smtClean="0"/>
              <a:t>Voor elke </a:t>
            </a:r>
            <a:r>
              <a:rPr lang="nl-NL" u="sng" dirty="0" smtClean="0"/>
              <a:t>atomaire</a:t>
            </a:r>
            <a:r>
              <a:rPr lang="nl-NL" dirty="0" smtClean="0"/>
              <a:t> </a:t>
            </a:r>
            <a:r>
              <a:rPr lang="nl-NL" dirty="0" err="1" smtClean="0"/>
              <a:t>predikatieve</a:t>
            </a:r>
            <a:r>
              <a:rPr lang="nl-NL" dirty="0" smtClean="0"/>
              <a:t> expressie                     in de desbetreffende tak</a:t>
            </a:r>
            <a:endParaRPr lang="nl-NL" dirty="0"/>
          </a:p>
        </p:txBody>
      </p:sp>
      <p:sp>
        <p:nvSpPr>
          <p:cNvPr id="30" name="TextBox 29"/>
          <p:cNvSpPr txBox="1"/>
          <p:nvPr/>
        </p:nvSpPr>
        <p:spPr>
          <a:xfrm>
            <a:off x="1979712" y="3297758"/>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31" name="Oval 30"/>
          <p:cNvSpPr/>
          <p:nvPr/>
        </p:nvSpPr>
        <p:spPr>
          <a:xfrm>
            <a:off x="5652120" y="285293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32" name="Straight Connector 31"/>
          <p:cNvCxnSpPr/>
          <p:nvPr/>
        </p:nvCxnSpPr>
        <p:spPr>
          <a:xfrm>
            <a:off x="5688216" y="299695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5688216" y="371703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5652120" y="42210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5" name="Rectangle 34"/>
          <p:cNvSpPr/>
          <p:nvPr/>
        </p:nvSpPr>
        <p:spPr>
          <a:xfrm>
            <a:off x="5724128" y="2636912"/>
            <a:ext cx="527709" cy="369332"/>
          </a:xfrm>
          <a:prstGeom prst="rect">
            <a:avLst/>
          </a:prstGeom>
        </p:spPr>
        <p:txBody>
          <a:bodyPr wrap="none">
            <a:spAutoFit/>
          </a:bodyPr>
          <a:lstStyle/>
          <a:p>
            <a:r>
              <a:rPr lang="nl-NL" b="1" dirty="0" smtClean="0"/>
              <a:t>a=a</a:t>
            </a:r>
            <a:endParaRPr lang="nl-NL" dirty="0"/>
          </a:p>
        </p:txBody>
      </p:sp>
      <p:sp>
        <p:nvSpPr>
          <p:cNvPr id="37" name="TextBox 36"/>
          <p:cNvSpPr txBox="1"/>
          <p:nvPr/>
        </p:nvSpPr>
        <p:spPr>
          <a:xfrm>
            <a:off x="6660232" y="2636912"/>
            <a:ext cx="3312368" cy="646331"/>
          </a:xfrm>
          <a:prstGeom prst="rect">
            <a:avLst/>
          </a:prstGeom>
          <a:noFill/>
        </p:spPr>
        <p:txBody>
          <a:bodyPr wrap="square" rtlCol="0">
            <a:spAutoFit/>
          </a:bodyPr>
          <a:lstStyle/>
          <a:p>
            <a:r>
              <a:rPr lang="nl-NL" dirty="0" smtClean="0"/>
              <a:t>Voor elke                        individuconstante </a:t>
            </a:r>
            <a:r>
              <a:rPr lang="nl-NL" b="1" dirty="0" smtClean="0"/>
              <a:t>a</a:t>
            </a:r>
            <a:endParaRPr lang="nl-NL" dirty="0">
              <a:solidFill>
                <a:srgbClr val="0070C0"/>
              </a:solidFill>
            </a:endParaRPr>
          </a:p>
        </p:txBody>
      </p:sp>
      <p:sp>
        <p:nvSpPr>
          <p:cNvPr id="38" name="TextBox 37"/>
          <p:cNvSpPr txBox="1"/>
          <p:nvPr/>
        </p:nvSpPr>
        <p:spPr>
          <a:xfrm>
            <a:off x="5508104" y="3356992"/>
            <a:ext cx="864096" cy="369332"/>
          </a:xfrm>
          <a:prstGeom prst="rect">
            <a:avLst/>
          </a:prstGeom>
          <a:noFill/>
        </p:spPr>
        <p:txBody>
          <a:bodyPr wrap="square" rtlCol="0">
            <a:spAutoFit/>
          </a:bodyPr>
          <a:lstStyle/>
          <a:p>
            <a:r>
              <a:rPr lang="nl-NL" b="1" dirty="0" smtClean="0">
                <a:solidFill>
                  <a:srgbClr val="0070C0"/>
                </a:solidFill>
              </a:rPr>
              <a:t>…</a:t>
            </a:r>
            <a:endParaRPr lang="nl-NL" b="1" dirty="0">
              <a:solidFill>
                <a:srgbClr val="0070C0"/>
              </a:solidFill>
            </a:endParaRPr>
          </a:p>
        </p:txBody>
      </p:sp>
      <p:sp>
        <p:nvSpPr>
          <p:cNvPr id="39" name="TextBox 38"/>
          <p:cNvSpPr txBox="1"/>
          <p:nvPr/>
        </p:nvSpPr>
        <p:spPr>
          <a:xfrm>
            <a:off x="755576" y="1641574"/>
            <a:ext cx="3168352" cy="646331"/>
          </a:xfrm>
          <a:prstGeom prst="rect">
            <a:avLst/>
          </a:prstGeom>
          <a:noFill/>
        </p:spPr>
        <p:txBody>
          <a:bodyPr wrap="square" rtlCol="0">
            <a:spAutoFit/>
          </a:bodyPr>
          <a:lstStyle/>
          <a:p>
            <a:r>
              <a:rPr lang="nl-NL" dirty="0" smtClean="0">
                <a:solidFill>
                  <a:srgbClr val="0070C0"/>
                </a:solidFill>
              </a:rPr>
              <a:t>Boomregel voor ware identiteitsuitspraken</a:t>
            </a:r>
            <a:endParaRPr lang="nl-NL" dirty="0">
              <a:solidFill>
                <a:srgbClr val="0070C0"/>
              </a:solidFill>
            </a:endParaRPr>
          </a:p>
        </p:txBody>
      </p:sp>
      <p:sp>
        <p:nvSpPr>
          <p:cNvPr id="48" name="TextBox 47"/>
          <p:cNvSpPr txBox="1"/>
          <p:nvPr/>
        </p:nvSpPr>
        <p:spPr>
          <a:xfrm>
            <a:off x="5148064" y="1628800"/>
            <a:ext cx="3168352" cy="646331"/>
          </a:xfrm>
          <a:prstGeom prst="rect">
            <a:avLst/>
          </a:prstGeom>
          <a:noFill/>
        </p:spPr>
        <p:txBody>
          <a:bodyPr wrap="square" rtlCol="0">
            <a:spAutoFit/>
          </a:bodyPr>
          <a:lstStyle/>
          <a:p>
            <a:r>
              <a:rPr lang="nl-NL" dirty="0" smtClean="0">
                <a:solidFill>
                  <a:srgbClr val="0070C0"/>
                </a:solidFill>
              </a:rPr>
              <a:t>Boomregel voor onware identiteitsuitspraken</a:t>
            </a:r>
            <a:endParaRPr lang="nl-NL" dirty="0">
              <a:solidFill>
                <a:srgbClr val="0070C0"/>
              </a:solidFill>
            </a:endParaRPr>
          </a:p>
        </p:txBody>
      </p:sp>
      <p:sp>
        <p:nvSpPr>
          <p:cNvPr id="49" name="TextBox 48"/>
          <p:cNvSpPr txBox="1"/>
          <p:nvPr/>
        </p:nvSpPr>
        <p:spPr>
          <a:xfrm>
            <a:off x="5652120" y="4129916"/>
            <a:ext cx="360040" cy="523220"/>
          </a:xfrm>
          <a:prstGeom prst="rect">
            <a:avLst/>
          </a:prstGeom>
          <a:noFill/>
        </p:spPr>
        <p:txBody>
          <a:bodyPr wrap="square" rtlCol="0">
            <a:spAutoFit/>
          </a:bodyPr>
          <a:lstStyle/>
          <a:p>
            <a:r>
              <a:rPr lang="nl-NL" sz="2800" b="1" dirty="0" smtClean="0"/>
              <a:t>+</a:t>
            </a:r>
            <a:endParaRPr lang="nl-NL" sz="2000" b="1" dirty="0"/>
          </a:p>
        </p:txBody>
      </p:sp>
      <p:sp>
        <p:nvSpPr>
          <p:cNvPr id="50" name="TextBox 49"/>
          <p:cNvSpPr txBox="1"/>
          <p:nvPr/>
        </p:nvSpPr>
        <p:spPr>
          <a:xfrm>
            <a:off x="5364088" y="5229200"/>
            <a:ext cx="3600400" cy="1477328"/>
          </a:xfrm>
          <a:prstGeom prst="rect">
            <a:avLst/>
          </a:prstGeom>
          <a:noFill/>
        </p:spPr>
        <p:txBody>
          <a:bodyPr wrap="square" rtlCol="0">
            <a:spAutoFit/>
          </a:bodyPr>
          <a:lstStyle/>
          <a:p>
            <a:r>
              <a:rPr lang="nl-NL" dirty="0" smtClean="0"/>
              <a:t>Met deze twee boomregels en met de eerder ingevoerde twee regels voor natuurlijke deductie, is de </a:t>
            </a:r>
            <a:r>
              <a:rPr lang="nl-NL" dirty="0" err="1" smtClean="0"/>
              <a:t>predikaatlogica</a:t>
            </a:r>
            <a:r>
              <a:rPr lang="nl-NL" dirty="0" smtClean="0"/>
              <a:t> uitgebreid met </a:t>
            </a:r>
            <a:r>
              <a:rPr lang="nl-NL" b="1" dirty="0" smtClean="0"/>
              <a:t>=</a:t>
            </a:r>
            <a:r>
              <a:rPr lang="nl-NL" dirty="0" smtClean="0"/>
              <a:t> wederom netjes </a:t>
            </a:r>
            <a:r>
              <a:rPr lang="nl-NL" i="1" dirty="0" smtClean="0"/>
              <a:t>correct</a:t>
            </a:r>
            <a:r>
              <a:rPr lang="nl-NL" dirty="0" smtClean="0"/>
              <a:t> en </a:t>
            </a:r>
            <a:r>
              <a:rPr lang="nl-NL" i="1" dirty="0" smtClean="0"/>
              <a:t>volledig</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xEl>
                                              <p:pRg st="0" end="0"/>
                                            </p:txEl>
                                          </p:spTgt>
                                        </p:tgtEl>
                                        <p:attrNameLst>
                                          <p:attrName>style.visibility</p:attrName>
                                        </p:attrNameLst>
                                      </p:cBhvr>
                                      <p:to>
                                        <p:strVal val="visible"/>
                                      </p:to>
                                    </p:set>
                                    <p:animEffect transition="in" filter="fade">
                                      <p:cBhvr>
                                        <p:cTn id="7" dur="2000"/>
                                        <p:tgtEl>
                                          <p:spTgt spid="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000"/>
                                        <p:tgtEl>
                                          <p:spTgt spid="21"/>
                                        </p:tgtEl>
                                      </p:cBhvr>
                                    </p:animEffect>
                                  </p:childTnLst>
                                </p:cTn>
                              </p:par>
                              <p:par>
                                <p:cTn id="13" presetID="10"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20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2000"/>
                                        <p:tgtEl>
                                          <p:spTgt spid="2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2000"/>
                                        <p:tgtEl>
                                          <p:spTgt spid="2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20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2000"/>
                                        <p:tgtEl>
                                          <p:spTgt spid="2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fade">
                                      <p:cBhvr>
                                        <p:cTn id="30" dur="2000"/>
                                        <p:tgtEl>
                                          <p:spTgt spid="2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fade">
                                      <p:cBhvr>
                                        <p:cTn id="33" dur="20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8">
                                            <p:txEl>
                                              <p:pRg st="0" end="0"/>
                                            </p:txEl>
                                          </p:spTgt>
                                        </p:tgtEl>
                                        <p:attrNameLst>
                                          <p:attrName>style.visibility</p:attrName>
                                        </p:attrNameLst>
                                      </p:cBhvr>
                                      <p:to>
                                        <p:strVal val="visible"/>
                                      </p:to>
                                    </p:set>
                                    <p:animEffect transition="in" filter="fade">
                                      <p:cBhvr>
                                        <p:cTn id="38" dur="2000"/>
                                        <p:tgtEl>
                                          <p:spTgt spid="48">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2000"/>
                                        <p:tgtEl>
                                          <p:spTgt spid="31"/>
                                        </p:tgtEl>
                                      </p:cBhvr>
                                    </p:animEffect>
                                  </p:childTnLst>
                                </p:cTn>
                              </p:par>
                              <p:par>
                                <p:cTn id="44" presetID="10"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2000"/>
                                        <p:tgtEl>
                                          <p:spTgt spid="32"/>
                                        </p:tgtEl>
                                      </p:cBhvr>
                                    </p:animEffect>
                                  </p:childTnLst>
                                </p:cTn>
                              </p:par>
                              <p:par>
                                <p:cTn id="47" presetID="10"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2000"/>
                                        <p:tgtEl>
                                          <p:spTgt spid="3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fade">
                                      <p:cBhvr>
                                        <p:cTn id="52" dur="2000"/>
                                        <p:tgtEl>
                                          <p:spTgt spid="3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2000"/>
                                        <p:tgtEl>
                                          <p:spTgt spid="3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fade">
                                      <p:cBhvr>
                                        <p:cTn id="58" dur="2000"/>
                                        <p:tgtEl>
                                          <p:spTgt spid="3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fade">
                                      <p:cBhvr>
                                        <p:cTn id="61" dur="2000"/>
                                        <p:tgtEl>
                                          <p:spTgt spid="38"/>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fade">
                                      <p:cBhvr>
                                        <p:cTn id="64" dur="2000"/>
                                        <p:tgtEl>
                                          <p:spTgt spid="4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0">
                                            <p:txEl>
                                              <p:pRg st="0" end="0"/>
                                            </p:txEl>
                                          </p:spTgt>
                                        </p:tgtEl>
                                        <p:attrNameLst>
                                          <p:attrName>style.visibility</p:attrName>
                                        </p:attrNameLst>
                                      </p:cBhvr>
                                      <p:to>
                                        <p:strVal val="visible"/>
                                      </p:to>
                                    </p:set>
                                    <p:animEffect transition="in" filter="fade">
                                      <p:cBhvr>
                                        <p:cTn id="69" dur="2000"/>
                                        <p:tgtEl>
                                          <p:spTgt spid="5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27" grpId="0"/>
      <p:bldP spid="28" grpId="0"/>
      <p:bldP spid="29" grpId="0"/>
      <p:bldP spid="30" grpId="0"/>
      <p:bldP spid="31" grpId="0" animBg="1"/>
      <p:bldP spid="34" grpId="0" animBg="1"/>
      <p:bldP spid="35" grpId="0"/>
      <p:bldP spid="37" grpId="0"/>
      <p:bldP spid="38" grpId="0"/>
      <p:bldP spid="39" grpId="0" build="allAtOnce"/>
      <p:bldP spid="48" grpId="0" build="allAtOnce"/>
      <p:bldP spid="49" grpId="0"/>
      <p:bldP spid="50" grpId="0" build="allAtOnce"/>
    </p:bldLst>
  </p:timing>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3906278" y="36004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 name="Straight Connector 6"/>
          <p:cNvCxnSpPr/>
          <p:nvPr/>
        </p:nvCxnSpPr>
        <p:spPr>
          <a:xfrm>
            <a:off x="3945575" y="50405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3909727" y="10081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 name="Straight Connector 8"/>
          <p:cNvCxnSpPr/>
          <p:nvPr/>
        </p:nvCxnSpPr>
        <p:spPr>
          <a:xfrm>
            <a:off x="3945575" y="115212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3909727" y="165618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1" name="Straight Connector 10"/>
          <p:cNvCxnSpPr/>
          <p:nvPr/>
        </p:nvCxnSpPr>
        <p:spPr>
          <a:xfrm>
            <a:off x="3945575" y="1800200"/>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3909727" y="28803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4" name="Straight Connector 23"/>
          <p:cNvCxnSpPr/>
          <p:nvPr/>
        </p:nvCxnSpPr>
        <p:spPr>
          <a:xfrm flipH="1">
            <a:off x="1763688" y="2996952"/>
            <a:ext cx="2160240" cy="1008112"/>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044654" y="4725144"/>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1187624" y="251356"/>
            <a:ext cx="2596288" cy="369332"/>
          </a:xfrm>
          <a:prstGeom prst="rect">
            <a:avLst/>
          </a:prstGeom>
        </p:spPr>
        <p:txBody>
          <a:bodyPr wrap="none">
            <a:spAutoFit/>
          </a:bodyPr>
          <a:lstStyle/>
          <a:p>
            <a:r>
              <a:rPr lang="nl-NL" b="1" dirty="0" smtClean="0"/>
              <a:t>∀x∀y ((</a:t>
            </a:r>
            <a:r>
              <a:rPr lang="nl-NL" b="1" dirty="0" err="1" smtClean="0"/>
              <a:t>Rxy</a:t>
            </a:r>
            <a:r>
              <a:rPr lang="nl-NL" b="1" dirty="0" smtClean="0"/>
              <a:t> ∧ </a:t>
            </a:r>
            <a:r>
              <a:rPr lang="nl-NL" b="1" dirty="0" err="1" smtClean="0"/>
              <a:t>Ryx</a:t>
            </a:r>
            <a:r>
              <a:rPr lang="nl-NL" b="1" dirty="0" smtClean="0"/>
              <a:t>) → x=y)</a:t>
            </a:r>
            <a:endParaRPr lang="nl-NL" dirty="0"/>
          </a:p>
        </p:txBody>
      </p:sp>
      <p:sp>
        <p:nvSpPr>
          <p:cNvPr id="32" name="Rectangle 31"/>
          <p:cNvSpPr/>
          <p:nvPr/>
        </p:nvSpPr>
        <p:spPr>
          <a:xfrm>
            <a:off x="4061161" y="251356"/>
            <a:ext cx="942887" cy="369332"/>
          </a:xfrm>
          <a:prstGeom prst="rect">
            <a:avLst/>
          </a:prstGeom>
        </p:spPr>
        <p:txBody>
          <a:bodyPr wrap="none">
            <a:spAutoFit/>
          </a:bodyPr>
          <a:lstStyle/>
          <a:p>
            <a:r>
              <a:rPr lang="nl-NL" b="1" dirty="0" smtClean="0"/>
              <a:t>∀x ¬</a:t>
            </a:r>
            <a:r>
              <a:rPr lang="nl-NL" b="1" dirty="0" err="1" smtClean="0"/>
              <a:t>Rxx</a:t>
            </a:r>
            <a:endParaRPr lang="nl-NL" dirty="0"/>
          </a:p>
        </p:txBody>
      </p:sp>
      <p:sp>
        <p:nvSpPr>
          <p:cNvPr id="33" name="Rectangle 32"/>
          <p:cNvSpPr/>
          <p:nvPr/>
        </p:nvSpPr>
        <p:spPr>
          <a:xfrm>
            <a:off x="3991774" y="899428"/>
            <a:ext cx="657552" cy="369332"/>
          </a:xfrm>
          <a:prstGeom prst="rect">
            <a:avLst/>
          </a:prstGeom>
        </p:spPr>
        <p:txBody>
          <a:bodyPr wrap="none">
            <a:spAutoFit/>
          </a:bodyPr>
          <a:lstStyle/>
          <a:p>
            <a:r>
              <a:rPr lang="nl-NL" b="1" dirty="0" smtClean="0"/>
              <a:t>¬</a:t>
            </a:r>
            <a:r>
              <a:rPr lang="nl-NL" b="1" dirty="0" err="1" smtClean="0"/>
              <a:t>Raa</a:t>
            </a:r>
            <a:endParaRPr lang="nl-NL" dirty="0"/>
          </a:p>
        </p:txBody>
      </p:sp>
      <p:cxnSp>
        <p:nvCxnSpPr>
          <p:cNvPr id="41" name="Straight Connector 40"/>
          <p:cNvCxnSpPr/>
          <p:nvPr/>
        </p:nvCxnSpPr>
        <p:spPr>
          <a:xfrm>
            <a:off x="3923928" y="242088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a:off x="558368" y="4121696"/>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1710496" y="4121696"/>
            <a:ext cx="1119634" cy="5020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0" name="Oval 49"/>
          <p:cNvSpPr/>
          <p:nvPr/>
        </p:nvSpPr>
        <p:spPr>
          <a:xfrm>
            <a:off x="467544" y="46257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1" name="Oval 50"/>
          <p:cNvSpPr/>
          <p:nvPr/>
        </p:nvSpPr>
        <p:spPr>
          <a:xfrm>
            <a:off x="2934632" y="46257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2" name="Rectangle 51"/>
          <p:cNvSpPr/>
          <p:nvPr/>
        </p:nvSpPr>
        <p:spPr>
          <a:xfrm>
            <a:off x="2051720" y="3779748"/>
            <a:ext cx="1138453" cy="369332"/>
          </a:xfrm>
          <a:prstGeom prst="rect">
            <a:avLst/>
          </a:prstGeom>
        </p:spPr>
        <p:txBody>
          <a:bodyPr wrap="none">
            <a:spAutoFit/>
          </a:bodyPr>
          <a:lstStyle/>
          <a:p>
            <a:r>
              <a:rPr lang="nl-NL" b="1" dirty="0" err="1" smtClean="0"/>
              <a:t>Raa</a:t>
            </a:r>
            <a:r>
              <a:rPr lang="nl-NL" b="1" dirty="0" smtClean="0"/>
              <a:t> ∧ </a:t>
            </a:r>
            <a:r>
              <a:rPr lang="nl-NL" b="1" dirty="0" err="1" smtClean="0"/>
              <a:t>Raa</a:t>
            </a:r>
            <a:endParaRPr lang="nl-NL" dirty="0"/>
          </a:p>
        </p:txBody>
      </p:sp>
      <p:sp>
        <p:nvSpPr>
          <p:cNvPr id="53" name="Rectangle 52"/>
          <p:cNvSpPr/>
          <p:nvPr/>
        </p:nvSpPr>
        <p:spPr>
          <a:xfrm>
            <a:off x="2949744" y="4481736"/>
            <a:ext cx="542136" cy="369332"/>
          </a:xfrm>
          <a:prstGeom prst="rect">
            <a:avLst/>
          </a:prstGeom>
        </p:spPr>
        <p:txBody>
          <a:bodyPr wrap="none">
            <a:spAutoFit/>
          </a:bodyPr>
          <a:lstStyle/>
          <a:p>
            <a:r>
              <a:rPr lang="nl-NL" b="1" dirty="0" err="1" smtClean="0"/>
              <a:t>Raa</a:t>
            </a:r>
            <a:endParaRPr lang="nl-NL" dirty="0"/>
          </a:p>
        </p:txBody>
      </p:sp>
      <p:sp>
        <p:nvSpPr>
          <p:cNvPr id="54" name="Oval 53"/>
          <p:cNvSpPr/>
          <p:nvPr/>
        </p:nvSpPr>
        <p:spPr>
          <a:xfrm>
            <a:off x="1619672" y="40050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7" name="Rectangle 56"/>
          <p:cNvSpPr/>
          <p:nvPr/>
        </p:nvSpPr>
        <p:spPr>
          <a:xfrm>
            <a:off x="2699792" y="4561964"/>
            <a:ext cx="364202" cy="523220"/>
          </a:xfrm>
          <a:prstGeom prst="rect">
            <a:avLst/>
          </a:prstGeom>
        </p:spPr>
        <p:txBody>
          <a:bodyPr wrap="none">
            <a:spAutoFit/>
          </a:bodyPr>
          <a:lstStyle/>
          <a:p>
            <a:r>
              <a:rPr lang="nl-NL" sz="2800" b="1" dirty="0" smtClean="0"/>
              <a:t>+</a:t>
            </a:r>
            <a:endParaRPr lang="nl-NL" b="1" dirty="0"/>
          </a:p>
        </p:txBody>
      </p:sp>
      <p:cxnSp>
        <p:nvCxnSpPr>
          <p:cNvPr id="67" name="Straight Connector 66"/>
          <p:cNvCxnSpPr/>
          <p:nvPr/>
        </p:nvCxnSpPr>
        <p:spPr>
          <a:xfrm flipH="1">
            <a:off x="4892526" y="4725144"/>
            <a:ext cx="1080120" cy="50405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3707904" y="5085184"/>
            <a:ext cx="1064715" cy="369332"/>
          </a:xfrm>
          <a:prstGeom prst="rect">
            <a:avLst/>
          </a:prstGeom>
        </p:spPr>
        <p:txBody>
          <a:bodyPr wrap="none">
            <a:spAutoFit/>
          </a:bodyPr>
          <a:lstStyle/>
          <a:p>
            <a:r>
              <a:rPr lang="nl-NL" b="1" dirty="0" err="1" smtClean="0"/>
              <a:t>Raa</a:t>
            </a:r>
            <a:r>
              <a:rPr lang="nl-NL" b="1" dirty="0" smtClean="0"/>
              <a:t> </a:t>
            </a:r>
            <a:r>
              <a:rPr lang="nl-NL" dirty="0" smtClean="0"/>
              <a:t>,</a:t>
            </a:r>
            <a:r>
              <a:rPr lang="nl-NL" b="1" dirty="0" smtClean="0"/>
              <a:t> </a:t>
            </a:r>
            <a:r>
              <a:rPr lang="nl-NL" b="1" dirty="0" err="1" smtClean="0"/>
              <a:t>Raa</a:t>
            </a:r>
            <a:endParaRPr lang="nl-NL" dirty="0"/>
          </a:p>
        </p:txBody>
      </p:sp>
      <p:sp>
        <p:nvSpPr>
          <p:cNvPr id="69" name="Rectangle 68"/>
          <p:cNvSpPr/>
          <p:nvPr/>
        </p:nvSpPr>
        <p:spPr>
          <a:xfrm>
            <a:off x="7270224" y="5085184"/>
            <a:ext cx="1064715" cy="369332"/>
          </a:xfrm>
          <a:prstGeom prst="rect">
            <a:avLst/>
          </a:prstGeom>
        </p:spPr>
        <p:txBody>
          <a:bodyPr wrap="none">
            <a:spAutoFit/>
          </a:bodyPr>
          <a:lstStyle/>
          <a:p>
            <a:r>
              <a:rPr lang="nl-NL" b="1" dirty="0" err="1" smtClean="0"/>
              <a:t>Raa</a:t>
            </a:r>
            <a:r>
              <a:rPr lang="nl-NL" b="1" dirty="0" smtClean="0"/>
              <a:t> </a:t>
            </a:r>
            <a:r>
              <a:rPr lang="nl-NL" dirty="0" smtClean="0"/>
              <a:t>,</a:t>
            </a:r>
            <a:r>
              <a:rPr lang="nl-NL" b="1" dirty="0" smtClean="0"/>
              <a:t> </a:t>
            </a:r>
            <a:r>
              <a:rPr lang="nl-NL" b="1" dirty="0" err="1" smtClean="0"/>
              <a:t>Raa</a:t>
            </a:r>
            <a:endParaRPr lang="nl-NL" dirty="0"/>
          </a:p>
        </p:txBody>
      </p:sp>
      <p:sp>
        <p:nvSpPr>
          <p:cNvPr id="70" name="Oval 69"/>
          <p:cNvSpPr/>
          <p:nvPr/>
        </p:nvSpPr>
        <p:spPr>
          <a:xfrm>
            <a:off x="4788024" y="530120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3" name="Oval 72"/>
          <p:cNvSpPr/>
          <p:nvPr/>
        </p:nvSpPr>
        <p:spPr>
          <a:xfrm>
            <a:off x="7236296" y="530120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5" name="TextBox 74"/>
          <p:cNvSpPr txBox="1"/>
          <p:nvPr/>
        </p:nvSpPr>
        <p:spPr>
          <a:xfrm>
            <a:off x="107504" y="5746030"/>
            <a:ext cx="3960440" cy="923330"/>
          </a:xfrm>
          <a:prstGeom prst="rect">
            <a:avLst/>
          </a:prstGeom>
          <a:noFill/>
        </p:spPr>
        <p:txBody>
          <a:bodyPr wrap="square" rtlCol="0">
            <a:spAutoFit/>
          </a:bodyPr>
          <a:lstStyle/>
          <a:p>
            <a:r>
              <a:rPr lang="nl-NL" dirty="0" smtClean="0"/>
              <a:t>Er is één open tak en dus is er een tegenvoorbeeld. Antisymmetrische relatie is niet noodzakelijk </a:t>
            </a:r>
            <a:r>
              <a:rPr lang="nl-NL" dirty="0" err="1" smtClean="0"/>
              <a:t>irreflexief</a:t>
            </a:r>
            <a:endParaRPr lang="nl-NL" dirty="0"/>
          </a:p>
        </p:txBody>
      </p:sp>
      <p:cxnSp>
        <p:nvCxnSpPr>
          <p:cNvPr id="44" name="Straight Connector 43"/>
          <p:cNvCxnSpPr/>
          <p:nvPr/>
        </p:nvCxnSpPr>
        <p:spPr>
          <a:xfrm>
            <a:off x="3995936" y="2996952"/>
            <a:ext cx="1944216"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5940152" y="39330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8" name="Rectangle 57"/>
          <p:cNvSpPr/>
          <p:nvPr/>
        </p:nvSpPr>
        <p:spPr>
          <a:xfrm>
            <a:off x="5268427" y="3707740"/>
            <a:ext cx="527709" cy="369332"/>
          </a:xfrm>
          <a:prstGeom prst="rect">
            <a:avLst/>
          </a:prstGeom>
        </p:spPr>
        <p:txBody>
          <a:bodyPr wrap="none">
            <a:spAutoFit/>
          </a:bodyPr>
          <a:lstStyle/>
          <a:p>
            <a:r>
              <a:rPr lang="nl-NL" b="1" dirty="0" smtClean="0"/>
              <a:t>a=a</a:t>
            </a:r>
            <a:endParaRPr lang="nl-NL" dirty="0"/>
          </a:p>
        </p:txBody>
      </p:sp>
      <p:sp>
        <p:nvSpPr>
          <p:cNvPr id="62" name="Oval 61"/>
          <p:cNvSpPr/>
          <p:nvPr/>
        </p:nvSpPr>
        <p:spPr>
          <a:xfrm>
            <a:off x="3909600" y="22768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4" name="Rectangle 63"/>
          <p:cNvSpPr/>
          <p:nvPr/>
        </p:nvSpPr>
        <p:spPr>
          <a:xfrm>
            <a:off x="645488" y="4481736"/>
            <a:ext cx="542136" cy="369332"/>
          </a:xfrm>
          <a:prstGeom prst="rect">
            <a:avLst/>
          </a:prstGeom>
        </p:spPr>
        <p:txBody>
          <a:bodyPr wrap="none">
            <a:spAutoFit/>
          </a:bodyPr>
          <a:lstStyle/>
          <a:p>
            <a:r>
              <a:rPr lang="nl-NL" b="1" dirty="0" err="1" smtClean="0"/>
              <a:t>Raa</a:t>
            </a:r>
            <a:endParaRPr lang="nl-NL" dirty="0"/>
          </a:p>
        </p:txBody>
      </p:sp>
      <p:sp>
        <p:nvSpPr>
          <p:cNvPr id="65" name="Rectangle 64"/>
          <p:cNvSpPr/>
          <p:nvPr/>
        </p:nvSpPr>
        <p:spPr>
          <a:xfrm>
            <a:off x="179512" y="4581128"/>
            <a:ext cx="364202" cy="523220"/>
          </a:xfrm>
          <a:prstGeom prst="rect">
            <a:avLst/>
          </a:prstGeom>
        </p:spPr>
        <p:txBody>
          <a:bodyPr wrap="none">
            <a:spAutoFit/>
          </a:bodyPr>
          <a:lstStyle/>
          <a:p>
            <a:r>
              <a:rPr lang="nl-NL" sz="2800" b="1" dirty="0" smtClean="0"/>
              <a:t>+</a:t>
            </a:r>
            <a:endParaRPr lang="nl-NL" b="1" dirty="0"/>
          </a:p>
        </p:txBody>
      </p:sp>
      <p:sp>
        <p:nvSpPr>
          <p:cNvPr id="66" name="Rectangle 65"/>
          <p:cNvSpPr/>
          <p:nvPr/>
        </p:nvSpPr>
        <p:spPr>
          <a:xfrm>
            <a:off x="1983973" y="2708920"/>
            <a:ext cx="1939955" cy="369332"/>
          </a:xfrm>
          <a:prstGeom prst="rect">
            <a:avLst/>
          </a:prstGeom>
        </p:spPr>
        <p:txBody>
          <a:bodyPr wrap="none">
            <a:spAutoFit/>
          </a:bodyPr>
          <a:lstStyle/>
          <a:p>
            <a:r>
              <a:rPr lang="nl-NL" b="1" dirty="0" smtClean="0"/>
              <a:t>(</a:t>
            </a:r>
            <a:r>
              <a:rPr lang="nl-NL" b="1" dirty="0" err="1" smtClean="0"/>
              <a:t>Raa</a:t>
            </a:r>
            <a:r>
              <a:rPr lang="nl-NL" b="1" dirty="0" smtClean="0"/>
              <a:t> ∧ </a:t>
            </a:r>
            <a:r>
              <a:rPr lang="nl-NL" b="1" dirty="0" err="1" smtClean="0"/>
              <a:t>Raa</a:t>
            </a:r>
            <a:r>
              <a:rPr lang="nl-NL" b="1" dirty="0" smtClean="0"/>
              <a:t>) → a=a</a:t>
            </a:r>
            <a:endParaRPr lang="nl-NL" dirty="0"/>
          </a:p>
        </p:txBody>
      </p:sp>
      <p:sp>
        <p:nvSpPr>
          <p:cNvPr id="71" name="Rectangle 70"/>
          <p:cNvSpPr/>
          <p:nvPr/>
        </p:nvSpPr>
        <p:spPr>
          <a:xfrm>
            <a:off x="1619672" y="2132856"/>
            <a:ext cx="2426574" cy="369332"/>
          </a:xfrm>
          <a:prstGeom prst="rect">
            <a:avLst/>
          </a:prstGeom>
        </p:spPr>
        <p:txBody>
          <a:bodyPr wrap="square">
            <a:spAutoFit/>
          </a:bodyPr>
          <a:lstStyle/>
          <a:p>
            <a:r>
              <a:rPr lang="nl-NL" b="1" dirty="0" smtClean="0"/>
              <a:t>∀y ((</a:t>
            </a:r>
            <a:r>
              <a:rPr lang="nl-NL" b="1" dirty="0" err="1" smtClean="0"/>
              <a:t>Ray</a:t>
            </a:r>
            <a:r>
              <a:rPr lang="nl-NL" b="1" dirty="0" smtClean="0"/>
              <a:t> ∧ </a:t>
            </a:r>
            <a:r>
              <a:rPr lang="nl-NL" b="1" dirty="0" err="1" smtClean="0"/>
              <a:t>Rya</a:t>
            </a:r>
            <a:r>
              <a:rPr lang="nl-NL" b="1" dirty="0" smtClean="0"/>
              <a:t>) → a=y</a:t>
            </a:r>
            <a:endParaRPr lang="nl-NL" dirty="0"/>
          </a:p>
        </p:txBody>
      </p:sp>
      <p:sp>
        <p:nvSpPr>
          <p:cNvPr id="72" name="Rectangle 71"/>
          <p:cNvSpPr/>
          <p:nvPr/>
        </p:nvSpPr>
        <p:spPr>
          <a:xfrm>
            <a:off x="3309784" y="1475492"/>
            <a:ext cx="542136" cy="369332"/>
          </a:xfrm>
          <a:prstGeom prst="rect">
            <a:avLst/>
          </a:prstGeom>
        </p:spPr>
        <p:txBody>
          <a:bodyPr wrap="none">
            <a:spAutoFit/>
          </a:bodyPr>
          <a:lstStyle/>
          <a:p>
            <a:r>
              <a:rPr lang="nl-NL" b="1" dirty="0" err="1" smtClean="0"/>
              <a:t>Raa</a:t>
            </a:r>
            <a:endParaRPr lang="nl-NL" dirty="0"/>
          </a:p>
        </p:txBody>
      </p:sp>
      <p:sp>
        <p:nvSpPr>
          <p:cNvPr id="77" name="Oval 76"/>
          <p:cNvSpPr/>
          <p:nvPr/>
        </p:nvSpPr>
        <p:spPr>
          <a:xfrm>
            <a:off x="5940152" y="45811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79" name="Straight Connector 78"/>
          <p:cNvCxnSpPr/>
          <p:nvPr/>
        </p:nvCxnSpPr>
        <p:spPr>
          <a:xfrm>
            <a:off x="6012160" y="407707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2" name="Rectangle 81"/>
          <p:cNvSpPr/>
          <p:nvPr/>
        </p:nvSpPr>
        <p:spPr>
          <a:xfrm>
            <a:off x="4572000" y="4365104"/>
            <a:ext cx="1308371" cy="369332"/>
          </a:xfrm>
          <a:prstGeom prst="rect">
            <a:avLst/>
          </a:prstGeom>
        </p:spPr>
        <p:txBody>
          <a:bodyPr wrap="none">
            <a:spAutoFit/>
          </a:bodyPr>
          <a:lstStyle/>
          <a:p>
            <a:r>
              <a:rPr lang="nl-NL" b="1" dirty="0" err="1" smtClean="0"/>
              <a:t>Raa</a:t>
            </a:r>
            <a:r>
              <a:rPr lang="nl-NL" b="1" dirty="0" smtClean="0"/>
              <a:t> ↔ </a:t>
            </a:r>
            <a:r>
              <a:rPr lang="nl-NL" b="1" dirty="0" err="1" smtClean="0"/>
              <a:t>Raa</a:t>
            </a:r>
            <a:endParaRPr lang="nl-NL" dirty="0"/>
          </a:p>
        </p:txBody>
      </p:sp>
      <p:sp>
        <p:nvSpPr>
          <p:cNvPr id="83" name="Rectangle 82"/>
          <p:cNvSpPr/>
          <p:nvPr/>
        </p:nvSpPr>
        <p:spPr>
          <a:xfrm>
            <a:off x="7016110" y="5229200"/>
            <a:ext cx="364202" cy="523220"/>
          </a:xfrm>
          <a:prstGeom prst="rect">
            <a:avLst/>
          </a:prstGeom>
        </p:spPr>
        <p:txBody>
          <a:bodyPr wrap="none">
            <a:spAutoFit/>
          </a:bodyPr>
          <a:lstStyle/>
          <a:p>
            <a:r>
              <a:rPr lang="nl-NL" sz="2800" b="1" dirty="0" smtClean="0"/>
              <a:t>+</a:t>
            </a:r>
            <a:endParaRPr lang="nl-NL" b="1" dirty="0"/>
          </a:p>
        </p:txBody>
      </p:sp>
      <p:sp>
        <p:nvSpPr>
          <p:cNvPr id="84" name="TextBox 83"/>
          <p:cNvSpPr txBox="1"/>
          <p:nvPr/>
        </p:nvSpPr>
        <p:spPr>
          <a:xfrm>
            <a:off x="6084168" y="260648"/>
            <a:ext cx="2952328" cy="1200329"/>
          </a:xfrm>
          <a:prstGeom prst="rect">
            <a:avLst/>
          </a:prstGeom>
          <a:noFill/>
        </p:spPr>
        <p:txBody>
          <a:bodyPr wrap="square" rtlCol="0">
            <a:spAutoFit/>
          </a:bodyPr>
          <a:lstStyle/>
          <a:p>
            <a:r>
              <a:rPr lang="nl-NL" dirty="0" smtClean="0"/>
              <a:t>Welke methode dienen we                                  te gebruiken om te bepalen                                of een antisymmetrische                                 relatie altijd </a:t>
            </a:r>
            <a:r>
              <a:rPr lang="nl-NL" dirty="0" err="1" smtClean="0"/>
              <a:t>irreflexief</a:t>
            </a:r>
            <a:r>
              <a:rPr lang="nl-NL" dirty="0" smtClean="0"/>
              <a:t> 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2000"/>
                                        <p:tgtEl>
                                          <p:spTgt spid="3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0"/>
                                        <p:tgtEl>
                                          <p:spTgt spid="3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20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20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20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20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0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2000"/>
                                        <p:tgtEl>
                                          <p:spTgt spid="24"/>
                                        </p:tgtEl>
                                      </p:cBhvr>
                                    </p:animEffect>
                                  </p:childTnLst>
                                </p:cTn>
                              </p:par>
                              <p:par>
                                <p:cTn id="37" presetID="10"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20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2000"/>
                                        <p:tgtEl>
                                          <p:spTgt spid="33"/>
                                        </p:tgtEl>
                                      </p:cBhvr>
                                    </p:animEffect>
                                  </p:childTnLst>
                                </p:cTn>
                              </p:par>
                              <p:par>
                                <p:cTn id="43" presetID="10"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animEffect transition="in" filter="fade">
                                      <p:cBhvr>
                                        <p:cTn id="45" dur="2000"/>
                                        <p:tgtEl>
                                          <p:spTgt spid="41"/>
                                        </p:tgtEl>
                                      </p:cBhvr>
                                    </p:animEffect>
                                  </p:childTnLst>
                                </p:cTn>
                              </p:par>
                              <p:par>
                                <p:cTn id="46" presetID="10" presetClass="entr" presetSubtype="0" fill="hold" nodeType="withEffect">
                                  <p:stCondLst>
                                    <p:cond delay="0"/>
                                  </p:stCondLst>
                                  <p:childTnLst>
                                    <p:set>
                                      <p:cBhvr>
                                        <p:cTn id="47" dur="1" fill="hold">
                                          <p:stCondLst>
                                            <p:cond delay="0"/>
                                          </p:stCondLst>
                                        </p:cTn>
                                        <p:tgtEl>
                                          <p:spTgt spid="48"/>
                                        </p:tgtEl>
                                        <p:attrNameLst>
                                          <p:attrName>style.visibility</p:attrName>
                                        </p:attrNameLst>
                                      </p:cBhvr>
                                      <p:to>
                                        <p:strVal val="visible"/>
                                      </p:to>
                                    </p:set>
                                    <p:animEffect transition="in" filter="fade">
                                      <p:cBhvr>
                                        <p:cTn id="48" dur="2000"/>
                                        <p:tgtEl>
                                          <p:spTgt spid="48"/>
                                        </p:tgtEl>
                                      </p:cBhvr>
                                    </p:animEffect>
                                  </p:childTnLst>
                                </p:cTn>
                              </p:par>
                              <p:par>
                                <p:cTn id="49" presetID="10"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fade">
                                      <p:cBhvr>
                                        <p:cTn id="51" dur="2000"/>
                                        <p:tgtEl>
                                          <p:spTgt spid="4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0"/>
                                        </p:tgtEl>
                                        <p:attrNameLst>
                                          <p:attrName>style.visibility</p:attrName>
                                        </p:attrNameLst>
                                      </p:cBhvr>
                                      <p:to>
                                        <p:strVal val="visible"/>
                                      </p:to>
                                    </p:set>
                                    <p:animEffect transition="in" filter="fade">
                                      <p:cBhvr>
                                        <p:cTn id="54" dur="2000"/>
                                        <p:tgtEl>
                                          <p:spTgt spid="5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1"/>
                                        </p:tgtEl>
                                        <p:attrNameLst>
                                          <p:attrName>style.visibility</p:attrName>
                                        </p:attrNameLst>
                                      </p:cBhvr>
                                      <p:to>
                                        <p:strVal val="visible"/>
                                      </p:to>
                                    </p:set>
                                    <p:animEffect transition="in" filter="fade">
                                      <p:cBhvr>
                                        <p:cTn id="57" dur="2000"/>
                                        <p:tgtEl>
                                          <p:spTgt spid="5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fade">
                                      <p:cBhvr>
                                        <p:cTn id="60" dur="2000"/>
                                        <p:tgtEl>
                                          <p:spTgt spid="5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2000"/>
                                        <p:tgtEl>
                                          <p:spTgt spid="5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2000"/>
                                        <p:tgtEl>
                                          <p:spTgt spid="5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7"/>
                                        </p:tgtEl>
                                        <p:attrNameLst>
                                          <p:attrName>style.visibility</p:attrName>
                                        </p:attrNameLst>
                                      </p:cBhvr>
                                      <p:to>
                                        <p:strVal val="visible"/>
                                      </p:to>
                                    </p:set>
                                    <p:animEffect transition="in" filter="fade">
                                      <p:cBhvr>
                                        <p:cTn id="69" dur="2000"/>
                                        <p:tgtEl>
                                          <p:spTgt spid="57"/>
                                        </p:tgtEl>
                                      </p:cBhvr>
                                    </p:animEffect>
                                  </p:childTnLst>
                                </p:cTn>
                              </p:par>
                              <p:par>
                                <p:cTn id="70" presetID="10" presetClass="entr" presetSubtype="0" fill="hold" nodeType="withEffect">
                                  <p:stCondLst>
                                    <p:cond delay="0"/>
                                  </p:stCondLst>
                                  <p:childTnLst>
                                    <p:set>
                                      <p:cBhvr>
                                        <p:cTn id="71" dur="1" fill="hold">
                                          <p:stCondLst>
                                            <p:cond delay="0"/>
                                          </p:stCondLst>
                                        </p:cTn>
                                        <p:tgtEl>
                                          <p:spTgt spid="67"/>
                                        </p:tgtEl>
                                        <p:attrNameLst>
                                          <p:attrName>style.visibility</p:attrName>
                                        </p:attrNameLst>
                                      </p:cBhvr>
                                      <p:to>
                                        <p:strVal val="visible"/>
                                      </p:to>
                                    </p:set>
                                    <p:animEffect transition="in" filter="fade">
                                      <p:cBhvr>
                                        <p:cTn id="72" dur="2000"/>
                                        <p:tgtEl>
                                          <p:spTgt spid="6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fade">
                                      <p:cBhvr>
                                        <p:cTn id="75" dur="2000"/>
                                        <p:tgtEl>
                                          <p:spTgt spid="6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9"/>
                                        </p:tgtEl>
                                        <p:attrNameLst>
                                          <p:attrName>style.visibility</p:attrName>
                                        </p:attrNameLst>
                                      </p:cBhvr>
                                      <p:to>
                                        <p:strVal val="visible"/>
                                      </p:to>
                                    </p:set>
                                    <p:animEffect transition="in" filter="fade">
                                      <p:cBhvr>
                                        <p:cTn id="78" dur="2000"/>
                                        <p:tgtEl>
                                          <p:spTgt spid="6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0"/>
                                        </p:tgtEl>
                                        <p:attrNameLst>
                                          <p:attrName>style.visibility</p:attrName>
                                        </p:attrNameLst>
                                      </p:cBhvr>
                                      <p:to>
                                        <p:strVal val="visible"/>
                                      </p:to>
                                    </p:set>
                                    <p:animEffect transition="in" filter="fade">
                                      <p:cBhvr>
                                        <p:cTn id="81" dur="2000"/>
                                        <p:tgtEl>
                                          <p:spTgt spid="7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73"/>
                                        </p:tgtEl>
                                        <p:attrNameLst>
                                          <p:attrName>style.visibility</p:attrName>
                                        </p:attrNameLst>
                                      </p:cBhvr>
                                      <p:to>
                                        <p:strVal val="visible"/>
                                      </p:to>
                                    </p:set>
                                    <p:animEffect transition="in" filter="fade">
                                      <p:cBhvr>
                                        <p:cTn id="84" dur="2000"/>
                                        <p:tgtEl>
                                          <p:spTgt spid="73"/>
                                        </p:tgtEl>
                                      </p:cBhvr>
                                    </p:animEffect>
                                  </p:childTnLst>
                                </p:cTn>
                              </p:par>
                              <p:par>
                                <p:cTn id="85" presetID="10" presetClass="entr" presetSubtype="0"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20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6"/>
                                        </p:tgtEl>
                                        <p:attrNameLst>
                                          <p:attrName>style.visibility</p:attrName>
                                        </p:attrNameLst>
                                      </p:cBhvr>
                                      <p:to>
                                        <p:strVal val="visible"/>
                                      </p:to>
                                    </p:set>
                                    <p:animEffect transition="in" filter="fade">
                                      <p:cBhvr>
                                        <p:cTn id="90" dur="2000"/>
                                        <p:tgtEl>
                                          <p:spTgt spid="5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fade">
                                      <p:cBhvr>
                                        <p:cTn id="93" dur="2000"/>
                                        <p:tgtEl>
                                          <p:spTgt spid="58"/>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62"/>
                                        </p:tgtEl>
                                        <p:attrNameLst>
                                          <p:attrName>style.visibility</p:attrName>
                                        </p:attrNameLst>
                                      </p:cBhvr>
                                      <p:to>
                                        <p:strVal val="visible"/>
                                      </p:to>
                                    </p:set>
                                    <p:animEffect transition="in" filter="fade">
                                      <p:cBhvr>
                                        <p:cTn id="96" dur="2000"/>
                                        <p:tgtEl>
                                          <p:spTgt spid="6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64"/>
                                        </p:tgtEl>
                                        <p:attrNameLst>
                                          <p:attrName>style.visibility</p:attrName>
                                        </p:attrNameLst>
                                      </p:cBhvr>
                                      <p:to>
                                        <p:strVal val="visible"/>
                                      </p:to>
                                    </p:set>
                                    <p:animEffect transition="in" filter="fade">
                                      <p:cBhvr>
                                        <p:cTn id="99" dur="2000"/>
                                        <p:tgtEl>
                                          <p:spTgt spid="6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65"/>
                                        </p:tgtEl>
                                        <p:attrNameLst>
                                          <p:attrName>style.visibility</p:attrName>
                                        </p:attrNameLst>
                                      </p:cBhvr>
                                      <p:to>
                                        <p:strVal val="visible"/>
                                      </p:to>
                                    </p:set>
                                    <p:animEffect transition="in" filter="fade">
                                      <p:cBhvr>
                                        <p:cTn id="102" dur="2000"/>
                                        <p:tgtEl>
                                          <p:spTgt spid="6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6"/>
                                        </p:tgtEl>
                                        <p:attrNameLst>
                                          <p:attrName>style.visibility</p:attrName>
                                        </p:attrNameLst>
                                      </p:cBhvr>
                                      <p:to>
                                        <p:strVal val="visible"/>
                                      </p:to>
                                    </p:set>
                                    <p:animEffect transition="in" filter="fade">
                                      <p:cBhvr>
                                        <p:cTn id="105" dur="2000"/>
                                        <p:tgtEl>
                                          <p:spTgt spid="6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71"/>
                                        </p:tgtEl>
                                        <p:attrNameLst>
                                          <p:attrName>style.visibility</p:attrName>
                                        </p:attrNameLst>
                                      </p:cBhvr>
                                      <p:to>
                                        <p:strVal val="visible"/>
                                      </p:to>
                                    </p:set>
                                    <p:animEffect transition="in" filter="fade">
                                      <p:cBhvr>
                                        <p:cTn id="108" dur="2000"/>
                                        <p:tgtEl>
                                          <p:spTgt spid="7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72"/>
                                        </p:tgtEl>
                                        <p:attrNameLst>
                                          <p:attrName>style.visibility</p:attrName>
                                        </p:attrNameLst>
                                      </p:cBhvr>
                                      <p:to>
                                        <p:strVal val="visible"/>
                                      </p:to>
                                    </p:set>
                                    <p:animEffect transition="in" filter="fade">
                                      <p:cBhvr>
                                        <p:cTn id="111" dur="2000"/>
                                        <p:tgtEl>
                                          <p:spTgt spid="7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77"/>
                                        </p:tgtEl>
                                        <p:attrNameLst>
                                          <p:attrName>style.visibility</p:attrName>
                                        </p:attrNameLst>
                                      </p:cBhvr>
                                      <p:to>
                                        <p:strVal val="visible"/>
                                      </p:to>
                                    </p:set>
                                    <p:animEffect transition="in" filter="fade">
                                      <p:cBhvr>
                                        <p:cTn id="114" dur="2000"/>
                                        <p:tgtEl>
                                          <p:spTgt spid="77"/>
                                        </p:tgtEl>
                                      </p:cBhvr>
                                    </p:animEffect>
                                  </p:childTnLst>
                                </p:cTn>
                              </p:par>
                              <p:par>
                                <p:cTn id="115" presetID="10" presetClass="entr" presetSubtype="0" fill="hold" nodeType="withEffect">
                                  <p:stCondLst>
                                    <p:cond delay="0"/>
                                  </p:stCondLst>
                                  <p:childTnLst>
                                    <p:set>
                                      <p:cBhvr>
                                        <p:cTn id="116" dur="1" fill="hold">
                                          <p:stCondLst>
                                            <p:cond delay="0"/>
                                          </p:stCondLst>
                                        </p:cTn>
                                        <p:tgtEl>
                                          <p:spTgt spid="79"/>
                                        </p:tgtEl>
                                        <p:attrNameLst>
                                          <p:attrName>style.visibility</p:attrName>
                                        </p:attrNameLst>
                                      </p:cBhvr>
                                      <p:to>
                                        <p:strVal val="visible"/>
                                      </p:to>
                                    </p:set>
                                    <p:animEffect transition="in" filter="fade">
                                      <p:cBhvr>
                                        <p:cTn id="117" dur="2000"/>
                                        <p:tgtEl>
                                          <p:spTgt spid="7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82"/>
                                        </p:tgtEl>
                                        <p:attrNameLst>
                                          <p:attrName>style.visibility</p:attrName>
                                        </p:attrNameLst>
                                      </p:cBhvr>
                                      <p:to>
                                        <p:strVal val="visible"/>
                                      </p:to>
                                    </p:set>
                                    <p:animEffect transition="in" filter="fade">
                                      <p:cBhvr>
                                        <p:cTn id="120" dur="2000"/>
                                        <p:tgtEl>
                                          <p:spTgt spid="8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83"/>
                                        </p:tgtEl>
                                        <p:attrNameLst>
                                          <p:attrName>style.visibility</p:attrName>
                                        </p:attrNameLst>
                                      </p:cBhvr>
                                      <p:to>
                                        <p:strVal val="visible"/>
                                      </p:to>
                                    </p:set>
                                    <p:animEffect transition="in" filter="fade">
                                      <p:cBhvr>
                                        <p:cTn id="123" dur="2000"/>
                                        <p:tgtEl>
                                          <p:spTgt spid="83"/>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75">
                                            <p:txEl>
                                              <p:pRg st="0" end="0"/>
                                            </p:txEl>
                                          </p:spTgt>
                                        </p:tgtEl>
                                        <p:attrNameLst>
                                          <p:attrName>style.visibility</p:attrName>
                                        </p:attrNameLst>
                                      </p:cBhvr>
                                      <p:to>
                                        <p:strVal val="visible"/>
                                      </p:to>
                                    </p:set>
                                    <p:animEffect transition="in" filter="fade">
                                      <p:cBhvr>
                                        <p:cTn id="128" dur="2000"/>
                                        <p:tgtEl>
                                          <p:spTgt spid="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2" grpId="0" animBg="1"/>
      <p:bldP spid="31" grpId="0"/>
      <p:bldP spid="32" grpId="0"/>
      <p:bldP spid="33" grpId="0"/>
      <p:bldP spid="50" grpId="0" animBg="1"/>
      <p:bldP spid="51" grpId="0" animBg="1"/>
      <p:bldP spid="52" grpId="0"/>
      <p:bldP spid="53" grpId="0"/>
      <p:bldP spid="54" grpId="0" animBg="1"/>
      <p:bldP spid="57" grpId="0"/>
      <p:bldP spid="68" grpId="0"/>
      <p:bldP spid="69" grpId="0"/>
      <p:bldP spid="70" grpId="0" animBg="1"/>
      <p:bldP spid="73" grpId="0" animBg="1"/>
      <p:bldP spid="75" grpId="0" build="allAtOnce"/>
      <p:bldP spid="56" grpId="0" animBg="1"/>
      <p:bldP spid="58" grpId="0"/>
      <p:bldP spid="62" grpId="0" animBg="1"/>
      <p:bldP spid="64" grpId="0"/>
      <p:bldP spid="65" grpId="0"/>
      <p:bldP spid="66" grpId="0"/>
      <p:bldP spid="71" grpId="0"/>
      <p:bldP spid="72" grpId="0"/>
      <p:bldP spid="77" grpId="0" animBg="1"/>
      <p:bldP spid="82" grpId="0"/>
      <p:bldP spid="83" grpId="0"/>
    </p:bldLst>
  </p:timing>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Tot slot nog twee voorbeelden</a:t>
            </a:r>
            <a:endParaRPr lang="nl-NL" sz="3600" dirty="0"/>
          </a:p>
        </p:txBody>
      </p:sp>
      <p:sp>
        <p:nvSpPr>
          <p:cNvPr id="24" name="TextBox 23"/>
          <p:cNvSpPr txBox="1"/>
          <p:nvPr/>
        </p:nvSpPr>
        <p:spPr>
          <a:xfrm>
            <a:off x="251520" y="7677472"/>
            <a:ext cx="4248472" cy="369332"/>
          </a:xfrm>
          <a:prstGeom prst="rect">
            <a:avLst/>
          </a:prstGeom>
          <a:noFill/>
        </p:spPr>
        <p:txBody>
          <a:bodyPr wrap="square" rtlCol="0">
            <a:spAutoFit/>
          </a:bodyPr>
          <a:lstStyle/>
          <a:p>
            <a:r>
              <a:rPr lang="nl-NL" dirty="0" smtClean="0"/>
              <a:t>Geldt nu ook </a:t>
            </a:r>
            <a:r>
              <a:rPr lang="nl-NL" b="1" dirty="0" smtClean="0"/>
              <a:t>|=  ∀x ∀y (x=y → y=x) </a:t>
            </a:r>
            <a:r>
              <a:rPr lang="nl-NL" dirty="0" smtClean="0"/>
              <a:t>?</a:t>
            </a:r>
            <a:r>
              <a:rPr lang="nl-NL" b="1" dirty="0" smtClean="0"/>
              <a:t> </a:t>
            </a:r>
            <a:endParaRPr lang="nl-NL" b="1" dirty="0"/>
          </a:p>
        </p:txBody>
      </p:sp>
      <p:sp>
        <p:nvSpPr>
          <p:cNvPr id="25" name="TextBox 24"/>
          <p:cNvSpPr txBox="1"/>
          <p:nvPr/>
        </p:nvSpPr>
        <p:spPr>
          <a:xfrm>
            <a:off x="251520" y="8194302"/>
            <a:ext cx="4464496" cy="923330"/>
          </a:xfrm>
          <a:prstGeom prst="rect">
            <a:avLst/>
          </a:prstGeom>
          <a:noFill/>
        </p:spPr>
        <p:txBody>
          <a:bodyPr wrap="square" rtlCol="0">
            <a:spAutoFit/>
          </a:bodyPr>
          <a:lstStyle/>
          <a:p>
            <a:r>
              <a:rPr lang="nl-NL" dirty="0" smtClean="0"/>
              <a:t>Dat is niet duidelijk. We weten vooralsnog niet of de </a:t>
            </a:r>
            <a:r>
              <a:rPr lang="nl-NL" dirty="0" err="1" smtClean="0"/>
              <a:t>predikatenlogica</a:t>
            </a:r>
            <a:r>
              <a:rPr lang="nl-NL" dirty="0" smtClean="0"/>
              <a:t> uitgebreid met = als logische constantie correct en volledig is!</a:t>
            </a:r>
            <a:endParaRPr lang="nl-NL" b="1" dirty="0"/>
          </a:p>
        </p:txBody>
      </p:sp>
      <p:sp>
        <p:nvSpPr>
          <p:cNvPr id="21" name="Oval 20"/>
          <p:cNvSpPr/>
          <p:nvPr/>
        </p:nvSpPr>
        <p:spPr>
          <a:xfrm>
            <a:off x="899592" y="16288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22" name="Straight Connector 21"/>
          <p:cNvCxnSpPr/>
          <p:nvPr/>
        </p:nvCxnSpPr>
        <p:spPr>
          <a:xfrm>
            <a:off x="935688" y="177281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935688" y="242088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899592" y="29249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9" name="TextBox 28"/>
          <p:cNvSpPr txBox="1"/>
          <p:nvPr/>
        </p:nvSpPr>
        <p:spPr>
          <a:xfrm>
            <a:off x="179512" y="3491716"/>
            <a:ext cx="2808312" cy="369332"/>
          </a:xfrm>
          <a:prstGeom prst="rect">
            <a:avLst/>
          </a:prstGeom>
          <a:noFill/>
        </p:spPr>
        <p:txBody>
          <a:bodyPr wrap="square" rtlCol="0">
            <a:spAutoFit/>
          </a:bodyPr>
          <a:lstStyle/>
          <a:p>
            <a:r>
              <a:rPr lang="nl-NL" b="1" dirty="0" smtClean="0">
                <a:solidFill>
                  <a:srgbClr val="0070C0"/>
                </a:solidFill>
              </a:rPr>
              <a:t>Identiteit reflexief</a:t>
            </a:r>
            <a:endParaRPr lang="nl-NL" b="1" dirty="0">
              <a:solidFill>
                <a:srgbClr val="0070C0"/>
              </a:solidFill>
            </a:endParaRPr>
          </a:p>
        </p:txBody>
      </p:sp>
      <p:sp>
        <p:nvSpPr>
          <p:cNvPr id="36" name="Rectangle 35"/>
          <p:cNvSpPr/>
          <p:nvPr/>
        </p:nvSpPr>
        <p:spPr>
          <a:xfrm>
            <a:off x="971600" y="1340768"/>
            <a:ext cx="1872208" cy="369332"/>
          </a:xfrm>
          <a:prstGeom prst="rect">
            <a:avLst/>
          </a:prstGeom>
        </p:spPr>
        <p:txBody>
          <a:bodyPr wrap="square">
            <a:spAutoFit/>
          </a:bodyPr>
          <a:lstStyle/>
          <a:p>
            <a:r>
              <a:rPr lang="nl-NL" b="1" dirty="0" smtClean="0"/>
              <a:t>∀x (x=x)</a:t>
            </a:r>
            <a:endParaRPr lang="nl-NL" dirty="0"/>
          </a:p>
        </p:txBody>
      </p:sp>
      <p:sp>
        <p:nvSpPr>
          <p:cNvPr id="40" name="Rectangle 39"/>
          <p:cNvSpPr/>
          <p:nvPr/>
        </p:nvSpPr>
        <p:spPr>
          <a:xfrm>
            <a:off x="1043608" y="2060848"/>
            <a:ext cx="639688" cy="369332"/>
          </a:xfrm>
          <a:prstGeom prst="rect">
            <a:avLst/>
          </a:prstGeom>
        </p:spPr>
        <p:txBody>
          <a:bodyPr wrap="square">
            <a:spAutoFit/>
          </a:bodyPr>
          <a:lstStyle/>
          <a:p>
            <a:r>
              <a:rPr lang="nl-NL" b="1" dirty="0" smtClean="0"/>
              <a:t>a=a</a:t>
            </a:r>
            <a:endParaRPr lang="nl-NL" dirty="0"/>
          </a:p>
        </p:txBody>
      </p:sp>
      <p:sp>
        <p:nvSpPr>
          <p:cNvPr id="41" name="Oval 40"/>
          <p:cNvSpPr/>
          <p:nvPr/>
        </p:nvSpPr>
        <p:spPr>
          <a:xfrm>
            <a:off x="899592" y="227687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2" name="Rectangle 41"/>
          <p:cNvSpPr/>
          <p:nvPr/>
        </p:nvSpPr>
        <p:spPr>
          <a:xfrm>
            <a:off x="971600" y="2761764"/>
            <a:ext cx="364202" cy="523220"/>
          </a:xfrm>
          <a:prstGeom prst="rect">
            <a:avLst/>
          </a:prstGeom>
        </p:spPr>
        <p:txBody>
          <a:bodyPr wrap="none">
            <a:spAutoFit/>
          </a:bodyPr>
          <a:lstStyle/>
          <a:p>
            <a:r>
              <a:rPr lang="nl-NL" sz="2800" b="1" dirty="0" smtClean="0"/>
              <a:t>+</a:t>
            </a:r>
            <a:endParaRPr lang="nl-NL" b="1" dirty="0"/>
          </a:p>
        </p:txBody>
      </p:sp>
      <p:sp>
        <p:nvSpPr>
          <p:cNvPr id="43" name="Oval 42"/>
          <p:cNvSpPr/>
          <p:nvPr/>
        </p:nvSpPr>
        <p:spPr>
          <a:xfrm>
            <a:off x="5562462" y="15841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4" name="Straight Connector 43"/>
          <p:cNvCxnSpPr/>
          <p:nvPr/>
        </p:nvCxnSpPr>
        <p:spPr>
          <a:xfrm>
            <a:off x="5601759" y="1728192"/>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5565911" y="22322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46" name="Straight Connector 45"/>
          <p:cNvCxnSpPr/>
          <p:nvPr/>
        </p:nvCxnSpPr>
        <p:spPr>
          <a:xfrm>
            <a:off x="5601759" y="237626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5565911" y="28803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0" name="Straight Connector 49"/>
          <p:cNvCxnSpPr/>
          <p:nvPr/>
        </p:nvCxnSpPr>
        <p:spPr>
          <a:xfrm>
            <a:off x="5601759" y="3024336"/>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5565911" y="410445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2" name="Straight Connector 51"/>
          <p:cNvCxnSpPr/>
          <p:nvPr/>
        </p:nvCxnSpPr>
        <p:spPr>
          <a:xfrm flipH="1">
            <a:off x="3563888" y="4221088"/>
            <a:ext cx="2016224" cy="936104"/>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5652120" y="1412776"/>
            <a:ext cx="1803699" cy="369332"/>
          </a:xfrm>
          <a:prstGeom prst="rect">
            <a:avLst/>
          </a:prstGeom>
        </p:spPr>
        <p:txBody>
          <a:bodyPr wrap="none">
            <a:spAutoFit/>
          </a:bodyPr>
          <a:lstStyle/>
          <a:p>
            <a:r>
              <a:rPr lang="nl-NL" b="1" dirty="0" smtClean="0"/>
              <a:t>∀x∀y (x=y→ y=x)</a:t>
            </a:r>
            <a:endParaRPr lang="nl-NL" dirty="0"/>
          </a:p>
        </p:txBody>
      </p:sp>
      <p:cxnSp>
        <p:nvCxnSpPr>
          <p:cNvPr id="56" name="Straight Connector 55"/>
          <p:cNvCxnSpPr/>
          <p:nvPr/>
        </p:nvCxnSpPr>
        <p:spPr>
          <a:xfrm>
            <a:off x="5580112" y="3645024"/>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8" name="Oval 57"/>
          <p:cNvSpPr/>
          <p:nvPr/>
        </p:nvSpPr>
        <p:spPr>
          <a:xfrm>
            <a:off x="3419872"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59" name="Straight Connector 58"/>
          <p:cNvCxnSpPr/>
          <p:nvPr/>
        </p:nvCxnSpPr>
        <p:spPr>
          <a:xfrm>
            <a:off x="5652120" y="4221088"/>
            <a:ext cx="1944216" cy="864096"/>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7596336" y="5157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2" name="Oval 61"/>
          <p:cNvSpPr/>
          <p:nvPr/>
        </p:nvSpPr>
        <p:spPr>
          <a:xfrm>
            <a:off x="5565784" y="350100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3" name="Rectangle 62"/>
          <p:cNvSpPr/>
          <p:nvPr/>
        </p:nvSpPr>
        <p:spPr>
          <a:xfrm>
            <a:off x="4199733" y="3923764"/>
            <a:ext cx="1308371" cy="369332"/>
          </a:xfrm>
          <a:prstGeom prst="rect">
            <a:avLst/>
          </a:prstGeom>
        </p:spPr>
        <p:txBody>
          <a:bodyPr wrap="none">
            <a:spAutoFit/>
          </a:bodyPr>
          <a:lstStyle/>
          <a:p>
            <a:r>
              <a:rPr lang="nl-NL" b="1" dirty="0" smtClean="0"/>
              <a:t>b=a ↔ b=b</a:t>
            </a:r>
            <a:endParaRPr lang="nl-NL" dirty="0"/>
          </a:p>
        </p:txBody>
      </p:sp>
      <p:cxnSp>
        <p:nvCxnSpPr>
          <p:cNvPr id="66" name="Straight Connector 65"/>
          <p:cNvCxnSpPr/>
          <p:nvPr/>
        </p:nvCxnSpPr>
        <p:spPr>
          <a:xfrm>
            <a:off x="7668344" y="530120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3419872" y="5301208"/>
            <a:ext cx="0" cy="4320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3419872"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0" name="Oval 69"/>
          <p:cNvSpPr/>
          <p:nvPr/>
        </p:nvSpPr>
        <p:spPr>
          <a:xfrm>
            <a:off x="7596336" y="580526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1" name="Rectangle 70"/>
          <p:cNvSpPr/>
          <p:nvPr/>
        </p:nvSpPr>
        <p:spPr>
          <a:xfrm>
            <a:off x="3419872" y="5714092"/>
            <a:ext cx="364202" cy="523220"/>
          </a:xfrm>
          <a:prstGeom prst="rect">
            <a:avLst/>
          </a:prstGeom>
        </p:spPr>
        <p:txBody>
          <a:bodyPr wrap="none">
            <a:spAutoFit/>
          </a:bodyPr>
          <a:lstStyle/>
          <a:p>
            <a:r>
              <a:rPr lang="nl-NL" sz="2800" b="1" dirty="0" smtClean="0"/>
              <a:t>+</a:t>
            </a:r>
            <a:endParaRPr lang="nl-NL" b="1" dirty="0"/>
          </a:p>
        </p:txBody>
      </p:sp>
      <p:sp>
        <p:nvSpPr>
          <p:cNvPr id="72" name="Rectangle 71"/>
          <p:cNvSpPr/>
          <p:nvPr/>
        </p:nvSpPr>
        <p:spPr>
          <a:xfrm>
            <a:off x="7596336" y="5714092"/>
            <a:ext cx="364202" cy="523220"/>
          </a:xfrm>
          <a:prstGeom prst="rect">
            <a:avLst/>
          </a:prstGeom>
        </p:spPr>
        <p:txBody>
          <a:bodyPr wrap="none">
            <a:spAutoFit/>
          </a:bodyPr>
          <a:lstStyle/>
          <a:p>
            <a:r>
              <a:rPr lang="nl-NL" sz="2800" b="1" dirty="0" smtClean="0"/>
              <a:t>+</a:t>
            </a:r>
            <a:endParaRPr lang="nl-NL" b="1" dirty="0"/>
          </a:p>
        </p:txBody>
      </p:sp>
      <p:sp>
        <p:nvSpPr>
          <p:cNvPr id="73" name="Rectangle 72"/>
          <p:cNvSpPr/>
          <p:nvPr/>
        </p:nvSpPr>
        <p:spPr>
          <a:xfrm>
            <a:off x="5652120" y="2051556"/>
            <a:ext cx="1571264" cy="369332"/>
          </a:xfrm>
          <a:prstGeom prst="rect">
            <a:avLst/>
          </a:prstGeom>
        </p:spPr>
        <p:txBody>
          <a:bodyPr wrap="none">
            <a:spAutoFit/>
          </a:bodyPr>
          <a:lstStyle/>
          <a:p>
            <a:r>
              <a:rPr lang="nl-NL" b="1" dirty="0" smtClean="0"/>
              <a:t>∀y (a=y→ y=a)</a:t>
            </a:r>
            <a:endParaRPr lang="nl-NL" dirty="0"/>
          </a:p>
        </p:txBody>
      </p:sp>
      <p:sp>
        <p:nvSpPr>
          <p:cNvPr id="75" name="Rectangle 74"/>
          <p:cNvSpPr/>
          <p:nvPr/>
        </p:nvSpPr>
        <p:spPr>
          <a:xfrm>
            <a:off x="5652971" y="2699628"/>
            <a:ext cx="1151277" cy="369332"/>
          </a:xfrm>
          <a:prstGeom prst="rect">
            <a:avLst/>
          </a:prstGeom>
        </p:spPr>
        <p:txBody>
          <a:bodyPr wrap="none">
            <a:spAutoFit/>
          </a:bodyPr>
          <a:lstStyle/>
          <a:p>
            <a:r>
              <a:rPr lang="nl-NL" b="1" dirty="0" smtClean="0"/>
              <a:t>a=b→ b=a</a:t>
            </a:r>
            <a:endParaRPr lang="nl-NL" dirty="0"/>
          </a:p>
        </p:txBody>
      </p:sp>
      <p:sp>
        <p:nvSpPr>
          <p:cNvPr id="76" name="Rectangle 75"/>
          <p:cNvSpPr/>
          <p:nvPr/>
        </p:nvSpPr>
        <p:spPr>
          <a:xfrm>
            <a:off x="4970777" y="3347700"/>
            <a:ext cx="537327" cy="369332"/>
          </a:xfrm>
          <a:prstGeom prst="rect">
            <a:avLst/>
          </a:prstGeom>
        </p:spPr>
        <p:txBody>
          <a:bodyPr wrap="none">
            <a:spAutoFit/>
          </a:bodyPr>
          <a:lstStyle/>
          <a:p>
            <a:r>
              <a:rPr lang="nl-NL" b="1" dirty="0" smtClean="0"/>
              <a:t>a=b</a:t>
            </a:r>
            <a:endParaRPr lang="nl-NL" dirty="0"/>
          </a:p>
        </p:txBody>
      </p:sp>
      <p:sp>
        <p:nvSpPr>
          <p:cNvPr id="77" name="Rectangle 76"/>
          <p:cNvSpPr/>
          <p:nvPr/>
        </p:nvSpPr>
        <p:spPr>
          <a:xfrm>
            <a:off x="5690857" y="3356992"/>
            <a:ext cx="537327" cy="369332"/>
          </a:xfrm>
          <a:prstGeom prst="rect">
            <a:avLst/>
          </a:prstGeom>
        </p:spPr>
        <p:txBody>
          <a:bodyPr wrap="none">
            <a:spAutoFit/>
          </a:bodyPr>
          <a:lstStyle/>
          <a:p>
            <a:r>
              <a:rPr lang="nl-NL" b="1" dirty="0" smtClean="0"/>
              <a:t>b=a</a:t>
            </a:r>
            <a:endParaRPr lang="nl-NL" dirty="0"/>
          </a:p>
        </p:txBody>
      </p:sp>
      <p:sp>
        <p:nvSpPr>
          <p:cNvPr id="78" name="Rectangle 77"/>
          <p:cNvSpPr/>
          <p:nvPr/>
        </p:nvSpPr>
        <p:spPr>
          <a:xfrm>
            <a:off x="2427165" y="4869160"/>
            <a:ext cx="1064715" cy="369332"/>
          </a:xfrm>
          <a:prstGeom prst="rect">
            <a:avLst/>
          </a:prstGeom>
        </p:spPr>
        <p:txBody>
          <a:bodyPr wrap="none">
            <a:spAutoFit/>
          </a:bodyPr>
          <a:lstStyle/>
          <a:p>
            <a:r>
              <a:rPr lang="nl-NL" b="1" dirty="0" smtClean="0"/>
              <a:t>b=a </a:t>
            </a:r>
            <a:r>
              <a:rPr lang="nl-NL" dirty="0" smtClean="0"/>
              <a:t>,</a:t>
            </a:r>
            <a:r>
              <a:rPr lang="nl-NL" b="1" dirty="0" smtClean="0"/>
              <a:t> b=b</a:t>
            </a:r>
            <a:endParaRPr lang="nl-NL" dirty="0"/>
          </a:p>
        </p:txBody>
      </p:sp>
      <p:sp>
        <p:nvSpPr>
          <p:cNvPr id="79" name="Rectangle 78"/>
          <p:cNvSpPr/>
          <p:nvPr/>
        </p:nvSpPr>
        <p:spPr>
          <a:xfrm>
            <a:off x="7668344" y="4859868"/>
            <a:ext cx="1064715" cy="369332"/>
          </a:xfrm>
          <a:prstGeom prst="rect">
            <a:avLst/>
          </a:prstGeom>
        </p:spPr>
        <p:txBody>
          <a:bodyPr wrap="none">
            <a:spAutoFit/>
          </a:bodyPr>
          <a:lstStyle/>
          <a:p>
            <a:r>
              <a:rPr lang="nl-NL" b="1" dirty="0" smtClean="0"/>
              <a:t>b=a </a:t>
            </a:r>
            <a:r>
              <a:rPr lang="nl-NL" dirty="0" smtClean="0"/>
              <a:t>,</a:t>
            </a:r>
            <a:r>
              <a:rPr lang="nl-NL" b="1" dirty="0" smtClean="0"/>
              <a:t> b=b</a:t>
            </a:r>
            <a:endParaRPr lang="nl-NL" dirty="0"/>
          </a:p>
        </p:txBody>
      </p:sp>
      <p:sp>
        <p:nvSpPr>
          <p:cNvPr id="80" name="TextBox 79"/>
          <p:cNvSpPr txBox="1"/>
          <p:nvPr/>
        </p:nvSpPr>
        <p:spPr>
          <a:xfrm>
            <a:off x="4427984" y="6021288"/>
            <a:ext cx="2808312" cy="369332"/>
          </a:xfrm>
          <a:prstGeom prst="rect">
            <a:avLst/>
          </a:prstGeom>
          <a:noFill/>
        </p:spPr>
        <p:txBody>
          <a:bodyPr wrap="square" rtlCol="0">
            <a:spAutoFit/>
          </a:bodyPr>
          <a:lstStyle/>
          <a:p>
            <a:r>
              <a:rPr lang="nl-NL" b="1" dirty="0" smtClean="0">
                <a:solidFill>
                  <a:srgbClr val="0070C0"/>
                </a:solidFill>
              </a:rPr>
              <a:t>Identiteit symmetrisch</a:t>
            </a:r>
            <a:endParaRPr lang="nl-NL"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20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20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20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20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2000"/>
                                        <p:tgtEl>
                                          <p:spTgt spid="3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2000"/>
                                        <p:tgtEl>
                                          <p:spTgt spid="4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2000"/>
                                        <p:tgtEl>
                                          <p:spTgt spid="4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2000"/>
                                        <p:tgtEl>
                                          <p:spTgt spid="4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2000"/>
                                        <p:tgtEl>
                                          <p:spTgt spid="43"/>
                                        </p:tgtEl>
                                      </p:cBhvr>
                                    </p:animEffect>
                                  </p:childTnLst>
                                </p:cTn>
                              </p:par>
                              <p:par>
                                <p:cTn id="37" presetID="10"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2000"/>
                                        <p:tgtEl>
                                          <p:spTgt spid="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2000"/>
                                        <p:tgtEl>
                                          <p:spTgt spid="45"/>
                                        </p:tgtEl>
                                      </p:cBhvr>
                                    </p:animEffect>
                                  </p:childTnLst>
                                </p:cTn>
                              </p:par>
                              <p:par>
                                <p:cTn id="43" presetID="10" presetClass="entr" presetSubtype="0"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2000"/>
                                        <p:tgtEl>
                                          <p:spTgt spid="4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2000"/>
                                        <p:tgtEl>
                                          <p:spTgt spid="47"/>
                                        </p:tgtEl>
                                      </p:cBhvr>
                                    </p:animEffect>
                                  </p:childTnLst>
                                </p:cTn>
                              </p:par>
                              <p:par>
                                <p:cTn id="49" presetID="10" presetClass="entr" presetSubtype="0" fill="hold" nodeType="with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fade">
                                      <p:cBhvr>
                                        <p:cTn id="51" dur="2000"/>
                                        <p:tgtEl>
                                          <p:spTgt spid="5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1"/>
                                        </p:tgtEl>
                                        <p:attrNameLst>
                                          <p:attrName>style.visibility</p:attrName>
                                        </p:attrNameLst>
                                      </p:cBhvr>
                                      <p:to>
                                        <p:strVal val="visible"/>
                                      </p:to>
                                    </p:set>
                                    <p:animEffect transition="in" filter="fade">
                                      <p:cBhvr>
                                        <p:cTn id="54" dur="2000"/>
                                        <p:tgtEl>
                                          <p:spTgt spid="51"/>
                                        </p:tgtEl>
                                      </p:cBhvr>
                                    </p:animEffect>
                                  </p:childTnLst>
                                </p:cTn>
                              </p:par>
                              <p:par>
                                <p:cTn id="55" presetID="10" presetClass="entr" presetSubtype="0" fill="hold"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2000"/>
                                        <p:tgtEl>
                                          <p:spTgt spid="5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2000"/>
                                        <p:tgtEl>
                                          <p:spTgt spid="53"/>
                                        </p:tgtEl>
                                      </p:cBhvr>
                                    </p:animEffect>
                                  </p:childTnLst>
                                </p:cTn>
                              </p:par>
                              <p:par>
                                <p:cTn id="61" presetID="10" presetClass="entr" presetSubtype="0" fill="hold" nodeType="withEffect">
                                  <p:stCondLst>
                                    <p:cond delay="0"/>
                                  </p:stCondLst>
                                  <p:childTnLst>
                                    <p:set>
                                      <p:cBhvr>
                                        <p:cTn id="62" dur="1" fill="hold">
                                          <p:stCondLst>
                                            <p:cond delay="0"/>
                                          </p:stCondLst>
                                        </p:cTn>
                                        <p:tgtEl>
                                          <p:spTgt spid="56"/>
                                        </p:tgtEl>
                                        <p:attrNameLst>
                                          <p:attrName>style.visibility</p:attrName>
                                        </p:attrNameLst>
                                      </p:cBhvr>
                                      <p:to>
                                        <p:strVal val="visible"/>
                                      </p:to>
                                    </p:set>
                                    <p:animEffect transition="in" filter="fade">
                                      <p:cBhvr>
                                        <p:cTn id="63" dur="2000"/>
                                        <p:tgtEl>
                                          <p:spTgt spid="56"/>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fade">
                                      <p:cBhvr>
                                        <p:cTn id="66" dur="2000"/>
                                        <p:tgtEl>
                                          <p:spTgt spid="58"/>
                                        </p:tgtEl>
                                      </p:cBhvr>
                                    </p:animEffect>
                                  </p:childTnLst>
                                </p:cTn>
                              </p:par>
                              <p:par>
                                <p:cTn id="67" presetID="10" presetClass="entr" presetSubtype="0" fill="hold" nodeType="with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fade">
                                      <p:cBhvr>
                                        <p:cTn id="69" dur="2000"/>
                                        <p:tgtEl>
                                          <p:spTgt spid="5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60"/>
                                        </p:tgtEl>
                                        <p:attrNameLst>
                                          <p:attrName>style.visibility</p:attrName>
                                        </p:attrNameLst>
                                      </p:cBhvr>
                                      <p:to>
                                        <p:strVal val="visible"/>
                                      </p:to>
                                    </p:set>
                                    <p:animEffect transition="in" filter="fade">
                                      <p:cBhvr>
                                        <p:cTn id="72" dur="2000"/>
                                        <p:tgtEl>
                                          <p:spTgt spid="6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animEffect transition="in" filter="fade">
                                      <p:cBhvr>
                                        <p:cTn id="75" dur="2000"/>
                                        <p:tgtEl>
                                          <p:spTgt spid="6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3"/>
                                        </p:tgtEl>
                                        <p:attrNameLst>
                                          <p:attrName>style.visibility</p:attrName>
                                        </p:attrNameLst>
                                      </p:cBhvr>
                                      <p:to>
                                        <p:strVal val="visible"/>
                                      </p:to>
                                    </p:set>
                                    <p:animEffect transition="in" filter="fade">
                                      <p:cBhvr>
                                        <p:cTn id="78" dur="2000"/>
                                        <p:tgtEl>
                                          <p:spTgt spid="63"/>
                                        </p:tgtEl>
                                      </p:cBhvr>
                                    </p:animEffect>
                                  </p:childTnLst>
                                </p:cTn>
                              </p:par>
                              <p:par>
                                <p:cTn id="79" presetID="10" presetClass="entr" presetSubtype="0" fill="hold" nodeType="withEffect">
                                  <p:stCondLst>
                                    <p:cond delay="0"/>
                                  </p:stCondLst>
                                  <p:childTnLst>
                                    <p:set>
                                      <p:cBhvr>
                                        <p:cTn id="80" dur="1" fill="hold">
                                          <p:stCondLst>
                                            <p:cond delay="0"/>
                                          </p:stCondLst>
                                        </p:cTn>
                                        <p:tgtEl>
                                          <p:spTgt spid="66"/>
                                        </p:tgtEl>
                                        <p:attrNameLst>
                                          <p:attrName>style.visibility</p:attrName>
                                        </p:attrNameLst>
                                      </p:cBhvr>
                                      <p:to>
                                        <p:strVal val="visible"/>
                                      </p:to>
                                    </p:set>
                                    <p:animEffect transition="in" filter="fade">
                                      <p:cBhvr>
                                        <p:cTn id="81" dur="2000"/>
                                        <p:tgtEl>
                                          <p:spTgt spid="66"/>
                                        </p:tgtEl>
                                      </p:cBhvr>
                                    </p:animEffect>
                                  </p:childTnLst>
                                </p:cTn>
                              </p:par>
                              <p:par>
                                <p:cTn id="82" presetID="10" presetClass="entr" presetSubtype="0" fill="hold" nodeType="withEffect">
                                  <p:stCondLst>
                                    <p:cond delay="0"/>
                                  </p:stCondLst>
                                  <p:childTnLst>
                                    <p:set>
                                      <p:cBhvr>
                                        <p:cTn id="83" dur="1" fill="hold">
                                          <p:stCondLst>
                                            <p:cond delay="0"/>
                                          </p:stCondLst>
                                        </p:cTn>
                                        <p:tgtEl>
                                          <p:spTgt spid="67"/>
                                        </p:tgtEl>
                                        <p:attrNameLst>
                                          <p:attrName>style.visibility</p:attrName>
                                        </p:attrNameLst>
                                      </p:cBhvr>
                                      <p:to>
                                        <p:strVal val="visible"/>
                                      </p:to>
                                    </p:set>
                                    <p:animEffect transition="in" filter="fade">
                                      <p:cBhvr>
                                        <p:cTn id="84" dur="2000"/>
                                        <p:tgtEl>
                                          <p:spTgt spid="6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69"/>
                                        </p:tgtEl>
                                        <p:attrNameLst>
                                          <p:attrName>style.visibility</p:attrName>
                                        </p:attrNameLst>
                                      </p:cBhvr>
                                      <p:to>
                                        <p:strVal val="visible"/>
                                      </p:to>
                                    </p:set>
                                    <p:animEffect transition="in" filter="fade">
                                      <p:cBhvr>
                                        <p:cTn id="87" dur="2000"/>
                                        <p:tgtEl>
                                          <p:spTgt spid="69"/>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70"/>
                                        </p:tgtEl>
                                        <p:attrNameLst>
                                          <p:attrName>style.visibility</p:attrName>
                                        </p:attrNameLst>
                                      </p:cBhvr>
                                      <p:to>
                                        <p:strVal val="visible"/>
                                      </p:to>
                                    </p:set>
                                    <p:animEffect transition="in" filter="fade">
                                      <p:cBhvr>
                                        <p:cTn id="90" dur="2000"/>
                                        <p:tgtEl>
                                          <p:spTgt spid="70"/>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71"/>
                                        </p:tgtEl>
                                        <p:attrNameLst>
                                          <p:attrName>style.visibility</p:attrName>
                                        </p:attrNameLst>
                                      </p:cBhvr>
                                      <p:to>
                                        <p:strVal val="visible"/>
                                      </p:to>
                                    </p:set>
                                    <p:animEffect transition="in" filter="fade">
                                      <p:cBhvr>
                                        <p:cTn id="93" dur="2000"/>
                                        <p:tgtEl>
                                          <p:spTgt spid="71"/>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72"/>
                                        </p:tgtEl>
                                        <p:attrNameLst>
                                          <p:attrName>style.visibility</p:attrName>
                                        </p:attrNameLst>
                                      </p:cBhvr>
                                      <p:to>
                                        <p:strVal val="visible"/>
                                      </p:to>
                                    </p:set>
                                    <p:animEffect transition="in" filter="fade">
                                      <p:cBhvr>
                                        <p:cTn id="96" dur="2000"/>
                                        <p:tgtEl>
                                          <p:spTgt spid="72"/>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73"/>
                                        </p:tgtEl>
                                        <p:attrNameLst>
                                          <p:attrName>style.visibility</p:attrName>
                                        </p:attrNameLst>
                                      </p:cBhvr>
                                      <p:to>
                                        <p:strVal val="visible"/>
                                      </p:to>
                                    </p:set>
                                    <p:animEffect transition="in" filter="fade">
                                      <p:cBhvr>
                                        <p:cTn id="99" dur="2000"/>
                                        <p:tgtEl>
                                          <p:spTgt spid="73"/>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75"/>
                                        </p:tgtEl>
                                        <p:attrNameLst>
                                          <p:attrName>style.visibility</p:attrName>
                                        </p:attrNameLst>
                                      </p:cBhvr>
                                      <p:to>
                                        <p:strVal val="visible"/>
                                      </p:to>
                                    </p:set>
                                    <p:animEffect transition="in" filter="fade">
                                      <p:cBhvr>
                                        <p:cTn id="102" dur="2000"/>
                                        <p:tgtEl>
                                          <p:spTgt spid="7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76"/>
                                        </p:tgtEl>
                                        <p:attrNameLst>
                                          <p:attrName>style.visibility</p:attrName>
                                        </p:attrNameLst>
                                      </p:cBhvr>
                                      <p:to>
                                        <p:strVal val="visible"/>
                                      </p:to>
                                    </p:set>
                                    <p:animEffect transition="in" filter="fade">
                                      <p:cBhvr>
                                        <p:cTn id="105" dur="2000"/>
                                        <p:tgtEl>
                                          <p:spTgt spid="7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77"/>
                                        </p:tgtEl>
                                        <p:attrNameLst>
                                          <p:attrName>style.visibility</p:attrName>
                                        </p:attrNameLst>
                                      </p:cBhvr>
                                      <p:to>
                                        <p:strVal val="visible"/>
                                      </p:to>
                                    </p:set>
                                    <p:animEffect transition="in" filter="fade">
                                      <p:cBhvr>
                                        <p:cTn id="108" dur="2000"/>
                                        <p:tgtEl>
                                          <p:spTgt spid="7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78"/>
                                        </p:tgtEl>
                                        <p:attrNameLst>
                                          <p:attrName>style.visibility</p:attrName>
                                        </p:attrNameLst>
                                      </p:cBhvr>
                                      <p:to>
                                        <p:strVal val="visible"/>
                                      </p:to>
                                    </p:set>
                                    <p:animEffect transition="in" filter="fade">
                                      <p:cBhvr>
                                        <p:cTn id="111" dur="2000"/>
                                        <p:tgtEl>
                                          <p:spTgt spid="7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79"/>
                                        </p:tgtEl>
                                        <p:attrNameLst>
                                          <p:attrName>style.visibility</p:attrName>
                                        </p:attrNameLst>
                                      </p:cBhvr>
                                      <p:to>
                                        <p:strVal val="visible"/>
                                      </p:to>
                                    </p:set>
                                    <p:animEffect transition="in" filter="fade">
                                      <p:cBhvr>
                                        <p:cTn id="114" dur="2000"/>
                                        <p:tgtEl>
                                          <p:spTgt spid="7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80"/>
                                        </p:tgtEl>
                                        <p:attrNameLst>
                                          <p:attrName>style.visibility</p:attrName>
                                        </p:attrNameLst>
                                      </p:cBhvr>
                                      <p:to>
                                        <p:strVal val="visible"/>
                                      </p:to>
                                    </p:set>
                                    <p:animEffect transition="in" filter="fade">
                                      <p:cBhvr>
                                        <p:cTn id="117" dur="20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6" grpId="0" animBg="1"/>
      <p:bldP spid="29" grpId="0"/>
      <p:bldP spid="36" grpId="0"/>
      <p:bldP spid="40" grpId="0"/>
      <p:bldP spid="41" grpId="0" animBg="1"/>
      <p:bldP spid="42" grpId="0"/>
      <p:bldP spid="43" grpId="0" animBg="1"/>
      <p:bldP spid="45" grpId="0" animBg="1"/>
      <p:bldP spid="47" grpId="0" animBg="1"/>
      <p:bldP spid="51" grpId="0" animBg="1"/>
      <p:bldP spid="53" grpId="0"/>
      <p:bldP spid="58" grpId="0" animBg="1"/>
      <p:bldP spid="60" grpId="0" animBg="1"/>
      <p:bldP spid="62" grpId="0" animBg="1"/>
      <p:bldP spid="63" grpId="0"/>
      <p:bldP spid="69" grpId="0" animBg="1"/>
      <p:bldP spid="70" grpId="0" animBg="1"/>
      <p:bldP spid="71" grpId="0"/>
      <p:bldP spid="72" grpId="0"/>
      <p:bldP spid="73" grpId="0"/>
      <p:bldP spid="75" grpId="0"/>
      <p:bldP spid="76" grpId="0"/>
      <p:bldP spid="77" grpId="0"/>
      <p:bldP spid="78" grpId="0"/>
      <p:bldP spid="79" grpId="0"/>
      <p:bldP spid="80" grpId="0"/>
    </p:bldLst>
  </p:timing>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Unieke bepalingen</a:t>
            </a:r>
            <a:endParaRPr lang="nl-NL" sz="3600" dirty="0"/>
          </a:p>
        </p:txBody>
      </p:sp>
      <p:sp>
        <p:nvSpPr>
          <p:cNvPr id="9" name="Content Placeholder 2"/>
          <p:cNvSpPr txBox="1">
            <a:spLocks/>
          </p:cNvSpPr>
          <p:nvPr/>
        </p:nvSpPr>
        <p:spPr>
          <a:xfrm>
            <a:off x="467544" y="1340768"/>
            <a:ext cx="8363272" cy="25488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We hebben al veel voorbeelden van </a:t>
            </a:r>
            <a:r>
              <a:rPr lang="nl-NL" sz="2000" i="1" dirty="0" smtClean="0"/>
              <a:t>individuconstanten</a:t>
            </a:r>
            <a:r>
              <a:rPr lang="nl-NL" sz="2000" dirty="0" smtClean="0"/>
              <a:t> gezien:</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Amerika</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Amsterdam</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Pi</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Jan</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Kees</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err="1" smtClean="0"/>
              <a:t>Etc</a:t>
            </a:r>
            <a:r>
              <a:rPr lang="nl-NL" dirty="0" smtClean="0"/>
              <a:t>…</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2000" dirty="0" smtClean="0"/>
          </a:p>
        </p:txBody>
      </p:sp>
      <p:sp>
        <p:nvSpPr>
          <p:cNvPr id="10" name="Content Placeholder 2"/>
          <p:cNvSpPr txBox="1">
            <a:spLocks/>
          </p:cNvSpPr>
          <p:nvPr/>
        </p:nvSpPr>
        <p:spPr>
          <a:xfrm>
            <a:off x="467544" y="4048472"/>
            <a:ext cx="4032448" cy="21888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Maar neem nu eens deze expressies:</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Deze struisvogel</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De president van Amerika</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Die jongen</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Het kleinste priemgetal</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smtClean="0">
                <a:solidFill>
                  <a:srgbClr val="0070C0"/>
                </a:solidFill>
              </a:rPr>
              <a:t>De moeder van Mark Rutte</a:t>
            </a:r>
          </a:p>
          <a:p>
            <a:pPr marL="342900" marR="0" lvl="0" indent="-342900" algn="l" defTabSz="914400" rtl="0" eaLnBrk="1" fontAlgn="auto" latinLnBrk="0" hangingPunct="1">
              <a:lnSpc>
                <a:spcPct val="100000"/>
              </a:lnSpc>
              <a:spcBef>
                <a:spcPct val="20000"/>
              </a:spcBef>
              <a:spcAft>
                <a:spcPts val="0"/>
              </a:spcAft>
              <a:buClrTx/>
              <a:buSzTx/>
              <a:tabLst/>
              <a:defRPr/>
            </a:pPr>
            <a:r>
              <a:rPr lang="nl-NL" dirty="0" err="1" smtClean="0"/>
              <a:t>Etc</a:t>
            </a:r>
            <a:r>
              <a:rPr lang="nl-NL" dirty="0" smtClean="0"/>
              <a:t>…</a:t>
            </a:r>
          </a:p>
        </p:txBody>
      </p:sp>
      <p:sp>
        <p:nvSpPr>
          <p:cNvPr id="11" name="Content Placeholder 2"/>
          <p:cNvSpPr txBox="1">
            <a:spLocks/>
          </p:cNvSpPr>
          <p:nvPr/>
        </p:nvSpPr>
        <p:spPr>
          <a:xfrm>
            <a:off x="4499992" y="4653136"/>
            <a:ext cx="4248472"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Zijn dit ook individuconstanten?</a:t>
            </a:r>
          </a:p>
        </p:txBody>
      </p:sp>
      <p:sp>
        <p:nvSpPr>
          <p:cNvPr id="12" name="Content Placeholder 2"/>
          <p:cNvSpPr txBox="1">
            <a:spLocks/>
          </p:cNvSpPr>
          <p:nvPr/>
        </p:nvSpPr>
        <p:spPr>
          <a:xfrm>
            <a:off x="4139952" y="5128592"/>
            <a:ext cx="4752528" cy="676672"/>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Ja, maar het zijn geen eigennamen. </a:t>
            </a:r>
            <a:r>
              <a:rPr lang="nl-NL" sz="2000" dirty="0" err="1" smtClean="0"/>
              <a:t>Russell</a:t>
            </a:r>
            <a:r>
              <a:rPr lang="nl-NL" sz="2000" dirty="0" smtClean="0"/>
              <a:t> noemde dit soort expressies </a:t>
            </a:r>
            <a:r>
              <a:rPr lang="nl-NL" sz="2000" i="1" dirty="0" smtClean="0"/>
              <a:t>unieke bepalingen</a:t>
            </a:r>
            <a:r>
              <a:rPr lang="nl-NL" sz="2000" dirty="0" smtClean="0"/>
              <a:t>. Door ze slechts als eigennamen op te vatten gaat hun semantische structuur verloren. </a:t>
            </a:r>
          </a:p>
        </p:txBody>
      </p:sp>
      <p:sp>
        <p:nvSpPr>
          <p:cNvPr id="7" name="TextBox 6"/>
          <p:cNvSpPr txBox="1"/>
          <p:nvPr/>
        </p:nvSpPr>
        <p:spPr>
          <a:xfrm>
            <a:off x="4499992" y="2073042"/>
            <a:ext cx="3528392" cy="707886"/>
          </a:xfrm>
          <a:prstGeom prst="rect">
            <a:avLst/>
          </a:prstGeom>
          <a:noFill/>
        </p:spPr>
        <p:txBody>
          <a:bodyPr wrap="square" rtlCol="0">
            <a:spAutoFit/>
          </a:bodyPr>
          <a:lstStyle/>
          <a:p>
            <a:r>
              <a:rPr lang="nl-NL" sz="2000" dirty="0" smtClean="0"/>
              <a:t>Al deze individuconstanten            zijn eigennamen.</a:t>
            </a:r>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2000"/>
                                        <p:tgtEl>
                                          <p:spTgt spid="1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fade">
                                      <p:cBhvr>
                                        <p:cTn id="15" dur="2000"/>
                                        <p:tgtEl>
                                          <p:spTgt spid="10">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fade">
                                      <p:cBhvr>
                                        <p:cTn id="18" dur="2000"/>
                                        <p:tgtEl>
                                          <p:spTgt spid="10">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fade">
                                      <p:cBhvr>
                                        <p:cTn id="21" dur="2000"/>
                                        <p:tgtEl>
                                          <p:spTgt spid="10">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xEl>
                                              <p:pRg st="5" end="5"/>
                                            </p:txEl>
                                          </p:spTgt>
                                        </p:tgtEl>
                                        <p:attrNameLst>
                                          <p:attrName>style.visibility</p:attrName>
                                        </p:attrNameLst>
                                      </p:cBhvr>
                                      <p:to>
                                        <p:strVal val="visible"/>
                                      </p:to>
                                    </p:set>
                                    <p:animEffect transition="in" filter="fade">
                                      <p:cBhvr>
                                        <p:cTn id="24" dur="2000"/>
                                        <p:tgtEl>
                                          <p:spTgt spid="10">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2000"/>
                                        <p:tgtEl>
                                          <p:spTgt spid="10">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xEl>
                                              <p:pRg st="7" end="7"/>
                                            </p:txEl>
                                          </p:spTgt>
                                        </p:tgtEl>
                                        <p:attrNameLst>
                                          <p:attrName>style.visibility</p:attrName>
                                        </p:attrNameLst>
                                      </p:cBhvr>
                                      <p:to>
                                        <p:strVal val="visible"/>
                                      </p:to>
                                    </p:set>
                                    <p:animEffect transition="in" filter="fade">
                                      <p:cBhvr>
                                        <p:cTn id="30" dur="2000"/>
                                        <p:tgtEl>
                                          <p:spTgt spid="1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animEffect transition="in" filter="fade">
                                      <p:cBhvr>
                                        <p:cTn id="35" dur="2000"/>
                                        <p:tgtEl>
                                          <p:spTgt spid="11">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xEl>
                                              <p:pRg st="0" end="0"/>
                                            </p:txEl>
                                          </p:spTgt>
                                        </p:tgtEl>
                                        <p:attrNameLst>
                                          <p:attrName>style.visibility</p:attrName>
                                        </p:attrNameLst>
                                      </p:cBhvr>
                                      <p:to>
                                        <p:strVal val="visible"/>
                                      </p:to>
                                    </p:set>
                                    <p:animEffect transition="in" filter="fade">
                                      <p:cBhvr>
                                        <p:cTn id="40"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7" grpId="0" build="allAtOnce"/>
    </p:bldLst>
  </p:timing>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Unieke bepalingen</a:t>
            </a:r>
            <a:endParaRPr lang="nl-NL" sz="3600" dirty="0"/>
          </a:p>
        </p:txBody>
      </p:sp>
      <p:sp>
        <p:nvSpPr>
          <p:cNvPr id="9" name="Content Placeholder 2"/>
          <p:cNvSpPr txBox="1">
            <a:spLocks/>
          </p:cNvSpPr>
          <p:nvPr/>
        </p:nvSpPr>
        <p:spPr>
          <a:xfrm>
            <a:off x="35496" y="1340768"/>
            <a:ext cx="8363272" cy="1584176"/>
          </a:xfrm>
          <a:prstGeom prst="rect">
            <a:avLst/>
          </a:prstGeom>
        </p:spPr>
        <p:txBody>
          <a:bodyPr vert="horz" lIns="91440" tIns="45720" rIns="91440" bIns="45720" rtlCol="0">
            <a:noAutofit/>
          </a:bodyPr>
          <a:lstStyle/>
          <a:p>
            <a:pPr marL="342900" lvl="0" indent="-342900">
              <a:spcBef>
                <a:spcPct val="20000"/>
              </a:spcBef>
              <a:defRPr/>
            </a:pPr>
            <a:r>
              <a:rPr lang="nl-NL" sz="2000" dirty="0" smtClean="0"/>
              <a:t>      Unieke bepalingen kunnen met een zogenaamde </a:t>
            </a:r>
            <a:r>
              <a:rPr lang="nl-NL" sz="2000" dirty="0" err="1" smtClean="0"/>
              <a:t>iota</a:t>
            </a:r>
            <a:r>
              <a:rPr lang="nl-NL" sz="2000" dirty="0" smtClean="0"/>
              <a:t> (</a:t>
            </a:r>
            <a:r>
              <a:rPr lang="el-GR" sz="2400" dirty="0" smtClean="0"/>
              <a:t>ι</a:t>
            </a:r>
            <a:r>
              <a:rPr lang="nl-NL" sz="2000" dirty="0" smtClean="0"/>
              <a:t>) operator weergegeven worden:</a:t>
            </a:r>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a:p>
            <a:pPr marL="342900" lvl="0" indent="-342900">
              <a:spcBef>
                <a:spcPct val="20000"/>
              </a:spcBef>
              <a:defRPr/>
            </a:pPr>
            <a:r>
              <a:rPr lang="nl-NL" dirty="0" smtClean="0"/>
              <a:t>	</a:t>
            </a:r>
            <a:r>
              <a:rPr lang="el-GR" sz="2000" dirty="0" smtClean="0"/>
              <a:t> </a:t>
            </a:r>
            <a:r>
              <a:rPr lang="el-GR" sz="2000" b="1" dirty="0" smtClean="0"/>
              <a:t>ι</a:t>
            </a:r>
            <a:r>
              <a:rPr lang="nl-NL" sz="2000" b="1" dirty="0" smtClean="0"/>
              <a:t>x</a:t>
            </a:r>
            <a:r>
              <a:rPr lang="nl-NL" sz="2000" dirty="0" smtClean="0"/>
              <a:t> </a:t>
            </a:r>
            <a:r>
              <a:rPr lang="el-GR" sz="2000" b="1" i="1" dirty="0" smtClean="0"/>
              <a:t>α</a:t>
            </a:r>
            <a:r>
              <a:rPr lang="nl-NL" sz="2000" b="1" dirty="0" smtClean="0"/>
              <a:t>(x)  </a:t>
            </a:r>
            <a:r>
              <a:rPr lang="nl-NL" sz="2000" dirty="0" smtClean="0"/>
              <a:t>Het unieke object </a:t>
            </a:r>
            <a:r>
              <a:rPr lang="nl-NL" sz="2000" b="1" dirty="0" smtClean="0"/>
              <a:t>x</a:t>
            </a:r>
            <a:r>
              <a:rPr lang="nl-NL" sz="2000" dirty="0" smtClean="0"/>
              <a:t> zodanig dat </a:t>
            </a:r>
            <a:r>
              <a:rPr lang="el-GR" sz="2000" b="1" i="1" dirty="0" smtClean="0"/>
              <a:t>α</a:t>
            </a:r>
            <a:r>
              <a:rPr lang="nl-NL" sz="2000" b="1" dirty="0" smtClean="0"/>
              <a:t>(x) </a:t>
            </a:r>
            <a:r>
              <a:rPr lang="nl-NL" sz="2000" dirty="0" smtClean="0"/>
              <a:t>,                                                                        </a:t>
            </a:r>
            <a:br>
              <a:rPr lang="nl-NL" sz="2000" dirty="0" smtClean="0"/>
            </a:br>
            <a:r>
              <a:rPr lang="nl-NL" sz="2000" dirty="0" smtClean="0"/>
              <a:t>               waarbij </a:t>
            </a:r>
            <a:r>
              <a:rPr lang="el-GR" sz="2000" b="1" i="1" dirty="0" smtClean="0"/>
              <a:t>α</a:t>
            </a:r>
            <a:r>
              <a:rPr lang="nl-NL" sz="2000" b="1" dirty="0" smtClean="0"/>
              <a:t>(x) </a:t>
            </a:r>
            <a:r>
              <a:rPr lang="nl-NL" sz="2000" dirty="0" smtClean="0"/>
              <a:t>een </a:t>
            </a:r>
            <a:r>
              <a:rPr lang="nl-NL" sz="2000" dirty="0" err="1" smtClean="0"/>
              <a:t>predikatieve</a:t>
            </a:r>
            <a:r>
              <a:rPr lang="nl-NL" sz="2000" dirty="0" smtClean="0"/>
              <a:t> expressie is</a:t>
            </a:r>
          </a:p>
        </p:txBody>
      </p:sp>
      <p:sp>
        <p:nvSpPr>
          <p:cNvPr id="10" name="Content Placeholder 2"/>
          <p:cNvSpPr txBox="1">
            <a:spLocks/>
          </p:cNvSpPr>
          <p:nvPr/>
        </p:nvSpPr>
        <p:spPr>
          <a:xfrm>
            <a:off x="35496" y="3140968"/>
            <a:ext cx="7574487" cy="1090786"/>
          </a:xfrm>
          <a:prstGeom prst="rect">
            <a:avLst/>
          </a:prstGeom>
        </p:spPr>
        <p:txBody>
          <a:bodyPr vert="horz" lIns="91440" tIns="45720" rIns="91440" bIns="45720" rtlCol="0">
            <a:noAutofit/>
          </a:bodyPr>
          <a:lstStyle/>
          <a:p>
            <a:pPr marL="342900" lvl="0" indent="-342900">
              <a:spcBef>
                <a:spcPct val="20000"/>
              </a:spcBef>
              <a:defRPr/>
            </a:pPr>
            <a:r>
              <a:rPr lang="nl-NL" sz="2000" dirty="0" smtClean="0"/>
              <a:t>      In tegenstelling tot </a:t>
            </a:r>
            <a:r>
              <a:rPr lang="nl-NL" sz="2000" b="1" dirty="0" smtClean="0"/>
              <a:t>∀x </a:t>
            </a:r>
            <a:r>
              <a:rPr lang="el-GR" sz="2000" b="1" i="1" dirty="0" smtClean="0"/>
              <a:t>α</a:t>
            </a:r>
            <a:r>
              <a:rPr lang="nl-NL" sz="2000" b="1" dirty="0" smtClean="0"/>
              <a:t>(x) </a:t>
            </a:r>
            <a:r>
              <a:rPr lang="nl-NL" sz="2000" dirty="0" smtClean="0"/>
              <a:t>en</a:t>
            </a:r>
            <a:r>
              <a:rPr lang="nl-NL" sz="2000" b="1" dirty="0" smtClean="0"/>
              <a:t> ∃x </a:t>
            </a:r>
            <a:r>
              <a:rPr lang="el-GR" sz="2000" b="1" i="1" dirty="0" smtClean="0"/>
              <a:t>α</a:t>
            </a:r>
            <a:r>
              <a:rPr lang="nl-NL" sz="2000" b="1" dirty="0" smtClean="0"/>
              <a:t>(x) </a:t>
            </a:r>
            <a:r>
              <a:rPr lang="nl-NL" sz="2000" dirty="0" smtClean="0"/>
              <a:t>verwijst </a:t>
            </a:r>
            <a:r>
              <a:rPr lang="el-GR" sz="2000" b="1" dirty="0" smtClean="0"/>
              <a:t>ι</a:t>
            </a:r>
            <a:r>
              <a:rPr lang="nl-NL" sz="2000" b="1" dirty="0" smtClean="0"/>
              <a:t>x</a:t>
            </a:r>
            <a:r>
              <a:rPr lang="nl-NL" sz="2000" dirty="0" smtClean="0"/>
              <a:t> </a:t>
            </a:r>
            <a:r>
              <a:rPr lang="el-GR" sz="2000" b="1" i="1" dirty="0" smtClean="0"/>
              <a:t>α</a:t>
            </a:r>
            <a:r>
              <a:rPr lang="nl-NL" sz="2000" b="1" dirty="0" smtClean="0"/>
              <a:t>(x) </a:t>
            </a:r>
            <a:r>
              <a:rPr lang="nl-NL" sz="2000" dirty="0" smtClean="0"/>
              <a:t>naar één object in het domein en niet naar een formule die waar of onwaar kan zijn. Syntactisch functioneert </a:t>
            </a:r>
            <a:r>
              <a:rPr lang="el-GR" sz="2000" b="1" dirty="0" smtClean="0"/>
              <a:t>ι</a:t>
            </a:r>
            <a:r>
              <a:rPr lang="nl-NL" sz="2000" b="1" dirty="0" smtClean="0"/>
              <a:t>x</a:t>
            </a:r>
            <a:r>
              <a:rPr lang="nl-NL" sz="2000" dirty="0" smtClean="0"/>
              <a:t> </a:t>
            </a:r>
            <a:r>
              <a:rPr lang="el-GR" sz="2000" b="1" i="1" dirty="0" smtClean="0"/>
              <a:t>α</a:t>
            </a:r>
            <a:r>
              <a:rPr lang="nl-NL" sz="2000" b="1" dirty="0" smtClean="0"/>
              <a:t>(x)</a:t>
            </a:r>
            <a:r>
              <a:rPr lang="nl-NL" b="1" dirty="0" smtClean="0"/>
              <a:t> </a:t>
            </a:r>
            <a:r>
              <a:rPr lang="nl-NL" sz="2000" dirty="0" smtClean="0"/>
              <a:t>als een individuconstante.</a:t>
            </a:r>
            <a:endParaRPr lang="nl-NL" dirty="0" smtClean="0"/>
          </a:p>
        </p:txBody>
      </p:sp>
      <p:sp>
        <p:nvSpPr>
          <p:cNvPr id="7" name="Content Placeholder 2"/>
          <p:cNvSpPr txBox="1">
            <a:spLocks/>
          </p:cNvSpPr>
          <p:nvPr/>
        </p:nvSpPr>
        <p:spPr>
          <a:xfrm>
            <a:off x="35496" y="4365104"/>
            <a:ext cx="5256583" cy="432048"/>
          </a:xfrm>
          <a:prstGeom prst="rect">
            <a:avLst/>
          </a:prstGeom>
        </p:spPr>
        <p:txBody>
          <a:bodyPr vert="horz" lIns="91440" tIns="45720" rIns="91440" bIns="45720" rtlCol="0">
            <a:noAutofit/>
          </a:bodyPr>
          <a:lstStyle/>
          <a:p>
            <a:pPr marL="342900" lvl="0" indent="-342900">
              <a:spcBef>
                <a:spcPct val="20000"/>
              </a:spcBef>
              <a:defRPr/>
            </a:pPr>
            <a:r>
              <a:rPr lang="nl-NL" sz="2000" dirty="0" smtClean="0"/>
              <a:t>      Voorbeeld: </a:t>
            </a:r>
            <a:r>
              <a:rPr lang="nl-NL" sz="2000" b="1" dirty="0" smtClean="0">
                <a:solidFill>
                  <a:srgbClr val="0070C0"/>
                </a:solidFill>
              </a:rPr>
              <a:t>De kantonrechter is een vrouw</a:t>
            </a:r>
          </a:p>
          <a:p>
            <a:pPr marL="342900" lvl="0" indent="-342900">
              <a:spcBef>
                <a:spcPct val="20000"/>
              </a:spcBef>
              <a:defRPr/>
            </a:pPr>
            <a:endParaRPr lang="nl-NL" sz="800" dirty="0" smtClean="0"/>
          </a:p>
        </p:txBody>
      </p:sp>
      <p:sp>
        <p:nvSpPr>
          <p:cNvPr id="8" name="Content Placeholder 2"/>
          <p:cNvSpPr txBox="1">
            <a:spLocks/>
          </p:cNvSpPr>
          <p:nvPr/>
        </p:nvSpPr>
        <p:spPr>
          <a:xfrm>
            <a:off x="35496" y="5373216"/>
            <a:ext cx="5544616" cy="1090786"/>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p>
          <a:p>
            <a:pPr marL="342900" lvl="0" indent="-342900">
              <a:spcBef>
                <a:spcPct val="20000"/>
              </a:spcBef>
              <a:defRPr/>
            </a:pPr>
            <a:endParaRPr lang="nl-NL" sz="800" dirty="0" smtClean="0"/>
          </a:p>
          <a:p>
            <a:pPr marL="342900" lvl="0" indent="-342900">
              <a:spcBef>
                <a:spcPct val="20000"/>
              </a:spcBef>
              <a:defRPr/>
            </a:pPr>
            <a:r>
              <a:rPr lang="nl-NL" sz="2000" dirty="0" smtClean="0"/>
              <a:t>	</a:t>
            </a:r>
            <a:r>
              <a:rPr lang="nl-NL" sz="2000" b="1" dirty="0" smtClean="0"/>
              <a:t>V(</a:t>
            </a:r>
            <a:r>
              <a:rPr lang="el-GR" sz="2000" b="1" dirty="0" smtClean="0"/>
              <a:t>ι</a:t>
            </a:r>
            <a:r>
              <a:rPr lang="nl-NL" sz="2000" b="1" dirty="0" smtClean="0"/>
              <a:t>x</a:t>
            </a:r>
            <a:r>
              <a:rPr lang="nl-NL" sz="2000" dirty="0" smtClean="0"/>
              <a:t> </a:t>
            </a:r>
            <a:r>
              <a:rPr lang="nl-NL" sz="2000" b="1" dirty="0" err="1" smtClean="0"/>
              <a:t>Kx</a:t>
            </a:r>
            <a:r>
              <a:rPr lang="nl-NL" sz="2000" b="1" dirty="0" smtClean="0"/>
              <a:t>)          </a:t>
            </a:r>
            <a:r>
              <a:rPr lang="nl-NL" sz="2000" b="1" dirty="0" err="1" smtClean="0"/>
              <a:t>Kx</a:t>
            </a:r>
            <a:r>
              <a:rPr lang="nl-NL" sz="2000" b="1" dirty="0" smtClean="0"/>
              <a:t>: </a:t>
            </a:r>
            <a:r>
              <a:rPr lang="nl-NL" sz="2000" dirty="0" smtClean="0"/>
              <a:t>x is kantonrechter</a:t>
            </a:r>
          </a:p>
          <a:p>
            <a:pPr marL="342900" lvl="0" indent="-342900">
              <a:spcBef>
                <a:spcPct val="20000"/>
              </a:spcBef>
              <a:defRPr/>
            </a:pPr>
            <a:r>
              <a:rPr lang="nl-NL" sz="2000" b="1" dirty="0" smtClean="0"/>
              <a:t>		              </a:t>
            </a:r>
            <a:r>
              <a:rPr lang="nl-NL" sz="2000" b="1" dirty="0" err="1" smtClean="0"/>
              <a:t>Vx</a:t>
            </a:r>
            <a:r>
              <a:rPr lang="nl-NL" sz="2000" b="1" dirty="0" smtClean="0"/>
              <a:t>: </a:t>
            </a:r>
            <a:r>
              <a:rPr lang="nl-NL" sz="2000" dirty="0" smtClean="0"/>
              <a:t>x is een vrouw	</a:t>
            </a:r>
          </a:p>
          <a:p>
            <a:pPr marL="342900" lvl="0" indent="-342900">
              <a:spcBef>
                <a:spcPct val="20000"/>
              </a:spcBef>
              <a:defRPr/>
            </a:pPr>
            <a:r>
              <a:rPr lang="nl-NL" sz="2000" dirty="0" smtClean="0"/>
              <a:t>		</a:t>
            </a:r>
            <a:endParaRPr lang="nl-NL" dirty="0" smtClean="0"/>
          </a:p>
        </p:txBody>
      </p:sp>
      <p:sp>
        <p:nvSpPr>
          <p:cNvPr id="13" name="TextBox 12"/>
          <p:cNvSpPr txBox="1"/>
          <p:nvPr/>
        </p:nvSpPr>
        <p:spPr>
          <a:xfrm>
            <a:off x="4860032" y="5951021"/>
            <a:ext cx="4067944" cy="646331"/>
          </a:xfrm>
          <a:prstGeom prst="rect">
            <a:avLst/>
          </a:prstGeom>
          <a:noFill/>
        </p:spPr>
        <p:txBody>
          <a:bodyPr wrap="square" rtlCol="0">
            <a:spAutoFit/>
          </a:bodyPr>
          <a:lstStyle/>
          <a:p>
            <a:r>
              <a:rPr lang="nl-NL" dirty="0" smtClean="0"/>
              <a:t>Deze tweede vertaling doet meer recht     aan de semantiek van de uitspraak</a:t>
            </a:r>
            <a:endParaRPr lang="nl-NL" dirty="0"/>
          </a:p>
        </p:txBody>
      </p:sp>
      <p:sp>
        <p:nvSpPr>
          <p:cNvPr id="14" name="Content Placeholder 2"/>
          <p:cNvSpPr txBox="1">
            <a:spLocks/>
          </p:cNvSpPr>
          <p:nvPr/>
        </p:nvSpPr>
        <p:spPr>
          <a:xfrm>
            <a:off x="35496" y="4725144"/>
            <a:ext cx="5256583" cy="720080"/>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endParaRPr lang="nl-NL" sz="800" dirty="0" smtClean="0"/>
          </a:p>
          <a:p>
            <a:pPr marL="342900" lvl="0" indent="-342900">
              <a:spcBef>
                <a:spcPct val="20000"/>
              </a:spcBef>
              <a:defRPr/>
            </a:pPr>
            <a:r>
              <a:rPr lang="nl-NL" sz="2000" dirty="0" smtClean="0"/>
              <a:t>	</a:t>
            </a:r>
            <a:r>
              <a:rPr lang="nl-NL" sz="2000" b="1" dirty="0" smtClean="0"/>
              <a:t>Va</a:t>
            </a:r>
            <a:r>
              <a:rPr lang="nl-NL" sz="2000" dirty="0" smtClean="0"/>
              <a:t>	              </a:t>
            </a:r>
            <a:r>
              <a:rPr lang="nl-NL" sz="2000" b="1" dirty="0" smtClean="0"/>
              <a:t>a</a:t>
            </a:r>
            <a:r>
              <a:rPr lang="nl-NL" sz="2000" dirty="0" smtClean="0"/>
              <a:t>: De kantonrechter   </a:t>
            </a:r>
          </a:p>
          <a:p>
            <a:pPr marL="342900" lvl="0" indent="-342900">
              <a:spcBef>
                <a:spcPct val="20000"/>
              </a:spcBef>
              <a:defRPr/>
            </a:pPr>
            <a:r>
              <a:rPr lang="nl-NL" sz="2000" dirty="0" smtClean="0"/>
              <a:t>		              </a:t>
            </a:r>
            <a:r>
              <a:rPr lang="nl-NL" sz="2000" b="1" dirty="0" err="1" smtClean="0"/>
              <a:t>Vx</a:t>
            </a:r>
            <a:r>
              <a:rPr lang="nl-NL" sz="2000" dirty="0" smtClean="0"/>
              <a:t>: x is een vrouw</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animEffect transition="in" filter="fade">
                                      <p:cBhvr>
                                        <p:cTn id="17" dur="2000"/>
                                        <p:tgtEl>
                                          <p:spTgt spid="14">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xEl>
                                              <p:pRg st="1" end="1"/>
                                            </p:txEl>
                                          </p:spTgt>
                                        </p:tgtEl>
                                        <p:attrNameLst>
                                          <p:attrName>style.visibility</p:attrName>
                                        </p:attrNameLst>
                                      </p:cBhvr>
                                      <p:to>
                                        <p:strVal val="visible"/>
                                      </p:to>
                                    </p:set>
                                    <p:animEffect transition="in" filter="fade">
                                      <p:cBhvr>
                                        <p:cTn id="20" dur="2000"/>
                                        <p:tgtEl>
                                          <p:spTgt spid="14">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xEl>
                                              <p:pRg st="2" end="2"/>
                                            </p:txEl>
                                          </p:spTgt>
                                        </p:tgtEl>
                                        <p:attrNameLst>
                                          <p:attrName>style.visibility</p:attrName>
                                        </p:attrNameLst>
                                      </p:cBhvr>
                                      <p:to>
                                        <p:strVal val="visible"/>
                                      </p:to>
                                    </p:set>
                                    <p:animEffect transition="in" filter="fade">
                                      <p:cBhvr>
                                        <p:cTn id="23" dur="2000"/>
                                        <p:tgtEl>
                                          <p:spTgt spid="1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fade">
                                      <p:cBhvr>
                                        <p:cTn id="28" dur="2000"/>
                                        <p:tgtEl>
                                          <p:spTgt spid="8">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
                                            <p:txEl>
                                              <p:pRg st="2" end="2"/>
                                            </p:txEl>
                                          </p:spTgt>
                                        </p:tgtEl>
                                        <p:attrNameLst>
                                          <p:attrName>style.visibility</p:attrName>
                                        </p:attrNameLst>
                                      </p:cBhvr>
                                      <p:to>
                                        <p:strVal val="visible"/>
                                      </p:to>
                                    </p:set>
                                    <p:animEffect transition="in" filter="fade">
                                      <p:cBhvr>
                                        <p:cTn id="31" dur="2000"/>
                                        <p:tgtEl>
                                          <p:spTgt spid="8">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xEl>
                                              <p:pRg st="3" end="3"/>
                                            </p:txEl>
                                          </p:spTgt>
                                        </p:tgtEl>
                                        <p:attrNameLst>
                                          <p:attrName>style.visibility</p:attrName>
                                        </p:attrNameLst>
                                      </p:cBhvr>
                                      <p:to>
                                        <p:strVal val="visible"/>
                                      </p:to>
                                    </p:set>
                                    <p:animEffect transition="in" filter="fade">
                                      <p:cBhvr>
                                        <p:cTn id="34" dur="2000"/>
                                        <p:tgtEl>
                                          <p:spTgt spid="8">
                                            <p:txEl>
                                              <p:pRg st="3" end="3"/>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
                                            <p:txEl>
                                              <p:pRg st="4" end="4"/>
                                            </p:txEl>
                                          </p:spTgt>
                                        </p:tgtEl>
                                        <p:attrNameLst>
                                          <p:attrName>style.visibility</p:attrName>
                                        </p:attrNameLst>
                                      </p:cBhvr>
                                      <p:to>
                                        <p:strVal val="visible"/>
                                      </p:to>
                                    </p:set>
                                    <p:animEffect transition="in" filter="fade">
                                      <p:cBhvr>
                                        <p:cTn id="37" dur="2000"/>
                                        <p:tgtEl>
                                          <p:spTgt spid="8">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Effect transition="in" filter="fade">
                                      <p:cBhvr>
                                        <p:cTn id="42"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7" grpId="0" build="allAtOnce"/>
      <p:bldP spid="8" grpId="0" build="allAtOnce"/>
      <p:bldP spid="13" grpId="0" build="allAtOnce"/>
      <p:bldP spid="14" grpId="0" build="allAtOnce"/>
    </p:bldLst>
  </p:timing>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Meer voorbeelden</a:t>
            </a:r>
            <a:endParaRPr lang="nl-NL" sz="3600" dirty="0"/>
          </a:p>
        </p:txBody>
      </p:sp>
      <p:sp>
        <p:nvSpPr>
          <p:cNvPr id="9" name="Content Placeholder 2"/>
          <p:cNvSpPr txBox="1">
            <a:spLocks/>
          </p:cNvSpPr>
          <p:nvPr/>
        </p:nvSpPr>
        <p:spPr>
          <a:xfrm>
            <a:off x="179512" y="1412776"/>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1" name="TextBox 10"/>
          <p:cNvSpPr txBox="1"/>
          <p:nvPr/>
        </p:nvSpPr>
        <p:spPr>
          <a:xfrm>
            <a:off x="251521" y="1556792"/>
            <a:ext cx="3096343" cy="646331"/>
          </a:xfrm>
          <a:prstGeom prst="rect">
            <a:avLst/>
          </a:prstGeom>
          <a:noFill/>
        </p:spPr>
        <p:txBody>
          <a:bodyPr wrap="square" rtlCol="0">
            <a:spAutoFit/>
          </a:bodyPr>
          <a:lstStyle/>
          <a:p>
            <a:r>
              <a:rPr lang="nl-NL" dirty="0" smtClean="0"/>
              <a:t>Frans Weisglas is de voorzitter                     van de Tweede Kamer</a:t>
            </a:r>
            <a:endParaRPr lang="nl-NL" dirty="0"/>
          </a:p>
        </p:txBody>
      </p:sp>
      <p:sp>
        <p:nvSpPr>
          <p:cNvPr id="12" name="Rectangle 11"/>
          <p:cNvSpPr/>
          <p:nvPr/>
        </p:nvSpPr>
        <p:spPr>
          <a:xfrm>
            <a:off x="3892504" y="1556792"/>
            <a:ext cx="1358064" cy="400110"/>
          </a:xfrm>
          <a:prstGeom prst="rect">
            <a:avLst/>
          </a:prstGeom>
        </p:spPr>
        <p:txBody>
          <a:bodyPr wrap="none">
            <a:spAutoFit/>
          </a:bodyPr>
          <a:lstStyle/>
          <a:p>
            <a:r>
              <a:rPr lang="nl-NL" sz="2000" b="1" dirty="0" smtClean="0"/>
              <a:t>w = (</a:t>
            </a:r>
            <a:r>
              <a:rPr lang="el-GR" sz="2000" b="1" dirty="0" smtClean="0"/>
              <a:t>ι</a:t>
            </a:r>
            <a:r>
              <a:rPr lang="nl-NL" sz="2000" b="1" dirty="0" smtClean="0"/>
              <a:t>x</a:t>
            </a:r>
            <a:r>
              <a:rPr lang="nl-NL" sz="2000" dirty="0" smtClean="0"/>
              <a:t> </a:t>
            </a:r>
            <a:r>
              <a:rPr lang="nl-NL" sz="2000" b="1" dirty="0" err="1" smtClean="0"/>
              <a:t>Vx</a:t>
            </a:r>
            <a:r>
              <a:rPr lang="nl-NL" sz="2000" b="1" dirty="0" smtClean="0"/>
              <a:t>) </a:t>
            </a:r>
            <a:endParaRPr lang="nl-NL" sz="2000" dirty="0"/>
          </a:p>
        </p:txBody>
      </p:sp>
      <p:sp>
        <p:nvSpPr>
          <p:cNvPr id="15" name="Rectangle 14"/>
          <p:cNvSpPr/>
          <p:nvPr/>
        </p:nvSpPr>
        <p:spPr>
          <a:xfrm>
            <a:off x="5832648" y="1484784"/>
            <a:ext cx="2987824" cy="923330"/>
          </a:xfrm>
          <a:prstGeom prst="rect">
            <a:avLst/>
          </a:prstGeom>
        </p:spPr>
        <p:txBody>
          <a:bodyPr wrap="square">
            <a:spAutoFit/>
          </a:bodyPr>
          <a:lstStyle/>
          <a:p>
            <a:pPr marL="342900" lvl="0" indent="-342900">
              <a:spcBef>
                <a:spcPct val="20000"/>
              </a:spcBef>
              <a:defRPr/>
            </a:pPr>
            <a:r>
              <a:rPr lang="nl-NL" dirty="0" smtClean="0"/>
              <a:t>       </a:t>
            </a:r>
            <a:r>
              <a:rPr lang="nl-NL" b="1" dirty="0" smtClean="0"/>
              <a:t>w</a:t>
            </a:r>
            <a:r>
              <a:rPr lang="nl-NL" dirty="0" smtClean="0"/>
              <a:t>:  Frans Weisglas</a:t>
            </a:r>
            <a:br>
              <a:rPr lang="nl-NL" dirty="0" smtClean="0"/>
            </a:br>
            <a:r>
              <a:rPr lang="nl-NL" b="1" dirty="0" err="1" smtClean="0"/>
              <a:t>Vx</a:t>
            </a:r>
            <a:r>
              <a:rPr lang="nl-NL" dirty="0" smtClean="0"/>
              <a:t>: x is voorzitter van                                               de Tweede kamer</a:t>
            </a:r>
            <a:endParaRPr lang="nl-NL" dirty="0"/>
          </a:p>
        </p:txBody>
      </p:sp>
      <p:sp>
        <p:nvSpPr>
          <p:cNvPr id="16" name="Content Placeholder 2"/>
          <p:cNvSpPr txBox="1">
            <a:spLocks/>
          </p:cNvSpPr>
          <p:nvPr/>
        </p:nvSpPr>
        <p:spPr>
          <a:xfrm>
            <a:off x="251520" y="2505670"/>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7" name="TextBox 16"/>
          <p:cNvSpPr txBox="1"/>
          <p:nvPr/>
        </p:nvSpPr>
        <p:spPr>
          <a:xfrm>
            <a:off x="251521" y="2649686"/>
            <a:ext cx="3096343" cy="646331"/>
          </a:xfrm>
          <a:prstGeom prst="rect">
            <a:avLst/>
          </a:prstGeom>
          <a:noFill/>
        </p:spPr>
        <p:txBody>
          <a:bodyPr wrap="square" rtlCol="0">
            <a:spAutoFit/>
          </a:bodyPr>
          <a:lstStyle/>
          <a:p>
            <a:r>
              <a:rPr lang="nl-NL" dirty="0" smtClean="0"/>
              <a:t>De president is geen democraat</a:t>
            </a:r>
            <a:endParaRPr lang="nl-NL" dirty="0"/>
          </a:p>
        </p:txBody>
      </p:sp>
      <p:sp>
        <p:nvSpPr>
          <p:cNvPr id="18" name="Rectangle 17"/>
          <p:cNvSpPr/>
          <p:nvPr/>
        </p:nvSpPr>
        <p:spPr>
          <a:xfrm>
            <a:off x="3908788" y="2721694"/>
            <a:ext cx="1197764" cy="400110"/>
          </a:xfrm>
          <a:prstGeom prst="rect">
            <a:avLst/>
          </a:prstGeom>
        </p:spPr>
        <p:txBody>
          <a:bodyPr wrap="none">
            <a:spAutoFit/>
          </a:bodyPr>
          <a:lstStyle/>
          <a:p>
            <a:r>
              <a:rPr lang="nl-NL" sz="2000" b="1" dirty="0" smtClean="0"/>
              <a:t>¬D(</a:t>
            </a:r>
            <a:r>
              <a:rPr lang="el-GR" sz="2000" b="1" dirty="0" smtClean="0"/>
              <a:t>ι</a:t>
            </a:r>
            <a:r>
              <a:rPr lang="nl-NL" sz="2000" b="1" dirty="0" smtClean="0"/>
              <a:t>x</a:t>
            </a:r>
            <a:r>
              <a:rPr lang="nl-NL" sz="2000" dirty="0" smtClean="0"/>
              <a:t> </a:t>
            </a:r>
            <a:r>
              <a:rPr lang="nl-NL" sz="2000" b="1" dirty="0" err="1" smtClean="0"/>
              <a:t>Px</a:t>
            </a:r>
            <a:r>
              <a:rPr lang="nl-NL" sz="2000" b="1" dirty="0" smtClean="0"/>
              <a:t>) </a:t>
            </a:r>
            <a:endParaRPr lang="nl-NL" sz="2000" dirty="0"/>
          </a:p>
        </p:txBody>
      </p:sp>
      <p:sp>
        <p:nvSpPr>
          <p:cNvPr id="19" name="Rectangle 18"/>
          <p:cNvSpPr/>
          <p:nvPr/>
        </p:nvSpPr>
        <p:spPr>
          <a:xfrm>
            <a:off x="5796136" y="2577678"/>
            <a:ext cx="3131840"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Dx</a:t>
            </a:r>
            <a:r>
              <a:rPr lang="nl-NL" dirty="0" smtClean="0"/>
              <a:t>:  x is democraat</a:t>
            </a:r>
            <a:br>
              <a:rPr lang="nl-NL" dirty="0" smtClean="0"/>
            </a:br>
            <a:r>
              <a:rPr lang="nl-NL" b="1" dirty="0" err="1" smtClean="0"/>
              <a:t>Px</a:t>
            </a:r>
            <a:r>
              <a:rPr lang="nl-NL" dirty="0" smtClean="0"/>
              <a:t>: x is president</a:t>
            </a:r>
            <a:endParaRPr lang="nl-NL" dirty="0"/>
          </a:p>
        </p:txBody>
      </p:sp>
      <p:sp>
        <p:nvSpPr>
          <p:cNvPr id="20" name="Content Placeholder 2"/>
          <p:cNvSpPr txBox="1">
            <a:spLocks/>
          </p:cNvSpPr>
          <p:nvPr/>
        </p:nvSpPr>
        <p:spPr>
          <a:xfrm>
            <a:off x="251520" y="3356992"/>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21" name="TextBox 20"/>
          <p:cNvSpPr txBox="1"/>
          <p:nvPr/>
        </p:nvSpPr>
        <p:spPr>
          <a:xfrm>
            <a:off x="251520" y="3501008"/>
            <a:ext cx="3096343" cy="646331"/>
          </a:xfrm>
          <a:prstGeom prst="rect">
            <a:avLst/>
          </a:prstGeom>
          <a:noFill/>
        </p:spPr>
        <p:txBody>
          <a:bodyPr wrap="square" rtlCol="0">
            <a:spAutoFit/>
          </a:bodyPr>
          <a:lstStyle/>
          <a:p>
            <a:r>
              <a:rPr lang="nl-NL" dirty="0" smtClean="0"/>
              <a:t>De president is de opperbevelhebber</a:t>
            </a:r>
            <a:endParaRPr lang="nl-NL" dirty="0"/>
          </a:p>
        </p:txBody>
      </p:sp>
      <p:sp>
        <p:nvSpPr>
          <p:cNvPr id="22" name="Rectangle 21"/>
          <p:cNvSpPr/>
          <p:nvPr/>
        </p:nvSpPr>
        <p:spPr>
          <a:xfrm>
            <a:off x="3707904" y="3573016"/>
            <a:ext cx="1686680" cy="400110"/>
          </a:xfrm>
          <a:prstGeom prst="rect">
            <a:avLst/>
          </a:prstGeom>
        </p:spPr>
        <p:txBody>
          <a:bodyPr wrap="none">
            <a:spAutoFit/>
          </a:bodyPr>
          <a:lstStyle/>
          <a:p>
            <a:r>
              <a:rPr lang="nl-NL" sz="2000" b="1" dirty="0" smtClean="0"/>
              <a:t>(</a:t>
            </a:r>
            <a:r>
              <a:rPr lang="el-GR" sz="2000" b="1" dirty="0" smtClean="0"/>
              <a:t>ι</a:t>
            </a:r>
            <a:r>
              <a:rPr lang="nl-NL" sz="2000" b="1" dirty="0" smtClean="0"/>
              <a:t>x</a:t>
            </a:r>
            <a:r>
              <a:rPr lang="nl-NL" sz="2000" dirty="0" smtClean="0"/>
              <a:t> </a:t>
            </a:r>
            <a:r>
              <a:rPr lang="nl-NL" sz="2000" b="1" dirty="0" err="1" smtClean="0"/>
              <a:t>Px</a:t>
            </a:r>
            <a:r>
              <a:rPr lang="nl-NL" sz="2000" b="1" dirty="0" smtClean="0"/>
              <a:t>)=(</a:t>
            </a:r>
            <a:r>
              <a:rPr lang="el-GR" sz="2000" b="1" dirty="0" smtClean="0"/>
              <a:t>ι</a:t>
            </a:r>
            <a:r>
              <a:rPr lang="nl-NL" sz="2000" b="1" dirty="0" err="1" smtClean="0"/>
              <a:t>yOy</a:t>
            </a:r>
            <a:r>
              <a:rPr lang="nl-NL" sz="2000" b="1" dirty="0" smtClean="0"/>
              <a:t>) </a:t>
            </a:r>
            <a:endParaRPr lang="nl-NL" sz="2000" dirty="0"/>
          </a:p>
        </p:txBody>
      </p:sp>
      <p:sp>
        <p:nvSpPr>
          <p:cNvPr id="23" name="Rectangle 22"/>
          <p:cNvSpPr/>
          <p:nvPr/>
        </p:nvSpPr>
        <p:spPr>
          <a:xfrm>
            <a:off x="5796136" y="3429000"/>
            <a:ext cx="3131840"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Px</a:t>
            </a:r>
            <a:r>
              <a:rPr lang="nl-NL" dirty="0" smtClean="0"/>
              <a:t>:  x is president                     </a:t>
            </a:r>
            <a:r>
              <a:rPr lang="nl-NL" b="1" dirty="0" err="1" smtClean="0"/>
              <a:t>Oy</a:t>
            </a:r>
            <a:r>
              <a:rPr lang="nl-NL" dirty="0" smtClean="0"/>
              <a:t>: y is opperbevelhebber</a:t>
            </a:r>
            <a:endParaRPr lang="nl-NL" dirty="0"/>
          </a:p>
        </p:txBody>
      </p:sp>
      <p:sp>
        <p:nvSpPr>
          <p:cNvPr id="24" name="Rectangle 23"/>
          <p:cNvSpPr/>
          <p:nvPr/>
        </p:nvSpPr>
        <p:spPr>
          <a:xfrm>
            <a:off x="3738400" y="4509120"/>
            <a:ext cx="1800200" cy="400110"/>
          </a:xfrm>
          <a:prstGeom prst="rect">
            <a:avLst/>
          </a:prstGeom>
        </p:spPr>
        <p:txBody>
          <a:bodyPr wrap="square">
            <a:spAutoFit/>
          </a:bodyPr>
          <a:lstStyle/>
          <a:p>
            <a:r>
              <a:rPr lang="el-GR" sz="2000" b="1" dirty="0" smtClean="0"/>
              <a:t>(ι</a:t>
            </a:r>
            <a:r>
              <a:rPr lang="nl-NL" sz="2000" b="1" dirty="0" smtClean="0"/>
              <a:t>x </a:t>
            </a:r>
            <a:r>
              <a:rPr lang="nl-NL" sz="2000" b="1" dirty="0" err="1" smtClean="0"/>
              <a:t>Mx</a:t>
            </a:r>
            <a:r>
              <a:rPr lang="nl-NL" sz="2000" b="1" dirty="0" smtClean="0"/>
              <a:t>)≠(</a:t>
            </a:r>
            <a:r>
              <a:rPr lang="el-GR" sz="2000" b="1" dirty="0" smtClean="0"/>
              <a:t>ι</a:t>
            </a:r>
            <a:r>
              <a:rPr lang="nl-NL" sz="2000" b="1" dirty="0" smtClean="0"/>
              <a:t>y </a:t>
            </a:r>
            <a:r>
              <a:rPr lang="nl-NL" sz="2000" b="1" dirty="0" err="1" smtClean="0"/>
              <a:t>Ry</a:t>
            </a:r>
            <a:r>
              <a:rPr lang="nl-NL" sz="2000" b="1" dirty="0" smtClean="0"/>
              <a:t>)</a:t>
            </a:r>
            <a:endParaRPr lang="nl-NL" b="1" dirty="0" smtClean="0"/>
          </a:p>
        </p:txBody>
      </p:sp>
      <p:sp>
        <p:nvSpPr>
          <p:cNvPr id="25" name="TextBox 24"/>
          <p:cNvSpPr txBox="1"/>
          <p:nvPr/>
        </p:nvSpPr>
        <p:spPr>
          <a:xfrm>
            <a:off x="251521" y="4366845"/>
            <a:ext cx="3096343" cy="923330"/>
          </a:xfrm>
          <a:prstGeom prst="rect">
            <a:avLst/>
          </a:prstGeom>
          <a:noFill/>
        </p:spPr>
        <p:txBody>
          <a:bodyPr wrap="square" rtlCol="0">
            <a:spAutoFit/>
          </a:bodyPr>
          <a:lstStyle/>
          <a:p>
            <a:r>
              <a:rPr lang="nl-NL" dirty="0" smtClean="0"/>
              <a:t>De minister president is niet  de voorzitter van de Raad           van State</a:t>
            </a:r>
            <a:endParaRPr lang="nl-NL" dirty="0"/>
          </a:p>
        </p:txBody>
      </p:sp>
      <p:sp>
        <p:nvSpPr>
          <p:cNvPr id="27" name="Rectangle 26"/>
          <p:cNvSpPr/>
          <p:nvPr/>
        </p:nvSpPr>
        <p:spPr>
          <a:xfrm>
            <a:off x="6156176" y="4377878"/>
            <a:ext cx="2664296" cy="923330"/>
          </a:xfrm>
          <a:prstGeom prst="rect">
            <a:avLst/>
          </a:prstGeom>
        </p:spPr>
        <p:txBody>
          <a:bodyPr wrap="square">
            <a:spAutoFit/>
          </a:bodyPr>
          <a:lstStyle/>
          <a:p>
            <a:r>
              <a:rPr lang="nl-NL" b="1" dirty="0" err="1" smtClean="0"/>
              <a:t>Mx</a:t>
            </a:r>
            <a:r>
              <a:rPr lang="nl-NL" dirty="0" smtClean="0"/>
              <a:t>: x is minister-president</a:t>
            </a:r>
          </a:p>
          <a:p>
            <a:r>
              <a:rPr lang="nl-NL" b="1" dirty="0" err="1" smtClean="0"/>
              <a:t>Ry</a:t>
            </a:r>
            <a:r>
              <a:rPr lang="nl-NL" dirty="0" smtClean="0"/>
              <a:t>: y is voorzitter van                                                         de Raad van State.</a:t>
            </a:r>
            <a:endParaRPr lang="nl-NL" dirty="0"/>
          </a:p>
        </p:txBody>
      </p:sp>
      <p:sp>
        <p:nvSpPr>
          <p:cNvPr id="28" name="Rectangle 27"/>
          <p:cNvSpPr/>
          <p:nvPr/>
        </p:nvSpPr>
        <p:spPr>
          <a:xfrm>
            <a:off x="3779912" y="5549170"/>
            <a:ext cx="4572000" cy="400110"/>
          </a:xfrm>
          <a:prstGeom prst="rect">
            <a:avLst/>
          </a:prstGeom>
        </p:spPr>
        <p:txBody>
          <a:bodyPr>
            <a:spAutoFit/>
          </a:bodyPr>
          <a:lstStyle/>
          <a:p>
            <a:r>
              <a:rPr lang="nl-NL" sz="2000" b="1" dirty="0" smtClean="0"/>
              <a:t>R(</a:t>
            </a:r>
            <a:r>
              <a:rPr lang="el-GR" sz="2000" b="1" dirty="0" smtClean="0"/>
              <a:t>ι</a:t>
            </a:r>
            <a:r>
              <a:rPr lang="nl-NL" sz="2000" b="1" dirty="0" smtClean="0"/>
              <a:t>x </a:t>
            </a:r>
            <a:r>
              <a:rPr lang="nl-NL" sz="2000" b="1" dirty="0" err="1" smtClean="0"/>
              <a:t>Bx</a:t>
            </a:r>
            <a:r>
              <a:rPr lang="nl-NL" sz="2000" b="1" dirty="0" smtClean="0"/>
              <a:t>)(</a:t>
            </a:r>
            <a:r>
              <a:rPr lang="el-GR" sz="2000" b="1" dirty="0" smtClean="0"/>
              <a:t>ι</a:t>
            </a:r>
            <a:r>
              <a:rPr lang="nl-NL" sz="2000" b="1" dirty="0" smtClean="0"/>
              <a:t>y </a:t>
            </a:r>
            <a:r>
              <a:rPr lang="nl-NL" sz="2000" b="1" dirty="0" err="1" smtClean="0"/>
              <a:t>Ky</a:t>
            </a:r>
            <a:r>
              <a:rPr lang="nl-NL" sz="2000" b="1" dirty="0" smtClean="0"/>
              <a:t>)</a:t>
            </a:r>
            <a:endParaRPr lang="nl-NL" b="1" dirty="0" smtClean="0"/>
          </a:p>
        </p:txBody>
      </p:sp>
      <p:sp>
        <p:nvSpPr>
          <p:cNvPr id="29" name="Rectangle 28"/>
          <p:cNvSpPr/>
          <p:nvPr/>
        </p:nvSpPr>
        <p:spPr>
          <a:xfrm>
            <a:off x="6156176" y="5457998"/>
            <a:ext cx="2592288" cy="923330"/>
          </a:xfrm>
          <a:prstGeom prst="rect">
            <a:avLst/>
          </a:prstGeom>
        </p:spPr>
        <p:txBody>
          <a:bodyPr wrap="square">
            <a:spAutoFit/>
          </a:bodyPr>
          <a:lstStyle/>
          <a:p>
            <a:r>
              <a:rPr lang="nl-NL" b="1" dirty="0" err="1" smtClean="0"/>
              <a:t>Rxy</a:t>
            </a:r>
            <a:r>
              <a:rPr lang="nl-NL" dirty="0" smtClean="0"/>
              <a:t>: x is rijker dan y</a:t>
            </a:r>
          </a:p>
          <a:p>
            <a:r>
              <a:rPr lang="nl-NL" b="1" dirty="0" err="1" smtClean="0"/>
              <a:t>Bx</a:t>
            </a:r>
            <a:r>
              <a:rPr lang="nl-NL" dirty="0" smtClean="0"/>
              <a:t>: x is emir van Brunei</a:t>
            </a:r>
          </a:p>
          <a:p>
            <a:r>
              <a:rPr lang="nl-NL" b="1" dirty="0" err="1" smtClean="0"/>
              <a:t>Ky</a:t>
            </a:r>
            <a:r>
              <a:rPr lang="nl-NL" dirty="0" smtClean="0"/>
              <a:t>: y is koning</a:t>
            </a:r>
            <a:endParaRPr lang="nl-NL" dirty="0"/>
          </a:p>
        </p:txBody>
      </p:sp>
      <p:sp>
        <p:nvSpPr>
          <p:cNvPr id="30" name="TextBox 29"/>
          <p:cNvSpPr txBox="1"/>
          <p:nvPr/>
        </p:nvSpPr>
        <p:spPr>
          <a:xfrm>
            <a:off x="251521" y="5373216"/>
            <a:ext cx="3096343" cy="646331"/>
          </a:xfrm>
          <a:prstGeom prst="rect">
            <a:avLst/>
          </a:prstGeom>
          <a:noFill/>
        </p:spPr>
        <p:txBody>
          <a:bodyPr wrap="square" rtlCol="0">
            <a:spAutoFit/>
          </a:bodyPr>
          <a:lstStyle/>
          <a:p>
            <a:r>
              <a:rPr lang="nl-NL" dirty="0" smtClean="0"/>
              <a:t>De emir van Brunei is rijker   dan de koning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fade">
                                      <p:cBhvr>
                                        <p:cTn id="12" dur="2000"/>
                                        <p:tgtEl>
                                          <p:spTgt spid="12">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2000"/>
                                        <p:tgtEl>
                                          <p:spTgt spid="1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xEl>
                                              <p:pRg st="0" end="0"/>
                                            </p:txEl>
                                          </p:spTgt>
                                        </p:tgtEl>
                                        <p:attrNameLst>
                                          <p:attrName>style.visibility</p:attrName>
                                        </p:attrNameLst>
                                      </p:cBhvr>
                                      <p:to>
                                        <p:strVal val="visible"/>
                                      </p:to>
                                    </p:set>
                                    <p:animEffect transition="in" filter="fade">
                                      <p:cBhvr>
                                        <p:cTn id="20" dur="2000"/>
                                        <p:tgtEl>
                                          <p:spTgt spid="17">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8">
                                            <p:txEl>
                                              <p:pRg st="0" end="0"/>
                                            </p:txEl>
                                          </p:spTgt>
                                        </p:tgtEl>
                                        <p:attrNameLst>
                                          <p:attrName>style.visibility</p:attrName>
                                        </p:attrNameLst>
                                      </p:cBhvr>
                                      <p:to>
                                        <p:strVal val="visible"/>
                                      </p:to>
                                    </p:set>
                                    <p:animEffect transition="in" filter="fade">
                                      <p:cBhvr>
                                        <p:cTn id="25" dur="2000"/>
                                        <p:tgtEl>
                                          <p:spTgt spid="1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xEl>
                                              <p:pRg st="0" end="0"/>
                                            </p:txEl>
                                          </p:spTgt>
                                        </p:tgtEl>
                                        <p:attrNameLst>
                                          <p:attrName>style.visibility</p:attrName>
                                        </p:attrNameLst>
                                      </p:cBhvr>
                                      <p:to>
                                        <p:strVal val="visible"/>
                                      </p:to>
                                    </p:set>
                                    <p:animEffect transition="in" filter="fade">
                                      <p:cBhvr>
                                        <p:cTn id="28" dur="2000"/>
                                        <p:tgtEl>
                                          <p:spTgt spid="19">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xEl>
                                              <p:pRg st="0" end="0"/>
                                            </p:txEl>
                                          </p:spTgt>
                                        </p:tgtEl>
                                        <p:attrNameLst>
                                          <p:attrName>style.visibility</p:attrName>
                                        </p:attrNameLst>
                                      </p:cBhvr>
                                      <p:to>
                                        <p:strVal val="visible"/>
                                      </p:to>
                                    </p:set>
                                    <p:animEffect transition="in" filter="fade">
                                      <p:cBhvr>
                                        <p:cTn id="33" dur="2000"/>
                                        <p:tgtEl>
                                          <p:spTgt spid="21">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2">
                                            <p:txEl>
                                              <p:pRg st="0" end="0"/>
                                            </p:txEl>
                                          </p:spTgt>
                                        </p:tgtEl>
                                        <p:attrNameLst>
                                          <p:attrName>style.visibility</p:attrName>
                                        </p:attrNameLst>
                                      </p:cBhvr>
                                      <p:to>
                                        <p:strVal val="visible"/>
                                      </p:to>
                                    </p:set>
                                    <p:animEffect transition="in" filter="fade">
                                      <p:cBhvr>
                                        <p:cTn id="38" dur="2000"/>
                                        <p:tgtEl>
                                          <p:spTgt spid="22">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xEl>
                                              <p:pRg st="0" end="0"/>
                                            </p:txEl>
                                          </p:spTgt>
                                        </p:tgtEl>
                                        <p:attrNameLst>
                                          <p:attrName>style.visibility</p:attrName>
                                        </p:attrNameLst>
                                      </p:cBhvr>
                                      <p:to>
                                        <p:strVal val="visible"/>
                                      </p:to>
                                    </p:set>
                                    <p:animEffect transition="in" filter="fade">
                                      <p:cBhvr>
                                        <p:cTn id="41" dur="2000"/>
                                        <p:tgtEl>
                                          <p:spTgt spid="23">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5">
                                            <p:txEl>
                                              <p:pRg st="0" end="0"/>
                                            </p:txEl>
                                          </p:spTgt>
                                        </p:tgtEl>
                                        <p:attrNameLst>
                                          <p:attrName>style.visibility</p:attrName>
                                        </p:attrNameLst>
                                      </p:cBhvr>
                                      <p:to>
                                        <p:strVal val="visible"/>
                                      </p:to>
                                    </p:set>
                                    <p:animEffect transition="in" filter="fade">
                                      <p:cBhvr>
                                        <p:cTn id="46" dur="2000"/>
                                        <p:tgtEl>
                                          <p:spTgt spid="25">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4">
                                            <p:txEl>
                                              <p:pRg st="0" end="0"/>
                                            </p:txEl>
                                          </p:spTgt>
                                        </p:tgtEl>
                                        <p:attrNameLst>
                                          <p:attrName>style.visibility</p:attrName>
                                        </p:attrNameLst>
                                      </p:cBhvr>
                                      <p:to>
                                        <p:strVal val="visible"/>
                                      </p:to>
                                    </p:set>
                                    <p:animEffect transition="in" filter="fade">
                                      <p:cBhvr>
                                        <p:cTn id="51" dur="2000"/>
                                        <p:tgtEl>
                                          <p:spTgt spid="24">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xEl>
                                              <p:pRg st="0" end="0"/>
                                            </p:txEl>
                                          </p:spTgt>
                                        </p:tgtEl>
                                        <p:attrNameLst>
                                          <p:attrName>style.visibility</p:attrName>
                                        </p:attrNameLst>
                                      </p:cBhvr>
                                      <p:to>
                                        <p:strVal val="visible"/>
                                      </p:to>
                                    </p:set>
                                    <p:animEffect transition="in" filter="fade">
                                      <p:cBhvr>
                                        <p:cTn id="54" dur="2000"/>
                                        <p:tgtEl>
                                          <p:spTgt spid="27">
                                            <p:txEl>
                                              <p:pRg st="0" end="0"/>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7">
                                            <p:txEl>
                                              <p:pRg st="1" end="1"/>
                                            </p:txEl>
                                          </p:spTgt>
                                        </p:tgtEl>
                                        <p:attrNameLst>
                                          <p:attrName>style.visibility</p:attrName>
                                        </p:attrNameLst>
                                      </p:cBhvr>
                                      <p:to>
                                        <p:strVal val="visible"/>
                                      </p:to>
                                    </p:set>
                                    <p:animEffect transition="in" filter="fade">
                                      <p:cBhvr>
                                        <p:cTn id="57" dur="2000"/>
                                        <p:tgtEl>
                                          <p:spTgt spid="27">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0">
                                            <p:txEl>
                                              <p:pRg st="0" end="0"/>
                                            </p:txEl>
                                          </p:spTgt>
                                        </p:tgtEl>
                                        <p:attrNameLst>
                                          <p:attrName>style.visibility</p:attrName>
                                        </p:attrNameLst>
                                      </p:cBhvr>
                                      <p:to>
                                        <p:strVal val="visible"/>
                                      </p:to>
                                    </p:set>
                                    <p:animEffect transition="in" filter="fade">
                                      <p:cBhvr>
                                        <p:cTn id="62" dur="2000"/>
                                        <p:tgtEl>
                                          <p:spTgt spid="30">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8">
                                            <p:txEl>
                                              <p:pRg st="0" end="0"/>
                                            </p:txEl>
                                          </p:spTgt>
                                        </p:tgtEl>
                                        <p:attrNameLst>
                                          <p:attrName>style.visibility</p:attrName>
                                        </p:attrNameLst>
                                      </p:cBhvr>
                                      <p:to>
                                        <p:strVal val="visible"/>
                                      </p:to>
                                    </p:set>
                                    <p:animEffect transition="in" filter="fade">
                                      <p:cBhvr>
                                        <p:cTn id="67" dur="2000"/>
                                        <p:tgtEl>
                                          <p:spTgt spid="28">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xEl>
                                              <p:pRg st="0" end="0"/>
                                            </p:txEl>
                                          </p:spTgt>
                                        </p:tgtEl>
                                        <p:attrNameLst>
                                          <p:attrName>style.visibility</p:attrName>
                                        </p:attrNameLst>
                                      </p:cBhvr>
                                      <p:to>
                                        <p:strVal val="visible"/>
                                      </p:to>
                                    </p:set>
                                    <p:animEffect transition="in" filter="fade">
                                      <p:cBhvr>
                                        <p:cTn id="70" dur="2000"/>
                                        <p:tgtEl>
                                          <p:spTgt spid="29">
                                            <p:txEl>
                                              <p:pRg st="0" end="0"/>
                                            </p:txEl>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9">
                                            <p:txEl>
                                              <p:pRg st="1" end="1"/>
                                            </p:txEl>
                                          </p:spTgt>
                                        </p:tgtEl>
                                        <p:attrNameLst>
                                          <p:attrName>style.visibility</p:attrName>
                                        </p:attrNameLst>
                                      </p:cBhvr>
                                      <p:to>
                                        <p:strVal val="visible"/>
                                      </p:to>
                                    </p:set>
                                    <p:animEffect transition="in" filter="fade">
                                      <p:cBhvr>
                                        <p:cTn id="73" dur="2000"/>
                                        <p:tgtEl>
                                          <p:spTgt spid="29">
                                            <p:txEl>
                                              <p:pRg st="1" end="1"/>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xEl>
                                              <p:pRg st="2" end="2"/>
                                            </p:txEl>
                                          </p:spTgt>
                                        </p:tgtEl>
                                        <p:attrNameLst>
                                          <p:attrName>style.visibility</p:attrName>
                                        </p:attrNameLst>
                                      </p:cBhvr>
                                      <p:to>
                                        <p:strVal val="visible"/>
                                      </p:to>
                                    </p:set>
                                    <p:animEffect transition="in" filter="fade">
                                      <p:cBhvr>
                                        <p:cTn id="76" dur="2000"/>
                                        <p:tgtEl>
                                          <p:spTgt spid="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12" grpId="0" build="allAtOnce"/>
      <p:bldP spid="15" grpId="0" build="allAtOnce"/>
      <p:bldP spid="17" grpId="0" build="allAtOnce"/>
      <p:bldP spid="18" grpId="0" build="allAtOnce"/>
      <p:bldP spid="19" grpId="0" build="allAtOnce"/>
      <p:bldP spid="21" grpId="0" build="allAtOnce"/>
      <p:bldP spid="22" grpId="0" build="allAtOnce"/>
      <p:bldP spid="23" grpId="0" build="allAtOnce"/>
      <p:bldP spid="24" grpId="0" build="allAtOnce"/>
      <p:bldP spid="25" grpId="0" build="allAtOnce"/>
      <p:bldP spid="27" grpId="0" build="allAtOnce"/>
      <p:bldP spid="28" grpId="0" build="allAtOnce"/>
      <p:bldP spid="29" grpId="0" build="allAtOnce"/>
      <p:bldP spid="30" grpId="0" build="allAtOnce"/>
    </p:bldLst>
  </p:timing>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Frege</a:t>
            </a:r>
            <a:r>
              <a:rPr lang="nl-NL" sz="3600" dirty="0" smtClean="0"/>
              <a:t> en </a:t>
            </a:r>
            <a:r>
              <a:rPr lang="nl-NL" sz="3600" dirty="0" err="1" smtClean="0"/>
              <a:t>Russell</a:t>
            </a:r>
            <a:endParaRPr lang="nl-NL" sz="3600" dirty="0"/>
          </a:p>
        </p:txBody>
      </p:sp>
      <p:sp>
        <p:nvSpPr>
          <p:cNvPr id="16" name="Content Placeholder 2"/>
          <p:cNvSpPr txBox="1">
            <a:spLocks/>
          </p:cNvSpPr>
          <p:nvPr/>
        </p:nvSpPr>
        <p:spPr>
          <a:xfrm>
            <a:off x="1043608" y="2505670"/>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7" name="TextBox 16"/>
          <p:cNvSpPr txBox="1"/>
          <p:nvPr/>
        </p:nvSpPr>
        <p:spPr>
          <a:xfrm>
            <a:off x="1115616" y="1732746"/>
            <a:ext cx="5976664" cy="400110"/>
          </a:xfrm>
          <a:prstGeom prst="rect">
            <a:avLst/>
          </a:prstGeom>
          <a:noFill/>
        </p:spPr>
        <p:txBody>
          <a:bodyPr wrap="square" rtlCol="0">
            <a:spAutoFit/>
          </a:bodyPr>
          <a:lstStyle/>
          <a:p>
            <a:r>
              <a:rPr lang="nl-NL" sz="2000" b="1" dirty="0" smtClean="0">
                <a:solidFill>
                  <a:srgbClr val="0070C0"/>
                </a:solidFill>
              </a:rPr>
              <a:t>De president is geen democraat</a:t>
            </a:r>
            <a:endParaRPr lang="nl-NL" sz="2000" b="1" dirty="0">
              <a:solidFill>
                <a:srgbClr val="0070C0"/>
              </a:solidFill>
            </a:endParaRPr>
          </a:p>
        </p:txBody>
      </p:sp>
      <p:sp>
        <p:nvSpPr>
          <p:cNvPr id="18" name="Rectangle 17"/>
          <p:cNvSpPr/>
          <p:nvPr/>
        </p:nvSpPr>
        <p:spPr>
          <a:xfrm>
            <a:off x="4700876" y="2668850"/>
            <a:ext cx="1197764" cy="400110"/>
          </a:xfrm>
          <a:prstGeom prst="rect">
            <a:avLst/>
          </a:prstGeom>
        </p:spPr>
        <p:txBody>
          <a:bodyPr wrap="none">
            <a:spAutoFit/>
          </a:bodyPr>
          <a:lstStyle/>
          <a:p>
            <a:r>
              <a:rPr lang="nl-NL" sz="2000" b="1" dirty="0" smtClean="0"/>
              <a:t>¬D(</a:t>
            </a:r>
            <a:r>
              <a:rPr lang="el-GR" sz="2000" b="1" dirty="0" smtClean="0"/>
              <a:t>ι</a:t>
            </a:r>
            <a:r>
              <a:rPr lang="nl-NL" sz="2000" b="1" dirty="0" smtClean="0"/>
              <a:t>x</a:t>
            </a:r>
            <a:r>
              <a:rPr lang="nl-NL" sz="2000" dirty="0" smtClean="0"/>
              <a:t> </a:t>
            </a:r>
            <a:r>
              <a:rPr lang="nl-NL" sz="2000" b="1" dirty="0" err="1" smtClean="0"/>
              <a:t>Px</a:t>
            </a:r>
            <a:r>
              <a:rPr lang="nl-NL" sz="2000" b="1" dirty="0" smtClean="0"/>
              <a:t>) </a:t>
            </a:r>
            <a:endParaRPr lang="nl-NL" sz="2000" dirty="0"/>
          </a:p>
        </p:txBody>
      </p:sp>
      <p:sp>
        <p:nvSpPr>
          <p:cNvPr id="19" name="Rectangle 18"/>
          <p:cNvSpPr/>
          <p:nvPr/>
        </p:nvSpPr>
        <p:spPr>
          <a:xfrm>
            <a:off x="4355976" y="3142709"/>
            <a:ext cx="3131840"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Dx</a:t>
            </a:r>
            <a:r>
              <a:rPr lang="nl-NL" dirty="0" smtClean="0"/>
              <a:t>: x is democraat</a:t>
            </a:r>
            <a:br>
              <a:rPr lang="nl-NL" dirty="0" smtClean="0"/>
            </a:br>
            <a:r>
              <a:rPr lang="nl-NL" b="1" dirty="0" err="1" smtClean="0"/>
              <a:t>Px</a:t>
            </a:r>
            <a:r>
              <a:rPr lang="nl-NL" dirty="0" smtClean="0"/>
              <a:t>: x is president</a:t>
            </a:r>
            <a:endParaRPr lang="nl-NL" dirty="0"/>
          </a:p>
        </p:txBody>
      </p:sp>
      <p:sp>
        <p:nvSpPr>
          <p:cNvPr id="20" name="Content Placeholder 2"/>
          <p:cNvSpPr txBox="1">
            <a:spLocks/>
          </p:cNvSpPr>
          <p:nvPr/>
        </p:nvSpPr>
        <p:spPr>
          <a:xfrm>
            <a:off x="1043608" y="3356992"/>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21" name="TextBox 20"/>
          <p:cNvSpPr txBox="1"/>
          <p:nvPr/>
        </p:nvSpPr>
        <p:spPr>
          <a:xfrm>
            <a:off x="1115617" y="2564904"/>
            <a:ext cx="3096343" cy="1477328"/>
          </a:xfrm>
          <a:prstGeom prst="rect">
            <a:avLst/>
          </a:prstGeom>
          <a:noFill/>
        </p:spPr>
        <p:txBody>
          <a:bodyPr wrap="square" rtlCol="0">
            <a:spAutoFit/>
          </a:bodyPr>
          <a:lstStyle/>
          <a:p>
            <a:r>
              <a:rPr lang="nl-NL" dirty="0" err="1" smtClean="0"/>
              <a:t>Frege</a:t>
            </a:r>
            <a:r>
              <a:rPr lang="nl-NL" dirty="0" smtClean="0"/>
              <a:t> behandelt deze zin      zoals we tot dusver deden; de nadruk ligt bij hem op het eigennaam karakter van de unieke bepaling</a:t>
            </a:r>
            <a:endParaRPr lang="nl-NL" dirty="0"/>
          </a:p>
        </p:txBody>
      </p:sp>
      <p:sp>
        <p:nvSpPr>
          <p:cNvPr id="26" name="TextBox 25"/>
          <p:cNvSpPr txBox="1"/>
          <p:nvPr/>
        </p:nvSpPr>
        <p:spPr>
          <a:xfrm>
            <a:off x="1115616" y="4437112"/>
            <a:ext cx="3096343" cy="1200329"/>
          </a:xfrm>
          <a:prstGeom prst="rect">
            <a:avLst/>
          </a:prstGeom>
          <a:noFill/>
        </p:spPr>
        <p:txBody>
          <a:bodyPr wrap="square" rtlCol="0">
            <a:spAutoFit/>
          </a:bodyPr>
          <a:lstStyle/>
          <a:p>
            <a:r>
              <a:rPr lang="nl-NL" dirty="0" err="1" smtClean="0"/>
              <a:t>Russell</a:t>
            </a:r>
            <a:r>
              <a:rPr lang="nl-NL" dirty="0" smtClean="0"/>
              <a:t> behandelt deze zin heel anders; de nadruk ligt bij hem op de </a:t>
            </a:r>
            <a:r>
              <a:rPr lang="nl-NL" dirty="0" err="1" smtClean="0"/>
              <a:t>predikatieve</a:t>
            </a:r>
            <a:r>
              <a:rPr lang="nl-NL" dirty="0" smtClean="0"/>
              <a:t> aspecten van de unieke bepaling</a:t>
            </a:r>
            <a:endParaRPr lang="nl-NL" dirty="0"/>
          </a:p>
        </p:txBody>
      </p:sp>
      <p:sp>
        <p:nvSpPr>
          <p:cNvPr id="31" name="Rectangle 30"/>
          <p:cNvSpPr/>
          <p:nvPr/>
        </p:nvSpPr>
        <p:spPr>
          <a:xfrm>
            <a:off x="4716016" y="4507379"/>
            <a:ext cx="3695499" cy="400110"/>
          </a:xfrm>
          <a:prstGeom prst="rect">
            <a:avLst/>
          </a:prstGeom>
        </p:spPr>
        <p:txBody>
          <a:bodyPr wrap="none">
            <a:spAutoFit/>
          </a:bodyPr>
          <a:lstStyle/>
          <a:p>
            <a:r>
              <a:rPr lang="nl-NL" sz="2000" b="1" dirty="0" smtClean="0"/>
              <a:t>∃x (</a:t>
            </a:r>
            <a:r>
              <a:rPr lang="nl-NL" sz="2000" b="1" dirty="0" err="1" smtClean="0"/>
              <a:t>Px</a:t>
            </a:r>
            <a:r>
              <a:rPr lang="nl-NL" sz="2000" b="1" dirty="0" smtClean="0"/>
              <a:t> ∧ ∀y (y ≠x → ¬</a:t>
            </a:r>
            <a:r>
              <a:rPr lang="nl-NL" sz="2000" b="1" dirty="0" err="1" smtClean="0"/>
              <a:t>Py</a:t>
            </a:r>
            <a:r>
              <a:rPr lang="nl-NL" sz="2000" b="1" dirty="0" smtClean="0"/>
              <a:t>) ∧ ¬</a:t>
            </a:r>
            <a:r>
              <a:rPr lang="nl-NL" sz="2000" b="1" dirty="0" err="1" smtClean="0"/>
              <a:t>Dx</a:t>
            </a:r>
            <a:r>
              <a:rPr lang="nl-NL" sz="2000" b="1" dirty="0" smtClean="0"/>
              <a:t>)   </a:t>
            </a:r>
            <a:endParaRPr lang="nl-NL" sz="2000" dirty="0"/>
          </a:p>
        </p:txBody>
      </p:sp>
      <p:sp>
        <p:nvSpPr>
          <p:cNvPr id="32" name="Rectangle 31"/>
          <p:cNvSpPr/>
          <p:nvPr/>
        </p:nvSpPr>
        <p:spPr>
          <a:xfrm>
            <a:off x="4355976" y="5011435"/>
            <a:ext cx="3131840"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Dx</a:t>
            </a:r>
            <a:r>
              <a:rPr lang="nl-NL" dirty="0" smtClean="0"/>
              <a:t>: x is democraat</a:t>
            </a:r>
            <a:br>
              <a:rPr lang="nl-NL" dirty="0" smtClean="0"/>
            </a:br>
            <a:r>
              <a:rPr lang="nl-NL" b="1" dirty="0" err="1" smtClean="0"/>
              <a:t>Px</a:t>
            </a:r>
            <a:r>
              <a:rPr lang="nl-NL" dirty="0" smtClean="0"/>
              <a:t>: x is president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20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2000"/>
                                        <p:tgtEl>
                                          <p:spTgt spid="18">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Effect transition="in" filter="fade">
                                      <p:cBhvr>
                                        <p:cTn id="20" dur="2000"/>
                                        <p:tgtEl>
                                          <p:spTgt spid="1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xEl>
                                              <p:pRg st="0" end="0"/>
                                            </p:txEl>
                                          </p:spTgt>
                                        </p:tgtEl>
                                        <p:attrNameLst>
                                          <p:attrName>style.visibility</p:attrName>
                                        </p:attrNameLst>
                                      </p:cBhvr>
                                      <p:to>
                                        <p:strVal val="visible"/>
                                      </p:to>
                                    </p:set>
                                    <p:animEffect transition="in" filter="fade">
                                      <p:cBhvr>
                                        <p:cTn id="25" dur="2000"/>
                                        <p:tgtEl>
                                          <p:spTgt spid="2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1">
                                            <p:txEl>
                                              <p:pRg st="0" end="0"/>
                                            </p:txEl>
                                          </p:spTgt>
                                        </p:tgtEl>
                                        <p:attrNameLst>
                                          <p:attrName>style.visibility</p:attrName>
                                        </p:attrNameLst>
                                      </p:cBhvr>
                                      <p:to>
                                        <p:strVal val="visible"/>
                                      </p:to>
                                    </p:set>
                                    <p:animEffect transition="in" filter="fade">
                                      <p:cBhvr>
                                        <p:cTn id="30" dur="2000"/>
                                        <p:tgtEl>
                                          <p:spTgt spid="31">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xEl>
                                              <p:pRg st="0" end="0"/>
                                            </p:txEl>
                                          </p:spTgt>
                                        </p:tgtEl>
                                        <p:attrNameLst>
                                          <p:attrName>style.visibility</p:attrName>
                                        </p:attrNameLst>
                                      </p:cBhvr>
                                      <p:to>
                                        <p:strVal val="visible"/>
                                      </p:to>
                                    </p:set>
                                    <p:animEffect transition="in" filter="fade">
                                      <p:cBhvr>
                                        <p:cTn id="33" dur="2000"/>
                                        <p:tgtEl>
                                          <p:spTgt spid="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8" grpId="0" build="allAtOnce"/>
      <p:bldP spid="19" grpId="0" build="allAtOnce"/>
      <p:bldP spid="21" grpId="0" build="allAtOnce"/>
      <p:bldP spid="26" grpId="0" build="allAtOnce"/>
      <p:bldP spid="31" grpId="0" build="p"/>
      <p:bldP spid="32" grpId="0" build="p"/>
    </p:bldLst>
  </p:timing>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Frege</a:t>
            </a:r>
            <a:r>
              <a:rPr lang="nl-NL" sz="3600" dirty="0" smtClean="0"/>
              <a:t> en </a:t>
            </a:r>
            <a:r>
              <a:rPr lang="nl-NL" sz="3600" dirty="0" err="1" smtClean="0"/>
              <a:t>Russell</a:t>
            </a:r>
            <a:endParaRPr lang="nl-NL" sz="3600" dirty="0"/>
          </a:p>
        </p:txBody>
      </p:sp>
      <p:sp>
        <p:nvSpPr>
          <p:cNvPr id="16" name="Content Placeholder 2"/>
          <p:cNvSpPr txBox="1">
            <a:spLocks/>
          </p:cNvSpPr>
          <p:nvPr/>
        </p:nvSpPr>
        <p:spPr>
          <a:xfrm>
            <a:off x="1043608" y="2505670"/>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7" name="TextBox 16"/>
          <p:cNvSpPr txBox="1"/>
          <p:nvPr/>
        </p:nvSpPr>
        <p:spPr>
          <a:xfrm>
            <a:off x="1115616" y="1732746"/>
            <a:ext cx="5976664" cy="400110"/>
          </a:xfrm>
          <a:prstGeom prst="rect">
            <a:avLst/>
          </a:prstGeom>
          <a:noFill/>
        </p:spPr>
        <p:txBody>
          <a:bodyPr wrap="square" rtlCol="0">
            <a:spAutoFit/>
          </a:bodyPr>
          <a:lstStyle/>
          <a:p>
            <a:r>
              <a:rPr lang="nl-NL" sz="2000" b="1" dirty="0" smtClean="0">
                <a:solidFill>
                  <a:srgbClr val="0070C0"/>
                </a:solidFill>
              </a:rPr>
              <a:t>Frans Weisglas is de voorzitter van de Tweede Kamer</a:t>
            </a:r>
            <a:endParaRPr lang="nl-NL" sz="2000" b="1" dirty="0">
              <a:solidFill>
                <a:srgbClr val="0070C0"/>
              </a:solidFill>
            </a:endParaRPr>
          </a:p>
        </p:txBody>
      </p:sp>
      <p:sp>
        <p:nvSpPr>
          <p:cNvPr id="18" name="Rectangle 17"/>
          <p:cNvSpPr/>
          <p:nvPr/>
        </p:nvSpPr>
        <p:spPr>
          <a:xfrm>
            <a:off x="4700876" y="2668850"/>
            <a:ext cx="1358064" cy="400110"/>
          </a:xfrm>
          <a:prstGeom prst="rect">
            <a:avLst/>
          </a:prstGeom>
        </p:spPr>
        <p:txBody>
          <a:bodyPr wrap="none">
            <a:spAutoFit/>
          </a:bodyPr>
          <a:lstStyle/>
          <a:p>
            <a:r>
              <a:rPr lang="nl-NL" sz="2000" b="1" dirty="0" smtClean="0"/>
              <a:t>w = (</a:t>
            </a:r>
            <a:r>
              <a:rPr lang="el-GR" sz="2000" b="1" dirty="0" smtClean="0"/>
              <a:t>ι</a:t>
            </a:r>
            <a:r>
              <a:rPr lang="nl-NL" sz="2000" b="1" dirty="0" smtClean="0"/>
              <a:t>x</a:t>
            </a:r>
            <a:r>
              <a:rPr lang="nl-NL" sz="2000" dirty="0" smtClean="0"/>
              <a:t> </a:t>
            </a:r>
            <a:r>
              <a:rPr lang="nl-NL" sz="2000" b="1" dirty="0" err="1" smtClean="0"/>
              <a:t>Vx</a:t>
            </a:r>
            <a:r>
              <a:rPr lang="nl-NL" sz="2000" b="1" dirty="0" smtClean="0"/>
              <a:t>) </a:t>
            </a:r>
            <a:endParaRPr lang="nl-NL" sz="2000" dirty="0"/>
          </a:p>
        </p:txBody>
      </p:sp>
      <p:sp>
        <p:nvSpPr>
          <p:cNvPr id="19" name="Rectangle 18"/>
          <p:cNvSpPr/>
          <p:nvPr/>
        </p:nvSpPr>
        <p:spPr>
          <a:xfrm>
            <a:off x="4355976" y="3142709"/>
            <a:ext cx="3131840" cy="923330"/>
          </a:xfrm>
          <a:prstGeom prst="rect">
            <a:avLst/>
          </a:prstGeom>
        </p:spPr>
        <p:txBody>
          <a:bodyPr wrap="square">
            <a:spAutoFit/>
          </a:bodyPr>
          <a:lstStyle/>
          <a:p>
            <a:pPr marL="342900" lvl="0" indent="-342900">
              <a:spcBef>
                <a:spcPct val="20000"/>
              </a:spcBef>
              <a:defRPr/>
            </a:pPr>
            <a:r>
              <a:rPr lang="nl-NL" dirty="0" smtClean="0"/>
              <a:t>       </a:t>
            </a:r>
            <a:r>
              <a:rPr lang="nl-NL" b="1" dirty="0" smtClean="0"/>
              <a:t>w</a:t>
            </a:r>
            <a:r>
              <a:rPr lang="nl-NL" dirty="0" smtClean="0"/>
              <a:t>: Frans Weisglas</a:t>
            </a:r>
            <a:br>
              <a:rPr lang="nl-NL" dirty="0" smtClean="0"/>
            </a:br>
            <a:r>
              <a:rPr lang="nl-NL" b="1" dirty="0" err="1" smtClean="0"/>
              <a:t>Vx</a:t>
            </a:r>
            <a:r>
              <a:rPr lang="nl-NL" dirty="0" smtClean="0"/>
              <a:t>: x is voorzitter Tweede Kamer</a:t>
            </a:r>
            <a:endParaRPr lang="nl-NL" dirty="0"/>
          </a:p>
        </p:txBody>
      </p:sp>
      <p:sp>
        <p:nvSpPr>
          <p:cNvPr id="20" name="Content Placeholder 2"/>
          <p:cNvSpPr txBox="1">
            <a:spLocks/>
          </p:cNvSpPr>
          <p:nvPr/>
        </p:nvSpPr>
        <p:spPr>
          <a:xfrm>
            <a:off x="1043608" y="3356992"/>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21" name="TextBox 20"/>
          <p:cNvSpPr txBox="1"/>
          <p:nvPr/>
        </p:nvSpPr>
        <p:spPr>
          <a:xfrm>
            <a:off x="1115617" y="2564904"/>
            <a:ext cx="3096343" cy="1477328"/>
          </a:xfrm>
          <a:prstGeom prst="rect">
            <a:avLst/>
          </a:prstGeom>
          <a:noFill/>
        </p:spPr>
        <p:txBody>
          <a:bodyPr wrap="square" rtlCol="0">
            <a:spAutoFit/>
          </a:bodyPr>
          <a:lstStyle/>
          <a:p>
            <a:r>
              <a:rPr lang="nl-NL" dirty="0" err="1" smtClean="0"/>
              <a:t>Frege</a:t>
            </a:r>
            <a:r>
              <a:rPr lang="nl-NL" dirty="0" smtClean="0"/>
              <a:t> behandelt deze zin      zoals we tot dusver deden; de nadruk ligt bij hem op het eigennaam karakter van de unieke bepaling</a:t>
            </a:r>
            <a:endParaRPr lang="nl-NL" dirty="0"/>
          </a:p>
        </p:txBody>
      </p:sp>
      <p:sp>
        <p:nvSpPr>
          <p:cNvPr id="26" name="TextBox 25"/>
          <p:cNvSpPr txBox="1"/>
          <p:nvPr/>
        </p:nvSpPr>
        <p:spPr>
          <a:xfrm>
            <a:off x="1115616" y="4437112"/>
            <a:ext cx="3096343" cy="1200329"/>
          </a:xfrm>
          <a:prstGeom prst="rect">
            <a:avLst/>
          </a:prstGeom>
          <a:noFill/>
        </p:spPr>
        <p:txBody>
          <a:bodyPr wrap="square" rtlCol="0">
            <a:spAutoFit/>
          </a:bodyPr>
          <a:lstStyle/>
          <a:p>
            <a:r>
              <a:rPr lang="nl-NL" dirty="0" err="1" smtClean="0"/>
              <a:t>Russell</a:t>
            </a:r>
            <a:r>
              <a:rPr lang="nl-NL" dirty="0" smtClean="0"/>
              <a:t> behandelt deze zin heel anders; de nadruk ligt bij hem op de </a:t>
            </a:r>
            <a:r>
              <a:rPr lang="nl-NL" dirty="0" err="1" smtClean="0"/>
              <a:t>predikatieve</a:t>
            </a:r>
            <a:r>
              <a:rPr lang="nl-NL" dirty="0" smtClean="0"/>
              <a:t> aspecten van de unieke bepaling</a:t>
            </a:r>
            <a:endParaRPr lang="nl-NL" dirty="0"/>
          </a:p>
        </p:txBody>
      </p:sp>
      <p:sp>
        <p:nvSpPr>
          <p:cNvPr id="31" name="Rectangle 30"/>
          <p:cNvSpPr/>
          <p:nvPr/>
        </p:nvSpPr>
        <p:spPr>
          <a:xfrm>
            <a:off x="4716016" y="4507379"/>
            <a:ext cx="3858300" cy="400110"/>
          </a:xfrm>
          <a:prstGeom prst="rect">
            <a:avLst/>
          </a:prstGeom>
        </p:spPr>
        <p:txBody>
          <a:bodyPr wrap="none">
            <a:spAutoFit/>
          </a:bodyPr>
          <a:lstStyle/>
          <a:p>
            <a:r>
              <a:rPr lang="nl-NL" sz="2000" b="1" dirty="0" smtClean="0"/>
              <a:t>∃x (</a:t>
            </a:r>
            <a:r>
              <a:rPr lang="nl-NL" sz="2000" b="1" dirty="0" err="1" smtClean="0"/>
              <a:t>Vx</a:t>
            </a:r>
            <a:r>
              <a:rPr lang="nl-NL" sz="2000" b="1" dirty="0" smtClean="0"/>
              <a:t> ∧ ∀y (y ≠x → ¬</a:t>
            </a:r>
            <a:r>
              <a:rPr lang="nl-NL" sz="2000" b="1" dirty="0" err="1" smtClean="0"/>
              <a:t>Vy</a:t>
            </a:r>
            <a:r>
              <a:rPr lang="nl-NL" sz="2000" b="1" dirty="0" smtClean="0"/>
              <a:t>) ∧ w=x)   </a:t>
            </a:r>
            <a:endParaRPr lang="nl-NL" sz="2000" dirty="0"/>
          </a:p>
        </p:txBody>
      </p:sp>
      <p:sp>
        <p:nvSpPr>
          <p:cNvPr id="32" name="Rectangle 31"/>
          <p:cNvSpPr/>
          <p:nvPr/>
        </p:nvSpPr>
        <p:spPr>
          <a:xfrm>
            <a:off x="4355976" y="5011435"/>
            <a:ext cx="3131840" cy="923330"/>
          </a:xfrm>
          <a:prstGeom prst="rect">
            <a:avLst/>
          </a:prstGeom>
        </p:spPr>
        <p:txBody>
          <a:bodyPr wrap="square">
            <a:spAutoFit/>
          </a:bodyPr>
          <a:lstStyle/>
          <a:p>
            <a:pPr marL="342900" lvl="0" indent="-342900">
              <a:spcBef>
                <a:spcPct val="20000"/>
              </a:spcBef>
              <a:defRPr/>
            </a:pPr>
            <a:r>
              <a:rPr lang="nl-NL" dirty="0" smtClean="0"/>
              <a:t>       </a:t>
            </a:r>
            <a:r>
              <a:rPr lang="nl-NL" b="1" dirty="0" smtClean="0"/>
              <a:t>w</a:t>
            </a:r>
            <a:r>
              <a:rPr lang="nl-NL" dirty="0" smtClean="0"/>
              <a:t>: Frans Weisglas</a:t>
            </a:r>
            <a:br>
              <a:rPr lang="nl-NL" dirty="0" smtClean="0"/>
            </a:br>
            <a:r>
              <a:rPr lang="nl-NL" b="1" dirty="0" err="1" smtClean="0"/>
              <a:t>Vx</a:t>
            </a:r>
            <a:r>
              <a:rPr lang="nl-NL" dirty="0" smtClean="0"/>
              <a:t>: x is voorzitter Tweede Kamer</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20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2000"/>
                                        <p:tgtEl>
                                          <p:spTgt spid="18">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9">
                                            <p:txEl>
                                              <p:pRg st="0" end="0"/>
                                            </p:txEl>
                                          </p:spTgt>
                                        </p:tgtEl>
                                        <p:attrNameLst>
                                          <p:attrName>style.visibility</p:attrName>
                                        </p:attrNameLst>
                                      </p:cBhvr>
                                      <p:to>
                                        <p:strVal val="visible"/>
                                      </p:to>
                                    </p:set>
                                    <p:animEffect transition="in" filter="fade">
                                      <p:cBhvr>
                                        <p:cTn id="20" dur="2000"/>
                                        <p:tgtEl>
                                          <p:spTgt spid="1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xEl>
                                              <p:pRg st="0" end="0"/>
                                            </p:txEl>
                                          </p:spTgt>
                                        </p:tgtEl>
                                        <p:attrNameLst>
                                          <p:attrName>style.visibility</p:attrName>
                                        </p:attrNameLst>
                                      </p:cBhvr>
                                      <p:to>
                                        <p:strVal val="visible"/>
                                      </p:to>
                                    </p:set>
                                    <p:animEffect transition="in" filter="fade">
                                      <p:cBhvr>
                                        <p:cTn id="25" dur="2000"/>
                                        <p:tgtEl>
                                          <p:spTgt spid="2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1">
                                            <p:txEl>
                                              <p:pRg st="0" end="0"/>
                                            </p:txEl>
                                          </p:spTgt>
                                        </p:tgtEl>
                                        <p:attrNameLst>
                                          <p:attrName>style.visibility</p:attrName>
                                        </p:attrNameLst>
                                      </p:cBhvr>
                                      <p:to>
                                        <p:strVal val="visible"/>
                                      </p:to>
                                    </p:set>
                                    <p:animEffect transition="in" filter="fade">
                                      <p:cBhvr>
                                        <p:cTn id="30" dur="2000"/>
                                        <p:tgtEl>
                                          <p:spTgt spid="31">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xEl>
                                              <p:pRg st="0" end="0"/>
                                            </p:txEl>
                                          </p:spTgt>
                                        </p:tgtEl>
                                        <p:attrNameLst>
                                          <p:attrName>style.visibility</p:attrName>
                                        </p:attrNameLst>
                                      </p:cBhvr>
                                      <p:to>
                                        <p:strVal val="visible"/>
                                      </p:to>
                                    </p:set>
                                    <p:animEffect transition="in" filter="fade">
                                      <p:cBhvr>
                                        <p:cTn id="33" dur="2000"/>
                                        <p:tgtEl>
                                          <p:spTgt spid="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8" grpId="0" build="allAtOnce"/>
      <p:bldP spid="19" grpId="0" build="allAtOnce"/>
      <p:bldP spid="21" grpId="0" build="allAtOnce"/>
      <p:bldP spid="26" grpId="0" build="allAtOnce"/>
      <p:bldP spid="31" grpId="0" build="p"/>
      <p:bldP spid="32" grpId="0" build="p"/>
    </p:bldLst>
  </p:timing>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Frege</a:t>
            </a:r>
            <a:r>
              <a:rPr lang="nl-NL" sz="3600" dirty="0" smtClean="0"/>
              <a:t> en </a:t>
            </a:r>
            <a:r>
              <a:rPr lang="nl-NL" sz="3600" dirty="0" err="1" smtClean="0"/>
              <a:t>Russell</a:t>
            </a:r>
            <a:endParaRPr lang="nl-NL" sz="3600" dirty="0"/>
          </a:p>
        </p:txBody>
      </p:sp>
      <p:sp>
        <p:nvSpPr>
          <p:cNvPr id="16" name="Content Placeholder 2"/>
          <p:cNvSpPr txBox="1">
            <a:spLocks/>
          </p:cNvSpPr>
          <p:nvPr/>
        </p:nvSpPr>
        <p:spPr>
          <a:xfrm>
            <a:off x="1043608" y="2505670"/>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7" name="TextBox 16"/>
          <p:cNvSpPr txBox="1"/>
          <p:nvPr/>
        </p:nvSpPr>
        <p:spPr>
          <a:xfrm>
            <a:off x="1115616" y="1732746"/>
            <a:ext cx="5976664" cy="400110"/>
          </a:xfrm>
          <a:prstGeom prst="rect">
            <a:avLst/>
          </a:prstGeom>
          <a:noFill/>
        </p:spPr>
        <p:txBody>
          <a:bodyPr wrap="square" rtlCol="0">
            <a:spAutoFit/>
          </a:bodyPr>
          <a:lstStyle/>
          <a:p>
            <a:r>
              <a:rPr lang="nl-NL" sz="2000" b="1" dirty="0" smtClean="0">
                <a:solidFill>
                  <a:srgbClr val="0070C0"/>
                </a:solidFill>
              </a:rPr>
              <a:t>De president is de opperbevelhebber</a:t>
            </a:r>
            <a:endParaRPr lang="nl-NL" sz="2000" b="1" dirty="0">
              <a:solidFill>
                <a:srgbClr val="0070C0"/>
              </a:solidFill>
            </a:endParaRPr>
          </a:p>
        </p:txBody>
      </p:sp>
      <p:sp>
        <p:nvSpPr>
          <p:cNvPr id="20" name="Content Placeholder 2"/>
          <p:cNvSpPr txBox="1">
            <a:spLocks/>
          </p:cNvSpPr>
          <p:nvPr/>
        </p:nvSpPr>
        <p:spPr>
          <a:xfrm>
            <a:off x="1043608" y="3356992"/>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21" name="TextBox 20"/>
          <p:cNvSpPr txBox="1"/>
          <p:nvPr/>
        </p:nvSpPr>
        <p:spPr>
          <a:xfrm>
            <a:off x="1115617" y="2564904"/>
            <a:ext cx="3096343" cy="1477328"/>
          </a:xfrm>
          <a:prstGeom prst="rect">
            <a:avLst/>
          </a:prstGeom>
          <a:noFill/>
        </p:spPr>
        <p:txBody>
          <a:bodyPr wrap="square" rtlCol="0">
            <a:spAutoFit/>
          </a:bodyPr>
          <a:lstStyle/>
          <a:p>
            <a:r>
              <a:rPr lang="nl-NL" dirty="0" err="1" smtClean="0"/>
              <a:t>Frege</a:t>
            </a:r>
            <a:r>
              <a:rPr lang="nl-NL" dirty="0" smtClean="0"/>
              <a:t> behandelt deze zin      zoals we tot dusver deden; de nadruk ligt bij hem op het eigennaam karakter van de unieke bepaling</a:t>
            </a:r>
            <a:endParaRPr lang="nl-NL" dirty="0"/>
          </a:p>
        </p:txBody>
      </p:sp>
      <p:sp>
        <p:nvSpPr>
          <p:cNvPr id="26" name="TextBox 25"/>
          <p:cNvSpPr txBox="1"/>
          <p:nvPr/>
        </p:nvSpPr>
        <p:spPr>
          <a:xfrm>
            <a:off x="1115616" y="4437112"/>
            <a:ext cx="3096343" cy="1200329"/>
          </a:xfrm>
          <a:prstGeom prst="rect">
            <a:avLst/>
          </a:prstGeom>
          <a:noFill/>
        </p:spPr>
        <p:txBody>
          <a:bodyPr wrap="square" rtlCol="0">
            <a:spAutoFit/>
          </a:bodyPr>
          <a:lstStyle/>
          <a:p>
            <a:r>
              <a:rPr lang="nl-NL" dirty="0" err="1" smtClean="0"/>
              <a:t>Russell</a:t>
            </a:r>
            <a:r>
              <a:rPr lang="nl-NL" dirty="0" smtClean="0"/>
              <a:t> behandelt deze zin heel anders; de nadruk ligt bij hem op de </a:t>
            </a:r>
            <a:r>
              <a:rPr lang="nl-NL" dirty="0" err="1" smtClean="0"/>
              <a:t>predikatieve</a:t>
            </a:r>
            <a:r>
              <a:rPr lang="nl-NL" dirty="0" smtClean="0"/>
              <a:t> aspecten van de unieke bepaling</a:t>
            </a:r>
            <a:endParaRPr lang="nl-NL" dirty="0"/>
          </a:p>
        </p:txBody>
      </p:sp>
      <p:sp>
        <p:nvSpPr>
          <p:cNvPr id="31" name="Rectangle 30"/>
          <p:cNvSpPr/>
          <p:nvPr/>
        </p:nvSpPr>
        <p:spPr>
          <a:xfrm>
            <a:off x="4716017" y="4507379"/>
            <a:ext cx="3528392" cy="707886"/>
          </a:xfrm>
          <a:prstGeom prst="rect">
            <a:avLst/>
          </a:prstGeom>
        </p:spPr>
        <p:txBody>
          <a:bodyPr wrap="square">
            <a:spAutoFit/>
          </a:bodyPr>
          <a:lstStyle/>
          <a:p>
            <a:r>
              <a:rPr lang="nl-NL" sz="2000" b="1" dirty="0" smtClean="0"/>
              <a:t>∃x ∃y (</a:t>
            </a:r>
            <a:r>
              <a:rPr lang="nl-NL" sz="2000" b="1" dirty="0" err="1" smtClean="0"/>
              <a:t>Px</a:t>
            </a:r>
            <a:r>
              <a:rPr lang="nl-NL" sz="2000" b="1" dirty="0" smtClean="0"/>
              <a:t> ∧ ∀z (z≠x → ¬</a:t>
            </a:r>
            <a:r>
              <a:rPr lang="nl-NL" sz="2000" b="1" dirty="0" err="1" smtClean="0"/>
              <a:t>Pz</a:t>
            </a:r>
            <a:r>
              <a:rPr lang="nl-NL" sz="2000" b="1" dirty="0" smtClean="0"/>
              <a:t>) ∧  </a:t>
            </a:r>
            <a:r>
              <a:rPr lang="nl-NL" sz="2000" b="1" dirty="0" err="1" smtClean="0"/>
              <a:t>Oy</a:t>
            </a:r>
            <a:r>
              <a:rPr lang="nl-NL" sz="2000" b="1" dirty="0" smtClean="0"/>
              <a:t> ∧ ∀w (w≠y → ¬</a:t>
            </a:r>
            <a:r>
              <a:rPr lang="nl-NL" sz="2000" b="1" dirty="0" err="1" smtClean="0"/>
              <a:t>Ow</a:t>
            </a:r>
            <a:r>
              <a:rPr lang="nl-NL" sz="2000" b="1" dirty="0" smtClean="0"/>
              <a:t>) ∧ x=y)   </a:t>
            </a:r>
            <a:endParaRPr lang="nl-NL" sz="2000" dirty="0"/>
          </a:p>
        </p:txBody>
      </p:sp>
      <p:sp>
        <p:nvSpPr>
          <p:cNvPr id="12" name="Rectangle 11"/>
          <p:cNvSpPr/>
          <p:nvPr/>
        </p:nvSpPr>
        <p:spPr>
          <a:xfrm>
            <a:off x="4685520" y="2636912"/>
            <a:ext cx="1686680" cy="400110"/>
          </a:xfrm>
          <a:prstGeom prst="rect">
            <a:avLst/>
          </a:prstGeom>
        </p:spPr>
        <p:txBody>
          <a:bodyPr wrap="none">
            <a:spAutoFit/>
          </a:bodyPr>
          <a:lstStyle/>
          <a:p>
            <a:r>
              <a:rPr lang="nl-NL" sz="2000" b="1" dirty="0" smtClean="0"/>
              <a:t>(</a:t>
            </a:r>
            <a:r>
              <a:rPr lang="el-GR" sz="2000" b="1" dirty="0" smtClean="0"/>
              <a:t>ι</a:t>
            </a:r>
            <a:r>
              <a:rPr lang="nl-NL" sz="2000" b="1" dirty="0" smtClean="0"/>
              <a:t>x</a:t>
            </a:r>
            <a:r>
              <a:rPr lang="nl-NL" sz="2000" dirty="0" smtClean="0"/>
              <a:t> </a:t>
            </a:r>
            <a:r>
              <a:rPr lang="nl-NL" sz="2000" b="1" dirty="0" err="1" smtClean="0"/>
              <a:t>Px</a:t>
            </a:r>
            <a:r>
              <a:rPr lang="nl-NL" sz="2000" b="1" dirty="0" smtClean="0"/>
              <a:t>)=(</a:t>
            </a:r>
            <a:r>
              <a:rPr lang="el-GR" sz="2000" b="1" dirty="0" smtClean="0"/>
              <a:t>ι</a:t>
            </a:r>
            <a:r>
              <a:rPr lang="nl-NL" sz="2000" b="1" dirty="0" err="1" smtClean="0"/>
              <a:t>yOy</a:t>
            </a:r>
            <a:r>
              <a:rPr lang="nl-NL" sz="2000" b="1" dirty="0" smtClean="0"/>
              <a:t>) </a:t>
            </a:r>
            <a:endParaRPr lang="nl-NL" sz="2000" dirty="0"/>
          </a:p>
        </p:txBody>
      </p:sp>
      <p:sp>
        <p:nvSpPr>
          <p:cNvPr id="13" name="Rectangle 12"/>
          <p:cNvSpPr/>
          <p:nvPr/>
        </p:nvSpPr>
        <p:spPr>
          <a:xfrm>
            <a:off x="4355976" y="3214717"/>
            <a:ext cx="3131840"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Px</a:t>
            </a:r>
            <a:r>
              <a:rPr lang="nl-NL" dirty="0" smtClean="0"/>
              <a:t>:  x is president                     </a:t>
            </a:r>
            <a:r>
              <a:rPr lang="nl-NL" b="1" dirty="0" err="1" smtClean="0"/>
              <a:t>Oy</a:t>
            </a:r>
            <a:r>
              <a:rPr lang="nl-NL" dirty="0" smtClean="0"/>
              <a:t>: y is opperbevelhebber</a:t>
            </a:r>
            <a:endParaRPr lang="nl-NL" dirty="0"/>
          </a:p>
        </p:txBody>
      </p:sp>
      <p:sp>
        <p:nvSpPr>
          <p:cNvPr id="14" name="Rectangle 13"/>
          <p:cNvSpPr/>
          <p:nvPr/>
        </p:nvSpPr>
        <p:spPr>
          <a:xfrm>
            <a:off x="4355976" y="5374957"/>
            <a:ext cx="3131840"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Px</a:t>
            </a:r>
            <a:r>
              <a:rPr lang="nl-NL" dirty="0" smtClean="0"/>
              <a:t>:  x is president                     </a:t>
            </a:r>
            <a:r>
              <a:rPr lang="nl-NL" b="1" dirty="0" err="1" smtClean="0"/>
              <a:t>Oy</a:t>
            </a:r>
            <a:r>
              <a:rPr lang="nl-NL" dirty="0" smtClean="0"/>
              <a:t>: y is opperbevelhebber</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20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fade">
                                      <p:cBhvr>
                                        <p:cTn id="17" dur="2000"/>
                                        <p:tgtEl>
                                          <p:spTgt spid="12">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fade">
                                      <p:cBhvr>
                                        <p:cTn id="20" dur="2000"/>
                                        <p:tgtEl>
                                          <p:spTgt spid="13">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6">
                                            <p:txEl>
                                              <p:pRg st="0" end="0"/>
                                            </p:txEl>
                                          </p:spTgt>
                                        </p:tgtEl>
                                        <p:attrNameLst>
                                          <p:attrName>style.visibility</p:attrName>
                                        </p:attrNameLst>
                                      </p:cBhvr>
                                      <p:to>
                                        <p:strVal val="visible"/>
                                      </p:to>
                                    </p:set>
                                    <p:animEffect transition="in" filter="fade">
                                      <p:cBhvr>
                                        <p:cTn id="25" dur="2000"/>
                                        <p:tgtEl>
                                          <p:spTgt spid="2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1">
                                            <p:txEl>
                                              <p:pRg st="0" end="0"/>
                                            </p:txEl>
                                          </p:spTgt>
                                        </p:tgtEl>
                                        <p:attrNameLst>
                                          <p:attrName>style.visibility</p:attrName>
                                        </p:attrNameLst>
                                      </p:cBhvr>
                                      <p:to>
                                        <p:strVal val="visible"/>
                                      </p:to>
                                    </p:set>
                                    <p:animEffect transition="in" filter="fade">
                                      <p:cBhvr>
                                        <p:cTn id="30" dur="2000"/>
                                        <p:tgtEl>
                                          <p:spTgt spid="31">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xEl>
                                              <p:pRg st="0" end="0"/>
                                            </p:txEl>
                                          </p:spTgt>
                                        </p:tgtEl>
                                        <p:attrNameLst>
                                          <p:attrName>style.visibility</p:attrName>
                                        </p:attrNameLst>
                                      </p:cBhvr>
                                      <p:to>
                                        <p:strVal val="visible"/>
                                      </p:to>
                                    </p:set>
                                    <p:animEffect transition="in" filter="fade">
                                      <p:cBhvr>
                                        <p:cTn id="33"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21" grpId="0" build="allAtOnce"/>
      <p:bldP spid="26" grpId="0" build="allAtOnce"/>
      <p:bldP spid="31" grpId="0" build="allAtOnce"/>
      <p:bldP spid="12" grpId="0" build="allAtOnce"/>
      <p:bldP spid="13" grpId="0" build="allAtOnce"/>
      <p:bldP spid="14" grpId="0" build="allAtOnce"/>
    </p:bldLst>
  </p:timing>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Frege</a:t>
            </a:r>
            <a:r>
              <a:rPr lang="nl-NL" sz="3600" dirty="0" smtClean="0"/>
              <a:t> en </a:t>
            </a:r>
            <a:r>
              <a:rPr lang="nl-NL" sz="3600" dirty="0" err="1" smtClean="0"/>
              <a:t>Russell</a:t>
            </a:r>
            <a:endParaRPr lang="nl-NL" sz="3600" dirty="0"/>
          </a:p>
        </p:txBody>
      </p:sp>
      <p:sp>
        <p:nvSpPr>
          <p:cNvPr id="16" name="Content Placeholder 2"/>
          <p:cNvSpPr txBox="1">
            <a:spLocks/>
          </p:cNvSpPr>
          <p:nvPr/>
        </p:nvSpPr>
        <p:spPr>
          <a:xfrm>
            <a:off x="1043608" y="2505670"/>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7" name="TextBox 16"/>
          <p:cNvSpPr txBox="1"/>
          <p:nvPr/>
        </p:nvSpPr>
        <p:spPr>
          <a:xfrm>
            <a:off x="1115616" y="1732746"/>
            <a:ext cx="5976664" cy="400110"/>
          </a:xfrm>
          <a:prstGeom prst="rect">
            <a:avLst/>
          </a:prstGeom>
          <a:noFill/>
        </p:spPr>
        <p:txBody>
          <a:bodyPr wrap="square" rtlCol="0">
            <a:spAutoFit/>
          </a:bodyPr>
          <a:lstStyle/>
          <a:p>
            <a:r>
              <a:rPr lang="nl-NL" sz="2000" b="1" dirty="0" smtClean="0">
                <a:solidFill>
                  <a:srgbClr val="0070C0"/>
                </a:solidFill>
              </a:rPr>
              <a:t>De president-commissaris is rijker dan Piet</a:t>
            </a:r>
            <a:endParaRPr lang="nl-NL" sz="2000" b="1" dirty="0">
              <a:solidFill>
                <a:srgbClr val="0070C0"/>
              </a:solidFill>
            </a:endParaRPr>
          </a:p>
        </p:txBody>
      </p:sp>
      <p:sp>
        <p:nvSpPr>
          <p:cNvPr id="20" name="Content Placeholder 2"/>
          <p:cNvSpPr txBox="1">
            <a:spLocks/>
          </p:cNvSpPr>
          <p:nvPr/>
        </p:nvSpPr>
        <p:spPr>
          <a:xfrm>
            <a:off x="1043608" y="3356992"/>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21" name="TextBox 20"/>
          <p:cNvSpPr txBox="1"/>
          <p:nvPr/>
        </p:nvSpPr>
        <p:spPr>
          <a:xfrm>
            <a:off x="1115617" y="2564904"/>
            <a:ext cx="3096343" cy="1477328"/>
          </a:xfrm>
          <a:prstGeom prst="rect">
            <a:avLst/>
          </a:prstGeom>
          <a:noFill/>
        </p:spPr>
        <p:txBody>
          <a:bodyPr wrap="square" rtlCol="0">
            <a:spAutoFit/>
          </a:bodyPr>
          <a:lstStyle/>
          <a:p>
            <a:r>
              <a:rPr lang="nl-NL" dirty="0" err="1" smtClean="0"/>
              <a:t>Frege</a:t>
            </a:r>
            <a:r>
              <a:rPr lang="nl-NL" dirty="0" smtClean="0"/>
              <a:t> behandelt deze zin      zoals we tot dusver deden; de nadruk ligt bij hem op het eigennaam karakter van de unieke bepaling</a:t>
            </a:r>
            <a:endParaRPr lang="nl-NL" dirty="0"/>
          </a:p>
        </p:txBody>
      </p:sp>
      <p:sp>
        <p:nvSpPr>
          <p:cNvPr id="26" name="TextBox 25"/>
          <p:cNvSpPr txBox="1"/>
          <p:nvPr/>
        </p:nvSpPr>
        <p:spPr>
          <a:xfrm>
            <a:off x="1115616" y="4437112"/>
            <a:ext cx="3096343" cy="1200329"/>
          </a:xfrm>
          <a:prstGeom prst="rect">
            <a:avLst/>
          </a:prstGeom>
          <a:noFill/>
        </p:spPr>
        <p:txBody>
          <a:bodyPr wrap="square" rtlCol="0">
            <a:spAutoFit/>
          </a:bodyPr>
          <a:lstStyle/>
          <a:p>
            <a:r>
              <a:rPr lang="nl-NL" dirty="0" err="1" smtClean="0"/>
              <a:t>Russell</a:t>
            </a:r>
            <a:r>
              <a:rPr lang="nl-NL" dirty="0" smtClean="0"/>
              <a:t> behandelt deze zin heel anders; de nadruk ligt bij hem op de </a:t>
            </a:r>
            <a:r>
              <a:rPr lang="nl-NL" dirty="0" err="1" smtClean="0"/>
              <a:t>predikatieve</a:t>
            </a:r>
            <a:r>
              <a:rPr lang="nl-NL" dirty="0" smtClean="0"/>
              <a:t> aspecten van de unieke bepaling</a:t>
            </a:r>
            <a:endParaRPr lang="nl-NL" dirty="0"/>
          </a:p>
        </p:txBody>
      </p:sp>
      <p:sp>
        <p:nvSpPr>
          <p:cNvPr id="31" name="Rectangle 30"/>
          <p:cNvSpPr/>
          <p:nvPr/>
        </p:nvSpPr>
        <p:spPr>
          <a:xfrm>
            <a:off x="4716017" y="4507379"/>
            <a:ext cx="3528392" cy="400110"/>
          </a:xfrm>
          <a:prstGeom prst="rect">
            <a:avLst/>
          </a:prstGeom>
        </p:spPr>
        <p:txBody>
          <a:bodyPr wrap="square">
            <a:spAutoFit/>
          </a:bodyPr>
          <a:lstStyle/>
          <a:p>
            <a:r>
              <a:rPr lang="nl-NL" sz="2000" b="1" dirty="0" smtClean="0"/>
              <a:t>∃x (</a:t>
            </a:r>
            <a:r>
              <a:rPr lang="nl-NL" sz="2000" b="1" dirty="0" err="1" smtClean="0"/>
              <a:t>Px</a:t>
            </a:r>
            <a:r>
              <a:rPr lang="nl-NL" sz="2000" b="1" dirty="0" smtClean="0"/>
              <a:t> ∧ ∀y (y≠x → ¬</a:t>
            </a:r>
            <a:r>
              <a:rPr lang="nl-NL" sz="2000" b="1" dirty="0" err="1" smtClean="0"/>
              <a:t>Py</a:t>
            </a:r>
            <a:r>
              <a:rPr lang="nl-NL" sz="2000" b="1" dirty="0" smtClean="0"/>
              <a:t>) ∧  </a:t>
            </a:r>
            <a:r>
              <a:rPr lang="nl-NL" sz="2000" b="1" dirty="0" err="1" smtClean="0"/>
              <a:t>Rxp</a:t>
            </a:r>
            <a:r>
              <a:rPr lang="nl-NL" sz="2000" b="1" dirty="0" smtClean="0"/>
              <a:t>)   </a:t>
            </a:r>
            <a:endParaRPr lang="nl-NL" sz="2000" dirty="0"/>
          </a:p>
        </p:txBody>
      </p:sp>
      <p:sp>
        <p:nvSpPr>
          <p:cNvPr id="12" name="Rectangle 11"/>
          <p:cNvSpPr/>
          <p:nvPr/>
        </p:nvSpPr>
        <p:spPr>
          <a:xfrm>
            <a:off x="4685520" y="2636912"/>
            <a:ext cx="1189749" cy="400110"/>
          </a:xfrm>
          <a:prstGeom prst="rect">
            <a:avLst/>
          </a:prstGeom>
        </p:spPr>
        <p:txBody>
          <a:bodyPr wrap="none">
            <a:spAutoFit/>
          </a:bodyPr>
          <a:lstStyle/>
          <a:p>
            <a:r>
              <a:rPr lang="nl-NL" sz="2000" b="1" dirty="0" smtClean="0"/>
              <a:t>R(</a:t>
            </a:r>
            <a:r>
              <a:rPr lang="el-GR" sz="2000" b="1" dirty="0" smtClean="0"/>
              <a:t>ι</a:t>
            </a:r>
            <a:r>
              <a:rPr lang="nl-NL" sz="2000" b="1" dirty="0" smtClean="0"/>
              <a:t>x</a:t>
            </a:r>
            <a:r>
              <a:rPr lang="nl-NL" sz="2000" dirty="0" smtClean="0"/>
              <a:t> </a:t>
            </a:r>
            <a:r>
              <a:rPr lang="nl-NL" sz="2000" b="1" dirty="0" err="1" smtClean="0"/>
              <a:t>Px</a:t>
            </a:r>
            <a:r>
              <a:rPr lang="nl-NL" sz="2000" b="1" dirty="0" smtClean="0"/>
              <a:t>)p </a:t>
            </a:r>
            <a:endParaRPr lang="nl-NL" sz="2000" dirty="0"/>
          </a:p>
        </p:txBody>
      </p:sp>
      <p:sp>
        <p:nvSpPr>
          <p:cNvPr id="13" name="Rectangle 12"/>
          <p:cNvSpPr/>
          <p:nvPr/>
        </p:nvSpPr>
        <p:spPr>
          <a:xfrm>
            <a:off x="4355976" y="3214717"/>
            <a:ext cx="3888432" cy="923330"/>
          </a:xfrm>
          <a:prstGeom prst="rect">
            <a:avLst/>
          </a:prstGeom>
        </p:spPr>
        <p:txBody>
          <a:bodyPr wrap="square">
            <a:spAutoFit/>
          </a:bodyPr>
          <a:lstStyle/>
          <a:p>
            <a:pPr marL="342900" lvl="0" indent="-342900">
              <a:spcBef>
                <a:spcPct val="20000"/>
              </a:spcBef>
              <a:defRPr/>
            </a:pPr>
            <a:r>
              <a:rPr lang="nl-NL" dirty="0" smtClean="0"/>
              <a:t>       </a:t>
            </a:r>
            <a:r>
              <a:rPr lang="nl-NL" b="1" dirty="0" smtClean="0"/>
              <a:t>p</a:t>
            </a:r>
            <a:r>
              <a:rPr lang="nl-NL" dirty="0" smtClean="0"/>
              <a:t>: Piet                                                          </a:t>
            </a:r>
            <a:r>
              <a:rPr lang="nl-NL" b="1" dirty="0" err="1" smtClean="0"/>
              <a:t>Px</a:t>
            </a:r>
            <a:r>
              <a:rPr lang="nl-NL" dirty="0" smtClean="0"/>
              <a:t>: x is president-commissaris                                   </a:t>
            </a:r>
            <a:r>
              <a:rPr lang="nl-NL" b="1" dirty="0" err="1" smtClean="0"/>
              <a:t>Rxy</a:t>
            </a:r>
            <a:r>
              <a:rPr lang="nl-NL" dirty="0" smtClean="0"/>
              <a:t>: x is rijker dan y</a:t>
            </a:r>
            <a:endParaRPr lang="nl-NL" dirty="0"/>
          </a:p>
        </p:txBody>
      </p:sp>
      <p:sp>
        <p:nvSpPr>
          <p:cNvPr id="15" name="Rectangle 14"/>
          <p:cNvSpPr/>
          <p:nvPr/>
        </p:nvSpPr>
        <p:spPr>
          <a:xfrm>
            <a:off x="4355976" y="5085184"/>
            <a:ext cx="3888432" cy="923330"/>
          </a:xfrm>
          <a:prstGeom prst="rect">
            <a:avLst/>
          </a:prstGeom>
        </p:spPr>
        <p:txBody>
          <a:bodyPr wrap="square">
            <a:spAutoFit/>
          </a:bodyPr>
          <a:lstStyle/>
          <a:p>
            <a:pPr marL="342900" lvl="0" indent="-342900">
              <a:spcBef>
                <a:spcPct val="20000"/>
              </a:spcBef>
              <a:defRPr/>
            </a:pPr>
            <a:r>
              <a:rPr lang="nl-NL" dirty="0" smtClean="0"/>
              <a:t>       </a:t>
            </a:r>
            <a:r>
              <a:rPr lang="nl-NL" b="1" dirty="0" smtClean="0"/>
              <a:t>p</a:t>
            </a:r>
            <a:r>
              <a:rPr lang="nl-NL" dirty="0" smtClean="0"/>
              <a:t>: Piet                                                          </a:t>
            </a:r>
            <a:r>
              <a:rPr lang="nl-NL" b="1" dirty="0" err="1" smtClean="0"/>
              <a:t>Px</a:t>
            </a:r>
            <a:r>
              <a:rPr lang="nl-NL" dirty="0" smtClean="0"/>
              <a:t>: x is president-commissaris                                   </a:t>
            </a:r>
            <a:r>
              <a:rPr lang="nl-NL" b="1" dirty="0" err="1" smtClean="0"/>
              <a:t>Rxy</a:t>
            </a:r>
            <a:r>
              <a:rPr lang="nl-NL" dirty="0" smtClean="0"/>
              <a:t>: x is rijker dan y</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nodePh="1">
                                  <p:stCondLst>
                                    <p:cond delay="0"/>
                                  </p:stCondLst>
                                  <p:endCondLst>
                                    <p:cond evt="begin" delay="0">
                                      <p:tn val="10"/>
                                    </p:cond>
                                  </p:end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2000"/>
                                        <p:tgtEl>
                                          <p:spTgt spid="16">
                                            <p:txEl>
                                              <p:pRg st="0" end="0"/>
                                            </p:txEl>
                                          </p:spTgt>
                                        </p:tgtEl>
                                      </p:cBhvr>
                                    </p:animEffect>
                                  </p:childTnLst>
                                </p:cTn>
                              </p:par>
                              <p:par>
                                <p:cTn id="13" presetID="10" presetClass="entr" presetSubtype="0" fill="hold" grpId="0" nodeType="withEffect" nodePh="1">
                                  <p:stCondLst>
                                    <p:cond delay="0"/>
                                  </p:stCondLst>
                                  <p:endCondLst>
                                    <p:cond evt="begin" delay="0">
                                      <p:tn val="13"/>
                                    </p:cond>
                                  </p:endCondLst>
                                  <p:childTnLst>
                                    <p:set>
                                      <p:cBhvr>
                                        <p:cTn id="14" dur="1" fill="hold">
                                          <p:stCondLst>
                                            <p:cond delay="0"/>
                                          </p:stCondLst>
                                        </p:cTn>
                                        <p:tgtEl>
                                          <p:spTgt spid="20">
                                            <p:txEl>
                                              <p:pRg st="0" end="0"/>
                                            </p:txEl>
                                          </p:spTgt>
                                        </p:tgtEl>
                                        <p:attrNameLst>
                                          <p:attrName>style.visibility</p:attrName>
                                        </p:attrNameLst>
                                      </p:cBhvr>
                                      <p:to>
                                        <p:strVal val="visible"/>
                                      </p:to>
                                    </p:set>
                                    <p:animEffect transition="in" filter="fade">
                                      <p:cBhvr>
                                        <p:cTn id="15" dur="2000"/>
                                        <p:tgtEl>
                                          <p:spTgt spid="2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xEl>
                                              <p:pRg st="0" end="0"/>
                                            </p:txEl>
                                          </p:spTgt>
                                        </p:tgtEl>
                                        <p:attrNameLst>
                                          <p:attrName>style.visibility</p:attrName>
                                        </p:attrNameLst>
                                      </p:cBhvr>
                                      <p:to>
                                        <p:strVal val="visible"/>
                                      </p:to>
                                    </p:set>
                                    <p:animEffect transition="in" filter="fade">
                                      <p:cBhvr>
                                        <p:cTn id="20" dur="2000"/>
                                        <p:tgtEl>
                                          <p:spTgt spid="21">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fade">
                                      <p:cBhvr>
                                        <p:cTn id="25" dur="2000"/>
                                        <p:tgtEl>
                                          <p:spTgt spid="12">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animEffect transition="in" filter="fade">
                                      <p:cBhvr>
                                        <p:cTn id="28" dur="2000"/>
                                        <p:tgtEl>
                                          <p:spTgt spid="13">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6">
                                            <p:txEl>
                                              <p:pRg st="0" end="0"/>
                                            </p:txEl>
                                          </p:spTgt>
                                        </p:tgtEl>
                                        <p:attrNameLst>
                                          <p:attrName>style.visibility</p:attrName>
                                        </p:attrNameLst>
                                      </p:cBhvr>
                                      <p:to>
                                        <p:strVal val="visible"/>
                                      </p:to>
                                    </p:set>
                                    <p:animEffect transition="in" filter="fade">
                                      <p:cBhvr>
                                        <p:cTn id="33" dur="2000"/>
                                        <p:tgtEl>
                                          <p:spTgt spid="26">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1">
                                            <p:txEl>
                                              <p:pRg st="0" end="0"/>
                                            </p:txEl>
                                          </p:spTgt>
                                        </p:tgtEl>
                                        <p:attrNameLst>
                                          <p:attrName>style.visibility</p:attrName>
                                        </p:attrNameLst>
                                      </p:cBhvr>
                                      <p:to>
                                        <p:strVal val="visible"/>
                                      </p:to>
                                    </p:set>
                                    <p:animEffect transition="in" filter="fade">
                                      <p:cBhvr>
                                        <p:cTn id="38" dur="2000"/>
                                        <p:tgtEl>
                                          <p:spTgt spid="31">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xEl>
                                              <p:pRg st="0" end="0"/>
                                            </p:txEl>
                                          </p:spTgt>
                                        </p:tgtEl>
                                        <p:attrNameLst>
                                          <p:attrName>style.visibility</p:attrName>
                                        </p:attrNameLst>
                                      </p:cBhvr>
                                      <p:to>
                                        <p:strVal val="visible"/>
                                      </p:to>
                                    </p:set>
                                    <p:animEffect transition="in" filter="fade">
                                      <p:cBhvr>
                                        <p:cTn id="41"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P spid="17" grpId="0" build="allAtOnce"/>
      <p:bldP spid="20" grpId="0" build="allAtOnce"/>
      <p:bldP spid="21" grpId="0" build="allAtOnce"/>
      <p:bldP spid="26" grpId="0" build="allAtOnce"/>
      <p:bldP spid="31" grpId="0" build="allAtOnce"/>
      <p:bldP spid="12" grpId="0" build="allAtOnce"/>
      <p:bldP spid="13" grpId="0" build="allAtOnce"/>
      <p:bldP spid="15" grpId="0" build="allAtOnce"/>
    </p:bldLst>
  </p:timing>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Frege</a:t>
            </a:r>
            <a:r>
              <a:rPr lang="nl-NL" sz="3600" dirty="0" smtClean="0"/>
              <a:t> en </a:t>
            </a:r>
            <a:r>
              <a:rPr lang="nl-NL" sz="3600" dirty="0" err="1" smtClean="0"/>
              <a:t>Russell</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smtClean="0"/>
              <a:t>In </a:t>
            </a:r>
            <a:r>
              <a:rPr lang="nl-NL" sz="2000" dirty="0" err="1" smtClean="0"/>
              <a:t>Russell’s</a:t>
            </a:r>
            <a:r>
              <a:rPr lang="nl-NL" sz="2000" dirty="0" smtClean="0"/>
              <a:t> analyse wordt de betekenis van een zin met een unieke bepaling radicaal ontkoppeld van de syntactische structuur. Bij </a:t>
            </a:r>
            <a:r>
              <a:rPr lang="nl-NL" sz="2000" dirty="0" err="1" smtClean="0"/>
              <a:t>Frege</a:t>
            </a:r>
            <a:r>
              <a:rPr lang="nl-NL" sz="2000" dirty="0" smtClean="0"/>
              <a:t> is dit niet zo. Unieke bepalingen functioneren in de taal immers als individuele termen. </a:t>
            </a:r>
          </a:p>
        </p:txBody>
      </p:sp>
      <p:sp>
        <p:nvSpPr>
          <p:cNvPr id="6" name="Content Placeholder 2"/>
          <p:cNvSpPr txBox="1">
            <a:spLocks/>
          </p:cNvSpPr>
          <p:nvPr/>
        </p:nvSpPr>
        <p:spPr>
          <a:xfrm>
            <a:off x="395536" y="2708920"/>
            <a:ext cx="8363272" cy="1108720"/>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In </a:t>
            </a:r>
            <a:r>
              <a:rPr lang="nl-NL" sz="2000" dirty="0" err="1" smtClean="0"/>
              <a:t>Russell’s</a:t>
            </a:r>
            <a:r>
              <a:rPr lang="nl-NL" sz="2000" dirty="0" smtClean="0"/>
              <a:t> analyse is er verschil tussen </a:t>
            </a:r>
            <a:r>
              <a:rPr lang="nl-NL" sz="2000" dirty="0" err="1" smtClean="0"/>
              <a:t>logisch-semantische</a:t>
            </a:r>
            <a:r>
              <a:rPr lang="nl-NL" sz="2000" dirty="0" smtClean="0"/>
              <a:t> </a:t>
            </a:r>
            <a:r>
              <a:rPr lang="nl-NL" sz="2000" i="1" dirty="0" smtClean="0"/>
              <a:t>dieptestructuur</a:t>
            </a:r>
            <a:r>
              <a:rPr lang="nl-NL" sz="2000" dirty="0" smtClean="0"/>
              <a:t> en de </a:t>
            </a:r>
            <a:r>
              <a:rPr lang="nl-NL" sz="2000" dirty="0" err="1" smtClean="0"/>
              <a:t>syntactisch-grammaticale</a:t>
            </a:r>
            <a:r>
              <a:rPr lang="nl-NL" sz="2000" dirty="0" smtClean="0"/>
              <a:t> </a:t>
            </a:r>
            <a:r>
              <a:rPr lang="nl-NL" sz="2000" i="1" dirty="0" smtClean="0"/>
              <a:t>oppervlaktestructuur</a:t>
            </a:r>
            <a:r>
              <a:rPr lang="nl-NL" sz="2000" dirty="0" smtClean="0"/>
              <a:t> van de taal.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95536" y="3573016"/>
            <a:ext cx="8496944" cy="110872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logisch</a:t>
            </a:r>
            <a:r>
              <a:rPr kumimoji="0" lang="nl-NL" sz="2000" b="0" i="0" u="none" strike="noStrike" kern="1200" cap="none" spc="0" normalizeH="0" noProof="0" dirty="0" smtClean="0">
                <a:ln>
                  <a:noFill/>
                </a:ln>
                <a:solidFill>
                  <a:schemeClr val="tx1"/>
                </a:solidFill>
                <a:effectLst/>
                <a:uLnTx/>
                <a:uFillTx/>
                <a:latin typeface="+mn-lt"/>
                <a:ea typeface="+mn-ea"/>
                <a:cs typeface="+mn-cs"/>
              </a:rPr>
              <a:t> positivisten begonnen dan ook de concreet gegeven natuurlijke taal te onderscheiden van een logisch </a:t>
            </a:r>
            <a:r>
              <a:rPr kumimoji="0" lang="nl-NL" sz="2000" b="0" i="1" u="none" strike="noStrike" kern="1200" cap="none" spc="0" normalizeH="0" noProof="0" dirty="0" smtClean="0">
                <a:ln>
                  <a:noFill/>
                </a:ln>
                <a:solidFill>
                  <a:schemeClr val="tx1"/>
                </a:solidFill>
                <a:effectLst/>
                <a:uLnTx/>
                <a:uFillTx/>
                <a:latin typeface="+mn-lt"/>
                <a:ea typeface="+mn-ea"/>
                <a:cs typeface="+mn-cs"/>
              </a:rPr>
              <a:t>ideale taal</a:t>
            </a:r>
            <a:r>
              <a:rPr kumimoji="0" lang="nl-NL" sz="2000" b="0" i="0" u="none" strike="noStrike" kern="1200" cap="none" spc="0" normalizeH="0" noProof="0" dirty="0" smtClean="0">
                <a:ln>
                  <a:noFill/>
                </a:ln>
                <a:solidFill>
                  <a:schemeClr val="tx1"/>
                </a:solidFill>
                <a:effectLst/>
                <a:uLnTx/>
                <a:uFillTx/>
                <a:latin typeface="+mn-lt"/>
                <a:ea typeface="+mn-ea"/>
                <a:cs typeface="+mn-cs"/>
              </a:rPr>
              <a:t>. Dit wordt ook wel </a:t>
            </a:r>
            <a:r>
              <a:rPr kumimoji="0" lang="nl-NL" sz="2000" b="0" i="1" u="none" strike="noStrike" kern="1200" cap="none" spc="0" normalizeH="0" noProof="0" dirty="0" err="1" smtClean="0">
                <a:ln>
                  <a:noFill/>
                </a:ln>
                <a:solidFill>
                  <a:schemeClr val="tx1"/>
                </a:solidFill>
                <a:effectLst/>
                <a:uLnTx/>
                <a:uFillTx/>
                <a:latin typeface="+mn-lt"/>
                <a:ea typeface="+mn-ea"/>
                <a:cs typeface="+mn-cs"/>
              </a:rPr>
              <a:t>ideal</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language</a:t>
            </a:r>
            <a:r>
              <a:rPr kumimoji="0" lang="nl-NL" sz="2000" b="0" i="1" u="none" strike="noStrike" kern="1200" cap="none" spc="0" normalizeH="0" noProof="0" dirty="0" smtClean="0">
                <a:ln>
                  <a:noFill/>
                </a:ln>
                <a:solidFill>
                  <a:schemeClr val="tx1"/>
                </a:solidFill>
                <a:effectLst/>
                <a:uLnTx/>
                <a:uFillTx/>
                <a:latin typeface="+mn-lt"/>
                <a:ea typeface="+mn-ea"/>
                <a:cs typeface="+mn-cs"/>
              </a:rPr>
              <a:t> </a:t>
            </a:r>
            <a:r>
              <a:rPr kumimoji="0" lang="nl-NL" sz="2000" b="0" i="1" u="none" strike="noStrike" kern="1200" cap="none" spc="0" normalizeH="0" noProof="0" dirty="0" err="1" smtClean="0">
                <a:ln>
                  <a:noFill/>
                </a:ln>
                <a:solidFill>
                  <a:schemeClr val="tx1"/>
                </a:solidFill>
                <a:effectLst/>
                <a:uLnTx/>
                <a:uFillTx/>
                <a:latin typeface="+mn-lt"/>
                <a:ea typeface="+mn-ea"/>
                <a:cs typeface="+mn-cs"/>
              </a:rPr>
              <a:t>philosophy</a:t>
            </a:r>
            <a:r>
              <a:rPr lang="nl-NL" sz="2000" dirty="0" smtClean="0"/>
              <a:t> genoemd.</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build="allAtOnce"/>
    </p:bldLst>
  </p:timing>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Niet verwijzende unieke bepalingen</a:t>
            </a:r>
            <a:endParaRPr lang="nl-NL" sz="3600" dirty="0"/>
          </a:p>
        </p:txBody>
      </p:sp>
      <p:sp>
        <p:nvSpPr>
          <p:cNvPr id="3" name="Content Placeholder 2"/>
          <p:cNvSpPr>
            <a:spLocks noGrp="1"/>
          </p:cNvSpPr>
          <p:nvPr>
            <p:ph idx="1"/>
          </p:nvPr>
        </p:nvSpPr>
        <p:spPr>
          <a:xfrm>
            <a:off x="539552" y="1600201"/>
            <a:ext cx="8686800" cy="820687"/>
          </a:xfrm>
        </p:spPr>
        <p:txBody>
          <a:bodyPr>
            <a:noAutofit/>
          </a:bodyPr>
          <a:lstStyle/>
          <a:p>
            <a:pPr>
              <a:buNone/>
            </a:pPr>
            <a:r>
              <a:rPr lang="nl-NL" sz="2000" dirty="0" smtClean="0"/>
              <a:t>Neem de volgende uitspraken:</a:t>
            </a:r>
          </a:p>
          <a:p>
            <a:pPr>
              <a:buNone/>
            </a:pPr>
            <a:endParaRPr lang="nl-NL" sz="800" dirty="0" smtClean="0"/>
          </a:p>
          <a:p>
            <a:pPr>
              <a:buNone/>
            </a:pPr>
            <a:r>
              <a:rPr lang="nl-NL" sz="2000" b="1" dirty="0" smtClean="0">
                <a:solidFill>
                  <a:srgbClr val="0070C0"/>
                </a:solidFill>
              </a:rPr>
              <a:t>De koning van Frankrijk is kaal</a:t>
            </a:r>
          </a:p>
          <a:p>
            <a:pPr>
              <a:buNone/>
            </a:pPr>
            <a:endParaRPr lang="nl-NL" sz="800" dirty="0" smtClean="0"/>
          </a:p>
          <a:p>
            <a:pPr>
              <a:buNone/>
            </a:pPr>
            <a:r>
              <a:rPr lang="nl-NL" sz="2000" b="1" dirty="0" smtClean="0">
                <a:solidFill>
                  <a:srgbClr val="0070C0"/>
                </a:solidFill>
              </a:rPr>
              <a:t>De minister moet aftreden</a:t>
            </a:r>
          </a:p>
          <a:p>
            <a:pPr>
              <a:buNone/>
            </a:pPr>
            <a:endParaRPr lang="nl-NL" sz="2000" dirty="0" smtClean="0"/>
          </a:p>
        </p:txBody>
      </p:sp>
    </p:spTree>
  </p:cSld>
  <p:clrMapOvr>
    <a:masterClrMapping/>
  </p:clrMapOvr>
  <p:timing>
    <p:tnLst>
      <p:par>
        <p:cTn id="1" dur="indefinite" restart="never" nodeType="tmRoot"/>
      </p:par>
    </p:tnLst>
  </p:timing>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Niet verwijzende unieke bepalingen</a:t>
            </a:r>
            <a:endParaRPr lang="nl-NL" sz="3600" dirty="0"/>
          </a:p>
        </p:txBody>
      </p:sp>
      <p:sp>
        <p:nvSpPr>
          <p:cNvPr id="3" name="Content Placeholder 2"/>
          <p:cNvSpPr>
            <a:spLocks noGrp="1"/>
          </p:cNvSpPr>
          <p:nvPr>
            <p:ph idx="1"/>
          </p:nvPr>
        </p:nvSpPr>
        <p:spPr>
          <a:xfrm>
            <a:off x="539552" y="1600201"/>
            <a:ext cx="8686800" cy="820687"/>
          </a:xfrm>
        </p:spPr>
        <p:txBody>
          <a:bodyPr>
            <a:noAutofit/>
          </a:bodyPr>
          <a:lstStyle/>
          <a:p>
            <a:pPr>
              <a:buNone/>
            </a:pPr>
            <a:r>
              <a:rPr lang="nl-NL" sz="2000" dirty="0" smtClean="0"/>
              <a:t>Neem de volgende uitspraken:</a:t>
            </a:r>
          </a:p>
          <a:p>
            <a:pPr>
              <a:buNone/>
            </a:pPr>
            <a:endParaRPr lang="nl-NL" sz="800" dirty="0" smtClean="0"/>
          </a:p>
          <a:p>
            <a:pPr>
              <a:buNone/>
            </a:pPr>
            <a:r>
              <a:rPr lang="nl-NL" sz="2000" b="1" i="1" dirty="0" smtClean="0">
                <a:solidFill>
                  <a:srgbClr val="0070C0"/>
                </a:solidFill>
              </a:rPr>
              <a:t>De koning van Frankrijk</a:t>
            </a:r>
            <a:r>
              <a:rPr lang="nl-NL" sz="2000" b="1" dirty="0" smtClean="0">
                <a:solidFill>
                  <a:srgbClr val="0070C0"/>
                </a:solidFill>
              </a:rPr>
              <a:t> is kaal</a:t>
            </a:r>
          </a:p>
          <a:p>
            <a:pPr>
              <a:buNone/>
            </a:pPr>
            <a:endParaRPr lang="nl-NL" sz="800" dirty="0" smtClean="0"/>
          </a:p>
          <a:p>
            <a:pPr>
              <a:buNone/>
            </a:pPr>
            <a:r>
              <a:rPr lang="nl-NL" sz="2000" b="1" i="1" dirty="0" smtClean="0">
                <a:solidFill>
                  <a:srgbClr val="0070C0"/>
                </a:solidFill>
              </a:rPr>
              <a:t>De minister </a:t>
            </a:r>
            <a:r>
              <a:rPr lang="nl-NL" sz="2000" b="1" dirty="0" smtClean="0">
                <a:solidFill>
                  <a:srgbClr val="0070C0"/>
                </a:solidFill>
              </a:rPr>
              <a:t>moet aftreden</a:t>
            </a:r>
          </a:p>
          <a:p>
            <a:pPr>
              <a:buNone/>
            </a:pPr>
            <a:endParaRPr lang="nl-NL" sz="2000" dirty="0" smtClean="0"/>
          </a:p>
        </p:txBody>
      </p:sp>
      <p:sp>
        <p:nvSpPr>
          <p:cNvPr id="4" name="TextBox 3"/>
          <p:cNvSpPr txBox="1"/>
          <p:nvPr/>
        </p:nvSpPr>
        <p:spPr>
          <a:xfrm>
            <a:off x="5292080" y="2420888"/>
            <a:ext cx="2952328" cy="400110"/>
          </a:xfrm>
          <a:prstGeom prst="rect">
            <a:avLst/>
          </a:prstGeom>
          <a:noFill/>
        </p:spPr>
        <p:txBody>
          <a:bodyPr wrap="square" rtlCol="0">
            <a:spAutoFit/>
          </a:bodyPr>
          <a:lstStyle/>
          <a:p>
            <a:r>
              <a:rPr lang="nl-NL" sz="2000" dirty="0" smtClean="0"/>
              <a:t>Twee unieke bepalingen</a:t>
            </a:r>
            <a:endParaRPr lang="nl-NL" sz="2000" dirty="0"/>
          </a:p>
        </p:txBody>
      </p:sp>
      <p:sp>
        <p:nvSpPr>
          <p:cNvPr id="7" name="TextBox 6"/>
          <p:cNvSpPr txBox="1"/>
          <p:nvPr/>
        </p:nvSpPr>
        <p:spPr>
          <a:xfrm>
            <a:off x="5292080" y="2996952"/>
            <a:ext cx="3707904" cy="2369880"/>
          </a:xfrm>
          <a:prstGeom prst="rect">
            <a:avLst/>
          </a:prstGeom>
          <a:noFill/>
        </p:spPr>
        <p:txBody>
          <a:bodyPr wrap="square" rtlCol="0">
            <a:spAutoFit/>
          </a:bodyPr>
          <a:lstStyle/>
          <a:p>
            <a:r>
              <a:rPr lang="nl-NL" sz="2000" dirty="0" smtClean="0"/>
              <a:t>Beide unieke bepalingen verwijzen </a:t>
            </a:r>
            <a:r>
              <a:rPr lang="nl-NL" sz="2000" i="1" dirty="0" smtClean="0"/>
              <a:t>niet</a:t>
            </a:r>
            <a:r>
              <a:rPr lang="nl-NL" sz="2000" dirty="0" smtClean="0"/>
              <a:t>. Er is immers     geen koning van Frankrijk en        er is meer dan één minister. </a:t>
            </a:r>
          </a:p>
          <a:p>
            <a:endParaRPr lang="nl-NL" sz="800" dirty="0" smtClean="0"/>
          </a:p>
          <a:p>
            <a:r>
              <a:rPr lang="nl-NL" sz="2000" dirty="0" smtClean="0"/>
              <a:t>Zijn zinnen met niet verwijzende unieke bepalingen nu waar of  onwaar?</a:t>
            </a:r>
            <a:endParaRPr lang="nl-NL" sz="2000" dirty="0"/>
          </a:p>
        </p:txBody>
      </p:sp>
      <p:sp>
        <p:nvSpPr>
          <p:cNvPr id="8" name="Rectangle 7"/>
          <p:cNvSpPr/>
          <p:nvPr/>
        </p:nvSpPr>
        <p:spPr>
          <a:xfrm>
            <a:off x="539552" y="4469050"/>
            <a:ext cx="1056700" cy="400110"/>
          </a:xfrm>
          <a:prstGeom prst="rect">
            <a:avLst/>
          </a:prstGeom>
        </p:spPr>
        <p:txBody>
          <a:bodyPr wrap="none">
            <a:spAutoFit/>
          </a:bodyPr>
          <a:lstStyle/>
          <a:p>
            <a:r>
              <a:rPr lang="nl-NL" sz="2000" b="1" dirty="0" smtClean="0"/>
              <a:t>B(</a:t>
            </a:r>
            <a:r>
              <a:rPr lang="el-GR" sz="2000" b="1" dirty="0" smtClean="0"/>
              <a:t>ι</a:t>
            </a:r>
            <a:r>
              <a:rPr lang="nl-NL" sz="2000" b="1" dirty="0" smtClean="0"/>
              <a:t>x</a:t>
            </a:r>
            <a:r>
              <a:rPr lang="nl-NL" sz="2000" dirty="0" smtClean="0"/>
              <a:t> </a:t>
            </a:r>
            <a:r>
              <a:rPr lang="nl-NL" sz="2000" b="1" dirty="0" err="1" smtClean="0"/>
              <a:t>Kx</a:t>
            </a:r>
            <a:r>
              <a:rPr lang="nl-NL" sz="2000" b="1" dirty="0" smtClean="0"/>
              <a:t>) </a:t>
            </a:r>
            <a:endParaRPr lang="nl-NL" sz="2000" dirty="0"/>
          </a:p>
        </p:txBody>
      </p:sp>
      <p:sp>
        <p:nvSpPr>
          <p:cNvPr id="9" name="TextBox 8"/>
          <p:cNvSpPr txBox="1"/>
          <p:nvPr/>
        </p:nvSpPr>
        <p:spPr>
          <a:xfrm>
            <a:off x="539552" y="3789040"/>
            <a:ext cx="2232248" cy="400110"/>
          </a:xfrm>
          <a:prstGeom prst="rect">
            <a:avLst/>
          </a:prstGeom>
          <a:noFill/>
        </p:spPr>
        <p:txBody>
          <a:bodyPr wrap="square" rtlCol="0">
            <a:spAutoFit/>
          </a:bodyPr>
          <a:lstStyle/>
          <a:p>
            <a:r>
              <a:rPr lang="nl-NL" sz="2000" dirty="0" err="1" smtClean="0"/>
              <a:t>Frege’s</a:t>
            </a:r>
            <a:r>
              <a:rPr lang="nl-NL" sz="2000" dirty="0" smtClean="0"/>
              <a:t> analyse:</a:t>
            </a:r>
            <a:endParaRPr lang="nl-NL" sz="2000" dirty="0"/>
          </a:p>
        </p:txBody>
      </p:sp>
      <p:sp>
        <p:nvSpPr>
          <p:cNvPr id="10" name="Rectangle 9"/>
          <p:cNvSpPr/>
          <p:nvPr/>
        </p:nvSpPr>
        <p:spPr>
          <a:xfrm>
            <a:off x="1691680" y="4438853"/>
            <a:ext cx="3888432"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Kx</a:t>
            </a:r>
            <a:r>
              <a:rPr lang="nl-NL" dirty="0" smtClean="0"/>
              <a:t>: x is koning van Frankrijk                                                          </a:t>
            </a:r>
            <a:r>
              <a:rPr lang="nl-NL" b="1" dirty="0" err="1" smtClean="0"/>
              <a:t>Bx</a:t>
            </a:r>
            <a:r>
              <a:rPr lang="nl-NL" dirty="0" smtClean="0"/>
              <a:t>: x is kaal</a:t>
            </a:r>
            <a:endParaRPr lang="nl-NL" dirty="0"/>
          </a:p>
        </p:txBody>
      </p:sp>
      <p:sp>
        <p:nvSpPr>
          <p:cNvPr id="11" name="Rectangle 10"/>
          <p:cNvSpPr/>
          <p:nvPr/>
        </p:nvSpPr>
        <p:spPr>
          <a:xfrm>
            <a:off x="539552" y="5331405"/>
            <a:ext cx="1151277" cy="400110"/>
          </a:xfrm>
          <a:prstGeom prst="rect">
            <a:avLst/>
          </a:prstGeom>
        </p:spPr>
        <p:txBody>
          <a:bodyPr wrap="none">
            <a:spAutoFit/>
          </a:bodyPr>
          <a:lstStyle/>
          <a:p>
            <a:r>
              <a:rPr lang="nl-NL" sz="2000" b="1" dirty="0" smtClean="0"/>
              <a:t>A(</a:t>
            </a:r>
            <a:r>
              <a:rPr lang="el-GR" sz="2000" b="1" dirty="0" smtClean="0"/>
              <a:t>ι</a:t>
            </a:r>
            <a:r>
              <a:rPr lang="nl-NL" sz="2000" b="1" dirty="0" smtClean="0"/>
              <a:t>x</a:t>
            </a:r>
            <a:r>
              <a:rPr lang="nl-NL" sz="2000" dirty="0" smtClean="0"/>
              <a:t> </a:t>
            </a:r>
            <a:r>
              <a:rPr lang="nl-NL" sz="2000" b="1" dirty="0" err="1" smtClean="0"/>
              <a:t>Mx</a:t>
            </a:r>
            <a:r>
              <a:rPr lang="nl-NL" sz="2000" b="1" dirty="0" smtClean="0"/>
              <a:t>) </a:t>
            </a:r>
            <a:endParaRPr lang="nl-NL" sz="2000" dirty="0"/>
          </a:p>
        </p:txBody>
      </p:sp>
      <p:sp>
        <p:nvSpPr>
          <p:cNvPr id="12" name="Rectangle 11"/>
          <p:cNvSpPr/>
          <p:nvPr/>
        </p:nvSpPr>
        <p:spPr>
          <a:xfrm>
            <a:off x="1691680" y="5301208"/>
            <a:ext cx="3888432" cy="646331"/>
          </a:xfrm>
          <a:prstGeom prst="rect">
            <a:avLst/>
          </a:prstGeom>
        </p:spPr>
        <p:txBody>
          <a:bodyPr wrap="square">
            <a:spAutoFit/>
          </a:bodyPr>
          <a:lstStyle/>
          <a:p>
            <a:pPr marL="342900" lvl="0" indent="-342900">
              <a:spcBef>
                <a:spcPct val="20000"/>
              </a:spcBef>
              <a:defRPr/>
            </a:pPr>
            <a:r>
              <a:rPr lang="nl-NL" dirty="0" smtClean="0"/>
              <a:t>       </a:t>
            </a:r>
            <a:r>
              <a:rPr lang="nl-NL" b="1" dirty="0" err="1" smtClean="0"/>
              <a:t>Ax</a:t>
            </a:r>
            <a:r>
              <a:rPr lang="nl-NL" dirty="0" smtClean="0"/>
              <a:t>: x moet aftreden                                     </a:t>
            </a:r>
            <a:r>
              <a:rPr lang="nl-NL" b="1" dirty="0" err="1" smtClean="0"/>
              <a:t>Mx</a:t>
            </a:r>
            <a:r>
              <a:rPr lang="nl-NL" dirty="0" smtClean="0"/>
              <a:t>: x is minister</a:t>
            </a:r>
            <a:endParaRPr lang="nl-NL" dirty="0"/>
          </a:p>
        </p:txBody>
      </p:sp>
      <p:sp>
        <p:nvSpPr>
          <p:cNvPr id="13" name="TextBox 12"/>
          <p:cNvSpPr txBox="1"/>
          <p:nvPr/>
        </p:nvSpPr>
        <p:spPr>
          <a:xfrm>
            <a:off x="467544" y="6237312"/>
            <a:ext cx="4824536" cy="369332"/>
          </a:xfrm>
          <a:prstGeom prst="rect">
            <a:avLst/>
          </a:prstGeom>
          <a:noFill/>
        </p:spPr>
        <p:txBody>
          <a:bodyPr wrap="square" rtlCol="0">
            <a:spAutoFit/>
          </a:bodyPr>
          <a:lstStyle/>
          <a:p>
            <a:r>
              <a:rPr lang="nl-NL" dirty="0" smtClean="0"/>
              <a:t>Zegt eigenlijk niets over de waarheidswaarde.</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20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20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2000"/>
                                        <p:tgtEl>
                                          <p:spTgt spid="8">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20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2000"/>
                                        <p:tgtEl>
                                          <p:spTgt spid="11">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xEl>
                                              <p:pRg st="0" end="0"/>
                                            </p:txEl>
                                          </p:spTgt>
                                        </p:tgtEl>
                                        <p:attrNameLst>
                                          <p:attrName>style.visibility</p:attrName>
                                        </p:attrNameLst>
                                      </p:cBhvr>
                                      <p:to>
                                        <p:strVal val="visible"/>
                                      </p:to>
                                    </p:set>
                                    <p:animEffect transition="in" filter="fade">
                                      <p:cBhvr>
                                        <p:cTn id="33" dur="2000"/>
                                        <p:tgtEl>
                                          <p:spTgt spid="12">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xEl>
                                              <p:pRg st="0" end="0"/>
                                            </p:txEl>
                                          </p:spTgt>
                                        </p:tgtEl>
                                        <p:attrNameLst>
                                          <p:attrName>style.visibility</p:attrName>
                                        </p:attrNameLst>
                                      </p:cBhvr>
                                      <p:to>
                                        <p:strVal val="visible"/>
                                      </p:to>
                                    </p:set>
                                    <p:animEffect transition="in" filter="fade">
                                      <p:cBhvr>
                                        <p:cTn id="38"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P spid="9" grpId="0" build="allAtOnce"/>
      <p:bldP spid="10" grpId="0" build="allAtOnce"/>
      <p:bldP spid="11" grpId="0" build="allAtOnce"/>
      <p:bldP spid="12" grpId="0" build="allAtOnce"/>
      <p:bldP spid="13" grpId="0" build="allAtOnce"/>
    </p:bldLst>
  </p:timing>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Niet verwijzende unieke bepalingen</a:t>
            </a:r>
            <a:endParaRPr lang="nl-NL" sz="3600" dirty="0"/>
          </a:p>
        </p:txBody>
      </p:sp>
      <p:sp>
        <p:nvSpPr>
          <p:cNvPr id="3" name="Content Placeholder 2"/>
          <p:cNvSpPr>
            <a:spLocks noGrp="1"/>
          </p:cNvSpPr>
          <p:nvPr>
            <p:ph idx="1"/>
          </p:nvPr>
        </p:nvSpPr>
        <p:spPr>
          <a:xfrm>
            <a:off x="539552" y="1600201"/>
            <a:ext cx="8686800" cy="820687"/>
          </a:xfrm>
        </p:spPr>
        <p:txBody>
          <a:bodyPr>
            <a:noAutofit/>
          </a:bodyPr>
          <a:lstStyle/>
          <a:p>
            <a:pPr>
              <a:buNone/>
            </a:pPr>
            <a:r>
              <a:rPr lang="nl-NL" sz="2000" dirty="0" smtClean="0"/>
              <a:t>Neem de volgende uitspraken:</a:t>
            </a:r>
          </a:p>
          <a:p>
            <a:pPr>
              <a:buNone/>
            </a:pPr>
            <a:endParaRPr lang="nl-NL" sz="800" dirty="0" smtClean="0"/>
          </a:p>
          <a:p>
            <a:pPr>
              <a:buNone/>
            </a:pPr>
            <a:r>
              <a:rPr lang="nl-NL" sz="2000" b="1" i="1" dirty="0" smtClean="0">
                <a:solidFill>
                  <a:srgbClr val="0070C0"/>
                </a:solidFill>
              </a:rPr>
              <a:t>De koning van Frankrijk</a:t>
            </a:r>
            <a:r>
              <a:rPr lang="nl-NL" sz="2000" b="1" dirty="0" smtClean="0">
                <a:solidFill>
                  <a:srgbClr val="0070C0"/>
                </a:solidFill>
              </a:rPr>
              <a:t> is kaal</a:t>
            </a:r>
          </a:p>
          <a:p>
            <a:pPr>
              <a:buNone/>
            </a:pPr>
            <a:endParaRPr lang="nl-NL" sz="800" dirty="0" smtClean="0"/>
          </a:p>
          <a:p>
            <a:pPr>
              <a:buNone/>
            </a:pPr>
            <a:r>
              <a:rPr lang="nl-NL" sz="2000" b="1" i="1" dirty="0" smtClean="0">
                <a:solidFill>
                  <a:srgbClr val="0070C0"/>
                </a:solidFill>
              </a:rPr>
              <a:t>De minister </a:t>
            </a:r>
            <a:r>
              <a:rPr lang="nl-NL" sz="2000" b="1" dirty="0" smtClean="0">
                <a:solidFill>
                  <a:srgbClr val="0070C0"/>
                </a:solidFill>
              </a:rPr>
              <a:t>moet aftreden</a:t>
            </a:r>
          </a:p>
          <a:p>
            <a:pPr>
              <a:buNone/>
            </a:pPr>
            <a:endParaRPr lang="nl-NL" sz="2000" dirty="0" smtClean="0"/>
          </a:p>
        </p:txBody>
      </p:sp>
      <p:sp>
        <p:nvSpPr>
          <p:cNvPr id="4" name="TextBox 3"/>
          <p:cNvSpPr txBox="1"/>
          <p:nvPr/>
        </p:nvSpPr>
        <p:spPr>
          <a:xfrm>
            <a:off x="5292080" y="2420888"/>
            <a:ext cx="2952328" cy="400110"/>
          </a:xfrm>
          <a:prstGeom prst="rect">
            <a:avLst/>
          </a:prstGeom>
          <a:noFill/>
        </p:spPr>
        <p:txBody>
          <a:bodyPr wrap="square" rtlCol="0">
            <a:spAutoFit/>
          </a:bodyPr>
          <a:lstStyle/>
          <a:p>
            <a:r>
              <a:rPr lang="nl-NL" sz="2000" dirty="0" smtClean="0"/>
              <a:t>Twee unieke bepalingen</a:t>
            </a:r>
            <a:endParaRPr lang="nl-NL" sz="2000" dirty="0"/>
          </a:p>
        </p:txBody>
      </p:sp>
      <p:sp>
        <p:nvSpPr>
          <p:cNvPr id="7" name="TextBox 6"/>
          <p:cNvSpPr txBox="1"/>
          <p:nvPr/>
        </p:nvSpPr>
        <p:spPr>
          <a:xfrm>
            <a:off x="5292080" y="2996952"/>
            <a:ext cx="3707904" cy="2369880"/>
          </a:xfrm>
          <a:prstGeom prst="rect">
            <a:avLst/>
          </a:prstGeom>
          <a:noFill/>
        </p:spPr>
        <p:txBody>
          <a:bodyPr wrap="square" rtlCol="0">
            <a:spAutoFit/>
          </a:bodyPr>
          <a:lstStyle/>
          <a:p>
            <a:r>
              <a:rPr lang="nl-NL" sz="2000" dirty="0" smtClean="0"/>
              <a:t>Beide unieke bepalingen verwijzen </a:t>
            </a:r>
            <a:r>
              <a:rPr lang="nl-NL" sz="2000" i="1" dirty="0" smtClean="0"/>
              <a:t>niet</a:t>
            </a:r>
            <a:r>
              <a:rPr lang="nl-NL" sz="2000" dirty="0" smtClean="0"/>
              <a:t>. Er is immers     geen koning van Frankrijk en        er is meer dan één minister. </a:t>
            </a:r>
          </a:p>
          <a:p>
            <a:endParaRPr lang="nl-NL" sz="800" dirty="0" smtClean="0"/>
          </a:p>
          <a:p>
            <a:r>
              <a:rPr lang="nl-NL" sz="2000" dirty="0" smtClean="0"/>
              <a:t>Zijn zinnen met niet verwijzende unieke bepalingen nu waar of  onwaar?</a:t>
            </a:r>
            <a:endParaRPr lang="nl-NL" sz="2000" dirty="0"/>
          </a:p>
        </p:txBody>
      </p:sp>
      <p:sp>
        <p:nvSpPr>
          <p:cNvPr id="9" name="TextBox 8"/>
          <p:cNvSpPr txBox="1"/>
          <p:nvPr/>
        </p:nvSpPr>
        <p:spPr>
          <a:xfrm>
            <a:off x="539552" y="3789040"/>
            <a:ext cx="2232248" cy="400110"/>
          </a:xfrm>
          <a:prstGeom prst="rect">
            <a:avLst/>
          </a:prstGeom>
          <a:noFill/>
        </p:spPr>
        <p:txBody>
          <a:bodyPr wrap="square" rtlCol="0">
            <a:spAutoFit/>
          </a:bodyPr>
          <a:lstStyle/>
          <a:p>
            <a:r>
              <a:rPr lang="nl-NL" sz="2000" dirty="0" err="1" smtClean="0"/>
              <a:t>Russell’s</a:t>
            </a:r>
            <a:r>
              <a:rPr lang="nl-NL" sz="2000" dirty="0" smtClean="0"/>
              <a:t> analyse:</a:t>
            </a:r>
            <a:endParaRPr lang="nl-NL" sz="2000" dirty="0"/>
          </a:p>
        </p:txBody>
      </p:sp>
      <p:sp>
        <p:nvSpPr>
          <p:cNvPr id="13" name="TextBox 12"/>
          <p:cNvSpPr txBox="1"/>
          <p:nvPr/>
        </p:nvSpPr>
        <p:spPr>
          <a:xfrm>
            <a:off x="539552" y="5805264"/>
            <a:ext cx="5328592" cy="923330"/>
          </a:xfrm>
          <a:prstGeom prst="rect">
            <a:avLst/>
          </a:prstGeom>
          <a:noFill/>
        </p:spPr>
        <p:txBody>
          <a:bodyPr wrap="square" rtlCol="0">
            <a:spAutoFit/>
          </a:bodyPr>
          <a:lstStyle/>
          <a:p>
            <a:r>
              <a:rPr lang="nl-NL" dirty="0" smtClean="0"/>
              <a:t>Beide zinnen zijn </a:t>
            </a:r>
            <a:r>
              <a:rPr lang="nl-NL" b="1" dirty="0" smtClean="0">
                <a:solidFill>
                  <a:srgbClr val="C00000"/>
                </a:solidFill>
              </a:rPr>
              <a:t>onwaar</a:t>
            </a:r>
            <a:r>
              <a:rPr lang="nl-NL" dirty="0" smtClean="0"/>
              <a:t>. In het eerste geval wordt                         de </a:t>
            </a:r>
            <a:r>
              <a:rPr lang="nl-NL" i="1" dirty="0" err="1" smtClean="0"/>
              <a:t>existentie-conditie</a:t>
            </a:r>
            <a:r>
              <a:rPr lang="nl-NL" dirty="0" smtClean="0"/>
              <a:t> geschonden. In het tweede                       geval wordt de </a:t>
            </a:r>
            <a:r>
              <a:rPr lang="nl-NL" i="1" dirty="0" smtClean="0"/>
              <a:t>‘ten hoogste één’-conditie</a:t>
            </a:r>
            <a:r>
              <a:rPr lang="nl-NL" dirty="0" smtClean="0"/>
              <a:t> geschonden</a:t>
            </a:r>
            <a:endParaRPr lang="nl-NL" dirty="0"/>
          </a:p>
        </p:txBody>
      </p:sp>
      <p:sp>
        <p:nvSpPr>
          <p:cNvPr id="14" name="Rectangle 13"/>
          <p:cNvSpPr/>
          <p:nvPr/>
        </p:nvSpPr>
        <p:spPr>
          <a:xfrm>
            <a:off x="539552" y="4469050"/>
            <a:ext cx="3543984" cy="400110"/>
          </a:xfrm>
          <a:prstGeom prst="rect">
            <a:avLst/>
          </a:prstGeom>
        </p:spPr>
        <p:txBody>
          <a:bodyPr wrap="none">
            <a:spAutoFit/>
          </a:bodyPr>
          <a:lstStyle/>
          <a:p>
            <a:r>
              <a:rPr lang="nl-NL" sz="2000" b="1" dirty="0" smtClean="0"/>
              <a:t>∃x (</a:t>
            </a:r>
            <a:r>
              <a:rPr lang="nl-NL" sz="2000" b="1" dirty="0" err="1" smtClean="0"/>
              <a:t>Kx</a:t>
            </a:r>
            <a:r>
              <a:rPr lang="nl-NL" sz="2000" b="1" dirty="0" smtClean="0"/>
              <a:t> ∧ ∀y (y ≠x → ¬</a:t>
            </a:r>
            <a:r>
              <a:rPr lang="nl-NL" sz="2000" b="1" dirty="0" err="1" smtClean="0"/>
              <a:t>Ky</a:t>
            </a:r>
            <a:r>
              <a:rPr lang="nl-NL" sz="2000" b="1" dirty="0" smtClean="0"/>
              <a:t>) ∧ </a:t>
            </a:r>
            <a:r>
              <a:rPr lang="nl-NL" sz="2000" b="1" dirty="0" err="1" smtClean="0"/>
              <a:t>Bx</a:t>
            </a:r>
            <a:r>
              <a:rPr lang="nl-NL" sz="2000" b="1" dirty="0" smtClean="0"/>
              <a:t>)   </a:t>
            </a:r>
            <a:endParaRPr lang="nl-NL" sz="2000" dirty="0"/>
          </a:p>
        </p:txBody>
      </p:sp>
      <p:sp>
        <p:nvSpPr>
          <p:cNvPr id="15" name="Rectangle 14"/>
          <p:cNvSpPr/>
          <p:nvPr/>
        </p:nvSpPr>
        <p:spPr>
          <a:xfrm>
            <a:off x="539552" y="5117122"/>
            <a:ext cx="3720955" cy="400110"/>
          </a:xfrm>
          <a:prstGeom prst="rect">
            <a:avLst/>
          </a:prstGeom>
        </p:spPr>
        <p:txBody>
          <a:bodyPr wrap="none">
            <a:spAutoFit/>
          </a:bodyPr>
          <a:lstStyle/>
          <a:p>
            <a:r>
              <a:rPr lang="nl-NL" sz="2000" b="1" dirty="0" smtClean="0"/>
              <a:t>∃x (</a:t>
            </a:r>
            <a:r>
              <a:rPr lang="nl-NL" sz="2000" b="1" dirty="0" err="1" smtClean="0"/>
              <a:t>Mx</a:t>
            </a:r>
            <a:r>
              <a:rPr lang="nl-NL" sz="2000" b="1" dirty="0" smtClean="0"/>
              <a:t> ∧ ∀y (y ≠x → ¬My) ∧ </a:t>
            </a:r>
            <a:r>
              <a:rPr lang="nl-NL" sz="2000" b="1" dirty="0" err="1" smtClean="0"/>
              <a:t>Ax</a:t>
            </a:r>
            <a:r>
              <a:rPr lang="nl-NL" sz="2000" b="1" dirty="0" smtClean="0"/>
              <a:t>)   </a:t>
            </a:r>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20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P spid="14" grpId="0" build="allAtOnce"/>
      <p:bldP spid="15" grpId="0" build="allAtOnce"/>
    </p:bldLst>
  </p:timing>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Russell’s</a:t>
            </a:r>
            <a:r>
              <a:rPr lang="nl-NL" sz="3600" dirty="0" smtClean="0"/>
              <a:t> analyse nader bekeken</a:t>
            </a:r>
            <a:endParaRPr lang="nl-NL" sz="3600" dirty="0"/>
          </a:p>
        </p:txBody>
      </p:sp>
      <p:sp>
        <p:nvSpPr>
          <p:cNvPr id="3" name="Content Placeholder 2"/>
          <p:cNvSpPr>
            <a:spLocks noGrp="1"/>
          </p:cNvSpPr>
          <p:nvPr>
            <p:ph idx="1"/>
          </p:nvPr>
        </p:nvSpPr>
        <p:spPr>
          <a:xfrm>
            <a:off x="457200" y="1600201"/>
            <a:ext cx="8686800" cy="820687"/>
          </a:xfrm>
        </p:spPr>
        <p:txBody>
          <a:bodyPr>
            <a:noAutofit/>
          </a:bodyPr>
          <a:lstStyle/>
          <a:p>
            <a:r>
              <a:rPr lang="nl-NL" sz="2000" dirty="0" err="1" smtClean="0"/>
              <a:t>Russell</a:t>
            </a:r>
            <a:r>
              <a:rPr lang="nl-NL" sz="2000" dirty="0" smtClean="0"/>
              <a:t> analyseert een uitspraak als ‘De president is democraat’ als volgt:  </a:t>
            </a:r>
          </a:p>
        </p:txBody>
      </p:sp>
      <p:sp>
        <p:nvSpPr>
          <p:cNvPr id="8" name="Content Placeholder 2"/>
          <p:cNvSpPr txBox="1">
            <a:spLocks/>
          </p:cNvSpPr>
          <p:nvPr/>
        </p:nvSpPr>
        <p:spPr>
          <a:xfrm>
            <a:off x="395536" y="2708920"/>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existentie-conditie</a:t>
            </a:r>
            <a:r>
              <a:rPr kumimoji="0" lang="nl-NL" sz="2000" b="0" i="0" u="none" strike="noStrike" kern="1200" cap="none" spc="0" normalizeH="0" noProof="0" dirty="0" smtClean="0">
                <a:ln>
                  <a:noFill/>
                </a:ln>
                <a:solidFill>
                  <a:schemeClr val="tx1"/>
                </a:solidFill>
                <a:effectLst/>
                <a:uLnTx/>
                <a:uFillTx/>
                <a:latin typeface="+mn-lt"/>
                <a:ea typeface="+mn-ea"/>
                <a:cs typeface="+mn-cs"/>
              </a:rPr>
              <a:t> luidt </a:t>
            </a:r>
            <a:r>
              <a:rPr lang="nl-NL" sz="2000" b="1" dirty="0" smtClean="0"/>
              <a:t>∃x </a:t>
            </a:r>
            <a:r>
              <a:rPr lang="nl-NL" sz="2000" b="1" dirty="0" err="1" smtClean="0"/>
              <a:t>Px</a:t>
            </a:r>
            <a:r>
              <a:rPr lang="nl-NL" sz="2000" dirty="0" smtClean="0"/>
              <a:t> </a:t>
            </a:r>
          </a:p>
        </p:txBody>
      </p:sp>
      <p:sp>
        <p:nvSpPr>
          <p:cNvPr id="7" name="Rectangle 6"/>
          <p:cNvSpPr/>
          <p:nvPr/>
        </p:nvSpPr>
        <p:spPr>
          <a:xfrm>
            <a:off x="811992" y="2092786"/>
            <a:ext cx="3539174" cy="400110"/>
          </a:xfrm>
          <a:prstGeom prst="rect">
            <a:avLst/>
          </a:prstGeom>
        </p:spPr>
        <p:txBody>
          <a:bodyPr wrap="none">
            <a:spAutoFit/>
          </a:bodyPr>
          <a:lstStyle/>
          <a:p>
            <a:r>
              <a:rPr lang="nl-NL" sz="2000" b="1" dirty="0" smtClean="0"/>
              <a:t>∃x (</a:t>
            </a:r>
            <a:r>
              <a:rPr lang="nl-NL" sz="2000" b="1" dirty="0" err="1" smtClean="0"/>
              <a:t>Px</a:t>
            </a:r>
            <a:r>
              <a:rPr lang="nl-NL" sz="2000" b="1" dirty="0" smtClean="0"/>
              <a:t> ∧ ∀y (y ≠x → ¬</a:t>
            </a:r>
            <a:r>
              <a:rPr lang="nl-NL" sz="2000" b="1" dirty="0" err="1" smtClean="0"/>
              <a:t>Py</a:t>
            </a:r>
            <a:r>
              <a:rPr lang="nl-NL" sz="2000" b="1" dirty="0" smtClean="0"/>
              <a:t>) ∧ </a:t>
            </a:r>
            <a:r>
              <a:rPr lang="nl-NL" sz="2000" b="1" dirty="0" err="1" smtClean="0"/>
              <a:t>Dx</a:t>
            </a:r>
            <a:r>
              <a:rPr lang="nl-NL" sz="2000" b="1" dirty="0" smtClean="0"/>
              <a:t>)   </a:t>
            </a:r>
            <a:endParaRPr lang="nl-NL" sz="2000" dirty="0"/>
          </a:p>
        </p:txBody>
      </p:sp>
      <p:sp>
        <p:nvSpPr>
          <p:cNvPr id="9" name="Content Placeholder 2"/>
          <p:cNvSpPr txBox="1">
            <a:spLocks/>
          </p:cNvSpPr>
          <p:nvPr/>
        </p:nvSpPr>
        <p:spPr>
          <a:xfrm>
            <a:off x="395536" y="3356992"/>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‘ten hoogste één’-conditie</a:t>
            </a:r>
            <a:r>
              <a:rPr kumimoji="0" lang="nl-NL" sz="2000" b="0" i="0" u="none" strike="noStrike" kern="1200" cap="none" spc="0" normalizeH="0" noProof="0" dirty="0" smtClean="0">
                <a:ln>
                  <a:noFill/>
                </a:ln>
                <a:solidFill>
                  <a:schemeClr val="tx1"/>
                </a:solidFill>
                <a:effectLst/>
                <a:uLnTx/>
                <a:uFillTx/>
                <a:latin typeface="+mn-lt"/>
                <a:ea typeface="+mn-ea"/>
                <a:cs typeface="+mn-cs"/>
              </a:rPr>
              <a:t> luidt </a:t>
            </a:r>
            <a:r>
              <a:rPr lang="nl-NL" sz="2000" b="1" dirty="0" smtClean="0"/>
              <a:t>∀x ∀y ((</a:t>
            </a:r>
            <a:r>
              <a:rPr lang="nl-NL" sz="2000" b="1" dirty="0" err="1" smtClean="0"/>
              <a:t>Px</a:t>
            </a:r>
            <a:r>
              <a:rPr lang="nl-NL" sz="2000" b="1" dirty="0" smtClean="0"/>
              <a:t> ∧ </a:t>
            </a:r>
            <a:r>
              <a:rPr lang="nl-NL" sz="2000" b="1" dirty="0" err="1" smtClean="0"/>
              <a:t>Py</a:t>
            </a:r>
            <a:r>
              <a:rPr lang="nl-NL" sz="2000" b="1" dirty="0" smtClean="0"/>
              <a:t>) → x=y)</a:t>
            </a:r>
            <a:r>
              <a:rPr lang="nl-NL" sz="2000" dirty="0" smtClean="0"/>
              <a:t> </a:t>
            </a:r>
          </a:p>
        </p:txBody>
      </p:sp>
      <p:sp>
        <p:nvSpPr>
          <p:cNvPr id="10" name="Content Placeholder 2"/>
          <p:cNvSpPr txBox="1">
            <a:spLocks/>
          </p:cNvSpPr>
          <p:nvPr/>
        </p:nvSpPr>
        <p:spPr>
          <a:xfrm>
            <a:off x="395536" y="4077072"/>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uniciteit-conditie</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u="none" strike="noStrike" kern="1200" cap="none" spc="0" normalizeH="0" baseline="0" noProof="0" dirty="0" smtClean="0">
                <a:ln>
                  <a:noFill/>
                </a:ln>
                <a:solidFill>
                  <a:schemeClr val="tx1"/>
                </a:solidFill>
                <a:effectLst/>
                <a:uLnTx/>
                <a:uFillTx/>
                <a:latin typeface="+mn-lt"/>
                <a:ea typeface="+mn-ea"/>
                <a:cs typeface="+mn-cs"/>
              </a:rPr>
              <a:t>is</a:t>
            </a:r>
            <a:r>
              <a:rPr kumimoji="0" lang="nl-NL" sz="2000" b="0" u="none" strike="noStrike" kern="1200" cap="none" spc="0" normalizeH="0" noProof="0" dirty="0" smtClean="0">
                <a:ln>
                  <a:noFill/>
                </a:ln>
                <a:solidFill>
                  <a:schemeClr val="tx1"/>
                </a:solidFill>
                <a:effectLst/>
                <a:uLnTx/>
                <a:uFillTx/>
                <a:latin typeface="+mn-lt"/>
                <a:ea typeface="+mn-ea"/>
                <a:cs typeface="+mn-cs"/>
              </a:rPr>
              <a:t> de combinatie van de existentie- en ‘ten hoogste    één’-conditie. Ze luidt </a:t>
            </a:r>
            <a:r>
              <a:rPr lang="nl-NL" sz="2000" b="1" dirty="0" smtClean="0"/>
              <a:t>∃x (</a:t>
            </a:r>
            <a:r>
              <a:rPr lang="nl-NL" sz="2000" b="1" dirty="0" err="1" smtClean="0"/>
              <a:t>Px</a:t>
            </a:r>
            <a:r>
              <a:rPr lang="nl-NL" sz="2000" b="1" dirty="0" smtClean="0"/>
              <a:t> ∧ ∀y (y ≠x → ¬</a:t>
            </a:r>
            <a:r>
              <a:rPr lang="nl-NL" sz="2000" b="1" dirty="0" err="1" smtClean="0"/>
              <a:t>Py</a:t>
            </a:r>
            <a:r>
              <a:rPr lang="nl-NL" sz="2000" b="1" dirty="0" smtClean="0"/>
              <a:t>))</a:t>
            </a:r>
            <a:endParaRPr lang="nl-NL" sz="2000" dirty="0" smtClean="0"/>
          </a:p>
        </p:txBody>
      </p:sp>
      <p:sp>
        <p:nvSpPr>
          <p:cNvPr id="11" name="Content Placeholder 2"/>
          <p:cNvSpPr txBox="1">
            <a:spLocks/>
          </p:cNvSpPr>
          <p:nvPr/>
        </p:nvSpPr>
        <p:spPr>
          <a:xfrm>
            <a:off x="395536" y="5013176"/>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Het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beschrijvende deel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of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descriptieve </a:t>
            </a:r>
            <a:r>
              <a:rPr kumimoji="0" lang="nl-NL" sz="2000" b="0" i="1" u="none" strike="noStrike" kern="1200" cap="none" spc="0" normalizeH="0" baseline="0" noProof="0" dirty="0" err="1" smtClean="0">
                <a:ln>
                  <a:noFill/>
                </a:ln>
                <a:solidFill>
                  <a:schemeClr val="tx1"/>
                </a:solidFill>
                <a:effectLst/>
                <a:uLnTx/>
                <a:uFillTx/>
                <a:latin typeface="+mn-lt"/>
                <a:ea typeface="+mn-ea"/>
                <a:cs typeface="+mn-cs"/>
              </a:rPr>
              <a:t>elemen</a:t>
            </a:r>
            <a:r>
              <a:rPr lang="nl-NL" sz="2000" i="1" dirty="0" smtClean="0"/>
              <a:t>t</a:t>
            </a: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luidt</a:t>
            </a:r>
            <a:r>
              <a:rPr kumimoji="0" lang="nl-NL" sz="2000" b="0" i="0" u="none" strike="noStrike" kern="1200" cap="none" spc="0" normalizeH="0" noProof="0" dirty="0" smtClean="0">
                <a:ln>
                  <a:noFill/>
                </a:ln>
                <a:solidFill>
                  <a:schemeClr val="tx1"/>
                </a:solidFill>
                <a:effectLst/>
                <a:uLnTx/>
                <a:uFillTx/>
                <a:latin typeface="+mn-lt"/>
                <a:ea typeface="+mn-ea"/>
                <a:cs typeface="+mn-cs"/>
              </a:rPr>
              <a:t> in dit geval </a:t>
            </a:r>
            <a:r>
              <a:rPr kumimoji="0" lang="nl-NL" sz="2000" b="1" i="0" u="none" strike="noStrike" kern="1200" cap="none" spc="0" normalizeH="0" noProof="0" dirty="0" err="1" smtClean="0">
                <a:ln>
                  <a:noFill/>
                </a:ln>
                <a:solidFill>
                  <a:schemeClr val="tx1"/>
                </a:solidFill>
                <a:effectLst/>
                <a:uLnTx/>
                <a:uFillTx/>
                <a:latin typeface="+mn-lt"/>
                <a:ea typeface="+mn-ea"/>
                <a:cs typeface="+mn-cs"/>
              </a:rPr>
              <a:t>Dx</a:t>
            </a:r>
            <a:endParaRPr lang="nl-NL" sz="2000" b="1" dirty="0" smtClean="0"/>
          </a:p>
        </p:txBody>
      </p:sp>
      <p:sp>
        <p:nvSpPr>
          <p:cNvPr id="12" name="Content Placeholder 2"/>
          <p:cNvSpPr txBox="1">
            <a:spLocks/>
          </p:cNvSpPr>
          <p:nvPr/>
        </p:nvSpPr>
        <p:spPr>
          <a:xfrm>
            <a:off x="395536" y="5661248"/>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Merk op dat alle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lang="nl-NL" sz="2000" dirty="0" smtClean="0"/>
              <a:t>condities (en beschrijvende deel) logisch kunnen worden afgeleid uit de propositie. Ze maken dan ook deel uit van wat door de propositie wordt beweerd.</a:t>
            </a:r>
            <a:endParaRPr lang="nl-NL" sz="2000"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2000"/>
                                        <p:tgtEl>
                                          <p:spTgt spid="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2000"/>
                                        <p:tgtEl>
                                          <p:spTgt spid="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2000"/>
                                        <p:tgtEl>
                                          <p:spTgt spid="9">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2000"/>
                                        <p:tgtEl>
                                          <p:spTgt spid="1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xEl>
                                              <p:pRg st="0" end="0"/>
                                            </p:txEl>
                                          </p:spTgt>
                                        </p:tgtEl>
                                        <p:attrNameLst>
                                          <p:attrName>style.visibility</p:attrName>
                                        </p:attrNameLst>
                                      </p:cBhvr>
                                      <p:to>
                                        <p:strVal val="visible"/>
                                      </p:to>
                                    </p:set>
                                    <p:animEffect transition="in" filter="fade">
                                      <p:cBhvr>
                                        <p:cTn id="30" dur="2000"/>
                                        <p:tgtEl>
                                          <p:spTgt spid="11">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xEl>
                                              <p:pRg st="0" end="0"/>
                                            </p:txEl>
                                          </p:spTgt>
                                        </p:tgtEl>
                                        <p:attrNameLst>
                                          <p:attrName>style.visibility</p:attrName>
                                        </p:attrNameLst>
                                      </p:cBhvr>
                                      <p:to>
                                        <p:strVal val="visible"/>
                                      </p:to>
                                    </p:set>
                                    <p:animEffect transition="in" filter="fade">
                                      <p:cBhvr>
                                        <p:cTn id="35"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8" grpId="0" build="allAtOnce"/>
      <p:bldP spid="7" grpId="0" build="allAtOnce"/>
      <p:bldP spid="9" grpId="0" build="allAtOnce"/>
      <p:bldP spid="10" grpId="0" build="allAtOnce"/>
      <p:bldP spid="11" grpId="0" build="allAtOnce"/>
      <p:bldP spid="12" grpId="0" build="allAtOnce"/>
    </p:bldLst>
  </p:timing>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Russell</a:t>
            </a:r>
            <a:r>
              <a:rPr lang="nl-NL" sz="3600" dirty="0" smtClean="0"/>
              <a:t> en </a:t>
            </a:r>
            <a:r>
              <a:rPr lang="nl-NL" sz="3600" dirty="0" err="1" smtClean="0"/>
              <a:t>Strawson</a:t>
            </a:r>
            <a:endParaRPr lang="nl-NL" sz="3600" dirty="0"/>
          </a:p>
        </p:txBody>
      </p:sp>
      <p:sp>
        <p:nvSpPr>
          <p:cNvPr id="3" name="Content Placeholder 2"/>
          <p:cNvSpPr>
            <a:spLocks noGrp="1"/>
          </p:cNvSpPr>
          <p:nvPr>
            <p:ph idx="1"/>
          </p:nvPr>
        </p:nvSpPr>
        <p:spPr>
          <a:xfrm>
            <a:off x="395536" y="1600201"/>
            <a:ext cx="8686800" cy="820687"/>
          </a:xfrm>
        </p:spPr>
        <p:txBody>
          <a:bodyPr>
            <a:noAutofit/>
          </a:bodyPr>
          <a:lstStyle/>
          <a:p>
            <a:r>
              <a:rPr lang="nl-NL" sz="2000" dirty="0" err="1" smtClean="0"/>
              <a:t>Strawson</a:t>
            </a:r>
            <a:r>
              <a:rPr lang="nl-NL" sz="2000" smtClean="0"/>
              <a:t> vindt </a:t>
            </a:r>
            <a:r>
              <a:rPr lang="nl-NL" sz="2000" dirty="0" smtClean="0"/>
              <a:t>deze analyse niet bevredigend. Hij beoogt een analyse die              meer recht doet aan het ‘eigennaam’-karakter van unieke bepalingen.</a:t>
            </a:r>
          </a:p>
        </p:txBody>
      </p:sp>
      <p:sp>
        <p:nvSpPr>
          <p:cNvPr id="8" name="Content Placeholder 2"/>
          <p:cNvSpPr txBox="1">
            <a:spLocks/>
          </p:cNvSpPr>
          <p:nvPr/>
        </p:nvSpPr>
        <p:spPr>
          <a:xfrm>
            <a:off x="395536" y="2492896"/>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Strawson</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stelt voor om de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uniciteitsconditie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2000" b="0" i="0" u="none" strike="noStrike" kern="1200" cap="none" spc="0" normalizeH="0" noProof="0" dirty="0" smtClean="0">
                <a:ln>
                  <a:noFill/>
                </a:ln>
                <a:solidFill>
                  <a:schemeClr val="tx1"/>
                </a:solidFill>
                <a:effectLst/>
                <a:uLnTx/>
                <a:uFillTx/>
                <a:latin typeface="+mn-lt"/>
                <a:ea typeface="+mn-ea"/>
                <a:cs typeface="+mn-cs"/>
              </a:rPr>
              <a:t>als </a:t>
            </a:r>
            <a:r>
              <a:rPr kumimoji="0" lang="nl-NL" sz="2000" b="0" i="1" u="none" strike="noStrike" kern="1200" cap="none" spc="0" normalizeH="0" noProof="0" dirty="0" smtClean="0">
                <a:ln>
                  <a:noFill/>
                </a:ln>
                <a:effectLst/>
                <a:uLnTx/>
                <a:uFillTx/>
                <a:latin typeface="+mn-lt"/>
                <a:ea typeface="+mn-ea"/>
                <a:cs typeface="+mn-cs"/>
              </a:rPr>
              <a:t>presuppositie</a:t>
            </a:r>
            <a:r>
              <a:rPr kumimoji="0" lang="nl-NL" sz="2000" b="0" i="0" u="none" strike="noStrike" kern="1200" cap="none" spc="0" normalizeH="0" noProof="0" dirty="0" smtClean="0">
                <a:ln>
                  <a:noFill/>
                </a:ln>
                <a:solidFill>
                  <a:schemeClr val="tx1"/>
                </a:solidFill>
                <a:effectLst/>
                <a:uLnTx/>
                <a:uFillTx/>
                <a:latin typeface="+mn-lt"/>
                <a:ea typeface="+mn-ea"/>
                <a:cs typeface="+mn-cs"/>
              </a:rPr>
              <a:t> op te vatten.</a:t>
            </a:r>
            <a:endParaRPr lang="nl-NL" sz="2000" dirty="0" smtClean="0"/>
          </a:p>
        </p:txBody>
      </p:sp>
      <p:sp>
        <p:nvSpPr>
          <p:cNvPr id="9" name="Content Placeholder 2"/>
          <p:cNvSpPr txBox="1">
            <a:spLocks/>
          </p:cNvSpPr>
          <p:nvPr/>
        </p:nvSpPr>
        <p:spPr>
          <a:xfrm>
            <a:off x="107504" y="3140968"/>
            <a:ext cx="8496944" cy="504056"/>
          </a:xfrm>
          <a:prstGeom prst="rect">
            <a:avLst/>
          </a:prstGeom>
        </p:spPr>
        <p:txBody>
          <a:bodyPr vert="horz" lIns="91440" tIns="45720" rIns="91440" bIns="45720" rtlCol="0">
            <a:noAutofit/>
          </a:bodyPr>
          <a:lstStyle/>
          <a:p>
            <a:pPr marL="342900" lvl="0" indent="-342900">
              <a:spcBef>
                <a:spcPct val="20000"/>
              </a:spcBef>
              <a:defRPr/>
            </a:pPr>
            <a:r>
              <a:rPr kumimoji="0" lang="nl-NL" sz="2000" b="0" i="0" u="none" strike="noStrike" kern="1200" cap="none" spc="0" normalizeH="0" baseline="0" noProof="0" dirty="0" smtClean="0">
                <a:ln>
                  <a:noFill/>
                </a:ln>
                <a:effectLst/>
                <a:uLnTx/>
                <a:uFillTx/>
                <a:latin typeface="+mn-lt"/>
                <a:ea typeface="+mn-ea"/>
                <a:cs typeface="+mn-cs"/>
              </a:rPr>
              <a:t>      S* vormt een </a:t>
            </a:r>
            <a:r>
              <a:rPr kumimoji="0" lang="nl-NL" sz="2000" b="0" i="1" u="none" strike="noStrike" kern="1200" cap="none" spc="0" normalizeH="0" baseline="0" noProof="0" dirty="0" smtClean="0">
                <a:ln>
                  <a:noFill/>
                </a:ln>
                <a:effectLst/>
                <a:uLnTx/>
                <a:uFillTx/>
                <a:latin typeface="+mn-lt"/>
                <a:ea typeface="+mn-ea"/>
                <a:cs typeface="+mn-cs"/>
              </a:rPr>
              <a:t>presuppositie</a:t>
            </a:r>
            <a:r>
              <a:rPr kumimoji="0" lang="nl-NL" sz="2000" b="0" i="0" u="none" strike="noStrike" kern="1200" cap="none" spc="0" normalizeH="0" noProof="0" dirty="0" smtClean="0">
                <a:ln>
                  <a:noFill/>
                </a:ln>
                <a:effectLst/>
                <a:uLnTx/>
                <a:uFillTx/>
                <a:latin typeface="+mn-lt"/>
                <a:ea typeface="+mn-ea"/>
                <a:cs typeface="+mn-cs"/>
              </a:rPr>
              <a:t> van een </a:t>
            </a:r>
            <a:r>
              <a:rPr lang="nl-NL" sz="2000" dirty="0" smtClean="0"/>
              <a:t>propositie S dan en slechts dan als de   waarheid van S* een noodzakelijke voorwaarde is voor de waarheid of onwaarheid van S. Indien S* onwaar is, heeft S dus geen waarheidswaarde.</a:t>
            </a:r>
          </a:p>
        </p:txBody>
      </p:sp>
      <p:sp>
        <p:nvSpPr>
          <p:cNvPr id="13" name="Content Placeholder 2"/>
          <p:cNvSpPr txBox="1">
            <a:spLocks/>
          </p:cNvSpPr>
          <p:nvPr/>
        </p:nvSpPr>
        <p:spPr>
          <a:xfrm>
            <a:off x="467544" y="4408513"/>
            <a:ext cx="8686800" cy="82068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Neem nogmaals onderstaande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uitspraken</a:t>
            </a:r>
            <a:r>
              <a:rPr lang="nl-NL" sz="2000" dirty="0" smtClean="0"/>
              <a:t>. Hoe zou </a:t>
            </a:r>
            <a:r>
              <a:rPr lang="nl-NL" sz="2000" dirty="0" err="1" smtClean="0"/>
              <a:t>Strawson</a:t>
            </a:r>
            <a:r>
              <a:rPr lang="nl-NL" sz="2000" dirty="0" smtClean="0"/>
              <a:t> ze analyseren?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1" i="1" u="none" strike="noStrike" kern="1200" cap="none" spc="0" normalizeH="0" baseline="0" noProof="0" dirty="0" smtClean="0">
                <a:ln>
                  <a:noFill/>
                </a:ln>
                <a:solidFill>
                  <a:srgbClr val="0070C0"/>
                </a:solidFill>
                <a:effectLst/>
                <a:uLnTx/>
                <a:uFillTx/>
                <a:latin typeface="+mn-lt"/>
                <a:ea typeface="+mn-ea"/>
                <a:cs typeface="+mn-cs"/>
              </a:rPr>
              <a:t>De koning van Frankrijk</a:t>
            </a:r>
            <a:r>
              <a:rPr kumimoji="0" lang="nl-NL" sz="2000" b="1" i="0" u="none" strike="noStrike" kern="1200" cap="none" spc="0" normalizeH="0" baseline="0" noProof="0" dirty="0" smtClean="0">
                <a:ln>
                  <a:noFill/>
                </a:ln>
                <a:solidFill>
                  <a:srgbClr val="0070C0"/>
                </a:solidFill>
                <a:effectLst/>
                <a:uLnTx/>
                <a:uFillTx/>
                <a:latin typeface="+mn-lt"/>
                <a:ea typeface="+mn-ea"/>
                <a:cs typeface="+mn-cs"/>
              </a:rPr>
              <a:t> is kaal</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1" i="1" u="none" strike="noStrike" kern="1200" cap="none" spc="0" normalizeH="0" baseline="0" noProof="0" dirty="0" smtClean="0">
                <a:ln>
                  <a:noFill/>
                </a:ln>
                <a:solidFill>
                  <a:srgbClr val="0070C0"/>
                </a:solidFill>
                <a:effectLst/>
                <a:uLnTx/>
                <a:uFillTx/>
                <a:latin typeface="+mn-lt"/>
                <a:ea typeface="+mn-ea"/>
                <a:cs typeface="+mn-cs"/>
              </a:rPr>
              <a:t>De minister </a:t>
            </a:r>
            <a:r>
              <a:rPr kumimoji="0" lang="nl-NL" sz="2000" b="1" i="0" u="none" strike="noStrike" kern="1200" cap="none" spc="0" normalizeH="0" baseline="0" noProof="0" dirty="0" smtClean="0">
                <a:ln>
                  <a:noFill/>
                </a:ln>
                <a:solidFill>
                  <a:srgbClr val="0070C0"/>
                </a:solidFill>
                <a:effectLst/>
                <a:uLnTx/>
                <a:uFillTx/>
                <a:latin typeface="+mn-lt"/>
                <a:ea typeface="+mn-ea"/>
                <a:cs typeface="+mn-cs"/>
              </a:rPr>
              <a:t>moet aftreden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5" name="Content Placeholder 2"/>
          <p:cNvSpPr txBox="1">
            <a:spLocks/>
          </p:cNvSpPr>
          <p:nvPr/>
        </p:nvSpPr>
        <p:spPr>
          <a:xfrm>
            <a:off x="107504" y="6021288"/>
            <a:ext cx="8686800" cy="82068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      In</a:t>
            </a:r>
            <a:r>
              <a:rPr kumimoji="0" lang="nl-NL" sz="2000" b="0" i="0" u="none" strike="noStrike" kern="1200" cap="none" spc="0" normalizeH="0" noProof="0" dirty="0" smtClean="0">
                <a:ln>
                  <a:noFill/>
                </a:ln>
                <a:solidFill>
                  <a:schemeClr val="tx1"/>
                </a:solidFill>
                <a:effectLst/>
                <a:uLnTx/>
                <a:uFillTx/>
                <a:latin typeface="+mn-lt"/>
                <a:ea typeface="+mn-ea"/>
                <a:cs typeface="+mn-cs"/>
              </a:rPr>
              <a:t> beide gevallen is niet aan de </a:t>
            </a:r>
            <a:r>
              <a:rPr kumimoji="0" lang="nl-NL" sz="2000" b="0" i="0" u="none" strike="noStrike" kern="1200" cap="none" spc="0" normalizeH="0" noProof="0" dirty="0" err="1" smtClean="0">
                <a:ln>
                  <a:noFill/>
                </a:ln>
                <a:solidFill>
                  <a:schemeClr val="tx1"/>
                </a:solidFill>
                <a:effectLst/>
                <a:uLnTx/>
                <a:uFillTx/>
                <a:latin typeface="+mn-lt"/>
                <a:ea typeface="+mn-ea"/>
                <a:cs typeface="+mn-cs"/>
              </a:rPr>
              <a:t>uniciteitsconditie</a:t>
            </a:r>
            <a:r>
              <a:rPr kumimoji="0" lang="nl-NL" sz="2000" b="0" i="0" u="none" strike="noStrike" kern="1200" cap="none" spc="0" normalizeH="0" noProof="0" dirty="0" smtClean="0">
                <a:ln>
                  <a:noFill/>
                </a:ln>
                <a:solidFill>
                  <a:schemeClr val="tx1"/>
                </a:solidFill>
                <a:effectLst/>
                <a:uLnTx/>
                <a:uFillTx/>
                <a:latin typeface="+mn-lt"/>
                <a:ea typeface="+mn-ea"/>
                <a:cs typeface="+mn-cs"/>
              </a:rPr>
              <a:t> voldaan (en dus ook niet aan de presuppositie). Beide uitspraken hebben dus </a:t>
            </a:r>
            <a:r>
              <a:rPr kumimoji="0" lang="nl-NL" sz="2000" b="1" i="0" u="none" strike="noStrike" kern="1200" cap="none" spc="0" normalizeH="0" noProof="0" dirty="0" err="1" smtClean="0">
                <a:ln>
                  <a:noFill/>
                </a:ln>
                <a:solidFill>
                  <a:srgbClr val="C00000"/>
                </a:solidFill>
                <a:effectLst/>
                <a:uLnTx/>
                <a:uFillTx/>
                <a:latin typeface="+mn-lt"/>
                <a:ea typeface="+mn-ea"/>
                <a:cs typeface="+mn-cs"/>
              </a:rPr>
              <a:t>géén</a:t>
            </a:r>
            <a:r>
              <a:rPr kumimoji="0" lang="nl-NL" sz="2000" b="1" i="0" u="none" strike="noStrike" kern="1200" cap="none" spc="0" normalizeH="0" noProof="0" dirty="0" smtClean="0">
                <a:ln>
                  <a:noFill/>
                </a:ln>
                <a:solidFill>
                  <a:srgbClr val="C00000"/>
                </a:solidFill>
                <a:effectLst/>
                <a:uLnTx/>
                <a:uFillTx/>
                <a:latin typeface="+mn-lt"/>
                <a:ea typeface="+mn-ea"/>
                <a:cs typeface="+mn-cs"/>
              </a:rPr>
              <a:t> waarheidswaarde</a:t>
            </a:r>
            <a:r>
              <a:rPr kumimoji="0" lang="nl-NL" sz="2000" b="0" i="0" u="none" strike="noStrike" kern="1200" cap="none" spc="0" normalizeH="0" noProof="0" dirty="0" smtClean="0">
                <a:ln>
                  <a:noFill/>
                </a:ln>
                <a:solidFill>
                  <a:schemeClr val="tx1"/>
                </a:solidFill>
                <a:effectLst/>
                <a:uLnTx/>
                <a:uFillTx/>
                <a:latin typeface="+mn-lt"/>
                <a:ea typeface="+mn-ea"/>
                <a:cs typeface="+mn-cs"/>
              </a:rPr>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TextBox 15"/>
          <p:cNvSpPr txBox="1"/>
          <p:nvPr/>
        </p:nvSpPr>
        <p:spPr>
          <a:xfrm>
            <a:off x="9612560" y="5661248"/>
            <a:ext cx="184731" cy="369332"/>
          </a:xfrm>
          <a:prstGeom prst="rect">
            <a:avLst/>
          </a:prstGeom>
          <a:noFill/>
        </p:spPr>
        <p:txBody>
          <a:bodyPr wrap="none" rtlCol="0">
            <a:spAutoFit/>
          </a:bodyPr>
          <a:lstStyle/>
          <a:p>
            <a:endParaRPr lang="nl-NL" dirty="0"/>
          </a:p>
        </p:txBody>
      </p:sp>
      <p:sp>
        <p:nvSpPr>
          <p:cNvPr id="17" name="TextBox 16"/>
          <p:cNvSpPr txBox="1"/>
          <p:nvPr/>
        </p:nvSpPr>
        <p:spPr>
          <a:xfrm>
            <a:off x="6444208" y="5805264"/>
            <a:ext cx="184731" cy="369332"/>
          </a:xfrm>
          <a:prstGeom prst="rect">
            <a:avLst/>
          </a:prstGeom>
          <a:noFill/>
        </p:spPr>
        <p:txBody>
          <a:bodyPr wrap="none" rtlCol="0">
            <a:spAutoFit/>
          </a:bodyPr>
          <a:lstStyle/>
          <a:p>
            <a:endParaRPr lang="nl-NL" dirty="0"/>
          </a:p>
        </p:txBody>
      </p:sp>
      <p:sp>
        <p:nvSpPr>
          <p:cNvPr id="18" name="TextBox 17"/>
          <p:cNvSpPr txBox="1"/>
          <p:nvPr/>
        </p:nvSpPr>
        <p:spPr>
          <a:xfrm>
            <a:off x="4840579" y="5085184"/>
            <a:ext cx="4123910" cy="646331"/>
          </a:xfrm>
          <a:prstGeom prst="rect">
            <a:avLst/>
          </a:prstGeom>
          <a:noFill/>
        </p:spPr>
        <p:txBody>
          <a:bodyPr wrap="square" rtlCol="0">
            <a:spAutoFit/>
          </a:bodyPr>
          <a:lstStyle/>
          <a:p>
            <a:r>
              <a:rPr lang="nl-NL" i="1" dirty="0" err="1" smtClean="0"/>
              <a:t>Strawson’s</a:t>
            </a:r>
            <a:r>
              <a:rPr lang="nl-NL" i="1" dirty="0" smtClean="0"/>
              <a:t> analyse heeft nadelig gevolg. </a:t>
            </a:r>
            <a:r>
              <a:rPr lang="nl-NL" i="1" smtClean="0"/>
              <a:t>Principe </a:t>
            </a:r>
            <a:r>
              <a:rPr lang="nl-NL" i="1" dirty="0" smtClean="0"/>
              <a:t>van </a:t>
            </a:r>
            <a:r>
              <a:rPr lang="nl-NL" i="1" dirty="0" err="1" smtClean="0"/>
              <a:t>bivalentie</a:t>
            </a:r>
            <a:r>
              <a:rPr lang="nl-NL" i="1" dirty="0" smtClean="0"/>
              <a:t> wordt opgegeven!</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2000"/>
                                        <p:tgtEl>
                                          <p:spTgt spid="13">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xEl>
                                              <p:pRg st="2" end="2"/>
                                            </p:txEl>
                                          </p:spTgt>
                                        </p:tgtEl>
                                        <p:attrNameLst>
                                          <p:attrName>style.visibility</p:attrName>
                                        </p:attrNameLst>
                                      </p:cBhvr>
                                      <p:to>
                                        <p:strVal val="visible"/>
                                      </p:to>
                                    </p:set>
                                    <p:animEffect transition="in" filter="fade">
                                      <p:cBhvr>
                                        <p:cTn id="20" dur="2000"/>
                                        <p:tgtEl>
                                          <p:spTgt spid="1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animEffect transition="in" filter="fade">
                                      <p:cBhvr>
                                        <p:cTn id="23" dur="2000"/>
                                        <p:tgtEl>
                                          <p:spTgt spid="1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xEl>
                                              <p:pRg st="0" end="0"/>
                                            </p:txEl>
                                          </p:spTgt>
                                        </p:tgtEl>
                                        <p:attrNameLst>
                                          <p:attrName>style.visibility</p:attrName>
                                        </p:attrNameLst>
                                      </p:cBhvr>
                                      <p:to>
                                        <p:strVal val="visible"/>
                                      </p:to>
                                    </p:set>
                                    <p:animEffect transition="in" filter="fade">
                                      <p:cBhvr>
                                        <p:cTn id="28" dur="2000"/>
                                        <p:tgtEl>
                                          <p:spTgt spid="1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xEl>
                                              <p:pRg st="0" end="0"/>
                                            </p:txEl>
                                          </p:spTgt>
                                        </p:tgtEl>
                                        <p:attrNameLst>
                                          <p:attrName>style.visibility</p:attrName>
                                        </p:attrNameLst>
                                      </p:cBhvr>
                                      <p:to>
                                        <p:strVal val="visible"/>
                                      </p:to>
                                    </p:set>
                                    <p:animEffect transition="in" filter="fade">
                                      <p:cBhvr>
                                        <p:cTn id="33" dur="20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9" grpId="0" build="allAtOnce"/>
      <p:bldP spid="13" grpId="0" build="allAtOnce"/>
      <p:bldP spid="15" grpId="0" build="allAtOnce"/>
      <p:bldP spid="18" grpId="0" build="allAtOnce"/>
    </p:bldLst>
  </p:timing>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Logicisme</a:t>
            </a:r>
            <a:endParaRPr lang="nl-NL" sz="3600" dirty="0"/>
          </a:p>
        </p:txBody>
      </p:sp>
      <p:sp>
        <p:nvSpPr>
          <p:cNvPr id="3" name="Content Placeholder 2"/>
          <p:cNvSpPr>
            <a:spLocks noGrp="1"/>
          </p:cNvSpPr>
          <p:nvPr>
            <p:ph idx="1"/>
          </p:nvPr>
        </p:nvSpPr>
        <p:spPr>
          <a:xfrm>
            <a:off x="395536" y="1600201"/>
            <a:ext cx="8686800" cy="820687"/>
          </a:xfrm>
        </p:spPr>
        <p:txBody>
          <a:bodyPr>
            <a:noAutofit/>
          </a:bodyPr>
          <a:lstStyle/>
          <a:p>
            <a:r>
              <a:rPr lang="nl-NL" sz="2000" dirty="0" smtClean="0"/>
              <a:t>Kan de hele wiskunde worden uitgedrukt in de </a:t>
            </a:r>
            <a:r>
              <a:rPr lang="nl-NL" sz="2000" dirty="0" err="1" smtClean="0"/>
              <a:t>predikaatlogica</a:t>
            </a:r>
            <a:r>
              <a:rPr lang="nl-NL" sz="2000" dirty="0" smtClean="0"/>
              <a:t> met identiteit? </a:t>
            </a:r>
            <a:r>
              <a:rPr lang="nl-NL" sz="2000" dirty="0" err="1" smtClean="0"/>
              <a:t>Preciezier</a:t>
            </a:r>
            <a:r>
              <a:rPr lang="nl-NL" sz="2000" dirty="0" smtClean="0"/>
              <a:t>: Zijn alle wiskundige begrippen als logische begrippen definieerbaar en zijn alle wiskundige stellingen als logische stellingen bewijsbaar?</a:t>
            </a:r>
          </a:p>
        </p:txBody>
      </p:sp>
      <p:sp>
        <p:nvSpPr>
          <p:cNvPr id="8" name="Content Placeholder 2"/>
          <p:cNvSpPr txBox="1">
            <a:spLocks/>
          </p:cNvSpPr>
          <p:nvPr/>
        </p:nvSpPr>
        <p:spPr>
          <a:xfrm>
            <a:off x="395536" y="2636912"/>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Laten we eens kijken</a:t>
            </a:r>
            <a:r>
              <a:rPr kumimoji="0" lang="nl-NL" sz="2000" b="0" i="0" u="none" strike="noStrike" kern="1200" cap="none" spc="0" normalizeH="0" noProof="0" dirty="0" smtClean="0">
                <a:ln>
                  <a:noFill/>
                </a:ln>
                <a:solidFill>
                  <a:schemeClr val="tx1"/>
                </a:solidFill>
                <a:effectLst/>
                <a:uLnTx/>
                <a:uFillTx/>
                <a:latin typeface="+mn-lt"/>
                <a:ea typeface="+mn-ea"/>
                <a:cs typeface="+mn-cs"/>
              </a:rPr>
              <a:t> of </a:t>
            </a:r>
            <a:r>
              <a:rPr lang="nl-NL" sz="2000" dirty="0" smtClean="0"/>
              <a:t>we </a:t>
            </a:r>
            <a:r>
              <a:rPr kumimoji="0" lang="nl-NL" sz="2000" b="0" i="0" u="none" strike="noStrike" kern="1200" cap="none" spc="0" normalizeH="0" noProof="0" dirty="0" smtClean="0">
                <a:ln>
                  <a:noFill/>
                </a:ln>
                <a:solidFill>
                  <a:schemeClr val="tx1"/>
                </a:solidFill>
                <a:effectLst/>
                <a:uLnTx/>
                <a:uFillTx/>
                <a:latin typeface="+mn-lt"/>
                <a:ea typeface="+mn-ea"/>
                <a:cs typeface="+mn-cs"/>
              </a:rPr>
              <a:t>‘aantallen’ kunnen uitdrukken.</a:t>
            </a:r>
            <a:endParaRPr lang="nl-NL" sz="2000" dirty="0" smtClean="0"/>
          </a:p>
        </p:txBody>
      </p:sp>
      <p:sp>
        <p:nvSpPr>
          <p:cNvPr id="11" name="Content Placeholder 2"/>
          <p:cNvSpPr txBox="1">
            <a:spLocks/>
          </p:cNvSpPr>
          <p:nvPr/>
        </p:nvSpPr>
        <p:spPr>
          <a:xfrm>
            <a:off x="179512" y="2996952"/>
            <a:ext cx="5256584" cy="864096"/>
          </a:xfrm>
          <a:prstGeom prst="rect">
            <a:avLst/>
          </a:prstGeom>
        </p:spPr>
        <p:txBody>
          <a:bodyPr vert="horz" lIns="91440" tIns="45720" rIns="91440" bIns="45720" rtlCol="0">
            <a:noAutofit/>
          </a:bodyPr>
          <a:lstStyle/>
          <a:p>
            <a:pPr marL="342900" lvl="0" indent="-342900">
              <a:spcBef>
                <a:spcPct val="20000"/>
              </a:spcBef>
              <a:defRPr/>
            </a:pPr>
            <a:endParaRPr lang="nl-NL" sz="2000" dirty="0" smtClean="0"/>
          </a:p>
          <a:p>
            <a:pPr marL="342900" marR="0" lvl="0" indent="-342900" algn="l" defTabSz="914400" rtl="0" eaLnBrk="1" fontAlgn="auto" latinLnBrk="0" hangingPunct="1">
              <a:lnSpc>
                <a:spcPct val="100000"/>
              </a:lnSpc>
              <a:spcBef>
                <a:spcPct val="20000"/>
              </a:spcBef>
              <a:spcAft>
                <a:spcPts val="0"/>
              </a:spcAft>
              <a:buClrTx/>
              <a:buSzTx/>
              <a:tabLst/>
              <a:defRPr/>
            </a:pPr>
            <a:endParaRPr lang="nl-NL" sz="800" dirty="0" smtClean="0"/>
          </a:p>
        </p:txBody>
      </p:sp>
      <p:sp>
        <p:nvSpPr>
          <p:cNvPr id="12" name="TextBox 11"/>
          <p:cNvSpPr txBox="1"/>
          <p:nvPr/>
        </p:nvSpPr>
        <p:spPr>
          <a:xfrm>
            <a:off x="395537" y="3140968"/>
            <a:ext cx="3096343" cy="369332"/>
          </a:xfrm>
          <a:prstGeom prst="rect">
            <a:avLst/>
          </a:prstGeom>
          <a:noFill/>
        </p:spPr>
        <p:txBody>
          <a:bodyPr wrap="square" rtlCol="0">
            <a:spAutoFit/>
          </a:bodyPr>
          <a:lstStyle/>
          <a:p>
            <a:r>
              <a:rPr lang="nl-NL" dirty="0" smtClean="0"/>
              <a:t>Er is één planeet</a:t>
            </a:r>
            <a:endParaRPr lang="nl-NL" dirty="0"/>
          </a:p>
        </p:txBody>
      </p:sp>
      <p:sp>
        <p:nvSpPr>
          <p:cNvPr id="19" name="Rectangle 18"/>
          <p:cNvSpPr/>
          <p:nvPr/>
        </p:nvSpPr>
        <p:spPr>
          <a:xfrm>
            <a:off x="5796136" y="3100898"/>
            <a:ext cx="2987824" cy="400110"/>
          </a:xfrm>
          <a:prstGeom prst="rect">
            <a:avLst/>
          </a:prstGeom>
        </p:spPr>
        <p:txBody>
          <a:bodyPr wrap="square">
            <a:spAutoFit/>
          </a:bodyPr>
          <a:lstStyle/>
          <a:p>
            <a:pPr marL="342900" lvl="0" indent="-342900">
              <a:spcBef>
                <a:spcPct val="20000"/>
              </a:spcBef>
              <a:defRPr/>
            </a:pPr>
            <a:r>
              <a:rPr lang="nl-NL" sz="2000" b="1" dirty="0" smtClean="0"/>
              <a:t>       </a:t>
            </a:r>
            <a:r>
              <a:rPr lang="nl-NL" sz="2000" b="1" dirty="0" err="1" smtClean="0"/>
              <a:t>Px</a:t>
            </a:r>
            <a:r>
              <a:rPr lang="nl-NL" sz="2000" dirty="0" smtClean="0"/>
              <a:t>: x is een planeet</a:t>
            </a:r>
            <a:endParaRPr lang="nl-NL" sz="2000" dirty="0"/>
          </a:p>
        </p:txBody>
      </p:sp>
      <p:sp>
        <p:nvSpPr>
          <p:cNvPr id="20" name="Rectangle 19"/>
          <p:cNvSpPr/>
          <p:nvPr/>
        </p:nvSpPr>
        <p:spPr>
          <a:xfrm>
            <a:off x="2701890" y="3100898"/>
            <a:ext cx="3022238" cy="400110"/>
          </a:xfrm>
          <a:prstGeom prst="rect">
            <a:avLst/>
          </a:prstGeom>
        </p:spPr>
        <p:txBody>
          <a:bodyPr wrap="none">
            <a:spAutoFit/>
          </a:bodyPr>
          <a:lstStyle/>
          <a:p>
            <a:r>
              <a:rPr lang="nl-NL" sz="2000" b="1" dirty="0" smtClean="0"/>
              <a:t>∃x (</a:t>
            </a:r>
            <a:r>
              <a:rPr lang="nl-NL" sz="2000" b="1" dirty="0" err="1" smtClean="0"/>
              <a:t>Px</a:t>
            </a:r>
            <a:r>
              <a:rPr lang="nl-NL" sz="2000" b="1" dirty="0" smtClean="0"/>
              <a:t> ∧ ∀y (y≠x → ¬</a:t>
            </a:r>
            <a:r>
              <a:rPr lang="nl-NL" sz="2000" b="1" dirty="0" err="1" smtClean="0"/>
              <a:t>Py</a:t>
            </a:r>
            <a:r>
              <a:rPr lang="nl-NL" sz="2000" b="1" dirty="0" smtClean="0"/>
              <a:t>))   </a:t>
            </a:r>
            <a:endParaRPr lang="nl-NL" sz="2000" dirty="0"/>
          </a:p>
        </p:txBody>
      </p:sp>
      <p:sp>
        <p:nvSpPr>
          <p:cNvPr id="21" name="TextBox 20"/>
          <p:cNvSpPr txBox="1"/>
          <p:nvPr/>
        </p:nvSpPr>
        <p:spPr>
          <a:xfrm>
            <a:off x="395537" y="3717032"/>
            <a:ext cx="2160240" cy="369332"/>
          </a:xfrm>
          <a:prstGeom prst="rect">
            <a:avLst/>
          </a:prstGeom>
          <a:noFill/>
        </p:spPr>
        <p:txBody>
          <a:bodyPr wrap="square" rtlCol="0">
            <a:spAutoFit/>
          </a:bodyPr>
          <a:lstStyle/>
          <a:p>
            <a:r>
              <a:rPr lang="nl-NL" dirty="0" smtClean="0"/>
              <a:t>Er zijn twee planeten</a:t>
            </a:r>
            <a:endParaRPr lang="nl-NL" dirty="0"/>
          </a:p>
        </p:txBody>
      </p:sp>
      <p:sp>
        <p:nvSpPr>
          <p:cNvPr id="22" name="Rectangle 21"/>
          <p:cNvSpPr/>
          <p:nvPr/>
        </p:nvSpPr>
        <p:spPr>
          <a:xfrm>
            <a:off x="2771800" y="3717032"/>
            <a:ext cx="5189498" cy="400110"/>
          </a:xfrm>
          <a:prstGeom prst="rect">
            <a:avLst/>
          </a:prstGeom>
        </p:spPr>
        <p:txBody>
          <a:bodyPr wrap="none">
            <a:spAutoFit/>
          </a:bodyPr>
          <a:lstStyle/>
          <a:p>
            <a:r>
              <a:rPr lang="nl-NL" sz="2000" b="1" dirty="0" smtClean="0"/>
              <a:t>∃x∃y (</a:t>
            </a:r>
            <a:r>
              <a:rPr lang="nl-NL" sz="2000" b="1" dirty="0" err="1" smtClean="0"/>
              <a:t>Px</a:t>
            </a:r>
            <a:r>
              <a:rPr lang="nl-NL" sz="2000" b="1" dirty="0" smtClean="0"/>
              <a:t> ∧ </a:t>
            </a:r>
            <a:r>
              <a:rPr lang="nl-NL" sz="2000" b="1" dirty="0" err="1" smtClean="0"/>
              <a:t>Py</a:t>
            </a:r>
            <a:r>
              <a:rPr lang="nl-NL" sz="2000" b="1" dirty="0" smtClean="0"/>
              <a:t> ∧ x≠y ∧ ∀z ((z≠x ∧ z≠y) → ¬</a:t>
            </a:r>
            <a:r>
              <a:rPr lang="nl-NL" sz="2000" b="1" dirty="0" err="1" smtClean="0"/>
              <a:t>Pz</a:t>
            </a:r>
            <a:r>
              <a:rPr lang="nl-NL" sz="2000" b="1" dirty="0" smtClean="0"/>
              <a:t>)))  </a:t>
            </a:r>
            <a:endParaRPr lang="nl-NL" sz="2000" dirty="0"/>
          </a:p>
        </p:txBody>
      </p:sp>
      <p:sp>
        <p:nvSpPr>
          <p:cNvPr id="23" name="TextBox 22"/>
          <p:cNvSpPr txBox="1"/>
          <p:nvPr/>
        </p:nvSpPr>
        <p:spPr>
          <a:xfrm>
            <a:off x="395536" y="4365104"/>
            <a:ext cx="2160240" cy="369332"/>
          </a:xfrm>
          <a:prstGeom prst="rect">
            <a:avLst/>
          </a:prstGeom>
          <a:noFill/>
        </p:spPr>
        <p:txBody>
          <a:bodyPr wrap="square" rtlCol="0">
            <a:spAutoFit/>
          </a:bodyPr>
          <a:lstStyle/>
          <a:p>
            <a:r>
              <a:rPr lang="nl-NL" dirty="0" smtClean="0"/>
              <a:t>Er zijn drie planeten</a:t>
            </a:r>
            <a:endParaRPr lang="nl-NL" dirty="0"/>
          </a:p>
        </p:txBody>
      </p:sp>
      <p:sp>
        <p:nvSpPr>
          <p:cNvPr id="24" name="Rectangle 23"/>
          <p:cNvSpPr/>
          <p:nvPr/>
        </p:nvSpPr>
        <p:spPr>
          <a:xfrm>
            <a:off x="2771800" y="4365104"/>
            <a:ext cx="5688632" cy="707886"/>
          </a:xfrm>
          <a:prstGeom prst="rect">
            <a:avLst/>
          </a:prstGeom>
        </p:spPr>
        <p:txBody>
          <a:bodyPr wrap="square">
            <a:spAutoFit/>
          </a:bodyPr>
          <a:lstStyle/>
          <a:p>
            <a:r>
              <a:rPr lang="nl-NL" sz="2000" b="1" dirty="0" smtClean="0"/>
              <a:t>∃x∃y∃z (</a:t>
            </a:r>
            <a:r>
              <a:rPr lang="nl-NL" sz="2000" b="1" dirty="0" err="1" smtClean="0"/>
              <a:t>Px</a:t>
            </a:r>
            <a:r>
              <a:rPr lang="nl-NL" sz="2000" b="1" dirty="0" smtClean="0"/>
              <a:t> ∧ </a:t>
            </a:r>
            <a:r>
              <a:rPr lang="nl-NL" sz="2000" b="1" dirty="0" err="1" smtClean="0"/>
              <a:t>Py</a:t>
            </a:r>
            <a:r>
              <a:rPr lang="nl-NL" sz="2000" b="1" dirty="0" smtClean="0"/>
              <a:t> ∧ </a:t>
            </a:r>
            <a:r>
              <a:rPr lang="nl-NL" sz="2000" b="1" dirty="0" err="1" smtClean="0"/>
              <a:t>Pz</a:t>
            </a:r>
            <a:r>
              <a:rPr lang="nl-NL" sz="2000" b="1" dirty="0" smtClean="0"/>
              <a:t> ∧ x≠y ∧ y≠z ∧ x≠z ∧                        ∀w ((w≠x ∧ w≠y ∧ w≠z) → ¬</a:t>
            </a:r>
            <a:r>
              <a:rPr lang="nl-NL" sz="2000" b="1" dirty="0" err="1" smtClean="0"/>
              <a:t>Pw</a:t>
            </a:r>
            <a:r>
              <a:rPr lang="nl-NL" sz="2000" b="1" dirty="0" smtClean="0"/>
              <a:t>)))  </a:t>
            </a:r>
            <a:endParaRPr lang="nl-NL" sz="2000" dirty="0"/>
          </a:p>
        </p:txBody>
      </p:sp>
      <p:sp>
        <p:nvSpPr>
          <p:cNvPr id="25" name="TextBox 24"/>
          <p:cNvSpPr txBox="1"/>
          <p:nvPr/>
        </p:nvSpPr>
        <p:spPr>
          <a:xfrm>
            <a:off x="395536" y="4859868"/>
            <a:ext cx="2160240" cy="369332"/>
          </a:xfrm>
          <a:prstGeom prst="rect">
            <a:avLst/>
          </a:prstGeom>
          <a:noFill/>
        </p:spPr>
        <p:txBody>
          <a:bodyPr wrap="square" rtlCol="0">
            <a:spAutoFit/>
          </a:bodyPr>
          <a:lstStyle/>
          <a:p>
            <a:r>
              <a:rPr lang="nl-NL" i="1" dirty="0" smtClean="0"/>
              <a:t>Enzovoort…</a:t>
            </a:r>
            <a:endParaRPr lang="nl-NL" i="1" dirty="0"/>
          </a:p>
        </p:txBody>
      </p:sp>
      <p:sp>
        <p:nvSpPr>
          <p:cNvPr id="26" name="TextBox 25"/>
          <p:cNvSpPr txBox="1"/>
          <p:nvPr/>
        </p:nvSpPr>
        <p:spPr>
          <a:xfrm>
            <a:off x="395536" y="5363924"/>
            <a:ext cx="9001000" cy="769441"/>
          </a:xfrm>
          <a:prstGeom prst="rect">
            <a:avLst/>
          </a:prstGeom>
          <a:noFill/>
        </p:spPr>
        <p:txBody>
          <a:bodyPr wrap="square" rtlCol="0">
            <a:spAutoFit/>
          </a:bodyPr>
          <a:lstStyle/>
          <a:p>
            <a:r>
              <a:rPr lang="nl-NL" i="1" dirty="0" smtClean="0"/>
              <a:t>Verkorte notatie:</a:t>
            </a:r>
            <a:r>
              <a:rPr lang="nl-NL" dirty="0" smtClean="0"/>
              <a:t> </a:t>
            </a:r>
          </a:p>
          <a:p>
            <a:endParaRPr lang="nl-NL" sz="800" b="1" dirty="0" smtClean="0"/>
          </a:p>
          <a:p>
            <a:r>
              <a:rPr lang="nl-NL" dirty="0" smtClean="0"/>
              <a:t>Er is één planeet: </a:t>
            </a:r>
            <a:r>
              <a:rPr lang="nl-NL" b="1" dirty="0" smtClean="0"/>
              <a:t>∃!</a:t>
            </a:r>
            <a:r>
              <a:rPr lang="nl-NL" b="1" dirty="0" err="1" smtClean="0"/>
              <a:t>xP</a:t>
            </a:r>
            <a:r>
              <a:rPr lang="nl-NL" b="1" dirty="0" smtClean="0"/>
              <a:t>(x)</a:t>
            </a:r>
            <a:endParaRPr lang="nl-NL" dirty="0"/>
          </a:p>
        </p:txBody>
      </p:sp>
      <p:sp>
        <p:nvSpPr>
          <p:cNvPr id="27" name="TextBox 26"/>
          <p:cNvSpPr txBox="1"/>
          <p:nvPr/>
        </p:nvSpPr>
        <p:spPr>
          <a:xfrm>
            <a:off x="395536" y="6228020"/>
            <a:ext cx="3312368" cy="369332"/>
          </a:xfrm>
          <a:prstGeom prst="rect">
            <a:avLst/>
          </a:prstGeom>
          <a:noFill/>
        </p:spPr>
        <p:txBody>
          <a:bodyPr wrap="square" rtlCol="0">
            <a:spAutoFit/>
          </a:bodyPr>
          <a:lstStyle/>
          <a:p>
            <a:r>
              <a:rPr lang="nl-NL" dirty="0" smtClean="0"/>
              <a:t>Er zijn twee planeten: </a:t>
            </a:r>
            <a:r>
              <a:rPr lang="nl-NL" b="1" dirty="0" smtClean="0"/>
              <a:t>∃2!</a:t>
            </a:r>
            <a:r>
              <a:rPr lang="nl-NL" b="1" dirty="0" err="1" smtClean="0"/>
              <a:t>xP</a:t>
            </a:r>
            <a:r>
              <a:rPr lang="nl-NL" b="1" dirty="0" smtClean="0"/>
              <a:t>(x)</a:t>
            </a:r>
            <a:endParaRPr lang="nl-NL" dirty="0"/>
          </a:p>
        </p:txBody>
      </p:sp>
      <p:sp>
        <p:nvSpPr>
          <p:cNvPr id="28" name="Rectangle 27"/>
          <p:cNvSpPr/>
          <p:nvPr/>
        </p:nvSpPr>
        <p:spPr>
          <a:xfrm>
            <a:off x="3461084" y="5723964"/>
            <a:ext cx="3055132" cy="369332"/>
          </a:xfrm>
          <a:prstGeom prst="rect">
            <a:avLst/>
          </a:prstGeom>
        </p:spPr>
        <p:txBody>
          <a:bodyPr wrap="none">
            <a:spAutoFit/>
          </a:bodyPr>
          <a:lstStyle/>
          <a:p>
            <a:r>
              <a:rPr lang="nl-NL" dirty="0" smtClean="0"/>
              <a:t>En zijn 74 planeten: </a:t>
            </a:r>
            <a:r>
              <a:rPr lang="nl-NL" b="1" dirty="0" smtClean="0"/>
              <a:t>∃74!</a:t>
            </a:r>
            <a:r>
              <a:rPr lang="nl-NL" b="1" dirty="0" err="1" smtClean="0"/>
              <a:t>xP</a:t>
            </a:r>
            <a:r>
              <a:rPr lang="nl-NL" b="1" dirty="0" smtClean="0"/>
              <a:t>(x)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2000"/>
                                        <p:tgtEl>
                                          <p:spTgt spid="1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2000"/>
                                        <p:tgtEl>
                                          <p:spTgt spid="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20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xEl>
                                              <p:pRg st="0" end="0"/>
                                            </p:txEl>
                                          </p:spTgt>
                                        </p:tgtEl>
                                        <p:attrNameLst>
                                          <p:attrName>style.visibility</p:attrName>
                                        </p:attrNameLst>
                                      </p:cBhvr>
                                      <p:to>
                                        <p:strVal val="visible"/>
                                      </p:to>
                                    </p:set>
                                    <p:animEffect transition="in" filter="fade">
                                      <p:cBhvr>
                                        <p:cTn id="25" dur="2000"/>
                                        <p:tgtEl>
                                          <p:spTgt spid="2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xEl>
                                              <p:pRg st="0" end="0"/>
                                            </p:txEl>
                                          </p:spTgt>
                                        </p:tgtEl>
                                        <p:attrNameLst>
                                          <p:attrName>style.visibility</p:attrName>
                                        </p:attrNameLst>
                                      </p:cBhvr>
                                      <p:to>
                                        <p:strVal val="visible"/>
                                      </p:to>
                                    </p:set>
                                    <p:animEffect transition="in" filter="fade">
                                      <p:cBhvr>
                                        <p:cTn id="30" dur="2000"/>
                                        <p:tgtEl>
                                          <p:spTgt spid="19">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xEl>
                                              <p:pRg st="0" end="0"/>
                                            </p:txEl>
                                          </p:spTgt>
                                        </p:tgtEl>
                                        <p:attrNameLst>
                                          <p:attrName>style.visibility</p:attrName>
                                        </p:attrNameLst>
                                      </p:cBhvr>
                                      <p:to>
                                        <p:strVal val="visible"/>
                                      </p:to>
                                    </p:set>
                                    <p:animEffect transition="in" filter="fade">
                                      <p:cBhvr>
                                        <p:cTn id="35" dur="2000"/>
                                        <p:tgtEl>
                                          <p:spTgt spid="21">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2">
                                            <p:txEl>
                                              <p:pRg st="0" end="0"/>
                                            </p:txEl>
                                          </p:spTgt>
                                        </p:tgtEl>
                                        <p:attrNameLst>
                                          <p:attrName>style.visibility</p:attrName>
                                        </p:attrNameLst>
                                      </p:cBhvr>
                                      <p:to>
                                        <p:strVal val="visible"/>
                                      </p:to>
                                    </p:set>
                                    <p:animEffect transition="in" filter="fade">
                                      <p:cBhvr>
                                        <p:cTn id="40" dur="2000"/>
                                        <p:tgtEl>
                                          <p:spTgt spid="22">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3">
                                            <p:txEl>
                                              <p:pRg st="0" end="0"/>
                                            </p:txEl>
                                          </p:spTgt>
                                        </p:tgtEl>
                                        <p:attrNameLst>
                                          <p:attrName>style.visibility</p:attrName>
                                        </p:attrNameLst>
                                      </p:cBhvr>
                                      <p:to>
                                        <p:strVal val="visible"/>
                                      </p:to>
                                    </p:set>
                                    <p:animEffect transition="in" filter="fade">
                                      <p:cBhvr>
                                        <p:cTn id="45" dur="2000"/>
                                        <p:tgtEl>
                                          <p:spTgt spid="23">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Effect transition="in" filter="fade">
                                      <p:cBhvr>
                                        <p:cTn id="50" dur="2000"/>
                                        <p:tgtEl>
                                          <p:spTgt spid="24">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Effect transition="in" filter="fade">
                                      <p:cBhvr>
                                        <p:cTn id="55" dur="2000"/>
                                        <p:tgtEl>
                                          <p:spTgt spid="25">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6">
                                            <p:txEl>
                                              <p:pRg st="0" end="0"/>
                                            </p:txEl>
                                          </p:spTgt>
                                        </p:tgtEl>
                                        <p:attrNameLst>
                                          <p:attrName>style.visibility</p:attrName>
                                        </p:attrNameLst>
                                      </p:cBhvr>
                                      <p:to>
                                        <p:strVal val="visible"/>
                                      </p:to>
                                    </p:set>
                                    <p:animEffect transition="in" filter="fade">
                                      <p:cBhvr>
                                        <p:cTn id="60" dur="2000"/>
                                        <p:tgtEl>
                                          <p:spTgt spid="26">
                                            <p:txEl>
                                              <p:pRg st="0" end="0"/>
                                            </p:txEl>
                                          </p:spTgt>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6">
                                            <p:txEl>
                                              <p:pRg st="2" end="2"/>
                                            </p:txEl>
                                          </p:spTgt>
                                        </p:tgtEl>
                                        <p:attrNameLst>
                                          <p:attrName>style.visibility</p:attrName>
                                        </p:attrNameLst>
                                      </p:cBhvr>
                                      <p:to>
                                        <p:strVal val="visible"/>
                                      </p:to>
                                    </p:set>
                                    <p:animEffect transition="in" filter="fade">
                                      <p:cBhvr>
                                        <p:cTn id="63" dur="2000"/>
                                        <p:tgtEl>
                                          <p:spTgt spid="26">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7">
                                            <p:txEl>
                                              <p:pRg st="0" end="0"/>
                                            </p:txEl>
                                          </p:spTgt>
                                        </p:tgtEl>
                                        <p:attrNameLst>
                                          <p:attrName>style.visibility</p:attrName>
                                        </p:attrNameLst>
                                      </p:cBhvr>
                                      <p:to>
                                        <p:strVal val="visible"/>
                                      </p:to>
                                    </p:set>
                                    <p:animEffect transition="in" filter="fade">
                                      <p:cBhvr>
                                        <p:cTn id="68" dur="2000"/>
                                        <p:tgtEl>
                                          <p:spTgt spid="27">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8">
                                            <p:txEl>
                                              <p:pRg st="0" end="0"/>
                                            </p:txEl>
                                          </p:spTgt>
                                        </p:tgtEl>
                                        <p:attrNameLst>
                                          <p:attrName>style.visibility</p:attrName>
                                        </p:attrNameLst>
                                      </p:cBhvr>
                                      <p:to>
                                        <p:strVal val="visible"/>
                                      </p:to>
                                    </p:set>
                                    <p:animEffect transition="in" filter="fade">
                                      <p:cBhvr>
                                        <p:cTn id="73" dur="2000"/>
                                        <p:tgtEl>
                                          <p:spTgt spid="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8" grpId="0" build="allAtOnce"/>
      <p:bldP spid="11" grpId="0" build="allAtOnce"/>
      <p:bldP spid="12" grpId="0" build="allAtOnce"/>
      <p:bldP spid="19" grpId="0" build="allAtOnce"/>
      <p:bldP spid="20" grpId="0" build="allAtOnce"/>
      <p:bldP spid="21" grpId="0" build="allAtOnce"/>
      <p:bldP spid="22" grpId="0" build="allAtOnce"/>
      <p:bldP spid="23" grpId="0" build="allAtOnce"/>
      <p:bldP spid="24" grpId="0" build="allAtOnce"/>
      <p:bldP spid="25" grpId="0" build="allAtOnce"/>
      <p:bldP spid="26" grpId="0" build="allAtOnce"/>
      <p:bldP spid="27" grpId="0" build="allAtOnce"/>
      <p:bldP spid="28" grpId="0" build="allAtOnce"/>
    </p:bldLst>
  </p:timing>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Logicisme</a:t>
            </a:r>
            <a:endParaRPr lang="nl-NL" sz="3600" dirty="0"/>
          </a:p>
        </p:txBody>
      </p:sp>
      <p:sp>
        <p:nvSpPr>
          <p:cNvPr id="3" name="Content Placeholder 2"/>
          <p:cNvSpPr>
            <a:spLocks noGrp="1"/>
          </p:cNvSpPr>
          <p:nvPr>
            <p:ph idx="1"/>
          </p:nvPr>
        </p:nvSpPr>
        <p:spPr>
          <a:xfrm>
            <a:off x="395536" y="1600201"/>
            <a:ext cx="8686800" cy="820687"/>
          </a:xfrm>
        </p:spPr>
        <p:txBody>
          <a:bodyPr>
            <a:noAutofit/>
          </a:bodyPr>
          <a:lstStyle/>
          <a:p>
            <a:r>
              <a:rPr lang="nl-NL" sz="2000" dirty="0" smtClean="0"/>
              <a:t>Rond het begin van de vorige eeuw werd geprobeerd om op deze manier de hele wiskunde in logica uit te drukken. Dit programma wordt het </a:t>
            </a:r>
            <a:r>
              <a:rPr lang="nl-NL" sz="2000" i="1" dirty="0" err="1" smtClean="0"/>
              <a:t>logicisme</a:t>
            </a:r>
            <a:r>
              <a:rPr lang="nl-NL" sz="2000" dirty="0" smtClean="0"/>
              <a:t> genoemd. Bekende namen hierbij zijn </a:t>
            </a:r>
            <a:r>
              <a:rPr lang="nl-NL" sz="2000" dirty="0" err="1" smtClean="0"/>
              <a:t>Frege</a:t>
            </a:r>
            <a:r>
              <a:rPr lang="nl-NL" sz="2000" dirty="0" smtClean="0"/>
              <a:t>, </a:t>
            </a:r>
            <a:r>
              <a:rPr lang="nl-NL" sz="2000" dirty="0" err="1" smtClean="0"/>
              <a:t>Russell</a:t>
            </a:r>
            <a:r>
              <a:rPr lang="nl-NL" sz="2000" dirty="0" smtClean="0"/>
              <a:t> en </a:t>
            </a:r>
            <a:r>
              <a:rPr lang="nl-NL" sz="2000" dirty="0" err="1" smtClean="0"/>
              <a:t>Whitehead</a:t>
            </a:r>
            <a:r>
              <a:rPr lang="nl-NL" sz="2000" dirty="0" smtClean="0"/>
              <a:t>.</a:t>
            </a:r>
          </a:p>
        </p:txBody>
      </p:sp>
      <p:sp>
        <p:nvSpPr>
          <p:cNvPr id="8" name="Content Placeholder 2"/>
          <p:cNvSpPr txBox="1">
            <a:spLocks/>
          </p:cNvSpPr>
          <p:nvPr/>
        </p:nvSpPr>
        <p:spPr>
          <a:xfrm>
            <a:off x="395536" y="2636912"/>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Belangrijke werken uit die tijd zijn </a:t>
            </a:r>
            <a:r>
              <a:rPr lang="nl-NL" sz="2000" dirty="0" err="1" smtClean="0"/>
              <a:t>Frege’s</a:t>
            </a:r>
            <a:r>
              <a:rPr lang="nl-NL" sz="2000" dirty="0" smtClean="0"/>
              <a:t> </a:t>
            </a:r>
            <a:r>
              <a:rPr lang="nl-NL" sz="2000" i="1" dirty="0" err="1" smtClean="0"/>
              <a:t>Begriffsschrift</a:t>
            </a:r>
            <a:r>
              <a:rPr lang="nl-NL" sz="2000" dirty="0" smtClean="0"/>
              <a:t> (1879) en vooral zijn latere </a:t>
            </a:r>
            <a:r>
              <a:rPr lang="nl-NL" sz="2000" i="1" dirty="0" err="1" smtClean="0"/>
              <a:t>Grundgesetze</a:t>
            </a:r>
            <a:r>
              <a:rPr lang="nl-NL" sz="2000" i="1" dirty="0" smtClean="0"/>
              <a:t> der </a:t>
            </a:r>
            <a:r>
              <a:rPr lang="nl-NL" sz="2000" i="1" dirty="0" err="1" smtClean="0"/>
              <a:t>Arithmetik</a:t>
            </a:r>
            <a:r>
              <a:rPr lang="nl-NL" sz="2000" i="1" dirty="0" smtClean="0"/>
              <a:t> </a:t>
            </a:r>
            <a:r>
              <a:rPr lang="nl-NL" sz="2000" dirty="0" smtClean="0"/>
              <a:t>(1893). </a:t>
            </a:r>
            <a:r>
              <a:rPr lang="nl-NL" sz="2000" dirty="0" err="1" smtClean="0"/>
              <a:t>Frege</a:t>
            </a:r>
            <a:r>
              <a:rPr lang="nl-NL" sz="2000" dirty="0" smtClean="0"/>
              <a:t> trachtte de elementaire rekenkunde geheel tot logica te herleiden</a:t>
            </a:r>
          </a:p>
        </p:txBody>
      </p:sp>
      <p:sp>
        <p:nvSpPr>
          <p:cNvPr id="18" name="Content Placeholder 2"/>
          <p:cNvSpPr txBox="1">
            <a:spLocks/>
          </p:cNvSpPr>
          <p:nvPr/>
        </p:nvSpPr>
        <p:spPr>
          <a:xfrm>
            <a:off x="395536" y="3645024"/>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err="1" smtClean="0"/>
              <a:t>Russell</a:t>
            </a:r>
            <a:r>
              <a:rPr lang="nl-NL" sz="2000" dirty="0" smtClean="0"/>
              <a:t> ontdekte echter in 1902 een paradox in </a:t>
            </a:r>
            <a:r>
              <a:rPr lang="nl-NL" sz="2000" dirty="0" err="1" smtClean="0"/>
              <a:t>Frege’s</a:t>
            </a:r>
            <a:r>
              <a:rPr lang="nl-NL" sz="2000" dirty="0" smtClean="0"/>
              <a:t> systeem, waardoor   dit systeem volledig </a:t>
            </a:r>
            <a:r>
              <a:rPr lang="nl-NL" sz="2000" dirty="0" err="1" smtClean="0"/>
              <a:t>instorte</a:t>
            </a:r>
            <a:r>
              <a:rPr lang="nl-NL" sz="2000" dirty="0" smtClean="0"/>
              <a:t>. Was het </a:t>
            </a:r>
            <a:r>
              <a:rPr lang="nl-NL" sz="2000" dirty="0" err="1" smtClean="0"/>
              <a:t>logicisme</a:t>
            </a:r>
            <a:r>
              <a:rPr lang="nl-NL" sz="2000" dirty="0" smtClean="0"/>
              <a:t> hiermee ten einde?</a:t>
            </a:r>
          </a:p>
        </p:txBody>
      </p:sp>
      <p:sp>
        <p:nvSpPr>
          <p:cNvPr id="29" name="Content Placeholder 2"/>
          <p:cNvSpPr txBox="1">
            <a:spLocks/>
          </p:cNvSpPr>
          <p:nvPr/>
        </p:nvSpPr>
        <p:spPr>
          <a:xfrm>
            <a:off x="395536" y="4365104"/>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Nee, </a:t>
            </a:r>
            <a:r>
              <a:rPr lang="nl-NL" sz="2000" dirty="0" err="1" smtClean="0"/>
              <a:t>Russell</a:t>
            </a:r>
            <a:r>
              <a:rPr lang="nl-NL" sz="2000" dirty="0" smtClean="0"/>
              <a:t> trachtte samen met </a:t>
            </a:r>
            <a:r>
              <a:rPr lang="nl-NL" sz="2000" dirty="0" err="1" smtClean="0"/>
              <a:t>Whitehead</a:t>
            </a:r>
            <a:r>
              <a:rPr lang="nl-NL" sz="2000" dirty="0" smtClean="0"/>
              <a:t> het </a:t>
            </a:r>
            <a:r>
              <a:rPr lang="nl-NL" sz="2000" dirty="0" err="1" smtClean="0"/>
              <a:t>logicisme</a:t>
            </a:r>
            <a:r>
              <a:rPr lang="nl-NL" sz="2000" dirty="0" smtClean="0"/>
              <a:t> alsnog te voltooien. Dit leverde het beroemde werk </a:t>
            </a:r>
            <a:r>
              <a:rPr lang="nl-NL" sz="2000" i="1" dirty="0" err="1" smtClean="0"/>
              <a:t>Principia</a:t>
            </a:r>
            <a:r>
              <a:rPr lang="nl-NL" sz="2000" i="1" dirty="0" smtClean="0"/>
              <a:t> Mathematica </a:t>
            </a:r>
            <a:r>
              <a:rPr lang="nl-NL" sz="2000" dirty="0" smtClean="0"/>
              <a:t>(1910)    op. Tot op de dag van vandaag heeft niemand erin tegenspraken ontdekt.</a:t>
            </a:r>
          </a:p>
        </p:txBody>
      </p:sp>
      <p:sp>
        <p:nvSpPr>
          <p:cNvPr id="30" name="Content Placeholder 2"/>
          <p:cNvSpPr txBox="1">
            <a:spLocks/>
          </p:cNvSpPr>
          <p:nvPr/>
        </p:nvSpPr>
        <p:spPr>
          <a:xfrm>
            <a:off x="395536" y="5373216"/>
            <a:ext cx="8496944" cy="504056"/>
          </a:xfrm>
          <a:prstGeom prst="rect">
            <a:avLst/>
          </a:prstGeom>
        </p:spPr>
        <p:txBody>
          <a:bodyPr vert="horz" lIns="91440" tIns="45720" rIns="91440" bIns="45720" rtlCol="0">
            <a:noAutofit/>
          </a:bodyPr>
          <a:lstStyle/>
          <a:p>
            <a:pPr marL="342900" indent="-342900">
              <a:spcBef>
                <a:spcPct val="20000"/>
              </a:spcBef>
              <a:buFont typeface="Arial" pitchFamily="34" charset="0"/>
              <a:buChar char="•"/>
              <a:defRPr/>
            </a:pPr>
            <a:r>
              <a:rPr lang="nl-NL" sz="2000" dirty="0" smtClean="0"/>
              <a:t>Na enkele jaren werd echter toch duidelijk dat een volledige reductie van wiskunde naar logica niet mogelijk is. Het bleek namelijk onvermijdelijk te zijn om in de reductie een beroep te doen op principes die niet van strikt </a:t>
            </a:r>
            <a:r>
              <a:rPr lang="nl-NL" sz="2000" dirty="0" err="1" smtClean="0"/>
              <a:t>algemeen-logische</a:t>
            </a:r>
            <a:r>
              <a:rPr lang="nl-NL" sz="2000" dirty="0" smtClean="0"/>
              <a:t> aard zijn. Specifiek wiskundige axioma’s bleven nodig.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9">
                                            <p:txEl>
                                              <p:pRg st="0" end="0"/>
                                            </p:txEl>
                                          </p:spTgt>
                                        </p:tgtEl>
                                        <p:attrNameLst>
                                          <p:attrName>style.visibility</p:attrName>
                                        </p:attrNameLst>
                                      </p:cBhvr>
                                      <p:to>
                                        <p:strVal val="visible"/>
                                      </p:to>
                                    </p:set>
                                    <p:animEffect transition="in" filter="fade">
                                      <p:cBhvr>
                                        <p:cTn id="17" dur="2000"/>
                                        <p:tgtEl>
                                          <p:spTgt spid="2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xEl>
                                              <p:pRg st="0" end="0"/>
                                            </p:txEl>
                                          </p:spTgt>
                                        </p:tgtEl>
                                        <p:attrNameLst>
                                          <p:attrName>style.visibility</p:attrName>
                                        </p:attrNameLst>
                                      </p:cBhvr>
                                      <p:to>
                                        <p:strVal val="visible"/>
                                      </p:to>
                                    </p:set>
                                    <p:animEffect transition="in" filter="fade">
                                      <p:cBhvr>
                                        <p:cTn id="22" dur="20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18" grpId="0" build="allAtOnce"/>
      <p:bldP spid="29" grpId="0" build="allAtOnce"/>
      <p:bldP spid="30" grpId="0" build="allAtOnce"/>
    </p:bldLst>
  </p:timing>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De </a:t>
            </a:r>
            <a:r>
              <a:rPr lang="nl-NL" sz="3600" dirty="0" err="1" smtClean="0"/>
              <a:t>Russell</a:t>
            </a:r>
            <a:r>
              <a:rPr lang="nl-NL" sz="3600" dirty="0" smtClean="0"/>
              <a:t> paradox</a:t>
            </a:r>
            <a:endParaRPr lang="nl-NL" sz="3600" dirty="0"/>
          </a:p>
        </p:txBody>
      </p:sp>
      <p:sp>
        <p:nvSpPr>
          <p:cNvPr id="3" name="Content Placeholder 2"/>
          <p:cNvSpPr>
            <a:spLocks noGrp="1"/>
          </p:cNvSpPr>
          <p:nvPr>
            <p:ph idx="1"/>
          </p:nvPr>
        </p:nvSpPr>
        <p:spPr>
          <a:xfrm>
            <a:off x="395536" y="1600201"/>
            <a:ext cx="8686800" cy="820687"/>
          </a:xfrm>
        </p:spPr>
        <p:txBody>
          <a:bodyPr>
            <a:noAutofit/>
          </a:bodyPr>
          <a:lstStyle/>
          <a:p>
            <a:r>
              <a:rPr lang="nl-NL" sz="2000" dirty="0" err="1" smtClean="0"/>
              <a:t>Frege</a:t>
            </a:r>
            <a:r>
              <a:rPr lang="nl-NL" sz="2000" dirty="0" smtClean="0"/>
              <a:t> sprak in zijn systeem over </a:t>
            </a:r>
            <a:r>
              <a:rPr lang="nl-NL" sz="2000" i="1" dirty="0" smtClean="0"/>
              <a:t>verzamelingen van verzamelingen</a:t>
            </a:r>
            <a:r>
              <a:rPr lang="nl-NL" sz="2000" dirty="0" smtClean="0"/>
              <a:t>.  Zoals bijvoorbeeld de verzameling van alle verzamelingen die uit vijf  elementen bestaan (wat </a:t>
            </a:r>
            <a:r>
              <a:rPr lang="nl-NL" sz="2000" dirty="0" err="1" smtClean="0"/>
              <a:t>Frege</a:t>
            </a:r>
            <a:r>
              <a:rPr lang="nl-NL" sz="2000" dirty="0" smtClean="0"/>
              <a:t> zag als de definitie van het getal 5) of de verzameling van alle verzamelingen van meetkundige figuren, etc. </a:t>
            </a:r>
          </a:p>
        </p:txBody>
      </p:sp>
      <p:sp>
        <p:nvSpPr>
          <p:cNvPr id="10" name="Content Placeholder 2"/>
          <p:cNvSpPr txBox="1">
            <a:spLocks/>
          </p:cNvSpPr>
          <p:nvPr/>
        </p:nvSpPr>
        <p:spPr>
          <a:xfrm>
            <a:off x="395536" y="2968353"/>
            <a:ext cx="8686800" cy="820687"/>
          </a:xfrm>
          <a:prstGeom prst="rect">
            <a:avLst/>
          </a:prstGeom>
        </p:spPr>
        <p:txBody>
          <a:bodyPr vert="horz" lIns="91440" tIns="45720" rIns="91440" bIns="45720" rtlCol="0">
            <a:noAutofit/>
          </a:bodyPr>
          <a:lstStyle/>
          <a:p>
            <a:pPr marL="342900" indent="-342900">
              <a:spcBef>
                <a:spcPct val="20000"/>
              </a:spcBef>
              <a:buFont typeface="Arial" pitchFamily="34" charset="0"/>
              <a:buChar char="•"/>
            </a:pPr>
            <a:r>
              <a:rPr lang="nl-NL" sz="2000" dirty="0" smtClean="0"/>
              <a:t>Wie dit doet dient echter wel een aantal </a:t>
            </a:r>
            <a:r>
              <a:rPr lang="nl-NL" sz="2000" i="1" dirty="0" smtClean="0"/>
              <a:t>restricties</a:t>
            </a:r>
            <a:r>
              <a:rPr lang="nl-NL" sz="2000" dirty="0" smtClean="0"/>
              <a:t> in acht te nemen. In </a:t>
            </a:r>
            <a:r>
              <a:rPr lang="nl-NL" sz="2000" dirty="0" err="1" smtClean="0"/>
              <a:t>Frege’s</a:t>
            </a:r>
            <a:r>
              <a:rPr lang="nl-NL" sz="2000" dirty="0" smtClean="0"/>
              <a:t> systeem is van dergelijke restricties geen sprake. </a:t>
            </a:r>
            <a:r>
              <a:rPr lang="nl-NL" sz="2000" dirty="0" err="1" smtClean="0"/>
              <a:t>Russell</a:t>
            </a:r>
            <a:r>
              <a:rPr lang="nl-NL" sz="2000" dirty="0" smtClean="0"/>
              <a:t> liet zien dat dit tot een </a:t>
            </a:r>
            <a:r>
              <a:rPr lang="nl-NL" sz="2000" b="1" dirty="0" smtClean="0">
                <a:solidFill>
                  <a:srgbClr val="0070C0"/>
                </a:solidFill>
              </a:rPr>
              <a:t>paradox</a:t>
            </a:r>
            <a:r>
              <a:rPr lang="nl-NL" sz="2000" dirty="0" smtClean="0"/>
              <a:t> leidt die </a:t>
            </a:r>
            <a:r>
              <a:rPr lang="nl-NL" sz="2000" dirty="0" err="1" smtClean="0"/>
              <a:t>Frege’s</a:t>
            </a:r>
            <a:r>
              <a:rPr lang="nl-NL" sz="2000" dirty="0" smtClean="0"/>
              <a:t> systeem volledig onderuit haalt.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395536" y="4005064"/>
            <a:ext cx="8686800" cy="820687"/>
          </a:xfrm>
          <a:prstGeom prst="rect">
            <a:avLst/>
          </a:prstGeom>
        </p:spPr>
        <p:txBody>
          <a:bodyPr vert="horz" lIns="91440" tIns="45720" rIns="91440" bIns="45720" rtlCol="0">
            <a:noAutofit/>
          </a:bodyPr>
          <a:lstStyle/>
          <a:p>
            <a:pPr marL="342900" indent="-342900">
              <a:spcBef>
                <a:spcPct val="20000"/>
              </a:spcBef>
            </a:pPr>
            <a:r>
              <a:rPr lang="nl-NL" sz="2000" dirty="0" smtClean="0"/>
              <a:t>      </a:t>
            </a:r>
            <a:r>
              <a:rPr lang="nl-NL" sz="2000" dirty="0" smtClean="0">
                <a:solidFill>
                  <a:srgbClr val="0070C0"/>
                </a:solidFill>
              </a:rPr>
              <a:t>Stel dat we in algemene zin over verzamelingen van verzamelingen mogen spreken (dus zonder bepaalde restricties in acht te nemen). Beschouw dan     de verzameling </a:t>
            </a:r>
            <a:r>
              <a:rPr lang="nl-NL" sz="2000" b="1" dirty="0" smtClean="0">
                <a:solidFill>
                  <a:srgbClr val="0070C0"/>
                </a:solidFill>
              </a:rPr>
              <a:t>R</a:t>
            </a:r>
            <a:r>
              <a:rPr lang="nl-NL" sz="2000" dirty="0" smtClean="0">
                <a:solidFill>
                  <a:srgbClr val="0070C0"/>
                </a:solidFill>
              </a:rPr>
              <a:t> van alle verzamelingen die zichzelf </a:t>
            </a:r>
            <a:r>
              <a:rPr lang="nl-NL" sz="2000" i="1" dirty="0" smtClean="0">
                <a:solidFill>
                  <a:srgbClr val="0070C0"/>
                </a:solidFill>
              </a:rPr>
              <a:t>niet</a:t>
            </a:r>
            <a:r>
              <a:rPr lang="nl-NL" sz="2000" dirty="0" smtClean="0">
                <a:solidFill>
                  <a:srgbClr val="0070C0"/>
                </a:solidFill>
              </a:rPr>
              <a:t> als element bevatten. Elementen van </a:t>
            </a:r>
            <a:r>
              <a:rPr lang="nl-NL" sz="2000" b="1" dirty="0" smtClean="0">
                <a:solidFill>
                  <a:srgbClr val="0070C0"/>
                </a:solidFill>
              </a:rPr>
              <a:t>R</a:t>
            </a:r>
            <a:r>
              <a:rPr lang="nl-NL" sz="2000" dirty="0" smtClean="0">
                <a:solidFill>
                  <a:srgbClr val="0070C0"/>
                </a:solidFill>
              </a:rPr>
              <a:t> zijn dus verzamelingen die geen element zijn van zichzelf.</a:t>
            </a:r>
          </a:p>
          <a:p>
            <a:pPr marL="342900" indent="-342900">
              <a:spcBef>
                <a:spcPct val="20000"/>
              </a:spcBef>
            </a:pPr>
            <a:endParaRPr lang="nl-NL" sz="2000" dirty="0" smtClean="0">
              <a:solidFill>
                <a:srgbClr val="0070C0"/>
              </a:solidFill>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421704" y="5373216"/>
            <a:ext cx="8686800" cy="820687"/>
          </a:xfrm>
          <a:prstGeom prst="rect">
            <a:avLst/>
          </a:prstGeom>
        </p:spPr>
        <p:txBody>
          <a:bodyPr vert="horz" lIns="91440" tIns="45720" rIns="91440" bIns="45720" rtlCol="0">
            <a:noAutofit/>
          </a:bodyPr>
          <a:lstStyle/>
          <a:p>
            <a:pPr marL="342900" indent="-342900">
              <a:spcBef>
                <a:spcPct val="20000"/>
              </a:spcBef>
            </a:pPr>
            <a:r>
              <a:rPr lang="nl-NL" sz="2000" dirty="0" smtClean="0"/>
              <a:t>      </a:t>
            </a:r>
            <a:r>
              <a:rPr lang="nl-NL" sz="2000" dirty="0" smtClean="0">
                <a:solidFill>
                  <a:srgbClr val="0070C0"/>
                </a:solidFill>
              </a:rPr>
              <a:t>In dat geval is </a:t>
            </a:r>
            <a:r>
              <a:rPr lang="nl-NL" sz="2000" b="1" dirty="0" smtClean="0">
                <a:solidFill>
                  <a:srgbClr val="0070C0"/>
                </a:solidFill>
              </a:rPr>
              <a:t>R</a:t>
            </a:r>
            <a:r>
              <a:rPr lang="nl-NL" sz="2000" dirty="0" smtClean="0">
                <a:solidFill>
                  <a:srgbClr val="0070C0"/>
                </a:solidFill>
              </a:rPr>
              <a:t> geen element van zichzelf. Want als </a:t>
            </a:r>
            <a:r>
              <a:rPr lang="nl-NL" sz="2000" b="1" dirty="0" smtClean="0">
                <a:solidFill>
                  <a:srgbClr val="0070C0"/>
                </a:solidFill>
              </a:rPr>
              <a:t>R</a:t>
            </a:r>
            <a:r>
              <a:rPr lang="nl-NL" sz="2000" dirty="0" smtClean="0">
                <a:solidFill>
                  <a:srgbClr val="0070C0"/>
                </a:solidFill>
              </a:rPr>
              <a:t> element van zichzelf    zou zijn, dan zou </a:t>
            </a:r>
            <a:r>
              <a:rPr lang="nl-NL" sz="2000" b="1" dirty="0" smtClean="0">
                <a:solidFill>
                  <a:srgbClr val="0070C0"/>
                </a:solidFill>
              </a:rPr>
              <a:t>R</a:t>
            </a:r>
            <a:r>
              <a:rPr lang="nl-NL" sz="2000" dirty="0" smtClean="0">
                <a:solidFill>
                  <a:srgbClr val="0070C0"/>
                </a:solidFill>
              </a:rPr>
              <a:t> geen element van zichzelf zijn. Ook is het niet zo dat </a:t>
            </a:r>
            <a:r>
              <a:rPr lang="nl-NL" sz="2000" b="1" dirty="0" smtClean="0">
                <a:solidFill>
                  <a:srgbClr val="0070C0"/>
                </a:solidFill>
              </a:rPr>
              <a:t>R</a:t>
            </a:r>
            <a:r>
              <a:rPr lang="nl-NL" sz="2000" dirty="0" smtClean="0">
                <a:solidFill>
                  <a:srgbClr val="0070C0"/>
                </a:solidFill>
              </a:rPr>
              <a:t> geen element van zichzelf is. Want als dat zo zou zijn, dan zou </a:t>
            </a:r>
            <a:r>
              <a:rPr lang="nl-NL" sz="2000" b="1" dirty="0" smtClean="0">
                <a:solidFill>
                  <a:srgbClr val="0070C0"/>
                </a:solidFill>
              </a:rPr>
              <a:t>R</a:t>
            </a:r>
            <a:r>
              <a:rPr lang="nl-NL" sz="2000" dirty="0" smtClean="0">
                <a:solidFill>
                  <a:srgbClr val="0070C0"/>
                </a:solidFill>
              </a:rPr>
              <a:t> zichzelf wel als element bevatten. Kortom, we krijgen een tegenspraak! </a:t>
            </a:r>
            <a:r>
              <a:rPr lang="nl-NL" sz="2000" dirty="0" err="1" smtClean="0">
                <a:solidFill>
                  <a:srgbClr val="0070C0"/>
                </a:solidFill>
              </a:rPr>
              <a:t>Frege’s</a:t>
            </a:r>
            <a:r>
              <a:rPr lang="nl-NL" sz="2000" dirty="0" smtClean="0">
                <a:solidFill>
                  <a:srgbClr val="0070C0"/>
                </a:solidFill>
              </a:rPr>
              <a:t> systeem valt.</a:t>
            </a:r>
          </a:p>
          <a:p>
            <a:pPr marL="342900" indent="-342900">
              <a:spcBef>
                <a:spcPct val="20000"/>
              </a:spcBef>
            </a:pPr>
            <a:endParaRPr lang="nl-NL" sz="2000" dirty="0" smtClean="0">
              <a:solidFill>
                <a:srgbClr val="0070C0"/>
              </a:solidFill>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20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20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10" grpId="0" build="allAtOnce"/>
      <p:bldP spid="11" grpId="0" build="allAtOnce"/>
      <p:bldP spid="12" grpId="0" build="allAtOnce"/>
    </p:bldLst>
  </p:timing>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Logica </a:t>
            </a:r>
            <a:r>
              <a:rPr lang="nl-NL" sz="3600" dirty="0" err="1" smtClean="0"/>
              <a:t>naturalis</a:t>
            </a:r>
            <a:r>
              <a:rPr lang="nl-NL" sz="3600" dirty="0" smtClean="0"/>
              <a:t>, </a:t>
            </a:r>
            <a:r>
              <a:rPr lang="nl-NL" sz="3600" dirty="0" err="1" smtClean="0"/>
              <a:t>docens</a:t>
            </a:r>
            <a:r>
              <a:rPr lang="nl-NL" sz="3600" dirty="0" smtClean="0"/>
              <a:t> en </a:t>
            </a:r>
            <a:r>
              <a:rPr lang="nl-NL" sz="3600" dirty="0" err="1" smtClean="0"/>
              <a:t>utens</a:t>
            </a:r>
            <a:endParaRPr lang="nl-NL" sz="3600" dirty="0"/>
          </a:p>
        </p:txBody>
      </p:sp>
      <p:sp>
        <p:nvSpPr>
          <p:cNvPr id="7" name="Content Placeholder 2"/>
          <p:cNvSpPr txBox="1">
            <a:spLocks/>
          </p:cNvSpPr>
          <p:nvPr/>
        </p:nvSpPr>
        <p:spPr>
          <a:xfrm>
            <a:off x="349696" y="1600201"/>
            <a:ext cx="8686800" cy="460647"/>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scholastici</a:t>
            </a:r>
            <a:r>
              <a:rPr kumimoji="0" lang="nl-NL" sz="2000" b="0" i="0" u="none" strike="noStrike" kern="1200" cap="none" spc="0" normalizeH="0" noProof="0" dirty="0" smtClean="0">
                <a:ln>
                  <a:noFill/>
                </a:ln>
                <a:solidFill>
                  <a:schemeClr val="tx1"/>
                </a:solidFill>
                <a:effectLst/>
                <a:uLnTx/>
                <a:uFillTx/>
                <a:latin typeface="+mn-lt"/>
                <a:ea typeface="+mn-ea"/>
                <a:cs typeface="+mn-cs"/>
              </a:rPr>
              <a:t> maakten onderscheid tussen drie soorten logica</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8" name="Content Placeholder 2"/>
          <p:cNvSpPr txBox="1">
            <a:spLocks/>
          </p:cNvSpPr>
          <p:nvPr/>
        </p:nvSpPr>
        <p:spPr>
          <a:xfrm>
            <a:off x="349696" y="2276872"/>
            <a:ext cx="8686800" cy="15121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i="1" u="none" strike="noStrike" kern="1200" cap="none" spc="0" normalizeH="0" baseline="0" noProof="0" dirty="0" smtClean="0">
                <a:ln>
                  <a:noFill/>
                </a:ln>
                <a:effectLst/>
                <a:uLnTx/>
                <a:uFillTx/>
                <a:latin typeface="+mn-lt"/>
                <a:ea typeface="+mn-ea"/>
                <a:cs typeface="+mn-cs"/>
              </a:rPr>
              <a:t>Logica</a:t>
            </a:r>
            <a:r>
              <a:rPr kumimoji="0" lang="nl-NL" sz="2000" i="1" u="none" strike="noStrike" kern="1200" cap="none" spc="0" normalizeH="0" noProof="0" dirty="0" smtClean="0">
                <a:ln>
                  <a:noFill/>
                </a:ln>
                <a:effectLst/>
                <a:uLnTx/>
                <a:uFillTx/>
                <a:latin typeface="+mn-lt"/>
                <a:ea typeface="+mn-ea"/>
                <a:cs typeface="+mn-cs"/>
              </a:rPr>
              <a:t> </a:t>
            </a:r>
            <a:r>
              <a:rPr kumimoji="0" lang="nl-NL" sz="2000" i="1" u="none" strike="noStrike" kern="1200" cap="none" spc="0" normalizeH="0" noProof="0" dirty="0" err="1" smtClean="0">
                <a:ln>
                  <a:noFill/>
                </a:ln>
                <a:effectLst/>
                <a:uLnTx/>
                <a:uFillTx/>
                <a:latin typeface="+mn-lt"/>
                <a:ea typeface="+mn-ea"/>
                <a:cs typeface="+mn-cs"/>
              </a:rPr>
              <a:t>naturalis</a:t>
            </a:r>
            <a:r>
              <a:rPr lang="nl-NL" sz="2000" noProof="0" dirty="0" smtClean="0"/>
              <a:t>		Het bij ieder mens van nature aanwezige redeneer- 				vermogen. Dit vermogen bepaald ons redeneren in 				</a:t>
            </a:r>
            <a:r>
              <a:rPr lang="nl-NL" sz="2000" noProof="0" dirty="0" err="1" smtClean="0"/>
              <a:t>concreto</a:t>
            </a:r>
            <a:r>
              <a:rPr lang="nl-NL" sz="2000" noProof="0" dirty="0" smtClean="0"/>
              <a:t> en gaat gepaard met een notie van geldig- 				</a:t>
            </a:r>
            <a:r>
              <a:rPr lang="nl-NL" sz="2000" noProof="0" dirty="0" err="1" smtClean="0"/>
              <a:t>heid</a:t>
            </a:r>
            <a:r>
              <a:rPr lang="nl-NL" sz="2000" noProof="0" dirty="0" smtClean="0"/>
              <a:t> dat aan geen enkel logisch systeem gebonden is. 			Het is intuïtieve maatstaf voor beoordeling systemen.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288032" y="4077072"/>
            <a:ext cx="8820472" cy="151216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nl-NL" sz="2000" i="1" u="none" strike="noStrike" kern="1200" cap="none" spc="0" normalizeH="0" baseline="0" noProof="0" dirty="0" smtClean="0">
                <a:ln>
                  <a:noFill/>
                </a:ln>
                <a:effectLst/>
                <a:uLnTx/>
                <a:uFillTx/>
                <a:latin typeface="+mn-lt"/>
                <a:ea typeface="+mn-ea"/>
                <a:cs typeface="+mn-cs"/>
              </a:rPr>
              <a:t>Logica</a:t>
            </a:r>
            <a:r>
              <a:rPr kumimoji="0" lang="nl-NL" sz="2000" i="1" u="none" strike="noStrike" kern="1200" cap="none" spc="0" normalizeH="0" noProof="0" dirty="0" smtClean="0">
                <a:ln>
                  <a:noFill/>
                </a:ln>
                <a:effectLst/>
                <a:uLnTx/>
                <a:uFillTx/>
                <a:latin typeface="+mn-lt"/>
                <a:ea typeface="+mn-ea"/>
                <a:cs typeface="+mn-cs"/>
              </a:rPr>
              <a:t> </a:t>
            </a:r>
            <a:r>
              <a:rPr kumimoji="0" lang="nl-NL" sz="2000" i="1" u="none" strike="noStrike" kern="1200" cap="none" spc="0" normalizeH="0" noProof="0" dirty="0" err="1" smtClean="0">
                <a:ln>
                  <a:noFill/>
                </a:ln>
                <a:effectLst/>
                <a:uLnTx/>
                <a:uFillTx/>
                <a:latin typeface="+mn-lt"/>
                <a:ea typeface="+mn-ea"/>
                <a:cs typeface="+mn-cs"/>
              </a:rPr>
              <a:t>artificialis</a:t>
            </a:r>
            <a:r>
              <a:rPr lang="nl-NL" sz="2000" noProof="0" dirty="0" smtClean="0"/>
              <a:t>		Deze wordt onderverdeeld in de </a:t>
            </a:r>
            <a:r>
              <a:rPr lang="nl-NL" sz="2000" i="1" noProof="0" dirty="0" smtClean="0"/>
              <a:t>logica </a:t>
            </a:r>
            <a:r>
              <a:rPr lang="nl-NL" sz="2000" i="1" noProof="0" dirty="0" err="1" smtClean="0"/>
              <a:t>docens</a:t>
            </a:r>
            <a:r>
              <a:rPr lang="nl-NL" sz="2000" i="1" noProof="0" dirty="0" smtClean="0"/>
              <a:t> </a:t>
            </a:r>
            <a:r>
              <a:rPr lang="nl-NL" sz="2000" noProof="0" dirty="0" smtClean="0"/>
              <a:t>en de 				</a:t>
            </a:r>
            <a:r>
              <a:rPr lang="nl-NL" sz="2000" i="1" noProof="0" dirty="0" smtClean="0"/>
              <a:t>logica </a:t>
            </a:r>
            <a:r>
              <a:rPr lang="nl-NL" sz="2000" i="1" noProof="0" dirty="0" err="1" smtClean="0"/>
              <a:t>utens</a:t>
            </a:r>
            <a:r>
              <a:rPr lang="nl-NL" sz="2000" noProof="0" dirty="0" smtClean="0"/>
              <a:t>. De logica </a:t>
            </a:r>
            <a:r>
              <a:rPr lang="nl-NL" sz="2000" noProof="0" dirty="0" err="1" smtClean="0"/>
              <a:t>docens</a:t>
            </a:r>
            <a:r>
              <a:rPr lang="nl-NL" sz="2000" noProof="0" dirty="0" smtClean="0"/>
              <a:t> </a:t>
            </a:r>
            <a:r>
              <a:rPr lang="nl-NL" sz="2000" dirty="0" smtClean="0"/>
              <a:t>zijn </a:t>
            </a:r>
            <a:r>
              <a:rPr lang="nl-NL" sz="2000" noProof="0" dirty="0" smtClean="0"/>
              <a:t>de logische systemen 			die worden onderwezen (ontstaan door reflectie op 				[abstractie, </a:t>
            </a:r>
            <a:r>
              <a:rPr lang="nl-NL" sz="2000" noProof="0" dirty="0" err="1" smtClean="0"/>
              <a:t>formalisatie</a:t>
            </a:r>
            <a:r>
              <a:rPr lang="nl-NL" sz="2000" noProof="0" dirty="0" smtClean="0"/>
              <a:t> van] logica </a:t>
            </a:r>
            <a:r>
              <a:rPr lang="nl-NL" sz="2000" noProof="0" dirty="0" err="1" smtClean="0"/>
              <a:t>naturalis</a:t>
            </a:r>
            <a:r>
              <a:rPr lang="nl-NL" sz="2000" noProof="0" dirty="0" smtClean="0"/>
              <a:t>). Logica 				</a:t>
            </a:r>
            <a:r>
              <a:rPr lang="nl-NL" sz="2000" noProof="0" dirty="0" err="1" smtClean="0"/>
              <a:t>utens</a:t>
            </a:r>
            <a:r>
              <a:rPr lang="nl-NL" sz="2000" noProof="0" dirty="0" smtClean="0"/>
              <a:t> is toegepaste logica </a:t>
            </a:r>
            <a:r>
              <a:rPr lang="nl-NL" sz="2000" noProof="0" dirty="0" err="1" smtClean="0"/>
              <a:t>docens</a:t>
            </a:r>
            <a:r>
              <a:rPr lang="nl-NL" sz="2000" noProof="0" dirty="0" smtClean="0"/>
              <a:t>. Het is de logica 				</a:t>
            </a:r>
            <a:r>
              <a:rPr lang="nl-NL" sz="2000" noProof="0" dirty="0" err="1" smtClean="0"/>
              <a:t>docens</a:t>
            </a:r>
            <a:r>
              <a:rPr lang="nl-NL" sz="2000" noProof="0" dirty="0" smtClean="0"/>
              <a:t> zoals die wordt gebruikt in de wetenschap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20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P spid="8" grpId="0" build="allAtOnce"/>
      <p:bldP spid="9" grpId="0" build="allAtOnce"/>
    </p:bldLst>
  </p:timing>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Verband tussen logica </a:t>
            </a:r>
            <a:r>
              <a:rPr lang="nl-NL" sz="3600" dirty="0" err="1" smtClean="0"/>
              <a:t>naturalis</a:t>
            </a:r>
            <a:r>
              <a:rPr lang="nl-NL" sz="3600" dirty="0" smtClean="0"/>
              <a:t> en </a:t>
            </a:r>
            <a:r>
              <a:rPr lang="nl-NL" sz="3600" dirty="0" err="1" smtClean="0"/>
              <a:t>docens</a:t>
            </a:r>
            <a:endParaRPr lang="nl-NL" sz="3600" dirty="0"/>
          </a:p>
        </p:txBody>
      </p:sp>
      <p:sp>
        <p:nvSpPr>
          <p:cNvPr id="6" name="Rectangle 5"/>
          <p:cNvSpPr/>
          <p:nvPr/>
        </p:nvSpPr>
        <p:spPr>
          <a:xfrm>
            <a:off x="1331640" y="2142148"/>
            <a:ext cx="2448272" cy="201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extBox 9"/>
          <p:cNvSpPr txBox="1"/>
          <p:nvPr/>
        </p:nvSpPr>
        <p:spPr>
          <a:xfrm>
            <a:off x="1619672" y="1556792"/>
            <a:ext cx="2160240" cy="369332"/>
          </a:xfrm>
          <a:prstGeom prst="rect">
            <a:avLst/>
          </a:prstGeom>
          <a:noFill/>
        </p:spPr>
        <p:txBody>
          <a:bodyPr wrap="square" rtlCol="0">
            <a:spAutoFit/>
          </a:bodyPr>
          <a:lstStyle/>
          <a:p>
            <a:r>
              <a:rPr lang="nl-NL" b="1" dirty="0" smtClean="0"/>
              <a:t>Logica </a:t>
            </a:r>
            <a:r>
              <a:rPr lang="nl-NL" b="1" dirty="0" err="1" smtClean="0"/>
              <a:t>naturalis</a:t>
            </a:r>
            <a:endParaRPr lang="nl-NL" b="1" dirty="0"/>
          </a:p>
        </p:txBody>
      </p:sp>
      <p:sp>
        <p:nvSpPr>
          <p:cNvPr id="11" name="Rectangle 10"/>
          <p:cNvSpPr/>
          <p:nvPr/>
        </p:nvSpPr>
        <p:spPr>
          <a:xfrm>
            <a:off x="5292080" y="2142148"/>
            <a:ext cx="2448272" cy="201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5724128" y="1556792"/>
            <a:ext cx="2160240" cy="369332"/>
          </a:xfrm>
          <a:prstGeom prst="rect">
            <a:avLst/>
          </a:prstGeom>
          <a:noFill/>
        </p:spPr>
        <p:txBody>
          <a:bodyPr wrap="square" rtlCol="0">
            <a:spAutoFit/>
          </a:bodyPr>
          <a:lstStyle/>
          <a:p>
            <a:r>
              <a:rPr lang="nl-NL" b="1" dirty="0" smtClean="0"/>
              <a:t>Logica </a:t>
            </a:r>
            <a:r>
              <a:rPr lang="nl-NL" b="1" dirty="0" err="1" smtClean="0"/>
              <a:t>docens</a:t>
            </a:r>
            <a:endParaRPr lang="nl-NL" b="1" dirty="0"/>
          </a:p>
        </p:txBody>
      </p:sp>
      <p:sp>
        <p:nvSpPr>
          <p:cNvPr id="15" name="TextBox 14"/>
          <p:cNvSpPr txBox="1"/>
          <p:nvPr/>
        </p:nvSpPr>
        <p:spPr>
          <a:xfrm>
            <a:off x="1907704" y="2286164"/>
            <a:ext cx="1368152" cy="646331"/>
          </a:xfrm>
          <a:prstGeom prst="rect">
            <a:avLst/>
          </a:prstGeom>
          <a:noFill/>
        </p:spPr>
        <p:txBody>
          <a:bodyPr wrap="square" rtlCol="0">
            <a:spAutoFit/>
          </a:bodyPr>
          <a:lstStyle/>
          <a:p>
            <a:r>
              <a:rPr lang="nl-NL" i="1" dirty="0" smtClean="0"/>
              <a:t>Concrete redenering</a:t>
            </a:r>
            <a:endParaRPr lang="nl-NL" i="1" dirty="0"/>
          </a:p>
        </p:txBody>
      </p:sp>
      <p:cxnSp>
        <p:nvCxnSpPr>
          <p:cNvPr id="20" name="Straight Arrow Connector 19"/>
          <p:cNvCxnSpPr/>
          <p:nvPr/>
        </p:nvCxnSpPr>
        <p:spPr>
          <a:xfrm>
            <a:off x="3347864" y="2646204"/>
            <a:ext cx="23042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724128" y="2286164"/>
            <a:ext cx="2016224" cy="646331"/>
          </a:xfrm>
          <a:prstGeom prst="rect">
            <a:avLst/>
          </a:prstGeom>
          <a:noFill/>
        </p:spPr>
        <p:txBody>
          <a:bodyPr wrap="square" rtlCol="0">
            <a:spAutoFit/>
          </a:bodyPr>
          <a:lstStyle/>
          <a:p>
            <a:r>
              <a:rPr lang="nl-NL" i="1" dirty="0" smtClean="0"/>
              <a:t>Formele </a:t>
            </a:r>
            <a:r>
              <a:rPr lang="nl-NL" i="1" dirty="0" err="1" smtClean="0"/>
              <a:t>redeneer-vorm</a:t>
            </a:r>
            <a:r>
              <a:rPr lang="nl-NL" i="1" dirty="0" smtClean="0"/>
              <a:t> in systeem X</a:t>
            </a:r>
            <a:endParaRPr lang="nl-NL" i="1" dirty="0"/>
          </a:p>
        </p:txBody>
      </p:sp>
      <p:sp>
        <p:nvSpPr>
          <p:cNvPr id="22" name="TextBox 21"/>
          <p:cNvSpPr txBox="1"/>
          <p:nvPr/>
        </p:nvSpPr>
        <p:spPr>
          <a:xfrm>
            <a:off x="5940152" y="3368025"/>
            <a:ext cx="2016224" cy="646331"/>
          </a:xfrm>
          <a:prstGeom prst="rect">
            <a:avLst/>
          </a:prstGeom>
          <a:noFill/>
        </p:spPr>
        <p:txBody>
          <a:bodyPr wrap="square" rtlCol="0">
            <a:spAutoFit/>
          </a:bodyPr>
          <a:lstStyle/>
          <a:p>
            <a:r>
              <a:rPr lang="nl-NL" i="1" dirty="0" smtClean="0"/>
              <a:t>(</a:t>
            </a:r>
            <a:r>
              <a:rPr lang="nl-NL" i="1" dirty="0" err="1" smtClean="0"/>
              <a:t>On</a:t>
            </a:r>
            <a:r>
              <a:rPr lang="nl-NL" i="1" dirty="0" smtClean="0"/>
              <a:t>)geldig in systeem X</a:t>
            </a:r>
            <a:endParaRPr lang="nl-NL" i="1" dirty="0"/>
          </a:p>
        </p:txBody>
      </p:sp>
      <p:cxnSp>
        <p:nvCxnSpPr>
          <p:cNvPr id="24" name="Straight Arrow Connector 23"/>
          <p:cNvCxnSpPr/>
          <p:nvPr/>
        </p:nvCxnSpPr>
        <p:spPr>
          <a:xfrm>
            <a:off x="6588224" y="2934236"/>
            <a:ext cx="0" cy="4320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3347864" y="3654316"/>
            <a:ext cx="23042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907704" y="3429000"/>
            <a:ext cx="2016224" cy="369332"/>
          </a:xfrm>
          <a:prstGeom prst="rect">
            <a:avLst/>
          </a:prstGeom>
          <a:noFill/>
        </p:spPr>
        <p:txBody>
          <a:bodyPr wrap="square" rtlCol="0">
            <a:spAutoFit/>
          </a:bodyPr>
          <a:lstStyle/>
          <a:p>
            <a:r>
              <a:rPr lang="nl-NL" i="1" dirty="0" smtClean="0"/>
              <a:t>(</a:t>
            </a:r>
            <a:r>
              <a:rPr lang="nl-NL" i="1" dirty="0" err="1" smtClean="0"/>
              <a:t>On</a:t>
            </a:r>
            <a:r>
              <a:rPr lang="nl-NL" i="1" dirty="0" smtClean="0"/>
              <a:t>)geldig</a:t>
            </a:r>
            <a:endParaRPr lang="nl-NL" i="1" dirty="0"/>
          </a:p>
        </p:txBody>
      </p:sp>
      <p:sp>
        <p:nvSpPr>
          <p:cNvPr id="29" name="TextBox 28"/>
          <p:cNvSpPr txBox="1"/>
          <p:nvPr/>
        </p:nvSpPr>
        <p:spPr>
          <a:xfrm>
            <a:off x="395536" y="4581128"/>
            <a:ext cx="5904656" cy="923330"/>
          </a:xfrm>
          <a:prstGeom prst="rect">
            <a:avLst/>
          </a:prstGeom>
          <a:noFill/>
        </p:spPr>
        <p:txBody>
          <a:bodyPr wrap="square" rtlCol="0">
            <a:spAutoFit/>
          </a:bodyPr>
          <a:lstStyle/>
          <a:p>
            <a:r>
              <a:rPr lang="nl-NL" dirty="0" smtClean="0"/>
              <a:t>De </a:t>
            </a:r>
            <a:r>
              <a:rPr lang="nl-NL" i="1" dirty="0" smtClean="0"/>
              <a:t>logica </a:t>
            </a:r>
            <a:r>
              <a:rPr lang="nl-NL" i="1" dirty="0" err="1" smtClean="0"/>
              <a:t>docens</a:t>
            </a:r>
            <a:r>
              <a:rPr lang="nl-NL" dirty="0" smtClean="0"/>
              <a:t> heeft hier het primaat. Zij schrijft aan de </a:t>
            </a:r>
            <a:r>
              <a:rPr lang="nl-NL" i="1" dirty="0" smtClean="0"/>
              <a:t>logica </a:t>
            </a:r>
            <a:r>
              <a:rPr lang="nl-NL" i="1" dirty="0" err="1" smtClean="0"/>
              <a:t>naturalis</a:t>
            </a:r>
            <a:r>
              <a:rPr lang="nl-NL" i="1" dirty="0" smtClean="0"/>
              <a:t> </a:t>
            </a:r>
            <a:r>
              <a:rPr lang="nl-NL" dirty="0" smtClean="0"/>
              <a:t>voor welke van haar redeneringen geldig zijn. Dit is echter onhoudbare voorstelling van zaken. Waarom?</a:t>
            </a:r>
            <a:endParaRPr lang="nl-NL" dirty="0"/>
          </a:p>
        </p:txBody>
      </p:sp>
      <p:sp>
        <p:nvSpPr>
          <p:cNvPr id="30" name="TextBox 29"/>
          <p:cNvSpPr txBox="1"/>
          <p:nvPr/>
        </p:nvSpPr>
        <p:spPr>
          <a:xfrm>
            <a:off x="395536" y="5517232"/>
            <a:ext cx="7920880" cy="923330"/>
          </a:xfrm>
          <a:prstGeom prst="rect">
            <a:avLst/>
          </a:prstGeom>
          <a:noFill/>
        </p:spPr>
        <p:txBody>
          <a:bodyPr wrap="square" rtlCol="0">
            <a:spAutoFit/>
          </a:bodyPr>
          <a:lstStyle/>
          <a:p>
            <a:r>
              <a:rPr lang="nl-NL" dirty="0" smtClean="0"/>
              <a:t>De reden is dat de </a:t>
            </a:r>
            <a:r>
              <a:rPr lang="nl-NL" i="1" dirty="0" smtClean="0"/>
              <a:t>logica </a:t>
            </a:r>
            <a:r>
              <a:rPr lang="nl-NL" i="1" dirty="0" err="1" smtClean="0"/>
              <a:t>docens</a:t>
            </a:r>
            <a:r>
              <a:rPr lang="nl-NL" dirty="0" smtClean="0"/>
              <a:t> haar legitimiteit ontleend aan de </a:t>
            </a:r>
            <a:r>
              <a:rPr lang="nl-NL" i="1" dirty="0" smtClean="0"/>
              <a:t>logica </a:t>
            </a:r>
            <a:r>
              <a:rPr lang="nl-NL" i="1" dirty="0" err="1" smtClean="0"/>
              <a:t>naturalis</a:t>
            </a:r>
            <a:r>
              <a:rPr lang="nl-NL" dirty="0" smtClean="0"/>
              <a:t>. Vanuit de </a:t>
            </a:r>
            <a:r>
              <a:rPr lang="nl-NL" i="1" dirty="0" smtClean="0"/>
              <a:t>logica </a:t>
            </a:r>
            <a:r>
              <a:rPr lang="nl-NL" i="1" dirty="0" err="1" smtClean="0"/>
              <a:t>naturalis</a:t>
            </a:r>
            <a:r>
              <a:rPr lang="nl-NL" i="1" dirty="0" smtClean="0"/>
              <a:t> </a:t>
            </a:r>
            <a:r>
              <a:rPr lang="nl-NL" dirty="0" smtClean="0"/>
              <a:t>beoordelen we systemen op hun adequaatheid. Deze systemen ontstaan door reflectie op </a:t>
            </a:r>
            <a:r>
              <a:rPr lang="nl-NL" i="1" dirty="0" smtClean="0"/>
              <a:t>logica </a:t>
            </a:r>
            <a:r>
              <a:rPr lang="nl-NL" i="1" dirty="0" err="1" smtClean="0"/>
              <a:t>naturalis</a:t>
            </a:r>
            <a:r>
              <a:rPr lang="nl-NL" dirty="0" smtClean="0"/>
              <a:t>. En hoe kan het ook anders?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20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fade">
                                      <p:cBhvr>
                                        <p:cTn id="12" dur="20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allAtOnce"/>
      <p:bldP spid="30" grpId="0" build="allAtOnce"/>
    </p:bldLst>
  </p:timing>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Verband tussen logica </a:t>
            </a:r>
            <a:r>
              <a:rPr lang="nl-NL" sz="3600" dirty="0" err="1" smtClean="0"/>
              <a:t>naturalis</a:t>
            </a:r>
            <a:r>
              <a:rPr lang="nl-NL" sz="3600" dirty="0" smtClean="0"/>
              <a:t> en </a:t>
            </a:r>
            <a:r>
              <a:rPr lang="nl-NL" sz="3600" dirty="0" err="1" smtClean="0"/>
              <a:t>docens</a:t>
            </a:r>
            <a:endParaRPr lang="nl-NL" sz="3600" dirty="0"/>
          </a:p>
        </p:txBody>
      </p:sp>
      <p:sp>
        <p:nvSpPr>
          <p:cNvPr id="6" name="Rectangle 5"/>
          <p:cNvSpPr/>
          <p:nvPr/>
        </p:nvSpPr>
        <p:spPr>
          <a:xfrm>
            <a:off x="1331640" y="2142148"/>
            <a:ext cx="2448272" cy="201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extBox 9"/>
          <p:cNvSpPr txBox="1"/>
          <p:nvPr/>
        </p:nvSpPr>
        <p:spPr>
          <a:xfrm>
            <a:off x="1619672" y="1556792"/>
            <a:ext cx="2160240" cy="369332"/>
          </a:xfrm>
          <a:prstGeom prst="rect">
            <a:avLst/>
          </a:prstGeom>
          <a:noFill/>
        </p:spPr>
        <p:txBody>
          <a:bodyPr wrap="square" rtlCol="0">
            <a:spAutoFit/>
          </a:bodyPr>
          <a:lstStyle/>
          <a:p>
            <a:r>
              <a:rPr lang="nl-NL" b="1" dirty="0" smtClean="0"/>
              <a:t>Logica </a:t>
            </a:r>
            <a:r>
              <a:rPr lang="nl-NL" b="1" dirty="0" err="1" smtClean="0"/>
              <a:t>naturalis</a:t>
            </a:r>
            <a:endParaRPr lang="nl-NL" b="1" dirty="0"/>
          </a:p>
        </p:txBody>
      </p:sp>
      <p:sp>
        <p:nvSpPr>
          <p:cNvPr id="11" name="Rectangle 10"/>
          <p:cNvSpPr/>
          <p:nvPr/>
        </p:nvSpPr>
        <p:spPr>
          <a:xfrm>
            <a:off x="5292080" y="2142148"/>
            <a:ext cx="2448272" cy="201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5724128" y="1556792"/>
            <a:ext cx="2160240" cy="369332"/>
          </a:xfrm>
          <a:prstGeom prst="rect">
            <a:avLst/>
          </a:prstGeom>
          <a:noFill/>
        </p:spPr>
        <p:txBody>
          <a:bodyPr wrap="square" rtlCol="0">
            <a:spAutoFit/>
          </a:bodyPr>
          <a:lstStyle/>
          <a:p>
            <a:r>
              <a:rPr lang="nl-NL" b="1" dirty="0" smtClean="0"/>
              <a:t>Logica </a:t>
            </a:r>
            <a:r>
              <a:rPr lang="nl-NL" b="1" dirty="0" err="1" smtClean="0"/>
              <a:t>docens</a:t>
            </a:r>
            <a:endParaRPr lang="nl-NL" b="1" dirty="0"/>
          </a:p>
        </p:txBody>
      </p:sp>
      <p:sp>
        <p:nvSpPr>
          <p:cNvPr id="15" name="TextBox 14"/>
          <p:cNvSpPr txBox="1"/>
          <p:nvPr/>
        </p:nvSpPr>
        <p:spPr>
          <a:xfrm>
            <a:off x="1907704" y="2286164"/>
            <a:ext cx="1368152" cy="646331"/>
          </a:xfrm>
          <a:prstGeom prst="rect">
            <a:avLst/>
          </a:prstGeom>
          <a:noFill/>
        </p:spPr>
        <p:txBody>
          <a:bodyPr wrap="square" rtlCol="0">
            <a:spAutoFit/>
          </a:bodyPr>
          <a:lstStyle/>
          <a:p>
            <a:r>
              <a:rPr lang="nl-NL" i="1" dirty="0" smtClean="0"/>
              <a:t>Concrete redenering</a:t>
            </a:r>
            <a:endParaRPr lang="nl-NL" i="1" dirty="0"/>
          </a:p>
        </p:txBody>
      </p:sp>
      <p:cxnSp>
        <p:nvCxnSpPr>
          <p:cNvPr id="20" name="Straight Arrow Connector 19"/>
          <p:cNvCxnSpPr/>
          <p:nvPr/>
        </p:nvCxnSpPr>
        <p:spPr>
          <a:xfrm>
            <a:off x="3347864" y="3645024"/>
            <a:ext cx="23042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724128" y="2286164"/>
            <a:ext cx="2016224" cy="646331"/>
          </a:xfrm>
          <a:prstGeom prst="rect">
            <a:avLst/>
          </a:prstGeom>
          <a:noFill/>
        </p:spPr>
        <p:txBody>
          <a:bodyPr wrap="square" rtlCol="0">
            <a:spAutoFit/>
          </a:bodyPr>
          <a:lstStyle/>
          <a:p>
            <a:r>
              <a:rPr lang="nl-NL" i="1" dirty="0" smtClean="0"/>
              <a:t>Formele </a:t>
            </a:r>
            <a:r>
              <a:rPr lang="nl-NL" i="1" dirty="0" err="1" smtClean="0"/>
              <a:t>redeneer-vorm</a:t>
            </a:r>
            <a:r>
              <a:rPr lang="nl-NL" i="1" dirty="0" smtClean="0"/>
              <a:t> in systeem X</a:t>
            </a:r>
            <a:endParaRPr lang="nl-NL" i="1" dirty="0"/>
          </a:p>
        </p:txBody>
      </p:sp>
      <p:sp>
        <p:nvSpPr>
          <p:cNvPr id="22" name="TextBox 21"/>
          <p:cNvSpPr txBox="1"/>
          <p:nvPr/>
        </p:nvSpPr>
        <p:spPr>
          <a:xfrm>
            <a:off x="5940152" y="3368025"/>
            <a:ext cx="2016224" cy="646331"/>
          </a:xfrm>
          <a:prstGeom prst="rect">
            <a:avLst/>
          </a:prstGeom>
          <a:noFill/>
        </p:spPr>
        <p:txBody>
          <a:bodyPr wrap="square" rtlCol="0">
            <a:spAutoFit/>
          </a:bodyPr>
          <a:lstStyle/>
          <a:p>
            <a:r>
              <a:rPr lang="nl-NL" i="1" dirty="0" smtClean="0"/>
              <a:t>(</a:t>
            </a:r>
            <a:r>
              <a:rPr lang="nl-NL" i="1" dirty="0" err="1" smtClean="0"/>
              <a:t>On</a:t>
            </a:r>
            <a:r>
              <a:rPr lang="nl-NL" i="1" dirty="0" smtClean="0"/>
              <a:t>)geldig in systeem X</a:t>
            </a:r>
            <a:endParaRPr lang="nl-NL" i="1" dirty="0"/>
          </a:p>
        </p:txBody>
      </p:sp>
      <p:cxnSp>
        <p:nvCxnSpPr>
          <p:cNvPr id="27" name="Straight Arrow Connector 26"/>
          <p:cNvCxnSpPr/>
          <p:nvPr/>
        </p:nvCxnSpPr>
        <p:spPr>
          <a:xfrm flipH="1">
            <a:off x="3275856" y="2636912"/>
            <a:ext cx="2304256" cy="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1907704" y="3429000"/>
            <a:ext cx="2016224" cy="369332"/>
          </a:xfrm>
          <a:prstGeom prst="rect">
            <a:avLst/>
          </a:prstGeom>
          <a:noFill/>
        </p:spPr>
        <p:txBody>
          <a:bodyPr wrap="square" rtlCol="0">
            <a:spAutoFit/>
          </a:bodyPr>
          <a:lstStyle/>
          <a:p>
            <a:r>
              <a:rPr lang="nl-NL" i="1" dirty="0" smtClean="0"/>
              <a:t>(</a:t>
            </a:r>
            <a:r>
              <a:rPr lang="nl-NL" i="1" dirty="0" err="1" smtClean="0"/>
              <a:t>On</a:t>
            </a:r>
            <a:r>
              <a:rPr lang="nl-NL" i="1" dirty="0" smtClean="0"/>
              <a:t>)geldig</a:t>
            </a:r>
            <a:endParaRPr lang="nl-NL" i="1" dirty="0"/>
          </a:p>
        </p:txBody>
      </p:sp>
      <p:sp>
        <p:nvSpPr>
          <p:cNvPr id="29" name="TextBox 28"/>
          <p:cNvSpPr txBox="1"/>
          <p:nvPr/>
        </p:nvSpPr>
        <p:spPr>
          <a:xfrm>
            <a:off x="395536" y="4581128"/>
            <a:ext cx="6336704" cy="923330"/>
          </a:xfrm>
          <a:prstGeom prst="rect">
            <a:avLst/>
          </a:prstGeom>
          <a:noFill/>
        </p:spPr>
        <p:txBody>
          <a:bodyPr wrap="square" rtlCol="0">
            <a:spAutoFit/>
          </a:bodyPr>
          <a:lstStyle/>
          <a:p>
            <a:r>
              <a:rPr lang="nl-NL" dirty="0" smtClean="0"/>
              <a:t>De </a:t>
            </a:r>
            <a:r>
              <a:rPr lang="nl-NL" i="1" dirty="0" smtClean="0"/>
              <a:t>logica </a:t>
            </a:r>
            <a:r>
              <a:rPr lang="nl-NL" i="1" dirty="0" err="1" smtClean="0"/>
              <a:t>naturalis</a:t>
            </a:r>
            <a:r>
              <a:rPr lang="nl-NL" dirty="0" smtClean="0"/>
              <a:t> heeft hier het primaat. Zij schrijft aan de </a:t>
            </a:r>
            <a:r>
              <a:rPr lang="nl-NL" i="1" dirty="0" smtClean="0"/>
              <a:t>logica </a:t>
            </a:r>
            <a:r>
              <a:rPr lang="nl-NL" i="1" dirty="0" err="1" smtClean="0"/>
              <a:t>docens</a:t>
            </a:r>
            <a:r>
              <a:rPr lang="nl-NL" i="1" dirty="0" smtClean="0"/>
              <a:t> </a:t>
            </a:r>
            <a:r>
              <a:rPr lang="nl-NL" dirty="0" smtClean="0"/>
              <a:t>voor welke van haar redeneringen geldig en ongeldig moeten zijn. Dit is echter ook onhoudbaar. Waarom? </a:t>
            </a:r>
            <a:endParaRPr lang="nl-NL" dirty="0"/>
          </a:p>
        </p:txBody>
      </p:sp>
      <p:sp>
        <p:nvSpPr>
          <p:cNvPr id="30" name="TextBox 29"/>
          <p:cNvSpPr txBox="1"/>
          <p:nvPr/>
        </p:nvSpPr>
        <p:spPr>
          <a:xfrm>
            <a:off x="395536" y="5517232"/>
            <a:ext cx="7920880" cy="923330"/>
          </a:xfrm>
          <a:prstGeom prst="rect">
            <a:avLst/>
          </a:prstGeom>
          <a:noFill/>
        </p:spPr>
        <p:txBody>
          <a:bodyPr wrap="square" rtlCol="0">
            <a:spAutoFit/>
          </a:bodyPr>
          <a:lstStyle/>
          <a:p>
            <a:r>
              <a:rPr lang="nl-NL" dirty="0" smtClean="0"/>
              <a:t>Sommige complexe natuurlijke taal redeneringen kunnen alleen op hun geldigheid beoordeeld worden door ze te evalueren vanuit een bij die concrete redenering passend logisch systeem in de </a:t>
            </a:r>
            <a:r>
              <a:rPr lang="nl-NL" i="1" dirty="0" smtClean="0"/>
              <a:t>logica </a:t>
            </a:r>
            <a:r>
              <a:rPr lang="nl-NL" i="1" dirty="0" err="1" smtClean="0"/>
              <a:t>docens</a:t>
            </a:r>
            <a:r>
              <a:rPr lang="nl-NL" dirty="0" smtClean="0"/>
              <a:t>.</a:t>
            </a:r>
            <a:endParaRPr lang="nl-NL" dirty="0"/>
          </a:p>
        </p:txBody>
      </p:sp>
      <p:cxnSp>
        <p:nvCxnSpPr>
          <p:cNvPr id="17" name="Straight Arrow Connector 16"/>
          <p:cNvCxnSpPr/>
          <p:nvPr/>
        </p:nvCxnSpPr>
        <p:spPr>
          <a:xfrm>
            <a:off x="2483768" y="2996952"/>
            <a:ext cx="0" cy="4320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20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fade">
                                      <p:cBhvr>
                                        <p:cTn id="12" dur="20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allAtOnce"/>
      <p:bldP spid="30" grpId="0" build="allAtOnce"/>
    </p:bldLst>
  </p:timing>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Verband tussen logica </a:t>
            </a:r>
            <a:r>
              <a:rPr lang="nl-NL" sz="3600" dirty="0" err="1" smtClean="0"/>
              <a:t>naturalis</a:t>
            </a:r>
            <a:r>
              <a:rPr lang="nl-NL" sz="3600" dirty="0" smtClean="0"/>
              <a:t> en </a:t>
            </a:r>
            <a:r>
              <a:rPr lang="nl-NL" sz="3600" dirty="0" err="1" smtClean="0"/>
              <a:t>docens</a:t>
            </a:r>
            <a:endParaRPr lang="nl-NL" sz="3600" dirty="0"/>
          </a:p>
        </p:txBody>
      </p:sp>
      <p:sp>
        <p:nvSpPr>
          <p:cNvPr id="6" name="Rectangle 5"/>
          <p:cNvSpPr/>
          <p:nvPr/>
        </p:nvSpPr>
        <p:spPr>
          <a:xfrm>
            <a:off x="1331640" y="2142148"/>
            <a:ext cx="2448272" cy="201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extBox 9"/>
          <p:cNvSpPr txBox="1"/>
          <p:nvPr/>
        </p:nvSpPr>
        <p:spPr>
          <a:xfrm>
            <a:off x="1619672" y="1556792"/>
            <a:ext cx="2160240" cy="369332"/>
          </a:xfrm>
          <a:prstGeom prst="rect">
            <a:avLst/>
          </a:prstGeom>
          <a:noFill/>
        </p:spPr>
        <p:txBody>
          <a:bodyPr wrap="square" rtlCol="0">
            <a:spAutoFit/>
          </a:bodyPr>
          <a:lstStyle/>
          <a:p>
            <a:r>
              <a:rPr lang="nl-NL" b="1" dirty="0" smtClean="0"/>
              <a:t>Logica </a:t>
            </a:r>
            <a:r>
              <a:rPr lang="nl-NL" b="1" dirty="0" err="1" smtClean="0"/>
              <a:t>naturalis</a:t>
            </a:r>
            <a:endParaRPr lang="nl-NL" b="1" dirty="0"/>
          </a:p>
        </p:txBody>
      </p:sp>
      <p:sp>
        <p:nvSpPr>
          <p:cNvPr id="11" name="Rectangle 10"/>
          <p:cNvSpPr/>
          <p:nvPr/>
        </p:nvSpPr>
        <p:spPr>
          <a:xfrm>
            <a:off x="5292080" y="2142148"/>
            <a:ext cx="2448272" cy="20162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2" name="TextBox 11"/>
          <p:cNvSpPr txBox="1"/>
          <p:nvPr/>
        </p:nvSpPr>
        <p:spPr>
          <a:xfrm>
            <a:off x="5724128" y="1556792"/>
            <a:ext cx="2160240" cy="369332"/>
          </a:xfrm>
          <a:prstGeom prst="rect">
            <a:avLst/>
          </a:prstGeom>
          <a:noFill/>
        </p:spPr>
        <p:txBody>
          <a:bodyPr wrap="square" rtlCol="0">
            <a:spAutoFit/>
          </a:bodyPr>
          <a:lstStyle/>
          <a:p>
            <a:r>
              <a:rPr lang="nl-NL" b="1" dirty="0" smtClean="0"/>
              <a:t>Logica </a:t>
            </a:r>
            <a:r>
              <a:rPr lang="nl-NL" b="1" dirty="0" err="1" smtClean="0"/>
              <a:t>docens</a:t>
            </a:r>
            <a:endParaRPr lang="nl-NL" b="1" dirty="0"/>
          </a:p>
        </p:txBody>
      </p:sp>
      <p:sp>
        <p:nvSpPr>
          <p:cNvPr id="15" name="TextBox 14"/>
          <p:cNvSpPr txBox="1"/>
          <p:nvPr/>
        </p:nvSpPr>
        <p:spPr>
          <a:xfrm>
            <a:off x="1907704" y="2286164"/>
            <a:ext cx="1368152" cy="646331"/>
          </a:xfrm>
          <a:prstGeom prst="rect">
            <a:avLst/>
          </a:prstGeom>
          <a:noFill/>
        </p:spPr>
        <p:txBody>
          <a:bodyPr wrap="square" rtlCol="0">
            <a:spAutoFit/>
          </a:bodyPr>
          <a:lstStyle/>
          <a:p>
            <a:r>
              <a:rPr lang="nl-NL" i="1" dirty="0" smtClean="0"/>
              <a:t>Concrete redenering</a:t>
            </a:r>
            <a:endParaRPr lang="nl-NL" i="1" dirty="0"/>
          </a:p>
        </p:txBody>
      </p:sp>
      <p:sp>
        <p:nvSpPr>
          <p:cNvPr id="21" name="TextBox 20"/>
          <p:cNvSpPr txBox="1"/>
          <p:nvPr/>
        </p:nvSpPr>
        <p:spPr>
          <a:xfrm>
            <a:off x="5724128" y="2286164"/>
            <a:ext cx="2016224" cy="646331"/>
          </a:xfrm>
          <a:prstGeom prst="rect">
            <a:avLst/>
          </a:prstGeom>
          <a:noFill/>
        </p:spPr>
        <p:txBody>
          <a:bodyPr wrap="square" rtlCol="0">
            <a:spAutoFit/>
          </a:bodyPr>
          <a:lstStyle/>
          <a:p>
            <a:r>
              <a:rPr lang="nl-NL" i="1" dirty="0" smtClean="0"/>
              <a:t>Formele </a:t>
            </a:r>
            <a:r>
              <a:rPr lang="nl-NL" i="1" dirty="0" err="1" smtClean="0"/>
              <a:t>redeneer-vorm</a:t>
            </a:r>
            <a:r>
              <a:rPr lang="nl-NL" i="1" dirty="0" smtClean="0"/>
              <a:t> in systeem X</a:t>
            </a:r>
            <a:endParaRPr lang="nl-NL" i="1" dirty="0"/>
          </a:p>
        </p:txBody>
      </p:sp>
      <p:sp>
        <p:nvSpPr>
          <p:cNvPr id="22" name="TextBox 21"/>
          <p:cNvSpPr txBox="1"/>
          <p:nvPr/>
        </p:nvSpPr>
        <p:spPr>
          <a:xfrm>
            <a:off x="5940152" y="3368025"/>
            <a:ext cx="2016224" cy="646331"/>
          </a:xfrm>
          <a:prstGeom prst="rect">
            <a:avLst/>
          </a:prstGeom>
          <a:noFill/>
        </p:spPr>
        <p:txBody>
          <a:bodyPr wrap="square" rtlCol="0">
            <a:spAutoFit/>
          </a:bodyPr>
          <a:lstStyle/>
          <a:p>
            <a:r>
              <a:rPr lang="nl-NL" i="1" dirty="0" smtClean="0"/>
              <a:t>(</a:t>
            </a:r>
            <a:r>
              <a:rPr lang="nl-NL" i="1" dirty="0" err="1" smtClean="0"/>
              <a:t>On</a:t>
            </a:r>
            <a:r>
              <a:rPr lang="nl-NL" i="1" dirty="0" smtClean="0"/>
              <a:t>)geldig in systeem X</a:t>
            </a:r>
            <a:endParaRPr lang="nl-NL" i="1" dirty="0"/>
          </a:p>
        </p:txBody>
      </p:sp>
      <p:sp>
        <p:nvSpPr>
          <p:cNvPr id="28" name="TextBox 27"/>
          <p:cNvSpPr txBox="1"/>
          <p:nvPr/>
        </p:nvSpPr>
        <p:spPr>
          <a:xfrm>
            <a:off x="1907704" y="3429000"/>
            <a:ext cx="2016224" cy="369332"/>
          </a:xfrm>
          <a:prstGeom prst="rect">
            <a:avLst/>
          </a:prstGeom>
          <a:noFill/>
        </p:spPr>
        <p:txBody>
          <a:bodyPr wrap="square" rtlCol="0">
            <a:spAutoFit/>
          </a:bodyPr>
          <a:lstStyle/>
          <a:p>
            <a:r>
              <a:rPr lang="nl-NL" i="1" dirty="0" smtClean="0"/>
              <a:t>(</a:t>
            </a:r>
            <a:r>
              <a:rPr lang="nl-NL" i="1" dirty="0" err="1" smtClean="0"/>
              <a:t>On</a:t>
            </a:r>
            <a:r>
              <a:rPr lang="nl-NL" i="1" dirty="0" smtClean="0"/>
              <a:t>)geldig</a:t>
            </a:r>
            <a:endParaRPr lang="nl-NL" i="1" dirty="0"/>
          </a:p>
        </p:txBody>
      </p:sp>
      <p:sp>
        <p:nvSpPr>
          <p:cNvPr id="29" name="TextBox 28"/>
          <p:cNvSpPr txBox="1"/>
          <p:nvPr/>
        </p:nvSpPr>
        <p:spPr>
          <a:xfrm>
            <a:off x="395536" y="4581128"/>
            <a:ext cx="7776864" cy="1477328"/>
          </a:xfrm>
          <a:prstGeom prst="rect">
            <a:avLst/>
          </a:prstGeom>
          <a:noFill/>
        </p:spPr>
        <p:txBody>
          <a:bodyPr wrap="square" rtlCol="0">
            <a:spAutoFit/>
          </a:bodyPr>
          <a:lstStyle/>
          <a:p>
            <a:r>
              <a:rPr lang="nl-NL" dirty="0" smtClean="0"/>
              <a:t>Er is dan ook veeleer sprake van een wisselwerking tussen de </a:t>
            </a:r>
            <a:r>
              <a:rPr lang="nl-NL" i="1" dirty="0" smtClean="0"/>
              <a:t>logica </a:t>
            </a:r>
            <a:r>
              <a:rPr lang="nl-NL" i="1" dirty="0" err="1" smtClean="0"/>
              <a:t>naturalis</a:t>
            </a:r>
            <a:r>
              <a:rPr lang="nl-NL" dirty="0" smtClean="0"/>
              <a:t> en de </a:t>
            </a:r>
            <a:r>
              <a:rPr lang="nl-NL" i="1" dirty="0" smtClean="0"/>
              <a:t>logica </a:t>
            </a:r>
            <a:r>
              <a:rPr lang="nl-NL" i="1" dirty="0" err="1" smtClean="0"/>
              <a:t>docens</a:t>
            </a:r>
            <a:r>
              <a:rPr lang="nl-NL" dirty="0" smtClean="0"/>
              <a:t>. Een logische systeem wordt gerechtvaardigd vanuit de </a:t>
            </a:r>
            <a:r>
              <a:rPr lang="nl-NL" i="1" dirty="0" smtClean="0"/>
              <a:t>logica </a:t>
            </a:r>
            <a:r>
              <a:rPr lang="nl-NL" i="1" dirty="0" err="1" smtClean="0"/>
              <a:t>naturalis</a:t>
            </a:r>
            <a:r>
              <a:rPr lang="nl-NL" dirty="0" smtClean="0"/>
              <a:t>, maar kan vervolgens op haar beurt bepaalde redeneringen in de </a:t>
            </a:r>
            <a:r>
              <a:rPr lang="nl-NL" i="1" dirty="0" smtClean="0"/>
              <a:t>logica </a:t>
            </a:r>
            <a:r>
              <a:rPr lang="nl-NL" i="1" dirty="0" err="1" smtClean="0"/>
              <a:t>naturalis</a:t>
            </a:r>
            <a:r>
              <a:rPr lang="nl-NL" dirty="0" smtClean="0"/>
              <a:t> rechtvaardigen of juist van de hand wijzen. Het primaat ligt dus niet bij de </a:t>
            </a:r>
            <a:r>
              <a:rPr lang="nl-NL" i="1" dirty="0" smtClean="0"/>
              <a:t>logica </a:t>
            </a:r>
            <a:r>
              <a:rPr lang="nl-NL" i="1" dirty="0" err="1" smtClean="0"/>
              <a:t>docens</a:t>
            </a:r>
            <a:r>
              <a:rPr lang="nl-NL" dirty="0" smtClean="0"/>
              <a:t> en ook niet bij de </a:t>
            </a:r>
            <a:r>
              <a:rPr lang="nl-NL" i="1" dirty="0" smtClean="0"/>
              <a:t>logica </a:t>
            </a:r>
            <a:r>
              <a:rPr lang="nl-NL" i="1" dirty="0" err="1" smtClean="0"/>
              <a:t>naturalis</a:t>
            </a:r>
            <a:r>
              <a:rPr lang="nl-NL" dirty="0" smtClean="0"/>
              <a:t>.</a:t>
            </a:r>
            <a:endParaRPr lang="nl-NL" dirty="0"/>
          </a:p>
        </p:txBody>
      </p:sp>
      <p:cxnSp>
        <p:nvCxnSpPr>
          <p:cNvPr id="17" name="Straight Arrow Connector 16"/>
          <p:cNvCxnSpPr/>
          <p:nvPr/>
        </p:nvCxnSpPr>
        <p:spPr>
          <a:xfrm>
            <a:off x="3203848" y="3140968"/>
            <a:ext cx="2592288" cy="0"/>
          </a:xfrm>
          <a:prstGeom prst="straightConnector1">
            <a:avLst/>
          </a:prstGeom>
          <a:ln w="25400">
            <a:headEnd type="arrow"/>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588224" y="2924944"/>
            <a:ext cx="0" cy="504056"/>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411760" y="2924944"/>
            <a:ext cx="0" cy="504056"/>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9" name="Content Placeholder 2"/>
          <p:cNvSpPr txBox="1">
            <a:spLocks/>
          </p:cNvSpPr>
          <p:nvPr/>
        </p:nvSpPr>
        <p:spPr>
          <a:xfrm>
            <a:off x="457200" y="1384177"/>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klassieke propositie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en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predikaatlogica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voldoet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het compositiebeginsel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noProof="0" dirty="0" smtClean="0">
                <a:ln>
                  <a:noFill/>
                </a:ln>
                <a:solidFill>
                  <a:schemeClr val="tx1"/>
                </a:solidFill>
                <a:effectLst/>
                <a:uLnTx/>
                <a:uFillTx/>
                <a:latin typeface="+mn-lt"/>
                <a:ea typeface="+mn-ea"/>
                <a:cs typeface="+mn-cs"/>
              </a:rPr>
              <a:t>   De semantische waarde van een expressie wordt bepaald door (is een functie    van) de semantische waarden van haar syntactische delen.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p:cNvSpPr txBox="1"/>
          <p:nvPr/>
        </p:nvSpPr>
        <p:spPr>
          <a:xfrm>
            <a:off x="899592" y="2492896"/>
            <a:ext cx="936104" cy="369332"/>
          </a:xfrm>
          <a:prstGeom prst="rect">
            <a:avLst/>
          </a:prstGeom>
          <a:noFill/>
        </p:spPr>
        <p:txBody>
          <a:bodyPr wrap="square" rtlCol="0">
            <a:spAutoFit/>
          </a:bodyPr>
          <a:lstStyle/>
          <a:p>
            <a:r>
              <a:rPr lang="nl-NL" b="1" dirty="0" smtClean="0"/>
              <a:t>P</a:t>
            </a:r>
            <a:r>
              <a:rPr lang="nl-NL" dirty="0" smtClean="0"/>
              <a:t> </a:t>
            </a:r>
            <a:r>
              <a:rPr lang="nl-NL" b="1" dirty="0" smtClean="0"/>
              <a:t>∧ Q</a:t>
            </a:r>
            <a:r>
              <a:rPr lang="nl-NL" dirty="0" smtClean="0"/>
              <a:t>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20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p:bldLst>
  </p:timing>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9" name="Content Placeholder 2"/>
          <p:cNvSpPr txBox="1">
            <a:spLocks/>
          </p:cNvSpPr>
          <p:nvPr/>
        </p:nvSpPr>
        <p:spPr>
          <a:xfrm>
            <a:off x="457200" y="1384177"/>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klassieke propositie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en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predikaatlogica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voldoet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het compositiebeginsel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noProof="0" dirty="0" smtClean="0">
                <a:ln>
                  <a:noFill/>
                </a:ln>
                <a:solidFill>
                  <a:schemeClr val="tx1"/>
                </a:solidFill>
                <a:effectLst/>
                <a:uLnTx/>
                <a:uFillTx/>
                <a:latin typeface="+mn-lt"/>
                <a:ea typeface="+mn-ea"/>
                <a:cs typeface="+mn-cs"/>
              </a:rPr>
              <a:t>   De semantische waarde van een expressie wordt bepaald door (is een functie    van) de semantische waarden van haar syntactische delen.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p:cNvSpPr txBox="1"/>
          <p:nvPr/>
        </p:nvSpPr>
        <p:spPr>
          <a:xfrm>
            <a:off x="899592" y="2492896"/>
            <a:ext cx="936104" cy="369332"/>
          </a:xfrm>
          <a:prstGeom prst="rect">
            <a:avLst/>
          </a:prstGeom>
          <a:noFill/>
        </p:spPr>
        <p:txBody>
          <a:bodyPr wrap="square" rtlCol="0">
            <a:spAutoFit/>
          </a:bodyPr>
          <a:lstStyle/>
          <a:p>
            <a:r>
              <a:rPr lang="nl-NL" b="1" dirty="0" smtClean="0">
                <a:solidFill>
                  <a:srgbClr val="C00000"/>
                </a:solidFill>
              </a:rPr>
              <a:t>P</a:t>
            </a:r>
            <a:r>
              <a:rPr lang="nl-NL" dirty="0" smtClean="0"/>
              <a:t> </a:t>
            </a:r>
            <a:r>
              <a:rPr lang="nl-NL" b="1" dirty="0" smtClean="0">
                <a:solidFill>
                  <a:srgbClr val="00B050"/>
                </a:solidFill>
              </a:rPr>
              <a:t>∧</a:t>
            </a:r>
            <a:r>
              <a:rPr lang="nl-NL" b="1" dirty="0" smtClean="0"/>
              <a:t> </a:t>
            </a:r>
            <a:r>
              <a:rPr lang="nl-NL" b="1" dirty="0" smtClean="0">
                <a:solidFill>
                  <a:srgbClr val="0070C0"/>
                </a:solidFill>
              </a:rPr>
              <a:t>Q</a:t>
            </a:r>
            <a:r>
              <a:rPr lang="nl-NL" dirty="0" smtClean="0"/>
              <a:t> </a:t>
            </a:r>
            <a:endParaRPr lang="nl-NL" dirty="0"/>
          </a:p>
        </p:txBody>
      </p:sp>
      <p:sp>
        <p:nvSpPr>
          <p:cNvPr id="14" name="TextBox 13"/>
          <p:cNvSpPr txBox="1"/>
          <p:nvPr/>
        </p:nvSpPr>
        <p:spPr>
          <a:xfrm>
            <a:off x="1907704" y="2452826"/>
            <a:ext cx="936104" cy="400110"/>
          </a:xfrm>
          <a:prstGeom prst="rect">
            <a:avLst/>
          </a:prstGeom>
          <a:noFill/>
        </p:spPr>
        <p:txBody>
          <a:bodyPr wrap="square" rtlCol="0">
            <a:spAutoFit/>
          </a:bodyPr>
          <a:lstStyle/>
          <a:p>
            <a:r>
              <a:rPr lang="nl-NL" sz="2000" b="1" dirty="0" smtClean="0"/>
              <a:t>∀x F(x)</a:t>
            </a:r>
            <a:endParaRPr lang="nl-NL"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p:bldLst>
  </p:timing>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9" name="Content Placeholder 2"/>
          <p:cNvSpPr txBox="1">
            <a:spLocks/>
          </p:cNvSpPr>
          <p:nvPr/>
        </p:nvSpPr>
        <p:spPr>
          <a:xfrm>
            <a:off x="457200" y="1384177"/>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De klassieke propositie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en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predikaatlogica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voldoet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het compositiebeginsel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kumimoji="0" lang="nl-NL" sz="2000" b="0" i="0" u="none" strike="noStrike" kern="1200" cap="none" spc="0" normalizeH="0" noProof="0" dirty="0" smtClean="0">
                <a:ln>
                  <a:noFill/>
                </a:ln>
                <a:solidFill>
                  <a:schemeClr val="tx1"/>
                </a:solidFill>
                <a:effectLst/>
                <a:uLnTx/>
                <a:uFillTx/>
                <a:latin typeface="+mn-lt"/>
                <a:ea typeface="+mn-ea"/>
                <a:cs typeface="+mn-cs"/>
              </a:rPr>
              <a:t>   De semantische waarde van een expressie wordt bepaald door (is een functie    van) de semantische waarden van haar syntactische delen.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p:cNvSpPr txBox="1"/>
          <p:nvPr/>
        </p:nvSpPr>
        <p:spPr>
          <a:xfrm>
            <a:off x="899592" y="2492896"/>
            <a:ext cx="936104" cy="369332"/>
          </a:xfrm>
          <a:prstGeom prst="rect">
            <a:avLst/>
          </a:prstGeom>
          <a:noFill/>
        </p:spPr>
        <p:txBody>
          <a:bodyPr wrap="square" rtlCol="0">
            <a:spAutoFit/>
          </a:bodyPr>
          <a:lstStyle/>
          <a:p>
            <a:r>
              <a:rPr lang="nl-NL" b="1" dirty="0" smtClean="0">
                <a:solidFill>
                  <a:srgbClr val="C00000"/>
                </a:solidFill>
              </a:rPr>
              <a:t>P</a:t>
            </a:r>
            <a:r>
              <a:rPr lang="nl-NL" dirty="0" smtClean="0"/>
              <a:t> </a:t>
            </a:r>
            <a:r>
              <a:rPr lang="nl-NL" b="1" dirty="0" smtClean="0">
                <a:solidFill>
                  <a:srgbClr val="00B050"/>
                </a:solidFill>
              </a:rPr>
              <a:t>∧</a:t>
            </a:r>
            <a:r>
              <a:rPr lang="nl-NL" b="1" dirty="0" smtClean="0"/>
              <a:t> </a:t>
            </a:r>
            <a:r>
              <a:rPr lang="nl-NL" b="1" dirty="0" smtClean="0">
                <a:solidFill>
                  <a:srgbClr val="0070C0"/>
                </a:solidFill>
              </a:rPr>
              <a:t>Q</a:t>
            </a:r>
            <a:r>
              <a:rPr lang="nl-NL" dirty="0" smtClean="0"/>
              <a:t> </a:t>
            </a:r>
            <a:endParaRPr lang="nl-NL" dirty="0"/>
          </a:p>
        </p:txBody>
      </p:sp>
      <p:sp>
        <p:nvSpPr>
          <p:cNvPr id="14" name="TextBox 13"/>
          <p:cNvSpPr txBox="1"/>
          <p:nvPr/>
        </p:nvSpPr>
        <p:spPr>
          <a:xfrm>
            <a:off x="1907704" y="2452826"/>
            <a:ext cx="936104" cy="400110"/>
          </a:xfrm>
          <a:prstGeom prst="rect">
            <a:avLst/>
          </a:prstGeom>
          <a:noFill/>
        </p:spPr>
        <p:txBody>
          <a:bodyPr wrap="square" rtlCol="0">
            <a:spAutoFit/>
          </a:bodyPr>
          <a:lstStyle/>
          <a:p>
            <a:r>
              <a:rPr lang="nl-NL" sz="2000" b="1" dirty="0" smtClean="0">
                <a:solidFill>
                  <a:srgbClr val="C00000"/>
                </a:solidFill>
              </a:rPr>
              <a:t>∀x</a:t>
            </a:r>
            <a:r>
              <a:rPr lang="nl-NL" sz="2000" b="1" dirty="0" smtClean="0"/>
              <a:t> </a:t>
            </a:r>
            <a:r>
              <a:rPr lang="nl-NL" sz="2000" b="1" dirty="0" smtClean="0">
                <a:solidFill>
                  <a:srgbClr val="00B050"/>
                </a:solidFill>
              </a:rPr>
              <a:t>F(x)</a:t>
            </a:r>
            <a:endParaRPr lang="nl-NL" sz="2000" dirty="0">
              <a:solidFill>
                <a:srgbClr val="00B050"/>
              </a:solidFill>
            </a:endParaRPr>
          </a:p>
        </p:txBody>
      </p:sp>
    </p:spTree>
  </p:cSld>
  <p:clrMapOvr>
    <a:masterClrMapping/>
  </p:clrMapOvr>
  <p:timing>
    <p:tnLst>
      <p:par>
        <p:cTn id="1" dur="indefinite" restart="never" nodeType="tmRoot"/>
      </p:par>
    </p:tnLst>
  </p:timing>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9" name="Content Placeholder 2"/>
          <p:cNvSpPr txBox="1">
            <a:spLocks/>
          </p:cNvSpPr>
          <p:nvPr/>
        </p:nvSpPr>
        <p:spPr>
          <a:xfrm>
            <a:off x="457200" y="1384177"/>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a:t>
            </a:r>
            <a:r>
              <a:rPr lang="nl-NL" sz="2000" dirty="0" err="1" smtClean="0"/>
              <a:t>kl</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assieke</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propositie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en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predikaatlogica</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 voldoet aan </a:t>
            </a:r>
            <a:r>
              <a:rPr kumimoji="0" lang="nl-NL" sz="2000" b="0" i="1" u="none" strike="noStrike" kern="1200" cap="none" spc="0" normalizeH="0" baseline="0" noProof="0" dirty="0" smtClean="0">
                <a:ln>
                  <a:noFill/>
                </a:ln>
                <a:solidFill>
                  <a:schemeClr val="tx1"/>
                </a:solidFill>
                <a:effectLst/>
                <a:uLnTx/>
                <a:uFillTx/>
                <a:latin typeface="+mn-lt"/>
                <a:ea typeface="+mn-ea"/>
                <a:cs typeface="+mn-cs"/>
              </a:rPr>
              <a:t>het compositiebeginsel</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t>
            </a:r>
            <a:r>
              <a:rPr lang="nl-NL" sz="2000" dirty="0" smtClean="0"/>
              <a:t>        De s</a:t>
            </a:r>
            <a:r>
              <a:rPr kumimoji="0" lang="nl-NL" sz="2000" b="0" i="0" u="none" strike="noStrike" kern="1200" cap="none" spc="0" normalizeH="0" noProof="0" dirty="0" err="1" smtClean="0">
                <a:ln>
                  <a:noFill/>
                </a:ln>
                <a:solidFill>
                  <a:schemeClr val="tx1"/>
                </a:solidFill>
                <a:effectLst/>
                <a:uLnTx/>
                <a:uFillTx/>
                <a:latin typeface="+mn-lt"/>
                <a:ea typeface="+mn-ea"/>
                <a:cs typeface="+mn-cs"/>
              </a:rPr>
              <a:t>emantische</a:t>
            </a:r>
            <a:r>
              <a:rPr kumimoji="0" lang="nl-NL" sz="2000" b="0" i="0" u="none" strike="noStrike" kern="1200" cap="none" spc="0" normalizeH="0" noProof="0" dirty="0" smtClean="0">
                <a:ln>
                  <a:noFill/>
                </a:ln>
                <a:solidFill>
                  <a:schemeClr val="tx1"/>
                </a:solidFill>
                <a:effectLst/>
                <a:uLnTx/>
                <a:uFillTx/>
                <a:latin typeface="+mn-lt"/>
                <a:ea typeface="+mn-ea"/>
                <a:cs typeface="+mn-cs"/>
              </a:rPr>
              <a:t> waarde van een expressie wordt bepaald door (is een functie van) de semantische waarden van haar syntactische delen.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395536" y="4077072"/>
            <a:ext cx="8496944" cy="504056"/>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De klassieke propositie- en </a:t>
            </a:r>
            <a:r>
              <a:rPr lang="nl-NL" sz="2000" dirty="0" err="1" smtClean="0"/>
              <a:t>predikaatlogica</a:t>
            </a:r>
            <a:r>
              <a:rPr lang="nl-NL" sz="2000" dirty="0" smtClean="0"/>
              <a:t> is eveneens </a:t>
            </a:r>
            <a:r>
              <a:rPr lang="nl-NL" sz="2000" i="1" dirty="0" err="1" smtClean="0"/>
              <a:t>extensioneel</a:t>
            </a:r>
            <a:endParaRPr lang="nl-NL" sz="2000" i="1" dirty="0" smtClean="0"/>
          </a:p>
        </p:txBody>
      </p:sp>
      <p:sp>
        <p:nvSpPr>
          <p:cNvPr id="11" name="Content Placeholder 2"/>
          <p:cNvSpPr txBox="1">
            <a:spLocks/>
          </p:cNvSpPr>
          <p:nvPr/>
        </p:nvSpPr>
        <p:spPr>
          <a:xfrm>
            <a:off x="395536" y="5373216"/>
            <a:ext cx="8496944" cy="504056"/>
          </a:xfrm>
          <a:prstGeom prst="rect">
            <a:avLst/>
          </a:prstGeom>
        </p:spPr>
        <p:txBody>
          <a:bodyPr vert="horz" lIns="91440" tIns="45720" rIns="91440" bIns="45720" rtlCol="0">
            <a:noAutofit/>
          </a:bodyPr>
          <a:lstStyle/>
          <a:p>
            <a:pPr marL="342900" lvl="0" indent="-342900">
              <a:spcBef>
                <a:spcPct val="20000"/>
              </a:spcBef>
              <a:defRPr/>
            </a:pPr>
            <a:r>
              <a:rPr lang="nl-NL" dirty="0" smtClean="0"/>
              <a:t>	Semantische waarde van een zin </a:t>
            </a:r>
            <a:r>
              <a:rPr lang="nl-NL" b="1" dirty="0" smtClean="0"/>
              <a:t>is</a:t>
            </a:r>
            <a:r>
              <a:rPr lang="nl-NL" dirty="0" smtClean="0"/>
              <a:t> haar waarheidswaarde</a:t>
            </a:r>
          </a:p>
        </p:txBody>
      </p:sp>
      <p:sp>
        <p:nvSpPr>
          <p:cNvPr id="12" name="Content Placeholder 2"/>
          <p:cNvSpPr txBox="1">
            <a:spLocks/>
          </p:cNvSpPr>
          <p:nvPr/>
        </p:nvSpPr>
        <p:spPr>
          <a:xfrm>
            <a:off x="395536" y="304036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Dit betekent dat in een formule deelformules met dezelfde semantische             waarde voor elkaar</a:t>
            </a:r>
            <a:r>
              <a:rPr kumimoji="0" lang="nl-NL" sz="2000" b="0" i="0" u="none" strike="noStrike" kern="1200" cap="none" spc="0" normalizeH="0" noProof="0" dirty="0" smtClean="0">
                <a:ln>
                  <a:noFill/>
                </a:ln>
                <a:solidFill>
                  <a:schemeClr val="tx1"/>
                </a:solidFill>
                <a:effectLst/>
                <a:uLnTx/>
                <a:uFillTx/>
                <a:latin typeface="+mn-lt"/>
                <a:ea typeface="+mn-ea"/>
                <a:cs typeface="+mn-cs"/>
              </a:rPr>
              <a:t> mogen worden verwisseld, zonder dat de semantische  waarde van de formule daardoor veranderd.</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TextBox 12"/>
          <p:cNvSpPr txBox="1"/>
          <p:nvPr/>
        </p:nvSpPr>
        <p:spPr>
          <a:xfrm>
            <a:off x="899592" y="2492896"/>
            <a:ext cx="936104" cy="369332"/>
          </a:xfrm>
          <a:prstGeom prst="rect">
            <a:avLst/>
          </a:prstGeom>
          <a:noFill/>
        </p:spPr>
        <p:txBody>
          <a:bodyPr wrap="square" rtlCol="0">
            <a:spAutoFit/>
          </a:bodyPr>
          <a:lstStyle/>
          <a:p>
            <a:r>
              <a:rPr lang="nl-NL" b="1" dirty="0" smtClean="0">
                <a:solidFill>
                  <a:srgbClr val="C00000"/>
                </a:solidFill>
              </a:rPr>
              <a:t>P</a:t>
            </a:r>
            <a:r>
              <a:rPr lang="nl-NL" dirty="0" smtClean="0"/>
              <a:t> </a:t>
            </a:r>
            <a:r>
              <a:rPr lang="nl-NL" b="1" dirty="0" smtClean="0">
                <a:solidFill>
                  <a:srgbClr val="00B050"/>
                </a:solidFill>
              </a:rPr>
              <a:t>∧</a:t>
            </a:r>
            <a:r>
              <a:rPr lang="nl-NL" b="1" dirty="0" smtClean="0"/>
              <a:t> </a:t>
            </a:r>
            <a:r>
              <a:rPr lang="nl-NL" b="1" dirty="0" smtClean="0">
                <a:solidFill>
                  <a:srgbClr val="0070C0"/>
                </a:solidFill>
              </a:rPr>
              <a:t>Q</a:t>
            </a:r>
            <a:r>
              <a:rPr lang="nl-NL" dirty="0" smtClean="0"/>
              <a:t> </a:t>
            </a:r>
            <a:endParaRPr lang="nl-NL" dirty="0"/>
          </a:p>
        </p:txBody>
      </p:sp>
      <p:sp>
        <p:nvSpPr>
          <p:cNvPr id="14" name="TextBox 13"/>
          <p:cNvSpPr txBox="1"/>
          <p:nvPr/>
        </p:nvSpPr>
        <p:spPr>
          <a:xfrm>
            <a:off x="1907704" y="2452826"/>
            <a:ext cx="936104" cy="400110"/>
          </a:xfrm>
          <a:prstGeom prst="rect">
            <a:avLst/>
          </a:prstGeom>
          <a:noFill/>
        </p:spPr>
        <p:txBody>
          <a:bodyPr wrap="square" rtlCol="0">
            <a:spAutoFit/>
          </a:bodyPr>
          <a:lstStyle/>
          <a:p>
            <a:r>
              <a:rPr lang="nl-NL" sz="2000" b="1" dirty="0" smtClean="0">
                <a:solidFill>
                  <a:srgbClr val="C00000"/>
                </a:solidFill>
              </a:rPr>
              <a:t>∀x</a:t>
            </a:r>
            <a:r>
              <a:rPr lang="nl-NL" sz="2000" b="1" dirty="0" smtClean="0"/>
              <a:t> </a:t>
            </a:r>
            <a:r>
              <a:rPr lang="nl-NL" sz="2000" b="1" dirty="0" smtClean="0">
                <a:solidFill>
                  <a:srgbClr val="00B050"/>
                </a:solidFill>
              </a:rPr>
              <a:t>F(x)</a:t>
            </a:r>
            <a:endParaRPr lang="nl-NL" sz="2000" dirty="0">
              <a:solidFill>
                <a:srgbClr val="00B050"/>
              </a:solidFill>
            </a:endParaRPr>
          </a:p>
        </p:txBody>
      </p:sp>
      <p:sp>
        <p:nvSpPr>
          <p:cNvPr id="15" name="Content Placeholder 2"/>
          <p:cNvSpPr txBox="1">
            <a:spLocks/>
          </p:cNvSpPr>
          <p:nvPr/>
        </p:nvSpPr>
        <p:spPr>
          <a:xfrm>
            <a:off x="360040" y="4509120"/>
            <a:ext cx="9108504" cy="432048"/>
          </a:xfrm>
          <a:prstGeom prst="rect">
            <a:avLst/>
          </a:prstGeom>
        </p:spPr>
        <p:txBody>
          <a:bodyPr vert="horz" lIns="91440" tIns="45720" rIns="91440" bIns="45720" rtlCol="0">
            <a:noAutofit/>
          </a:bodyPr>
          <a:lstStyle/>
          <a:p>
            <a:pPr marL="342900" lvl="0" indent="-342900">
              <a:spcBef>
                <a:spcPct val="20000"/>
              </a:spcBef>
              <a:defRPr/>
            </a:pPr>
            <a:r>
              <a:rPr lang="nl-NL" dirty="0" smtClean="0"/>
              <a:t>	 Semantische waarde individuconstante </a:t>
            </a:r>
            <a:r>
              <a:rPr lang="nl-NL" b="1" dirty="0" smtClean="0"/>
              <a:t>is</a:t>
            </a:r>
            <a:r>
              <a:rPr lang="nl-NL" dirty="0" smtClean="0"/>
              <a:t> het object waarnaar verwezen wordt</a:t>
            </a:r>
          </a:p>
        </p:txBody>
      </p:sp>
      <p:sp>
        <p:nvSpPr>
          <p:cNvPr id="16" name="Content Placeholder 2"/>
          <p:cNvSpPr txBox="1">
            <a:spLocks/>
          </p:cNvSpPr>
          <p:nvPr/>
        </p:nvSpPr>
        <p:spPr>
          <a:xfrm>
            <a:off x="360040" y="4941168"/>
            <a:ext cx="9108504" cy="432048"/>
          </a:xfrm>
          <a:prstGeom prst="rect">
            <a:avLst/>
          </a:prstGeom>
        </p:spPr>
        <p:txBody>
          <a:bodyPr vert="horz" lIns="91440" tIns="45720" rIns="91440" bIns="45720" rtlCol="0">
            <a:noAutofit/>
          </a:bodyPr>
          <a:lstStyle/>
          <a:p>
            <a:pPr marL="342900" lvl="0" indent="-342900">
              <a:spcBef>
                <a:spcPct val="20000"/>
              </a:spcBef>
              <a:defRPr/>
            </a:pPr>
            <a:r>
              <a:rPr lang="nl-NL" dirty="0" smtClean="0"/>
              <a:t>	 Semantische waarde </a:t>
            </a:r>
            <a:r>
              <a:rPr lang="nl-NL" dirty="0" err="1" smtClean="0"/>
              <a:t>predikaatletter</a:t>
            </a:r>
            <a:r>
              <a:rPr lang="nl-NL" dirty="0" smtClean="0"/>
              <a:t> </a:t>
            </a:r>
            <a:r>
              <a:rPr lang="nl-NL" b="1" dirty="0" smtClean="0"/>
              <a:t>is</a:t>
            </a:r>
            <a:r>
              <a:rPr lang="nl-NL" dirty="0" smtClean="0"/>
              <a:t> de verzameling objecten die eronder vallen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20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fade">
                                      <p:cBhvr>
                                        <p:cTn id="17" dur="20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fade">
                                      <p:cBhvr>
                                        <p:cTn id="22" dur="2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5" grpId="0" build="allAtOnce"/>
      <p:bldP spid="16" grpId="0" build="allAtOnce"/>
    </p:bldLst>
  </p:timing>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9" name="Content Placeholder 2"/>
          <p:cNvSpPr txBox="1">
            <a:spLocks/>
          </p:cNvSpPr>
          <p:nvPr/>
        </p:nvSpPr>
        <p:spPr>
          <a:xfrm>
            <a:off x="457200" y="1384177"/>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Uit het feit dat de klassieke propositie- en </a:t>
            </a:r>
            <a:r>
              <a:rPr lang="nl-NL" sz="2000" dirty="0" err="1" smtClean="0"/>
              <a:t>predikaatlogica</a:t>
            </a:r>
            <a:r>
              <a:rPr lang="nl-NL" sz="2000" dirty="0" smtClean="0"/>
              <a:t> voldoet aan het compositiebeginsel en </a:t>
            </a:r>
            <a:r>
              <a:rPr lang="nl-NL" sz="2000" dirty="0" err="1" smtClean="0"/>
              <a:t>extensioneel</a:t>
            </a:r>
            <a:r>
              <a:rPr lang="nl-NL" sz="2000" dirty="0" smtClean="0"/>
              <a:t> is, volgen drie verschillende principes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85192" y="2320281"/>
            <a:ext cx="8939336" cy="388639"/>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1.</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formule</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el-GR" sz="2000" b="1" i="1" u="none" strike="noStrike" kern="1200" cap="none" spc="0" normalizeH="0" noProof="0" dirty="0" smtClean="0">
                <a:ln>
                  <a:noFill/>
                </a:ln>
                <a:solidFill>
                  <a:schemeClr val="tx1"/>
                </a:solidFill>
                <a:effectLst/>
                <a:uLnTx/>
                <a:uFillTx/>
                <a:latin typeface="+mn-lt"/>
                <a:ea typeface="+mn-ea"/>
                <a:cs typeface="+mn-cs"/>
              </a:rPr>
              <a:t>α</a:t>
            </a:r>
            <a:r>
              <a:rPr kumimoji="0" lang="nl-NL" sz="2000" b="0" i="0" u="none" strike="noStrike" kern="1200" cap="none" spc="0" normalizeH="0" noProof="0" dirty="0" smtClean="0">
                <a:ln>
                  <a:noFill/>
                </a:ln>
                <a:solidFill>
                  <a:schemeClr val="tx1"/>
                </a:solidFill>
                <a:effectLst/>
                <a:uLnTx/>
                <a:uFillTx/>
                <a:latin typeface="+mn-lt"/>
                <a:ea typeface="+mn-ea"/>
                <a:cs typeface="+mn-cs"/>
              </a:rPr>
              <a:t> dezelfde waarheidswaarde heeft als formule </a:t>
            </a:r>
            <a:r>
              <a:rPr kumimoji="0" lang="el-GR" sz="2000" b="1" i="1" u="none" strike="noStrike" kern="1200" cap="none" spc="0" normalizeH="0" noProof="0" dirty="0" smtClean="0">
                <a:ln>
                  <a:noFill/>
                </a:ln>
                <a:solidFill>
                  <a:schemeClr val="tx1"/>
                </a:solidFill>
                <a:effectLst/>
                <a:uLnTx/>
                <a:uFillTx/>
                <a:latin typeface="+mn-lt"/>
                <a:ea typeface="+mn-ea"/>
                <a:cs typeface="+mn-cs"/>
              </a:rPr>
              <a:t>β</a:t>
            </a:r>
            <a:r>
              <a:rPr kumimoji="0" lang="nl-NL" sz="2000" b="0" i="0" u="none" strike="noStrike" kern="1200" cap="none" spc="0" normalizeH="0" noProof="0" dirty="0" smtClean="0">
                <a:ln>
                  <a:noFill/>
                </a:ln>
                <a:solidFill>
                  <a:schemeClr val="tx1"/>
                </a:solidFill>
                <a:effectLst/>
                <a:uLnTx/>
                <a:uFillTx/>
                <a:latin typeface="+mn-lt"/>
                <a:ea typeface="+mn-ea"/>
                <a:cs typeface="+mn-cs"/>
              </a:rPr>
              <a:t> en als </a:t>
            </a:r>
            <a:r>
              <a:rPr lang="el-GR" sz="2000" b="1" i="1" dirty="0" smtClean="0"/>
              <a:t>α</a:t>
            </a:r>
            <a:r>
              <a:rPr lang="nl-NL" sz="2000" dirty="0" smtClean="0"/>
              <a:t>                             een deelformule is van </a:t>
            </a:r>
            <a:r>
              <a:rPr lang="el-GR" sz="2000" b="1" i="1" dirty="0" smtClean="0"/>
              <a:t>γ</a:t>
            </a:r>
            <a:r>
              <a:rPr lang="nl-NL" sz="2000" dirty="0" smtClean="0"/>
              <a:t>, dan verandert de waarheidswaarde van </a:t>
            </a:r>
            <a:r>
              <a:rPr lang="el-GR" sz="2000" b="1" dirty="0" smtClean="0"/>
              <a:t>γ</a:t>
            </a:r>
            <a:r>
              <a:rPr lang="nl-NL" sz="2000" dirty="0" smtClean="0"/>
              <a:t>                               niet wanneer daarin </a:t>
            </a:r>
            <a:r>
              <a:rPr lang="el-GR" sz="2000" b="1" i="1" dirty="0" smtClean="0"/>
              <a:t>α</a:t>
            </a:r>
            <a:r>
              <a:rPr lang="nl-NL" sz="2000" dirty="0" smtClean="0"/>
              <a:t> wordt vervangen door </a:t>
            </a:r>
            <a:r>
              <a:rPr lang="el-GR" sz="2000" b="1" i="1" dirty="0" smtClean="0"/>
              <a:t>β</a:t>
            </a:r>
            <a:r>
              <a:rPr lang="nl-NL" sz="2000" dirty="0" smtClean="0"/>
              <a:t>   </a:t>
            </a:r>
            <a:r>
              <a:rPr kumimoji="0" lang="nl-NL" sz="2000" b="0" i="0" u="none" strike="noStrike" kern="1200" cap="none" spc="0" normalizeH="0" noProof="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Content Placeholder 2"/>
          <p:cNvSpPr txBox="1">
            <a:spLocks/>
          </p:cNvSpPr>
          <p:nvPr/>
        </p:nvSpPr>
        <p:spPr>
          <a:xfrm>
            <a:off x="385192" y="3429000"/>
            <a:ext cx="8939336" cy="388639"/>
          </a:xfrm>
          <a:prstGeom prst="rect">
            <a:avLst/>
          </a:prstGeom>
        </p:spPr>
        <p:txBody>
          <a:bodyPr vert="horz" lIns="91440" tIns="45720" rIns="91440" bIns="45720" rtlCol="0">
            <a:noAutofit/>
          </a:bodyPr>
          <a:lstStyle/>
          <a:p>
            <a:pPr marL="342900" lvl="0" indent="-342900">
              <a:spcBef>
                <a:spcPct val="20000"/>
              </a:spcBef>
            </a:pPr>
            <a:r>
              <a:rPr kumimoji="0" lang="nl-NL" sz="2000" b="0" i="0" u="none" strike="noStrike" kern="1200" cap="none" spc="0" normalizeH="0" baseline="0" noProof="0" dirty="0" smtClean="0">
                <a:ln>
                  <a:noFill/>
                </a:ln>
                <a:solidFill>
                  <a:schemeClr val="tx1"/>
                </a:solidFill>
                <a:effectLst/>
                <a:uLnTx/>
                <a:uFillTx/>
                <a:latin typeface="+mn-lt"/>
                <a:ea typeface="+mn-ea"/>
                <a:cs typeface="+mn-cs"/>
              </a:rPr>
              <a:t>2.   Als individuconstanten</a:t>
            </a:r>
            <a:r>
              <a:rPr kumimoji="0" lang="nl-NL" sz="2000" b="0" i="0" u="none" strike="noStrike" kern="1200" cap="none" spc="0" normalizeH="0" noProof="0" dirty="0" smtClean="0">
                <a:ln>
                  <a:noFill/>
                </a:ln>
                <a:solidFill>
                  <a:schemeClr val="tx1"/>
                </a:solidFill>
                <a:effectLst/>
                <a:uLnTx/>
                <a:uFillTx/>
                <a:latin typeface="+mn-lt"/>
                <a:ea typeface="+mn-ea"/>
                <a:cs typeface="+mn-cs"/>
              </a:rPr>
              <a:t>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en </a:t>
            </a:r>
            <a:r>
              <a:rPr kumimoji="0" lang="nl-NL" sz="2000" b="1" i="0" u="none" strike="noStrike" kern="1200" cap="none" spc="0" normalizeH="0" noProof="0" dirty="0" smtClean="0">
                <a:ln>
                  <a:noFill/>
                </a:ln>
                <a:solidFill>
                  <a:schemeClr val="tx1"/>
                </a:solidFill>
                <a:effectLst/>
                <a:uLnTx/>
                <a:uFillTx/>
                <a:latin typeface="+mn-lt"/>
                <a:ea typeface="+mn-ea"/>
                <a:cs typeface="+mn-cs"/>
              </a:rPr>
              <a:t>b</a:t>
            </a:r>
            <a:r>
              <a:rPr kumimoji="0" lang="nl-NL" sz="2000" b="0" i="0" u="none" strike="noStrike" kern="1200" cap="none" spc="0" normalizeH="0" noProof="0" dirty="0" smtClean="0">
                <a:ln>
                  <a:noFill/>
                </a:ln>
                <a:solidFill>
                  <a:schemeClr val="tx1"/>
                </a:solidFill>
                <a:effectLst/>
                <a:uLnTx/>
                <a:uFillTx/>
                <a:latin typeface="+mn-lt"/>
                <a:ea typeface="+mn-ea"/>
                <a:cs typeface="+mn-cs"/>
              </a:rPr>
              <a:t> naar hetzelfde object verwijzen en </a:t>
            </a:r>
            <a:r>
              <a:rPr kumimoji="0" lang="nl-NL" sz="2000" b="1" i="0" u="none" strike="noStrike" kern="1200" cap="none" spc="0" normalizeH="0" noProof="0" dirty="0" smtClean="0">
                <a:ln>
                  <a:noFill/>
                </a:ln>
                <a:solidFill>
                  <a:schemeClr val="tx1"/>
                </a:solidFill>
                <a:effectLst/>
                <a:uLnTx/>
                <a:uFillTx/>
                <a:latin typeface="+mn-lt"/>
                <a:ea typeface="+mn-ea"/>
                <a:cs typeface="+mn-cs"/>
              </a:rPr>
              <a:t>a</a:t>
            </a:r>
            <a:r>
              <a:rPr kumimoji="0" lang="nl-NL" sz="2000" b="0" i="0" u="none" strike="noStrike" kern="1200" cap="none" spc="0" normalizeH="0" noProof="0" dirty="0" smtClean="0">
                <a:ln>
                  <a:noFill/>
                </a:ln>
                <a:solidFill>
                  <a:schemeClr val="tx1"/>
                </a:solidFill>
                <a:effectLst/>
                <a:uLnTx/>
                <a:uFillTx/>
                <a:latin typeface="+mn-lt"/>
                <a:ea typeface="+mn-ea"/>
                <a:cs typeface="+mn-cs"/>
              </a:rPr>
              <a:t> treedt op               in een formule </a:t>
            </a:r>
            <a:r>
              <a:rPr lang="el-GR" sz="2000" b="1" i="1" dirty="0" smtClean="0"/>
              <a:t>α</a:t>
            </a:r>
            <a:r>
              <a:rPr lang="nl-NL" sz="2000" dirty="0" smtClean="0"/>
              <a:t>, dan verandert de waarheidswaarde van </a:t>
            </a:r>
            <a:r>
              <a:rPr lang="el-GR" sz="2000" b="1" i="1" dirty="0" smtClean="0"/>
              <a:t>α</a:t>
            </a:r>
            <a:r>
              <a:rPr lang="nl-NL" sz="2000" dirty="0" smtClean="0"/>
              <a:t> niet als daarin                    </a:t>
            </a:r>
            <a:r>
              <a:rPr lang="nl-NL" sz="2000" b="1" dirty="0" smtClean="0"/>
              <a:t>a</a:t>
            </a:r>
            <a:r>
              <a:rPr lang="nl-NL" sz="2000" dirty="0" smtClean="0"/>
              <a:t> wordt vervangen door </a:t>
            </a:r>
            <a:r>
              <a:rPr lang="nl-NL" sz="2000" b="1" dirty="0" smtClean="0"/>
              <a:t>b</a:t>
            </a:r>
            <a:r>
              <a:rPr kumimoji="0" lang="nl-NL" sz="2000" b="0" i="0" u="none" strike="noStrike" kern="1200" cap="none" spc="0" normalizeH="0" noProof="0" dirty="0" smtClean="0">
                <a:ln>
                  <a:noFill/>
                </a:ln>
                <a:solidFill>
                  <a:schemeClr val="tx1"/>
                </a:solidFill>
                <a:effectLst/>
                <a:uLnTx/>
                <a:uFillTx/>
                <a:latin typeface="+mn-lt"/>
                <a:ea typeface="+mn-ea"/>
                <a:cs typeface="+mn-cs"/>
              </a:rPr>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9" name="Content Placeholder 2"/>
          <p:cNvSpPr txBox="1">
            <a:spLocks/>
          </p:cNvSpPr>
          <p:nvPr/>
        </p:nvSpPr>
        <p:spPr>
          <a:xfrm>
            <a:off x="374848" y="4480521"/>
            <a:ext cx="8939336" cy="388639"/>
          </a:xfrm>
          <a:prstGeom prst="rect">
            <a:avLst/>
          </a:prstGeom>
        </p:spPr>
        <p:txBody>
          <a:bodyPr vert="horz" lIns="91440" tIns="45720" rIns="91440" bIns="45720" rtlCol="0">
            <a:noAutofit/>
          </a:bodyPr>
          <a:lstStyle/>
          <a:p>
            <a:pPr marL="342900" lvl="0" indent="-342900">
              <a:spcBef>
                <a:spcPct val="20000"/>
              </a:spcBef>
            </a:pPr>
            <a:r>
              <a:rPr lang="nl-NL" sz="2000" dirty="0" smtClean="0"/>
              <a:t>3.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Als </a:t>
            </a:r>
            <a:r>
              <a:rPr kumimoji="0" lang="nl-NL" sz="2000" b="0" i="0" u="none" strike="noStrike" kern="1200" cap="none" spc="0" normalizeH="0" baseline="0" noProof="0" dirty="0" err="1" smtClean="0">
                <a:ln>
                  <a:noFill/>
                </a:ln>
                <a:solidFill>
                  <a:schemeClr val="tx1"/>
                </a:solidFill>
                <a:effectLst/>
                <a:uLnTx/>
                <a:uFillTx/>
                <a:latin typeface="+mn-lt"/>
                <a:ea typeface="+mn-ea"/>
                <a:cs typeface="+mn-cs"/>
              </a:rPr>
              <a:t>predikaatl</a:t>
            </a:r>
            <a:r>
              <a:rPr lang="nl-NL" sz="2000" dirty="0" smtClean="0"/>
              <a:t>etters </a:t>
            </a:r>
            <a:r>
              <a:rPr lang="nl-NL" sz="2000" b="1" dirty="0" smtClean="0"/>
              <a:t>A</a:t>
            </a:r>
            <a:r>
              <a:rPr lang="nl-NL" sz="2000" dirty="0" smtClean="0"/>
              <a:t> en </a:t>
            </a:r>
            <a:r>
              <a:rPr lang="nl-NL" sz="2000" b="1" dirty="0" smtClean="0"/>
              <a:t>B</a:t>
            </a:r>
            <a:r>
              <a:rPr lang="nl-NL" sz="2000" dirty="0" smtClean="0"/>
              <a:t> dezelfde verzameling van objecten bepalen en </a:t>
            </a:r>
            <a:r>
              <a:rPr lang="nl-NL" sz="2000" b="1" dirty="0" smtClean="0"/>
              <a:t>A</a:t>
            </a:r>
            <a:r>
              <a:rPr lang="nl-NL" sz="2000" dirty="0" smtClean="0"/>
              <a:t> treedt op in een formule </a:t>
            </a:r>
            <a:r>
              <a:rPr lang="el-GR" sz="2000" b="1" i="1" dirty="0" smtClean="0"/>
              <a:t>α</a:t>
            </a:r>
            <a:r>
              <a:rPr lang="nl-NL" sz="2000" b="1" i="1" dirty="0" smtClean="0"/>
              <a:t>, </a:t>
            </a:r>
            <a:r>
              <a:rPr lang="nl-NL" sz="2000" dirty="0" smtClean="0"/>
              <a:t>dan verandert de waarheidswaarde van </a:t>
            </a:r>
            <a:r>
              <a:rPr lang="el-GR" sz="2000" b="1" i="1" dirty="0" smtClean="0"/>
              <a:t>α</a:t>
            </a:r>
            <a:r>
              <a:rPr lang="nl-NL" sz="2000" b="1" i="1" dirty="0" smtClean="0"/>
              <a:t> </a:t>
            </a:r>
            <a:r>
              <a:rPr lang="nl-NL" sz="2000" dirty="0" smtClean="0"/>
              <a:t>niet                  als daarin </a:t>
            </a:r>
            <a:r>
              <a:rPr lang="nl-NL" sz="2000" b="1" dirty="0" smtClean="0"/>
              <a:t>A</a:t>
            </a:r>
            <a:r>
              <a:rPr lang="nl-NL" sz="2000" dirty="0" smtClean="0"/>
              <a:t> wordt vervangen door </a:t>
            </a:r>
            <a:r>
              <a:rPr lang="nl-NL" sz="2000" b="1" dirty="0" smtClean="0"/>
              <a:t>B</a:t>
            </a:r>
            <a:endParaRPr kumimoji="0" lang="nl-NL" sz="2000" b="1"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20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xEl>
                                              <p:pRg st="0" end="0"/>
                                            </p:txEl>
                                          </p:spTgt>
                                        </p:tgtEl>
                                        <p:attrNameLst>
                                          <p:attrName>style.visibility</p:attrName>
                                        </p:attrNameLst>
                                      </p:cBhvr>
                                      <p:to>
                                        <p:strVal val="visible"/>
                                      </p:to>
                                    </p:set>
                                    <p:animEffect transition="in" filter="fade">
                                      <p:cBhvr>
                                        <p:cTn id="17" dur="20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allAtOnce"/>
      <p:bldP spid="18" grpId="0" build="allAtOnce"/>
      <p:bldP spid="19" grpId="0" build="allAtOnce"/>
    </p:bldLst>
  </p:timing>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Logici breiden soms de klassieke propositie- en </a:t>
            </a:r>
            <a:r>
              <a:rPr lang="nl-NL" sz="2000" dirty="0" err="1" smtClean="0"/>
              <a:t>predikaatlogica</a:t>
            </a:r>
            <a:r>
              <a:rPr lang="nl-NL" sz="2000" dirty="0" smtClean="0"/>
              <a:t> uit om                           het logisch gedrag van bepaalde begrippen nader te onderzoeken.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457200" y="2276872"/>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De </a:t>
            </a:r>
            <a:r>
              <a:rPr lang="nl-NL" sz="2000" i="1" dirty="0" smtClean="0"/>
              <a:t>modale logica </a:t>
            </a:r>
            <a:r>
              <a:rPr lang="nl-NL" sz="2000" dirty="0" smtClean="0"/>
              <a:t>ontstaat door de begrippen ‘mogelijk’ en ‘noodzakelijk’                        aan de klassieke logica toe te voegen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467544" y="3501008"/>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De </a:t>
            </a:r>
            <a:r>
              <a:rPr lang="nl-NL" sz="2000" i="1" dirty="0" err="1" smtClean="0"/>
              <a:t>epistemische</a:t>
            </a:r>
            <a:r>
              <a:rPr lang="nl-NL" sz="2000" i="1" dirty="0" smtClean="0"/>
              <a:t> logica </a:t>
            </a:r>
            <a:r>
              <a:rPr lang="nl-NL" sz="2000" dirty="0" smtClean="0"/>
              <a:t>ontstaat door de begrippen ‘geloven’ en ‘weten’                    aan de klassieke logica toe te voegen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457200" y="4725144"/>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De </a:t>
            </a:r>
            <a:r>
              <a:rPr lang="nl-NL" sz="2000" i="1" dirty="0" err="1" smtClean="0"/>
              <a:t>deontische</a:t>
            </a:r>
            <a:r>
              <a:rPr lang="nl-NL" sz="2000" i="1" dirty="0" smtClean="0"/>
              <a:t> logica </a:t>
            </a:r>
            <a:r>
              <a:rPr lang="nl-NL" sz="2000" dirty="0" smtClean="0"/>
              <a:t>ontstaat door de begrippen ‘moeten’ en ‘mogen’                        aan de klassieke logica toe te voegen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Box 13"/>
          <p:cNvSpPr txBox="1"/>
          <p:nvPr/>
        </p:nvSpPr>
        <p:spPr>
          <a:xfrm>
            <a:off x="827584" y="2996952"/>
            <a:ext cx="2952328" cy="369332"/>
          </a:xfrm>
          <a:prstGeom prst="rect">
            <a:avLst/>
          </a:prstGeom>
          <a:noFill/>
        </p:spPr>
        <p:txBody>
          <a:bodyPr wrap="square" rtlCol="0">
            <a:spAutoFit/>
          </a:bodyPr>
          <a:lstStyle/>
          <a:p>
            <a:r>
              <a:rPr lang="nl-NL" dirty="0" smtClean="0"/>
              <a:t>‘Het is mogelijk dat P’</a:t>
            </a:r>
            <a:endParaRPr lang="nl-NL" dirty="0"/>
          </a:p>
        </p:txBody>
      </p:sp>
      <p:sp>
        <p:nvSpPr>
          <p:cNvPr id="15" name="TextBox 14"/>
          <p:cNvSpPr txBox="1"/>
          <p:nvPr/>
        </p:nvSpPr>
        <p:spPr>
          <a:xfrm>
            <a:off x="2987824" y="2996952"/>
            <a:ext cx="2952328" cy="369332"/>
          </a:xfrm>
          <a:prstGeom prst="rect">
            <a:avLst/>
          </a:prstGeom>
          <a:noFill/>
        </p:spPr>
        <p:txBody>
          <a:bodyPr wrap="square" rtlCol="0">
            <a:spAutoFit/>
          </a:bodyPr>
          <a:lstStyle/>
          <a:p>
            <a:r>
              <a:rPr lang="nl-NL" dirty="0" smtClean="0"/>
              <a:t>‘Het is noodzakelijk dat P’ </a:t>
            </a:r>
            <a:endParaRPr lang="nl-NL" dirty="0"/>
          </a:p>
        </p:txBody>
      </p:sp>
      <p:sp>
        <p:nvSpPr>
          <p:cNvPr id="16" name="TextBox 15"/>
          <p:cNvSpPr txBox="1"/>
          <p:nvPr/>
        </p:nvSpPr>
        <p:spPr>
          <a:xfrm>
            <a:off x="5580112" y="2996952"/>
            <a:ext cx="2952328" cy="369332"/>
          </a:xfrm>
          <a:prstGeom prst="rect">
            <a:avLst/>
          </a:prstGeom>
          <a:noFill/>
        </p:spPr>
        <p:txBody>
          <a:bodyPr wrap="square" rtlCol="0">
            <a:spAutoFit/>
          </a:bodyPr>
          <a:lstStyle/>
          <a:p>
            <a:r>
              <a:rPr lang="nl-NL" dirty="0" smtClean="0"/>
              <a:t>‘Het is niet mogelijk dat P’</a:t>
            </a:r>
            <a:endParaRPr lang="nl-NL" dirty="0"/>
          </a:p>
        </p:txBody>
      </p:sp>
      <p:sp>
        <p:nvSpPr>
          <p:cNvPr id="17" name="TextBox 16"/>
          <p:cNvSpPr txBox="1"/>
          <p:nvPr/>
        </p:nvSpPr>
        <p:spPr>
          <a:xfrm>
            <a:off x="827584" y="4211796"/>
            <a:ext cx="2952328" cy="369332"/>
          </a:xfrm>
          <a:prstGeom prst="rect">
            <a:avLst/>
          </a:prstGeom>
          <a:noFill/>
        </p:spPr>
        <p:txBody>
          <a:bodyPr wrap="square" rtlCol="0">
            <a:spAutoFit/>
          </a:bodyPr>
          <a:lstStyle/>
          <a:p>
            <a:r>
              <a:rPr lang="nl-NL" dirty="0" smtClean="0"/>
              <a:t>‘Ik geloof dat P’</a:t>
            </a:r>
            <a:endParaRPr lang="nl-NL" dirty="0"/>
          </a:p>
        </p:txBody>
      </p:sp>
      <p:sp>
        <p:nvSpPr>
          <p:cNvPr id="20" name="TextBox 19"/>
          <p:cNvSpPr txBox="1"/>
          <p:nvPr/>
        </p:nvSpPr>
        <p:spPr>
          <a:xfrm>
            <a:off x="2555776" y="4211796"/>
            <a:ext cx="2952328" cy="369332"/>
          </a:xfrm>
          <a:prstGeom prst="rect">
            <a:avLst/>
          </a:prstGeom>
          <a:noFill/>
        </p:spPr>
        <p:txBody>
          <a:bodyPr wrap="square" rtlCol="0">
            <a:spAutoFit/>
          </a:bodyPr>
          <a:lstStyle/>
          <a:p>
            <a:r>
              <a:rPr lang="nl-NL" dirty="0" smtClean="0"/>
              <a:t>‘Ik weet dat P’ </a:t>
            </a:r>
            <a:endParaRPr lang="nl-NL" dirty="0"/>
          </a:p>
        </p:txBody>
      </p:sp>
      <p:sp>
        <p:nvSpPr>
          <p:cNvPr id="21" name="TextBox 20"/>
          <p:cNvSpPr txBox="1"/>
          <p:nvPr/>
        </p:nvSpPr>
        <p:spPr>
          <a:xfrm>
            <a:off x="4140000" y="4211796"/>
            <a:ext cx="2952328" cy="369332"/>
          </a:xfrm>
          <a:prstGeom prst="rect">
            <a:avLst/>
          </a:prstGeom>
          <a:noFill/>
        </p:spPr>
        <p:txBody>
          <a:bodyPr wrap="square" rtlCol="0">
            <a:spAutoFit/>
          </a:bodyPr>
          <a:lstStyle/>
          <a:p>
            <a:r>
              <a:rPr lang="nl-NL" dirty="0" smtClean="0"/>
              <a:t>‘Ik geloof niet dat P’</a:t>
            </a:r>
            <a:endParaRPr lang="nl-NL" dirty="0"/>
          </a:p>
        </p:txBody>
      </p:sp>
      <p:sp>
        <p:nvSpPr>
          <p:cNvPr id="22" name="TextBox 21"/>
          <p:cNvSpPr txBox="1"/>
          <p:nvPr/>
        </p:nvSpPr>
        <p:spPr>
          <a:xfrm>
            <a:off x="827536" y="5435932"/>
            <a:ext cx="2952328" cy="369332"/>
          </a:xfrm>
          <a:prstGeom prst="rect">
            <a:avLst/>
          </a:prstGeom>
          <a:noFill/>
        </p:spPr>
        <p:txBody>
          <a:bodyPr wrap="square" rtlCol="0">
            <a:spAutoFit/>
          </a:bodyPr>
          <a:lstStyle/>
          <a:p>
            <a:r>
              <a:rPr lang="nl-NL" dirty="0" smtClean="0"/>
              <a:t>‘Ik mag P doen’</a:t>
            </a:r>
            <a:endParaRPr lang="nl-NL" dirty="0"/>
          </a:p>
        </p:txBody>
      </p:sp>
      <p:sp>
        <p:nvSpPr>
          <p:cNvPr id="23" name="TextBox 22"/>
          <p:cNvSpPr txBox="1"/>
          <p:nvPr/>
        </p:nvSpPr>
        <p:spPr>
          <a:xfrm>
            <a:off x="2483768" y="5435932"/>
            <a:ext cx="2952328" cy="369332"/>
          </a:xfrm>
          <a:prstGeom prst="rect">
            <a:avLst/>
          </a:prstGeom>
          <a:noFill/>
        </p:spPr>
        <p:txBody>
          <a:bodyPr wrap="square" rtlCol="0">
            <a:spAutoFit/>
          </a:bodyPr>
          <a:lstStyle/>
          <a:p>
            <a:r>
              <a:rPr lang="nl-NL" dirty="0" smtClean="0"/>
              <a:t>‘Ik moet P doen’ </a:t>
            </a:r>
            <a:endParaRPr lang="nl-NL" dirty="0"/>
          </a:p>
        </p:txBody>
      </p:sp>
      <p:sp>
        <p:nvSpPr>
          <p:cNvPr id="24" name="TextBox 23"/>
          <p:cNvSpPr txBox="1"/>
          <p:nvPr/>
        </p:nvSpPr>
        <p:spPr>
          <a:xfrm>
            <a:off x="4139952" y="5435932"/>
            <a:ext cx="2952328" cy="369332"/>
          </a:xfrm>
          <a:prstGeom prst="rect">
            <a:avLst/>
          </a:prstGeom>
          <a:noFill/>
        </p:spPr>
        <p:txBody>
          <a:bodyPr wrap="square" rtlCol="0">
            <a:spAutoFit/>
          </a:bodyPr>
          <a:lstStyle/>
          <a:p>
            <a:r>
              <a:rPr lang="nl-NL" dirty="0" smtClean="0"/>
              <a:t>‘Ik mag P niet doen’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2000"/>
                                        <p:tgtEl>
                                          <p:spTgt spid="14">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2000"/>
                                        <p:tgtEl>
                                          <p:spTgt spid="15">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xEl>
                                              <p:pRg st="0" end="0"/>
                                            </p:txEl>
                                          </p:spTgt>
                                        </p:tgtEl>
                                        <p:attrNameLst>
                                          <p:attrName>style.visibility</p:attrName>
                                        </p:attrNameLst>
                                      </p:cBhvr>
                                      <p:to>
                                        <p:strVal val="visible"/>
                                      </p:to>
                                    </p:set>
                                    <p:animEffect transition="in" filter="fade">
                                      <p:cBhvr>
                                        <p:cTn id="18" dur="2000"/>
                                        <p:tgtEl>
                                          <p:spTgt spid="16">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fade">
                                      <p:cBhvr>
                                        <p:cTn id="23" dur="2000"/>
                                        <p:tgtEl>
                                          <p:spTgt spid="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
                                            <p:txEl>
                                              <p:pRg st="0" end="0"/>
                                            </p:txEl>
                                          </p:spTgt>
                                        </p:tgtEl>
                                        <p:attrNameLst>
                                          <p:attrName>style.visibility</p:attrName>
                                        </p:attrNameLst>
                                      </p:cBhvr>
                                      <p:to>
                                        <p:strVal val="visible"/>
                                      </p:to>
                                    </p:set>
                                    <p:animEffect transition="in" filter="fade">
                                      <p:cBhvr>
                                        <p:cTn id="28" dur="2000"/>
                                        <p:tgtEl>
                                          <p:spTgt spid="17">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xEl>
                                              <p:pRg st="0" end="0"/>
                                            </p:txEl>
                                          </p:spTgt>
                                        </p:tgtEl>
                                        <p:attrNameLst>
                                          <p:attrName>style.visibility</p:attrName>
                                        </p:attrNameLst>
                                      </p:cBhvr>
                                      <p:to>
                                        <p:strVal val="visible"/>
                                      </p:to>
                                    </p:set>
                                    <p:animEffect transition="in" filter="fade">
                                      <p:cBhvr>
                                        <p:cTn id="31" dur="2000"/>
                                        <p:tgtEl>
                                          <p:spTgt spid="20">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xEl>
                                              <p:pRg st="0" end="0"/>
                                            </p:txEl>
                                          </p:spTgt>
                                        </p:tgtEl>
                                        <p:attrNameLst>
                                          <p:attrName>style.visibility</p:attrName>
                                        </p:attrNameLst>
                                      </p:cBhvr>
                                      <p:to>
                                        <p:strVal val="visible"/>
                                      </p:to>
                                    </p:set>
                                    <p:animEffect transition="in" filter="fade">
                                      <p:cBhvr>
                                        <p:cTn id="34" dur="2000"/>
                                        <p:tgtEl>
                                          <p:spTgt spid="21">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animEffect transition="in" filter="fade">
                                      <p:cBhvr>
                                        <p:cTn id="39" dur="2000"/>
                                        <p:tgtEl>
                                          <p:spTgt spid="13">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2">
                                            <p:txEl>
                                              <p:pRg st="0" end="0"/>
                                            </p:txEl>
                                          </p:spTgt>
                                        </p:tgtEl>
                                        <p:attrNameLst>
                                          <p:attrName>style.visibility</p:attrName>
                                        </p:attrNameLst>
                                      </p:cBhvr>
                                      <p:to>
                                        <p:strVal val="visible"/>
                                      </p:to>
                                    </p:set>
                                    <p:animEffect transition="in" filter="fade">
                                      <p:cBhvr>
                                        <p:cTn id="44" dur="2000"/>
                                        <p:tgtEl>
                                          <p:spTgt spid="22">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3">
                                            <p:txEl>
                                              <p:pRg st="0" end="0"/>
                                            </p:txEl>
                                          </p:spTgt>
                                        </p:tgtEl>
                                        <p:attrNameLst>
                                          <p:attrName>style.visibility</p:attrName>
                                        </p:attrNameLst>
                                      </p:cBhvr>
                                      <p:to>
                                        <p:strVal val="visible"/>
                                      </p:to>
                                    </p:set>
                                    <p:animEffect transition="in" filter="fade">
                                      <p:cBhvr>
                                        <p:cTn id="47" dur="2000"/>
                                        <p:tgtEl>
                                          <p:spTgt spid="23">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xEl>
                                              <p:pRg st="0" end="0"/>
                                            </p:txEl>
                                          </p:spTgt>
                                        </p:tgtEl>
                                        <p:attrNameLst>
                                          <p:attrName>style.visibility</p:attrName>
                                        </p:attrNameLst>
                                      </p:cBhvr>
                                      <p:to>
                                        <p:strVal val="visible"/>
                                      </p:to>
                                    </p:set>
                                    <p:animEffect transition="in" filter="fade">
                                      <p:cBhvr>
                                        <p:cTn id="50" dur="20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3" grpId="0" build="allAtOnce"/>
      <p:bldP spid="14" grpId="0" build="allAtOnce"/>
      <p:bldP spid="15" grpId="0" build="allAtOnce"/>
      <p:bldP spid="16" grpId="0" build="allAtOnce"/>
      <p:bldP spid="17" grpId="0" build="allAtOnce"/>
      <p:bldP spid="20" grpId="0" build="allAtOnce"/>
      <p:bldP spid="21" grpId="0" build="allAtOnce"/>
      <p:bldP spid="22" grpId="0" build="allAtOnce"/>
      <p:bldP spid="23" grpId="0" build="allAtOnce"/>
      <p:bldP spid="24" grpId="0" build="allAtOnce"/>
    </p:bldLst>
  </p:timing>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Voldoen deze uitbreidingen nog steeds aan het compositiebeginsel?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Box 13"/>
          <p:cNvSpPr txBox="1"/>
          <p:nvPr/>
        </p:nvSpPr>
        <p:spPr>
          <a:xfrm>
            <a:off x="467544" y="2132856"/>
            <a:ext cx="5760640" cy="369332"/>
          </a:xfrm>
          <a:prstGeom prst="rect">
            <a:avLst/>
          </a:prstGeom>
          <a:noFill/>
        </p:spPr>
        <p:txBody>
          <a:bodyPr wrap="square" rtlCol="0">
            <a:spAutoFit/>
          </a:bodyPr>
          <a:lstStyle/>
          <a:p>
            <a:r>
              <a:rPr lang="nl-NL" dirty="0" smtClean="0"/>
              <a:t>Het is noodzakelijk dat 1 plus 1 gelijk is aan 2</a:t>
            </a:r>
            <a:endParaRPr lang="nl-NL" dirty="0"/>
          </a:p>
        </p:txBody>
      </p:sp>
      <p:sp>
        <p:nvSpPr>
          <p:cNvPr id="25" name="TextBox 24"/>
          <p:cNvSpPr txBox="1"/>
          <p:nvPr/>
        </p:nvSpPr>
        <p:spPr>
          <a:xfrm>
            <a:off x="467544" y="2699628"/>
            <a:ext cx="4752528" cy="369332"/>
          </a:xfrm>
          <a:prstGeom prst="rect">
            <a:avLst/>
          </a:prstGeom>
          <a:noFill/>
        </p:spPr>
        <p:txBody>
          <a:bodyPr wrap="square" rtlCol="0">
            <a:spAutoFit/>
          </a:bodyPr>
          <a:lstStyle/>
          <a:p>
            <a:r>
              <a:rPr lang="nl-NL" dirty="0" smtClean="0"/>
              <a:t>Ik weet dat Nederland in Europa ligt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p:bldP spid="25" grpId="0" build="allAtOnce"/>
    </p:bldLst>
  </p:timing>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Voldoen deze uitbreidingen nog steeds aan het compositiebeginsel?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Box 13"/>
          <p:cNvSpPr txBox="1"/>
          <p:nvPr/>
        </p:nvSpPr>
        <p:spPr>
          <a:xfrm>
            <a:off x="467544" y="2132856"/>
            <a:ext cx="4752528" cy="369332"/>
          </a:xfrm>
          <a:prstGeom prst="rect">
            <a:avLst/>
          </a:prstGeom>
          <a:noFill/>
        </p:spPr>
        <p:txBody>
          <a:bodyPr wrap="square" rtlCol="0">
            <a:spAutoFit/>
          </a:bodyPr>
          <a:lstStyle/>
          <a:p>
            <a:r>
              <a:rPr lang="nl-NL" dirty="0" smtClean="0">
                <a:solidFill>
                  <a:srgbClr val="C00000"/>
                </a:solidFill>
              </a:rPr>
              <a:t>Het is noodzakelijk dat </a:t>
            </a:r>
            <a:r>
              <a:rPr lang="nl-NL" dirty="0" smtClean="0">
                <a:solidFill>
                  <a:srgbClr val="00B050"/>
                </a:solidFill>
              </a:rPr>
              <a:t>1 plus 1 gelijk is aan 2</a:t>
            </a:r>
            <a:endParaRPr lang="nl-NL" dirty="0">
              <a:solidFill>
                <a:srgbClr val="00B050"/>
              </a:solidFill>
            </a:endParaRPr>
          </a:p>
        </p:txBody>
      </p:sp>
      <p:sp>
        <p:nvSpPr>
          <p:cNvPr id="25" name="TextBox 24"/>
          <p:cNvSpPr txBox="1"/>
          <p:nvPr/>
        </p:nvSpPr>
        <p:spPr>
          <a:xfrm>
            <a:off x="467544" y="2699628"/>
            <a:ext cx="4752528" cy="369332"/>
          </a:xfrm>
          <a:prstGeom prst="rect">
            <a:avLst/>
          </a:prstGeom>
          <a:noFill/>
        </p:spPr>
        <p:txBody>
          <a:bodyPr wrap="square" rtlCol="0">
            <a:spAutoFit/>
          </a:bodyPr>
          <a:lstStyle/>
          <a:p>
            <a:r>
              <a:rPr lang="nl-NL" dirty="0" smtClean="0">
                <a:solidFill>
                  <a:srgbClr val="C00000"/>
                </a:solidFill>
              </a:rPr>
              <a:t>Ik weet dat </a:t>
            </a:r>
            <a:r>
              <a:rPr lang="nl-NL" dirty="0" smtClean="0">
                <a:solidFill>
                  <a:srgbClr val="00B050"/>
                </a:solidFill>
              </a:rPr>
              <a:t>Nederland in Europa ligt</a:t>
            </a:r>
            <a:endParaRPr lang="nl-NL" dirty="0">
              <a:solidFill>
                <a:srgbClr val="00B050"/>
              </a:solidFill>
            </a:endParaRPr>
          </a:p>
        </p:txBody>
      </p:sp>
      <p:sp>
        <p:nvSpPr>
          <p:cNvPr id="6" name="TextBox 5"/>
          <p:cNvSpPr txBox="1"/>
          <p:nvPr/>
        </p:nvSpPr>
        <p:spPr>
          <a:xfrm>
            <a:off x="467544" y="3356992"/>
            <a:ext cx="7632848" cy="646331"/>
          </a:xfrm>
          <a:prstGeom prst="rect">
            <a:avLst/>
          </a:prstGeom>
          <a:noFill/>
        </p:spPr>
        <p:txBody>
          <a:bodyPr wrap="square" rtlCol="0">
            <a:spAutoFit/>
          </a:bodyPr>
          <a:lstStyle/>
          <a:p>
            <a:r>
              <a:rPr lang="nl-NL" dirty="0" smtClean="0"/>
              <a:t>Ja, de semantische waarde van de expressie wordt in beide voorbeelden             netjes bepaald door de semantische waarde van de deelexpressies</a:t>
            </a:r>
            <a:endParaRPr lang="nl-NL" dirty="0"/>
          </a:p>
        </p:txBody>
      </p:sp>
      <p:sp>
        <p:nvSpPr>
          <p:cNvPr id="7" name="Content Placeholder 2"/>
          <p:cNvSpPr txBox="1">
            <a:spLocks/>
          </p:cNvSpPr>
          <p:nvPr/>
        </p:nvSpPr>
        <p:spPr>
          <a:xfrm>
            <a:off x="467544" y="4336505"/>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Zijn deze uitbreidingen nog steeds </a:t>
            </a:r>
            <a:r>
              <a:rPr lang="nl-NL" sz="2000" noProof="0" dirty="0" err="1" smtClean="0"/>
              <a:t>extensioneel</a:t>
            </a:r>
            <a:r>
              <a:rPr lang="nl-NL" sz="2000" noProof="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TextBox 9"/>
          <p:cNvSpPr txBox="1"/>
          <p:nvPr/>
        </p:nvSpPr>
        <p:spPr>
          <a:xfrm>
            <a:off x="467544" y="4941168"/>
            <a:ext cx="4392488" cy="369332"/>
          </a:xfrm>
          <a:prstGeom prst="rect">
            <a:avLst/>
          </a:prstGeom>
          <a:noFill/>
        </p:spPr>
        <p:txBody>
          <a:bodyPr wrap="square" rtlCol="0">
            <a:spAutoFit/>
          </a:bodyPr>
          <a:lstStyle/>
          <a:p>
            <a:r>
              <a:rPr lang="nl-NL" dirty="0" smtClean="0"/>
              <a:t>Het is noodzakelijk dat 1 plus 1 gelijk is aan 2</a:t>
            </a:r>
            <a:endParaRPr lang="nl-NL" dirty="0"/>
          </a:p>
        </p:txBody>
      </p:sp>
      <p:sp>
        <p:nvSpPr>
          <p:cNvPr id="11" name="TextBox 10"/>
          <p:cNvSpPr txBox="1"/>
          <p:nvPr/>
        </p:nvSpPr>
        <p:spPr>
          <a:xfrm>
            <a:off x="467544" y="5291916"/>
            <a:ext cx="3960440" cy="369332"/>
          </a:xfrm>
          <a:prstGeom prst="rect">
            <a:avLst/>
          </a:prstGeom>
          <a:noFill/>
        </p:spPr>
        <p:txBody>
          <a:bodyPr wrap="square" rtlCol="0">
            <a:spAutoFit/>
          </a:bodyPr>
          <a:lstStyle/>
          <a:p>
            <a:r>
              <a:rPr lang="nl-NL" dirty="0" smtClean="0"/>
              <a:t>Parijs is de hoofdstad van Frankrijk</a:t>
            </a:r>
            <a:endParaRPr lang="nl-NL" dirty="0"/>
          </a:p>
        </p:txBody>
      </p:sp>
      <p:sp>
        <p:nvSpPr>
          <p:cNvPr id="12" name="TextBox 11"/>
          <p:cNvSpPr txBox="1"/>
          <p:nvPr/>
        </p:nvSpPr>
        <p:spPr>
          <a:xfrm>
            <a:off x="467544" y="5651956"/>
            <a:ext cx="5760640" cy="369332"/>
          </a:xfrm>
          <a:prstGeom prst="rect">
            <a:avLst/>
          </a:prstGeom>
          <a:noFill/>
        </p:spPr>
        <p:txBody>
          <a:bodyPr wrap="square" rtlCol="0">
            <a:spAutoFit/>
          </a:bodyPr>
          <a:lstStyle/>
          <a:p>
            <a:r>
              <a:rPr lang="nl-NL" dirty="0" smtClean="0"/>
              <a:t>Het is noodzakelijk dat Parijs de hoofdstad van Frankrijk is</a:t>
            </a:r>
            <a:endParaRPr lang="nl-NL" dirty="0"/>
          </a:p>
        </p:txBody>
      </p:sp>
      <p:sp>
        <p:nvSpPr>
          <p:cNvPr id="13" name="TextBox 12"/>
          <p:cNvSpPr txBox="1"/>
          <p:nvPr/>
        </p:nvSpPr>
        <p:spPr>
          <a:xfrm>
            <a:off x="5004048" y="4931876"/>
            <a:ext cx="1296144" cy="369332"/>
          </a:xfrm>
          <a:prstGeom prst="rect">
            <a:avLst/>
          </a:prstGeom>
          <a:noFill/>
        </p:spPr>
        <p:txBody>
          <a:bodyPr wrap="square" rtlCol="0">
            <a:spAutoFit/>
          </a:bodyPr>
          <a:lstStyle/>
          <a:p>
            <a:r>
              <a:rPr lang="nl-NL" i="1" dirty="0" smtClean="0"/>
              <a:t>Waar</a:t>
            </a:r>
            <a:endParaRPr lang="nl-NL" i="1" dirty="0"/>
          </a:p>
        </p:txBody>
      </p:sp>
      <p:sp>
        <p:nvSpPr>
          <p:cNvPr id="15" name="TextBox 14"/>
          <p:cNvSpPr txBox="1"/>
          <p:nvPr/>
        </p:nvSpPr>
        <p:spPr>
          <a:xfrm>
            <a:off x="3923928" y="5291916"/>
            <a:ext cx="1296144" cy="369332"/>
          </a:xfrm>
          <a:prstGeom prst="rect">
            <a:avLst/>
          </a:prstGeom>
          <a:noFill/>
        </p:spPr>
        <p:txBody>
          <a:bodyPr wrap="square" rtlCol="0">
            <a:spAutoFit/>
          </a:bodyPr>
          <a:lstStyle/>
          <a:p>
            <a:r>
              <a:rPr lang="nl-NL" i="1" dirty="0" smtClean="0"/>
              <a:t>Waar</a:t>
            </a:r>
            <a:endParaRPr lang="nl-NL" i="1" dirty="0"/>
          </a:p>
        </p:txBody>
      </p:sp>
      <p:sp>
        <p:nvSpPr>
          <p:cNvPr id="16" name="TextBox 15"/>
          <p:cNvSpPr txBox="1"/>
          <p:nvPr/>
        </p:nvSpPr>
        <p:spPr>
          <a:xfrm>
            <a:off x="6156176" y="5651956"/>
            <a:ext cx="1296144" cy="369332"/>
          </a:xfrm>
          <a:prstGeom prst="rect">
            <a:avLst/>
          </a:prstGeom>
          <a:noFill/>
        </p:spPr>
        <p:txBody>
          <a:bodyPr wrap="square" rtlCol="0">
            <a:spAutoFit/>
          </a:bodyPr>
          <a:lstStyle/>
          <a:p>
            <a:r>
              <a:rPr lang="nl-NL" i="1" dirty="0" smtClean="0"/>
              <a:t>Onwaar!</a:t>
            </a:r>
            <a:endParaRPr lang="nl-NL" i="1" dirty="0"/>
          </a:p>
        </p:txBody>
      </p:sp>
      <p:sp>
        <p:nvSpPr>
          <p:cNvPr id="17" name="TextBox 16"/>
          <p:cNvSpPr txBox="1"/>
          <p:nvPr/>
        </p:nvSpPr>
        <p:spPr>
          <a:xfrm>
            <a:off x="467544" y="6239053"/>
            <a:ext cx="7632848" cy="369332"/>
          </a:xfrm>
          <a:prstGeom prst="rect">
            <a:avLst/>
          </a:prstGeom>
          <a:noFill/>
        </p:spPr>
        <p:txBody>
          <a:bodyPr wrap="square" rtlCol="0">
            <a:spAutoFit/>
          </a:bodyPr>
          <a:lstStyle/>
          <a:p>
            <a:r>
              <a:rPr lang="nl-NL" dirty="0" smtClean="0"/>
              <a:t>Principe 1 wordt hier dus geschonden.</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fade">
                                      <p:cBhvr>
                                        <p:cTn id="22" dur="20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xEl>
                                              <p:pRg st="0" end="0"/>
                                            </p:txEl>
                                          </p:spTgt>
                                        </p:tgtEl>
                                        <p:attrNameLst>
                                          <p:attrName>style.visibility</p:attrName>
                                        </p:attrNameLst>
                                      </p:cBhvr>
                                      <p:to>
                                        <p:strVal val="visible"/>
                                      </p:to>
                                    </p:set>
                                    <p:animEffect transition="in" filter="fade">
                                      <p:cBhvr>
                                        <p:cTn id="27" dur="2000"/>
                                        <p:tgtEl>
                                          <p:spTgt spid="11">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xEl>
                                              <p:pRg st="0" end="0"/>
                                            </p:txEl>
                                          </p:spTgt>
                                        </p:tgtEl>
                                        <p:attrNameLst>
                                          <p:attrName>style.visibility</p:attrName>
                                        </p:attrNameLst>
                                      </p:cBhvr>
                                      <p:to>
                                        <p:strVal val="visible"/>
                                      </p:to>
                                    </p:set>
                                    <p:animEffect transition="in" filter="fade">
                                      <p:cBhvr>
                                        <p:cTn id="32" dur="2000"/>
                                        <p:tgtEl>
                                          <p:spTgt spid="1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fade">
                                      <p:cBhvr>
                                        <p:cTn id="37" dur="2000"/>
                                        <p:tgtEl>
                                          <p:spTgt spid="1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xEl>
                                              <p:pRg st="0" end="0"/>
                                            </p:txEl>
                                          </p:spTgt>
                                        </p:tgtEl>
                                        <p:attrNameLst>
                                          <p:attrName>style.visibility</p:attrName>
                                        </p:attrNameLst>
                                      </p:cBhvr>
                                      <p:to>
                                        <p:strVal val="visible"/>
                                      </p:to>
                                    </p:set>
                                    <p:animEffect transition="in" filter="fade">
                                      <p:cBhvr>
                                        <p:cTn id="42" dur="2000"/>
                                        <p:tgtEl>
                                          <p:spTgt spid="1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xEl>
                                              <p:pRg st="0" end="0"/>
                                            </p:txEl>
                                          </p:spTgt>
                                        </p:tgtEl>
                                        <p:attrNameLst>
                                          <p:attrName>style.visibility</p:attrName>
                                        </p:attrNameLst>
                                      </p:cBhvr>
                                      <p:to>
                                        <p:strVal val="visible"/>
                                      </p:to>
                                    </p:set>
                                    <p:animEffect transition="in" filter="fade">
                                      <p:cBhvr>
                                        <p:cTn id="47" dur="2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7" grpId="0" build="allAtOnce"/>
      <p:bldP spid="10" grpId="0" build="allAtOnce"/>
      <p:bldP spid="11" grpId="0" build="allAtOnce"/>
      <p:bldP spid="12" grpId="0" build="allAtOnce"/>
      <p:bldP spid="13" grpId="0" build="allAtOnce"/>
      <p:bldP spid="15" grpId="0" build="allAtOnce"/>
      <p:bldP spid="16" grpId="0" build="allAtOnce"/>
      <p:bldP spid="17" grpId="0" build="allAtOnce"/>
    </p:bldLst>
  </p:timing>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Voldoen deze uitbreidingen nog steeds aan het compositiebeginsel?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Box 13"/>
          <p:cNvSpPr txBox="1"/>
          <p:nvPr/>
        </p:nvSpPr>
        <p:spPr>
          <a:xfrm>
            <a:off x="467544" y="2132856"/>
            <a:ext cx="4752528" cy="369332"/>
          </a:xfrm>
          <a:prstGeom prst="rect">
            <a:avLst/>
          </a:prstGeom>
          <a:noFill/>
        </p:spPr>
        <p:txBody>
          <a:bodyPr wrap="square" rtlCol="0">
            <a:spAutoFit/>
          </a:bodyPr>
          <a:lstStyle/>
          <a:p>
            <a:r>
              <a:rPr lang="nl-NL" dirty="0" smtClean="0">
                <a:solidFill>
                  <a:srgbClr val="C00000"/>
                </a:solidFill>
              </a:rPr>
              <a:t>Het is noodzakelijk dat </a:t>
            </a:r>
            <a:r>
              <a:rPr lang="nl-NL" dirty="0" smtClean="0">
                <a:solidFill>
                  <a:srgbClr val="00B050"/>
                </a:solidFill>
              </a:rPr>
              <a:t>1 plus 1 gelijk is aan 2</a:t>
            </a:r>
            <a:endParaRPr lang="nl-NL" dirty="0">
              <a:solidFill>
                <a:srgbClr val="00B050"/>
              </a:solidFill>
            </a:endParaRPr>
          </a:p>
        </p:txBody>
      </p:sp>
      <p:sp>
        <p:nvSpPr>
          <p:cNvPr id="25" name="TextBox 24"/>
          <p:cNvSpPr txBox="1"/>
          <p:nvPr/>
        </p:nvSpPr>
        <p:spPr>
          <a:xfrm>
            <a:off x="467544" y="2699628"/>
            <a:ext cx="4752528" cy="369332"/>
          </a:xfrm>
          <a:prstGeom prst="rect">
            <a:avLst/>
          </a:prstGeom>
          <a:noFill/>
        </p:spPr>
        <p:txBody>
          <a:bodyPr wrap="square" rtlCol="0">
            <a:spAutoFit/>
          </a:bodyPr>
          <a:lstStyle/>
          <a:p>
            <a:r>
              <a:rPr lang="nl-NL" dirty="0" smtClean="0">
                <a:solidFill>
                  <a:srgbClr val="C00000"/>
                </a:solidFill>
              </a:rPr>
              <a:t>Ik weet dat </a:t>
            </a:r>
            <a:r>
              <a:rPr lang="nl-NL" dirty="0" smtClean="0">
                <a:solidFill>
                  <a:srgbClr val="00B050"/>
                </a:solidFill>
              </a:rPr>
              <a:t>Nederland in Europa ligt</a:t>
            </a:r>
            <a:endParaRPr lang="nl-NL" dirty="0">
              <a:solidFill>
                <a:srgbClr val="00B050"/>
              </a:solidFill>
            </a:endParaRPr>
          </a:p>
        </p:txBody>
      </p:sp>
      <p:sp>
        <p:nvSpPr>
          <p:cNvPr id="6" name="TextBox 5"/>
          <p:cNvSpPr txBox="1"/>
          <p:nvPr/>
        </p:nvSpPr>
        <p:spPr>
          <a:xfrm>
            <a:off x="467544" y="3356992"/>
            <a:ext cx="7632848" cy="646331"/>
          </a:xfrm>
          <a:prstGeom prst="rect">
            <a:avLst/>
          </a:prstGeom>
          <a:noFill/>
        </p:spPr>
        <p:txBody>
          <a:bodyPr wrap="square" rtlCol="0">
            <a:spAutoFit/>
          </a:bodyPr>
          <a:lstStyle/>
          <a:p>
            <a:r>
              <a:rPr lang="nl-NL" dirty="0" smtClean="0"/>
              <a:t>Ja, de semantische waarde van de expressie wordt in beide voorbeelden         netjes bepaald door de semantische waarde van de deelexpressies</a:t>
            </a:r>
            <a:endParaRPr lang="nl-NL" dirty="0"/>
          </a:p>
        </p:txBody>
      </p:sp>
      <p:sp>
        <p:nvSpPr>
          <p:cNvPr id="7" name="Content Placeholder 2"/>
          <p:cNvSpPr txBox="1">
            <a:spLocks/>
          </p:cNvSpPr>
          <p:nvPr/>
        </p:nvSpPr>
        <p:spPr>
          <a:xfrm>
            <a:off x="467544" y="4336505"/>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Zijn deze uitbreidingen nog steeds </a:t>
            </a:r>
            <a:r>
              <a:rPr lang="nl-NL" sz="2000" noProof="0" dirty="0" err="1" smtClean="0"/>
              <a:t>extensioneel</a:t>
            </a:r>
            <a:r>
              <a:rPr lang="nl-NL" sz="2000" noProof="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TextBox 9"/>
          <p:cNvSpPr txBox="1"/>
          <p:nvPr/>
        </p:nvSpPr>
        <p:spPr>
          <a:xfrm>
            <a:off x="467544" y="4941168"/>
            <a:ext cx="3744416" cy="369332"/>
          </a:xfrm>
          <a:prstGeom prst="rect">
            <a:avLst/>
          </a:prstGeom>
          <a:noFill/>
        </p:spPr>
        <p:txBody>
          <a:bodyPr wrap="square" rtlCol="0">
            <a:spAutoFit/>
          </a:bodyPr>
          <a:lstStyle/>
          <a:p>
            <a:r>
              <a:rPr lang="nl-NL" dirty="0" smtClean="0"/>
              <a:t>Ik weet dat Nederland in Europa ligt</a:t>
            </a:r>
            <a:endParaRPr lang="nl-NL" dirty="0"/>
          </a:p>
        </p:txBody>
      </p:sp>
      <p:sp>
        <p:nvSpPr>
          <p:cNvPr id="11" name="TextBox 10"/>
          <p:cNvSpPr txBox="1"/>
          <p:nvPr/>
        </p:nvSpPr>
        <p:spPr>
          <a:xfrm>
            <a:off x="467544" y="5291916"/>
            <a:ext cx="3240360" cy="369332"/>
          </a:xfrm>
          <a:prstGeom prst="rect">
            <a:avLst/>
          </a:prstGeom>
          <a:noFill/>
        </p:spPr>
        <p:txBody>
          <a:bodyPr wrap="square" rtlCol="0">
            <a:spAutoFit/>
          </a:bodyPr>
          <a:lstStyle/>
          <a:p>
            <a:r>
              <a:rPr lang="nl-NL" dirty="0" smtClean="0"/>
              <a:t>Riga is de hoofdstad van Letland</a:t>
            </a:r>
            <a:endParaRPr lang="nl-NL" dirty="0"/>
          </a:p>
        </p:txBody>
      </p:sp>
      <p:sp>
        <p:nvSpPr>
          <p:cNvPr id="12" name="TextBox 11"/>
          <p:cNvSpPr txBox="1"/>
          <p:nvPr/>
        </p:nvSpPr>
        <p:spPr>
          <a:xfrm>
            <a:off x="467544" y="5651956"/>
            <a:ext cx="4464496" cy="369332"/>
          </a:xfrm>
          <a:prstGeom prst="rect">
            <a:avLst/>
          </a:prstGeom>
          <a:noFill/>
        </p:spPr>
        <p:txBody>
          <a:bodyPr wrap="square" rtlCol="0">
            <a:spAutoFit/>
          </a:bodyPr>
          <a:lstStyle/>
          <a:p>
            <a:r>
              <a:rPr lang="nl-NL" dirty="0" smtClean="0"/>
              <a:t>Ik weet dat Riga de hoofdstad van Letland is </a:t>
            </a:r>
            <a:endParaRPr lang="nl-NL" dirty="0"/>
          </a:p>
        </p:txBody>
      </p:sp>
      <p:sp>
        <p:nvSpPr>
          <p:cNvPr id="13" name="TextBox 12"/>
          <p:cNvSpPr txBox="1"/>
          <p:nvPr/>
        </p:nvSpPr>
        <p:spPr>
          <a:xfrm>
            <a:off x="5004048" y="4931876"/>
            <a:ext cx="1296144" cy="369332"/>
          </a:xfrm>
          <a:prstGeom prst="rect">
            <a:avLst/>
          </a:prstGeom>
          <a:noFill/>
        </p:spPr>
        <p:txBody>
          <a:bodyPr wrap="square" rtlCol="0">
            <a:spAutoFit/>
          </a:bodyPr>
          <a:lstStyle/>
          <a:p>
            <a:r>
              <a:rPr lang="nl-NL" i="1" dirty="0" smtClean="0"/>
              <a:t>Waar</a:t>
            </a:r>
            <a:endParaRPr lang="nl-NL" i="1" dirty="0"/>
          </a:p>
        </p:txBody>
      </p:sp>
      <p:sp>
        <p:nvSpPr>
          <p:cNvPr id="16" name="TextBox 15"/>
          <p:cNvSpPr txBox="1"/>
          <p:nvPr/>
        </p:nvSpPr>
        <p:spPr>
          <a:xfrm>
            <a:off x="4932040" y="5651956"/>
            <a:ext cx="1296144" cy="369332"/>
          </a:xfrm>
          <a:prstGeom prst="rect">
            <a:avLst/>
          </a:prstGeom>
          <a:noFill/>
        </p:spPr>
        <p:txBody>
          <a:bodyPr wrap="square" rtlCol="0">
            <a:spAutoFit/>
          </a:bodyPr>
          <a:lstStyle/>
          <a:p>
            <a:r>
              <a:rPr lang="nl-NL" i="1" dirty="0" smtClean="0"/>
              <a:t>Onwaar!</a:t>
            </a:r>
            <a:endParaRPr lang="nl-NL" i="1" dirty="0"/>
          </a:p>
        </p:txBody>
      </p:sp>
      <p:sp>
        <p:nvSpPr>
          <p:cNvPr id="17" name="TextBox 16"/>
          <p:cNvSpPr txBox="1"/>
          <p:nvPr/>
        </p:nvSpPr>
        <p:spPr>
          <a:xfrm>
            <a:off x="467544" y="6239053"/>
            <a:ext cx="7632848" cy="369332"/>
          </a:xfrm>
          <a:prstGeom prst="rect">
            <a:avLst/>
          </a:prstGeom>
          <a:noFill/>
        </p:spPr>
        <p:txBody>
          <a:bodyPr wrap="square" rtlCol="0">
            <a:spAutoFit/>
          </a:bodyPr>
          <a:lstStyle/>
          <a:p>
            <a:r>
              <a:rPr lang="nl-NL" dirty="0" smtClean="0"/>
              <a:t>Principe 1 wordt hier wederom geschonden</a:t>
            </a:r>
            <a:endParaRPr lang="nl-NL" dirty="0"/>
          </a:p>
        </p:txBody>
      </p:sp>
      <p:sp>
        <p:nvSpPr>
          <p:cNvPr id="18" name="TextBox 17"/>
          <p:cNvSpPr txBox="1"/>
          <p:nvPr/>
        </p:nvSpPr>
        <p:spPr>
          <a:xfrm>
            <a:off x="3851920" y="5291916"/>
            <a:ext cx="1296144" cy="369332"/>
          </a:xfrm>
          <a:prstGeom prst="rect">
            <a:avLst/>
          </a:prstGeom>
          <a:noFill/>
        </p:spPr>
        <p:txBody>
          <a:bodyPr wrap="square" rtlCol="0">
            <a:spAutoFit/>
          </a:bodyPr>
          <a:lstStyle/>
          <a:p>
            <a:r>
              <a:rPr lang="nl-NL" i="1" dirty="0" smtClean="0"/>
              <a:t>Waar</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2000"/>
                                        <p:tgtEl>
                                          <p:spTgt spid="1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20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fade">
                                      <p:cBhvr>
                                        <p:cTn id="22" dur="20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fade">
                                      <p:cBhvr>
                                        <p:cTn id="27" dur="2000"/>
                                        <p:tgtEl>
                                          <p:spTgt spid="1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xEl>
                                              <p:pRg st="0" end="0"/>
                                            </p:txEl>
                                          </p:spTgt>
                                        </p:tgtEl>
                                        <p:attrNameLst>
                                          <p:attrName>style.visibility</p:attrName>
                                        </p:attrNameLst>
                                      </p:cBhvr>
                                      <p:to>
                                        <p:strVal val="visible"/>
                                      </p:to>
                                    </p:set>
                                    <p:animEffect transition="in" filter="fade">
                                      <p:cBhvr>
                                        <p:cTn id="32" dur="2000"/>
                                        <p:tgtEl>
                                          <p:spTgt spid="1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xEl>
                                              <p:pRg st="0" end="0"/>
                                            </p:txEl>
                                          </p:spTgt>
                                        </p:tgtEl>
                                        <p:attrNameLst>
                                          <p:attrName>style.visibility</p:attrName>
                                        </p:attrNameLst>
                                      </p:cBhvr>
                                      <p:to>
                                        <p:strVal val="visible"/>
                                      </p:to>
                                    </p:set>
                                    <p:animEffect transition="in" filter="fade">
                                      <p:cBhvr>
                                        <p:cTn id="37" dur="2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13" grpId="0" build="allAtOnce"/>
      <p:bldP spid="16" grpId="0" build="allAtOnce"/>
      <p:bldP spid="17" grpId="0" build="allAtOnce"/>
      <p:bldP spid="18" grpId="0" build="allAtOnce"/>
    </p:bldLst>
  </p:timing>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Voldoen deze uitbreidingen nog steeds aan het compositiebeginsel?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TextBox 13"/>
          <p:cNvSpPr txBox="1"/>
          <p:nvPr/>
        </p:nvSpPr>
        <p:spPr>
          <a:xfrm>
            <a:off x="467544" y="2132856"/>
            <a:ext cx="4752528" cy="369332"/>
          </a:xfrm>
          <a:prstGeom prst="rect">
            <a:avLst/>
          </a:prstGeom>
          <a:noFill/>
        </p:spPr>
        <p:txBody>
          <a:bodyPr wrap="square" rtlCol="0">
            <a:spAutoFit/>
          </a:bodyPr>
          <a:lstStyle/>
          <a:p>
            <a:r>
              <a:rPr lang="nl-NL" dirty="0" smtClean="0">
                <a:solidFill>
                  <a:srgbClr val="C00000"/>
                </a:solidFill>
              </a:rPr>
              <a:t>Het is noodzakelijk dat </a:t>
            </a:r>
            <a:r>
              <a:rPr lang="nl-NL" dirty="0" smtClean="0">
                <a:solidFill>
                  <a:srgbClr val="00B050"/>
                </a:solidFill>
              </a:rPr>
              <a:t>1 plus 1 gelijk is aan 2</a:t>
            </a:r>
            <a:endParaRPr lang="nl-NL" dirty="0">
              <a:solidFill>
                <a:srgbClr val="00B050"/>
              </a:solidFill>
            </a:endParaRPr>
          </a:p>
        </p:txBody>
      </p:sp>
      <p:sp>
        <p:nvSpPr>
          <p:cNvPr id="25" name="TextBox 24"/>
          <p:cNvSpPr txBox="1"/>
          <p:nvPr/>
        </p:nvSpPr>
        <p:spPr>
          <a:xfrm>
            <a:off x="467544" y="2699628"/>
            <a:ext cx="4752528" cy="369332"/>
          </a:xfrm>
          <a:prstGeom prst="rect">
            <a:avLst/>
          </a:prstGeom>
          <a:noFill/>
        </p:spPr>
        <p:txBody>
          <a:bodyPr wrap="square" rtlCol="0">
            <a:spAutoFit/>
          </a:bodyPr>
          <a:lstStyle/>
          <a:p>
            <a:r>
              <a:rPr lang="nl-NL" dirty="0" smtClean="0">
                <a:solidFill>
                  <a:srgbClr val="C00000"/>
                </a:solidFill>
              </a:rPr>
              <a:t>Ik weet dat </a:t>
            </a:r>
            <a:r>
              <a:rPr lang="nl-NL" dirty="0" smtClean="0">
                <a:solidFill>
                  <a:srgbClr val="00B050"/>
                </a:solidFill>
              </a:rPr>
              <a:t>Nederland in Europa ligt</a:t>
            </a:r>
            <a:endParaRPr lang="nl-NL" dirty="0">
              <a:solidFill>
                <a:srgbClr val="00B050"/>
              </a:solidFill>
            </a:endParaRPr>
          </a:p>
        </p:txBody>
      </p:sp>
      <p:sp>
        <p:nvSpPr>
          <p:cNvPr id="6" name="TextBox 5"/>
          <p:cNvSpPr txBox="1"/>
          <p:nvPr/>
        </p:nvSpPr>
        <p:spPr>
          <a:xfrm>
            <a:off x="467544" y="3356992"/>
            <a:ext cx="7632848" cy="646331"/>
          </a:xfrm>
          <a:prstGeom prst="rect">
            <a:avLst/>
          </a:prstGeom>
          <a:noFill/>
        </p:spPr>
        <p:txBody>
          <a:bodyPr wrap="square" rtlCol="0">
            <a:spAutoFit/>
          </a:bodyPr>
          <a:lstStyle/>
          <a:p>
            <a:r>
              <a:rPr lang="nl-NL" dirty="0" smtClean="0"/>
              <a:t>Ja, de semantische waarde van de expressie wordt in beide voorbeelden        netjes bepaald door de semantische waarde van de deelexpressies</a:t>
            </a:r>
            <a:endParaRPr lang="nl-NL" dirty="0"/>
          </a:p>
        </p:txBody>
      </p:sp>
      <p:sp>
        <p:nvSpPr>
          <p:cNvPr id="7" name="Content Placeholder 2"/>
          <p:cNvSpPr txBox="1">
            <a:spLocks/>
          </p:cNvSpPr>
          <p:nvPr/>
        </p:nvSpPr>
        <p:spPr>
          <a:xfrm>
            <a:off x="467544" y="4336505"/>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Zijn deze uitbreidingen nog steeds </a:t>
            </a:r>
            <a:r>
              <a:rPr lang="nl-NL" sz="2000" noProof="0" dirty="0" err="1" smtClean="0"/>
              <a:t>extensioneel</a:t>
            </a:r>
            <a:r>
              <a:rPr lang="nl-NL" sz="2000" noProof="0" dirty="0" smtClean="0"/>
              <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TextBox 9"/>
          <p:cNvSpPr txBox="1"/>
          <p:nvPr/>
        </p:nvSpPr>
        <p:spPr>
          <a:xfrm>
            <a:off x="467544" y="4941168"/>
            <a:ext cx="5760640" cy="369332"/>
          </a:xfrm>
          <a:prstGeom prst="rect">
            <a:avLst/>
          </a:prstGeom>
          <a:noFill/>
        </p:spPr>
        <p:txBody>
          <a:bodyPr wrap="square" rtlCol="0">
            <a:spAutoFit/>
          </a:bodyPr>
          <a:lstStyle/>
          <a:p>
            <a:r>
              <a:rPr lang="nl-NL" dirty="0" smtClean="0"/>
              <a:t>Het aantal universiteiten in Amsterdam is noodzakelijk even</a:t>
            </a:r>
            <a:endParaRPr lang="nl-NL" dirty="0"/>
          </a:p>
        </p:txBody>
      </p:sp>
      <p:sp>
        <p:nvSpPr>
          <p:cNvPr id="11" name="TextBox 10"/>
          <p:cNvSpPr txBox="1"/>
          <p:nvPr/>
        </p:nvSpPr>
        <p:spPr>
          <a:xfrm>
            <a:off x="467544" y="5291916"/>
            <a:ext cx="2376264" cy="369332"/>
          </a:xfrm>
          <a:prstGeom prst="rect">
            <a:avLst/>
          </a:prstGeom>
          <a:noFill/>
        </p:spPr>
        <p:txBody>
          <a:bodyPr wrap="square" rtlCol="0">
            <a:spAutoFit/>
          </a:bodyPr>
          <a:lstStyle/>
          <a:p>
            <a:r>
              <a:rPr lang="nl-NL" dirty="0" smtClean="0"/>
              <a:t>2 is noodzakelijk even</a:t>
            </a:r>
            <a:endParaRPr lang="nl-NL" dirty="0"/>
          </a:p>
        </p:txBody>
      </p:sp>
      <p:sp>
        <p:nvSpPr>
          <p:cNvPr id="17" name="TextBox 16"/>
          <p:cNvSpPr txBox="1"/>
          <p:nvPr/>
        </p:nvSpPr>
        <p:spPr>
          <a:xfrm>
            <a:off x="467544" y="5877272"/>
            <a:ext cx="7632848" cy="369332"/>
          </a:xfrm>
          <a:prstGeom prst="rect">
            <a:avLst/>
          </a:prstGeom>
          <a:noFill/>
        </p:spPr>
        <p:txBody>
          <a:bodyPr wrap="square" rtlCol="0">
            <a:spAutoFit/>
          </a:bodyPr>
          <a:lstStyle/>
          <a:p>
            <a:r>
              <a:rPr lang="nl-NL" dirty="0" smtClean="0"/>
              <a:t>Principe 2 wordt hier geschonden. </a:t>
            </a:r>
            <a:endParaRPr lang="nl-NL" dirty="0"/>
          </a:p>
        </p:txBody>
      </p:sp>
      <p:sp>
        <p:nvSpPr>
          <p:cNvPr id="18" name="TextBox 17"/>
          <p:cNvSpPr txBox="1"/>
          <p:nvPr/>
        </p:nvSpPr>
        <p:spPr>
          <a:xfrm>
            <a:off x="2843808" y="5291916"/>
            <a:ext cx="1296144" cy="369332"/>
          </a:xfrm>
          <a:prstGeom prst="rect">
            <a:avLst/>
          </a:prstGeom>
          <a:noFill/>
        </p:spPr>
        <p:txBody>
          <a:bodyPr wrap="square" rtlCol="0">
            <a:spAutoFit/>
          </a:bodyPr>
          <a:lstStyle/>
          <a:p>
            <a:r>
              <a:rPr lang="nl-NL" i="1" dirty="0" smtClean="0"/>
              <a:t>Waar!</a:t>
            </a:r>
            <a:endParaRPr lang="nl-NL" i="1" dirty="0"/>
          </a:p>
        </p:txBody>
      </p:sp>
      <p:sp>
        <p:nvSpPr>
          <p:cNvPr id="19" name="TextBox 18"/>
          <p:cNvSpPr txBox="1"/>
          <p:nvPr/>
        </p:nvSpPr>
        <p:spPr>
          <a:xfrm>
            <a:off x="6300192" y="4931876"/>
            <a:ext cx="1296144" cy="369332"/>
          </a:xfrm>
          <a:prstGeom prst="rect">
            <a:avLst/>
          </a:prstGeom>
          <a:noFill/>
        </p:spPr>
        <p:txBody>
          <a:bodyPr wrap="square" rtlCol="0">
            <a:spAutoFit/>
          </a:bodyPr>
          <a:lstStyle/>
          <a:p>
            <a:r>
              <a:rPr lang="nl-NL" i="1" dirty="0" smtClean="0"/>
              <a:t>Onwaar</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2000"/>
                                        <p:tgtEl>
                                          <p:spTgt spid="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20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fade">
                                      <p:cBhvr>
                                        <p:cTn id="22" dur="20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xEl>
                                              <p:pRg st="0" end="0"/>
                                            </p:txEl>
                                          </p:spTgt>
                                        </p:tgtEl>
                                        <p:attrNameLst>
                                          <p:attrName>style.visibility</p:attrName>
                                        </p:attrNameLst>
                                      </p:cBhvr>
                                      <p:to>
                                        <p:strVal val="visible"/>
                                      </p:to>
                                    </p:set>
                                    <p:animEffect transition="in" filter="fade">
                                      <p:cBhvr>
                                        <p:cTn id="27" dur="20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7" grpId="0" build="allAtOnce"/>
      <p:bldP spid="18" grpId="0" build="allAtOnce"/>
      <p:bldP spid="19" grpId="0" build="allAtOnce"/>
    </p:bldLst>
  </p:timing>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err="1" smtClean="0"/>
              <a:t>Intensionele</a:t>
            </a:r>
            <a:r>
              <a:rPr lang="nl-NL" sz="3600" dirty="0" smtClean="0"/>
              <a:t> 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drie gegeven voorbeelden laten zien dat deze uitbreidingen niet aan alle     drie principes voldoen. Maar dan zijn ze dus niet </a:t>
            </a:r>
            <a:r>
              <a:rPr lang="nl-NL" sz="2000" dirty="0" err="1" smtClean="0"/>
              <a:t>extensioneel</a:t>
            </a:r>
            <a:r>
              <a:rPr lang="nl-NL" sz="2000" dirty="0" smtClean="0"/>
              <a:t>. Waarom?</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Rectangle 17"/>
          <p:cNvSpPr/>
          <p:nvPr/>
        </p:nvSpPr>
        <p:spPr>
          <a:xfrm>
            <a:off x="485800" y="2276872"/>
            <a:ext cx="8262664" cy="1015663"/>
          </a:xfrm>
          <a:prstGeom prst="rect">
            <a:avLst/>
          </a:prstGeom>
        </p:spPr>
        <p:txBody>
          <a:bodyPr wrap="square">
            <a:spAutoFit/>
          </a:bodyPr>
          <a:lstStyle/>
          <a:p>
            <a:pPr marL="342900" lvl="0" indent="-342900">
              <a:spcBef>
                <a:spcPct val="20000"/>
              </a:spcBef>
              <a:buFont typeface="Arial" pitchFamily="34" charset="0"/>
              <a:buChar char="•"/>
              <a:defRPr/>
            </a:pPr>
            <a:r>
              <a:rPr lang="nl-NL" sz="2000" dirty="0" smtClean="0"/>
              <a:t>Als ze </a:t>
            </a:r>
            <a:r>
              <a:rPr lang="nl-NL" sz="2000" dirty="0" err="1" smtClean="0"/>
              <a:t>extensioneel</a:t>
            </a:r>
            <a:r>
              <a:rPr lang="nl-NL" sz="2000" dirty="0" smtClean="0"/>
              <a:t> zouden zijn, dan zouden ze (vanwege het feit dat ze  aan het compositiebeginsel voldoen) aan alle drie de principes voldaan moeten hebben. Maar dat doen ze niet. Ze zijn dus niet </a:t>
            </a:r>
            <a:r>
              <a:rPr lang="nl-NL" sz="2000" dirty="0" err="1" smtClean="0"/>
              <a:t>extensioneel</a:t>
            </a:r>
            <a:endParaRPr lang="nl-NL" sz="2000" dirty="0" smtClean="0"/>
          </a:p>
        </p:txBody>
      </p:sp>
      <p:sp>
        <p:nvSpPr>
          <p:cNvPr id="19" name="Rectangle 18"/>
          <p:cNvSpPr/>
          <p:nvPr/>
        </p:nvSpPr>
        <p:spPr>
          <a:xfrm>
            <a:off x="467544" y="3349441"/>
            <a:ext cx="8262664" cy="1015663"/>
          </a:xfrm>
          <a:prstGeom prst="rect">
            <a:avLst/>
          </a:prstGeom>
        </p:spPr>
        <p:txBody>
          <a:bodyPr wrap="square">
            <a:spAutoFit/>
          </a:bodyPr>
          <a:lstStyle/>
          <a:p>
            <a:pPr marL="342900" lvl="0" indent="-342900">
              <a:spcBef>
                <a:spcPct val="20000"/>
              </a:spcBef>
              <a:buFont typeface="Arial" pitchFamily="34" charset="0"/>
              <a:buChar char="•"/>
              <a:defRPr/>
            </a:pPr>
            <a:r>
              <a:rPr lang="nl-NL" sz="2000" dirty="0" smtClean="0"/>
              <a:t>Genoemde uitbreidingen worden daarom </a:t>
            </a:r>
            <a:r>
              <a:rPr lang="nl-NL" sz="2000" i="1" dirty="0" err="1" smtClean="0"/>
              <a:t>intensionele</a:t>
            </a:r>
            <a:r>
              <a:rPr lang="nl-NL" sz="2000" i="1" dirty="0" smtClean="0"/>
              <a:t> logica’s </a:t>
            </a:r>
            <a:r>
              <a:rPr lang="nl-NL" sz="2000" dirty="0" smtClean="0"/>
              <a:t>genoemd. En naast de drie gegeven voorbeelden (modaal, </a:t>
            </a:r>
            <a:r>
              <a:rPr lang="nl-NL" sz="2000" dirty="0" err="1" smtClean="0"/>
              <a:t>epistemisch</a:t>
            </a:r>
            <a:r>
              <a:rPr lang="nl-NL" sz="2000" dirty="0" smtClean="0"/>
              <a:t>, </a:t>
            </a:r>
            <a:r>
              <a:rPr lang="nl-NL" sz="2000" dirty="0" err="1" smtClean="0"/>
              <a:t>deontisch</a:t>
            </a:r>
            <a:r>
              <a:rPr lang="nl-NL" sz="2000" dirty="0" smtClean="0"/>
              <a:t>) zijn er nog veel meer </a:t>
            </a:r>
            <a:r>
              <a:rPr lang="nl-NL" sz="2000" dirty="0" err="1" smtClean="0"/>
              <a:t>intensionele</a:t>
            </a:r>
            <a:r>
              <a:rPr lang="nl-NL" sz="2000" dirty="0" smtClean="0"/>
              <a:t> logica’s mogelijk (zoals tijdslogica’s).</a:t>
            </a:r>
          </a:p>
        </p:txBody>
      </p:sp>
      <p:sp>
        <p:nvSpPr>
          <p:cNvPr id="25" name="Rectangle 24"/>
          <p:cNvSpPr/>
          <p:nvPr/>
        </p:nvSpPr>
        <p:spPr>
          <a:xfrm>
            <a:off x="467544" y="4469050"/>
            <a:ext cx="8262664" cy="400110"/>
          </a:xfrm>
          <a:prstGeom prst="rect">
            <a:avLst/>
          </a:prstGeom>
        </p:spPr>
        <p:txBody>
          <a:bodyPr wrap="square">
            <a:spAutoFit/>
          </a:bodyPr>
          <a:lstStyle/>
          <a:p>
            <a:pPr marL="342900" lvl="0" indent="-342900">
              <a:spcBef>
                <a:spcPct val="20000"/>
              </a:spcBef>
              <a:buFont typeface="Arial" pitchFamily="34" charset="0"/>
              <a:buChar char="•"/>
              <a:defRPr/>
            </a:pPr>
            <a:r>
              <a:rPr lang="nl-NL" sz="2000" dirty="0" smtClean="0"/>
              <a:t>In wat volgt zullen we de modale logica wat verder gaan uitwerken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2000"/>
                                        <p:tgtEl>
                                          <p:spTgt spid="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5">
                                            <p:txEl>
                                              <p:pRg st="0" end="0"/>
                                            </p:txEl>
                                          </p:spTgt>
                                        </p:tgtEl>
                                        <p:attrNameLst>
                                          <p:attrName>style.visibility</p:attrName>
                                        </p:attrNameLst>
                                      </p:cBhvr>
                                      <p:to>
                                        <p:strVal val="visible"/>
                                      </p:to>
                                    </p:set>
                                    <p:animEffect transition="in" filter="fade">
                                      <p:cBhvr>
                                        <p:cTn id="17"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9" grpId="0" build="allAtOnce"/>
      <p:bldP spid="25" grpId="0" build="allAtOnce"/>
    </p:bldLst>
  </p:timing>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propositie logica</a:t>
            </a:r>
            <a:endParaRPr lang="nl-NL" sz="3600" dirty="0"/>
          </a:p>
        </p:txBody>
      </p:sp>
      <p:sp>
        <p:nvSpPr>
          <p:cNvPr id="8" name="Content Placeholder 2"/>
          <p:cNvSpPr txBox="1">
            <a:spLocks/>
          </p:cNvSpPr>
          <p:nvPr/>
        </p:nvSpPr>
        <p:spPr>
          <a:xfrm>
            <a:off x="467544" y="1412776"/>
            <a:ext cx="8939336"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modale propositie logica wordt verkregen door aan de klassieke propositielogica twee nieuwe logische constanten toe te voegen: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dirty="0" smtClean="0"/>
          </a:p>
          <a:p>
            <a:pPr marL="342900" lvl="0" indent="-342900">
              <a:spcBef>
                <a:spcPct val="20000"/>
              </a:spcBef>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endParaRPr lang="nl-NL" sz="2000" dirty="0" smtClean="0"/>
          </a:p>
          <a:p>
            <a:pPr marL="342900" lvl="0" indent="-342900">
              <a:spcBef>
                <a:spcPct val="20000"/>
              </a:spcBef>
              <a:defRPr/>
            </a:pPr>
            <a:endParaRPr lang="nl-NL" sz="2000" dirty="0" smtClean="0"/>
          </a:p>
        </p:txBody>
      </p:sp>
      <p:sp>
        <p:nvSpPr>
          <p:cNvPr id="10" name="Rectangle 9"/>
          <p:cNvSpPr/>
          <p:nvPr/>
        </p:nvSpPr>
        <p:spPr>
          <a:xfrm>
            <a:off x="467544" y="2348880"/>
            <a:ext cx="5220072" cy="769441"/>
          </a:xfrm>
          <a:prstGeom prst="rect">
            <a:avLst/>
          </a:prstGeom>
        </p:spPr>
        <p:txBody>
          <a:bodyPr wrap="square">
            <a:spAutoFit/>
          </a:bodyPr>
          <a:lstStyle/>
          <a:p>
            <a:pPr marL="342900" lvl="0" indent="-342900">
              <a:spcBef>
                <a:spcPct val="20000"/>
              </a:spcBef>
              <a:defRPr/>
            </a:pPr>
            <a:r>
              <a:rPr lang="nl-NL" sz="2000" dirty="0" smtClean="0"/>
              <a:t>      </a:t>
            </a:r>
            <a:r>
              <a:rPr lang="nl-NL" sz="2000" dirty="0" smtClean="0">
                <a:solidFill>
                  <a:srgbClr val="0070C0"/>
                </a:solidFill>
              </a:rPr>
              <a:t>□P 	Het is noodzakelijk dat P</a:t>
            </a:r>
          </a:p>
          <a:p>
            <a:pPr marL="342900" lvl="0" indent="-342900">
              <a:spcBef>
                <a:spcPct val="20000"/>
              </a:spcBef>
              <a:defRPr/>
            </a:pPr>
            <a:r>
              <a:rPr lang="nl-NL" sz="2000" dirty="0" smtClean="0">
                <a:solidFill>
                  <a:srgbClr val="0070C0"/>
                </a:solidFill>
              </a:rPr>
              <a:t>	◊P	Het is mogelijk dat P</a:t>
            </a:r>
          </a:p>
        </p:txBody>
      </p:sp>
      <p:sp>
        <p:nvSpPr>
          <p:cNvPr id="11" name="Rectangle 10"/>
          <p:cNvSpPr/>
          <p:nvPr/>
        </p:nvSpPr>
        <p:spPr>
          <a:xfrm>
            <a:off x="827584" y="3356992"/>
            <a:ext cx="1864613"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2" name="Rectangle 11"/>
          <p:cNvSpPr/>
          <p:nvPr/>
        </p:nvSpPr>
        <p:spPr>
          <a:xfrm>
            <a:off x="827584" y="3789040"/>
            <a:ext cx="1864613"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3" name="Rectangle 12"/>
          <p:cNvSpPr/>
          <p:nvPr/>
        </p:nvSpPr>
        <p:spPr>
          <a:xfrm>
            <a:off x="810294" y="4253026"/>
            <a:ext cx="1962397"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4" name="Rectangle 13"/>
          <p:cNvSpPr/>
          <p:nvPr/>
        </p:nvSpPr>
        <p:spPr>
          <a:xfrm>
            <a:off x="798318" y="4725144"/>
            <a:ext cx="2769284" cy="400110"/>
          </a:xfrm>
          <a:prstGeom prst="rect">
            <a:avLst/>
          </a:prstGeom>
        </p:spPr>
        <p:txBody>
          <a:bodyPr wrap="none">
            <a:spAutoFit/>
          </a:bodyPr>
          <a:lstStyle/>
          <a:p>
            <a:pPr marL="342900" indent="-342900">
              <a:spcBef>
                <a:spcPct val="20000"/>
              </a:spcBef>
              <a:defRPr/>
            </a:pPr>
            <a:r>
              <a:rPr lang="nl-NL" sz="2000" dirty="0" smtClean="0"/>
              <a:t>□(P ∧ Q)   → □P ∧ □Q   ? </a:t>
            </a:r>
          </a:p>
        </p:txBody>
      </p:sp>
      <p:sp>
        <p:nvSpPr>
          <p:cNvPr id="15" name="Rectangle 14"/>
          <p:cNvSpPr/>
          <p:nvPr/>
        </p:nvSpPr>
        <p:spPr>
          <a:xfrm>
            <a:off x="827584" y="5301208"/>
            <a:ext cx="1608133"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6" name="Rectangle 15"/>
          <p:cNvSpPr/>
          <p:nvPr/>
        </p:nvSpPr>
        <p:spPr>
          <a:xfrm>
            <a:off x="827584" y="5765194"/>
            <a:ext cx="1715534"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7" name="Rectangle 16"/>
          <p:cNvSpPr/>
          <p:nvPr/>
        </p:nvSpPr>
        <p:spPr>
          <a:xfrm>
            <a:off x="3923928" y="3284984"/>
            <a:ext cx="1787669"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20" name="Rectangle 19"/>
          <p:cNvSpPr/>
          <p:nvPr/>
        </p:nvSpPr>
        <p:spPr>
          <a:xfrm>
            <a:off x="3923928" y="3789040"/>
            <a:ext cx="1492716" cy="400110"/>
          </a:xfrm>
          <a:prstGeom prst="rect">
            <a:avLst/>
          </a:prstGeom>
        </p:spPr>
        <p:txBody>
          <a:bodyPr wrap="none">
            <a:spAutoFit/>
          </a:bodyPr>
          <a:lstStyle/>
          <a:p>
            <a:pPr marL="342900" indent="-342900">
              <a:spcBef>
                <a:spcPct val="20000"/>
              </a:spcBef>
              <a:defRPr/>
            </a:pPr>
            <a:r>
              <a:rPr lang="nl-NL" sz="2000" dirty="0" smtClean="0"/>
              <a:t>P  →  □◊P   ?</a:t>
            </a:r>
          </a:p>
        </p:txBody>
      </p:sp>
      <p:sp>
        <p:nvSpPr>
          <p:cNvPr id="21" name="TextBox 20"/>
          <p:cNvSpPr txBox="1"/>
          <p:nvPr/>
        </p:nvSpPr>
        <p:spPr>
          <a:xfrm>
            <a:off x="5220072" y="5192032"/>
            <a:ext cx="3744416" cy="1477328"/>
          </a:xfrm>
          <a:prstGeom prst="rect">
            <a:avLst/>
          </a:prstGeom>
          <a:noFill/>
        </p:spPr>
        <p:txBody>
          <a:bodyPr wrap="square" rtlCol="0">
            <a:spAutoFit/>
          </a:bodyPr>
          <a:lstStyle/>
          <a:p>
            <a:r>
              <a:rPr lang="nl-NL" dirty="0" smtClean="0"/>
              <a:t>Intuïties verschillen voor een aantal van deze voorbeelden sterk. Wellicht lopen er verschillende noties van noodzakelijk en mogelijk door elkaar heen: logisch, fysisch en </a:t>
            </a:r>
            <a:r>
              <a:rPr lang="nl-NL" dirty="0" err="1" smtClean="0"/>
              <a:t>epistemisch</a:t>
            </a:r>
            <a:endParaRPr lang="nl-NL" dirty="0"/>
          </a:p>
        </p:txBody>
      </p:sp>
      <p:sp>
        <p:nvSpPr>
          <p:cNvPr id="22" name="Rectangle 21"/>
          <p:cNvSpPr/>
          <p:nvPr/>
        </p:nvSpPr>
        <p:spPr>
          <a:xfrm>
            <a:off x="3923928" y="4293096"/>
            <a:ext cx="2826992" cy="400110"/>
          </a:xfrm>
          <a:prstGeom prst="rect">
            <a:avLst/>
          </a:prstGeom>
        </p:spPr>
        <p:txBody>
          <a:bodyPr wrap="none">
            <a:spAutoFit/>
          </a:bodyPr>
          <a:lstStyle/>
          <a:p>
            <a:pPr marL="342900" indent="-342900">
              <a:spcBef>
                <a:spcPct val="20000"/>
              </a:spcBef>
              <a:defRPr/>
            </a:pPr>
            <a:r>
              <a:rPr lang="nl-NL" sz="2000" dirty="0" smtClean="0"/>
              <a:t>□P ∧  □Q  →  □(P ∧ Q)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2000"/>
                                        <p:tgtEl>
                                          <p:spTgt spid="1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2000"/>
                                        <p:tgtEl>
                                          <p:spTgt spid="1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fade">
                                      <p:cBhvr>
                                        <p:cTn id="20" dur="2000"/>
                                        <p:tgtEl>
                                          <p:spTgt spid="12">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xEl>
                                              <p:pRg st="0" end="0"/>
                                            </p:txEl>
                                          </p:spTgt>
                                        </p:tgtEl>
                                        <p:attrNameLst>
                                          <p:attrName>style.visibility</p:attrName>
                                        </p:attrNameLst>
                                      </p:cBhvr>
                                      <p:to>
                                        <p:strVal val="visible"/>
                                      </p:to>
                                    </p:set>
                                    <p:animEffect transition="in" filter="fade">
                                      <p:cBhvr>
                                        <p:cTn id="25" dur="2000"/>
                                        <p:tgtEl>
                                          <p:spTgt spid="1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xEl>
                                              <p:pRg st="0" end="0"/>
                                            </p:txEl>
                                          </p:spTgt>
                                        </p:tgtEl>
                                        <p:attrNameLst>
                                          <p:attrName>style.visibility</p:attrName>
                                        </p:attrNameLst>
                                      </p:cBhvr>
                                      <p:to>
                                        <p:strVal val="visible"/>
                                      </p:to>
                                    </p:set>
                                    <p:animEffect transition="in" filter="fade">
                                      <p:cBhvr>
                                        <p:cTn id="30" dur="2000"/>
                                        <p:tgtEl>
                                          <p:spTgt spid="14">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animEffect transition="in" filter="fade">
                                      <p:cBhvr>
                                        <p:cTn id="35" dur="2000"/>
                                        <p:tgtEl>
                                          <p:spTgt spid="1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xEl>
                                              <p:pRg st="0" end="0"/>
                                            </p:txEl>
                                          </p:spTgt>
                                        </p:tgtEl>
                                        <p:attrNameLst>
                                          <p:attrName>style.visibility</p:attrName>
                                        </p:attrNameLst>
                                      </p:cBhvr>
                                      <p:to>
                                        <p:strVal val="visible"/>
                                      </p:to>
                                    </p:set>
                                    <p:animEffect transition="in" filter="fade">
                                      <p:cBhvr>
                                        <p:cTn id="40" dur="2000"/>
                                        <p:tgtEl>
                                          <p:spTgt spid="1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xEl>
                                              <p:pRg st="0" end="0"/>
                                            </p:txEl>
                                          </p:spTgt>
                                        </p:tgtEl>
                                        <p:attrNameLst>
                                          <p:attrName>style.visibility</p:attrName>
                                        </p:attrNameLst>
                                      </p:cBhvr>
                                      <p:to>
                                        <p:strVal val="visible"/>
                                      </p:to>
                                    </p:set>
                                    <p:animEffect transition="in" filter="fade">
                                      <p:cBhvr>
                                        <p:cTn id="45" dur="2000"/>
                                        <p:tgtEl>
                                          <p:spTgt spid="1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0">
                                            <p:txEl>
                                              <p:pRg st="0" end="0"/>
                                            </p:txEl>
                                          </p:spTgt>
                                        </p:tgtEl>
                                        <p:attrNameLst>
                                          <p:attrName>style.visibility</p:attrName>
                                        </p:attrNameLst>
                                      </p:cBhvr>
                                      <p:to>
                                        <p:strVal val="visible"/>
                                      </p:to>
                                    </p:set>
                                    <p:animEffect transition="in" filter="fade">
                                      <p:cBhvr>
                                        <p:cTn id="50" dur="2000"/>
                                        <p:tgtEl>
                                          <p:spTgt spid="2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xEl>
                                              <p:pRg st="0" end="0"/>
                                            </p:txEl>
                                          </p:spTgt>
                                        </p:tgtEl>
                                        <p:attrNameLst>
                                          <p:attrName>style.visibility</p:attrName>
                                        </p:attrNameLst>
                                      </p:cBhvr>
                                      <p:to>
                                        <p:strVal val="visible"/>
                                      </p:to>
                                    </p:set>
                                    <p:animEffect transition="in" filter="fade">
                                      <p:cBhvr>
                                        <p:cTn id="55" dur="2000"/>
                                        <p:tgtEl>
                                          <p:spTgt spid="22">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1">
                                            <p:txEl>
                                              <p:pRg st="0" end="0"/>
                                            </p:txEl>
                                          </p:spTgt>
                                        </p:tgtEl>
                                        <p:attrNameLst>
                                          <p:attrName>style.visibility</p:attrName>
                                        </p:attrNameLst>
                                      </p:cBhvr>
                                      <p:to>
                                        <p:strVal val="visible"/>
                                      </p:to>
                                    </p:set>
                                    <p:animEffect transition="in" filter="fade">
                                      <p:cBhvr>
                                        <p:cTn id="60" dur="2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13" grpId="0" build="allAtOnce"/>
      <p:bldP spid="14" grpId="0" build="allAtOnce"/>
      <p:bldP spid="15" grpId="0" build="allAtOnce"/>
      <p:bldP spid="16" grpId="0" build="allAtOnce"/>
      <p:bldP spid="17" grpId="0" build="allAtOnce"/>
      <p:bldP spid="20" grpId="0" build="allAtOnce"/>
      <p:bldP spid="21" grpId="0" build="allAtOnce"/>
      <p:bldP spid="22" grpId="0" build="allAtOnce"/>
    </p:bldLst>
  </p:timing>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propositie logica</a:t>
            </a:r>
            <a:endParaRPr lang="nl-NL" sz="3600" dirty="0"/>
          </a:p>
        </p:txBody>
      </p:sp>
      <p:sp>
        <p:nvSpPr>
          <p:cNvPr id="8" name="Content Placeholder 2"/>
          <p:cNvSpPr txBox="1">
            <a:spLocks/>
          </p:cNvSpPr>
          <p:nvPr/>
        </p:nvSpPr>
        <p:spPr>
          <a:xfrm>
            <a:off x="467544" y="1412776"/>
            <a:ext cx="8939336"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modale propositie logica wordt verkregen door aan de klassieke propositielogica twee nieuwe logische constanten toe te voegen: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dirty="0" smtClean="0"/>
          </a:p>
          <a:p>
            <a:pPr marL="342900" lvl="0" indent="-342900">
              <a:spcBef>
                <a:spcPct val="20000"/>
              </a:spcBef>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endParaRPr lang="nl-NL" sz="2000" dirty="0" smtClean="0"/>
          </a:p>
          <a:p>
            <a:pPr marL="342900" lvl="0" indent="-342900">
              <a:spcBef>
                <a:spcPct val="20000"/>
              </a:spcBef>
              <a:defRPr/>
            </a:pPr>
            <a:endParaRPr lang="nl-NL" sz="2000" dirty="0" smtClean="0"/>
          </a:p>
        </p:txBody>
      </p:sp>
      <p:sp>
        <p:nvSpPr>
          <p:cNvPr id="10" name="Rectangle 9"/>
          <p:cNvSpPr/>
          <p:nvPr/>
        </p:nvSpPr>
        <p:spPr>
          <a:xfrm>
            <a:off x="467544" y="2348880"/>
            <a:ext cx="5220072" cy="769441"/>
          </a:xfrm>
          <a:prstGeom prst="rect">
            <a:avLst/>
          </a:prstGeom>
        </p:spPr>
        <p:txBody>
          <a:bodyPr wrap="square">
            <a:spAutoFit/>
          </a:bodyPr>
          <a:lstStyle/>
          <a:p>
            <a:pPr marL="342900" lvl="0" indent="-342900">
              <a:spcBef>
                <a:spcPct val="20000"/>
              </a:spcBef>
              <a:defRPr/>
            </a:pPr>
            <a:r>
              <a:rPr lang="nl-NL" sz="2000" dirty="0" smtClean="0"/>
              <a:t>      </a:t>
            </a:r>
            <a:r>
              <a:rPr lang="nl-NL" sz="2000" dirty="0" smtClean="0">
                <a:solidFill>
                  <a:srgbClr val="0070C0"/>
                </a:solidFill>
              </a:rPr>
              <a:t>□P 	Het is noodzakelijk dat P</a:t>
            </a:r>
          </a:p>
          <a:p>
            <a:pPr marL="342900" lvl="0" indent="-342900">
              <a:spcBef>
                <a:spcPct val="20000"/>
              </a:spcBef>
              <a:defRPr/>
            </a:pPr>
            <a:r>
              <a:rPr lang="nl-NL" sz="2000" dirty="0" smtClean="0">
                <a:solidFill>
                  <a:srgbClr val="0070C0"/>
                </a:solidFill>
              </a:rPr>
              <a:t>	◊P	Het is mogelijk dat P</a:t>
            </a:r>
          </a:p>
        </p:txBody>
      </p:sp>
      <p:sp>
        <p:nvSpPr>
          <p:cNvPr id="11" name="Rectangle 10"/>
          <p:cNvSpPr/>
          <p:nvPr/>
        </p:nvSpPr>
        <p:spPr>
          <a:xfrm>
            <a:off x="827584" y="3356992"/>
            <a:ext cx="1864613"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2" name="Rectangle 11"/>
          <p:cNvSpPr/>
          <p:nvPr/>
        </p:nvSpPr>
        <p:spPr>
          <a:xfrm>
            <a:off x="827584" y="3789040"/>
            <a:ext cx="1864613"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3" name="Rectangle 12"/>
          <p:cNvSpPr/>
          <p:nvPr/>
        </p:nvSpPr>
        <p:spPr>
          <a:xfrm>
            <a:off x="810294" y="4253026"/>
            <a:ext cx="1962397"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4" name="Rectangle 13"/>
          <p:cNvSpPr/>
          <p:nvPr/>
        </p:nvSpPr>
        <p:spPr>
          <a:xfrm>
            <a:off x="798318" y="4725144"/>
            <a:ext cx="2769284" cy="400110"/>
          </a:xfrm>
          <a:prstGeom prst="rect">
            <a:avLst/>
          </a:prstGeom>
        </p:spPr>
        <p:txBody>
          <a:bodyPr wrap="none">
            <a:spAutoFit/>
          </a:bodyPr>
          <a:lstStyle/>
          <a:p>
            <a:pPr marL="342900" indent="-342900">
              <a:spcBef>
                <a:spcPct val="20000"/>
              </a:spcBef>
              <a:defRPr/>
            </a:pPr>
            <a:r>
              <a:rPr lang="nl-NL" sz="2000" dirty="0" smtClean="0"/>
              <a:t>□(P ∧ Q)   → □P ∧ □Q   ? </a:t>
            </a:r>
          </a:p>
        </p:txBody>
      </p:sp>
      <p:sp>
        <p:nvSpPr>
          <p:cNvPr id="15" name="Rectangle 14"/>
          <p:cNvSpPr/>
          <p:nvPr/>
        </p:nvSpPr>
        <p:spPr>
          <a:xfrm>
            <a:off x="827584" y="5301208"/>
            <a:ext cx="1608133"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6" name="Rectangle 15"/>
          <p:cNvSpPr/>
          <p:nvPr/>
        </p:nvSpPr>
        <p:spPr>
          <a:xfrm>
            <a:off x="827584" y="5765194"/>
            <a:ext cx="1715534"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17" name="Rectangle 16"/>
          <p:cNvSpPr/>
          <p:nvPr/>
        </p:nvSpPr>
        <p:spPr>
          <a:xfrm>
            <a:off x="3923928" y="3284984"/>
            <a:ext cx="1787669" cy="400110"/>
          </a:xfrm>
          <a:prstGeom prst="rect">
            <a:avLst/>
          </a:prstGeom>
        </p:spPr>
        <p:txBody>
          <a:bodyPr wrap="none">
            <a:spAutoFit/>
          </a:bodyPr>
          <a:lstStyle/>
          <a:p>
            <a:pPr marL="342900" indent="-342900">
              <a:spcBef>
                <a:spcPct val="20000"/>
              </a:spcBef>
              <a:defRPr/>
            </a:pPr>
            <a:r>
              <a:rPr lang="nl-NL" sz="2000" dirty="0" smtClean="0"/>
              <a:t>□P  →  □□P   ?  </a:t>
            </a:r>
          </a:p>
        </p:txBody>
      </p:sp>
      <p:sp>
        <p:nvSpPr>
          <p:cNvPr id="20" name="Rectangle 19"/>
          <p:cNvSpPr/>
          <p:nvPr/>
        </p:nvSpPr>
        <p:spPr>
          <a:xfrm>
            <a:off x="3923928" y="3789040"/>
            <a:ext cx="1492716" cy="400110"/>
          </a:xfrm>
          <a:prstGeom prst="rect">
            <a:avLst/>
          </a:prstGeom>
        </p:spPr>
        <p:txBody>
          <a:bodyPr wrap="none">
            <a:spAutoFit/>
          </a:bodyPr>
          <a:lstStyle/>
          <a:p>
            <a:pPr marL="342900" indent="-342900">
              <a:spcBef>
                <a:spcPct val="20000"/>
              </a:spcBef>
              <a:defRPr/>
            </a:pPr>
            <a:r>
              <a:rPr lang="nl-NL" sz="2000" dirty="0" smtClean="0"/>
              <a:t>P  →  □◊P   ?</a:t>
            </a:r>
          </a:p>
        </p:txBody>
      </p:sp>
      <p:sp>
        <p:nvSpPr>
          <p:cNvPr id="21" name="TextBox 20"/>
          <p:cNvSpPr txBox="1"/>
          <p:nvPr/>
        </p:nvSpPr>
        <p:spPr>
          <a:xfrm>
            <a:off x="5004048" y="5469031"/>
            <a:ext cx="4104456" cy="923330"/>
          </a:xfrm>
          <a:prstGeom prst="rect">
            <a:avLst/>
          </a:prstGeom>
          <a:noFill/>
        </p:spPr>
        <p:txBody>
          <a:bodyPr wrap="square" rtlCol="0">
            <a:spAutoFit/>
          </a:bodyPr>
          <a:lstStyle/>
          <a:p>
            <a:r>
              <a:rPr lang="nl-NL" dirty="0" smtClean="0"/>
              <a:t>We hebben een notie van </a:t>
            </a:r>
            <a:r>
              <a:rPr lang="nl-NL" i="1" dirty="0" smtClean="0"/>
              <a:t>semantische  en syntactische geldigheid</a:t>
            </a:r>
            <a:r>
              <a:rPr lang="nl-NL" dirty="0" smtClean="0"/>
              <a:t> nodig voor     de modale propositielogica. </a:t>
            </a:r>
            <a:endParaRPr lang="nl-NL" dirty="0"/>
          </a:p>
        </p:txBody>
      </p:sp>
      <p:sp>
        <p:nvSpPr>
          <p:cNvPr id="22" name="Rectangle 21"/>
          <p:cNvSpPr/>
          <p:nvPr/>
        </p:nvSpPr>
        <p:spPr>
          <a:xfrm>
            <a:off x="3923928" y="4293096"/>
            <a:ext cx="2826992" cy="400110"/>
          </a:xfrm>
          <a:prstGeom prst="rect">
            <a:avLst/>
          </a:prstGeom>
        </p:spPr>
        <p:txBody>
          <a:bodyPr wrap="none">
            <a:spAutoFit/>
          </a:bodyPr>
          <a:lstStyle/>
          <a:p>
            <a:pPr marL="342900" indent="-342900">
              <a:spcBef>
                <a:spcPct val="20000"/>
              </a:spcBef>
              <a:defRPr/>
            </a:pPr>
            <a:r>
              <a:rPr lang="nl-NL" sz="2000" dirty="0" smtClean="0"/>
              <a:t>□P ∧  □Q  →  □(P ∧ Q)    ?</a:t>
            </a:r>
          </a:p>
        </p:txBody>
      </p:sp>
    </p:spTree>
  </p:cSld>
  <p:clrMapOvr>
    <a:masterClrMapping/>
  </p:clrMapOvr>
  <p:timing>
    <p:tnLst>
      <p:par>
        <p:cTn id="1" dur="indefinite" restart="never" nodeType="tmRoot"/>
      </p:par>
    </p:tnLst>
  </p:timing>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propositie logica</a:t>
            </a:r>
            <a:endParaRPr lang="nl-NL" sz="3600" dirty="0"/>
          </a:p>
        </p:txBody>
      </p:sp>
      <p:sp>
        <p:nvSpPr>
          <p:cNvPr id="8" name="Content Placeholder 2"/>
          <p:cNvSpPr txBox="1">
            <a:spLocks/>
          </p:cNvSpPr>
          <p:nvPr/>
        </p:nvSpPr>
        <p:spPr>
          <a:xfrm>
            <a:off x="467544" y="1412776"/>
            <a:ext cx="8939336" cy="72008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De modale propositie logica wordt verkregen door aan de klassieke propositielogica twee nieuwe logische constanten toe te voegen:</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nl-NL" sz="2000" dirty="0" smtClean="0"/>
          </a:p>
          <a:p>
            <a:pPr marL="342900" lvl="0" indent="-342900">
              <a:spcBef>
                <a:spcPct val="20000"/>
              </a:spcBef>
              <a:defRPr/>
            </a:pPr>
            <a:r>
              <a:rPr lang="nl-NL" sz="2000" dirty="0" smtClean="0"/>
              <a:t>	</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a:p>
            <a:pPr marL="342900" lvl="0" indent="-342900">
              <a:spcBef>
                <a:spcPct val="20000"/>
              </a:spcBef>
              <a:defRPr/>
            </a:pPr>
            <a:endParaRPr lang="nl-NL" sz="2000" dirty="0" smtClean="0"/>
          </a:p>
          <a:p>
            <a:pPr marL="342900" lvl="0" indent="-342900">
              <a:spcBef>
                <a:spcPct val="20000"/>
              </a:spcBef>
              <a:defRPr/>
            </a:pPr>
            <a:endParaRPr lang="nl-NL" sz="2000" dirty="0" smtClean="0"/>
          </a:p>
        </p:txBody>
      </p:sp>
      <p:sp>
        <p:nvSpPr>
          <p:cNvPr id="10" name="Rectangle 9"/>
          <p:cNvSpPr/>
          <p:nvPr/>
        </p:nvSpPr>
        <p:spPr>
          <a:xfrm>
            <a:off x="467544" y="2348880"/>
            <a:ext cx="5220072" cy="769441"/>
          </a:xfrm>
          <a:prstGeom prst="rect">
            <a:avLst/>
          </a:prstGeom>
        </p:spPr>
        <p:txBody>
          <a:bodyPr wrap="square">
            <a:spAutoFit/>
          </a:bodyPr>
          <a:lstStyle/>
          <a:p>
            <a:pPr marL="342900" lvl="0" indent="-342900">
              <a:spcBef>
                <a:spcPct val="20000"/>
              </a:spcBef>
              <a:defRPr/>
            </a:pPr>
            <a:r>
              <a:rPr lang="nl-NL" sz="2000" dirty="0" smtClean="0"/>
              <a:t>      </a:t>
            </a:r>
            <a:r>
              <a:rPr lang="nl-NL" sz="2000" dirty="0" smtClean="0">
                <a:solidFill>
                  <a:srgbClr val="0070C0"/>
                </a:solidFill>
              </a:rPr>
              <a:t>□P 	Het is noodzakelijk dat P</a:t>
            </a:r>
          </a:p>
          <a:p>
            <a:pPr marL="342900" lvl="0" indent="-342900">
              <a:spcBef>
                <a:spcPct val="20000"/>
              </a:spcBef>
              <a:defRPr/>
            </a:pPr>
            <a:r>
              <a:rPr lang="nl-NL" sz="2000" dirty="0" smtClean="0">
                <a:solidFill>
                  <a:srgbClr val="0070C0"/>
                </a:solidFill>
              </a:rPr>
              <a:t>	◊P	Het is mogelijk dat P</a:t>
            </a:r>
          </a:p>
        </p:txBody>
      </p:sp>
      <p:sp>
        <p:nvSpPr>
          <p:cNvPr id="11" name="Rectangle 10"/>
          <p:cNvSpPr/>
          <p:nvPr/>
        </p:nvSpPr>
        <p:spPr>
          <a:xfrm>
            <a:off x="827584" y="3356992"/>
            <a:ext cx="1457450" cy="400110"/>
          </a:xfrm>
          <a:prstGeom prst="rect">
            <a:avLst/>
          </a:prstGeom>
        </p:spPr>
        <p:txBody>
          <a:bodyPr wrap="none">
            <a:spAutoFit/>
          </a:bodyPr>
          <a:lstStyle/>
          <a:p>
            <a:pPr marL="342900" indent="-342900">
              <a:spcBef>
                <a:spcPct val="20000"/>
              </a:spcBef>
              <a:defRPr/>
            </a:pPr>
            <a:r>
              <a:rPr lang="nl-NL" sz="2000" dirty="0" smtClean="0"/>
              <a:t>□P  →  ¬◊¬P</a:t>
            </a:r>
          </a:p>
        </p:txBody>
      </p:sp>
      <p:sp>
        <p:nvSpPr>
          <p:cNvPr id="12" name="Rectangle 11"/>
          <p:cNvSpPr/>
          <p:nvPr/>
        </p:nvSpPr>
        <p:spPr>
          <a:xfrm>
            <a:off x="827584" y="3789040"/>
            <a:ext cx="1457450" cy="400110"/>
          </a:xfrm>
          <a:prstGeom prst="rect">
            <a:avLst/>
          </a:prstGeom>
        </p:spPr>
        <p:txBody>
          <a:bodyPr wrap="none">
            <a:spAutoFit/>
          </a:bodyPr>
          <a:lstStyle/>
          <a:p>
            <a:pPr marL="342900" indent="-342900">
              <a:spcBef>
                <a:spcPct val="20000"/>
              </a:spcBef>
              <a:defRPr/>
            </a:pPr>
            <a:r>
              <a:rPr lang="nl-NL" sz="2000" dirty="0" smtClean="0"/>
              <a:t>¬◊¬P  →  □P</a:t>
            </a:r>
          </a:p>
        </p:txBody>
      </p:sp>
      <p:sp>
        <p:nvSpPr>
          <p:cNvPr id="13" name="Rectangle 12"/>
          <p:cNvSpPr/>
          <p:nvPr/>
        </p:nvSpPr>
        <p:spPr>
          <a:xfrm>
            <a:off x="810294" y="4253026"/>
            <a:ext cx="1555234" cy="400110"/>
          </a:xfrm>
          <a:prstGeom prst="rect">
            <a:avLst/>
          </a:prstGeom>
        </p:spPr>
        <p:txBody>
          <a:bodyPr wrap="none">
            <a:spAutoFit/>
          </a:bodyPr>
          <a:lstStyle/>
          <a:p>
            <a:pPr marL="342900" indent="-342900">
              <a:spcBef>
                <a:spcPct val="20000"/>
              </a:spcBef>
              <a:defRPr/>
            </a:pPr>
            <a:r>
              <a:rPr lang="nl-NL" sz="2000" dirty="0" smtClean="0"/>
              <a:t>□P  ↔  ¬◊¬P</a:t>
            </a:r>
          </a:p>
        </p:txBody>
      </p:sp>
      <p:sp>
        <p:nvSpPr>
          <p:cNvPr id="21" name="TextBox 20"/>
          <p:cNvSpPr txBox="1"/>
          <p:nvPr/>
        </p:nvSpPr>
        <p:spPr>
          <a:xfrm>
            <a:off x="5220072" y="5541039"/>
            <a:ext cx="3744416" cy="923330"/>
          </a:xfrm>
          <a:prstGeom prst="rect">
            <a:avLst/>
          </a:prstGeom>
          <a:noFill/>
        </p:spPr>
        <p:txBody>
          <a:bodyPr wrap="square" rtlCol="0">
            <a:spAutoFit/>
          </a:bodyPr>
          <a:lstStyle/>
          <a:p>
            <a:r>
              <a:rPr lang="nl-NL" dirty="0" smtClean="0"/>
              <a:t>Deze formules dienen onder genoemde noties in elk geval tautologieën te zijn</a:t>
            </a:r>
            <a:endParaRPr lang="nl-NL" dirty="0"/>
          </a:p>
        </p:txBody>
      </p:sp>
    </p:spTree>
  </p:cSld>
  <p:clrMapOvr>
    <a:masterClrMapping/>
  </p:clrMapOvr>
  <p:timing>
    <p:tnLst>
      <p:par>
        <p:cTn id="1" dur="indefinite" restart="never" nodeType="tmRoot"/>
      </p:par>
    </p:tnLst>
  </p:timing>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Een notie van semantische geldigheid                          voor de modale </a:t>
            </a:r>
            <a:r>
              <a:rPr lang="nl-NL" sz="3600" dirty="0" err="1" smtClean="0"/>
              <a:t>propostielogica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Om te komen tot een notie van </a:t>
            </a:r>
            <a:r>
              <a:rPr lang="nl-NL" sz="2000" i="1" dirty="0" smtClean="0"/>
              <a:t>semantische geldigheid </a:t>
            </a:r>
            <a:r>
              <a:rPr lang="nl-NL" sz="2000" dirty="0" smtClean="0"/>
              <a:t>voor de modale propositielogica kan </a:t>
            </a:r>
            <a:r>
              <a:rPr lang="nl-NL" sz="2000" dirty="0" err="1" smtClean="0"/>
              <a:t>Leibniz</a:t>
            </a:r>
            <a:r>
              <a:rPr lang="nl-NL" sz="2000" dirty="0" smtClean="0"/>
              <a:t>’ begrip van </a:t>
            </a:r>
            <a:r>
              <a:rPr lang="nl-NL" sz="2000" i="1" dirty="0" smtClean="0"/>
              <a:t>mogelijke wereld </a:t>
            </a:r>
            <a:r>
              <a:rPr lang="nl-NL" sz="2000" dirty="0" smtClean="0"/>
              <a:t>gebruikt worden.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Rectangle 17"/>
          <p:cNvSpPr/>
          <p:nvPr/>
        </p:nvSpPr>
        <p:spPr>
          <a:xfrm>
            <a:off x="485800" y="2453407"/>
            <a:ext cx="8262664" cy="707886"/>
          </a:xfrm>
          <a:prstGeom prst="rect">
            <a:avLst/>
          </a:prstGeom>
        </p:spPr>
        <p:txBody>
          <a:bodyPr wrap="square">
            <a:spAutoFit/>
          </a:bodyPr>
          <a:lstStyle/>
          <a:p>
            <a:pPr marL="342900" lvl="0" indent="-342900">
              <a:spcBef>
                <a:spcPct val="20000"/>
              </a:spcBef>
              <a:buFont typeface="Arial" pitchFamily="34" charset="0"/>
              <a:buChar char="•"/>
              <a:defRPr/>
            </a:pPr>
            <a:r>
              <a:rPr lang="nl-NL" sz="2000" dirty="0" smtClean="0"/>
              <a:t>Een mogelijke wereld is een in beginsel volledig specificatie van hoe de wereld is of had kunnen zijn. Er zijn oneindig veel mogelijke werelden.</a:t>
            </a:r>
          </a:p>
        </p:txBody>
      </p:sp>
      <p:sp>
        <p:nvSpPr>
          <p:cNvPr id="7" name="Rectangle 6"/>
          <p:cNvSpPr/>
          <p:nvPr/>
        </p:nvSpPr>
        <p:spPr>
          <a:xfrm>
            <a:off x="467544" y="3257689"/>
            <a:ext cx="8262664" cy="1015663"/>
          </a:xfrm>
          <a:prstGeom prst="rect">
            <a:avLst/>
          </a:prstGeom>
        </p:spPr>
        <p:txBody>
          <a:bodyPr wrap="square">
            <a:spAutoFit/>
          </a:bodyPr>
          <a:lstStyle/>
          <a:p>
            <a:pPr marL="342900" lvl="0" indent="-342900">
              <a:spcBef>
                <a:spcPct val="20000"/>
              </a:spcBef>
              <a:buFont typeface="Arial" pitchFamily="34" charset="0"/>
              <a:buChar char="•"/>
              <a:defRPr/>
            </a:pPr>
            <a:r>
              <a:rPr lang="nl-NL" sz="2000" dirty="0" smtClean="0"/>
              <a:t>Zo is er een mogelijke wereld waarin Nederland het WK74 wint, waarin Parijs niet de hoofdstad is van Frankrijk en waarin Mark Rutte geen premier van Nederland geworden zou zijn.</a:t>
            </a:r>
          </a:p>
        </p:txBody>
      </p:sp>
      <p:sp>
        <p:nvSpPr>
          <p:cNvPr id="9" name="Rectangle 8"/>
          <p:cNvSpPr/>
          <p:nvPr/>
        </p:nvSpPr>
        <p:spPr>
          <a:xfrm>
            <a:off x="467544" y="4318064"/>
            <a:ext cx="8262664" cy="1631216"/>
          </a:xfrm>
          <a:prstGeom prst="rect">
            <a:avLst/>
          </a:prstGeom>
        </p:spPr>
        <p:txBody>
          <a:bodyPr wrap="square">
            <a:spAutoFit/>
          </a:bodyPr>
          <a:lstStyle/>
          <a:p>
            <a:pPr marL="342900" lvl="0" indent="-342900">
              <a:spcBef>
                <a:spcPct val="20000"/>
              </a:spcBef>
              <a:buFont typeface="Arial" pitchFamily="34" charset="0"/>
              <a:buChar char="•"/>
              <a:defRPr/>
            </a:pPr>
            <a:r>
              <a:rPr lang="nl-NL" sz="2000" dirty="0" smtClean="0"/>
              <a:t>De werkelijk bestaande wereld, de wereld waarin wij feitelijk leven is uiteraard ook een mogelijke wereld. We noemen deze wereld </a:t>
            </a:r>
            <a:r>
              <a:rPr lang="nl-NL" sz="2000" i="1" dirty="0" smtClean="0"/>
              <a:t>de actuele wereld</a:t>
            </a:r>
            <a:r>
              <a:rPr lang="nl-NL" sz="2000" dirty="0" smtClean="0"/>
              <a:t>. Het is dus een mogelijke wereld waarin Nederland het WK74 verliest, waarin Parijs de hoofdstad van Frankrijk is, en waarin Mark      Rutte premier van Nederland 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7" grpId="0" build="allAtOnce"/>
      <p:bldP spid="9" grpId="0" build="allAtOnce"/>
    </p:bldLst>
  </p:timing>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Een notie van semantische geldigheid                          voor de modale </a:t>
            </a:r>
            <a:r>
              <a:rPr lang="nl-NL" sz="3600" dirty="0" err="1" smtClean="0"/>
              <a:t>propostielogica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Rectangle 9"/>
          <p:cNvSpPr/>
          <p:nvPr/>
        </p:nvSpPr>
        <p:spPr>
          <a:xfrm>
            <a:off x="287016" y="2636912"/>
            <a:ext cx="8352928" cy="707886"/>
          </a:xfrm>
          <a:prstGeom prst="rect">
            <a:avLst/>
          </a:prstGeom>
        </p:spPr>
        <p:txBody>
          <a:bodyPr wrap="square">
            <a:spAutoFit/>
          </a:bodyPr>
          <a:lstStyle/>
          <a:p>
            <a:pPr marL="342900" lvl="0" indent="-342900">
              <a:spcBef>
                <a:spcPct val="20000"/>
              </a:spcBef>
              <a:defRPr/>
            </a:pPr>
            <a:r>
              <a:rPr lang="nl-NL" sz="2000" dirty="0" smtClean="0"/>
              <a:t>      P is </a:t>
            </a:r>
            <a:r>
              <a:rPr lang="nl-NL" sz="2000" i="1" dirty="0" smtClean="0"/>
              <a:t>noodzakelijk waar </a:t>
            </a:r>
            <a:r>
              <a:rPr lang="nl-NL" sz="2000" dirty="0" smtClean="0"/>
              <a:t>(□P is waar) dan en slechts dan als P waar is in alle                  mogelijke werelden</a:t>
            </a:r>
          </a:p>
        </p:txBody>
      </p:sp>
      <p:sp>
        <p:nvSpPr>
          <p:cNvPr id="11" name="Rectangle 10"/>
          <p:cNvSpPr/>
          <p:nvPr/>
        </p:nvSpPr>
        <p:spPr>
          <a:xfrm>
            <a:off x="287016" y="3429000"/>
            <a:ext cx="9036496" cy="707886"/>
          </a:xfrm>
          <a:prstGeom prst="rect">
            <a:avLst/>
          </a:prstGeom>
        </p:spPr>
        <p:txBody>
          <a:bodyPr wrap="square">
            <a:spAutoFit/>
          </a:bodyPr>
          <a:lstStyle/>
          <a:p>
            <a:pPr marL="342900" lvl="0" indent="-342900">
              <a:spcBef>
                <a:spcPct val="20000"/>
              </a:spcBef>
              <a:defRPr/>
            </a:pPr>
            <a:r>
              <a:rPr lang="nl-NL" sz="2000" dirty="0" smtClean="0"/>
              <a:t> 	P is </a:t>
            </a:r>
            <a:r>
              <a:rPr lang="nl-NL" sz="2000" i="1" dirty="0" smtClean="0"/>
              <a:t>mogelijk waar</a:t>
            </a:r>
            <a:r>
              <a:rPr lang="nl-NL" sz="2000" dirty="0" smtClean="0"/>
              <a:t> (◊P is waar) dan en slechts dan als P waar is in tenminste                                één mogelijke wereld</a:t>
            </a:r>
          </a:p>
        </p:txBody>
      </p:sp>
      <p:sp>
        <p:nvSpPr>
          <p:cNvPr id="12" name="Content Placeholder 2"/>
          <p:cNvSpPr txBox="1">
            <a:spLocks/>
          </p:cNvSpPr>
          <p:nvPr/>
        </p:nvSpPr>
        <p:spPr>
          <a:xfrm>
            <a:off x="619944" y="1741711"/>
            <a:ext cx="791249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Met dit begrip kunnen we vervolgens definities geven van        ‘noodzakelijk’, ‘mogelijk’, ‘onmogelijk’ en ‘contingent’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12"/>
          <p:cNvSpPr/>
          <p:nvPr/>
        </p:nvSpPr>
        <p:spPr>
          <a:xfrm>
            <a:off x="251520" y="4293096"/>
            <a:ext cx="9036496" cy="707886"/>
          </a:xfrm>
          <a:prstGeom prst="rect">
            <a:avLst/>
          </a:prstGeom>
        </p:spPr>
        <p:txBody>
          <a:bodyPr wrap="square">
            <a:spAutoFit/>
          </a:bodyPr>
          <a:lstStyle/>
          <a:p>
            <a:pPr marL="342900" lvl="0" indent="-342900">
              <a:spcBef>
                <a:spcPct val="20000"/>
              </a:spcBef>
              <a:defRPr/>
            </a:pPr>
            <a:r>
              <a:rPr lang="nl-NL" sz="2000" dirty="0" smtClean="0"/>
              <a:t> 	 P is </a:t>
            </a:r>
            <a:r>
              <a:rPr lang="nl-NL" sz="2000" i="1" dirty="0" smtClean="0"/>
              <a:t>onmogelijk waar</a:t>
            </a:r>
            <a:r>
              <a:rPr lang="nl-NL" sz="2000" dirty="0" smtClean="0"/>
              <a:t> (¬◊P is waar) dan en slechts dan als P in geen enkele                        </a:t>
            </a:r>
            <a:br>
              <a:rPr lang="nl-NL" sz="2000" dirty="0" smtClean="0"/>
            </a:br>
            <a:r>
              <a:rPr lang="nl-NL" sz="2000" dirty="0" smtClean="0"/>
              <a:t> mogelijke wereld waar is</a:t>
            </a:r>
          </a:p>
        </p:txBody>
      </p:sp>
      <p:sp>
        <p:nvSpPr>
          <p:cNvPr id="15" name="Rectangle 14"/>
          <p:cNvSpPr/>
          <p:nvPr/>
        </p:nvSpPr>
        <p:spPr>
          <a:xfrm>
            <a:off x="216024" y="5157192"/>
            <a:ext cx="9036496" cy="707886"/>
          </a:xfrm>
          <a:prstGeom prst="rect">
            <a:avLst/>
          </a:prstGeom>
        </p:spPr>
        <p:txBody>
          <a:bodyPr wrap="square">
            <a:spAutoFit/>
          </a:bodyPr>
          <a:lstStyle/>
          <a:p>
            <a:pPr marL="342900" lvl="0" indent="-342900">
              <a:spcBef>
                <a:spcPct val="20000"/>
              </a:spcBef>
              <a:defRPr/>
            </a:pPr>
            <a:r>
              <a:rPr lang="nl-NL" sz="2000" dirty="0" smtClean="0"/>
              <a:t> 	 P is </a:t>
            </a:r>
            <a:r>
              <a:rPr lang="nl-NL" sz="2000" i="1" dirty="0" smtClean="0"/>
              <a:t>contingent waar</a:t>
            </a:r>
            <a:r>
              <a:rPr lang="nl-NL" sz="2000" dirty="0" smtClean="0"/>
              <a:t> (◊P ∧ ◊¬P is waar) dan en slechts dan als P in tenminste    </a:t>
            </a:r>
            <a:br>
              <a:rPr lang="nl-NL" sz="2000" dirty="0" smtClean="0"/>
            </a:br>
            <a:r>
              <a:rPr lang="nl-NL" sz="2000" dirty="0" smtClean="0"/>
              <a:t> één mogelijke wereld waar en in tenminste één mogelijke wereld niet waar is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20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fade">
                                      <p:cBhvr>
                                        <p:cTn id="22"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3" grpId="0" build="allAtOnce"/>
      <p:bldP spid="15" grpId="0" build="allAtOnce"/>
    </p:bldLst>
  </p:timing>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Een notie van semantische geldigheid                          voor de modale </a:t>
            </a:r>
            <a:r>
              <a:rPr lang="nl-NL" sz="3600" dirty="0" err="1" smtClean="0"/>
              <a:t>propostielogica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619944" y="1741711"/>
            <a:ext cx="7912496" cy="388639"/>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Daarnaast kunnen we nog een </a:t>
            </a:r>
            <a:r>
              <a:rPr lang="nl-NL" sz="2000" i="1" dirty="0" smtClean="0"/>
              <a:t>bereikbaarheidsrelatie</a:t>
            </a:r>
            <a:r>
              <a:rPr lang="nl-NL" sz="2000" dirty="0" smtClean="0"/>
              <a:t> tussen mogelijke werelden invoeren. Mogelijke wereld </a:t>
            </a:r>
            <a:r>
              <a:rPr lang="nl-NL" sz="2000" i="1" dirty="0" smtClean="0"/>
              <a:t>w</a:t>
            </a:r>
            <a:r>
              <a:rPr lang="nl-NL" sz="2000" i="1" baseline="-25000" dirty="0" smtClean="0"/>
              <a:t>2</a:t>
            </a:r>
            <a:r>
              <a:rPr lang="nl-NL" sz="2000" baseline="-25000" dirty="0" smtClean="0"/>
              <a:t>  </a:t>
            </a:r>
            <a:r>
              <a:rPr lang="nl-NL" sz="2000" i="1" dirty="0" smtClean="0"/>
              <a:t>is bereikbaar vanuit</a:t>
            </a:r>
            <a:r>
              <a:rPr lang="nl-NL" sz="2000" baseline="-25000" dirty="0" smtClean="0"/>
              <a:t>  </a:t>
            </a:r>
            <a:r>
              <a:rPr lang="nl-NL" sz="2000" i="1" dirty="0" smtClean="0"/>
              <a:t>w</a:t>
            </a:r>
            <a:r>
              <a:rPr lang="nl-NL" sz="2000" i="1" baseline="-25000" dirty="0" smtClean="0"/>
              <a:t>1</a:t>
            </a:r>
            <a:r>
              <a:rPr lang="nl-NL" sz="2000" baseline="-25000" dirty="0" smtClean="0"/>
              <a:t>  </a:t>
            </a:r>
            <a:r>
              <a:rPr lang="nl-NL" sz="2000" dirty="0" smtClean="0"/>
              <a:t>dan en slechts dan als </a:t>
            </a:r>
            <a:r>
              <a:rPr lang="nl-NL" sz="2000" i="1" dirty="0" smtClean="0"/>
              <a:t>w</a:t>
            </a:r>
            <a:r>
              <a:rPr lang="nl-NL" sz="2000" i="1" baseline="-25000" dirty="0" smtClean="0"/>
              <a:t>2</a:t>
            </a:r>
            <a:r>
              <a:rPr lang="nl-NL" sz="2000" dirty="0" smtClean="0"/>
              <a:t> vanuit </a:t>
            </a:r>
            <a:r>
              <a:rPr lang="nl-NL" sz="2000" i="1" dirty="0" smtClean="0"/>
              <a:t>w</a:t>
            </a:r>
            <a:r>
              <a:rPr lang="nl-NL" sz="2000" i="1" baseline="-25000" dirty="0" smtClean="0"/>
              <a:t>1</a:t>
            </a:r>
            <a:r>
              <a:rPr lang="nl-NL" sz="2000" dirty="0" smtClean="0"/>
              <a:t> gezien mogelijk is. </a:t>
            </a:r>
            <a:r>
              <a:rPr lang="nl-NL" sz="2000" baseline="-25000" dirty="0" smtClean="0"/>
              <a:t> </a:t>
            </a:r>
            <a:endParaRPr kumimoji="0" lang="nl-NL" sz="2000" b="0" i="0" u="none" strike="noStrike" kern="1200" cap="none" spc="0" normalizeH="0" baseline="-25000" noProof="0" dirty="0" smtClean="0">
              <a:ln>
                <a:noFill/>
              </a:ln>
              <a:solidFill>
                <a:schemeClr val="tx1"/>
              </a:solidFill>
              <a:effectLst/>
              <a:uLnTx/>
              <a:uFillTx/>
              <a:latin typeface="+mn-lt"/>
              <a:ea typeface="+mn-ea"/>
              <a:cs typeface="+mn-cs"/>
            </a:endParaRPr>
          </a:p>
        </p:txBody>
      </p:sp>
      <p:sp>
        <p:nvSpPr>
          <p:cNvPr id="9" name="Content Placeholder 2"/>
          <p:cNvSpPr txBox="1">
            <a:spLocks/>
          </p:cNvSpPr>
          <p:nvPr/>
        </p:nvSpPr>
        <p:spPr>
          <a:xfrm>
            <a:off x="619944" y="2968353"/>
            <a:ext cx="7912496" cy="388639"/>
          </a:xfrm>
          <a:prstGeom prst="rect">
            <a:avLst/>
          </a:prstGeom>
        </p:spPr>
        <p:txBody>
          <a:bodyPr vert="horz" lIns="91440" tIns="45720" rIns="91440" bIns="45720" rtlCol="0">
            <a:noAutofit/>
          </a:bodyPr>
          <a:lstStyle/>
          <a:p>
            <a:pPr marL="342900" lvl="0" indent="-342900">
              <a:spcBef>
                <a:spcPct val="20000"/>
              </a:spcBef>
              <a:buFont typeface="Arial" pitchFamily="34" charset="0"/>
              <a:buChar char="•"/>
              <a:defRPr/>
            </a:pPr>
            <a:r>
              <a:rPr lang="nl-NL" sz="2000" dirty="0" smtClean="0"/>
              <a:t>Een </a:t>
            </a:r>
            <a:r>
              <a:rPr lang="nl-NL" sz="2000" i="1" dirty="0" smtClean="0"/>
              <a:t>model</a:t>
            </a:r>
            <a:r>
              <a:rPr lang="nl-NL" sz="2000" dirty="0" smtClean="0"/>
              <a:t> M is een verzameling mogelijke werelden </a:t>
            </a:r>
            <a:r>
              <a:rPr lang="nl-NL" sz="2000" b="1" dirty="0" smtClean="0"/>
              <a:t>W</a:t>
            </a:r>
            <a:r>
              <a:rPr lang="nl-NL" sz="2000" dirty="0" smtClean="0"/>
              <a:t> met daarop een bereikbaarheidsrelatie </a:t>
            </a:r>
            <a:r>
              <a:rPr lang="nl-NL" sz="2000" b="1" dirty="0" smtClean="0"/>
              <a:t>R</a:t>
            </a:r>
            <a:r>
              <a:rPr lang="nl-NL" sz="2000" dirty="0" smtClean="0"/>
              <a:t>. Zie hieronder een voorbeeld van een model</a:t>
            </a:r>
            <a:endParaRPr kumimoji="0" lang="nl-NL" sz="2000" b="0" i="0" u="none" strike="noStrike" kern="1200" cap="none" spc="0" normalizeH="0" baseline="-25000" noProof="0" dirty="0" smtClean="0">
              <a:ln>
                <a:noFill/>
              </a:ln>
              <a:solidFill>
                <a:schemeClr val="tx1"/>
              </a:solidFill>
              <a:effectLst/>
              <a:uLnTx/>
              <a:uFillTx/>
              <a:latin typeface="+mn-lt"/>
              <a:ea typeface="+mn-ea"/>
              <a:cs typeface="+mn-cs"/>
            </a:endParaRPr>
          </a:p>
        </p:txBody>
      </p:sp>
      <p:sp>
        <p:nvSpPr>
          <p:cNvPr id="14" name="Oval 13"/>
          <p:cNvSpPr/>
          <p:nvPr/>
        </p:nvSpPr>
        <p:spPr>
          <a:xfrm>
            <a:off x="2559502" y="449982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 name="Oval 15"/>
          <p:cNvSpPr/>
          <p:nvPr/>
        </p:nvSpPr>
        <p:spPr>
          <a:xfrm>
            <a:off x="3207574" y="493187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 name="Oval 16"/>
          <p:cNvSpPr/>
          <p:nvPr/>
        </p:nvSpPr>
        <p:spPr>
          <a:xfrm>
            <a:off x="1835696" y="50758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 name="Oval 17"/>
          <p:cNvSpPr/>
          <p:nvPr/>
        </p:nvSpPr>
        <p:spPr>
          <a:xfrm>
            <a:off x="2271470" y="607471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9" name="Oval 18"/>
          <p:cNvSpPr/>
          <p:nvPr/>
        </p:nvSpPr>
        <p:spPr>
          <a:xfrm>
            <a:off x="2415486" y="543593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Oval 19"/>
          <p:cNvSpPr/>
          <p:nvPr/>
        </p:nvSpPr>
        <p:spPr>
          <a:xfrm>
            <a:off x="3499332" y="59306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Oval 20"/>
          <p:cNvSpPr/>
          <p:nvPr/>
        </p:nvSpPr>
        <p:spPr>
          <a:xfrm>
            <a:off x="4215686" y="442782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2" name="Oval 21"/>
          <p:cNvSpPr/>
          <p:nvPr/>
        </p:nvSpPr>
        <p:spPr>
          <a:xfrm>
            <a:off x="4143678" y="51479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ectangle 22"/>
          <p:cNvSpPr/>
          <p:nvPr/>
        </p:nvSpPr>
        <p:spPr>
          <a:xfrm>
            <a:off x="1407374" y="4994592"/>
            <a:ext cx="428322" cy="369332"/>
          </a:xfrm>
          <a:prstGeom prst="rect">
            <a:avLst/>
          </a:prstGeom>
        </p:spPr>
        <p:txBody>
          <a:bodyPr wrap="none">
            <a:spAutoFit/>
          </a:bodyPr>
          <a:lstStyle/>
          <a:p>
            <a:r>
              <a:rPr lang="nl-NL" i="1" dirty="0" smtClean="0"/>
              <a:t>w</a:t>
            </a:r>
            <a:r>
              <a:rPr lang="nl-NL" i="1" baseline="-25000" dirty="0" smtClean="0"/>
              <a:t>1</a:t>
            </a:r>
            <a:endParaRPr lang="nl-NL" dirty="0"/>
          </a:p>
        </p:txBody>
      </p:sp>
      <p:sp>
        <p:nvSpPr>
          <p:cNvPr id="24" name="Rectangle 23"/>
          <p:cNvSpPr/>
          <p:nvPr/>
        </p:nvSpPr>
        <p:spPr>
          <a:xfrm>
            <a:off x="2203188" y="4211796"/>
            <a:ext cx="428322" cy="369332"/>
          </a:xfrm>
          <a:prstGeom prst="rect">
            <a:avLst/>
          </a:prstGeom>
        </p:spPr>
        <p:txBody>
          <a:bodyPr wrap="none">
            <a:spAutoFit/>
          </a:bodyPr>
          <a:lstStyle/>
          <a:p>
            <a:r>
              <a:rPr lang="nl-NL" i="1" dirty="0" smtClean="0"/>
              <a:t>w</a:t>
            </a:r>
            <a:r>
              <a:rPr lang="nl-NL" i="1" baseline="-25000" dirty="0" smtClean="0"/>
              <a:t>2</a:t>
            </a:r>
            <a:endParaRPr lang="nl-NL" dirty="0"/>
          </a:p>
        </p:txBody>
      </p:sp>
      <p:sp>
        <p:nvSpPr>
          <p:cNvPr id="25" name="Rectangle 24"/>
          <p:cNvSpPr/>
          <p:nvPr/>
        </p:nvSpPr>
        <p:spPr>
          <a:xfrm>
            <a:off x="3855646" y="4139788"/>
            <a:ext cx="428322" cy="369332"/>
          </a:xfrm>
          <a:prstGeom prst="rect">
            <a:avLst/>
          </a:prstGeom>
        </p:spPr>
        <p:txBody>
          <a:bodyPr wrap="none">
            <a:spAutoFit/>
          </a:bodyPr>
          <a:lstStyle/>
          <a:p>
            <a:r>
              <a:rPr lang="nl-NL" i="1" dirty="0" smtClean="0"/>
              <a:t>w</a:t>
            </a:r>
            <a:r>
              <a:rPr lang="nl-NL" i="1" baseline="-25000" dirty="0" smtClean="0"/>
              <a:t>3</a:t>
            </a:r>
            <a:endParaRPr lang="nl-NL" dirty="0"/>
          </a:p>
        </p:txBody>
      </p:sp>
      <p:sp>
        <p:nvSpPr>
          <p:cNvPr id="26" name="Rectangle 25"/>
          <p:cNvSpPr/>
          <p:nvPr/>
        </p:nvSpPr>
        <p:spPr>
          <a:xfrm>
            <a:off x="4147404" y="4850576"/>
            <a:ext cx="428322" cy="369332"/>
          </a:xfrm>
          <a:prstGeom prst="rect">
            <a:avLst/>
          </a:prstGeom>
        </p:spPr>
        <p:txBody>
          <a:bodyPr wrap="none">
            <a:spAutoFit/>
          </a:bodyPr>
          <a:lstStyle/>
          <a:p>
            <a:r>
              <a:rPr lang="nl-NL" i="1" dirty="0" smtClean="0"/>
              <a:t>w</a:t>
            </a:r>
            <a:r>
              <a:rPr lang="nl-NL" i="1" baseline="-25000" dirty="0" smtClean="0"/>
              <a:t>4</a:t>
            </a:r>
            <a:endParaRPr lang="nl-NL" dirty="0"/>
          </a:p>
        </p:txBody>
      </p:sp>
      <p:sp>
        <p:nvSpPr>
          <p:cNvPr id="27" name="Rectangle 26"/>
          <p:cNvSpPr/>
          <p:nvPr/>
        </p:nvSpPr>
        <p:spPr>
          <a:xfrm>
            <a:off x="3499332" y="5867980"/>
            <a:ext cx="428322" cy="369332"/>
          </a:xfrm>
          <a:prstGeom prst="rect">
            <a:avLst/>
          </a:prstGeom>
        </p:spPr>
        <p:txBody>
          <a:bodyPr wrap="none">
            <a:spAutoFit/>
          </a:bodyPr>
          <a:lstStyle/>
          <a:p>
            <a:r>
              <a:rPr lang="nl-NL" i="1" dirty="0" smtClean="0"/>
              <a:t>w</a:t>
            </a:r>
            <a:r>
              <a:rPr lang="nl-NL" i="1" baseline="-25000" dirty="0" smtClean="0"/>
              <a:t>5</a:t>
            </a:r>
            <a:endParaRPr lang="nl-NL" dirty="0"/>
          </a:p>
        </p:txBody>
      </p:sp>
      <p:sp>
        <p:nvSpPr>
          <p:cNvPr id="28" name="Rectangle 27"/>
          <p:cNvSpPr/>
          <p:nvPr/>
        </p:nvSpPr>
        <p:spPr>
          <a:xfrm>
            <a:off x="3063558" y="4509120"/>
            <a:ext cx="428322" cy="369332"/>
          </a:xfrm>
          <a:prstGeom prst="rect">
            <a:avLst/>
          </a:prstGeom>
        </p:spPr>
        <p:txBody>
          <a:bodyPr wrap="none">
            <a:spAutoFit/>
          </a:bodyPr>
          <a:lstStyle/>
          <a:p>
            <a:r>
              <a:rPr lang="nl-NL" i="1" dirty="0" smtClean="0"/>
              <a:t>w</a:t>
            </a:r>
            <a:r>
              <a:rPr lang="nl-NL" i="1" baseline="-25000" dirty="0" smtClean="0"/>
              <a:t>6</a:t>
            </a:r>
            <a:endParaRPr lang="nl-NL" dirty="0"/>
          </a:p>
        </p:txBody>
      </p:sp>
      <p:sp>
        <p:nvSpPr>
          <p:cNvPr id="29" name="Rectangle 28"/>
          <p:cNvSpPr/>
          <p:nvPr/>
        </p:nvSpPr>
        <p:spPr>
          <a:xfrm>
            <a:off x="2343478" y="5075892"/>
            <a:ext cx="428322" cy="369332"/>
          </a:xfrm>
          <a:prstGeom prst="rect">
            <a:avLst/>
          </a:prstGeom>
        </p:spPr>
        <p:txBody>
          <a:bodyPr wrap="none">
            <a:spAutoFit/>
          </a:bodyPr>
          <a:lstStyle/>
          <a:p>
            <a:r>
              <a:rPr lang="nl-NL" i="1" dirty="0" smtClean="0"/>
              <a:t>w</a:t>
            </a:r>
            <a:r>
              <a:rPr lang="nl-NL" i="1" baseline="-25000" dirty="0" smtClean="0"/>
              <a:t>7</a:t>
            </a:r>
            <a:endParaRPr lang="nl-NL" dirty="0"/>
          </a:p>
        </p:txBody>
      </p:sp>
      <p:sp>
        <p:nvSpPr>
          <p:cNvPr id="30" name="Rectangle 29"/>
          <p:cNvSpPr/>
          <p:nvPr/>
        </p:nvSpPr>
        <p:spPr>
          <a:xfrm>
            <a:off x="2347204" y="5867980"/>
            <a:ext cx="428322" cy="369332"/>
          </a:xfrm>
          <a:prstGeom prst="rect">
            <a:avLst/>
          </a:prstGeom>
        </p:spPr>
        <p:txBody>
          <a:bodyPr wrap="none">
            <a:spAutoFit/>
          </a:bodyPr>
          <a:lstStyle/>
          <a:p>
            <a:r>
              <a:rPr lang="nl-NL" i="1" dirty="0" smtClean="0"/>
              <a:t>w</a:t>
            </a:r>
            <a:r>
              <a:rPr lang="nl-NL" i="1" baseline="-25000" dirty="0" smtClean="0"/>
              <a:t>8</a:t>
            </a:r>
            <a:endParaRPr lang="nl-NL" dirty="0"/>
          </a:p>
        </p:txBody>
      </p:sp>
      <p:cxnSp>
        <p:nvCxnSpPr>
          <p:cNvPr id="32" name="Straight Arrow Connector 31"/>
          <p:cNvCxnSpPr>
            <a:stCxn id="17" idx="7"/>
          </p:cNvCxnSpPr>
          <p:nvPr/>
        </p:nvCxnSpPr>
        <p:spPr>
          <a:xfrm flipV="1">
            <a:off x="1897159" y="4581128"/>
            <a:ext cx="662343" cy="50530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7" idx="5"/>
            <a:endCxn id="19" idx="2"/>
          </p:cNvCxnSpPr>
          <p:nvPr/>
        </p:nvCxnSpPr>
        <p:spPr>
          <a:xfrm>
            <a:off x="1897159" y="5137355"/>
            <a:ext cx="518327" cy="33458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2487494" y="5517232"/>
            <a:ext cx="1008112" cy="432048"/>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487494" y="5157192"/>
            <a:ext cx="1656184" cy="288032"/>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9" idx="3"/>
          </p:cNvCxnSpPr>
          <p:nvPr/>
        </p:nvCxnSpPr>
        <p:spPr>
          <a:xfrm flipH="1">
            <a:off x="2343478" y="5497395"/>
            <a:ext cx="82553" cy="595901"/>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2631510" y="4581128"/>
            <a:ext cx="576064" cy="36004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6" idx="5"/>
          </p:cNvCxnSpPr>
          <p:nvPr/>
        </p:nvCxnSpPr>
        <p:spPr>
          <a:xfrm flipV="1">
            <a:off x="3269037" y="4509120"/>
            <a:ext cx="946649" cy="484219"/>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48" name="Rectangle 47"/>
          <p:cNvSpPr/>
          <p:nvPr/>
        </p:nvSpPr>
        <p:spPr>
          <a:xfrm>
            <a:off x="5299532" y="4005064"/>
            <a:ext cx="2372538" cy="923330"/>
          </a:xfrm>
          <a:prstGeom prst="rect">
            <a:avLst/>
          </a:prstGeom>
        </p:spPr>
        <p:txBody>
          <a:bodyPr wrap="square">
            <a:spAutoFit/>
          </a:bodyPr>
          <a:lstStyle/>
          <a:p>
            <a:r>
              <a:rPr lang="nl-NL" i="1" dirty="0" smtClean="0"/>
              <a:t>w</a:t>
            </a:r>
            <a:r>
              <a:rPr lang="nl-NL" i="1" baseline="-25000" dirty="0" smtClean="0"/>
              <a:t>3 </a:t>
            </a:r>
            <a:r>
              <a:rPr lang="nl-NL" dirty="0" smtClean="0"/>
              <a:t>is bereikbaar vanuit </a:t>
            </a:r>
            <a:r>
              <a:rPr lang="nl-NL" i="1" dirty="0" smtClean="0"/>
              <a:t>w</a:t>
            </a:r>
            <a:r>
              <a:rPr lang="nl-NL" i="1" baseline="-25000" dirty="0" smtClean="0"/>
              <a:t>6 </a:t>
            </a:r>
            <a:r>
              <a:rPr lang="nl-NL" dirty="0" smtClean="0"/>
              <a:t>, </a:t>
            </a:r>
            <a:r>
              <a:rPr lang="nl-NL" i="1" dirty="0" smtClean="0"/>
              <a:t>w</a:t>
            </a:r>
            <a:r>
              <a:rPr lang="nl-NL" i="1" baseline="-25000" dirty="0" smtClean="0"/>
              <a:t>6</a:t>
            </a:r>
            <a:r>
              <a:rPr lang="nl-NL" i="1" dirty="0" smtClean="0"/>
              <a:t> </a:t>
            </a:r>
            <a:r>
              <a:rPr lang="nl-NL" dirty="0" smtClean="0"/>
              <a:t>is bereikbaar vanuit </a:t>
            </a:r>
            <a:r>
              <a:rPr lang="nl-NL" i="1" dirty="0" smtClean="0"/>
              <a:t>w</a:t>
            </a:r>
            <a:r>
              <a:rPr lang="nl-NL" i="1" baseline="-25000" dirty="0" smtClean="0"/>
              <a:t>2 </a:t>
            </a:r>
            <a:r>
              <a:rPr lang="nl-NL" dirty="0" smtClean="0"/>
              <a:t>, enzovoort.</a:t>
            </a:r>
            <a:r>
              <a:rPr lang="nl-NL" i="1" dirty="0" smtClean="0"/>
              <a:t> </a:t>
            </a:r>
            <a:r>
              <a:rPr lang="nl-NL" i="1" baseline="-25000" dirty="0" smtClean="0"/>
              <a:t> </a:t>
            </a:r>
            <a:endParaRPr lang="nl-NL" dirty="0"/>
          </a:p>
        </p:txBody>
      </p:sp>
      <p:sp>
        <p:nvSpPr>
          <p:cNvPr id="51" name="Rectangle 50"/>
          <p:cNvSpPr/>
          <p:nvPr/>
        </p:nvSpPr>
        <p:spPr>
          <a:xfrm>
            <a:off x="5295806" y="5097958"/>
            <a:ext cx="2372538" cy="646331"/>
          </a:xfrm>
          <a:prstGeom prst="rect">
            <a:avLst/>
          </a:prstGeom>
        </p:spPr>
        <p:txBody>
          <a:bodyPr wrap="square">
            <a:spAutoFit/>
          </a:bodyPr>
          <a:lstStyle/>
          <a:p>
            <a:r>
              <a:rPr lang="nl-NL" dirty="0" smtClean="0"/>
              <a:t>Is </a:t>
            </a:r>
            <a:r>
              <a:rPr lang="nl-NL" i="1" dirty="0" smtClean="0"/>
              <a:t>w</a:t>
            </a:r>
            <a:r>
              <a:rPr lang="nl-NL" i="1" baseline="-25000" dirty="0" smtClean="0"/>
              <a:t>3 </a:t>
            </a:r>
            <a:r>
              <a:rPr lang="nl-NL" dirty="0" smtClean="0"/>
              <a:t>bereikbaar vanuit </a:t>
            </a:r>
            <a:r>
              <a:rPr lang="nl-NL" i="1" dirty="0" smtClean="0"/>
              <a:t>w</a:t>
            </a:r>
            <a:r>
              <a:rPr lang="nl-NL" i="1" baseline="-25000" dirty="0" smtClean="0"/>
              <a:t>2 </a:t>
            </a:r>
            <a:r>
              <a:rPr lang="nl-NL" dirty="0" smtClean="0"/>
              <a:t>?</a:t>
            </a:r>
            <a:endParaRPr lang="nl-NL" dirty="0"/>
          </a:p>
        </p:txBody>
      </p:sp>
      <p:sp>
        <p:nvSpPr>
          <p:cNvPr id="52" name="Rectangle 51"/>
          <p:cNvSpPr/>
          <p:nvPr/>
        </p:nvSpPr>
        <p:spPr>
          <a:xfrm>
            <a:off x="5295806" y="5805264"/>
            <a:ext cx="2804586" cy="923330"/>
          </a:xfrm>
          <a:prstGeom prst="rect">
            <a:avLst/>
          </a:prstGeom>
        </p:spPr>
        <p:txBody>
          <a:bodyPr wrap="square">
            <a:spAutoFit/>
          </a:bodyPr>
          <a:lstStyle/>
          <a:p>
            <a:r>
              <a:rPr lang="nl-NL" dirty="0" smtClean="0"/>
              <a:t>Dit valt hieruit niet op te maken. Er is niet gezegd   dat R hier transitief is!</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20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20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20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20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2000"/>
                                        <p:tgtEl>
                                          <p:spTgt spid="1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2000"/>
                                        <p:tgtEl>
                                          <p:spTgt spid="2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20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2000"/>
                                        <p:tgtEl>
                                          <p:spTgt spid="2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2000"/>
                                        <p:tgtEl>
                                          <p:spTgt spid="2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2000"/>
                                        <p:tgtEl>
                                          <p:spTgt spid="2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2000"/>
                                        <p:tgtEl>
                                          <p:spTgt spid="2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fade">
                                      <p:cBhvr>
                                        <p:cTn id="45" dur="2000"/>
                                        <p:tgtEl>
                                          <p:spTgt spid="2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2000"/>
                                        <p:tgtEl>
                                          <p:spTgt spid="2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fade">
                                      <p:cBhvr>
                                        <p:cTn id="51" dur="2000"/>
                                        <p:tgtEl>
                                          <p:spTgt spid="2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2000"/>
                                        <p:tgtEl>
                                          <p:spTgt spid="2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2000"/>
                                        <p:tgtEl>
                                          <p:spTgt spid="30"/>
                                        </p:tgtEl>
                                      </p:cBhvr>
                                    </p:animEffect>
                                  </p:childTnLst>
                                </p:cTn>
                              </p:par>
                              <p:par>
                                <p:cTn id="58" presetID="10" presetClass="entr" presetSubtype="0" fill="hold" nodeType="with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000"/>
                                        <p:tgtEl>
                                          <p:spTgt spid="32"/>
                                        </p:tgtEl>
                                      </p:cBhvr>
                                    </p:animEffect>
                                  </p:childTnLst>
                                </p:cTn>
                              </p:par>
                              <p:par>
                                <p:cTn id="61" presetID="10" presetClass="entr" presetSubtype="0" fill="hold"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20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fade">
                                      <p:cBhvr>
                                        <p:cTn id="66" dur="2000"/>
                                        <p:tgtEl>
                                          <p:spTgt spid="36"/>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20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2000"/>
                                        <p:tgtEl>
                                          <p:spTgt spid="42"/>
                                        </p:tgtEl>
                                      </p:cBhvr>
                                    </p:animEffect>
                                  </p:childTnLst>
                                </p:cTn>
                              </p:par>
                              <p:par>
                                <p:cTn id="73" presetID="10" presetClass="entr" presetSubtype="0" fill="hold"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2000"/>
                                        <p:tgtEl>
                                          <p:spTgt spid="44"/>
                                        </p:tgtEl>
                                      </p:cBhvr>
                                    </p:animEffect>
                                  </p:childTnLst>
                                </p:cTn>
                              </p:par>
                              <p:par>
                                <p:cTn id="76" presetID="10" presetClass="entr" presetSubtype="0" fill="hold" nodeType="with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fade">
                                      <p:cBhvr>
                                        <p:cTn id="78" dur="2000"/>
                                        <p:tgtEl>
                                          <p:spTgt spid="4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8">
                                            <p:txEl>
                                              <p:pRg st="0" end="0"/>
                                            </p:txEl>
                                          </p:spTgt>
                                        </p:tgtEl>
                                        <p:attrNameLst>
                                          <p:attrName>style.visibility</p:attrName>
                                        </p:attrNameLst>
                                      </p:cBhvr>
                                      <p:to>
                                        <p:strVal val="visible"/>
                                      </p:to>
                                    </p:set>
                                    <p:animEffect transition="in" filter="fade">
                                      <p:cBhvr>
                                        <p:cTn id="83" dur="2000"/>
                                        <p:tgtEl>
                                          <p:spTgt spid="48">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51">
                                            <p:txEl>
                                              <p:pRg st="0" end="0"/>
                                            </p:txEl>
                                          </p:spTgt>
                                        </p:tgtEl>
                                        <p:attrNameLst>
                                          <p:attrName>style.visibility</p:attrName>
                                        </p:attrNameLst>
                                      </p:cBhvr>
                                      <p:to>
                                        <p:strVal val="visible"/>
                                      </p:to>
                                    </p:set>
                                    <p:animEffect transition="in" filter="fade">
                                      <p:cBhvr>
                                        <p:cTn id="88" dur="2000"/>
                                        <p:tgtEl>
                                          <p:spTgt spid="51">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52">
                                            <p:txEl>
                                              <p:pRg st="0" end="0"/>
                                            </p:txEl>
                                          </p:spTgt>
                                        </p:tgtEl>
                                        <p:attrNameLst>
                                          <p:attrName>style.visibility</p:attrName>
                                        </p:attrNameLst>
                                      </p:cBhvr>
                                      <p:to>
                                        <p:strVal val="visible"/>
                                      </p:to>
                                    </p:set>
                                    <p:animEffect transition="in" filter="fade">
                                      <p:cBhvr>
                                        <p:cTn id="93" dur="2000"/>
                                        <p:tgtEl>
                                          <p:spTgt spid="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4" grpId="0" animBg="1"/>
      <p:bldP spid="16" grpId="0" animBg="1"/>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29" grpId="0"/>
      <p:bldP spid="30" grpId="0"/>
      <p:bldP spid="48" grpId="0" build="allAtOnce"/>
      <p:bldP spid="51" grpId="0" build="allAtOnce"/>
      <p:bldP spid="52" grpId="0" build="allAtOnce"/>
    </p:bldLst>
  </p:timing>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Semantische geldigheid voor de modale propositielogica: mogelijke werelden</a:t>
            </a:r>
            <a:endParaRPr lang="nl-NL" sz="3600" dirty="0"/>
          </a:p>
        </p:txBody>
      </p:sp>
      <p:sp>
        <p:nvSpPr>
          <p:cNvPr id="8" name="Content Placeholder 2"/>
          <p:cNvSpPr txBox="1">
            <a:spLocks/>
          </p:cNvSpPr>
          <p:nvPr/>
        </p:nvSpPr>
        <p:spPr>
          <a:xfrm>
            <a:off x="-108520" y="3544417"/>
            <a:ext cx="8939336" cy="388639"/>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endParaRPr kumimoji="0" lang="nl-NL" sz="2000" b="1" u="none" strike="noStrike" kern="1200" cap="none" spc="0" normalizeH="0" baseline="0" noProof="0" dirty="0" smtClean="0">
              <a:ln>
                <a:noFill/>
              </a:ln>
              <a:effectLst/>
              <a:uLnTx/>
              <a:uFillTx/>
              <a:latin typeface="+mn-lt"/>
              <a:ea typeface="+mn-ea"/>
              <a:cs typeface="+mn-cs"/>
            </a:endParaRPr>
          </a:p>
        </p:txBody>
      </p:sp>
      <p:sp>
        <p:nvSpPr>
          <p:cNvPr id="62" name="Rectangle 61"/>
          <p:cNvSpPr/>
          <p:nvPr/>
        </p:nvSpPr>
        <p:spPr>
          <a:xfrm>
            <a:off x="107504" y="2924944"/>
            <a:ext cx="8352928" cy="707886"/>
          </a:xfrm>
          <a:prstGeom prst="rect">
            <a:avLst/>
          </a:prstGeom>
        </p:spPr>
        <p:txBody>
          <a:bodyPr wrap="square">
            <a:spAutoFit/>
          </a:bodyPr>
          <a:lstStyle/>
          <a:p>
            <a:pPr marL="342900" lvl="0" indent="-342900">
              <a:spcBef>
                <a:spcPct val="20000"/>
              </a:spcBef>
              <a:defRPr/>
            </a:pPr>
            <a:r>
              <a:rPr lang="nl-NL" sz="2000" dirty="0" smtClean="0"/>
              <a:t>      □P is waar in mogelijke wereld </a:t>
            </a:r>
            <a:r>
              <a:rPr lang="nl-NL" sz="2000" i="1" dirty="0" smtClean="0"/>
              <a:t>w</a:t>
            </a:r>
            <a:r>
              <a:rPr lang="nl-NL" sz="2000" dirty="0" smtClean="0"/>
              <a:t> in model M dan en slechts dan als P waar is in alle mogelijke werelden in M die vanuit </a:t>
            </a:r>
            <a:r>
              <a:rPr lang="nl-NL" sz="2000" i="1" dirty="0" smtClean="0"/>
              <a:t>w</a:t>
            </a:r>
            <a:r>
              <a:rPr lang="nl-NL" sz="2000" dirty="0" smtClean="0"/>
              <a:t> bereikbaar zijn.</a:t>
            </a:r>
          </a:p>
        </p:txBody>
      </p:sp>
      <p:sp>
        <p:nvSpPr>
          <p:cNvPr id="63" name="Rectangle 62"/>
          <p:cNvSpPr/>
          <p:nvPr/>
        </p:nvSpPr>
        <p:spPr>
          <a:xfrm>
            <a:off x="107504" y="3717032"/>
            <a:ext cx="8352928" cy="707886"/>
          </a:xfrm>
          <a:prstGeom prst="rect">
            <a:avLst/>
          </a:prstGeom>
        </p:spPr>
        <p:txBody>
          <a:bodyPr wrap="square">
            <a:spAutoFit/>
          </a:bodyPr>
          <a:lstStyle/>
          <a:p>
            <a:pPr marL="342900" lvl="0" indent="-342900">
              <a:spcBef>
                <a:spcPct val="20000"/>
              </a:spcBef>
              <a:defRPr/>
            </a:pPr>
            <a:r>
              <a:rPr lang="nl-NL" sz="2000" dirty="0" smtClean="0"/>
              <a:t> 	◊P is waar in mogelijke wereld </a:t>
            </a:r>
            <a:r>
              <a:rPr lang="nl-NL" sz="2000" i="1" dirty="0" smtClean="0"/>
              <a:t>w</a:t>
            </a:r>
            <a:r>
              <a:rPr lang="nl-NL" sz="2000" dirty="0" smtClean="0"/>
              <a:t> in model M dan en slechts dan als P waar is in tenminste één mogelijke wereld in M die vanuit </a:t>
            </a:r>
            <a:r>
              <a:rPr lang="nl-NL" sz="2000" i="1" dirty="0" smtClean="0"/>
              <a:t>w</a:t>
            </a:r>
            <a:r>
              <a:rPr lang="nl-NL" sz="2000" dirty="0" smtClean="0"/>
              <a:t> bereikbaar is.</a:t>
            </a:r>
          </a:p>
        </p:txBody>
      </p:sp>
      <p:sp>
        <p:nvSpPr>
          <p:cNvPr id="6" name="Content Placeholder 2"/>
          <p:cNvSpPr txBox="1">
            <a:spLocks/>
          </p:cNvSpPr>
          <p:nvPr/>
        </p:nvSpPr>
        <p:spPr>
          <a:xfrm>
            <a:off x="395536" y="1816225"/>
            <a:ext cx="8208912"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Met deze aanvullende begrippen kunnen de definities van ‘noodzakelijk’ en ‘mogelijk’ (waaruit dan ‘onmogelijk’ en ‘contingent’ volgen) verfijnd worden: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Content Placeholder 2"/>
          <p:cNvSpPr txBox="1">
            <a:spLocks/>
          </p:cNvSpPr>
          <p:nvPr/>
        </p:nvSpPr>
        <p:spPr>
          <a:xfrm>
            <a:off x="35496" y="5128593"/>
            <a:ext cx="8939336" cy="388639"/>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r>
              <a:rPr lang="nl-NL" sz="2000" dirty="0" smtClean="0">
                <a:solidFill>
                  <a:srgbClr val="0070C0"/>
                </a:solidFill>
              </a:rPr>
              <a:t>Voor de modale propositielogica geldt </a:t>
            </a:r>
            <a:r>
              <a:rPr lang="el-GR" sz="2000" b="1" i="1" dirty="0" smtClean="0">
                <a:solidFill>
                  <a:srgbClr val="0070C0"/>
                </a:solidFill>
              </a:rPr>
              <a:t>α</a:t>
            </a:r>
            <a:r>
              <a:rPr lang="nl-NL" sz="2000" b="1" i="1" dirty="0" smtClean="0">
                <a:solidFill>
                  <a:srgbClr val="0070C0"/>
                </a:solidFill>
              </a:rPr>
              <a:t> </a:t>
            </a:r>
            <a:r>
              <a:rPr lang="nl-NL" sz="2000" b="1" dirty="0" smtClean="0">
                <a:solidFill>
                  <a:srgbClr val="0070C0"/>
                </a:solidFill>
              </a:rPr>
              <a:t>|= </a:t>
            </a:r>
            <a:r>
              <a:rPr lang="el-GR" sz="2000" b="1" i="1" dirty="0" smtClean="0">
                <a:solidFill>
                  <a:srgbClr val="0070C0"/>
                </a:solidFill>
              </a:rPr>
              <a:t>β</a:t>
            </a:r>
            <a:r>
              <a:rPr lang="nl-NL" sz="2000" b="1" dirty="0" smtClean="0">
                <a:solidFill>
                  <a:srgbClr val="0070C0"/>
                </a:solidFill>
              </a:rPr>
              <a:t> </a:t>
            </a:r>
            <a:r>
              <a:rPr lang="nl-NL" sz="2000" dirty="0" smtClean="0">
                <a:solidFill>
                  <a:srgbClr val="0070C0"/>
                </a:solidFill>
              </a:rPr>
              <a:t>dan en slechts dan als                                voor alle modellen M en mogelijke werelden </a:t>
            </a:r>
            <a:r>
              <a:rPr lang="nl-NL" sz="2000" i="1" dirty="0" smtClean="0">
                <a:solidFill>
                  <a:srgbClr val="0070C0"/>
                </a:solidFill>
              </a:rPr>
              <a:t>w</a:t>
            </a:r>
            <a:r>
              <a:rPr lang="nl-NL" sz="2000" dirty="0" smtClean="0">
                <a:solidFill>
                  <a:srgbClr val="0070C0"/>
                </a:solidFill>
              </a:rPr>
              <a:t> in M geldt: </a:t>
            </a:r>
            <a:r>
              <a:rPr lang="nl-NL" sz="2000" u="sng" dirty="0" smtClean="0">
                <a:solidFill>
                  <a:srgbClr val="0070C0"/>
                </a:solidFill>
              </a:rPr>
              <a:t>als</a:t>
            </a:r>
            <a:r>
              <a:rPr lang="nl-NL" sz="2000" dirty="0" smtClean="0">
                <a:solidFill>
                  <a:srgbClr val="0070C0"/>
                </a:solidFill>
              </a:rPr>
              <a:t> </a:t>
            </a:r>
            <a:r>
              <a:rPr lang="el-GR" sz="2000" b="1" i="1" dirty="0" smtClean="0">
                <a:solidFill>
                  <a:srgbClr val="0070C0"/>
                </a:solidFill>
              </a:rPr>
              <a:t>α</a:t>
            </a:r>
            <a:r>
              <a:rPr lang="nl-NL" sz="2000" dirty="0" smtClean="0">
                <a:solidFill>
                  <a:srgbClr val="0070C0"/>
                </a:solidFill>
              </a:rPr>
              <a:t>                                 waar is in w in M, </a:t>
            </a:r>
            <a:r>
              <a:rPr lang="nl-NL" sz="2000" u="sng" dirty="0" smtClean="0">
                <a:solidFill>
                  <a:srgbClr val="0070C0"/>
                </a:solidFill>
              </a:rPr>
              <a:t>dan</a:t>
            </a:r>
            <a:r>
              <a:rPr lang="nl-NL" sz="2000" dirty="0" smtClean="0">
                <a:solidFill>
                  <a:srgbClr val="0070C0"/>
                </a:solidFill>
              </a:rPr>
              <a:t> is </a:t>
            </a:r>
            <a:r>
              <a:rPr lang="el-GR" sz="2000" b="1" i="1" dirty="0" smtClean="0">
                <a:solidFill>
                  <a:srgbClr val="0070C0"/>
                </a:solidFill>
              </a:rPr>
              <a:t>β</a:t>
            </a:r>
            <a:r>
              <a:rPr lang="nl-NL" sz="2000" dirty="0" smtClean="0">
                <a:solidFill>
                  <a:srgbClr val="0070C0"/>
                </a:solidFill>
              </a:rPr>
              <a:t> waar in </a:t>
            </a:r>
            <a:r>
              <a:rPr lang="nl-NL" sz="2000" i="1" dirty="0" smtClean="0">
                <a:solidFill>
                  <a:srgbClr val="0070C0"/>
                </a:solidFill>
              </a:rPr>
              <a:t>w</a:t>
            </a:r>
            <a:r>
              <a:rPr lang="nl-NL" sz="2000" dirty="0" smtClean="0">
                <a:solidFill>
                  <a:srgbClr val="0070C0"/>
                </a:solidFill>
              </a:rPr>
              <a:t> in M  </a:t>
            </a:r>
            <a:endParaRPr kumimoji="0" lang="nl-NL" sz="2000" u="none" strike="noStrike" kern="1200" cap="none" spc="0" normalizeH="0" baseline="0" noProof="0" dirty="0" smtClean="0">
              <a:ln>
                <a:noFill/>
              </a:ln>
              <a:solidFill>
                <a:srgbClr val="0070C0"/>
              </a:solidFill>
              <a:effectLst/>
              <a:uLnTx/>
              <a:uFillTx/>
              <a:latin typeface="+mn-lt"/>
              <a:ea typeface="+mn-ea"/>
              <a:cs typeface="+mn-cs"/>
            </a:endParaRPr>
          </a:p>
        </p:txBody>
      </p:sp>
      <p:sp>
        <p:nvSpPr>
          <p:cNvPr id="9" name="Content Placeholder 2"/>
          <p:cNvSpPr txBox="1">
            <a:spLocks/>
          </p:cNvSpPr>
          <p:nvPr/>
        </p:nvSpPr>
        <p:spPr>
          <a:xfrm>
            <a:off x="395536" y="4624537"/>
            <a:ext cx="8208912"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De notie van </a:t>
            </a:r>
            <a:r>
              <a:rPr lang="nl-NL" sz="2000" noProof="0" dirty="0" smtClean="0">
                <a:solidFill>
                  <a:srgbClr val="0070C0"/>
                </a:solidFill>
              </a:rPr>
              <a:t>semantische geldigheid </a:t>
            </a:r>
            <a:r>
              <a:rPr lang="nl-NL" sz="2000" noProof="0" dirty="0" smtClean="0"/>
              <a:t>wordt dan als volgt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xEl>
                                              <p:pRg st="0" end="0"/>
                                            </p:txEl>
                                          </p:spTgt>
                                        </p:tgtEl>
                                        <p:attrNameLst>
                                          <p:attrName>style.visibility</p:attrName>
                                        </p:attrNameLst>
                                      </p:cBhvr>
                                      <p:to>
                                        <p:strVal val="visible"/>
                                      </p:to>
                                    </p:set>
                                    <p:animEffect transition="in" filter="fade">
                                      <p:cBhvr>
                                        <p:cTn id="7" dur="2000"/>
                                        <p:tgtEl>
                                          <p:spTgt spid="6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xEl>
                                              <p:pRg st="0" end="0"/>
                                            </p:txEl>
                                          </p:spTgt>
                                        </p:tgtEl>
                                        <p:attrNameLst>
                                          <p:attrName>style.visibility</p:attrName>
                                        </p:attrNameLst>
                                      </p:cBhvr>
                                      <p:to>
                                        <p:strVal val="visible"/>
                                      </p:to>
                                    </p:set>
                                    <p:animEffect transition="in" filter="fade">
                                      <p:cBhvr>
                                        <p:cTn id="12" dur="2000"/>
                                        <p:tgtEl>
                                          <p:spTgt spid="6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fade">
                                      <p:cBhvr>
                                        <p:cTn id="17" dur="20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allAtOnce"/>
      <p:bldP spid="63" grpId="0" build="allAtOnce"/>
      <p:bldP spid="7" grpId="0" build="allAtOnce"/>
      <p:bldP spid="9" grpId="0" build="allAtOnce"/>
    </p:bldLst>
  </p:timing>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Semantische geldigheid voor de modale propositielogica: mogelijke werelden</a:t>
            </a:r>
            <a:endParaRPr lang="nl-NL" sz="3600" dirty="0"/>
          </a:p>
        </p:txBody>
      </p:sp>
      <p:sp>
        <p:nvSpPr>
          <p:cNvPr id="8" name="Content Placeholder 2"/>
          <p:cNvSpPr txBox="1">
            <a:spLocks/>
          </p:cNvSpPr>
          <p:nvPr/>
        </p:nvSpPr>
        <p:spPr>
          <a:xfrm>
            <a:off x="-108520" y="3544417"/>
            <a:ext cx="8939336" cy="388639"/>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endParaRPr kumimoji="0" lang="nl-NL" sz="2000" b="1" u="none" strike="noStrike" kern="1200" cap="none" spc="0" normalizeH="0" baseline="0" noProof="0" dirty="0" smtClean="0">
              <a:ln>
                <a:noFill/>
              </a:ln>
              <a:effectLst/>
              <a:uLnTx/>
              <a:uFillTx/>
              <a:latin typeface="+mn-lt"/>
              <a:ea typeface="+mn-ea"/>
              <a:cs typeface="+mn-cs"/>
            </a:endParaRPr>
          </a:p>
        </p:txBody>
      </p:sp>
      <p:sp>
        <p:nvSpPr>
          <p:cNvPr id="6" name="Content Placeholder 2"/>
          <p:cNvSpPr txBox="1">
            <a:spLocks/>
          </p:cNvSpPr>
          <p:nvPr/>
        </p:nvSpPr>
        <p:spPr>
          <a:xfrm>
            <a:off x="395536" y="1816225"/>
            <a:ext cx="7632848" cy="388639"/>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Stel</a:t>
            </a:r>
            <a:r>
              <a:rPr kumimoji="0" lang="nl-NL" sz="2000" b="0" i="0" u="none" strike="noStrike" kern="1200" cap="none" spc="0" normalizeH="0" noProof="0" dirty="0" smtClean="0">
                <a:ln>
                  <a:noFill/>
                </a:ln>
                <a:solidFill>
                  <a:schemeClr val="tx1"/>
                </a:solidFill>
                <a:effectLst/>
                <a:uLnTx/>
                <a:uFillTx/>
                <a:latin typeface="+mn-lt"/>
                <a:ea typeface="+mn-ea"/>
                <a:cs typeface="+mn-cs"/>
              </a:rPr>
              <a:t> dat we eisen dat voor alle modellen de toegankelijkheidsrelatie     R reflexief is. </a:t>
            </a:r>
            <a:r>
              <a:rPr lang="nl-NL" sz="2000" dirty="0" smtClean="0"/>
              <a:t>Laat zien dat P |=  ◊P</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TextBox 10"/>
          <p:cNvSpPr txBox="1"/>
          <p:nvPr/>
        </p:nvSpPr>
        <p:spPr>
          <a:xfrm>
            <a:off x="683568" y="2852936"/>
            <a:ext cx="7416824" cy="2400657"/>
          </a:xfrm>
          <a:prstGeom prst="rect">
            <a:avLst/>
          </a:prstGeom>
          <a:noFill/>
        </p:spPr>
        <p:txBody>
          <a:bodyPr wrap="square" rtlCol="0">
            <a:spAutoFit/>
          </a:bodyPr>
          <a:lstStyle/>
          <a:p>
            <a:r>
              <a:rPr lang="nl-NL" dirty="0" smtClean="0"/>
              <a:t>Neem een willekeurig model M en mogelijke wereld </a:t>
            </a:r>
            <a:r>
              <a:rPr lang="nl-NL" i="1" dirty="0" smtClean="0"/>
              <a:t>w</a:t>
            </a:r>
            <a:r>
              <a:rPr lang="nl-NL" dirty="0" smtClean="0"/>
              <a:t> in M zodanig dat P waar is in </a:t>
            </a:r>
            <a:r>
              <a:rPr lang="nl-NL" i="1" dirty="0" smtClean="0"/>
              <a:t>w</a:t>
            </a:r>
            <a:r>
              <a:rPr lang="nl-NL" dirty="0" smtClean="0"/>
              <a:t>. </a:t>
            </a:r>
          </a:p>
          <a:p>
            <a:endParaRPr lang="nl-NL" sz="800" dirty="0" smtClean="0"/>
          </a:p>
          <a:p>
            <a:r>
              <a:rPr lang="nl-NL" dirty="0" smtClean="0"/>
              <a:t>Is dan ook ◊P waar in </a:t>
            </a:r>
            <a:r>
              <a:rPr lang="nl-NL" i="1" dirty="0" smtClean="0"/>
              <a:t>w</a:t>
            </a:r>
            <a:r>
              <a:rPr lang="nl-NL" dirty="0" smtClean="0"/>
              <a:t>? Is anders gezegd P waar in tenminste één vanuit </a:t>
            </a:r>
            <a:r>
              <a:rPr lang="nl-NL" i="1" dirty="0" smtClean="0"/>
              <a:t>w</a:t>
            </a:r>
            <a:r>
              <a:rPr lang="nl-NL" dirty="0" smtClean="0"/>
              <a:t> bereikbare mogelijke wereld in M? </a:t>
            </a:r>
          </a:p>
          <a:p>
            <a:endParaRPr lang="nl-NL" sz="800" dirty="0" smtClean="0"/>
          </a:p>
          <a:p>
            <a:r>
              <a:rPr lang="nl-NL" dirty="0" smtClean="0"/>
              <a:t>Ja, dat is het geval. Mogelijke wereld </a:t>
            </a:r>
            <a:r>
              <a:rPr lang="nl-NL" i="1" dirty="0" smtClean="0"/>
              <a:t>w</a:t>
            </a:r>
            <a:r>
              <a:rPr lang="nl-NL" dirty="0" smtClean="0"/>
              <a:t> is namelijk zelf bereikbaar vanuit </a:t>
            </a:r>
            <a:r>
              <a:rPr lang="nl-NL" i="1" dirty="0" smtClean="0"/>
              <a:t>w</a:t>
            </a:r>
            <a:r>
              <a:rPr lang="nl-NL" dirty="0" smtClean="0"/>
              <a:t> (vanwege de reflexiviteit van R) en bovendien is P waar in </a:t>
            </a:r>
            <a:r>
              <a:rPr lang="nl-NL" i="1" dirty="0" smtClean="0"/>
              <a:t>w</a:t>
            </a:r>
            <a:r>
              <a:rPr lang="nl-NL" dirty="0" smtClean="0"/>
              <a:t>. </a:t>
            </a:r>
          </a:p>
          <a:p>
            <a:endParaRPr lang="nl-NL" sz="800" dirty="0" smtClean="0"/>
          </a:p>
          <a:p>
            <a:r>
              <a:rPr lang="nl-NL" dirty="0" smtClean="0"/>
              <a:t>Dus volgt inderdaad P |=  ◊P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xEl>
                                              <p:pRg st="2" end="2"/>
                                            </p:txEl>
                                          </p:spTgt>
                                        </p:tgtEl>
                                        <p:attrNameLst>
                                          <p:attrName>style.visibility</p:attrName>
                                        </p:attrNameLst>
                                      </p:cBhvr>
                                      <p:to>
                                        <p:strVal val="visible"/>
                                      </p:to>
                                    </p:set>
                                    <p:animEffect transition="in" filter="fade">
                                      <p:cBhvr>
                                        <p:cTn id="10" dur="2000"/>
                                        <p:tgtEl>
                                          <p:spTgt spid="11">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xEl>
                                              <p:pRg st="4" end="4"/>
                                            </p:txEl>
                                          </p:spTgt>
                                        </p:tgtEl>
                                        <p:attrNameLst>
                                          <p:attrName>style.visibility</p:attrName>
                                        </p:attrNameLst>
                                      </p:cBhvr>
                                      <p:to>
                                        <p:strVal val="visible"/>
                                      </p:to>
                                    </p:set>
                                    <p:animEffect transition="in" filter="fade">
                                      <p:cBhvr>
                                        <p:cTn id="13" dur="2000"/>
                                        <p:tgtEl>
                                          <p:spTgt spid="11">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xEl>
                                              <p:pRg st="6" end="6"/>
                                            </p:txEl>
                                          </p:spTgt>
                                        </p:tgtEl>
                                        <p:attrNameLst>
                                          <p:attrName>style.visibility</p:attrName>
                                        </p:attrNameLst>
                                      </p:cBhvr>
                                      <p:to>
                                        <p:strVal val="visible"/>
                                      </p:to>
                                    </p:set>
                                    <p:animEffect transition="in" filter="fade">
                                      <p:cBhvr>
                                        <p:cTn id="16" dur="2000"/>
                                        <p:tgtEl>
                                          <p:spTgt spid="1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Lst>
  </p:timing>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NL" sz="3600" dirty="0" smtClean="0"/>
              <a:t>Semantische geldigheid voor de modale propositielogica: mogelijke werelden</a:t>
            </a:r>
            <a:endParaRPr lang="nl-NL" sz="3600" dirty="0"/>
          </a:p>
        </p:txBody>
      </p:sp>
      <p:sp>
        <p:nvSpPr>
          <p:cNvPr id="10" name="Content Placeholder 2"/>
          <p:cNvSpPr txBox="1">
            <a:spLocks/>
          </p:cNvSpPr>
          <p:nvPr/>
        </p:nvSpPr>
        <p:spPr>
          <a:xfrm>
            <a:off x="395536" y="1816225"/>
            <a:ext cx="8208912" cy="388639"/>
          </a:xfrm>
          <a:prstGeom prst="rect">
            <a:avLst/>
          </a:prstGeom>
        </p:spPr>
        <p:txBody>
          <a:bodyPr vert="horz" lIns="91440" tIns="45720" rIns="91440" bIns="45720" rtlCol="0">
            <a:noAutofit/>
          </a:bodyPr>
          <a:lstStyle/>
          <a:p>
            <a:pPr marL="342900" lvl="0" indent="-342900">
              <a:spcBef>
                <a:spcPct val="20000"/>
              </a:spcBef>
              <a:defRPr/>
            </a:pPr>
            <a:r>
              <a:rPr lang="nl-NL" sz="2000" dirty="0" smtClean="0"/>
              <a:t>      </a:t>
            </a:r>
            <a:r>
              <a:rPr kumimoji="0" lang="nl-NL" sz="2000" b="0" i="0" u="none" strike="noStrike" kern="1200" cap="none" spc="0" normalizeH="0" baseline="0" noProof="0" dirty="0" smtClean="0">
                <a:ln>
                  <a:noFill/>
                </a:ln>
                <a:solidFill>
                  <a:schemeClr val="tx1"/>
                </a:solidFill>
                <a:effectLst/>
                <a:uLnTx/>
                <a:uFillTx/>
                <a:latin typeface="+mn-lt"/>
                <a:ea typeface="+mn-ea"/>
                <a:cs typeface="+mn-cs"/>
              </a:rPr>
              <a:t>Stel</a:t>
            </a:r>
            <a:r>
              <a:rPr kumimoji="0" lang="nl-NL" sz="2000" b="0" i="0" u="none" strike="noStrike" kern="1200" cap="none" spc="0" normalizeH="0" noProof="0" dirty="0" smtClean="0">
                <a:ln>
                  <a:noFill/>
                </a:ln>
                <a:solidFill>
                  <a:schemeClr val="tx1"/>
                </a:solidFill>
                <a:effectLst/>
                <a:uLnTx/>
                <a:uFillTx/>
                <a:latin typeface="+mn-lt"/>
                <a:ea typeface="+mn-ea"/>
                <a:cs typeface="+mn-cs"/>
              </a:rPr>
              <a:t> dat we eisen dat voor alle modellen de toegankelijkheidsrelatie transitief is. </a:t>
            </a:r>
            <a:r>
              <a:rPr lang="nl-NL" sz="2000" dirty="0" smtClean="0"/>
              <a:t>Laat zien dat □P |= □□P</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TextBox 6"/>
          <p:cNvSpPr txBox="1"/>
          <p:nvPr/>
        </p:nvSpPr>
        <p:spPr>
          <a:xfrm>
            <a:off x="683568" y="2852936"/>
            <a:ext cx="8208912" cy="3354765"/>
          </a:xfrm>
          <a:prstGeom prst="rect">
            <a:avLst/>
          </a:prstGeom>
          <a:noFill/>
        </p:spPr>
        <p:txBody>
          <a:bodyPr wrap="square" rtlCol="0">
            <a:spAutoFit/>
          </a:bodyPr>
          <a:lstStyle/>
          <a:p>
            <a:r>
              <a:rPr lang="nl-NL" dirty="0" smtClean="0"/>
              <a:t>Neem willekeurig model M en mogelijke wereld </a:t>
            </a:r>
            <a:r>
              <a:rPr lang="nl-NL" i="1" dirty="0" smtClean="0"/>
              <a:t>w</a:t>
            </a:r>
            <a:r>
              <a:rPr lang="nl-NL" dirty="0" smtClean="0"/>
              <a:t> in M zodanig dat □P waar is in </a:t>
            </a:r>
            <a:r>
              <a:rPr lang="nl-NL" i="1" dirty="0" smtClean="0"/>
              <a:t>w</a:t>
            </a:r>
            <a:r>
              <a:rPr lang="nl-NL" dirty="0" smtClean="0"/>
              <a:t>. </a:t>
            </a:r>
          </a:p>
          <a:p>
            <a:endParaRPr lang="nl-NL" sz="800" dirty="0" smtClean="0"/>
          </a:p>
          <a:p>
            <a:r>
              <a:rPr lang="nl-NL" dirty="0" smtClean="0"/>
              <a:t>Is dan ook □□P waar in </a:t>
            </a:r>
            <a:r>
              <a:rPr lang="nl-NL" i="1" dirty="0" smtClean="0"/>
              <a:t>w</a:t>
            </a:r>
            <a:r>
              <a:rPr lang="nl-NL" dirty="0" smtClean="0"/>
              <a:t>? Is anders gezegd □P waar in alle mogelijke werelden die vanuit </a:t>
            </a:r>
            <a:r>
              <a:rPr lang="nl-NL" i="1" dirty="0" smtClean="0"/>
              <a:t>w</a:t>
            </a:r>
            <a:r>
              <a:rPr lang="nl-NL" dirty="0" smtClean="0"/>
              <a:t> bereikbaar zijn?</a:t>
            </a:r>
          </a:p>
          <a:p>
            <a:endParaRPr lang="nl-NL" sz="800" dirty="0" smtClean="0"/>
          </a:p>
          <a:p>
            <a:r>
              <a:rPr lang="nl-NL" dirty="0" smtClean="0"/>
              <a:t>Neem een willekeurige vanuit </a:t>
            </a:r>
            <a:r>
              <a:rPr lang="nl-NL" i="1" dirty="0" smtClean="0"/>
              <a:t>w</a:t>
            </a:r>
            <a:r>
              <a:rPr lang="nl-NL" dirty="0" smtClean="0"/>
              <a:t> bereikbare wereld, zeg </a:t>
            </a:r>
            <a:r>
              <a:rPr lang="nl-NL" i="1" dirty="0" smtClean="0"/>
              <a:t>w</a:t>
            </a:r>
            <a:r>
              <a:rPr lang="nl-NL" i="1" baseline="-25000" dirty="0" smtClean="0"/>
              <a:t>2</a:t>
            </a:r>
            <a:r>
              <a:rPr lang="nl-NL" dirty="0" smtClean="0"/>
              <a:t>. Is nu □P waar in </a:t>
            </a:r>
            <a:r>
              <a:rPr lang="nl-NL" i="1" dirty="0" smtClean="0"/>
              <a:t>w</a:t>
            </a:r>
            <a:r>
              <a:rPr lang="nl-NL" i="1" baseline="-25000" dirty="0" smtClean="0"/>
              <a:t>2</a:t>
            </a:r>
            <a:r>
              <a:rPr lang="nl-NL" dirty="0" smtClean="0"/>
              <a:t>? Is anders gezegd P waar in alle werelden die vanuit </a:t>
            </a:r>
            <a:r>
              <a:rPr lang="nl-NL" i="1" dirty="0" smtClean="0"/>
              <a:t>w</a:t>
            </a:r>
            <a:r>
              <a:rPr lang="nl-NL" i="1" baseline="-25000" dirty="0" smtClean="0"/>
              <a:t>2</a:t>
            </a:r>
            <a:r>
              <a:rPr lang="nl-NL" i="1" dirty="0" smtClean="0"/>
              <a:t> </a:t>
            </a:r>
            <a:r>
              <a:rPr lang="nl-NL" dirty="0" smtClean="0"/>
              <a:t>bereikbaar zijn? Neem een willekeurige vanuit </a:t>
            </a:r>
            <a:r>
              <a:rPr lang="nl-NL" i="1" dirty="0" smtClean="0"/>
              <a:t>w</a:t>
            </a:r>
            <a:r>
              <a:rPr lang="nl-NL" i="1" baseline="-25000" dirty="0" smtClean="0"/>
              <a:t>2  </a:t>
            </a:r>
            <a:r>
              <a:rPr lang="nl-NL" dirty="0" smtClean="0"/>
              <a:t>bereikbare mogelijke wereld, zeg w</a:t>
            </a:r>
            <a:r>
              <a:rPr lang="nl-NL" baseline="-25000" dirty="0" smtClean="0"/>
              <a:t>3.</a:t>
            </a:r>
            <a:r>
              <a:rPr lang="nl-NL" dirty="0" smtClean="0"/>
              <a:t> Is nu P waar in </a:t>
            </a:r>
            <a:r>
              <a:rPr lang="nl-NL" i="1" dirty="0" smtClean="0"/>
              <a:t>w</a:t>
            </a:r>
            <a:r>
              <a:rPr lang="nl-NL" i="1" baseline="-25000" dirty="0" smtClean="0"/>
              <a:t>3</a:t>
            </a:r>
            <a:r>
              <a:rPr lang="nl-NL" dirty="0" smtClean="0"/>
              <a:t>?</a:t>
            </a:r>
          </a:p>
          <a:p>
            <a:endParaRPr lang="nl-NL" sz="800" dirty="0" smtClean="0"/>
          </a:p>
          <a:p>
            <a:r>
              <a:rPr lang="nl-NL" dirty="0" smtClean="0"/>
              <a:t>Welnu, </a:t>
            </a:r>
            <a:r>
              <a:rPr lang="nl-NL" i="1" dirty="0" smtClean="0"/>
              <a:t>w</a:t>
            </a:r>
            <a:r>
              <a:rPr lang="nl-NL" i="1" baseline="-25000" dirty="0" smtClean="0"/>
              <a:t>3 </a:t>
            </a:r>
            <a:r>
              <a:rPr lang="nl-NL" dirty="0" smtClean="0"/>
              <a:t>is bereikbaar vanuit </a:t>
            </a:r>
            <a:r>
              <a:rPr lang="nl-NL" i="1" dirty="0" smtClean="0"/>
              <a:t>w</a:t>
            </a:r>
            <a:r>
              <a:rPr lang="nl-NL" i="1" baseline="-25000" dirty="0" smtClean="0"/>
              <a:t>2 </a:t>
            </a:r>
            <a:r>
              <a:rPr lang="nl-NL" dirty="0" smtClean="0"/>
              <a:t>en </a:t>
            </a:r>
            <a:r>
              <a:rPr lang="nl-NL" i="1" dirty="0" smtClean="0"/>
              <a:t>w</a:t>
            </a:r>
            <a:r>
              <a:rPr lang="nl-NL" i="1" baseline="-25000" dirty="0" smtClean="0"/>
              <a:t>2 </a:t>
            </a:r>
            <a:r>
              <a:rPr lang="nl-NL" dirty="0" smtClean="0"/>
              <a:t>is bereikbaar vanuit </a:t>
            </a:r>
            <a:r>
              <a:rPr lang="nl-NL" i="1" dirty="0" smtClean="0"/>
              <a:t>w</a:t>
            </a:r>
            <a:r>
              <a:rPr lang="nl-NL" dirty="0" smtClean="0"/>
              <a:t>. De </a:t>
            </a:r>
            <a:r>
              <a:rPr lang="nl-NL" dirty="0" err="1" smtClean="0"/>
              <a:t>toegankelijkheids-relatie</a:t>
            </a:r>
            <a:r>
              <a:rPr lang="nl-NL" dirty="0" smtClean="0"/>
              <a:t> R is transitief. Maar dan is </a:t>
            </a:r>
            <a:r>
              <a:rPr lang="nl-NL" i="1" dirty="0" smtClean="0"/>
              <a:t>w</a:t>
            </a:r>
            <a:r>
              <a:rPr lang="nl-NL" i="1" baseline="-25000" dirty="0" smtClean="0"/>
              <a:t>3</a:t>
            </a:r>
            <a:r>
              <a:rPr lang="nl-NL" i="1" dirty="0" smtClean="0"/>
              <a:t> </a:t>
            </a:r>
            <a:r>
              <a:rPr lang="nl-NL" dirty="0" smtClean="0"/>
              <a:t>ook bereikbaar vanuit </a:t>
            </a:r>
            <a:r>
              <a:rPr lang="nl-NL" i="1" dirty="0" smtClean="0"/>
              <a:t>w</a:t>
            </a:r>
            <a:r>
              <a:rPr lang="nl-NL" dirty="0" smtClean="0"/>
              <a:t>. Nu is □P waar in </a:t>
            </a:r>
            <a:r>
              <a:rPr lang="nl-NL" i="1" dirty="0" smtClean="0"/>
              <a:t>w</a:t>
            </a:r>
            <a:r>
              <a:rPr lang="nl-NL" dirty="0" smtClean="0"/>
              <a:t>. Maar dan is per definitie P waar in </a:t>
            </a:r>
            <a:r>
              <a:rPr lang="nl-NL" i="1" dirty="0" smtClean="0"/>
              <a:t>w</a:t>
            </a:r>
            <a:r>
              <a:rPr lang="nl-NL" i="1" baseline="-25000" dirty="0" smtClean="0"/>
              <a:t>3</a:t>
            </a:r>
            <a:r>
              <a:rPr lang="nl-NL" dirty="0" smtClean="0"/>
              <a:t>. Dus is □P waar in </a:t>
            </a:r>
            <a:r>
              <a:rPr lang="nl-NL" i="1" dirty="0" smtClean="0"/>
              <a:t>w</a:t>
            </a:r>
            <a:r>
              <a:rPr lang="nl-NL" i="1" baseline="-25000" dirty="0" smtClean="0"/>
              <a:t>2</a:t>
            </a:r>
            <a:r>
              <a:rPr lang="nl-NL" dirty="0" smtClean="0"/>
              <a:t>. En dus is □□P waar in </a:t>
            </a:r>
            <a:r>
              <a:rPr lang="nl-NL" i="1" dirty="0" smtClean="0"/>
              <a:t>w</a:t>
            </a:r>
            <a:r>
              <a:rPr lang="nl-NL" dirty="0" smtClean="0"/>
              <a:t>.</a:t>
            </a:r>
            <a:r>
              <a:rPr lang="nl-NL" i="1" baseline="-25000" dirty="0" smtClean="0"/>
              <a:t> </a:t>
            </a:r>
            <a:endParaRPr lang="nl-NL" dirty="0" smtClean="0"/>
          </a:p>
          <a:p>
            <a:endParaRPr lang="nl-NL" sz="800" dirty="0" smtClean="0"/>
          </a:p>
          <a:p>
            <a:r>
              <a:rPr lang="nl-NL" dirty="0" smtClean="0"/>
              <a:t>Dus volgt inderdaad □P |= □□P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20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fade">
                                      <p:cBhvr>
                                        <p:cTn id="10" dur="2000"/>
                                        <p:tgtEl>
                                          <p:spTgt spid="7">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2000"/>
                                        <p:tgtEl>
                                          <p:spTgt spid="7">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6" end="6"/>
                                            </p:txEl>
                                          </p:spTgt>
                                        </p:tgtEl>
                                        <p:attrNameLst>
                                          <p:attrName>style.visibility</p:attrName>
                                        </p:attrNameLst>
                                      </p:cBhvr>
                                      <p:to>
                                        <p:strVal val="visible"/>
                                      </p:to>
                                    </p:set>
                                    <p:animEffect transition="in" filter="fade">
                                      <p:cBhvr>
                                        <p:cTn id="16" dur="2000"/>
                                        <p:tgtEl>
                                          <p:spTgt spid="7">
                                            <p:txEl>
                                              <p:pRg st="6" end="6"/>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Effect transition="in" filter="fade">
                                      <p:cBhvr>
                                        <p:cTn id="19" dur="20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a:t>
            </a:r>
            <a:r>
              <a:rPr lang="nl-NL" sz="3600" dirty="0" err="1" smtClean="0"/>
              <a:t>predikatenlogica</a:t>
            </a:r>
            <a:endParaRPr lang="nl-NL" sz="3600" dirty="0"/>
          </a:p>
        </p:txBody>
      </p:sp>
      <p:sp>
        <p:nvSpPr>
          <p:cNvPr id="6" name="Content Placeholder 2"/>
          <p:cNvSpPr txBox="1">
            <a:spLocks/>
          </p:cNvSpPr>
          <p:nvPr/>
        </p:nvSpPr>
        <p:spPr>
          <a:xfrm>
            <a:off x="395536" y="1816225"/>
            <a:ext cx="8208912"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In de modale </a:t>
            </a:r>
            <a:r>
              <a:rPr lang="nl-NL" sz="2000" noProof="0" dirty="0" err="1" smtClean="0"/>
              <a:t>predikatenlogica</a:t>
            </a:r>
            <a:r>
              <a:rPr lang="nl-NL" sz="2000" noProof="0" dirty="0" smtClean="0"/>
              <a:t> speelt het </a:t>
            </a:r>
            <a:r>
              <a:rPr lang="nl-NL" sz="2000" dirty="0" smtClean="0"/>
              <a:t>klassieke </a:t>
            </a:r>
            <a:r>
              <a:rPr lang="nl-NL" sz="2000" noProof="0" dirty="0" smtClean="0"/>
              <a:t>onderscheid tussen               </a:t>
            </a:r>
            <a:r>
              <a:rPr lang="nl-NL" sz="2000" i="1" noProof="0" dirty="0" smtClean="0"/>
              <a:t>de re</a:t>
            </a:r>
            <a:r>
              <a:rPr lang="nl-NL" sz="2000" noProof="0" dirty="0" smtClean="0"/>
              <a:t> en </a:t>
            </a:r>
            <a:r>
              <a:rPr lang="nl-NL" sz="2000" i="1" noProof="0" dirty="0" smtClean="0"/>
              <a:t>de </a:t>
            </a:r>
            <a:r>
              <a:rPr lang="nl-NL" sz="2000" i="1" noProof="0" dirty="0" err="1" smtClean="0"/>
              <a:t>dicto</a:t>
            </a:r>
            <a:r>
              <a:rPr lang="nl-NL" sz="2000" i="1" noProof="0" dirty="0" smtClean="0"/>
              <a:t> </a:t>
            </a:r>
            <a:r>
              <a:rPr lang="nl-NL" sz="2000" noProof="0" dirty="0" smtClean="0"/>
              <a:t>een belangrijke rol.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Rectangle 9"/>
          <p:cNvSpPr/>
          <p:nvPr/>
        </p:nvSpPr>
        <p:spPr>
          <a:xfrm>
            <a:off x="467544" y="2668850"/>
            <a:ext cx="7920880" cy="400110"/>
          </a:xfrm>
          <a:prstGeom prst="rect">
            <a:avLst/>
          </a:prstGeom>
        </p:spPr>
        <p:txBody>
          <a:bodyPr wrap="square">
            <a:spAutoFit/>
          </a:bodyPr>
          <a:lstStyle/>
          <a:p>
            <a:r>
              <a:rPr lang="nl-NL" sz="2000" dirty="0" smtClean="0">
                <a:solidFill>
                  <a:srgbClr val="0070C0"/>
                </a:solidFill>
              </a:rPr>
              <a:t>Het is mogelijk dat in 2013 Mark Rutte niet de premier van Nederland is.</a:t>
            </a:r>
            <a:endParaRPr lang="nl-NL" sz="2000" dirty="0">
              <a:solidFill>
                <a:srgbClr val="0070C0"/>
              </a:solidFill>
            </a:endParaRPr>
          </a:p>
        </p:txBody>
      </p:sp>
      <p:sp>
        <p:nvSpPr>
          <p:cNvPr id="11" name="Content Placeholder 2"/>
          <p:cNvSpPr txBox="1">
            <a:spLocks/>
          </p:cNvSpPr>
          <p:nvPr/>
        </p:nvSpPr>
        <p:spPr>
          <a:xfrm>
            <a:off x="467544" y="3212976"/>
            <a:ext cx="8208912"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Waar of onwaar?</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35496" y="3717032"/>
            <a:ext cx="8208912"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Jan: “Deze zin is waar. Mark Rutte was in 2013 weliswaar premier van </a:t>
            </a:r>
            <a:br>
              <a:rPr lang="nl-NL" sz="2000" noProof="0" dirty="0" smtClean="0"/>
            </a:br>
            <a:r>
              <a:rPr lang="nl-NL" sz="2000" noProof="0" dirty="0" smtClean="0"/>
              <a:t> Nederland, maar als de verkiezingen en/of kabinetsformatie anders  </a:t>
            </a:r>
            <a:br>
              <a:rPr lang="nl-NL" sz="2000" noProof="0" dirty="0" smtClean="0"/>
            </a:br>
            <a:r>
              <a:rPr lang="nl-NL" sz="2000" noProof="0" dirty="0" smtClean="0"/>
              <a:t> gelopen was, dan had net zo goed iemand anders premier kunnen zijn”.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Content Placeholder 2"/>
          <p:cNvSpPr txBox="1">
            <a:spLocks/>
          </p:cNvSpPr>
          <p:nvPr/>
        </p:nvSpPr>
        <p:spPr>
          <a:xfrm>
            <a:off x="35496" y="4725144"/>
            <a:ext cx="8208912"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Marie: “Deze zin is onwaar. Het is niet mogelijk dat in 2013 Mark Rutte </a:t>
            </a:r>
            <a:br>
              <a:rPr lang="nl-NL" sz="2000" noProof="0" dirty="0" smtClean="0"/>
            </a:br>
            <a:r>
              <a:rPr lang="nl-NL" sz="2000" noProof="0" dirty="0" smtClean="0"/>
              <a:t> niet Mark Rutte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5496" y="5517232"/>
            <a:ext cx="8208912"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Wanneer we ‘premier van Nederland’ </a:t>
            </a:r>
            <a:r>
              <a:rPr lang="nl-NL" sz="2000" i="1" noProof="0" dirty="0" smtClean="0"/>
              <a:t>de </a:t>
            </a:r>
            <a:r>
              <a:rPr lang="nl-NL" sz="2000" i="1" noProof="0" dirty="0" err="1" smtClean="0"/>
              <a:t>dicto</a:t>
            </a:r>
            <a:r>
              <a:rPr lang="nl-NL" sz="2000" noProof="0" dirty="0" smtClean="0"/>
              <a:t> (‘over het woord’)  </a:t>
            </a:r>
            <a:br>
              <a:rPr lang="nl-NL" sz="2000" noProof="0" dirty="0" smtClean="0"/>
            </a:br>
            <a:r>
              <a:rPr lang="nl-NL" sz="2000" noProof="0" dirty="0" smtClean="0"/>
              <a:t> opvatten, dan heeft Jan gelijk. Wanneer we ‘premier van Nederland’                   </a:t>
            </a:r>
            <a:br>
              <a:rPr lang="nl-NL" sz="2000" noProof="0" dirty="0" smtClean="0"/>
            </a:br>
            <a:r>
              <a:rPr lang="nl-NL" sz="2000" noProof="0" dirty="0" smtClean="0"/>
              <a:t> </a:t>
            </a:r>
            <a:r>
              <a:rPr lang="nl-NL" sz="2000" i="1" noProof="0" dirty="0" smtClean="0"/>
              <a:t>de re</a:t>
            </a:r>
            <a:r>
              <a:rPr lang="nl-NL" sz="2000" noProof="0" dirty="0" smtClean="0"/>
              <a:t> (‘over het ding’) opvatten, dan heeft Marie gelijk</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2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fade">
                                      <p:cBhvr>
                                        <p:cTn id="12" dur="20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Effect transition="in" filter="fade">
                                      <p:cBhvr>
                                        <p:cTn id="17" dur="2000"/>
                                        <p:tgtEl>
                                          <p:spTgt spid="1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fade">
                                      <p:cBhvr>
                                        <p:cTn id="22" dur="20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animEffect transition="in" filter="fade">
                                      <p:cBhvr>
                                        <p:cTn id="27"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allAtOnce"/>
      <p:bldP spid="11" grpId="0" build="allAtOnce"/>
      <p:bldP spid="12" grpId="0" build="allAtOnce"/>
      <p:bldP spid="13" grpId="0" build="allAtOnce"/>
      <p:bldP spid="14" grpId="0" build="allAtOnce"/>
    </p:bldLst>
  </p:timing>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a:t>
            </a:r>
            <a:r>
              <a:rPr lang="nl-NL" sz="3600" dirty="0" err="1" smtClean="0"/>
              <a:t>predikatenlogica</a:t>
            </a:r>
            <a:endParaRPr lang="nl-NL" sz="3600" dirty="0"/>
          </a:p>
        </p:txBody>
      </p:sp>
      <p:sp>
        <p:nvSpPr>
          <p:cNvPr id="6" name="Content Placeholder 2"/>
          <p:cNvSpPr txBox="1">
            <a:spLocks/>
          </p:cNvSpPr>
          <p:nvPr/>
        </p:nvSpPr>
        <p:spPr>
          <a:xfrm>
            <a:off x="395536" y="1816225"/>
            <a:ext cx="8208912"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In de modale </a:t>
            </a:r>
            <a:r>
              <a:rPr lang="nl-NL" sz="2000" noProof="0" dirty="0" err="1" smtClean="0"/>
              <a:t>predikatenlogica</a:t>
            </a:r>
            <a:r>
              <a:rPr lang="nl-NL" sz="2000" noProof="0" dirty="0" smtClean="0"/>
              <a:t> speelt het </a:t>
            </a:r>
            <a:r>
              <a:rPr lang="nl-NL" sz="2000" dirty="0" smtClean="0"/>
              <a:t>klassieke </a:t>
            </a:r>
            <a:r>
              <a:rPr lang="nl-NL" sz="2000" noProof="0" dirty="0" smtClean="0"/>
              <a:t>onderscheid tussen               </a:t>
            </a:r>
            <a:r>
              <a:rPr lang="nl-NL" sz="2000" i="1" noProof="0" dirty="0" smtClean="0"/>
              <a:t>de re</a:t>
            </a:r>
            <a:r>
              <a:rPr lang="nl-NL" sz="2000" noProof="0" dirty="0" smtClean="0"/>
              <a:t> en </a:t>
            </a:r>
            <a:r>
              <a:rPr lang="nl-NL" sz="2000" i="1" noProof="0" dirty="0" smtClean="0"/>
              <a:t>de </a:t>
            </a:r>
            <a:r>
              <a:rPr lang="nl-NL" sz="2000" i="1" noProof="0" dirty="0" err="1" smtClean="0"/>
              <a:t>dicto</a:t>
            </a:r>
            <a:r>
              <a:rPr lang="nl-NL" sz="2000" i="1" noProof="0" dirty="0" smtClean="0"/>
              <a:t> </a:t>
            </a:r>
            <a:r>
              <a:rPr lang="nl-NL" sz="2000" noProof="0" dirty="0" smtClean="0"/>
              <a:t>een belangrijke rol.</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Rectangle 9"/>
          <p:cNvSpPr/>
          <p:nvPr/>
        </p:nvSpPr>
        <p:spPr>
          <a:xfrm>
            <a:off x="467544" y="2668850"/>
            <a:ext cx="7920880" cy="400110"/>
          </a:xfrm>
          <a:prstGeom prst="rect">
            <a:avLst/>
          </a:prstGeom>
        </p:spPr>
        <p:txBody>
          <a:bodyPr wrap="square">
            <a:spAutoFit/>
          </a:bodyPr>
          <a:lstStyle/>
          <a:p>
            <a:r>
              <a:rPr lang="nl-NL" sz="2000" dirty="0" smtClean="0">
                <a:solidFill>
                  <a:srgbClr val="0070C0"/>
                </a:solidFill>
              </a:rPr>
              <a:t>Het aantal universiteiten in Amsterdam is noodzakelijk twee</a:t>
            </a:r>
            <a:endParaRPr lang="nl-NL" sz="2000" dirty="0">
              <a:solidFill>
                <a:srgbClr val="0070C0"/>
              </a:solidFill>
            </a:endParaRPr>
          </a:p>
        </p:txBody>
      </p:sp>
      <p:sp>
        <p:nvSpPr>
          <p:cNvPr id="11" name="Content Placeholder 2"/>
          <p:cNvSpPr txBox="1">
            <a:spLocks/>
          </p:cNvSpPr>
          <p:nvPr/>
        </p:nvSpPr>
        <p:spPr>
          <a:xfrm>
            <a:off x="467544" y="3212976"/>
            <a:ext cx="8208912"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Waar of onwaar?</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4" name="Content Placeholder 2"/>
          <p:cNvSpPr txBox="1">
            <a:spLocks/>
          </p:cNvSpPr>
          <p:nvPr/>
        </p:nvSpPr>
        <p:spPr>
          <a:xfrm>
            <a:off x="35496" y="3717032"/>
            <a:ext cx="8208912" cy="11521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dirty="0" smtClean="0"/>
              <a:t>       </a:t>
            </a:r>
            <a:r>
              <a:rPr lang="nl-NL" sz="2000" noProof="0" dirty="0" smtClean="0"/>
              <a:t>Wanneer we ‘Het aantal universiteiten in Amsterdam ’ </a:t>
            </a:r>
            <a:r>
              <a:rPr lang="nl-NL" sz="2000" i="1" noProof="0" dirty="0" smtClean="0"/>
              <a:t>de </a:t>
            </a:r>
            <a:r>
              <a:rPr lang="nl-NL" sz="2000" i="1" noProof="0" dirty="0" err="1" smtClean="0"/>
              <a:t>dicto</a:t>
            </a:r>
            <a:r>
              <a:rPr lang="nl-NL" sz="2000" noProof="0" dirty="0" smtClean="0"/>
              <a:t> (‘over het  </a:t>
            </a:r>
            <a:br>
              <a:rPr lang="nl-NL" sz="2000" noProof="0" dirty="0" smtClean="0"/>
            </a:br>
            <a:r>
              <a:rPr lang="nl-NL" sz="2000" noProof="0" dirty="0" smtClean="0"/>
              <a:t> woord’) opvatten, dan is deze zin onwaar. Wanneer we ‘Het aantal </a:t>
            </a:r>
            <a:br>
              <a:rPr lang="nl-NL" sz="2000" noProof="0" dirty="0" smtClean="0"/>
            </a:br>
            <a:r>
              <a:rPr lang="nl-NL" sz="2000" noProof="0" dirty="0" smtClean="0"/>
              <a:t> universiteiten in Amsterdam’ </a:t>
            </a:r>
            <a:r>
              <a:rPr lang="nl-NL" sz="2000" i="1" noProof="0" dirty="0" smtClean="0"/>
              <a:t>de re</a:t>
            </a:r>
            <a:r>
              <a:rPr lang="nl-NL" sz="2000" noProof="0" dirty="0" smtClean="0"/>
              <a:t> lezen, dan is deze zin waar.</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20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14" grpId="0" build="allAtOnce"/>
    </p:bldLst>
  </p:timing>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a:t>
            </a:r>
            <a:r>
              <a:rPr lang="nl-NL" sz="3600" dirty="0" err="1" smtClean="0"/>
              <a:t>predikatenlogica</a:t>
            </a:r>
            <a:endParaRPr lang="nl-NL" sz="3600" dirty="0"/>
          </a:p>
        </p:txBody>
      </p:sp>
      <p:sp>
        <p:nvSpPr>
          <p:cNvPr id="8" name="Content Placeholder 2"/>
          <p:cNvSpPr txBox="1">
            <a:spLocks/>
          </p:cNvSpPr>
          <p:nvPr/>
        </p:nvSpPr>
        <p:spPr>
          <a:xfrm>
            <a:off x="467544" y="1589311"/>
            <a:ext cx="2520280"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Iedereen kan winnen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0" name="Content Placeholder 2"/>
          <p:cNvSpPr txBox="1">
            <a:spLocks/>
          </p:cNvSpPr>
          <p:nvPr/>
        </p:nvSpPr>
        <p:spPr>
          <a:xfrm>
            <a:off x="107504" y="2420888"/>
            <a:ext cx="2520280"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Het is mogelijk dat iedereen wint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Content Placeholder 2"/>
          <p:cNvSpPr txBox="1">
            <a:spLocks/>
          </p:cNvSpPr>
          <p:nvPr/>
        </p:nvSpPr>
        <p:spPr>
          <a:xfrm>
            <a:off x="107504" y="3544417"/>
            <a:ext cx="3600400"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Er is een object dat </a:t>
            </a:r>
            <a:r>
              <a:rPr lang="nl-NL" sz="2000" noProof="0" dirty="0" err="1" smtClean="0"/>
              <a:t>nood-zakelijk</a:t>
            </a:r>
            <a:r>
              <a:rPr lang="nl-NL" sz="2000" noProof="0" dirty="0" smtClean="0"/>
              <a:t> </a:t>
            </a:r>
            <a:r>
              <a:rPr lang="nl-NL" sz="2000" noProof="0" dirty="0" err="1" smtClean="0"/>
              <a:t>onveroorzaakt</a:t>
            </a:r>
            <a:r>
              <a:rPr lang="nl-NL" sz="2000" dirty="0" smtClean="0"/>
              <a:t> </a:t>
            </a:r>
            <a:r>
              <a:rPr lang="nl-NL" sz="2000" noProof="0" dirty="0" smtClean="0"/>
              <a:t>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2" name="Content Placeholder 2"/>
          <p:cNvSpPr txBox="1">
            <a:spLocks/>
          </p:cNvSpPr>
          <p:nvPr/>
        </p:nvSpPr>
        <p:spPr>
          <a:xfrm>
            <a:off x="107504" y="4840561"/>
            <a:ext cx="3600400"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t>	Het is noodzakelijk dat er een object is dat </a:t>
            </a:r>
            <a:r>
              <a:rPr lang="nl-NL" sz="2000" noProof="0" dirty="0" err="1" smtClean="0"/>
              <a:t>onveroorzaakt</a:t>
            </a:r>
            <a:r>
              <a:rPr lang="nl-NL" sz="2000" noProof="0" dirty="0" smtClean="0"/>
              <a:t> is</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3" name="Rectangle 12"/>
          <p:cNvSpPr/>
          <p:nvPr/>
        </p:nvSpPr>
        <p:spPr>
          <a:xfrm>
            <a:off x="4355976" y="1556792"/>
            <a:ext cx="989373" cy="400110"/>
          </a:xfrm>
          <a:prstGeom prst="rect">
            <a:avLst/>
          </a:prstGeom>
        </p:spPr>
        <p:txBody>
          <a:bodyPr wrap="none">
            <a:spAutoFit/>
          </a:bodyPr>
          <a:lstStyle/>
          <a:p>
            <a:r>
              <a:rPr lang="nl-NL" sz="2000" dirty="0" smtClean="0"/>
              <a:t>∀x</a:t>
            </a:r>
            <a:r>
              <a:rPr lang="nl-NL" sz="2000" b="1" dirty="0" smtClean="0"/>
              <a:t> </a:t>
            </a:r>
            <a:r>
              <a:rPr lang="nl-NL" sz="2000" dirty="0" smtClean="0"/>
              <a:t>◊</a:t>
            </a:r>
            <a:r>
              <a:rPr lang="nl-NL" sz="2000" dirty="0" err="1" smtClean="0"/>
              <a:t>Wx</a:t>
            </a:r>
            <a:endParaRPr lang="nl-NL" sz="2000" dirty="0"/>
          </a:p>
        </p:txBody>
      </p:sp>
      <p:sp>
        <p:nvSpPr>
          <p:cNvPr id="14" name="TextBox 13"/>
          <p:cNvSpPr txBox="1"/>
          <p:nvPr/>
        </p:nvSpPr>
        <p:spPr>
          <a:xfrm>
            <a:off x="6804248" y="1547500"/>
            <a:ext cx="2016224" cy="646331"/>
          </a:xfrm>
          <a:prstGeom prst="rect">
            <a:avLst/>
          </a:prstGeom>
          <a:noFill/>
        </p:spPr>
        <p:txBody>
          <a:bodyPr wrap="square" rtlCol="0">
            <a:spAutoFit/>
          </a:bodyPr>
          <a:lstStyle/>
          <a:p>
            <a:r>
              <a:rPr lang="nl-NL" dirty="0" err="1" smtClean="0"/>
              <a:t>Wx</a:t>
            </a:r>
            <a:r>
              <a:rPr lang="nl-NL" dirty="0" smtClean="0"/>
              <a:t>: x wint</a:t>
            </a:r>
            <a:br>
              <a:rPr lang="nl-NL" dirty="0" smtClean="0"/>
            </a:br>
            <a:r>
              <a:rPr lang="nl-NL" dirty="0" smtClean="0"/>
              <a:t>Domein: mensen</a:t>
            </a:r>
            <a:endParaRPr lang="nl-NL" dirty="0"/>
          </a:p>
        </p:txBody>
      </p:sp>
      <p:sp>
        <p:nvSpPr>
          <p:cNvPr id="15" name="Rectangle 14"/>
          <p:cNvSpPr/>
          <p:nvPr/>
        </p:nvSpPr>
        <p:spPr>
          <a:xfrm>
            <a:off x="4355976" y="2524834"/>
            <a:ext cx="926857" cy="400110"/>
          </a:xfrm>
          <a:prstGeom prst="rect">
            <a:avLst/>
          </a:prstGeom>
        </p:spPr>
        <p:txBody>
          <a:bodyPr wrap="none">
            <a:spAutoFit/>
          </a:bodyPr>
          <a:lstStyle/>
          <a:p>
            <a:r>
              <a:rPr lang="nl-NL" sz="2000" dirty="0" smtClean="0"/>
              <a:t>◊∀</a:t>
            </a:r>
            <a:r>
              <a:rPr lang="nl-NL" sz="2000" dirty="0" err="1" smtClean="0"/>
              <a:t>xWx</a:t>
            </a:r>
            <a:endParaRPr lang="nl-NL" sz="2000" dirty="0"/>
          </a:p>
        </p:txBody>
      </p:sp>
      <p:sp>
        <p:nvSpPr>
          <p:cNvPr id="16" name="TextBox 15"/>
          <p:cNvSpPr txBox="1"/>
          <p:nvPr/>
        </p:nvSpPr>
        <p:spPr>
          <a:xfrm>
            <a:off x="6804248" y="2422629"/>
            <a:ext cx="2016224" cy="646331"/>
          </a:xfrm>
          <a:prstGeom prst="rect">
            <a:avLst/>
          </a:prstGeom>
          <a:noFill/>
        </p:spPr>
        <p:txBody>
          <a:bodyPr wrap="square" rtlCol="0">
            <a:spAutoFit/>
          </a:bodyPr>
          <a:lstStyle/>
          <a:p>
            <a:r>
              <a:rPr lang="nl-NL" dirty="0" err="1" smtClean="0"/>
              <a:t>Wx</a:t>
            </a:r>
            <a:r>
              <a:rPr lang="nl-NL" dirty="0" smtClean="0"/>
              <a:t>: x wint</a:t>
            </a:r>
            <a:br>
              <a:rPr lang="nl-NL" dirty="0" smtClean="0"/>
            </a:br>
            <a:r>
              <a:rPr lang="nl-NL" dirty="0" smtClean="0"/>
              <a:t>Domein: mensen</a:t>
            </a:r>
            <a:endParaRPr lang="nl-NL" dirty="0"/>
          </a:p>
        </p:txBody>
      </p:sp>
      <p:sp>
        <p:nvSpPr>
          <p:cNvPr id="19" name="Rectangle 18"/>
          <p:cNvSpPr/>
          <p:nvPr/>
        </p:nvSpPr>
        <p:spPr>
          <a:xfrm>
            <a:off x="4300976" y="3645024"/>
            <a:ext cx="1063112" cy="400110"/>
          </a:xfrm>
          <a:prstGeom prst="rect">
            <a:avLst/>
          </a:prstGeom>
        </p:spPr>
        <p:txBody>
          <a:bodyPr wrap="none">
            <a:spAutoFit/>
          </a:bodyPr>
          <a:lstStyle/>
          <a:p>
            <a:r>
              <a:rPr lang="nl-NL" sz="2000" dirty="0" smtClean="0"/>
              <a:t>∃x □¬</a:t>
            </a:r>
            <a:r>
              <a:rPr lang="nl-NL" sz="2000" dirty="0" err="1" smtClean="0"/>
              <a:t>Vx</a:t>
            </a:r>
            <a:endParaRPr lang="nl-NL" sz="2000" dirty="0"/>
          </a:p>
        </p:txBody>
      </p:sp>
      <p:sp>
        <p:nvSpPr>
          <p:cNvPr id="20" name="TextBox 19"/>
          <p:cNvSpPr txBox="1"/>
          <p:nvPr/>
        </p:nvSpPr>
        <p:spPr>
          <a:xfrm>
            <a:off x="6804248" y="3635732"/>
            <a:ext cx="2016224" cy="369332"/>
          </a:xfrm>
          <a:prstGeom prst="rect">
            <a:avLst/>
          </a:prstGeom>
          <a:noFill/>
        </p:spPr>
        <p:txBody>
          <a:bodyPr wrap="square" rtlCol="0">
            <a:spAutoFit/>
          </a:bodyPr>
          <a:lstStyle/>
          <a:p>
            <a:r>
              <a:rPr lang="nl-NL" dirty="0" err="1" smtClean="0"/>
              <a:t>Vx</a:t>
            </a:r>
            <a:r>
              <a:rPr lang="nl-NL" dirty="0" smtClean="0"/>
              <a:t>: x is veroorzaakt</a:t>
            </a:r>
            <a:endParaRPr lang="nl-NL" dirty="0"/>
          </a:p>
        </p:txBody>
      </p:sp>
      <p:sp>
        <p:nvSpPr>
          <p:cNvPr id="21" name="Rectangle 20"/>
          <p:cNvSpPr/>
          <p:nvPr/>
        </p:nvSpPr>
        <p:spPr>
          <a:xfrm>
            <a:off x="4283968" y="4941168"/>
            <a:ext cx="986167" cy="400110"/>
          </a:xfrm>
          <a:prstGeom prst="rect">
            <a:avLst/>
          </a:prstGeom>
        </p:spPr>
        <p:txBody>
          <a:bodyPr wrap="none">
            <a:spAutoFit/>
          </a:bodyPr>
          <a:lstStyle/>
          <a:p>
            <a:r>
              <a:rPr lang="nl-NL" sz="2000" dirty="0" smtClean="0"/>
              <a:t>□∃x¬</a:t>
            </a:r>
            <a:r>
              <a:rPr lang="nl-NL" sz="2000" dirty="0" err="1" smtClean="0"/>
              <a:t>Vx</a:t>
            </a:r>
            <a:endParaRPr lang="nl-NL" sz="2000" dirty="0"/>
          </a:p>
        </p:txBody>
      </p:sp>
      <p:sp>
        <p:nvSpPr>
          <p:cNvPr id="22" name="TextBox 21"/>
          <p:cNvSpPr txBox="1"/>
          <p:nvPr/>
        </p:nvSpPr>
        <p:spPr>
          <a:xfrm>
            <a:off x="6804248" y="4931876"/>
            <a:ext cx="2016224" cy="369332"/>
          </a:xfrm>
          <a:prstGeom prst="rect">
            <a:avLst/>
          </a:prstGeom>
          <a:noFill/>
        </p:spPr>
        <p:txBody>
          <a:bodyPr wrap="square" rtlCol="0">
            <a:spAutoFit/>
          </a:bodyPr>
          <a:lstStyle/>
          <a:p>
            <a:r>
              <a:rPr lang="nl-NL" dirty="0" err="1" smtClean="0"/>
              <a:t>Vx</a:t>
            </a:r>
            <a:r>
              <a:rPr lang="nl-NL" dirty="0" smtClean="0"/>
              <a:t>: x is veroorzaakt</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fade">
                                      <p:cBhvr>
                                        <p:cTn id="12" dur="2000"/>
                                        <p:tgtEl>
                                          <p:spTgt spid="1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fade">
                                      <p:cBhvr>
                                        <p:cTn id="15" dur="2000"/>
                                        <p:tgtEl>
                                          <p:spTgt spid="1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fade">
                                      <p:cBhvr>
                                        <p:cTn id="20" dur="2000"/>
                                        <p:tgtEl>
                                          <p:spTgt spid="10">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fade">
                                      <p:cBhvr>
                                        <p:cTn id="25" dur="2000"/>
                                        <p:tgtEl>
                                          <p:spTgt spid="15">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xEl>
                                              <p:pRg st="0" end="0"/>
                                            </p:txEl>
                                          </p:spTgt>
                                        </p:tgtEl>
                                        <p:attrNameLst>
                                          <p:attrName>style.visibility</p:attrName>
                                        </p:attrNameLst>
                                      </p:cBhvr>
                                      <p:to>
                                        <p:strVal val="visible"/>
                                      </p:to>
                                    </p:set>
                                    <p:animEffect transition="in" filter="fade">
                                      <p:cBhvr>
                                        <p:cTn id="28" dur="2000"/>
                                        <p:tgtEl>
                                          <p:spTgt spid="1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animEffect transition="in" filter="fade">
                                      <p:cBhvr>
                                        <p:cTn id="33" dur="2000"/>
                                        <p:tgtEl>
                                          <p:spTgt spid="11">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9">
                                            <p:txEl>
                                              <p:pRg st="0" end="0"/>
                                            </p:txEl>
                                          </p:spTgt>
                                        </p:tgtEl>
                                        <p:attrNameLst>
                                          <p:attrName>style.visibility</p:attrName>
                                        </p:attrNameLst>
                                      </p:cBhvr>
                                      <p:to>
                                        <p:strVal val="visible"/>
                                      </p:to>
                                    </p:set>
                                    <p:animEffect transition="in" filter="fade">
                                      <p:cBhvr>
                                        <p:cTn id="38" dur="2000"/>
                                        <p:tgtEl>
                                          <p:spTgt spid="19">
                                            <p:txEl>
                                              <p:pRg st="0" end="0"/>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animEffect transition="in" filter="fade">
                                      <p:cBhvr>
                                        <p:cTn id="41" dur="2000"/>
                                        <p:tgtEl>
                                          <p:spTgt spid="20">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xEl>
                                              <p:pRg st="0" end="0"/>
                                            </p:txEl>
                                          </p:spTgt>
                                        </p:tgtEl>
                                        <p:attrNameLst>
                                          <p:attrName>style.visibility</p:attrName>
                                        </p:attrNameLst>
                                      </p:cBhvr>
                                      <p:to>
                                        <p:strVal val="visible"/>
                                      </p:to>
                                    </p:set>
                                    <p:animEffect transition="in" filter="fade">
                                      <p:cBhvr>
                                        <p:cTn id="46" dur="2000"/>
                                        <p:tgtEl>
                                          <p:spTgt spid="12">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
                                            <p:txEl>
                                              <p:pRg st="0" end="0"/>
                                            </p:txEl>
                                          </p:spTgt>
                                        </p:tgtEl>
                                        <p:attrNameLst>
                                          <p:attrName>style.visibility</p:attrName>
                                        </p:attrNameLst>
                                      </p:cBhvr>
                                      <p:to>
                                        <p:strVal val="visible"/>
                                      </p:to>
                                    </p:set>
                                    <p:animEffect transition="in" filter="fade">
                                      <p:cBhvr>
                                        <p:cTn id="51" dur="2000"/>
                                        <p:tgtEl>
                                          <p:spTgt spid="21">
                                            <p:txEl>
                                              <p:pRg st="0" end="0"/>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xEl>
                                              <p:pRg st="0" end="0"/>
                                            </p:txEl>
                                          </p:spTgt>
                                        </p:tgtEl>
                                        <p:attrNameLst>
                                          <p:attrName>style.visibility</p:attrName>
                                        </p:attrNameLst>
                                      </p:cBhvr>
                                      <p:to>
                                        <p:strVal val="visible"/>
                                      </p:to>
                                    </p:set>
                                    <p:animEffect transition="in" filter="fade">
                                      <p:cBhvr>
                                        <p:cTn id="54" dur="20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allAtOnce"/>
      <p:bldP spid="10" grpId="0" build="allAtOnce"/>
      <p:bldP spid="11" grpId="0" build="allAtOnce"/>
      <p:bldP spid="12" grpId="0" build="allAtOnce"/>
      <p:bldP spid="13" grpId="0" build="allAtOnce"/>
      <p:bldP spid="14" grpId="0" build="allAtOnce"/>
      <p:bldP spid="15" grpId="0" build="allAtOnce"/>
      <p:bldP spid="16" grpId="0" build="allAtOnce"/>
      <p:bldP spid="19" grpId="0" build="allAtOnce"/>
      <p:bldP spid="20" grpId="0" build="allAtOnce"/>
      <p:bldP spid="21" grpId="0" build="allAtOnce"/>
      <p:bldP spid="22" grpId="0" build="allAtOnce"/>
    </p:bldLst>
  </p:timing>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Modale </a:t>
            </a:r>
            <a:r>
              <a:rPr lang="nl-NL" sz="3600" dirty="0" err="1" smtClean="0"/>
              <a:t>predikatenlogica</a:t>
            </a:r>
            <a:endParaRPr lang="nl-NL" sz="3600" dirty="0"/>
          </a:p>
        </p:txBody>
      </p:sp>
      <p:sp>
        <p:nvSpPr>
          <p:cNvPr id="8" name="Content Placeholder 2"/>
          <p:cNvSpPr txBox="1">
            <a:spLocks/>
          </p:cNvSpPr>
          <p:nvPr/>
        </p:nvSpPr>
        <p:spPr>
          <a:xfrm>
            <a:off x="467544" y="1454587"/>
            <a:ext cx="2520280"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solidFill>
                  <a:srgbClr val="C00000"/>
                </a:solidFill>
              </a:rPr>
              <a:t>Iedereen kan winnen</a:t>
            </a:r>
            <a:endParaRPr kumimoji="0" lang="nl-NL" sz="2000" b="0" i="0" u="none" strike="noStrike" kern="1200" cap="none" spc="0" normalizeH="0" baseline="0" noProof="0" dirty="0" smtClean="0">
              <a:ln>
                <a:noFill/>
              </a:ln>
              <a:solidFill>
                <a:srgbClr val="C00000"/>
              </a:solidFill>
              <a:effectLst/>
              <a:uLnTx/>
              <a:uFillTx/>
              <a:latin typeface="+mn-lt"/>
              <a:ea typeface="+mn-ea"/>
              <a:cs typeface="+mn-cs"/>
            </a:endParaRPr>
          </a:p>
        </p:txBody>
      </p:sp>
      <p:sp>
        <p:nvSpPr>
          <p:cNvPr id="10" name="Content Placeholder 2"/>
          <p:cNvSpPr txBox="1">
            <a:spLocks/>
          </p:cNvSpPr>
          <p:nvPr/>
        </p:nvSpPr>
        <p:spPr>
          <a:xfrm>
            <a:off x="107504" y="1988840"/>
            <a:ext cx="2520280"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solidFill>
                  <a:srgbClr val="0070C0"/>
                </a:solidFill>
              </a:rPr>
              <a:t>	Het is mogelijk dat iedereen wint</a:t>
            </a:r>
            <a:endParaRPr kumimoji="0" lang="nl-NL" sz="20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1" name="Content Placeholder 2"/>
          <p:cNvSpPr txBox="1">
            <a:spLocks/>
          </p:cNvSpPr>
          <p:nvPr/>
        </p:nvSpPr>
        <p:spPr>
          <a:xfrm>
            <a:off x="107504" y="2852936"/>
            <a:ext cx="3600400"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solidFill>
                  <a:srgbClr val="C00000"/>
                </a:solidFill>
              </a:rPr>
              <a:t>	Er is een object dat </a:t>
            </a:r>
            <a:r>
              <a:rPr lang="nl-NL" sz="2000" noProof="0" dirty="0" err="1" smtClean="0">
                <a:solidFill>
                  <a:srgbClr val="C00000"/>
                </a:solidFill>
              </a:rPr>
              <a:t>nood-zakelijk</a:t>
            </a:r>
            <a:r>
              <a:rPr lang="nl-NL" sz="2000" noProof="0" dirty="0" smtClean="0">
                <a:solidFill>
                  <a:srgbClr val="C00000"/>
                </a:solidFill>
              </a:rPr>
              <a:t> </a:t>
            </a:r>
            <a:r>
              <a:rPr lang="nl-NL" sz="2000" noProof="0" dirty="0" err="1" smtClean="0">
                <a:solidFill>
                  <a:srgbClr val="C00000"/>
                </a:solidFill>
              </a:rPr>
              <a:t>onveroorzaakt</a:t>
            </a:r>
            <a:r>
              <a:rPr lang="nl-NL" sz="2000" dirty="0" smtClean="0">
                <a:solidFill>
                  <a:srgbClr val="C00000"/>
                </a:solidFill>
              </a:rPr>
              <a:t> </a:t>
            </a:r>
            <a:r>
              <a:rPr lang="nl-NL" sz="2000" noProof="0" dirty="0" smtClean="0">
                <a:solidFill>
                  <a:srgbClr val="C00000"/>
                </a:solidFill>
              </a:rPr>
              <a:t>is</a:t>
            </a:r>
            <a:endParaRPr kumimoji="0" lang="nl-NL" sz="2000" b="0" i="0" u="none" strike="noStrike" kern="1200" cap="none" spc="0" normalizeH="0" baseline="0" noProof="0" dirty="0" smtClean="0">
              <a:ln>
                <a:noFill/>
              </a:ln>
              <a:solidFill>
                <a:srgbClr val="C00000"/>
              </a:solidFill>
              <a:effectLst/>
              <a:uLnTx/>
              <a:uFillTx/>
              <a:latin typeface="+mn-lt"/>
              <a:ea typeface="+mn-ea"/>
              <a:cs typeface="+mn-cs"/>
            </a:endParaRPr>
          </a:p>
        </p:txBody>
      </p:sp>
      <p:sp>
        <p:nvSpPr>
          <p:cNvPr id="12" name="Content Placeholder 2"/>
          <p:cNvSpPr txBox="1">
            <a:spLocks/>
          </p:cNvSpPr>
          <p:nvPr/>
        </p:nvSpPr>
        <p:spPr>
          <a:xfrm>
            <a:off x="107504" y="3789040"/>
            <a:ext cx="3600400" cy="110871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nl-NL" sz="2000" noProof="0" dirty="0" smtClean="0">
                <a:solidFill>
                  <a:srgbClr val="0070C0"/>
                </a:solidFill>
              </a:rPr>
              <a:t>	Het is noodzakelijk dat er een object is dat </a:t>
            </a:r>
            <a:r>
              <a:rPr lang="nl-NL" sz="2000" noProof="0" dirty="0" err="1" smtClean="0">
                <a:solidFill>
                  <a:srgbClr val="0070C0"/>
                </a:solidFill>
              </a:rPr>
              <a:t>onveroorzaakt</a:t>
            </a:r>
            <a:r>
              <a:rPr lang="nl-NL" sz="2000" noProof="0" dirty="0" smtClean="0">
                <a:solidFill>
                  <a:srgbClr val="0070C0"/>
                </a:solidFill>
              </a:rPr>
              <a:t> is</a:t>
            </a:r>
            <a:endParaRPr kumimoji="0" lang="nl-NL" sz="2000" b="0" i="0" u="none" strike="noStrike" kern="1200" cap="none" spc="0" normalizeH="0" baseline="0" noProof="0" dirty="0" smtClean="0">
              <a:ln>
                <a:noFill/>
              </a:ln>
              <a:solidFill>
                <a:srgbClr val="0070C0"/>
              </a:solidFill>
              <a:effectLst/>
              <a:uLnTx/>
              <a:uFillTx/>
              <a:latin typeface="+mn-lt"/>
              <a:ea typeface="+mn-ea"/>
              <a:cs typeface="+mn-cs"/>
            </a:endParaRPr>
          </a:p>
        </p:txBody>
      </p:sp>
      <p:sp>
        <p:nvSpPr>
          <p:cNvPr id="13" name="Rectangle 12"/>
          <p:cNvSpPr/>
          <p:nvPr/>
        </p:nvSpPr>
        <p:spPr>
          <a:xfrm>
            <a:off x="4355976" y="1422068"/>
            <a:ext cx="989373" cy="400110"/>
          </a:xfrm>
          <a:prstGeom prst="rect">
            <a:avLst/>
          </a:prstGeom>
        </p:spPr>
        <p:txBody>
          <a:bodyPr wrap="none">
            <a:spAutoFit/>
          </a:bodyPr>
          <a:lstStyle/>
          <a:p>
            <a:r>
              <a:rPr lang="nl-NL" sz="2000" dirty="0" smtClean="0">
                <a:solidFill>
                  <a:srgbClr val="C00000"/>
                </a:solidFill>
              </a:rPr>
              <a:t>∀x</a:t>
            </a:r>
            <a:r>
              <a:rPr lang="nl-NL" sz="2000" b="1" dirty="0" smtClean="0">
                <a:solidFill>
                  <a:srgbClr val="C00000"/>
                </a:solidFill>
              </a:rPr>
              <a:t> </a:t>
            </a:r>
            <a:r>
              <a:rPr lang="nl-NL" sz="2000" dirty="0" smtClean="0">
                <a:solidFill>
                  <a:srgbClr val="C00000"/>
                </a:solidFill>
              </a:rPr>
              <a:t>◊</a:t>
            </a:r>
            <a:r>
              <a:rPr lang="nl-NL" sz="2000" dirty="0" err="1" smtClean="0">
                <a:solidFill>
                  <a:srgbClr val="C00000"/>
                </a:solidFill>
              </a:rPr>
              <a:t>Wx</a:t>
            </a:r>
            <a:endParaRPr lang="nl-NL" sz="2000" dirty="0">
              <a:solidFill>
                <a:srgbClr val="C00000"/>
              </a:solidFill>
            </a:endParaRPr>
          </a:p>
        </p:txBody>
      </p:sp>
      <p:sp>
        <p:nvSpPr>
          <p:cNvPr id="14" name="TextBox 13"/>
          <p:cNvSpPr txBox="1"/>
          <p:nvPr/>
        </p:nvSpPr>
        <p:spPr>
          <a:xfrm>
            <a:off x="6804248" y="1412776"/>
            <a:ext cx="2016224" cy="646331"/>
          </a:xfrm>
          <a:prstGeom prst="rect">
            <a:avLst/>
          </a:prstGeom>
          <a:noFill/>
        </p:spPr>
        <p:txBody>
          <a:bodyPr wrap="square" rtlCol="0">
            <a:spAutoFit/>
          </a:bodyPr>
          <a:lstStyle/>
          <a:p>
            <a:r>
              <a:rPr lang="nl-NL" dirty="0" err="1" smtClean="0">
                <a:solidFill>
                  <a:srgbClr val="C00000"/>
                </a:solidFill>
              </a:rPr>
              <a:t>Wx</a:t>
            </a:r>
            <a:r>
              <a:rPr lang="nl-NL" dirty="0" smtClean="0">
                <a:solidFill>
                  <a:srgbClr val="C00000"/>
                </a:solidFill>
              </a:rPr>
              <a:t>: x wint</a:t>
            </a:r>
            <a:br>
              <a:rPr lang="nl-NL" dirty="0" smtClean="0">
                <a:solidFill>
                  <a:srgbClr val="C00000"/>
                </a:solidFill>
              </a:rPr>
            </a:br>
            <a:r>
              <a:rPr lang="nl-NL" dirty="0" smtClean="0">
                <a:solidFill>
                  <a:srgbClr val="C00000"/>
                </a:solidFill>
              </a:rPr>
              <a:t>Domein: mensen</a:t>
            </a:r>
            <a:endParaRPr lang="nl-NL" dirty="0">
              <a:solidFill>
                <a:srgbClr val="C00000"/>
              </a:solidFill>
            </a:endParaRPr>
          </a:p>
        </p:txBody>
      </p:sp>
      <p:sp>
        <p:nvSpPr>
          <p:cNvPr id="15" name="Rectangle 14"/>
          <p:cNvSpPr/>
          <p:nvPr/>
        </p:nvSpPr>
        <p:spPr>
          <a:xfrm>
            <a:off x="4355976" y="2092786"/>
            <a:ext cx="926857" cy="400110"/>
          </a:xfrm>
          <a:prstGeom prst="rect">
            <a:avLst/>
          </a:prstGeom>
        </p:spPr>
        <p:txBody>
          <a:bodyPr wrap="none">
            <a:spAutoFit/>
          </a:bodyPr>
          <a:lstStyle/>
          <a:p>
            <a:r>
              <a:rPr lang="nl-NL" sz="2000" dirty="0" smtClean="0">
                <a:solidFill>
                  <a:srgbClr val="0070C0"/>
                </a:solidFill>
              </a:rPr>
              <a:t>◊∀</a:t>
            </a:r>
            <a:r>
              <a:rPr lang="nl-NL" sz="2000" dirty="0" err="1" smtClean="0">
                <a:solidFill>
                  <a:srgbClr val="0070C0"/>
                </a:solidFill>
              </a:rPr>
              <a:t>xWx</a:t>
            </a:r>
            <a:endParaRPr lang="nl-NL" sz="2000" dirty="0">
              <a:solidFill>
                <a:srgbClr val="0070C0"/>
              </a:solidFill>
            </a:endParaRPr>
          </a:p>
        </p:txBody>
      </p:sp>
      <p:sp>
        <p:nvSpPr>
          <p:cNvPr id="16" name="TextBox 15"/>
          <p:cNvSpPr txBox="1"/>
          <p:nvPr/>
        </p:nvSpPr>
        <p:spPr>
          <a:xfrm>
            <a:off x="6804248" y="1990581"/>
            <a:ext cx="2016224" cy="646331"/>
          </a:xfrm>
          <a:prstGeom prst="rect">
            <a:avLst/>
          </a:prstGeom>
          <a:noFill/>
        </p:spPr>
        <p:txBody>
          <a:bodyPr wrap="square" rtlCol="0">
            <a:spAutoFit/>
          </a:bodyPr>
          <a:lstStyle/>
          <a:p>
            <a:r>
              <a:rPr lang="nl-NL" dirty="0" err="1" smtClean="0">
                <a:solidFill>
                  <a:srgbClr val="0070C0"/>
                </a:solidFill>
              </a:rPr>
              <a:t>Wx</a:t>
            </a:r>
            <a:r>
              <a:rPr lang="nl-NL" dirty="0" smtClean="0">
                <a:solidFill>
                  <a:srgbClr val="0070C0"/>
                </a:solidFill>
              </a:rPr>
              <a:t>: x wint</a:t>
            </a:r>
            <a:br>
              <a:rPr lang="nl-NL" dirty="0" smtClean="0">
                <a:solidFill>
                  <a:srgbClr val="0070C0"/>
                </a:solidFill>
              </a:rPr>
            </a:br>
            <a:r>
              <a:rPr lang="nl-NL" dirty="0" smtClean="0">
                <a:solidFill>
                  <a:srgbClr val="0070C0"/>
                </a:solidFill>
              </a:rPr>
              <a:t>Domein: mensen</a:t>
            </a:r>
            <a:endParaRPr lang="nl-NL" dirty="0">
              <a:solidFill>
                <a:srgbClr val="0070C0"/>
              </a:solidFill>
            </a:endParaRPr>
          </a:p>
        </p:txBody>
      </p:sp>
      <p:sp>
        <p:nvSpPr>
          <p:cNvPr id="19" name="Rectangle 18"/>
          <p:cNvSpPr/>
          <p:nvPr/>
        </p:nvSpPr>
        <p:spPr>
          <a:xfrm>
            <a:off x="4300976" y="2953543"/>
            <a:ext cx="1043876" cy="400110"/>
          </a:xfrm>
          <a:prstGeom prst="rect">
            <a:avLst/>
          </a:prstGeom>
        </p:spPr>
        <p:txBody>
          <a:bodyPr wrap="none">
            <a:spAutoFit/>
          </a:bodyPr>
          <a:lstStyle/>
          <a:p>
            <a:r>
              <a:rPr lang="nl-NL" sz="2000" dirty="0" smtClean="0">
                <a:solidFill>
                  <a:srgbClr val="C00000"/>
                </a:solidFill>
              </a:rPr>
              <a:t>∃x □¬</a:t>
            </a:r>
            <a:r>
              <a:rPr lang="nl-NL" sz="2000" dirty="0" err="1" smtClean="0">
                <a:solidFill>
                  <a:srgbClr val="C00000"/>
                </a:solidFill>
              </a:rPr>
              <a:t>Vx</a:t>
            </a:r>
            <a:endParaRPr lang="nl-NL" sz="2000" dirty="0">
              <a:solidFill>
                <a:srgbClr val="C00000"/>
              </a:solidFill>
            </a:endParaRPr>
          </a:p>
        </p:txBody>
      </p:sp>
      <p:sp>
        <p:nvSpPr>
          <p:cNvPr id="20" name="TextBox 19"/>
          <p:cNvSpPr txBox="1"/>
          <p:nvPr/>
        </p:nvSpPr>
        <p:spPr>
          <a:xfrm>
            <a:off x="6804248" y="2944251"/>
            <a:ext cx="2016224" cy="369332"/>
          </a:xfrm>
          <a:prstGeom prst="rect">
            <a:avLst/>
          </a:prstGeom>
          <a:noFill/>
        </p:spPr>
        <p:txBody>
          <a:bodyPr wrap="square" rtlCol="0">
            <a:spAutoFit/>
          </a:bodyPr>
          <a:lstStyle/>
          <a:p>
            <a:r>
              <a:rPr lang="nl-NL" dirty="0" err="1" smtClean="0">
                <a:solidFill>
                  <a:srgbClr val="C00000"/>
                </a:solidFill>
              </a:rPr>
              <a:t>Vx</a:t>
            </a:r>
            <a:r>
              <a:rPr lang="nl-NL" dirty="0" smtClean="0">
                <a:solidFill>
                  <a:srgbClr val="C00000"/>
                </a:solidFill>
              </a:rPr>
              <a:t>: x is veroorzaakt</a:t>
            </a:r>
            <a:endParaRPr lang="nl-NL" dirty="0">
              <a:solidFill>
                <a:srgbClr val="C00000"/>
              </a:solidFill>
            </a:endParaRPr>
          </a:p>
        </p:txBody>
      </p:sp>
      <p:sp>
        <p:nvSpPr>
          <p:cNvPr id="21" name="Rectangle 20"/>
          <p:cNvSpPr/>
          <p:nvPr/>
        </p:nvSpPr>
        <p:spPr>
          <a:xfrm>
            <a:off x="4283968" y="3889647"/>
            <a:ext cx="986167" cy="400110"/>
          </a:xfrm>
          <a:prstGeom prst="rect">
            <a:avLst/>
          </a:prstGeom>
        </p:spPr>
        <p:txBody>
          <a:bodyPr wrap="none">
            <a:spAutoFit/>
          </a:bodyPr>
          <a:lstStyle/>
          <a:p>
            <a:r>
              <a:rPr lang="nl-NL" sz="2000" dirty="0" smtClean="0">
                <a:solidFill>
                  <a:srgbClr val="0070C0"/>
                </a:solidFill>
              </a:rPr>
              <a:t>□∃x¬</a:t>
            </a:r>
            <a:r>
              <a:rPr lang="nl-NL" sz="2000" dirty="0" err="1" smtClean="0">
                <a:solidFill>
                  <a:srgbClr val="0070C0"/>
                </a:solidFill>
              </a:rPr>
              <a:t>Vx</a:t>
            </a:r>
            <a:endParaRPr lang="nl-NL" sz="2000" dirty="0">
              <a:solidFill>
                <a:srgbClr val="0070C0"/>
              </a:solidFill>
            </a:endParaRPr>
          </a:p>
        </p:txBody>
      </p:sp>
      <p:sp>
        <p:nvSpPr>
          <p:cNvPr id="22" name="TextBox 21"/>
          <p:cNvSpPr txBox="1"/>
          <p:nvPr/>
        </p:nvSpPr>
        <p:spPr>
          <a:xfrm>
            <a:off x="6804248" y="3880355"/>
            <a:ext cx="2016224" cy="369332"/>
          </a:xfrm>
          <a:prstGeom prst="rect">
            <a:avLst/>
          </a:prstGeom>
          <a:noFill/>
        </p:spPr>
        <p:txBody>
          <a:bodyPr wrap="square" rtlCol="0">
            <a:spAutoFit/>
          </a:bodyPr>
          <a:lstStyle/>
          <a:p>
            <a:r>
              <a:rPr lang="nl-NL" dirty="0" err="1" smtClean="0">
                <a:solidFill>
                  <a:srgbClr val="0070C0"/>
                </a:solidFill>
              </a:rPr>
              <a:t>Vx</a:t>
            </a:r>
            <a:r>
              <a:rPr lang="nl-NL" dirty="0" smtClean="0">
                <a:solidFill>
                  <a:srgbClr val="0070C0"/>
                </a:solidFill>
              </a:rPr>
              <a:t>: x is veroorzaakt</a:t>
            </a:r>
            <a:endParaRPr lang="nl-NL" dirty="0">
              <a:solidFill>
                <a:srgbClr val="0070C0"/>
              </a:solidFill>
            </a:endParaRPr>
          </a:p>
        </p:txBody>
      </p:sp>
      <p:sp>
        <p:nvSpPr>
          <p:cNvPr id="17" name="TextBox 16"/>
          <p:cNvSpPr txBox="1"/>
          <p:nvPr/>
        </p:nvSpPr>
        <p:spPr>
          <a:xfrm>
            <a:off x="467544" y="4653136"/>
            <a:ext cx="2736304" cy="369332"/>
          </a:xfrm>
          <a:prstGeom prst="rect">
            <a:avLst/>
          </a:prstGeom>
          <a:noFill/>
        </p:spPr>
        <p:txBody>
          <a:bodyPr wrap="square" rtlCol="0">
            <a:spAutoFit/>
          </a:bodyPr>
          <a:lstStyle/>
          <a:p>
            <a:r>
              <a:rPr lang="nl-NL" b="1" i="1" dirty="0" smtClean="0">
                <a:solidFill>
                  <a:srgbClr val="C00000"/>
                </a:solidFill>
              </a:rPr>
              <a:t>De re modaliteiten</a:t>
            </a:r>
            <a:endParaRPr lang="nl-NL" b="1" i="1" dirty="0">
              <a:solidFill>
                <a:srgbClr val="C00000"/>
              </a:solidFill>
            </a:endParaRPr>
          </a:p>
        </p:txBody>
      </p:sp>
      <p:sp>
        <p:nvSpPr>
          <p:cNvPr id="18" name="TextBox 17"/>
          <p:cNvSpPr txBox="1"/>
          <p:nvPr/>
        </p:nvSpPr>
        <p:spPr>
          <a:xfrm>
            <a:off x="2987824" y="4653136"/>
            <a:ext cx="5544616" cy="646331"/>
          </a:xfrm>
          <a:prstGeom prst="rect">
            <a:avLst/>
          </a:prstGeom>
          <a:noFill/>
        </p:spPr>
        <p:txBody>
          <a:bodyPr wrap="square" rtlCol="0">
            <a:spAutoFit/>
          </a:bodyPr>
          <a:lstStyle/>
          <a:p>
            <a:r>
              <a:rPr lang="nl-NL" dirty="0" smtClean="0">
                <a:solidFill>
                  <a:srgbClr val="C00000"/>
                </a:solidFill>
              </a:rPr>
              <a:t>Het noodzakelijk of mogelijk toekomen van een </a:t>
            </a:r>
            <a:r>
              <a:rPr lang="nl-NL" i="1" dirty="0" smtClean="0">
                <a:solidFill>
                  <a:srgbClr val="C00000"/>
                </a:solidFill>
              </a:rPr>
              <a:t>eigenschap aan een object (</a:t>
            </a:r>
            <a:r>
              <a:rPr lang="nl-NL" i="1" dirty="0" err="1" smtClean="0">
                <a:solidFill>
                  <a:srgbClr val="C00000"/>
                </a:solidFill>
              </a:rPr>
              <a:t>res</a:t>
            </a:r>
            <a:r>
              <a:rPr lang="nl-NL" i="1" dirty="0" smtClean="0">
                <a:solidFill>
                  <a:srgbClr val="C00000"/>
                </a:solidFill>
              </a:rPr>
              <a:t>)</a:t>
            </a:r>
            <a:endParaRPr lang="nl-NL" i="1" dirty="0">
              <a:solidFill>
                <a:srgbClr val="C00000"/>
              </a:solidFill>
            </a:endParaRPr>
          </a:p>
        </p:txBody>
      </p:sp>
      <p:sp>
        <p:nvSpPr>
          <p:cNvPr id="23" name="TextBox 22"/>
          <p:cNvSpPr txBox="1"/>
          <p:nvPr/>
        </p:nvSpPr>
        <p:spPr>
          <a:xfrm>
            <a:off x="467544" y="5302949"/>
            <a:ext cx="2736304" cy="369332"/>
          </a:xfrm>
          <a:prstGeom prst="rect">
            <a:avLst/>
          </a:prstGeom>
          <a:noFill/>
        </p:spPr>
        <p:txBody>
          <a:bodyPr wrap="square" rtlCol="0">
            <a:spAutoFit/>
          </a:bodyPr>
          <a:lstStyle/>
          <a:p>
            <a:r>
              <a:rPr lang="nl-NL" b="1" i="1" dirty="0" smtClean="0">
                <a:solidFill>
                  <a:srgbClr val="0070C0"/>
                </a:solidFill>
              </a:rPr>
              <a:t>De </a:t>
            </a:r>
            <a:r>
              <a:rPr lang="nl-NL" b="1" i="1" dirty="0" err="1" smtClean="0">
                <a:solidFill>
                  <a:srgbClr val="0070C0"/>
                </a:solidFill>
              </a:rPr>
              <a:t>dicto</a:t>
            </a:r>
            <a:r>
              <a:rPr lang="nl-NL" b="1" i="1" dirty="0" smtClean="0">
                <a:solidFill>
                  <a:srgbClr val="0070C0"/>
                </a:solidFill>
              </a:rPr>
              <a:t> modaliteiten</a:t>
            </a:r>
            <a:endParaRPr lang="nl-NL" b="1" i="1" dirty="0">
              <a:solidFill>
                <a:srgbClr val="0070C0"/>
              </a:solidFill>
            </a:endParaRPr>
          </a:p>
        </p:txBody>
      </p:sp>
      <p:sp>
        <p:nvSpPr>
          <p:cNvPr id="24" name="TextBox 23"/>
          <p:cNvSpPr txBox="1"/>
          <p:nvPr/>
        </p:nvSpPr>
        <p:spPr>
          <a:xfrm>
            <a:off x="2987824" y="5302949"/>
            <a:ext cx="5544616" cy="646331"/>
          </a:xfrm>
          <a:prstGeom prst="rect">
            <a:avLst/>
          </a:prstGeom>
          <a:noFill/>
        </p:spPr>
        <p:txBody>
          <a:bodyPr wrap="square" rtlCol="0">
            <a:spAutoFit/>
          </a:bodyPr>
          <a:lstStyle/>
          <a:p>
            <a:r>
              <a:rPr lang="nl-NL" dirty="0" smtClean="0">
                <a:solidFill>
                  <a:srgbClr val="0070C0"/>
                </a:solidFill>
              </a:rPr>
              <a:t>Het noodzakelijk of mogelijk toekomen van                                    waarheid aan een </a:t>
            </a:r>
            <a:r>
              <a:rPr lang="nl-NL" i="1" dirty="0" smtClean="0">
                <a:solidFill>
                  <a:srgbClr val="0070C0"/>
                </a:solidFill>
              </a:rPr>
              <a:t>beweerzin (</a:t>
            </a:r>
            <a:r>
              <a:rPr lang="nl-NL" i="1" dirty="0" err="1" smtClean="0">
                <a:solidFill>
                  <a:srgbClr val="0070C0"/>
                </a:solidFill>
              </a:rPr>
              <a:t>dictum</a:t>
            </a:r>
            <a:r>
              <a:rPr lang="nl-NL" i="1" dirty="0" smtClean="0">
                <a:solidFill>
                  <a:srgbClr val="0070C0"/>
                </a:solidFill>
              </a:rPr>
              <a:t>)</a:t>
            </a:r>
            <a:endParaRPr lang="nl-NL" i="1" dirty="0">
              <a:solidFill>
                <a:srgbClr val="0070C0"/>
              </a:solidFill>
            </a:endParaRPr>
          </a:p>
        </p:txBody>
      </p:sp>
      <p:sp>
        <p:nvSpPr>
          <p:cNvPr id="25" name="TextBox 24"/>
          <p:cNvSpPr txBox="1"/>
          <p:nvPr/>
        </p:nvSpPr>
        <p:spPr>
          <a:xfrm>
            <a:off x="323528" y="6093296"/>
            <a:ext cx="8748464" cy="646331"/>
          </a:xfrm>
          <a:prstGeom prst="rect">
            <a:avLst/>
          </a:prstGeom>
          <a:noFill/>
        </p:spPr>
        <p:txBody>
          <a:bodyPr wrap="square" rtlCol="0">
            <a:spAutoFit/>
          </a:bodyPr>
          <a:lstStyle/>
          <a:p>
            <a:r>
              <a:rPr lang="nl-NL" dirty="0" smtClean="0"/>
              <a:t>Sommige filosofen (</a:t>
            </a:r>
            <a:r>
              <a:rPr lang="nl-NL" dirty="0" err="1" smtClean="0"/>
              <a:t>Quine</a:t>
            </a:r>
            <a:r>
              <a:rPr lang="nl-NL" dirty="0" smtClean="0"/>
              <a:t>) verwerpen </a:t>
            </a:r>
            <a:r>
              <a:rPr lang="nl-NL" i="1" dirty="0" smtClean="0"/>
              <a:t>de re </a:t>
            </a:r>
            <a:r>
              <a:rPr lang="nl-NL" dirty="0" smtClean="0"/>
              <a:t>modaliteiten omdat ze menen dat we niet, zoals Aristoteles deed, kunnen spreken over essentiële en accidentele eigenschappen. </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20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fade">
                                      <p:cBhvr>
                                        <p:cTn id="12" dur="2000"/>
                                        <p:tgtEl>
                                          <p:spTgt spid="1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xEl>
                                              <p:pRg st="0" end="0"/>
                                            </p:txEl>
                                          </p:spTgt>
                                        </p:tgtEl>
                                        <p:attrNameLst>
                                          <p:attrName>style.visibility</p:attrName>
                                        </p:attrNameLst>
                                      </p:cBhvr>
                                      <p:to>
                                        <p:strVal val="visible"/>
                                      </p:to>
                                    </p:set>
                                    <p:animEffect transition="in" filter="fade">
                                      <p:cBhvr>
                                        <p:cTn id="17" dur="2000"/>
                                        <p:tgtEl>
                                          <p:spTgt spid="2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xEl>
                                              <p:pRg st="0" end="0"/>
                                            </p:txEl>
                                          </p:spTgt>
                                        </p:tgtEl>
                                        <p:attrNameLst>
                                          <p:attrName>style.visibility</p:attrName>
                                        </p:attrNameLst>
                                      </p:cBhvr>
                                      <p:to>
                                        <p:strVal val="visible"/>
                                      </p:to>
                                    </p:set>
                                    <p:animEffect transition="in" filter="fade">
                                      <p:cBhvr>
                                        <p:cTn id="22" dur="2000"/>
                                        <p:tgtEl>
                                          <p:spTgt spid="2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xEl>
                                              <p:pRg st="0" end="0"/>
                                            </p:txEl>
                                          </p:spTgt>
                                        </p:tgtEl>
                                        <p:attrNameLst>
                                          <p:attrName>style.visibility</p:attrName>
                                        </p:attrNameLst>
                                      </p:cBhvr>
                                      <p:to>
                                        <p:strVal val="visible"/>
                                      </p:to>
                                    </p:set>
                                    <p:animEffect transition="in" filter="fade">
                                      <p:cBhvr>
                                        <p:cTn id="27" dur="20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allAtOnce"/>
      <p:bldP spid="18" grpId="0" build="allAtOnce"/>
      <p:bldP spid="23" grpId="0" build="allAtOnce"/>
      <p:bldP spid="24" grpId="0" build="allAtOnce"/>
      <p:bldP spid="25" grpId="0" build="allAtOnce"/>
    </p:bldLst>
  </p:timing>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Tijdslogica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Arthur Prior ontwikkelde een tijdslogica door een past operator (</a:t>
            </a:r>
            <a:r>
              <a:rPr lang="nl-NL" sz="2000" b="1" dirty="0" smtClean="0"/>
              <a:t>P</a:t>
            </a:r>
            <a:r>
              <a:rPr lang="nl-NL" sz="2000" dirty="0" smtClean="0"/>
              <a:t>)                                          en een </a:t>
            </a:r>
            <a:r>
              <a:rPr lang="nl-NL" sz="2000" dirty="0" err="1" smtClean="0"/>
              <a:t>future</a:t>
            </a:r>
            <a:r>
              <a:rPr lang="nl-NL" sz="2000" dirty="0" smtClean="0"/>
              <a:t> operator (</a:t>
            </a:r>
            <a:r>
              <a:rPr lang="nl-NL" sz="2000" b="1" dirty="0" smtClean="0"/>
              <a:t>F</a:t>
            </a:r>
            <a:r>
              <a:rPr lang="nl-NL" sz="2000" dirty="0" smtClean="0"/>
              <a:t>) in te voeren: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8" name="Rectangle 17"/>
          <p:cNvSpPr/>
          <p:nvPr/>
        </p:nvSpPr>
        <p:spPr>
          <a:xfrm>
            <a:off x="468560" y="3861048"/>
            <a:ext cx="1709936" cy="400110"/>
          </a:xfrm>
          <a:prstGeom prst="rect">
            <a:avLst/>
          </a:prstGeom>
        </p:spPr>
        <p:txBody>
          <a:bodyPr wrap="square">
            <a:spAutoFit/>
          </a:bodyPr>
          <a:lstStyle/>
          <a:p>
            <a:pPr marL="342900" lvl="0" indent="-342900">
              <a:spcBef>
                <a:spcPct val="20000"/>
              </a:spcBef>
              <a:defRPr/>
            </a:pPr>
            <a:r>
              <a:rPr lang="nl-NL" sz="2000" dirty="0" smtClean="0"/>
              <a:t>	Jan schrijft</a:t>
            </a:r>
          </a:p>
        </p:txBody>
      </p:sp>
      <p:sp>
        <p:nvSpPr>
          <p:cNvPr id="10" name="Rectangle 9"/>
          <p:cNvSpPr/>
          <p:nvPr/>
        </p:nvSpPr>
        <p:spPr>
          <a:xfrm>
            <a:off x="2520280" y="3861048"/>
            <a:ext cx="1709936" cy="400110"/>
          </a:xfrm>
          <a:prstGeom prst="rect">
            <a:avLst/>
          </a:prstGeom>
        </p:spPr>
        <p:txBody>
          <a:bodyPr wrap="square">
            <a:spAutoFit/>
          </a:bodyPr>
          <a:lstStyle/>
          <a:p>
            <a:pPr marL="342900" lvl="0" indent="-342900">
              <a:spcBef>
                <a:spcPct val="20000"/>
              </a:spcBef>
              <a:defRPr/>
            </a:pPr>
            <a:r>
              <a:rPr lang="nl-NL" sz="2000" dirty="0" smtClean="0"/>
              <a:t>	p</a:t>
            </a:r>
          </a:p>
        </p:txBody>
      </p:sp>
      <p:sp>
        <p:nvSpPr>
          <p:cNvPr id="11" name="Rectangle 10"/>
          <p:cNvSpPr/>
          <p:nvPr/>
        </p:nvSpPr>
        <p:spPr>
          <a:xfrm>
            <a:off x="450304" y="4364523"/>
            <a:ext cx="1709936" cy="400110"/>
          </a:xfrm>
          <a:prstGeom prst="rect">
            <a:avLst/>
          </a:prstGeom>
        </p:spPr>
        <p:txBody>
          <a:bodyPr wrap="square">
            <a:spAutoFit/>
          </a:bodyPr>
          <a:lstStyle/>
          <a:p>
            <a:pPr marL="342900" lvl="0" indent="-342900">
              <a:spcBef>
                <a:spcPct val="20000"/>
              </a:spcBef>
              <a:defRPr/>
            </a:pPr>
            <a:r>
              <a:rPr lang="nl-NL" sz="2000" dirty="0" smtClean="0"/>
              <a:t>	Jan schreef</a:t>
            </a:r>
          </a:p>
        </p:txBody>
      </p:sp>
      <p:sp>
        <p:nvSpPr>
          <p:cNvPr id="12" name="Rectangle 11"/>
          <p:cNvSpPr/>
          <p:nvPr/>
        </p:nvSpPr>
        <p:spPr>
          <a:xfrm>
            <a:off x="2520280" y="4333166"/>
            <a:ext cx="1709936" cy="400110"/>
          </a:xfrm>
          <a:prstGeom prst="rect">
            <a:avLst/>
          </a:prstGeom>
        </p:spPr>
        <p:txBody>
          <a:bodyPr wrap="square">
            <a:spAutoFit/>
          </a:bodyPr>
          <a:lstStyle/>
          <a:p>
            <a:pPr marL="342900" lvl="0" indent="-342900">
              <a:spcBef>
                <a:spcPct val="20000"/>
              </a:spcBef>
              <a:defRPr/>
            </a:pPr>
            <a:r>
              <a:rPr lang="nl-NL" sz="2000" dirty="0" smtClean="0"/>
              <a:t>	</a:t>
            </a:r>
            <a:r>
              <a:rPr lang="nl-NL" sz="2000" b="1" dirty="0" smtClean="0"/>
              <a:t>P</a:t>
            </a:r>
            <a:r>
              <a:rPr lang="nl-NL" sz="2000" dirty="0" smtClean="0"/>
              <a:t>p</a:t>
            </a:r>
          </a:p>
        </p:txBody>
      </p:sp>
      <p:sp>
        <p:nvSpPr>
          <p:cNvPr id="13" name="Rectangle 12"/>
          <p:cNvSpPr/>
          <p:nvPr/>
        </p:nvSpPr>
        <p:spPr>
          <a:xfrm>
            <a:off x="450304" y="4868579"/>
            <a:ext cx="2232248" cy="400110"/>
          </a:xfrm>
          <a:prstGeom prst="rect">
            <a:avLst/>
          </a:prstGeom>
        </p:spPr>
        <p:txBody>
          <a:bodyPr wrap="square">
            <a:spAutoFit/>
          </a:bodyPr>
          <a:lstStyle/>
          <a:p>
            <a:pPr marL="342900" lvl="0" indent="-342900">
              <a:spcBef>
                <a:spcPct val="20000"/>
              </a:spcBef>
              <a:defRPr/>
            </a:pPr>
            <a:r>
              <a:rPr lang="nl-NL" sz="2000" dirty="0" smtClean="0"/>
              <a:t>	Jan zal schrijven</a:t>
            </a:r>
          </a:p>
        </p:txBody>
      </p:sp>
      <p:sp>
        <p:nvSpPr>
          <p:cNvPr id="14" name="Rectangle 13"/>
          <p:cNvSpPr/>
          <p:nvPr/>
        </p:nvSpPr>
        <p:spPr>
          <a:xfrm>
            <a:off x="2520280" y="4837222"/>
            <a:ext cx="1709936" cy="400110"/>
          </a:xfrm>
          <a:prstGeom prst="rect">
            <a:avLst/>
          </a:prstGeom>
        </p:spPr>
        <p:txBody>
          <a:bodyPr wrap="square">
            <a:spAutoFit/>
          </a:bodyPr>
          <a:lstStyle/>
          <a:p>
            <a:pPr marL="342900" lvl="0" indent="-342900">
              <a:spcBef>
                <a:spcPct val="20000"/>
              </a:spcBef>
              <a:defRPr/>
            </a:pPr>
            <a:r>
              <a:rPr lang="nl-NL" sz="2000" dirty="0" smtClean="0"/>
              <a:t>	</a:t>
            </a:r>
            <a:r>
              <a:rPr lang="nl-NL" sz="2000" b="1" dirty="0" err="1" smtClean="0"/>
              <a:t>F</a:t>
            </a:r>
            <a:r>
              <a:rPr lang="nl-NL" sz="2000" dirty="0" err="1" smtClean="0"/>
              <a:t>p</a:t>
            </a:r>
            <a:endParaRPr lang="nl-NL" sz="2000" dirty="0" smtClean="0"/>
          </a:p>
        </p:txBody>
      </p:sp>
      <p:sp>
        <p:nvSpPr>
          <p:cNvPr id="16" name="TextBox 15"/>
          <p:cNvSpPr txBox="1"/>
          <p:nvPr/>
        </p:nvSpPr>
        <p:spPr>
          <a:xfrm>
            <a:off x="827584" y="2564904"/>
            <a:ext cx="3960440" cy="707886"/>
          </a:xfrm>
          <a:prstGeom prst="rect">
            <a:avLst/>
          </a:prstGeom>
          <a:noFill/>
        </p:spPr>
        <p:txBody>
          <a:bodyPr wrap="square" rtlCol="0">
            <a:spAutoFit/>
          </a:bodyPr>
          <a:lstStyle/>
          <a:p>
            <a:r>
              <a:rPr lang="nl-NL" sz="2000" b="1" dirty="0" smtClean="0"/>
              <a:t>P</a:t>
            </a:r>
            <a:r>
              <a:rPr lang="el-GR" sz="2000" dirty="0" smtClean="0"/>
              <a:t>α</a:t>
            </a:r>
            <a:r>
              <a:rPr lang="nl-NL" sz="2000" dirty="0" smtClean="0"/>
              <a:t>             </a:t>
            </a:r>
            <a:r>
              <a:rPr lang="el-GR" sz="2000" dirty="0" smtClean="0"/>
              <a:t>α</a:t>
            </a:r>
            <a:r>
              <a:rPr lang="nl-NL" sz="2000" dirty="0" smtClean="0"/>
              <a:t> was eens het geval</a:t>
            </a:r>
          </a:p>
          <a:p>
            <a:r>
              <a:rPr lang="nl-NL" sz="2000" b="1" dirty="0" smtClean="0"/>
              <a:t>F</a:t>
            </a:r>
            <a:r>
              <a:rPr lang="el-GR" sz="2000" dirty="0" smtClean="0"/>
              <a:t>α</a:t>
            </a:r>
            <a:r>
              <a:rPr lang="nl-NL" sz="2000" dirty="0" smtClean="0"/>
              <a:t>             </a:t>
            </a:r>
            <a:r>
              <a:rPr lang="el-GR" sz="2000" dirty="0" smtClean="0"/>
              <a:t>α</a:t>
            </a:r>
            <a:r>
              <a:rPr lang="nl-NL" sz="2000" dirty="0" smtClean="0"/>
              <a:t> zal eens het geval zijn</a:t>
            </a:r>
            <a:endParaRPr lang="nl-NL" sz="2000" dirty="0"/>
          </a:p>
        </p:txBody>
      </p:sp>
      <p:sp>
        <p:nvSpPr>
          <p:cNvPr id="19" name="Rectangle 18"/>
          <p:cNvSpPr/>
          <p:nvPr/>
        </p:nvSpPr>
        <p:spPr>
          <a:xfrm>
            <a:off x="3942184" y="3797172"/>
            <a:ext cx="2736304" cy="400110"/>
          </a:xfrm>
          <a:prstGeom prst="rect">
            <a:avLst/>
          </a:prstGeom>
        </p:spPr>
        <p:txBody>
          <a:bodyPr wrap="square">
            <a:spAutoFit/>
          </a:bodyPr>
          <a:lstStyle/>
          <a:p>
            <a:pPr marL="342900" lvl="0" indent="-342900">
              <a:spcBef>
                <a:spcPct val="20000"/>
              </a:spcBef>
              <a:defRPr/>
            </a:pPr>
            <a:r>
              <a:rPr lang="nl-NL" sz="2000" dirty="0" smtClean="0"/>
              <a:t>	Jan had geschreven</a:t>
            </a:r>
          </a:p>
        </p:txBody>
      </p:sp>
      <p:sp>
        <p:nvSpPr>
          <p:cNvPr id="22" name="Rectangle 21"/>
          <p:cNvSpPr/>
          <p:nvPr/>
        </p:nvSpPr>
        <p:spPr>
          <a:xfrm>
            <a:off x="6894512" y="3789040"/>
            <a:ext cx="1709936" cy="400110"/>
          </a:xfrm>
          <a:prstGeom prst="rect">
            <a:avLst/>
          </a:prstGeom>
        </p:spPr>
        <p:txBody>
          <a:bodyPr wrap="square">
            <a:spAutoFit/>
          </a:bodyPr>
          <a:lstStyle/>
          <a:p>
            <a:pPr marL="342900" lvl="0" indent="-342900">
              <a:spcBef>
                <a:spcPct val="20000"/>
              </a:spcBef>
              <a:defRPr/>
            </a:pPr>
            <a:r>
              <a:rPr lang="nl-NL" sz="2000" dirty="0" smtClean="0"/>
              <a:t>	</a:t>
            </a:r>
            <a:r>
              <a:rPr lang="nl-NL" sz="2000" b="1" dirty="0" err="1" smtClean="0"/>
              <a:t>PP</a:t>
            </a:r>
            <a:r>
              <a:rPr lang="nl-NL" sz="2000" dirty="0" err="1" smtClean="0"/>
              <a:t>p</a:t>
            </a:r>
            <a:endParaRPr lang="nl-NL" sz="2000" dirty="0" smtClean="0"/>
          </a:p>
        </p:txBody>
      </p:sp>
      <p:sp>
        <p:nvSpPr>
          <p:cNvPr id="23" name="Rectangle 22"/>
          <p:cNvSpPr/>
          <p:nvPr/>
        </p:nvSpPr>
        <p:spPr>
          <a:xfrm>
            <a:off x="3942184" y="4373236"/>
            <a:ext cx="3744416" cy="400110"/>
          </a:xfrm>
          <a:prstGeom prst="rect">
            <a:avLst/>
          </a:prstGeom>
        </p:spPr>
        <p:txBody>
          <a:bodyPr wrap="square">
            <a:spAutoFit/>
          </a:bodyPr>
          <a:lstStyle/>
          <a:p>
            <a:pPr marL="342900" lvl="0" indent="-342900">
              <a:spcBef>
                <a:spcPct val="20000"/>
              </a:spcBef>
              <a:defRPr/>
            </a:pPr>
            <a:r>
              <a:rPr lang="nl-NL" sz="2000" dirty="0" smtClean="0"/>
              <a:t>	Jan zal geschreven hebben</a:t>
            </a:r>
          </a:p>
        </p:txBody>
      </p:sp>
      <p:sp>
        <p:nvSpPr>
          <p:cNvPr id="24" name="Rectangle 23"/>
          <p:cNvSpPr/>
          <p:nvPr/>
        </p:nvSpPr>
        <p:spPr>
          <a:xfrm>
            <a:off x="6894512" y="4365104"/>
            <a:ext cx="1709936" cy="400110"/>
          </a:xfrm>
          <a:prstGeom prst="rect">
            <a:avLst/>
          </a:prstGeom>
        </p:spPr>
        <p:txBody>
          <a:bodyPr wrap="square">
            <a:spAutoFit/>
          </a:bodyPr>
          <a:lstStyle/>
          <a:p>
            <a:pPr marL="342900" lvl="0" indent="-342900">
              <a:spcBef>
                <a:spcPct val="20000"/>
              </a:spcBef>
              <a:defRPr/>
            </a:pPr>
            <a:r>
              <a:rPr lang="nl-NL" sz="2000" dirty="0" smtClean="0"/>
              <a:t>	</a:t>
            </a:r>
            <a:r>
              <a:rPr lang="nl-NL" sz="2000" b="1" dirty="0" err="1" smtClean="0"/>
              <a:t>FP</a:t>
            </a:r>
            <a:r>
              <a:rPr lang="nl-NL" sz="2000" dirty="0" err="1" smtClean="0"/>
              <a:t>p</a:t>
            </a:r>
            <a:endParaRPr lang="nl-NL" sz="2000" dirty="0" smtClean="0"/>
          </a:p>
        </p:txBody>
      </p:sp>
      <p:sp>
        <p:nvSpPr>
          <p:cNvPr id="25" name="Rectangle 24"/>
          <p:cNvSpPr/>
          <p:nvPr/>
        </p:nvSpPr>
        <p:spPr>
          <a:xfrm>
            <a:off x="3942184" y="4909230"/>
            <a:ext cx="3744416" cy="400110"/>
          </a:xfrm>
          <a:prstGeom prst="rect">
            <a:avLst/>
          </a:prstGeom>
        </p:spPr>
        <p:txBody>
          <a:bodyPr wrap="square">
            <a:spAutoFit/>
          </a:bodyPr>
          <a:lstStyle/>
          <a:p>
            <a:pPr marL="342900" lvl="0" indent="-342900">
              <a:spcBef>
                <a:spcPct val="20000"/>
              </a:spcBef>
              <a:defRPr/>
            </a:pPr>
            <a:r>
              <a:rPr lang="nl-NL" sz="2000" dirty="0" smtClean="0"/>
              <a:t>	Jan zou gaan schrijven</a:t>
            </a:r>
          </a:p>
        </p:txBody>
      </p:sp>
      <p:sp>
        <p:nvSpPr>
          <p:cNvPr id="26" name="Rectangle 25"/>
          <p:cNvSpPr/>
          <p:nvPr/>
        </p:nvSpPr>
        <p:spPr>
          <a:xfrm>
            <a:off x="6894512" y="4909230"/>
            <a:ext cx="1709936" cy="400110"/>
          </a:xfrm>
          <a:prstGeom prst="rect">
            <a:avLst/>
          </a:prstGeom>
        </p:spPr>
        <p:txBody>
          <a:bodyPr wrap="square">
            <a:spAutoFit/>
          </a:bodyPr>
          <a:lstStyle/>
          <a:p>
            <a:pPr marL="342900" lvl="0" indent="-342900">
              <a:spcBef>
                <a:spcPct val="20000"/>
              </a:spcBef>
              <a:defRPr/>
            </a:pPr>
            <a:r>
              <a:rPr lang="nl-NL" sz="2000" dirty="0" smtClean="0"/>
              <a:t>	</a:t>
            </a:r>
            <a:r>
              <a:rPr lang="nl-NL" sz="2000" b="1" dirty="0" err="1" smtClean="0"/>
              <a:t>PF</a:t>
            </a:r>
            <a:r>
              <a:rPr lang="nl-NL" sz="2000" dirty="0" err="1" smtClean="0"/>
              <a:t>p</a:t>
            </a:r>
            <a:endParaRPr lang="nl-NL"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20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20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20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20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2000"/>
                                        <p:tgtEl>
                                          <p:spTgt spid="1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fade">
                                      <p:cBhvr>
                                        <p:cTn id="32" dur="2000"/>
                                        <p:tgtEl>
                                          <p:spTgt spid="1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fade">
                                      <p:cBhvr>
                                        <p:cTn id="37" dur="2000"/>
                                        <p:tgtEl>
                                          <p:spTgt spid="1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2">
                                            <p:txEl>
                                              <p:pRg st="0" end="0"/>
                                            </p:txEl>
                                          </p:spTgt>
                                        </p:tgtEl>
                                        <p:attrNameLst>
                                          <p:attrName>style.visibility</p:attrName>
                                        </p:attrNameLst>
                                      </p:cBhvr>
                                      <p:to>
                                        <p:strVal val="visible"/>
                                      </p:to>
                                    </p:set>
                                    <p:animEffect transition="in" filter="fade">
                                      <p:cBhvr>
                                        <p:cTn id="42" dur="2000"/>
                                        <p:tgtEl>
                                          <p:spTgt spid="22">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xEl>
                                              <p:pRg st="0" end="0"/>
                                            </p:txEl>
                                          </p:spTgt>
                                        </p:tgtEl>
                                        <p:attrNameLst>
                                          <p:attrName>style.visibility</p:attrName>
                                        </p:attrNameLst>
                                      </p:cBhvr>
                                      <p:to>
                                        <p:strVal val="visible"/>
                                      </p:to>
                                    </p:set>
                                    <p:animEffect transition="in" filter="fade">
                                      <p:cBhvr>
                                        <p:cTn id="47" dur="2000"/>
                                        <p:tgtEl>
                                          <p:spTgt spid="23">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4">
                                            <p:txEl>
                                              <p:pRg st="0" end="0"/>
                                            </p:txEl>
                                          </p:spTgt>
                                        </p:tgtEl>
                                        <p:attrNameLst>
                                          <p:attrName>style.visibility</p:attrName>
                                        </p:attrNameLst>
                                      </p:cBhvr>
                                      <p:to>
                                        <p:strVal val="visible"/>
                                      </p:to>
                                    </p:set>
                                    <p:animEffect transition="in" filter="fade">
                                      <p:cBhvr>
                                        <p:cTn id="52" dur="2000"/>
                                        <p:tgtEl>
                                          <p:spTgt spid="2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xEl>
                                              <p:pRg st="0" end="0"/>
                                            </p:txEl>
                                          </p:spTgt>
                                        </p:tgtEl>
                                        <p:attrNameLst>
                                          <p:attrName>style.visibility</p:attrName>
                                        </p:attrNameLst>
                                      </p:cBhvr>
                                      <p:to>
                                        <p:strVal val="visible"/>
                                      </p:to>
                                    </p:set>
                                    <p:animEffect transition="in" filter="fade">
                                      <p:cBhvr>
                                        <p:cTn id="57" dur="2000"/>
                                        <p:tgtEl>
                                          <p:spTgt spid="25">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6">
                                            <p:txEl>
                                              <p:pRg st="0" end="0"/>
                                            </p:txEl>
                                          </p:spTgt>
                                        </p:tgtEl>
                                        <p:attrNameLst>
                                          <p:attrName>style.visibility</p:attrName>
                                        </p:attrNameLst>
                                      </p:cBhvr>
                                      <p:to>
                                        <p:strVal val="visible"/>
                                      </p:to>
                                    </p:set>
                                    <p:animEffect transition="in" filter="fade">
                                      <p:cBhvr>
                                        <p:cTn id="62" dur="20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allAtOnce"/>
      <p:bldP spid="10" grpId="0" build="allAtOnce"/>
      <p:bldP spid="11" grpId="0" build="allAtOnce"/>
      <p:bldP spid="12" grpId="0" build="allAtOnce"/>
      <p:bldP spid="13" grpId="0" build="allAtOnce"/>
      <p:bldP spid="14" grpId="0" build="allAtOnce"/>
      <p:bldP spid="19" grpId="0" build="allAtOnce"/>
      <p:bldP spid="22" grpId="0" build="allAtOnce"/>
      <p:bldP spid="23" grpId="0" build="allAtOnce"/>
      <p:bldP spid="24" grpId="0" build="allAtOnce"/>
      <p:bldP spid="25" grpId="0" build="allAtOnce"/>
      <p:bldP spid="26" grpId="0" build="allAtOnce"/>
    </p:bldLst>
  </p:timing>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Tijdslogica</a:t>
            </a:r>
            <a:endParaRPr lang="nl-NL" sz="3600" dirty="0"/>
          </a:p>
        </p:txBody>
      </p:sp>
      <p:sp>
        <p:nvSpPr>
          <p:cNvPr id="8" name="Content Placeholder 2"/>
          <p:cNvSpPr txBox="1">
            <a:spLocks/>
          </p:cNvSpPr>
          <p:nvPr/>
        </p:nvSpPr>
        <p:spPr>
          <a:xfrm>
            <a:off x="467544" y="1412776"/>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Er zijn echter ook nog andere manieren om tijd te verdisconteren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28" name="Rectangle 27"/>
          <p:cNvSpPr/>
          <p:nvPr/>
        </p:nvSpPr>
        <p:spPr>
          <a:xfrm>
            <a:off x="179512" y="1966773"/>
            <a:ext cx="1709936" cy="400110"/>
          </a:xfrm>
          <a:prstGeom prst="rect">
            <a:avLst/>
          </a:prstGeom>
        </p:spPr>
        <p:txBody>
          <a:bodyPr wrap="square">
            <a:spAutoFit/>
          </a:bodyPr>
          <a:lstStyle/>
          <a:p>
            <a:pPr marL="342900" lvl="0" indent="-342900">
              <a:spcBef>
                <a:spcPct val="20000"/>
              </a:spcBef>
              <a:defRPr/>
            </a:pPr>
            <a:r>
              <a:rPr lang="nl-NL" sz="2000" dirty="0" smtClean="0"/>
              <a:t>	Jan schrijft</a:t>
            </a:r>
          </a:p>
        </p:txBody>
      </p:sp>
      <p:sp>
        <p:nvSpPr>
          <p:cNvPr id="29" name="TextBox 28"/>
          <p:cNvSpPr txBox="1"/>
          <p:nvPr/>
        </p:nvSpPr>
        <p:spPr>
          <a:xfrm>
            <a:off x="2627784" y="1966773"/>
            <a:ext cx="2232248" cy="369332"/>
          </a:xfrm>
          <a:prstGeom prst="rect">
            <a:avLst/>
          </a:prstGeom>
          <a:noFill/>
        </p:spPr>
        <p:txBody>
          <a:bodyPr wrap="square" rtlCol="0">
            <a:spAutoFit/>
          </a:bodyPr>
          <a:lstStyle/>
          <a:p>
            <a:r>
              <a:rPr lang="nl-NL" b="1" dirty="0" smtClean="0"/>
              <a:t>St</a:t>
            </a:r>
            <a:r>
              <a:rPr lang="nl-NL" b="1" baseline="-25000" dirty="0" smtClean="0"/>
              <a:t>0</a:t>
            </a:r>
            <a:endParaRPr lang="nl-NL" b="1" baseline="-25000" dirty="0"/>
          </a:p>
        </p:txBody>
      </p:sp>
      <p:sp>
        <p:nvSpPr>
          <p:cNvPr id="30" name="Rectangle 29"/>
          <p:cNvSpPr/>
          <p:nvPr/>
        </p:nvSpPr>
        <p:spPr>
          <a:xfrm>
            <a:off x="179512" y="2637492"/>
            <a:ext cx="1709936" cy="400110"/>
          </a:xfrm>
          <a:prstGeom prst="rect">
            <a:avLst/>
          </a:prstGeom>
        </p:spPr>
        <p:txBody>
          <a:bodyPr wrap="square">
            <a:spAutoFit/>
          </a:bodyPr>
          <a:lstStyle/>
          <a:p>
            <a:pPr marL="342900" lvl="0" indent="-342900">
              <a:spcBef>
                <a:spcPct val="20000"/>
              </a:spcBef>
              <a:defRPr/>
            </a:pPr>
            <a:r>
              <a:rPr lang="nl-NL" sz="2000" dirty="0" smtClean="0"/>
              <a:t>	Jan schreef</a:t>
            </a:r>
          </a:p>
        </p:txBody>
      </p:sp>
      <p:sp>
        <p:nvSpPr>
          <p:cNvPr id="31" name="TextBox 30"/>
          <p:cNvSpPr txBox="1"/>
          <p:nvPr/>
        </p:nvSpPr>
        <p:spPr>
          <a:xfrm>
            <a:off x="4032448" y="1916832"/>
            <a:ext cx="5220072" cy="646331"/>
          </a:xfrm>
          <a:prstGeom prst="rect">
            <a:avLst/>
          </a:prstGeom>
          <a:noFill/>
        </p:spPr>
        <p:txBody>
          <a:bodyPr wrap="square" rtlCol="0">
            <a:spAutoFit/>
          </a:bodyPr>
          <a:lstStyle/>
          <a:p>
            <a:r>
              <a:rPr lang="nl-NL" b="1" dirty="0" err="1" smtClean="0"/>
              <a:t>St</a:t>
            </a:r>
            <a:r>
              <a:rPr lang="nl-NL" dirty="0" smtClean="0"/>
              <a:t>: Jan schrijft op tijdstip t      Domein: tijdstippen</a:t>
            </a:r>
          </a:p>
          <a:p>
            <a:r>
              <a:rPr lang="nl-NL" b="1" dirty="0" smtClean="0"/>
              <a:t>t</a:t>
            </a:r>
            <a:r>
              <a:rPr lang="nl-NL" b="1" baseline="-25000" dirty="0" smtClean="0"/>
              <a:t>0</a:t>
            </a:r>
            <a:r>
              <a:rPr lang="nl-NL" dirty="0" smtClean="0"/>
              <a:t>: tijdstip van uiting</a:t>
            </a:r>
          </a:p>
        </p:txBody>
      </p:sp>
      <p:sp>
        <p:nvSpPr>
          <p:cNvPr id="33" name="Rectangle 32"/>
          <p:cNvSpPr/>
          <p:nvPr/>
        </p:nvSpPr>
        <p:spPr>
          <a:xfrm>
            <a:off x="2603954" y="2636912"/>
            <a:ext cx="1535998" cy="369332"/>
          </a:xfrm>
          <a:prstGeom prst="rect">
            <a:avLst/>
          </a:prstGeom>
        </p:spPr>
        <p:txBody>
          <a:bodyPr wrap="none">
            <a:spAutoFit/>
          </a:bodyPr>
          <a:lstStyle/>
          <a:p>
            <a:r>
              <a:rPr lang="nl-NL" b="1" dirty="0" smtClean="0"/>
              <a:t>∃t (</a:t>
            </a:r>
            <a:r>
              <a:rPr lang="nl-NL" b="1" dirty="0" err="1" smtClean="0"/>
              <a:t>St</a:t>
            </a:r>
            <a:r>
              <a:rPr lang="nl-NL" b="1" dirty="0" smtClean="0"/>
              <a:t> ∧ t &lt; t</a:t>
            </a:r>
            <a:r>
              <a:rPr lang="nl-NL" b="1" baseline="-25000" dirty="0" smtClean="0"/>
              <a:t>0</a:t>
            </a:r>
            <a:r>
              <a:rPr lang="nl-NL" b="1" dirty="0" smtClean="0"/>
              <a:t>) </a:t>
            </a:r>
            <a:endParaRPr lang="nl-NL" dirty="0"/>
          </a:p>
        </p:txBody>
      </p:sp>
      <p:sp>
        <p:nvSpPr>
          <p:cNvPr id="35" name="Rectangle 34"/>
          <p:cNvSpPr/>
          <p:nvPr/>
        </p:nvSpPr>
        <p:spPr>
          <a:xfrm>
            <a:off x="107504" y="3316922"/>
            <a:ext cx="2376264" cy="400110"/>
          </a:xfrm>
          <a:prstGeom prst="rect">
            <a:avLst/>
          </a:prstGeom>
        </p:spPr>
        <p:txBody>
          <a:bodyPr wrap="square">
            <a:spAutoFit/>
          </a:bodyPr>
          <a:lstStyle/>
          <a:p>
            <a:pPr marL="342900" lvl="0" indent="-342900">
              <a:spcBef>
                <a:spcPct val="20000"/>
              </a:spcBef>
              <a:defRPr/>
            </a:pPr>
            <a:r>
              <a:rPr lang="nl-NL" sz="2000" dirty="0" smtClean="0"/>
              <a:t>	Jan zal schrijven</a:t>
            </a:r>
          </a:p>
        </p:txBody>
      </p:sp>
      <p:sp>
        <p:nvSpPr>
          <p:cNvPr id="36" name="Rectangle 35"/>
          <p:cNvSpPr/>
          <p:nvPr/>
        </p:nvSpPr>
        <p:spPr>
          <a:xfrm>
            <a:off x="2603954" y="3307630"/>
            <a:ext cx="1535998" cy="369332"/>
          </a:xfrm>
          <a:prstGeom prst="rect">
            <a:avLst/>
          </a:prstGeom>
        </p:spPr>
        <p:txBody>
          <a:bodyPr wrap="none">
            <a:spAutoFit/>
          </a:bodyPr>
          <a:lstStyle/>
          <a:p>
            <a:r>
              <a:rPr lang="nl-NL" b="1" dirty="0" smtClean="0"/>
              <a:t>∃t (</a:t>
            </a:r>
            <a:r>
              <a:rPr lang="nl-NL" b="1" dirty="0" err="1" smtClean="0"/>
              <a:t>St</a:t>
            </a:r>
            <a:r>
              <a:rPr lang="nl-NL" b="1" dirty="0" smtClean="0"/>
              <a:t> ∧ t &gt; t</a:t>
            </a:r>
            <a:r>
              <a:rPr lang="nl-NL" b="1" baseline="-25000" dirty="0" smtClean="0"/>
              <a:t>0</a:t>
            </a:r>
            <a:r>
              <a:rPr lang="nl-NL" b="1" dirty="0" smtClean="0"/>
              <a:t>) </a:t>
            </a:r>
            <a:endParaRPr lang="nl-NL" dirty="0"/>
          </a:p>
        </p:txBody>
      </p:sp>
      <p:sp>
        <p:nvSpPr>
          <p:cNvPr id="37" name="Rectangle 36"/>
          <p:cNvSpPr/>
          <p:nvPr/>
        </p:nvSpPr>
        <p:spPr>
          <a:xfrm>
            <a:off x="125760" y="4685074"/>
            <a:ext cx="1709936" cy="400110"/>
          </a:xfrm>
          <a:prstGeom prst="rect">
            <a:avLst/>
          </a:prstGeom>
        </p:spPr>
        <p:txBody>
          <a:bodyPr wrap="square">
            <a:spAutoFit/>
          </a:bodyPr>
          <a:lstStyle/>
          <a:p>
            <a:pPr marL="342900" lvl="0" indent="-342900">
              <a:spcBef>
                <a:spcPct val="20000"/>
              </a:spcBef>
              <a:defRPr/>
            </a:pPr>
            <a:r>
              <a:rPr lang="nl-NL" sz="2000" dirty="0" smtClean="0"/>
              <a:t>	Jan schrijft</a:t>
            </a:r>
          </a:p>
        </p:txBody>
      </p:sp>
      <p:sp>
        <p:nvSpPr>
          <p:cNvPr id="38" name="Rectangle 37"/>
          <p:cNvSpPr/>
          <p:nvPr/>
        </p:nvSpPr>
        <p:spPr>
          <a:xfrm>
            <a:off x="107504" y="5589240"/>
            <a:ext cx="1709936" cy="400110"/>
          </a:xfrm>
          <a:prstGeom prst="rect">
            <a:avLst/>
          </a:prstGeom>
        </p:spPr>
        <p:txBody>
          <a:bodyPr wrap="square">
            <a:spAutoFit/>
          </a:bodyPr>
          <a:lstStyle/>
          <a:p>
            <a:pPr marL="342900" lvl="0" indent="-342900">
              <a:spcBef>
                <a:spcPct val="20000"/>
              </a:spcBef>
              <a:defRPr/>
            </a:pPr>
            <a:r>
              <a:rPr lang="nl-NL" sz="2000" dirty="0" smtClean="0"/>
              <a:t>	Jan schreef</a:t>
            </a:r>
          </a:p>
        </p:txBody>
      </p:sp>
      <p:sp>
        <p:nvSpPr>
          <p:cNvPr id="39" name="TextBox 38"/>
          <p:cNvSpPr txBox="1"/>
          <p:nvPr/>
        </p:nvSpPr>
        <p:spPr>
          <a:xfrm>
            <a:off x="2483768" y="4715852"/>
            <a:ext cx="2232248" cy="369332"/>
          </a:xfrm>
          <a:prstGeom prst="rect">
            <a:avLst/>
          </a:prstGeom>
          <a:noFill/>
        </p:spPr>
        <p:txBody>
          <a:bodyPr wrap="square" rtlCol="0">
            <a:spAutoFit/>
          </a:bodyPr>
          <a:lstStyle/>
          <a:p>
            <a:r>
              <a:rPr lang="nl-NL" b="1" dirty="0" smtClean="0"/>
              <a:t>Sjt</a:t>
            </a:r>
            <a:r>
              <a:rPr lang="nl-NL" b="1" baseline="-25000" dirty="0" smtClean="0"/>
              <a:t>0</a:t>
            </a:r>
            <a:endParaRPr lang="nl-NL" b="1" baseline="-25000" dirty="0"/>
          </a:p>
        </p:txBody>
      </p:sp>
      <p:sp>
        <p:nvSpPr>
          <p:cNvPr id="40" name="TextBox 39"/>
          <p:cNvSpPr txBox="1"/>
          <p:nvPr/>
        </p:nvSpPr>
        <p:spPr>
          <a:xfrm>
            <a:off x="4104456" y="4665910"/>
            <a:ext cx="5220072" cy="923330"/>
          </a:xfrm>
          <a:prstGeom prst="rect">
            <a:avLst/>
          </a:prstGeom>
          <a:noFill/>
        </p:spPr>
        <p:txBody>
          <a:bodyPr wrap="square" rtlCol="0">
            <a:spAutoFit/>
          </a:bodyPr>
          <a:lstStyle/>
          <a:p>
            <a:r>
              <a:rPr lang="nl-NL" b="1" dirty="0" err="1" smtClean="0"/>
              <a:t>Sxt</a:t>
            </a:r>
            <a:r>
              <a:rPr lang="nl-NL" dirty="0" smtClean="0"/>
              <a:t>: Mens x schrijft op tijdstip t     Domein: mensen   </a:t>
            </a:r>
            <a:r>
              <a:rPr lang="nl-NL" b="1" dirty="0" smtClean="0"/>
              <a:t>t</a:t>
            </a:r>
            <a:r>
              <a:rPr lang="nl-NL" b="1" baseline="-25000" dirty="0" smtClean="0"/>
              <a:t>0</a:t>
            </a:r>
            <a:r>
              <a:rPr lang="nl-NL" dirty="0" smtClean="0"/>
              <a:t>: tijdstip van uiting                        en tijdstippen</a:t>
            </a:r>
          </a:p>
          <a:p>
            <a:r>
              <a:rPr lang="nl-NL" b="1" dirty="0" smtClean="0"/>
              <a:t>j</a:t>
            </a:r>
            <a:r>
              <a:rPr lang="nl-NL" dirty="0" smtClean="0"/>
              <a:t>: Jan</a:t>
            </a:r>
          </a:p>
        </p:txBody>
      </p:sp>
      <p:sp>
        <p:nvSpPr>
          <p:cNvPr id="41" name="Rectangle 40"/>
          <p:cNvSpPr/>
          <p:nvPr/>
        </p:nvSpPr>
        <p:spPr>
          <a:xfrm>
            <a:off x="2411760" y="5589240"/>
            <a:ext cx="1595309" cy="369332"/>
          </a:xfrm>
          <a:prstGeom prst="rect">
            <a:avLst/>
          </a:prstGeom>
        </p:spPr>
        <p:txBody>
          <a:bodyPr wrap="none">
            <a:spAutoFit/>
          </a:bodyPr>
          <a:lstStyle/>
          <a:p>
            <a:r>
              <a:rPr lang="nl-NL" b="1" dirty="0" smtClean="0"/>
              <a:t>∃t (</a:t>
            </a:r>
            <a:r>
              <a:rPr lang="nl-NL" b="1" dirty="0" err="1" smtClean="0"/>
              <a:t>Sjt</a:t>
            </a:r>
            <a:r>
              <a:rPr lang="nl-NL" b="1" dirty="0" smtClean="0"/>
              <a:t> ∧ t &lt; t</a:t>
            </a:r>
            <a:r>
              <a:rPr lang="nl-NL" b="1" baseline="-25000" dirty="0" smtClean="0"/>
              <a:t>0</a:t>
            </a:r>
            <a:r>
              <a:rPr lang="nl-NL" b="1" dirty="0" smtClean="0"/>
              <a:t>) </a:t>
            </a:r>
            <a:endParaRPr lang="nl-NL" dirty="0"/>
          </a:p>
        </p:txBody>
      </p:sp>
      <p:sp>
        <p:nvSpPr>
          <p:cNvPr id="42" name="Rectangle 41"/>
          <p:cNvSpPr/>
          <p:nvPr/>
        </p:nvSpPr>
        <p:spPr>
          <a:xfrm>
            <a:off x="107504" y="6197242"/>
            <a:ext cx="2232248" cy="400110"/>
          </a:xfrm>
          <a:prstGeom prst="rect">
            <a:avLst/>
          </a:prstGeom>
        </p:spPr>
        <p:txBody>
          <a:bodyPr wrap="square">
            <a:spAutoFit/>
          </a:bodyPr>
          <a:lstStyle/>
          <a:p>
            <a:pPr marL="342900" lvl="0" indent="-342900">
              <a:spcBef>
                <a:spcPct val="20000"/>
              </a:spcBef>
              <a:defRPr/>
            </a:pPr>
            <a:r>
              <a:rPr lang="nl-NL" sz="2000" dirty="0" smtClean="0"/>
              <a:t>	Iemand schreef</a:t>
            </a:r>
          </a:p>
        </p:txBody>
      </p:sp>
      <p:sp>
        <p:nvSpPr>
          <p:cNvPr id="43" name="Rectangle 42"/>
          <p:cNvSpPr/>
          <p:nvPr/>
        </p:nvSpPr>
        <p:spPr>
          <a:xfrm>
            <a:off x="2411760" y="6228020"/>
            <a:ext cx="1880643" cy="369332"/>
          </a:xfrm>
          <a:prstGeom prst="rect">
            <a:avLst/>
          </a:prstGeom>
        </p:spPr>
        <p:txBody>
          <a:bodyPr wrap="none">
            <a:spAutoFit/>
          </a:bodyPr>
          <a:lstStyle/>
          <a:p>
            <a:r>
              <a:rPr lang="nl-NL" b="1" dirty="0" smtClean="0"/>
              <a:t>∃x∃t (</a:t>
            </a:r>
            <a:r>
              <a:rPr lang="nl-NL" b="1" dirty="0" err="1" smtClean="0"/>
              <a:t>Sxt</a:t>
            </a:r>
            <a:r>
              <a:rPr lang="nl-NL" b="1" dirty="0" smtClean="0"/>
              <a:t> ∧ t &lt; t</a:t>
            </a:r>
            <a:r>
              <a:rPr lang="nl-NL" b="1" baseline="-25000" dirty="0" smtClean="0"/>
              <a:t>0</a:t>
            </a:r>
            <a:r>
              <a:rPr lang="nl-NL" b="1" dirty="0" smtClean="0"/>
              <a:t>) </a:t>
            </a:r>
            <a:endParaRPr lang="nl-NL" dirty="0"/>
          </a:p>
        </p:txBody>
      </p:sp>
      <p:sp>
        <p:nvSpPr>
          <p:cNvPr id="44" name="Content Placeholder 2"/>
          <p:cNvSpPr txBox="1">
            <a:spLocks/>
          </p:cNvSpPr>
          <p:nvPr/>
        </p:nvSpPr>
        <p:spPr>
          <a:xfrm>
            <a:off x="467544" y="3976465"/>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Bovenstaande vertalingen kunnen echter nog verfijnder:</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20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xEl>
                                              <p:pRg st="0" end="0"/>
                                            </p:txEl>
                                          </p:spTgt>
                                        </p:tgtEl>
                                        <p:attrNameLst>
                                          <p:attrName>style.visibility</p:attrName>
                                        </p:attrNameLst>
                                      </p:cBhvr>
                                      <p:to>
                                        <p:strVal val="visible"/>
                                      </p:to>
                                    </p:set>
                                    <p:animEffect transition="in" filter="fade">
                                      <p:cBhvr>
                                        <p:cTn id="10" dur="2000"/>
                                        <p:tgtEl>
                                          <p:spTgt spid="2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xEl>
                                              <p:pRg st="0" end="0"/>
                                            </p:txEl>
                                          </p:spTgt>
                                        </p:tgtEl>
                                        <p:attrNameLst>
                                          <p:attrName>style.visibility</p:attrName>
                                        </p:attrNameLst>
                                      </p:cBhvr>
                                      <p:to>
                                        <p:strVal val="visible"/>
                                      </p:to>
                                    </p:set>
                                    <p:animEffect transition="in" filter="fade">
                                      <p:cBhvr>
                                        <p:cTn id="13" dur="2000"/>
                                        <p:tgtEl>
                                          <p:spTgt spid="31">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xEl>
                                              <p:pRg st="1" end="1"/>
                                            </p:txEl>
                                          </p:spTgt>
                                        </p:tgtEl>
                                        <p:attrNameLst>
                                          <p:attrName>style.visibility</p:attrName>
                                        </p:attrNameLst>
                                      </p:cBhvr>
                                      <p:to>
                                        <p:strVal val="visible"/>
                                      </p:to>
                                    </p:set>
                                    <p:animEffect transition="in" filter="fade">
                                      <p:cBhvr>
                                        <p:cTn id="16" dur="2000"/>
                                        <p:tgtEl>
                                          <p:spTgt spid="31">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0">
                                            <p:txEl>
                                              <p:pRg st="0" end="0"/>
                                            </p:txEl>
                                          </p:spTgt>
                                        </p:tgtEl>
                                        <p:attrNameLst>
                                          <p:attrName>style.visibility</p:attrName>
                                        </p:attrNameLst>
                                      </p:cBhvr>
                                      <p:to>
                                        <p:strVal val="visible"/>
                                      </p:to>
                                    </p:set>
                                    <p:animEffect transition="in" filter="fade">
                                      <p:cBhvr>
                                        <p:cTn id="21" dur="2000"/>
                                        <p:tgtEl>
                                          <p:spTgt spid="30">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xEl>
                                              <p:pRg st="0" end="0"/>
                                            </p:txEl>
                                          </p:spTgt>
                                        </p:tgtEl>
                                        <p:attrNameLst>
                                          <p:attrName>style.visibility</p:attrName>
                                        </p:attrNameLst>
                                      </p:cBhvr>
                                      <p:to>
                                        <p:strVal val="visible"/>
                                      </p:to>
                                    </p:set>
                                    <p:animEffect transition="in" filter="fade">
                                      <p:cBhvr>
                                        <p:cTn id="24" dur="2000"/>
                                        <p:tgtEl>
                                          <p:spTgt spid="33">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5">
                                            <p:txEl>
                                              <p:pRg st="0" end="0"/>
                                            </p:txEl>
                                          </p:spTgt>
                                        </p:tgtEl>
                                        <p:attrNameLst>
                                          <p:attrName>style.visibility</p:attrName>
                                        </p:attrNameLst>
                                      </p:cBhvr>
                                      <p:to>
                                        <p:strVal val="visible"/>
                                      </p:to>
                                    </p:set>
                                    <p:animEffect transition="in" filter="fade">
                                      <p:cBhvr>
                                        <p:cTn id="29" dur="2000"/>
                                        <p:tgtEl>
                                          <p:spTgt spid="35">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6">
                                            <p:txEl>
                                              <p:pRg st="0" end="0"/>
                                            </p:txEl>
                                          </p:spTgt>
                                        </p:tgtEl>
                                        <p:attrNameLst>
                                          <p:attrName>style.visibility</p:attrName>
                                        </p:attrNameLst>
                                      </p:cBhvr>
                                      <p:to>
                                        <p:strVal val="visible"/>
                                      </p:to>
                                    </p:set>
                                    <p:animEffect transition="in" filter="fade">
                                      <p:cBhvr>
                                        <p:cTn id="32" dur="2000"/>
                                        <p:tgtEl>
                                          <p:spTgt spid="3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
                                            <p:txEl>
                                              <p:pRg st="0" end="0"/>
                                            </p:txEl>
                                          </p:spTgt>
                                        </p:tgtEl>
                                        <p:attrNameLst>
                                          <p:attrName>style.visibility</p:attrName>
                                        </p:attrNameLst>
                                      </p:cBhvr>
                                      <p:to>
                                        <p:strVal val="visible"/>
                                      </p:to>
                                    </p:set>
                                    <p:animEffect transition="in" filter="fade">
                                      <p:cBhvr>
                                        <p:cTn id="37" dur="2000"/>
                                        <p:tgtEl>
                                          <p:spTgt spid="4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7">
                                            <p:txEl>
                                              <p:pRg st="0" end="0"/>
                                            </p:txEl>
                                          </p:spTgt>
                                        </p:tgtEl>
                                        <p:attrNameLst>
                                          <p:attrName>style.visibility</p:attrName>
                                        </p:attrNameLst>
                                      </p:cBhvr>
                                      <p:to>
                                        <p:strVal val="visible"/>
                                      </p:to>
                                    </p:set>
                                    <p:animEffect transition="in" filter="fade">
                                      <p:cBhvr>
                                        <p:cTn id="42" dur="2000"/>
                                        <p:tgtEl>
                                          <p:spTgt spid="37">
                                            <p:txEl>
                                              <p:pRg st="0" end="0"/>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9">
                                            <p:txEl>
                                              <p:pRg st="0" end="0"/>
                                            </p:txEl>
                                          </p:spTgt>
                                        </p:tgtEl>
                                        <p:attrNameLst>
                                          <p:attrName>style.visibility</p:attrName>
                                        </p:attrNameLst>
                                      </p:cBhvr>
                                      <p:to>
                                        <p:strVal val="visible"/>
                                      </p:to>
                                    </p:set>
                                    <p:animEffect transition="in" filter="fade">
                                      <p:cBhvr>
                                        <p:cTn id="45" dur="2000"/>
                                        <p:tgtEl>
                                          <p:spTgt spid="39">
                                            <p:txEl>
                                              <p:pRg st="0" end="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0">
                                            <p:txEl>
                                              <p:pRg st="0" end="0"/>
                                            </p:txEl>
                                          </p:spTgt>
                                        </p:tgtEl>
                                        <p:attrNameLst>
                                          <p:attrName>style.visibility</p:attrName>
                                        </p:attrNameLst>
                                      </p:cBhvr>
                                      <p:to>
                                        <p:strVal val="visible"/>
                                      </p:to>
                                    </p:set>
                                    <p:animEffect transition="in" filter="fade">
                                      <p:cBhvr>
                                        <p:cTn id="48" dur="2000"/>
                                        <p:tgtEl>
                                          <p:spTgt spid="40">
                                            <p:txEl>
                                              <p:pRg st="0" end="0"/>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xEl>
                                              <p:pRg st="1" end="1"/>
                                            </p:txEl>
                                          </p:spTgt>
                                        </p:tgtEl>
                                        <p:attrNameLst>
                                          <p:attrName>style.visibility</p:attrName>
                                        </p:attrNameLst>
                                      </p:cBhvr>
                                      <p:to>
                                        <p:strVal val="visible"/>
                                      </p:to>
                                    </p:set>
                                    <p:animEffect transition="in" filter="fade">
                                      <p:cBhvr>
                                        <p:cTn id="51" dur="2000"/>
                                        <p:tgtEl>
                                          <p:spTgt spid="40">
                                            <p:txEl>
                                              <p:pRg st="1" end="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8">
                                            <p:txEl>
                                              <p:pRg st="0" end="0"/>
                                            </p:txEl>
                                          </p:spTgt>
                                        </p:tgtEl>
                                        <p:attrNameLst>
                                          <p:attrName>style.visibility</p:attrName>
                                        </p:attrNameLst>
                                      </p:cBhvr>
                                      <p:to>
                                        <p:strVal val="visible"/>
                                      </p:to>
                                    </p:set>
                                    <p:animEffect transition="in" filter="fade">
                                      <p:cBhvr>
                                        <p:cTn id="56" dur="2000"/>
                                        <p:tgtEl>
                                          <p:spTgt spid="38">
                                            <p:txEl>
                                              <p:pRg st="0" end="0"/>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xEl>
                                              <p:pRg st="0" end="0"/>
                                            </p:txEl>
                                          </p:spTgt>
                                        </p:tgtEl>
                                        <p:attrNameLst>
                                          <p:attrName>style.visibility</p:attrName>
                                        </p:attrNameLst>
                                      </p:cBhvr>
                                      <p:to>
                                        <p:strVal val="visible"/>
                                      </p:to>
                                    </p:set>
                                    <p:animEffect transition="in" filter="fade">
                                      <p:cBhvr>
                                        <p:cTn id="59" dur="2000"/>
                                        <p:tgtEl>
                                          <p:spTgt spid="41">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2">
                                            <p:txEl>
                                              <p:pRg st="0" end="0"/>
                                            </p:txEl>
                                          </p:spTgt>
                                        </p:tgtEl>
                                        <p:attrNameLst>
                                          <p:attrName>style.visibility</p:attrName>
                                        </p:attrNameLst>
                                      </p:cBhvr>
                                      <p:to>
                                        <p:strVal val="visible"/>
                                      </p:to>
                                    </p:set>
                                    <p:animEffect transition="in" filter="fade">
                                      <p:cBhvr>
                                        <p:cTn id="64" dur="2000"/>
                                        <p:tgtEl>
                                          <p:spTgt spid="42">
                                            <p:txEl>
                                              <p:pRg st="0" end="0"/>
                                            </p:txEl>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3">
                                            <p:txEl>
                                              <p:pRg st="0" end="0"/>
                                            </p:txEl>
                                          </p:spTgt>
                                        </p:tgtEl>
                                        <p:attrNameLst>
                                          <p:attrName>style.visibility</p:attrName>
                                        </p:attrNameLst>
                                      </p:cBhvr>
                                      <p:to>
                                        <p:strVal val="visible"/>
                                      </p:to>
                                    </p:set>
                                    <p:animEffect transition="in" filter="fade">
                                      <p:cBhvr>
                                        <p:cTn id="67" dur="2000"/>
                                        <p:tgtEl>
                                          <p:spTgt spid="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bldP spid="29" grpId="0" build="allAtOnce"/>
      <p:bldP spid="30" grpId="0" build="allAtOnce"/>
      <p:bldP spid="31" grpId="0" build="allAtOnce"/>
      <p:bldP spid="33" grpId="0" build="allAtOnce"/>
      <p:bldP spid="35" grpId="0" build="allAtOnce"/>
      <p:bldP spid="36" grpId="0" build="allAtOnce"/>
      <p:bldP spid="37" grpId="0" build="allAtOnce"/>
      <p:bldP spid="38" grpId="0" build="allAtOnce"/>
      <p:bldP spid="39" grpId="0" build="allAtOnce"/>
      <p:bldP spid="40" grpId="0" build="allAtOnce"/>
      <p:bldP spid="41" grpId="0" build="allAtOnce"/>
      <p:bldP spid="42" grpId="0" build="allAtOnce"/>
      <p:bldP spid="43" grpId="0" build="allAtOnce"/>
      <p:bldP spid="44" grpId="0" build="allAtOnce"/>
    </p:bldLst>
  </p:timing>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Kennislogica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Een kennislogica kan ontwikkeld worden door de volgende twee                            operatoren in te voeren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Rectangle 10"/>
          <p:cNvSpPr/>
          <p:nvPr/>
        </p:nvSpPr>
        <p:spPr>
          <a:xfrm>
            <a:off x="35496" y="3717032"/>
            <a:ext cx="4896544" cy="707886"/>
          </a:xfrm>
          <a:prstGeom prst="rect">
            <a:avLst/>
          </a:prstGeom>
        </p:spPr>
        <p:txBody>
          <a:bodyPr wrap="square">
            <a:spAutoFit/>
          </a:bodyPr>
          <a:lstStyle/>
          <a:p>
            <a:pPr marL="342900" lvl="0" indent="-342900">
              <a:spcBef>
                <a:spcPct val="20000"/>
              </a:spcBef>
              <a:defRPr/>
            </a:pPr>
            <a:r>
              <a:rPr lang="nl-NL" sz="2000" dirty="0" smtClean="0">
                <a:solidFill>
                  <a:srgbClr val="0070C0"/>
                </a:solidFill>
              </a:rPr>
              <a:t>	Jan gelooft dat het vandaag vrijdag is, maar dat is niet het geval</a:t>
            </a:r>
          </a:p>
        </p:txBody>
      </p:sp>
      <p:sp>
        <p:nvSpPr>
          <p:cNvPr id="16" name="TextBox 15"/>
          <p:cNvSpPr txBox="1"/>
          <p:nvPr/>
        </p:nvSpPr>
        <p:spPr>
          <a:xfrm>
            <a:off x="827584" y="2564904"/>
            <a:ext cx="3168352" cy="707886"/>
          </a:xfrm>
          <a:prstGeom prst="rect">
            <a:avLst/>
          </a:prstGeom>
          <a:noFill/>
        </p:spPr>
        <p:txBody>
          <a:bodyPr wrap="square" rtlCol="0">
            <a:spAutoFit/>
          </a:bodyPr>
          <a:lstStyle/>
          <a:p>
            <a:r>
              <a:rPr lang="nl-NL" sz="2000" b="1" dirty="0" err="1" smtClean="0"/>
              <a:t>Kxy</a:t>
            </a:r>
            <a:r>
              <a:rPr lang="nl-NL" sz="2000" dirty="0" smtClean="0"/>
              <a:t> 	    x weet dat y</a:t>
            </a:r>
          </a:p>
          <a:p>
            <a:r>
              <a:rPr lang="nl-NL" sz="2000" b="1" dirty="0" err="1" smtClean="0"/>
              <a:t>Bxy</a:t>
            </a:r>
            <a:r>
              <a:rPr lang="nl-NL" sz="2000" b="1" dirty="0" smtClean="0"/>
              <a:t> </a:t>
            </a:r>
            <a:r>
              <a:rPr lang="nl-NL" sz="2000" dirty="0" smtClean="0"/>
              <a:t>            x gelooft dat y</a:t>
            </a:r>
            <a:endParaRPr lang="nl-NL" sz="2000" dirty="0"/>
          </a:p>
        </p:txBody>
      </p:sp>
      <p:sp>
        <p:nvSpPr>
          <p:cNvPr id="17" name="TextBox 16"/>
          <p:cNvSpPr txBox="1"/>
          <p:nvPr/>
        </p:nvSpPr>
        <p:spPr>
          <a:xfrm>
            <a:off x="4067944" y="2564904"/>
            <a:ext cx="3240360" cy="707886"/>
          </a:xfrm>
          <a:prstGeom prst="rect">
            <a:avLst/>
          </a:prstGeom>
          <a:noFill/>
        </p:spPr>
        <p:txBody>
          <a:bodyPr wrap="square" rtlCol="0">
            <a:spAutoFit/>
          </a:bodyPr>
          <a:lstStyle/>
          <a:p>
            <a:r>
              <a:rPr lang="nl-NL" sz="2000" dirty="0" smtClean="0"/>
              <a:t>Hierbij staat x voor een mens                        en y voor een propositie</a:t>
            </a:r>
            <a:endParaRPr lang="nl-NL" sz="2000" dirty="0"/>
          </a:p>
        </p:txBody>
      </p:sp>
      <p:sp>
        <p:nvSpPr>
          <p:cNvPr id="20" name="TextBox 19"/>
          <p:cNvSpPr txBox="1"/>
          <p:nvPr/>
        </p:nvSpPr>
        <p:spPr>
          <a:xfrm>
            <a:off x="395536" y="4869160"/>
            <a:ext cx="3168352" cy="400110"/>
          </a:xfrm>
          <a:prstGeom prst="rect">
            <a:avLst/>
          </a:prstGeom>
          <a:noFill/>
        </p:spPr>
        <p:txBody>
          <a:bodyPr wrap="square" rtlCol="0">
            <a:spAutoFit/>
          </a:bodyPr>
          <a:lstStyle/>
          <a:p>
            <a:r>
              <a:rPr lang="nl-NL" sz="2000" b="1" dirty="0" err="1" smtClean="0"/>
              <a:t>Bjp</a:t>
            </a:r>
            <a:r>
              <a:rPr lang="nl-NL" sz="2000" b="1" dirty="0" smtClean="0"/>
              <a:t> ∧ ¬p</a:t>
            </a:r>
            <a:endParaRPr lang="nl-NL" sz="2000" b="1" dirty="0"/>
          </a:p>
        </p:txBody>
      </p:sp>
      <p:sp>
        <p:nvSpPr>
          <p:cNvPr id="21" name="TextBox 20"/>
          <p:cNvSpPr txBox="1"/>
          <p:nvPr/>
        </p:nvSpPr>
        <p:spPr>
          <a:xfrm>
            <a:off x="3203848" y="4869160"/>
            <a:ext cx="3960440" cy="646331"/>
          </a:xfrm>
          <a:prstGeom prst="rect">
            <a:avLst/>
          </a:prstGeom>
          <a:noFill/>
        </p:spPr>
        <p:txBody>
          <a:bodyPr wrap="square" rtlCol="0">
            <a:spAutoFit/>
          </a:bodyPr>
          <a:lstStyle/>
          <a:p>
            <a:r>
              <a:rPr lang="nl-NL" b="1" dirty="0" smtClean="0"/>
              <a:t>j</a:t>
            </a:r>
            <a:r>
              <a:rPr lang="nl-NL" dirty="0" smtClean="0"/>
              <a:t>: Jan</a:t>
            </a:r>
          </a:p>
          <a:p>
            <a:r>
              <a:rPr lang="nl-NL" b="1" dirty="0" smtClean="0"/>
              <a:t>p</a:t>
            </a:r>
            <a:r>
              <a:rPr lang="nl-NL" dirty="0" smtClean="0"/>
              <a:t>: “Het is vandaag vrijdag”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000"/>
                                        <p:tgtEl>
                                          <p:spTgt spid="2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animEffect transition="in" filter="fade">
                                      <p:cBhvr>
                                        <p:cTn id="15" dur="2000"/>
                                        <p:tgtEl>
                                          <p:spTgt spid="21">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xEl>
                                              <p:pRg st="1" end="1"/>
                                            </p:txEl>
                                          </p:spTgt>
                                        </p:tgtEl>
                                        <p:attrNameLst>
                                          <p:attrName>style.visibility</p:attrName>
                                        </p:attrNameLst>
                                      </p:cBhvr>
                                      <p:to>
                                        <p:strVal val="visible"/>
                                      </p:to>
                                    </p:set>
                                    <p:animEffect transition="in" filter="fade">
                                      <p:cBhvr>
                                        <p:cTn id="18" dur="2000"/>
                                        <p:tgtEl>
                                          <p:spTgt spid="2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20" grpId="0" build="allAtOnce"/>
      <p:bldP spid="21" grpId="0" build="allAtOnce"/>
    </p:bldLst>
  </p:timing>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Kennislogica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dirty="0" smtClean="0"/>
              <a:t>Een kennislogica kan ontwikkeld worden door de volgende twee                            operatoren in te voeren</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1" name="Rectangle 10"/>
          <p:cNvSpPr/>
          <p:nvPr/>
        </p:nvSpPr>
        <p:spPr>
          <a:xfrm>
            <a:off x="35496" y="3709481"/>
            <a:ext cx="5184576" cy="1015663"/>
          </a:xfrm>
          <a:prstGeom prst="rect">
            <a:avLst/>
          </a:prstGeom>
        </p:spPr>
        <p:txBody>
          <a:bodyPr wrap="square">
            <a:spAutoFit/>
          </a:bodyPr>
          <a:lstStyle/>
          <a:p>
            <a:pPr marL="342900" lvl="0" indent="-342900">
              <a:spcBef>
                <a:spcPct val="20000"/>
              </a:spcBef>
              <a:defRPr/>
            </a:pPr>
            <a:r>
              <a:rPr lang="nl-NL" sz="2000" dirty="0" smtClean="0">
                <a:solidFill>
                  <a:srgbClr val="0070C0"/>
                </a:solidFill>
              </a:rPr>
              <a:t>	Jan weet dat de propositielogica correct en volledig is, maar Jan gelooft niet dat Marie weet dat de propositielogica correct is  </a:t>
            </a:r>
          </a:p>
        </p:txBody>
      </p:sp>
      <p:sp>
        <p:nvSpPr>
          <p:cNvPr id="16" name="TextBox 15"/>
          <p:cNvSpPr txBox="1"/>
          <p:nvPr/>
        </p:nvSpPr>
        <p:spPr>
          <a:xfrm>
            <a:off x="827584" y="2564904"/>
            <a:ext cx="3168352" cy="707886"/>
          </a:xfrm>
          <a:prstGeom prst="rect">
            <a:avLst/>
          </a:prstGeom>
          <a:noFill/>
        </p:spPr>
        <p:txBody>
          <a:bodyPr wrap="square" rtlCol="0">
            <a:spAutoFit/>
          </a:bodyPr>
          <a:lstStyle/>
          <a:p>
            <a:r>
              <a:rPr lang="nl-NL" sz="2000" b="1" dirty="0" err="1" smtClean="0"/>
              <a:t>Kxy</a:t>
            </a:r>
            <a:r>
              <a:rPr lang="nl-NL" sz="2000" dirty="0" smtClean="0"/>
              <a:t> 	    x weet dat y</a:t>
            </a:r>
          </a:p>
          <a:p>
            <a:r>
              <a:rPr lang="nl-NL" sz="2000" b="1" dirty="0" err="1" smtClean="0"/>
              <a:t>Bxy</a:t>
            </a:r>
            <a:r>
              <a:rPr lang="nl-NL" sz="2000" b="1" dirty="0" smtClean="0"/>
              <a:t> </a:t>
            </a:r>
            <a:r>
              <a:rPr lang="nl-NL" sz="2000" dirty="0" smtClean="0"/>
              <a:t>            x gelooft dat y</a:t>
            </a:r>
            <a:endParaRPr lang="nl-NL" sz="2000" dirty="0"/>
          </a:p>
        </p:txBody>
      </p:sp>
      <p:sp>
        <p:nvSpPr>
          <p:cNvPr id="17" name="TextBox 16"/>
          <p:cNvSpPr txBox="1"/>
          <p:nvPr/>
        </p:nvSpPr>
        <p:spPr>
          <a:xfrm>
            <a:off x="4067944" y="2564904"/>
            <a:ext cx="3240360" cy="707886"/>
          </a:xfrm>
          <a:prstGeom prst="rect">
            <a:avLst/>
          </a:prstGeom>
          <a:noFill/>
        </p:spPr>
        <p:txBody>
          <a:bodyPr wrap="square" rtlCol="0">
            <a:spAutoFit/>
          </a:bodyPr>
          <a:lstStyle/>
          <a:p>
            <a:r>
              <a:rPr lang="nl-NL" sz="2000" dirty="0" smtClean="0"/>
              <a:t>Hierbij staat x voor een mens                        en y voor een propositie</a:t>
            </a:r>
            <a:endParaRPr lang="nl-NL" sz="2000" dirty="0"/>
          </a:p>
        </p:txBody>
      </p:sp>
      <p:sp>
        <p:nvSpPr>
          <p:cNvPr id="20" name="TextBox 19"/>
          <p:cNvSpPr txBox="1"/>
          <p:nvPr/>
        </p:nvSpPr>
        <p:spPr>
          <a:xfrm>
            <a:off x="395536" y="4941168"/>
            <a:ext cx="3168352" cy="400110"/>
          </a:xfrm>
          <a:prstGeom prst="rect">
            <a:avLst/>
          </a:prstGeom>
          <a:noFill/>
        </p:spPr>
        <p:txBody>
          <a:bodyPr wrap="square" rtlCol="0">
            <a:spAutoFit/>
          </a:bodyPr>
          <a:lstStyle/>
          <a:p>
            <a:r>
              <a:rPr lang="nl-NL" sz="2000" b="1" dirty="0" err="1" smtClean="0"/>
              <a:t>Kj</a:t>
            </a:r>
            <a:r>
              <a:rPr lang="nl-NL" sz="2000" b="1" dirty="0" smtClean="0"/>
              <a:t>(p∧q) ∧ ¬</a:t>
            </a:r>
            <a:r>
              <a:rPr lang="nl-NL" sz="2000" b="1" dirty="0" err="1" smtClean="0"/>
              <a:t>Bj</a:t>
            </a:r>
            <a:r>
              <a:rPr lang="nl-NL" sz="2000" b="1" dirty="0" smtClean="0"/>
              <a:t>(</a:t>
            </a:r>
            <a:r>
              <a:rPr lang="nl-NL" sz="2000" b="1" dirty="0" err="1" smtClean="0"/>
              <a:t>Kmp</a:t>
            </a:r>
            <a:r>
              <a:rPr lang="nl-NL" sz="2000" b="1" dirty="0" smtClean="0"/>
              <a:t>)</a:t>
            </a:r>
            <a:endParaRPr lang="nl-NL" sz="2000" b="1" dirty="0"/>
          </a:p>
        </p:txBody>
      </p:sp>
      <p:sp>
        <p:nvSpPr>
          <p:cNvPr id="21" name="TextBox 20"/>
          <p:cNvSpPr txBox="1"/>
          <p:nvPr/>
        </p:nvSpPr>
        <p:spPr>
          <a:xfrm>
            <a:off x="3203848" y="4941168"/>
            <a:ext cx="3960440" cy="1200329"/>
          </a:xfrm>
          <a:prstGeom prst="rect">
            <a:avLst/>
          </a:prstGeom>
          <a:noFill/>
        </p:spPr>
        <p:txBody>
          <a:bodyPr wrap="square" rtlCol="0">
            <a:spAutoFit/>
          </a:bodyPr>
          <a:lstStyle/>
          <a:p>
            <a:r>
              <a:rPr lang="nl-NL" b="1" dirty="0" smtClean="0"/>
              <a:t>j</a:t>
            </a:r>
            <a:r>
              <a:rPr lang="nl-NL" dirty="0" smtClean="0"/>
              <a:t>: Jan</a:t>
            </a:r>
          </a:p>
          <a:p>
            <a:r>
              <a:rPr lang="nl-NL" b="1" dirty="0" smtClean="0"/>
              <a:t>m</a:t>
            </a:r>
            <a:r>
              <a:rPr lang="nl-NL" dirty="0" smtClean="0"/>
              <a:t>: </a:t>
            </a:r>
            <a:r>
              <a:rPr lang="nl-NL" dirty="0" err="1" smtClean="0"/>
              <a:t>marie</a:t>
            </a:r>
            <a:endParaRPr lang="nl-NL" dirty="0" smtClean="0"/>
          </a:p>
          <a:p>
            <a:r>
              <a:rPr lang="nl-NL" b="1" dirty="0" smtClean="0"/>
              <a:t>p</a:t>
            </a:r>
            <a:r>
              <a:rPr lang="nl-NL" dirty="0" smtClean="0"/>
              <a:t>: “De propositielogica is correct”</a:t>
            </a:r>
          </a:p>
          <a:p>
            <a:r>
              <a:rPr lang="nl-NL" b="1" dirty="0" smtClean="0"/>
              <a:t>q</a:t>
            </a:r>
            <a:r>
              <a:rPr lang="nl-NL" dirty="0" smtClean="0"/>
              <a:t>: “De propositielogica is volledig”</a:t>
            </a:r>
            <a:endParaRPr lang="nl-N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20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xEl>
                                              <p:pRg st="0" end="0"/>
                                            </p:txEl>
                                          </p:spTgt>
                                        </p:tgtEl>
                                        <p:attrNameLst>
                                          <p:attrName>style.visibility</p:attrName>
                                        </p:attrNameLst>
                                      </p:cBhvr>
                                      <p:to>
                                        <p:strVal val="visible"/>
                                      </p:to>
                                    </p:set>
                                    <p:animEffect transition="in" filter="fade">
                                      <p:cBhvr>
                                        <p:cTn id="12" dur="2000"/>
                                        <p:tgtEl>
                                          <p:spTgt spid="2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1">
                                            <p:txEl>
                                              <p:pRg st="0" end="0"/>
                                            </p:txEl>
                                          </p:spTgt>
                                        </p:tgtEl>
                                        <p:attrNameLst>
                                          <p:attrName>style.visibility</p:attrName>
                                        </p:attrNameLst>
                                      </p:cBhvr>
                                      <p:to>
                                        <p:strVal val="visible"/>
                                      </p:to>
                                    </p:set>
                                    <p:animEffect transition="in" filter="fade">
                                      <p:cBhvr>
                                        <p:cTn id="15" dur="2000"/>
                                        <p:tgtEl>
                                          <p:spTgt spid="21">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1">
                                            <p:txEl>
                                              <p:pRg st="1" end="1"/>
                                            </p:txEl>
                                          </p:spTgt>
                                        </p:tgtEl>
                                        <p:attrNameLst>
                                          <p:attrName>style.visibility</p:attrName>
                                        </p:attrNameLst>
                                      </p:cBhvr>
                                      <p:to>
                                        <p:strVal val="visible"/>
                                      </p:to>
                                    </p:set>
                                    <p:animEffect transition="in" filter="fade">
                                      <p:cBhvr>
                                        <p:cTn id="18" dur="2000"/>
                                        <p:tgtEl>
                                          <p:spTgt spid="21">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xEl>
                                              <p:pRg st="2" end="2"/>
                                            </p:txEl>
                                          </p:spTgt>
                                        </p:tgtEl>
                                        <p:attrNameLst>
                                          <p:attrName>style.visibility</p:attrName>
                                        </p:attrNameLst>
                                      </p:cBhvr>
                                      <p:to>
                                        <p:strVal val="visible"/>
                                      </p:to>
                                    </p:set>
                                    <p:animEffect transition="in" filter="fade">
                                      <p:cBhvr>
                                        <p:cTn id="21" dur="2000"/>
                                        <p:tgtEl>
                                          <p:spTgt spid="21">
                                            <p:txEl>
                                              <p:pRg st="2" end="2"/>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xEl>
                                              <p:pRg st="3" end="3"/>
                                            </p:txEl>
                                          </p:spTgt>
                                        </p:tgtEl>
                                        <p:attrNameLst>
                                          <p:attrName>style.visibility</p:attrName>
                                        </p:attrNameLst>
                                      </p:cBhvr>
                                      <p:to>
                                        <p:strVal val="visible"/>
                                      </p:to>
                                    </p:set>
                                    <p:animEffect transition="in" filter="fade">
                                      <p:cBhvr>
                                        <p:cTn id="24" dur="2000"/>
                                        <p:tgtEl>
                                          <p:spTgt spid="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allAtOnce"/>
      <p:bldP spid="20" grpId="0" build="allAtOnce"/>
      <p:bldP spid="21" grpId="0" build="allAtOnce"/>
    </p:bldLst>
  </p:timing>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600" dirty="0" smtClean="0"/>
              <a:t>Kennislogica</a:t>
            </a:r>
            <a:endParaRPr lang="nl-NL" sz="3600" dirty="0"/>
          </a:p>
        </p:txBody>
      </p:sp>
      <p:sp>
        <p:nvSpPr>
          <p:cNvPr id="8" name="Content Placeholder 2"/>
          <p:cNvSpPr txBox="1">
            <a:spLocks/>
          </p:cNvSpPr>
          <p:nvPr/>
        </p:nvSpPr>
        <p:spPr>
          <a:xfrm>
            <a:off x="467544" y="1589311"/>
            <a:ext cx="8939336" cy="388639"/>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nl-NL" sz="2000" noProof="0" dirty="0" smtClean="0"/>
              <a:t>Er is in het algemeen veel discussie over welke kennislogische                                 implicaties al dan niet als geldig moeten worden opgevat</a:t>
            </a:r>
            <a:endParaRPr kumimoji="0" lang="nl-NL" sz="20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16" name="TextBox 15"/>
          <p:cNvSpPr txBox="1"/>
          <p:nvPr/>
        </p:nvSpPr>
        <p:spPr>
          <a:xfrm>
            <a:off x="899592" y="2780928"/>
            <a:ext cx="3168352" cy="400110"/>
          </a:xfrm>
          <a:prstGeom prst="rect">
            <a:avLst/>
          </a:prstGeom>
          <a:noFill/>
        </p:spPr>
        <p:txBody>
          <a:bodyPr wrap="square" rtlCol="0">
            <a:spAutoFit/>
          </a:bodyPr>
          <a:lstStyle/>
          <a:p>
            <a:r>
              <a:rPr lang="nl-NL" sz="2000" b="1" dirty="0" err="1" smtClean="0"/>
              <a:t>Kxp</a:t>
            </a:r>
            <a:r>
              <a:rPr lang="nl-NL" sz="2000" b="1" dirty="0" smtClean="0"/>
              <a:t> → p    </a:t>
            </a:r>
            <a:r>
              <a:rPr lang="nl-NL" sz="2000" dirty="0" smtClean="0"/>
              <a:t>?</a:t>
            </a:r>
            <a:r>
              <a:rPr lang="nl-NL" sz="2000" b="1" dirty="0" smtClean="0"/>
              <a:t>	</a:t>
            </a:r>
            <a:endParaRPr lang="nl-NL" sz="2000" b="1" dirty="0"/>
          </a:p>
        </p:txBody>
      </p:sp>
      <p:sp>
        <p:nvSpPr>
          <p:cNvPr id="9" name="TextBox 8"/>
          <p:cNvSpPr txBox="1"/>
          <p:nvPr/>
        </p:nvSpPr>
        <p:spPr>
          <a:xfrm>
            <a:off x="899592" y="3388930"/>
            <a:ext cx="3168352" cy="400110"/>
          </a:xfrm>
          <a:prstGeom prst="rect">
            <a:avLst/>
          </a:prstGeom>
          <a:noFill/>
        </p:spPr>
        <p:txBody>
          <a:bodyPr wrap="square" rtlCol="0">
            <a:spAutoFit/>
          </a:bodyPr>
          <a:lstStyle/>
          <a:p>
            <a:r>
              <a:rPr lang="nl-NL" sz="2000" b="1" dirty="0" err="1" smtClean="0"/>
              <a:t>Kxp</a:t>
            </a:r>
            <a:r>
              <a:rPr lang="nl-NL" sz="2000" b="1" dirty="0" smtClean="0"/>
              <a:t> → </a:t>
            </a:r>
            <a:r>
              <a:rPr lang="nl-NL" sz="2000" b="1" dirty="0" err="1" smtClean="0"/>
              <a:t>Bxp</a:t>
            </a:r>
            <a:r>
              <a:rPr lang="nl-NL" sz="2000" b="1" dirty="0" smtClean="0"/>
              <a:t>    </a:t>
            </a:r>
            <a:r>
              <a:rPr lang="nl-NL" sz="2000" dirty="0" smtClean="0"/>
              <a:t>?</a:t>
            </a:r>
            <a:r>
              <a:rPr lang="nl-NL" sz="2000" b="1" dirty="0" smtClean="0"/>
              <a:t>	</a:t>
            </a:r>
            <a:endParaRPr lang="nl-NL" sz="2000" b="1" dirty="0"/>
          </a:p>
        </p:txBody>
      </p:sp>
      <p:sp>
        <p:nvSpPr>
          <p:cNvPr id="10" name="TextBox 9"/>
          <p:cNvSpPr txBox="1"/>
          <p:nvPr/>
        </p:nvSpPr>
        <p:spPr>
          <a:xfrm>
            <a:off x="899592" y="4037002"/>
            <a:ext cx="3168352" cy="400110"/>
          </a:xfrm>
          <a:prstGeom prst="rect">
            <a:avLst/>
          </a:prstGeom>
          <a:noFill/>
        </p:spPr>
        <p:txBody>
          <a:bodyPr wrap="square" rtlCol="0">
            <a:spAutoFit/>
          </a:bodyPr>
          <a:lstStyle/>
          <a:p>
            <a:r>
              <a:rPr lang="nl-NL" sz="2000" b="1" dirty="0" err="1" smtClean="0"/>
              <a:t>Kxp</a:t>
            </a:r>
            <a:r>
              <a:rPr lang="nl-NL" sz="2000" b="1" dirty="0" smtClean="0"/>
              <a:t> → ¬</a:t>
            </a:r>
            <a:r>
              <a:rPr lang="nl-NL" sz="2000" b="1" dirty="0" err="1" smtClean="0"/>
              <a:t>Kx</a:t>
            </a:r>
            <a:r>
              <a:rPr lang="nl-NL" sz="2000" b="1" dirty="0" smtClean="0"/>
              <a:t>¬p    </a:t>
            </a:r>
            <a:r>
              <a:rPr lang="nl-NL" sz="2000" dirty="0" smtClean="0"/>
              <a:t>?</a:t>
            </a:r>
            <a:r>
              <a:rPr lang="nl-NL" sz="2000" b="1" dirty="0" smtClean="0"/>
              <a:t>	</a:t>
            </a:r>
            <a:endParaRPr lang="nl-NL" sz="2000" b="1" dirty="0"/>
          </a:p>
        </p:txBody>
      </p:sp>
      <p:sp>
        <p:nvSpPr>
          <p:cNvPr id="12" name="TextBox 11"/>
          <p:cNvSpPr txBox="1"/>
          <p:nvPr/>
        </p:nvSpPr>
        <p:spPr>
          <a:xfrm>
            <a:off x="3779912" y="2780928"/>
            <a:ext cx="3168352" cy="400110"/>
          </a:xfrm>
          <a:prstGeom prst="rect">
            <a:avLst/>
          </a:prstGeom>
          <a:noFill/>
        </p:spPr>
        <p:txBody>
          <a:bodyPr wrap="square" rtlCol="0">
            <a:spAutoFit/>
          </a:bodyPr>
          <a:lstStyle/>
          <a:p>
            <a:r>
              <a:rPr lang="nl-NL" sz="2000" b="1" dirty="0" err="1" smtClean="0"/>
              <a:t>Bxp</a:t>
            </a:r>
            <a:r>
              <a:rPr lang="nl-NL" sz="2000" b="1" dirty="0" smtClean="0"/>
              <a:t> → ¬</a:t>
            </a:r>
            <a:r>
              <a:rPr lang="nl-NL" sz="2000" b="1" dirty="0" err="1" smtClean="0"/>
              <a:t>Bx</a:t>
            </a:r>
            <a:r>
              <a:rPr lang="nl-NL" sz="2000" b="1" dirty="0" smtClean="0"/>
              <a:t>¬p    </a:t>
            </a:r>
            <a:r>
              <a:rPr lang="nl-NL" sz="2000" dirty="0" smtClean="0"/>
              <a:t>?</a:t>
            </a:r>
            <a:r>
              <a:rPr lang="nl-NL" sz="2000" b="1" dirty="0" smtClean="0"/>
              <a:t>	</a:t>
            </a:r>
            <a:endParaRPr lang="nl-NL" sz="2000" b="1" dirty="0"/>
          </a:p>
        </p:txBody>
      </p:sp>
      <p:sp>
        <p:nvSpPr>
          <p:cNvPr id="13" name="TextBox 12"/>
          <p:cNvSpPr txBox="1"/>
          <p:nvPr/>
        </p:nvSpPr>
        <p:spPr>
          <a:xfrm>
            <a:off x="3779912" y="3356992"/>
            <a:ext cx="3168352" cy="400110"/>
          </a:xfrm>
          <a:prstGeom prst="rect">
            <a:avLst/>
          </a:prstGeom>
          <a:noFill/>
        </p:spPr>
        <p:txBody>
          <a:bodyPr wrap="square" rtlCol="0">
            <a:spAutoFit/>
          </a:bodyPr>
          <a:lstStyle/>
          <a:p>
            <a:r>
              <a:rPr lang="nl-NL" sz="2000" b="1" dirty="0" smtClean="0"/>
              <a:t>(</a:t>
            </a:r>
            <a:r>
              <a:rPr lang="nl-NL" sz="2000" b="1" dirty="0" err="1" smtClean="0"/>
              <a:t>Kxp</a:t>
            </a:r>
            <a:r>
              <a:rPr lang="nl-NL" sz="2000" b="1" dirty="0" smtClean="0"/>
              <a:t> ∧ </a:t>
            </a:r>
            <a:r>
              <a:rPr lang="nl-NL" sz="2000" b="1" dirty="0" err="1" smtClean="0"/>
              <a:t>Kxq</a:t>
            </a:r>
            <a:r>
              <a:rPr lang="nl-NL" sz="2000" b="1" dirty="0" smtClean="0"/>
              <a:t>) → </a:t>
            </a:r>
            <a:r>
              <a:rPr lang="nl-NL" sz="2000" b="1" dirty="0" err="1" smtClean="0"/>
              <a:t>Kx</a:t>
            </a:r>
            <a:r>
              <a:rPr lang="nl-NL" sz="2000" b="1" dirty="0" smtClean="0"/>
              <a:t>(p∧q)    </a:t>
            </a:r>
            <a:r>
              <a:rPr lang="nl-NL" sz="2000" dirty="0" smtClean="0"/>
              <a:t>?</a:t>
            </a:r>
            <a:r>
              <a:rPr lang="nl-NL" sz="2000" b="1" dirty="0" smtClean="0"/>
              <a:t>	</a:t>
            </a:r>
            <a:endParaRPr lang="nl-NL" sz="2000" b="1" dirty="0"/>
          </a:p>
        </p:txBody>
      </p:sp>
      <p:sp>
        <p:nvSpPr>
          <p:cNvPr id="14" name="TextBox 13"/>
          <p:cNvSpPr txBox="1"/>
          <p:nvPr/>
        </p:nvSpPr>
        <p:spPr>
          <a:xfrm>
            <a:off x="3779912" y="3933056"/>
            <a:ext cx="3168352" cy="707886"/>
          </a:xfrm>
          <a:prstGeom prst="rect">
            <a:avLst/>
          </a:prstGeom>
          <a:noFill/>
        </p:spPr>
        <p:txBody>
          <a:bodyPr wrap="square" rtlCol="0">
            <a:spAutoFit/>
          </a:bodyPr>
          <a:lstStyle/>
          <a:p>
            <a:r>
              <a:rPr lang="nl-NL" sz="2000" b="1" dirty="0" smtClean="0"/>
              <a:t>(</a:t>
            </a:r>
            <a:r>
              <a:rPr lang="nl-NL" sz="2000" b="1" dirty="0" err="1" smtClean="0"/>
              <a:t>Kxp</a:t>
            </a:r>
            <a:r>
              <a:rPr lang="nl-NL" sz="2000" b="1" dirty="0" smtClean="0"/>
              <a:t> ∧ </a:t>
            </a:r>
            <a:r>
              <a:rPr lang="nl-NL" sz="2000" b="1" dirty="0" err="1" smtClean="0"/>
              <a:t>Kx</a:t>
            </a:r>
            <a:r>
              <a:rPr lang="nl-NL" sz="2000" b="1" dirty="0" smtClean="0"/>
              <a:t>(p→q)) → </a:t>
            </a:r>
            <a:r>
              <a:rPr lang="nl-NL" sz="2000" b="1" dirty="0" err="1" smtClean="0"/>
              <a:t>Kxq</a:t>
            </a:r>
            <a:r>
              <a:rPr lang="nl-NL" sz="2000" b="1" dirty="0" smtClean="0"/>
              <a:t>    </a:t>
            </a:r>
            <a:r>
              <a:rPr lang="nl-NL" sz="2000" dirty="0" smtClean="0"/>
              <a:t>?</a:t>
            </a:r>
            <a:r>
              <a:rPr lang="nl-NL" sz="2000" b="1" dirty="0" smtClean="0"/>
              <a:t>	</a:t>
            </a:r>
            <a:endParaRPr lang="nl-NL" sz="2000" b="1" dirty="0"/>
          </a:p>
        </p:txBody>
      </p:sp>
      <p:sp>
        <p:nvSpPr>
          <p:cNvPr id="15" name="TextBox 14"/>
          <p:cNvSpPr txBox="1"/>
          <p:nvPr/>
        </p:nvSpPr>
        <p:spPr>
          <a:xfrm>
            <a:off x="3779912" y="4509120"/>
            <a:ext cx="3168352" cy="400110"/>
          </a:xfrm>
          <a:prstGeom prst="rect">
            <a:avLst/>
          </a:prstGeom>
          <a:noFill/>
        </p:spPr>
        <p:txBody>
          <a:bodyPr wrap="square" rtlCol="0">
            <a:spAutoFit/>
          </a:bodyPr>
          <a:lstStyle/>
          <a:p>
            <a:r>
              <a:rPr lang="nl-NL" sz="2000" b="1" dirty="0" err="1" smtClean="0"/>
              <a:t>Kxp</a:t>
            </a:r>
            <a:r>
              <a:rPr lang="nl-NL" sz="2000" b="1" dirty="0" smtClean="0"/>
              <a:t> → </a:t>
            </a:r>
            <a:r>
              <a:rPr lang="nl-NL" sz="2000" b="1" dirty="0" err="1" smtClean="0"/>
              <a:t>Kx</a:t>
            </a:r>
            <a:r>
              <a:rPr lang="nl-NL" sz="2000" b="1" dirty="0" smtClean="0"/>
              <a:t>(</a:t>
            </a:r>
            <a:r>
              <a:rPr lang="nl-NL" sz="2000" b="1" dirty="0" err="1" smtClean="0"/>
              <a:t>Kxp</a:t>
            </a:r>
            <a:r>
              <a:rPr lang="nl-NL" sz="2000" b="1" dirty="0" smtClean="0"/>
              <a:t>) </a:t>
            </a:r>
            <a:r>
              <a:rPr lang="nl-NL" sz="2000" dirty="0" smtClean="0"/>
              <a:t>?</a:t>
            </a:r>
            <a:r>
              <a:rPr lang="nl-NL" sz="2000" b="1" dirty="0" smtClean="0"/>
              <a:t>	</a:t>
            </a:r>
            <a:endParaRPr lang="nl-NL"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20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fade">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20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xEl>
                                              <p:pRg st="0" end="0"/>
                                            </p:txEl>
                                          </p:spTgt>
                                        </p:tgtEl>
                                        <p:attrNameLst>
                                          <p:attrName>style.visibility</p:attrName>
                                        </p:attrNameLst>
                                      </p:cBhvr>
                                      <p:to>
                                        <p:strVal val="visible"/>
                                      </p:to>
                                    </p:set>
                                    <p:animEffect transition="in" filter="fade">
                                      <p:cBhvr>
                                        <p:cTn id="22" dur="2000"/>
                                        <p:tgtEl>
                                          <p:spTgt spid="1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animEffect transition="in" filter="fade">
                                      <p:cBhvr>
                                        <p:cTn id="27" dur="2000"/>
                                        <p:tgtEl>
                                          <p:spTgt spid="1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xEl>
                                              <p:pRg st="0" end="0"/>
                                            </p:txEl>
                                          </p:spTgt>
                                        </p:tgtEl>
                                        <p:attrNameLst>
                                          <p:attrName>style.visibility</p:attrName>
                                        </p:attrNameLst>
                                      </p:cBhvr>
                                      <p:to>
                                        <p:strVal val="visible"/>
                                      </p:to>
                                    </p:set>
                                    <p:animEffect transition="in" filter="fade">
                                      <p:cBhvr>
                                        <p:cTn id="32" dur="2000"/>
                                        <p:tgtEl>
                                          <p:spTgt spid="1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fade">
                                      <p:cBhvr>
                                        <p:cTn id="37" dur="20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allAtOnce"/>
      <p:bldP spid="9" grpId="0" build="allAtOnce"/>
      <p:bldP spid="10" grpId="0" build="allAtOnce"/>
      <p:bldP spid="12" grpId="0" build="allAtOnce"/>
      <p:bldP spid="13" grpId="0" build="allAtOnce"/>
      <p:bldP spid="14" grpId="0" build="allAtOnce"/>
      <p:bldP spid="15" grpId="0" build="allAtOnce"/>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4466</TotalTime>
  <Words>34463</Words>
  <Application>Microsoft Office PowerPoint</Application>
  <PresentationFormat>On-screen Show (4:3)</PresentationFormat>
  <Paragraphs>7266</Paragraphs>
  <Slides>460</Slides>
  <Notes>112</Notes>
  <HiddenSlides>1</HiddenSlides>
  <MMClips>0</MMClips>
  <ScaleCrop>false</ScaleCrop>
  <HeadingPairs>
    <vt:vector size="4" baseType="variant">
      <vt:variant>
        <vt:lpstr>Theme</vt:lpstr>
      </vt:variant>
      <vt:variant>
        <vt:i4>1</vt:i4>
      </vt:variant>
      <vt:variant>
        <vt:lpstr>Slide Titles</vt:lpstr>
      </vt:variant>
      <vt:variant>
        <vt:i4>460</vt:i4>
      </vt:variant>
    </vt:vector>
  </HeadingPairs>
  <TitlesOfParts>
    <vt:vector size="461" baseType="lpstr">
      <vt:lpstr>Office Theme</vt:lpstr>
      <vt:lpstr>  Inleiding Logica 2014 Faculteit der Wijsbegeerte</vt:lpstr>
      <vt:lpstr>Deze presentatie is gemaakt voor ‘full screen mode’ en behandelt nauwgezet stof uit ‘Argumentatie en Formele Structuur’ van Willem R. de Jong</vt:lpstr>
      <vt:lpstr>Slide 3</vt:lpstr>
      <vt:lpstr>Wat is logica?</vt:lpstr>
      <vt:lpstr>Wat is logica?</vt:lpstr>
      <vt:lpstr>Zijn de volgende redenering geldig of niet?</vt:lpstr>
      <vt:lpstr>Basis axioma van de logica</vt:lpstr>
      <vt:lpstr>Van redenering naar redeneervorm</vt:lpstr>
      <vt:lpstr>Van redenering naar redeneervorm (2)</vt:lpstr>
      <vt:lpstr>Van redenering naar redeneervorm (3)</vt:lpstr>
      <vt:lpstr>Logische theorieën</vt:lpstr>
      <vt:lpstr>Propositielogica</vt:lpstr>
      <vt:lpstr>Propositielogica</vt:lpstr>
      <vt:lpstr>Welke van de volgende redeneringen dienen vanuit de propositielogica geanalyseerd te worden?</vt:lpstr>
      <vt:lpstr>Welke van de volgende redeneringen dienen vanuit de propositielogica geanalyseerd te worden?</vt:lpstr>
      <vt:lpstr>Welke van de volgende redeneringen dienen vanuit de propositielogica geanalyseerd te worden?</vt:lpstr>
      <vt:lpstr>En deze analyse ziet er dan als volgt uit…</vt:lpstr>
      <vt:lpstr>En dus…</vt:lpstr>
      <vt:lpstr>De logische constanten van de propositielogica</vt:lpstr>
      <vt:lpstr>De logische constanten van de propositielogica</vt:lpstr>
      <vt:lpstr>De logische constanten van propositielogica</vt:lpstr>
      <vt:lpstr>De logische constanten van propositielogica</vt:lpstr>
      <vt:lpstr>De logische constanten van de propositielogica</vt:lpstr>
      <vt:lpstr>Propositionele structuur van samengestelde proposities</vt:lpstr>
      <vt:lpstr>De proposities van de propositielogica</vt:lpstr>
      <vt:lpstr>De uiterst buitenste haakjes in samenstellingen…</vt:lpstr>
      <vt:lpstr>… zijn eigenlijk onnodig en kunnen                                                      dus weggelaten worden</vt:lpstr>
      <vt:lpstr>We krijgen zo de volgende definitie van de formele taal van de propositielogica</vt:lpstr>
      <vt:lpstr>Formules in diagrammen</vt:lpstr>
      <vt:lpstr>Redeneringen vertalen naar propositielogica </vt:lpstr>
      <vt:lpstr>Het systeem van natuurlijke deductie                         voor de propositielogica</vt:lpstr>
      <vt:lpstr>Het systeem van natuurlijke deductie                         voor de propositielogica</vt:lpstr>
      <vt:lpstr>Het systeem van natuurlijke deductie                         voor de propositielogica</vt:lpstr>
      <vt:lpstr>Introductieregel voor de conjunctie (∧)</vt:lpstr>
      <vt:lpstr>Gebruiksregel voor de conjunctie (∧)</vt:lpstr>
      <vt:lpstr>Gebruiksregel voor de implicatie (→)</vt:lpstr>
      <vt:lpstr>Introductieregel voor de implicatie (→)</vt:lpstr>
      <vt:lpstr>Herhalingsregel</vt:lpstr>
      <vt:lpstr>Introductieregel voor de disjunctie (∨)</vt:lpstr>
      <vt:lpstr>Gebruiksregel voor de disjunctie (∨)</vt:lpstr>
      <vt:lpstr>Gebruiksregel voor de disjunctie (∨)</vt:lpstr>
      <vt:lpstr>Introductieregel voor de negatie (¬)</vt:lpstr>
      <vt:lpstr>Introductieregel voor de negatie (¬)</vt:lpstr>
      <vt:lpstr>Gebruiksregel voor de negatie (¬)</vt:lpstr>
      <vt:lpstr>Disjunctief syllogisme en Ex falso                                      zijn logisch equivalent</vt:lpstr>
      <vt:lpstr>Ex falso als de gebruiksregel voor de negatie (¬)</vt:lpstr>
      <vt:lpstr>Nogmaals: Introductieregel voor de negatie</vt:lpstr>
      <vt:lpstr>Nogmaals: Introductieregel voor de negatie</vt:lpstr>
      <vt:lpstr>Nogmaals: Introductieregel voor de negatie</vt:lpstr>
      <vt:lpstr>Nogmaals: Introductieregel voor de negatie</vt:lpstr>
      <vt:lpstr>Zwakke en sterke reductio ad absurdum</vt:lpstr>
      <vt:lpstr>Sterke reductio is logisch equivalent met de   regel voor de eliminatie van dubbele negatie</vt:lpstr>
      <vt:lpstr>Sterke reductio is in feite zwakke reductio plus de regel voor de eliminatie van dubbele negatie</vt:lpstr>
      <vt:lpstr>Alle natuurlijke deductieregels op een rijtje (1)</vt:lpstr>
      <vt:lpstr>Alle natuurlijke deductieregels op een rijtje (2)</vt:lpstr>
      <vt:lpstr>Deductieregels voor dubbele implicatie (↔)?</vt:lpstr>
      <vt:lpstr>Nogmaals: Regel voor eliminatie dubbele negatie</vt:lpstr>
      <vt:lpstr>Verschillende propositielogica’s</vt:lpstr>
      <vt:lpstr>Deductiestelling</vt:lpstr>
      <vt:lpstr>Monotonie</vt:lpstr>
      <vt:lpstr>Semantiek</vt:lpstr>
      <vt:lpstr>Waarheidstafel van de conjunctie (∧)</vt:lpstr>
      <vt:lpstr>Waarheidstafel van de negatie (¬)</vt:lpstr>
      <vt:lpstr>Waarheidstafel van de negatie (¬)</vt:lpstr>
      <vt:lpstr>Slide 65</vt:lpstr>
      <vt:lpstr>Slide 66</vt:lpstr>
      <vt:lpstr>Slide 67</vt:lpstr>
      <vt:lpstr>Slide 68</vt:lpstr>
      <vt:lpstr>Semantische geldigheid van redeneringen</vt:lpstr>
      <vt:lpstr>Semantische geldigheid van redeneringen</vt:lpstr>
      <vt:lpstr>Semantische geldigheid van redeneringen</vt:lpstr>
      <vt:lpstr>Semantische geldigheid van redeneringen</vt:lpstr>
      <vt:lpstr>Semantische geldigheid van redeneringen</vt:lpstr>
      <vt:lpstr>Hoe ziet de waarheidstafel van                                            de implicatie (→) eruit?</vt:lpstr>
      <vt:lpstr>Slide 75</vt:lpstr>
      <vt:lpstr>Slide 76</vt:lpstr>
      <vt:lpstr>Slide 77</vt:lpstr>
      <vt:lpstr>Slide 78</vt:lpstr>
      <vt:lpstr>Slide 79</vt:lpstr>
      <vt:lpstr>Slide 80</vt:lpstr>
      <vt:lpstr>Slide 81</vt:lpstr>
      <vt:lpstr>Slide 82</vt:lpstr>
      <vt:lpstr>Slide 83</vt:lpstr>
      <vt:lpstr>De waarheidstafel van de implicatie (→)</vt:lpstr>
      <vt:lpstr>De waarheidstafel van de materiële implicatie (→)</vt:lpstr>
      <vt:lpstr>Waarheidstafel van dubbele implicatie (↔)</vt:lpstr>
      <vt:lpstr>Waarheidstafel van dubbele implicatie (↔)</vt:lpstr>
      <vt:lpstr>Samengevat: alle waarheidstafels in één oogopslag</vt:lpstr>
      <vt:lpstr>Tautologieën, contradicties en contingenties</vt:lpstr>
      <vt:lpstr>Nogmaals: waarheidsfuncties</vt:lpstr>
      <vt:lpstr>Nogmaals: waarheidsfuncties</vt:lpstr>
      <vt:lpstr>Nogmaals: waarheidsfuncties</vt:lpstr>
      <vt:lpstr>De propositielogica is volledig en correct</vt:lpstr>
      <vt:lpstr>De propositielogica is beslisbaar</vt:lpstr>
      <vt:lpstr>Nogmaals: intuïtionistische logica</vt:lpstr>
      <vt:lpstr>Nogmaals: intuïtionistische logica</vt:lpstr>
      <vt:lpstr>Nogmaals: intuïtionistische logica</vt:lpstr>
      <vt:lpstr>Meerwaardige logica’s</vt:lpstr>
      <vt:lpstr>Grenzen van de propositielogica</vt:lpstr>
      <vt:lpstr>Grenzen van de propositielogica</vt:lpstr>
      <vt:lpstr>Grenzen van de propositielogica</vt:lpstr>
      <vt:lpstr>De syllogistiek</vt:lpstr>
      <vt:lpstr>Subject-predikaat oordelen</vt:lpstr>
      <vt:lpstr>Subject-predikaat oordelen</vt:lpstr>
      <vt:lpstr>Subject-predikaat oordelen</vt:lpstr>
      <vt:lpstr>Subject-predikaat oordelen</vt:lpstr>
      <vt:lpstr>Subject-predikaat oordelen</vt:lpstr>
      <vt:lpstr>Subject-predikaat oordelen</vt:lpstr>
      <vt:lpstr>Subject-predikaat oordelen</vt:lpstr>
      <vt:lpstr>Subject-predikaat oordelen</vt:lpstr>
      <vt:lpstr>Subject-predikaat oordelen</vt:lpstr>
      <vt:lpstr>Subject-predikaat oordelen</vt:lpstr>
      <vt:lpstr>Subject-predikaat oordelen</vt:lpstr>
      <vt:lpstr>Subject-predikaat oordelen</vt:lpstr>
      <vt:lpstr>Vier oordeelsvormen</vt:lpstr>
      <vt:lpstr>Vier oordeelsvormen</vt:lpstr>
      <vt:lpstr>Vier oordeelsvormen</vt:lpstr>
      <vt:lpstr>Vier oordeelsvormen</vt:lpstr>
      <vt:lpstr>Negatie van oordeelsvormen</vt:lpstr>
      <vt:lpstr>Oppositievierkant</vt:lpstr>
      <vt:lpstr>Oppositievierkant</vt:lpstr>
      <vt:lpstr>Boomdiagrammen</vt:lpstr>
      <vt:lpstr>Boomdiagrammen</vt:lpstr>
      <vt:lpstr>Onmiddellijke afleidingsregels</vt:lpstr>
      <vt:lpstr>Onmiddellijke afleidingsregels</vt:lpstr>
      <vt:lpstr>Onmiddellijke afleidingsregels</vt:lpstr>
      <vt:lpstr>Onmiddellijke afleidingsregels op een rij</vt:lpstr>
      <vt:lpstr>Syllogismen (middellijke afleidingsregels)</vt:lpstr>
      <vt:lpstr>Syllogismen</vt:lpstr>
      <vt:lpstr>Syllogismen</vt:lpstr>
      <vt:lpstr>Syllogismen</vt:lpstr>
      <vt:lpstr>Syllogismen</vt:lpstr>
      <vt:lpstr>Syllogismen</vt:lpstr>
      <vt:lpstr>Syllogismen</vt:lpstr>
      <vt:lpstr>Syllogismen</vt:lpstr>
      <vt:lpstr>Syllogismen</vt:lpstr>
      <vt:lpstr>Hoeveel verschillende syllogismen zijn er?</vt:lpstr>
      <vt:lpstr>Hoeveel verschillende syllogismen zijn er?</vt:lpstr>
      <vt:lpstr>Hoeveel verschillende syllogismen zijn er?</vt:lpstr>
      <vt:lpstr>Hoeveel verschillende syllogismen zijn er?</vt:lpstr>
      <vt:lpstr>Hoeveel verschillende syllogismen zijn er?</vt:lpstr>
      <vt:lpstr>Hoeveel verschillende syllogismen zijn er?</vt:lpstr>
      <vt:lpstr>Hoeveel verschillende syllogismen zijn er?</vt:lpstr>
      <vt:lpstr>Terug naar de twee vragen…</vt:lpstr>
      <vt:lpstr>Geldige en ongeldige syllogismen</vt:lpstr>
      <vt:lpstr>De vier perfecte syllogismen</vt:lpstr>
      <vt:lpstr>De vier perfecte syllogismen</vt:lpstr>
      <vt:lpstr>De vier perfecte syllogismen</vt:lpstr>
      <vt:lpstr>De vier perfecte syllogismen</vt:lpstr>
      <vt:lpstr>De vier perfecte syllogismen</vt:lpstr>
      <vt:lpstr>Aanvullende aanwijzingen in de namen voor het bewijzen van geldigheid</vt:lpstr>
      <vt:lpstr>Afleiding van de geldigheid van                          Camestres (AEE-2)</vt:lpstr>
      <vt:lpstr>Afleiding van de geldigheid van                          Camestres (AEE-2)</vt:lpstr>
      <vt:lpstr>Afleiding van de geldigheid van                          Camestres (AEE-2)</vt:lpstr>
      <vt:lpstr>Afleiding van de geldigheid van                          Camestres (AEE-2)</vt:lpstr>
      <vt:lpstr>Afleiding van de geldigheid van                          Ferison (EIO-3)</vt:lpstr>
      <vt:lpstr>Afleiding van de geldigheid van                          Ferison (EIO-3)</vt:lpstr>
      <vt:lpstr>Afleiding van de geldigheid van                          Bramantip (AAI-4)</vt:lpstr>
      <vt:lpstr>Afleiding van de geldigheid van                          Bramantip (AAI-4)</vt:lpstr>
      <vt:lpstr>Afleiding van de geldigheid van                          Bramantip (AAI-4)</vt:lpstr>
      <vt:lpstr>Afleiding van de geldigheid van                          Bocardo (OAO-3)</vt:lpstr>
      <vt:lpstr>Afleiding van de geldigheid van                          Bocardo (OAO-3)</vt:lpstr>
      <vt:lpstr>Afleiding van de geldigheid van                          Bocardo (OAO-3)</vt:lpstr>
      <vt:lpstr>Afleiding van de geldigheid van                          Bocardo (OAO-3)</vt:lpstr>
      <vt:lpstr>Alle geldige syllogismen in één overzicht</vt:lpstr>
      <vt:lpstr>Alle geldige syllogismen in één overzicht</vt:lpstr>
      <vt:lpstr>Alle geldige syllogismen in één overzicht</vt:lpstr>
      <vt:lpstr>Van syntax naar semantiek</vt:lpstr>
      <vt:lpstr>Van syntax naar semantiek</vt:lpstr>
      <vt:lpstr>Van syntax naar semantiek</vt:lpstr>
      <vt:lpstr>Van syntax naar semantiek</vt:lpstr>
      <vt:lpstr>Van syntax naar semantiek</vt:lpstr>
      <vt:lpstr>Van syntax naar semantiek</vt:lpstr>
      <vt:lpstr>Van syntax naar semantiek</vt:lpstr>
      <vt:lpstr>Van syntax naar semantiek</vt:lpstr>
      <vt:lpstr>Van syntax naar semantiek</vt:lpstr>
      <vt:lpstr>Van syntax naar semantiek</vt:lpstr>
      <vt:lpstr>Toepassen van suppositietheorie</vt:lpstr>
      <vt:lpstr>Toepassen van suppositietheorie</vt:lpstr>
      <vt:lpstr>Toepassen van suppositietheorie</vt:lpstr>
      <vt:lpstr>Toepassen van suppositietheorie</vt:lpstr>
      <vt:lpstr>Verband tussen de suppositietheorie en   het taalmodel van Aristoteles</vt:lpstr>
      <vt:lpstr>Verband tussen de suppositietheorie en   het taalmodel van Aristoteles</vt:lpstr>
      <vt:lpstr>De suppositietheorie van Ockham</vt:lpstr>
      <vt:lpstr>De suppositietheorie van Ockham</vt:lpstr>
      <vt:lpstr>Extensie en Intensie</vt:lpstr>
      <vt:lpstr>Extensie en Intensie</vt:lpstr>
      <vt:lpstr>De rol van de copula in een oordeel</vt:lpstr>
      <vt:lpstr>De rol van de copula in een oordeel</vt:lpstr>
      <vt:lpstr>Suppositietheorie en het compositiebeginsel</vt:lpstr>
      <vt:lpstr>Suppositietheorie en het compositiebeginsel</vt:lpstr>
      <vt:lpstr>De klasselogische interpretatie                                 van de syllogistiek </vt:lpstr>
      <vt:lpstr>De klasselogische interpretatie                                 van de syllogistiek </vt:lpstr>
      <vt:lpstr>De klasselogische interpretatie                                 van de syllogistiek </vt:lpstr>
      <vt:lpstr>De klasselogische interpretatie                                 van de syllogistiek </vt:lpstr>
      <vt:lpstr>De klasselogische interpretatie                                 van de syllogistiek </vt:lpstr>
      <vt:lpstr>De klasselogische interpretatie                                 van de syllogistiek </vt:lpstr>
      <vt:lpstr>De klasselogische interpretatie                                 van de syllogistiek </vt:lpstr>
      <vt:lpstr>Het interpreteren van oordelen</vt:lpstr>
      <vt:lpstr>Het interpreteren van oordelen</vt:lpstr>
      <vt:lpstr>Aantonen van ongeldigheid van ongeldige syllogismen</vt:lpstr>
      <vt:lpstr>Aantonen van ongeldigheid van ongeldige syllogismen</vt:lpstr>
      <vt:lpstr>Aantonen van ongeldigheid van ongeldige syllogismen</vt:lpstr>
      <vt:lpstr>Aantonen van ongeldigheid van ongeldige syllogismen</vt:lpstr>
      <vt:lpstr>Aantonen van ongeldigheid van ongeldige syllogismen</vt:lpstr>
      <vt:lpstr>Aantonen van ongeldigheid van ongeldige syllogismen</vt:lpstr>
      <vt:lpstr>Existentiële import</vt:lpstr>
      <vt:lpstr>Syllogistiek en relaties</vt:lpstr>
      <vt:lpstr>Syllogistiek en relaties</vt:lpstr>
      <vt:lpstr>Syllogistiek en relaties</vt:lpstr>
      <vt:lpstr>Syllogistiek en relaties</vt:lpstr>
      <vt:lpstr>Syllogistiek en relaties</vt:lpstr>
      <vt:lpstr>Predikaatlogica</vt:lpstr>
      <vt:lpstr>Predikaatlogica</vt:lpstr>
      <vt:lpstr>Van propositie- naar predikaatlogica</vt:lpstr>
      <vt:lpstr>Domein, kwantoren en individuvariabelen</vt:lpstr>
      <vt:lpstr>Domein, kwantoren en individuvariabelen</vt:lpstr>
      <vt:lpstr>Domein, kwantoren en individuvariabelen</vt:lpstr>
      <vt:lpstr>Domein, kwantoren en individuvariabelen</vt:lpstr>
      <vt:lpstr>Domein, kwantoren en individuvariabelen</vt:lpstr>
      <vt:lpstr>Domein, kwantoren en individuvariabelen</vt:lpstr>
      <vt:lpstr>Domein, kwantoren en individuvariabelen</vt:lpstr>
      <vt:lpstr>Domein, kwantoren en individuvariabelen</vt:lpstr>
      <vt:lpstr>Existentiële import</vt:lpstr>
      <vt:lpstr>Existentiële import</vt:lpstr>
      <vt:lpstr>Existentiële import</vt:lpstr>
      <vt:lpstr>Existentiële import</vt:lpstr>
      <vt:lpstr>Existentiële import</vt:lpstr>
      <vt:lpstr>Relaties in de predikaatlogica</vt:lpstr>
      <vt:lpstr>Relaties in de predikaatlogica</vt:lpstr>
      <vt:lpstr>Relaties in de predikaatlogica</vt:lpstr>
      <vt:lpstr>Formele definitie van de taal                                           van de predikaatlogica</vt:lpstr>
      <vt:lpstr>Boomdiagrammen</vt:lpstr>
      <vt:lpstr>Boomdiagrammen</vt:lpstr>
      <vt:lpstr>Boomdiagrammen</vt:lpstr>
      <vt:lpstr>Boomdiagrammen</vt:lpstr>
      <vt:lpstr>Boomdiagrammen</vt:lpstr>
      <vt:lpstr>Definitie van de formules van de predikaatlogica</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Wat wordt bedoeld met de uitspraak                            “Individuvariabele x treedt vrij op in α[x]” ? </vt:lpstr>
      <vt:lpstr>Proposities en formules</vt:lpstr>
      <vt:lpstr>Complexere vertalingen</vt:lpstr>
      <vt:lpstr>Complexere vertalingen</vt:lpstr>
      <vt:lpstr>Complexere vertalingen</vt:lpstr>
      <vt:lpstr>Natuurlijke deductie</vt:lpstr>
      <vt:lpstr>Introductieregel voor ∃  </vt:lpstr>
      <vt:lpstr>Introductieregel voor ∃  </vt:lpstr>
      <vt:lpstr>Introductieregel voor ∃  </vt:lpstr>
      <vt:lpstr>Gebruiksregel voor ∀  </vt:lpstr>
      <vt:lpstr>Gebruiksregel voor ∀</vt:lpstr>
      <vt:lpstr>Gebruiksregel voor ∀</vt:lpstr>
      <vt:lpstr>Introductieregel voor ∀  </vt:lpstr>
      <vt:lpstr>Introductieregel voor ∀   </vt:lpstr>
      <vt:lpstr>Introductieregel voor ∀   </vt:lpstr>
      <vt:lpstr>Introductieregel voor ∀   </vt:lpstr>
      <vt:lpstr>Introductieregel voor ∀   </vt:lpstr>
      <vt:lpstr>Introductieregel voor ∀</vt:lpstr>
      <vt:lpstr>Introductieregel voor ∀</vt:lpstr>
      <vt:lpstr>Introductieregel voor ∀</vt:lpstr>
      <vt:lpstr>Introductieregel voor ∀</vt:lpstr>
      <vt:lpstr>Gebruiksregel voor ∃  </vt:lpstr>
      <vt:lpstr>Gebruiksregel voor ∃</vt:lpstr>
      <vt:lpstr>Gebruiksregel voor ∃</vt:lpstr>
      <vt:lpstr>Gebruiksregel voor ∃</vt:lpstr>
      <vt:lpstr>Gebruiksregel voor ∃</vt:lpstr>
      <vt:lpstr>Gebruiksregel voor ∃</vt:lpstr>
      <vt:lpstr>Gebruiksregel voor ∃</vt:lpstr>
      <vt:lpstr>Gebruiksregel voor ∃</vt:lpstr>
      <vt:lpstr>Gebruiksregel voor ∃</vt:lpstr>
      <vt:lpstr>Gebruiksregel voor ∃</vt:lpstr>
      <vt:lpstr>De vier aanvullende afleidingsregels op een rijtje                                        </vt:lpstr>
      <vt:lpstr>Tot slot nog twee voorbeelden</vt:lpstr>
      <vt:lpstr>Tot slot nog twee voorbeelden</vt:lpstr>
      <vt:lpstr>Semantische bomen voor de propositielogica</vt:lpstr>
      <vt:lpstr>Een voorbeeld</vt:lpstr>
      <vt:lpstr>Een voorbeeld</vt:lpstr>
      <vt:lpstr>Een voorbeeld</vt:lpstr>
      <vt:lpstr>Een voorbeeld</vt:lpstr>
      <vt:lpstr>Een voorbeeld</vt:lpstr>
      <vt:lpstr>Een voorbeeld</vt:lpstr>
      <vt:lpstr>Een voorbeeld (II)</vt:lpstr>
      <vt:lpstr>Een voorbeeld (II)</vt:lpstr>
      <vt:lpstr>Een voorbeeld (II)</vt:lpstr>
      <vt:lpstr>Een voorbeeld (II)</vt:lpstr>
      <vt:lpstr>Een voorbeeld (II)</vt:lpstr>
      <vt:lpstr>Een voorbeeld (III)</vt:lpstr>
      <vt:lpstr>Een voorbeeld (III)</vt:lpstr>
      <vt:lpstr>Een voorbeeld (III)</vt:lpstr>
      <vt:lpstr>Een voorbeeld (III)</vt:lpstr>
      <vt:lpstr>Boomregels</vt:lpstr>
      <vt:lpstr>Boomregels</vt:lpstr>
      <vt:lpstr>Boom voor ware equivalentie</vt:lpstr>
      <vt:lpstr>Boom voor ware equivalentie</vt:lpstr>
      <vt:lpstr>Boom voor ware equivalentie</vt:lpstr>
      <vt:lpstr>Boom voor ware equivalentie</vt:lpstr>
      <vt:lpstr>Boom voor ware equivalentie</vt:lpstr>
      <vt:lpstr>Boom voor ware equivalentie</vt:lpstr>
      <vt:lpstr>Boom voor ware equivalentie</vt:lpstr>
      <vt:lpstr>Boom voor ware equivalentie</vt:lpstr>
      <vt:lpstr>Boom voor ware equivalentie</vt:lpstr>
      <vt:lpstr>Boom voor ware equivalentie</vt:lpstr>
      <vt:lpstr>Boom voor ware equivalentie</vt:lpstr>
      <vt:lpstr>Boom voor ware equivalentie</vt:lpstr>
      <vt:lpstr>Boom voor onware equivalentie</vt:lpstr>
      <vt:lpstr>Boom voor onware equivalentie</vt:lpstr>
      <vt:lpstr>Boom voor onware equivalentie</vt:lpstr>
      <vt:lpstr>Boom voor onware equivalentie</vt:lpstr>
      <vt:lpstr>Boom voor onware equivalentie</vt:lpstr>
      <vt:lpstr>Boomregels op een rijtje (welke mist?)</vt:lpstr>
      <vt:lpstr>Verdere voorbeelden</vt:lpstr>
      <vt:lpstr>Verdere voorbeelden</vt:lpstr>
      <vt:lpstr>Verdere voorbeelden</vt:lpstr>
      <vt:lpstr>Verdere voorbeelden</vt:lpstr>
      <vt:lpstr>Verdere voorbeelden</vt:lpstr>
      <vt:lpstr>Boommethode voor vaststellen tautologieën</vt:lpstr>
      <vt:lpstr>Is (P ∧ Q) V (¬P V ¬Q) een tautologie?</vt:lpstr>
      <vt:lpstr>Semantische bomen voor de propositielogica</vt:lpstr>
      <vt:lpstr>Boommethode voor de predikaatlogica</vt:lpstr>
      <vt:lpstr>Boommethode voor de predikaatlogica</vt:lpstr>
      <vt:lpstr>Semantische geldigheid van                                  predikaat-logische redeneringen</vt:lpstr>
      <vt:lpstr>Boomregels voor de predikaatlogica</vt:lpstr>
      <vt:lpstr>Boomregel voor ware universele kwantificatie</vt:lpstr>
      <vt:lpstr>Boomregel voor ware universele kwantificatie</vt:lpstr>
      <vt:lpstr>Boomregel voor ware universele kwantificatie</vt:lpstr>
      <vt:lpstr>Boomregel voor ware universele kwantificatie</vt:lpstr>
      <vt:lpstr>Boomregel voor ware universele kwantificatie</vt:lpstr>
      <vt:lpstr>Boomregel voor ware existentiële kwantificatie</vt:lpstr>
      <vt:lpstr>Boomregel voor onware existentiële kwantificatie</vt:lpstr>
      <vt:lpstr>Boomregel voor onware existentiële kwantificatie</vt:lpstr>
      <vt:lpstr>Boomregel voor onware existentiële kwantificatie</vt:lpstr>
      <vt:lpstr>Boomregel voor onware existentiële kwantificatie</vt:lpstr>
      <vt:lpstr>Boomregel voor onware existentiële kwantificatie</vt:lpstr>
      <vt:lpstr>Boomregel voor onware universele kwantificatie</vt:lpstr>
      <vt:lpstr>Boomregel voor onware universele kwantificatie</vt:lpstr>
      <vt:lpstr>Boomregel voor onware universele kwantificatie</vt:lpstr>
      <vt:lpstr>Voorbeeld</vt:lpstr>
      <vt:lpstr>De vier predikaatlogische                                      boomregels op een rijtje</vt:lpstr>
      <vt:lpstr>Een moeilijkheid…</vt:lpstr>
      <vt:lpstr>Een moeilijkheid…</vt:lpstr>
      <vt:lpstr>Een moeilijkheid…</vt:lpstr>
      <vt:lpstr>Een moeilijkheid…</vt:lpstr>
      <vt:lpstr>Voorbeeld</vt:lpstr>
      <vt:lpstr>Voorbeeld</vt:lpstr>
      <vt:lpstr>Voorbeeld</vt:lpstr>
      <vt:lpstr>Voorbeeld</vt:lpstr>
      <vt:lpstr>Voorbeeld</vt:lpstr>
      <vt:lpstr>Voorbeeld</vt:lpstr>
      <vt:lpstr>Voorbeeld</vt:lpstr>
      <vt:lpstr>Een belangrijke vuistregel voor toepassen van de semantische boommethode</vt:lpstr>
      <vt:lpstr>Is de semantische boommethode een beslissingsprocedure voor de predikaatlogica?</vt:lpstr>
      <vt:lpstr>Is de semantische boommethode een beslissingsprocedure voor de predikaatlogica?</vt:lpstr>
      <vt:lpstr>Voorbeeld van een situatie waarin de boommethode géén uitsluitsel geeft</vt:lpstr>
      <vt:lpstr>De semantische boommethode is geen beslissingsprocedure voor de predikaatlogica</vt:lpstr>
      <vt:lpstr>De propositielogica is volledig en correct</vt:lpstr>
      <vt:lpstr>De propositielogica is volledig en correct</vt:lpstr>
      <vt:lpstr>De predikaatlogica is volledig en correct</vt:lpstr>
      <vt:lpstr>De predikaatlogica is volledig en correct</vt:lpstr>
      <vt:lpstr>De predikaatlogica is echter niet beslisbaar</vt:lpstr>
      <vt:lpstr>Relaties</vt:lpstr>
      <vt:lpstr>Relaties</vt:lpstr>
      <vt:lpstr>Relaties</vt:lpstr>
      <vt:lpstr>Relaties</vt:lpstr>
      <vt:lpstr>Relaties</vt:lpstr>
      <vt:lpstr>Relaties</vt:lpstr>
      <vt:lpstr>Relaties</vt:lpstr>
      <vt:lpstr>Relaties</vt:lpstr>
      <vt:lpstr>Soorten twee-plaatsige relaties</vt:lpstr>
      <vt:lpstr>Soorten twee-plaatsige relaties</vt:lpstr>
      <vt:lpstr>Soorten twee-plaatsige relaties</vt:lpstr>
      <vt:lpstr>Soorten twee-plaatsige relaties</vt:lpstr>
      <vt:lpstr>Verbanden tussen twee-plaatsige relaties</vt:lpstr>
      <vt:lpstr>Equivalentierelaties</vt:lpstr>
      <vt:lpstr>Equivalentierelaties</vt:lpstr>
      <vt:lpstr>Equivalentierelaties</vt:lpstr>
      <vt:lpstr>Equivalentierelaties</vt:lpstr>
      <vt:lpstr>Equivalentierelaties</vt:lpstr>
      <vt:lpstr>Equivalentierelaties</vt:lpstr>
      <vt:lpstr>Ordeningsrelaties (partiële ordeningen)</vt:lpstr>
      <vt:lpstr>Ordeningsrelaties (partiële ordeningen)</vt:lpstr>
      <vt:lpstr>Ordeningsrelaties (partiële ordeningen)</vt:lpstr>
      <vt:lpstr>Verbanden tussen eigenschappen van relaties </vt:lpstr>
      <vt:lpstr>Verbanden tussen eigenschappen van relaties </vt:lpstr>
      <vt:lpstr>Slide 395</vt:lpstr>
      <vt:lpstr>Identiteit</vt:lpstr>
      <vt:lpstr>Identiteit</vt:lpstr>
      <vt:lpstr>Identiteit</vt:lpstr>
      <vt:lpstr>Soorten relaties (vervolg)</vt:lpstr>
      <vt:lpstr>Soorten relaties (vervolg)</vt:lpstr>
      <vt:lpstr>Soorten relaties (vervolg)</vt:lpstr>
      <vt:lpstr>Soorten relaties (vervolg)</vt:lpstr>
      <vt:lpstr>Vertalingen met identiteit</vt:lpstr>
      <vt:lpstr>Identiteit (=) nader geanalyseerd</vt:lpstr>
      <vt:lpstr>Identiteit (=) nader geanalyseerd</vt:lpstr>
      <vt:lpstr>Identiteit (=) nader geanalyseerd</vt:lpstr>
      <vt:lpstr>Identiteit toevoegen aan natuurlijke deductie</vt:lpstr>
      <vt:lpstr>Identiteit toevoegen aan natuurlijke deductie</vt:lpstr>
      <vt:lpstr>Semantische boomregels voor identiteit</vt:lpstr>
      <vt:lpstr>Slide 410</vt:lpstr>
      <vt:lpstr>Tot slot nog twee voorbeelden</vt:lpstr>
      <vt:lpstr>Unieke bepalingen</vt:lpstr>
      <vt:lpstr>Unieke bepalingen</vt:lpstr>
      <vt:lpstr>Meer voorbeelden</vt:lpstr>
      <vt:lpstr>Frege en Russell</vt:lpstr>
      <vt:lpstr>Frege en Russell</vt:lpstr>
      <vt:lpstr>Frege en Russell</vt:lpstr>
      <vt:lpstr>Frege en Russell</vt:lpstr>
      <vt:lpstr>Frege en Russell</vt:lpstr>
      <vt:lpstr>Niet verwijzende unieke bepalingen</vt:lpstr>
      <vt:lpstr>Niet verwijzende unieke bepalingen</vt:lpstr>
      <vt:lpstr>Niet verwijzende unieke bepalingen</vt:lpstr>
      <vt:lpstr>Russell’s analyse nader bekeken</vt:lpstr>
      <vt:lpstr>Russell en Strawson</vt:lpstr>
      <vt:lpstr>Logicisme</vt:lpstr>
      <vt:lpstr>Logicisme</vt:lpstr>
      <vt:lpstr>De Russell paradox</vt:lpstr>
      <vt:lpstr>Logica naturalis, docens en utens</vt:lpstr>
      <vt:lpstr>Verband tussen logica naturalis en docens</vt:lpstr>
      <vt:lpstr>Verband tussen logica naturalis en docens</vt:lpstr>
      <vt:lpstr>Verband tussen logica naturalis en docens</vt:lpstr>
      <vt:lpstr>Intensionele logica</vt:lpstr>
      <vt:lpstr>Intensionele logica</vt:lpstr>
      <vt:lpstr>Intensionele logica</vt:lpstr>
      <vt:lpstr>Intensionele logica</vt:lpstr>
      <vt:lpstr>Intensionele logica</vt:lpstr>
      <vt:lpstr>Intensionele logica</vt:lpstr>
      <vt:lpstr>Intensionele logica</vt:lpstr>
      <vt:lpstr>Intensionele logica</vt:lpstr>
      <vt:lpstr>Intensionele logica</vt:lpstr>
      <vt:lpstr>Intensionele logica</vt:lpstr>
      <vt:lpstr>Intensionele logica</vt:lpstr>
      <vt:lpstr>Modale propositie logica</vt:lpstr>
      <vt:lpstr>Modale propositie logica</vt:lpstr>
      <vt:lpstr>Modale propositie logica</vt:lpstr>
      <vt:lpstr>Een notie van semantische geldigheid                          voor de modale propostielogica</vt:lpstr>
      <vt:lpstr>Een notie van semantische geldigheid                          voor de modale propostielogica</vt:lpstr>
      <vt:lpstr>Een notie van semantische geldigheid                          voor de modale propostielogica</vt:lpstr>
      <vt:lpstr>Semantische geldigheid voor de modale propositielogica: mogelijke werelden</vt:lpstr>
      <vt:lpstr>Semantische geldigheid voor de modale propositielogica: mogelijke werelden</vt:lpstr>
      <vt:lpstr>Semantische geldigheid voor de modale propositielogica: mogelijke werelden</vt:lpstr>
      <vt:lpstr>Modale predikatenlogica</vt:lpstr>
      <vt:lpstr>Modale predikatenlogica</vt:lpstr>
      <vt:lpstr>Modale predikatenlogica</vt:lpstr>
      <vt:lpstr>Modale predikatenlogica</vt:lpstr>
      <vt:lpstr>Tijdslogica</vt:lpstr>
      <vt:lpstr>Tijdslogica</vt:lpstr>
      <vt:lpstr>Kennislogica</vt:lpstr>
      <vt:lpstr>Kennislogica</vt:lpstr>
      <vt:lpstr>Kennislogica</vt:lpstr>
    </vt:vector>
  </TitlesOfParts>
  <Company>LeasePlan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Epistemology</dc:title>
  <dc:creator>rutte</dc:creator>
  <cp:lastModifiedBy>rutte</cp:lastModifiedBy>
  <cp:revision>470</cp:revision>
  <dcterms:created xsi:type="dcterms:W3CDTF">2013-05-04T19:13:18Z</dcterms:created>
  <dcterms:modified xsi:type="dcterms:W3CDTF">2014-05-12T20:22:06Z</dcterms:modified>
</cp:coreProperties>
</file>