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711" r:id="rId3"/>
    <p:sldId id="712" r:id="rId4"/>
    <p:sldId id="714" r:id="rId5"/>
    <p:sldId id="713" r:id="rId6"/>
    <p:sldId id="700" r:id="rId7"/>
    <p:sldId id="715" r:id="rId8"/>
    <p:sldId id="716" r:id="rId9"/>
    <p:sldId id="717" r:id="rId10"/>
    <p:sldId id="709" r:id="rId11"/>
    <p:sldId id="719" r:id="rId12"/>
    <p:sldId id="718" r:id="rId13"/>
    <p:sldId id="720" r:id="rId14"/>
    <p:sldId id="721" r:id="rId15"/>
  </p:sldIdLst>
  <p:sldSz cx="9144000" cy="6858000" type="screen4x3"/>
  <p:notesSz cx="6858000" cy="9144000"/>
  <p:custDataLst>
    <p:tags r:id="rId17"/>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5334BD-2CFE-4460-9A3B-EBF3B9A79A1D}" type="datetimeFigureOut">
              <a:rPr lang="nl-NL" smtClean="0"/>
              <a:pPr/>
              <a:t>3-4-2023</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E894D2-E747-4DD6-9AC0-FA60268B0898}" type="slidenum">
              <a:rPr lang="nl-NL" smtClean="0"/>
              <a:pPr/>
              <a:t>‹nr.›</a:t>
            </a:fld>
            <a:endParaRPr lang="nl-NL"/>
          </a:p>
        </p:txBody>
      </p:sp>
    </p:spTree>
    <p:extLst>
      <p:ext uri="{BB962C8B-B14F-4D97-AF65-F5344CB8AC3E}">
        <p14:creationId xmlns:p14="http://schemas.microsoft.com/office/powerpoint/2010/main" val="1002285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6</a:t>
            </a:fld>
            <a:endParaRPr lang="nl-NL"/>
          </a:p>
        </p:txBody>
      </p:sp>
    </p:spTree>
    <p:extLst>
      <p:ext uri="{BB962C8B-B14F-4D97-AF65-F5344CB8AC3E}">
        <p14:creationId xmlns:p14="http://schemas.microsoft.com/office/powerpoint/2010/main" val="1934366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7</a:t>
            </a:fld>
            <a:endParaRPr lang="nl-NL"/>
          </a:p>
        </p:txBody>
      </p:sp>
    </p:spTree>
    <p:extLst>
      <p:ext uri="{BB962C8B-B14F-4D97-AF65-F5344CB8AC3E}">
        <p14:creationId xmlns:p14="http://schemas.microsoft.com/office/powerpoint/2010/main" val="516862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8</a:t>
            </a:fld>
            <a:endParaRPr lang="nl-NL"/>
          </a:p>
        </p:txBody>
      </p:sp>
    </p:spTree>
    <p:extLst>
      <p:ext uri="{BB962C8B-B14F-4D97-AF65-F5344CB8AC3E}">
        <p14:creationId xmlns:p14="http://schemas.microsoft.com/office/powerpoint/2010/main" val="738841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9</a:t>
            </a:fld>
            <a:endParaRPr lang="nl-NL"/>
          </a:p>
        </p:txBody>
      </p:sp>
    </p:spTree>
    <p:extLst>
      <p:ext uri="{BB962C8B-B14F-4D97-AF65-F5344CB8AC3E}">
        <p14:creationId xmlns:p14="http://schemas.microsoft.com/office/powerpoint/2010/main" val="2146163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10</a:t>
            </a:fld>
            <a:endParaRPr lang="nl-NL"/>
          </a:p>
        </p:txBody>
      </p:sp>
    </p:spTree>
    <p:extLst>
      <p:ext uri="{BB962C8B-B14F-4D97-AF65-F5344CB8AC3E}">
        <p14:creationId xmlns:p14="http://schemas.microsoft.com/office/powerpoint/2010/main" val="314754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11</a:t>
            </a:fld>
            <a:endParaRPr lang="nl-NL"/>
          </a:p>
        </p:txBody>
      </p:sp>
    </p:spTree>
    <p:extLst>
      <p:ext uri="{BB962C8B-B14F-4D97-AF65-F5344CB8AC3E}">
        <p14:creationId xmlns:p14="http://schemas.microsoft.com/office/powerpoint/2010/main" val="3812502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12</a:t>
            </a:fld>
            <a:endParaRPr lang="nl-NL"/>
          </a:p>
        </p:txBody>
      </p:sp>
    </p:spTree>
    <p:extLst>
      <p:ext uri="{BB962C8B-B14F-4D97-AF65-F5344CB8AC3E}">
        <p14:creationId xmlns:p14="http://schemas.microsoft.com/office/powerpoint/2010/main" val="272288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13</a:t>
            </a:fld>
            <a:endParaRPr lang="nl-NL"/>
          </a:p>
        </p:txBody>
      </p:sp>
    </p:spTree>
    <p:extLst>
      <p:ext uri="{BB962C8B-B14F-4D97-AF65-F5344CB8AC3E}">
        <p14:creationId xmlns:p14="http://schemas.microsoft.com/office/powerpoint/2010/main" val="3293481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14</a:t>
            </a:fld>
            <a:endParaRPr lang="nl-NL"/>
          </a:p>
        </p:txBody>
      </p:sp>
    </p:spTree>
    <p:extLst>
      <p:ext uri="{BB962C8B-B14F-4D97-AF65-F5344CB8AC3E}">
        <p14:creationId xmlns:p14="http://schemas.microsoft.com/office/powerpoint/2010/main" val="2541868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3-4-2023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3-4-2023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AA0AEB-7E23-4A29-AE8C-DEF0EC2E5D97}" type="datetimeFigureOut">
              <a:rPr lang="nl-NL" smtClean="0"/>
              <a:pPr/>
              <a:t>3-4-2023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p:cNvSpPr>
            <a:spLocks noGrp="1"/>
          </p:cNvSpPr>
          <p:nvPr>
            <p:ph type="dt" sz="half" idx="10"/>
          </p:nvPr>
        </p:nvSpPr>
        <p:spPr/>
        <p:txBody>
          <a:bodyPr/>
          <a:lstStyle/>
          <a:p>
            <a:fld id="{12AA0AEB-7E23-4A29-AE8C-DEF0EC2E5D97}" type="datetimeFigureOut">
              <a:rPr lang="nl-NL" smtClean="0"/>
              <a:pPr/>
              <a:t>3-4-2023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p:cNvSpPr>
            <a:spLocks noGrp="1"/>
          </p:cNvSpPr>
          <p:nvPr>
            <p:ph type="dt" sz="half" idx="10"/>
          </p:nvPr>
        </p:nvSpPr>
        <p:spPr/>
        <p:txBody>
          <a:bodyPr/>
          <a:lstStyle/>
          <a:p>
            <a:fld id="{12AA0AEB-7E23-4A29-AE8C-DEF0EC2E5D97}" type="datetimeFigureOut">
              <a:rPr lang="nl-NL" smtClean="0"/>
              <a:pPr/>
              <a:t>3-4-2023</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Date Placeholder 2"/>
          <p:cNvSpPr>
            <a:spLocks noGrp="1"/>
          </p:cNvSpPr>
          <p:nvPr>
            <p:ph type="dt" sz="half" idx="10"/>
          </p:nvPr>
        </p:nvSpPr>
        <p:spPr/>
        <p:txBody>
          <a:bodyPr/>
          <a:lstStyle/>
          <a:p>
            <a:fld id="{12AA0AEB-7E23-4A29-AE8C-DEF0EC2E5D97}" type="datetimeFigureOut">
              <a:rPr lang="nl-NL" smtClean="0"/>
              <a:pPr/>
              <a:t>3-4-2023</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A0AEB-7E23-4A29-AE8C-DEF0EC2E5D97}" type="datetimeFigureOut">
              <a:rPr lang="nl-NL" smtClean="0"/>
              <a:pPr/>
              <a:t>3-4-2023</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3-4-2023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3-4-2023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3-4-2023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3-4-2023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A0AEB-7E23-4A29-AE8C-DEF0EC2E5D97}" type="datetimeFigureOut">
              <a:rPr lang="nl-NL" smtClean="0"/>
              <a:pPr/>
              <a:t>3-4-2023</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04E19-9FB8-4C27-821D-BBEA7AABA37C}" type="slidenum">
              <a:rPr lang="nl-NL" smtClean="0"/>
              <a:pPr/>
              <a:t>‹nr.›</a:t>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504" y="1670943"/>
            <a:ext cx="8712968" cy="461913"/>
          </a:xfrm>
        </p:spPr>
        <p:txBody>
          <a:bodyPr>
            <a:normAutofit fontScale="90000"/>
          </a:bodyPr>
          <a:lstStyle/>
          <a:p>
            <a:br>
              <a:rPr lang="nl-NL" dirty="0"/>
            </a:br>
            <a:br>
              <a:rPr lang="nl-NL" sz="4000" dirty="0"/>
            </a:br>
            <a:r>
              <a:rPr lang="nl-NL" dirty="0"/>
              <a:t>The </a:t>
            </a:r>
            <a:r>
              <a:rPr lang="nl-NL" dirty="0" err="1"/>
              <a:t>Semantic</a:t>
            </a:r>
            <a:r>
              <a:rPr lang="nl-NL" dirty="0"/>
              <a:t> Argument </a:t>
            </a:r>
            <a:r>
              <a:rPr lang="nl-NL" dirty="0" err="1"/>
              <a:t>and</a:t>
            </a:r>
            <a:r>
              <a:rPr lang="nl-NL" dirty="0"/>
              <a:t> </a:t>
            </a:r>
            <a:r>
              <a:rPr lang="nl-NL" dirty="0" err="1"/>
              <a:t>its</a:t>
            </a:r>
            <a:r>
              <a:rPr lang="nl-NL" dirty="0"/>
              <a:t> </a:t>
            </a:r>
            <a:r>
              <a:rPr lang="nl-NL" dirty="0" err="1"/>
              <a:t>implications</a:t>
            </a:r>
            <a:r>
              <a:rPr lang="nl-NL" dirty="0"/>
              <a:t> </a:t>
            </a:r>
            <a:r>
              <a:rPr lang="nl-NL" dirty="0" err="1"/>
              <a:t>for</a:t>
            </a:r>
            <a:r>
              <a:rPr lang="nl-NL" dirty="0"/>
              <a:t> </a:t>
            </a:r>
            <a:r>
              <a:rPr lang="nl-NL" dirty="0" err="1"/>
              <a:t>the</a:t>
            </a:r>
            <a:r>
              <a:rPr lang="nl-NL" dirty="0"/>
              <a:t> </a:t>
            </a:r>
            <a:r>
              <a:rPr lang="nl-NL" dirty="0" err="1"/>
              <a:t>likelihood</a:t>
            </a:r>
            <a:r>
              <a:rPr lang="nl-NL" dirty="0"/>
              <a:t> </a:t>
            </a:r>
            <a:br>
              <a:rPr lang="nl-NL" dirty="0"/>
            </a:br>
            <a:r>
              <a:rPr lang="nl-NL" dirty="0"/>
              <a:t>of </a:t>
            </a:r>
            <a:r>
              <a:rPr lang="nl-NL" dirty="0" err="1"/>
              <a:t>the</a:t>
            </a:r>
            <a:r>
              <a:rPr lang="nl-NL" dirty="0"/>
              <a:t> </a:t>
            </a:r>
            <a:r>
              <a:rPr lang="nl-NL" dirty="0" err="1"/>
              <a:t>Existence</a:t>
            </a:r>
            <a:r>
              <a:rPr lang="nl-NL" dirty="0"/>
              <a:t> of God       </a:t>
            </a:r>
            <a:br>
              <a:rPr lang="nl-NL" dirty="0"/>
            </a:br>
            <a:br>
              <a:rPr lang="nl-NL" sz="3600" dirty="0"/>
            </a:br>
            <a:r>
              <a:rPr lang="en-IE" sz="3200" i="1" dirty="0"/>
              <a:t>International Proofs of God’s Existence Conference</a:t>
            </a:r>
            <a:r>
              <a:rPr lang="en-IE" sz="3200" dirty="0"/>
              <a:t> organized by the Science Philosophy Religion Foundation</a:t>
            </a:r>
            <a:br>
              <a:rPr lang="en-IE" sz="3200" dirty="0"/>
            </a:br>
            <a:br>
              <a:rPr lang="en-IE" sz="3200" dirty="0"/>
            </a:br>
            <a:r>
              <a:rPr lang="en-IE" sz="3200" dirty="0"/>
              <a:t>Istanbul | Spring 2023</a:t>
            </a:r>
            <a:endParaRPr lang="nl-NL" dirty="0"/>
          </a:p>
        </p:txBody>
      </p:sp>
      <p:sp>
        <p:nvSpPr>
          <p:cNvPr id="3" name="Subtitle 2"/>
          <p:cNvSpPr>
            <a:spLocks noGrp="1"/>
          </p:cNvSpPr>
          <p:nvPr>
            <p:ph type="subTitle" idx="1"/>
          </p:nvPr>
        </p:nvSpPr>
        <p:spPr>
          <a:xfrm>
            <a:off x="1267544" y="5013176"/>
            <a:ext cx="6328792" cy="1752600"/>
          </a:xfrm>
        </p:spPr>
        <p:txBody>
          <a:bodyPr>
            <a:normAutofit/>
          </a:bodyPr>
          <a:lstStyle/>
          <a:p>
            <a:r>
              <a:rPr lang="nl-NL" sz="2400" dirty="0">
                <a:solidFill>
                  <a:schemeClr val="tx1"/>
                </a:solidFill>
              </a:rPr>
              <a:t>Emanuel Rutten</a:t>
            </a:r>
          </a:p>
          <a:p>
            <a:r>
              <a:rPr lang="nl-NL" sz="2400" dirty="0">
                <a:solidFill>
                  <a:schemeClr val="tx1"/>
                </a:solidFill>
              </a:rPr>
              <a:t>VU Amsterdam</a:t>
            </a:r>
          </a:p>
          <a:p>
            <a:r>
              <a:rPr lang="nl-NL" sz="2400" u="sng" dirty="0">
                <a:solidFill>
                  <a:srgbClr val="0070C0"/>
                </a:solidFill>
              </a:rPr>
              <a:t>e.rutten@vu.nl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a:t>Objective</a:t>
            </a:r>
            <a:r>
              <a:rPr lang="nl-NL" sz="3600" dirty="0"/>
              <a:t> of </a:t>
            </a:r>
            <a:r>
              <a:rPr lang="nl-NL" sz="3600" dirty="0" err="1"/>
              <a:t>this</a:t>
            </a:r>
            <a:r>
              <a:rPr lang="nl-NL" sz="3600" dirty="0"/>
              <a:t> </a:t>
            </a:r>
            <a:r>
              <a:rPr lang="nl-NL" sz="3600" dirty="0" err="1"/>
              <a:t>lecture</a:t>
            </a:r>
            <a:endParaRPr lang="nl-NL" sz="3600" dirty="0"/>
          </a:p>
        </p:txBody>
      </p:sp>
      <p:sp>
        <p:nvSpPr>
          <p:cNvPr id="3" name="Content Placeholder 2"/>
          <p:cNvSpPr>
            <a:spLocks noGrp="1"/>
          </p:cNvSpPr>
          <p:nvPr>
            <p:ph idx="1"/>
          </p:nvPr>
        </p:nvSpPr>
        <p:spPr>
          <a:xfrm>
            <a:off x="467544" y="2708920"/>
            <a:ext cx="8229600" cy="532656"/>
          </a:xfrm>
        </p:spPr>
        <p:txBody>
          <a:bodyPr>
            <a:noAutofit/>
          </a:bodyPr>
          <a:lstStyle/>
          <a:p>
            <a:r>
              <a:rPr lang="nl-NL" sz="2200" dirty="0"/>
              <a:t>The </a:t>
            </a:r>
            <a:r>
              <a:rPr lang="nl-NL" sz="2200" dirty="0" err="1"/>
              <a:t>semantic</a:t>
            </a:r>
            <a:r>
              <a:rPr lang="nl-NL" sz="2200" dirty="0"/>
              <a:t> argument (Rutten 2021) is </a:t>
            </a:r>
            <a:r>
              <a:rPr lang="nl-NL" sz="2200" dirty="0" err="1"/>
              <a:t>an</a:t>
            </a:r>
            <a:r>
              <a:rPr lang="nl-NL" sz="2200" dirty="0"/>
              <a:t> argument </a:t>
            </a:r>
            <a:r>
              <a:rPr lang="nl-NL" sz="2200" dirty="0" err="1"/>
              <a:t>for</a:t>
            </a:r>
            <a:r>
              <a:rPr lang="nl-NL" sz="2200" dirty="0"/>
              <a:t> </a:t>
            </a:r>
            <a:r>
              <a:rPr lang="nl-NL" sz="2200" dirty="0" err="1"/>
              <a:t>the</a:t>
            </a:r>
            <a:r>
              <a:rPr lang="nl-NL" sz="2200" dirty="0"/>
              <a:t> claim </a:t>
            </a:r>
            <a:r>
              <a:rPr lang="nl-NL" sz="2200" dirty="0" err="1"/>
              <a:t>that</a:t>
            </a:r>
            <a:r>
              <a:rPr lang="nl-NL" sz="2200" dirty="0"/>
              <a:t> </a:t>
            </a:r>
            <a:r>
              <a:rPr lang="nl-NL" sz="2200" dirty="0" err="1"/>
              <a:t>there</a:t>
            </a:r>
            <a:r>
              <a:rPr lang="nl-NL" sz="2200" dirty="0"/>
              <a:t> are no </a:t>
            </a:r>
            <a:r>
              <a:rPr lang="nl-NL" sz="2200" dirty="0" err="1"/>
              <a:t>universal</a:t>
            </a:r>
            <a:r>
              <a:rPr lang="nl-NL" sz="2200" dirty="0"/>
              <a:t> </a:t>
            </a:r>
            <a:r>
              <a:rPr lang="nl-NL" sz="2200" i="1" dirty="0"/>
              <a:t>non-</a:t>
            </a:r>
            <a:r>
              <a:rPr lang="nl-NL" sz="2200" i="1" dirty="0" err="1"/>
              <a:t>formal</a:t>
            </a:r>
            <a:r>
              <a:rPr lang="nl-NL" sz="2200" dirty="0"/>
              <a:t> </a:t>
            </a:r>
            <a:r>
              <a:rPr lang="nl-NL" sz="2200" dirty="0" err="1"/>
              <a:t>properties</a:t>
            </a:r>
            <a:r>
              <a:rPr lang="nl-NL" sz="2200" dirty="0"/>
              <a:t>. For </a:t>
            </a:r>
            <a:r>
              <a:rPr lang="nl-NL" sz="2200" dirty="0" err="1"/>
              <a:t>each</a:t>
            </a:r>
            <a:r>
              <a:rPr lang="nl-NL" sz="2200" dirty="0"/>
              <a:t> </a:t>
            </a:r>
            <a:r>
              <a:rPr lang="nl-NL" sz="2200" i="1" dirty="0"/>
              <a:t>non- </a:t>
            </a:r>
            <a:r>
              <a:rPr lang="nl-NL" sz="2200" i="1" dirty="0" err="1"/>
              <a:t>formal</a:t>
            </a:r>
            <a:r>
              <a:rPr lang="nl-NL" sz="2200" dirty="0"/>
              <a:t> property </a:t>
            </a:r>
            <a:r>
              <a:rPr lang="nl-NL" sz="2200" dirty="0" err="1"/>
              <a:t>there</a:t>
            </a:r>
            <a:r>
              <a:rPr lang="nl-NL" sz="2200" dirty="0"/>
              <a:t> </a:t>
            </a:r>
            <a:r>
              <a:rPr lang="nl-NL" sz="2200" dirty="0" err="1"/>
              <a:t>exists</a:t>
            </a:r>
            <a:r>
              <a:rPr lang="nl-NL" sz="2200" dirty="0"/>
              <a:t> </a:t>
            </a:r>
            <a:r>
              <a:rPr lang="nl-NL" sz="2200" dirty="0" err="1"/>
              <a:t>an</a:t>
            </a:r>
            <a:r>
              <a:rPr lang="nl-NL" sz="2200" dirty="0"/>
              <a:t> object </a:t>
            </a:r>
            <a:r>
              <a:rPr lang="nl-NL" sz="2200" dirty="0" err="1"/>
              <a:t>that</a:t>
            </a:r>
            <a:r>
              <a:rPr lang="nl-NL" sz="2200" dirty="0"/>
              <a:t> </a:t>
            </a:r>
            <a:r>
              <a:rPr lang="nl-NL" sz="2200" dirty="0" err="1"/>
              <a:t>lacks</a:t>
            </a:r>
            <a:r>
              <a:rPr lang="nl-NL" sz="2200" dirty="0"/>
              <a:t> </a:t>
            </a:r>
            <a:r>
              <a:rPr lang="nl-NL" sz="2200" dirty="0" err="1"/>
              <a:t>that</a:t>
            </a:r>
            <a:r>
              <a:rPr lang="nl-NL" sz="2200" dirty="0"/>
              <a:t> property.</a:t>
            </a:r>
          </a:p>
          <a:p>
            <a:pPr marL="0" indent="0">
              <a:buNone/>
            </a:pPr>
            <a:endParaRPr lang="nl-NL" sz="2200" dirty="0"/>
          </a:p>
          <a:p>
            <a:pPr marL="0" indent="0">
              <a:buNone/>
            </a:pPr>
            <a:endParaRPr lang="nl-NL" sz="2400" dirty="0"/>
          </a:p>
        </p:txBody>
      </p:sp>
      <p:sp>
        <p:nvSpPr>
          <p:cNvPr id="9" name="Content Placeholder 2"/>
          <p:cNvSpPr txBox="1">
            <a:spLocks/>
          </p:cNvSpPr>
          <p:nvPr/>
        </p:nvSpPr>
        <p:spPr>
          <a:xfrm>
            <a:off x="467544" y="3976464"/>
            <a:ext cx="82296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In </a:t>
            </a:r>
            <a:r>
              <a:rPr lang="nl-NL" sz="2200" dirty="0" err="1"/>
              <a:t>this</a:t>
            </a:r>
            <a:r>
              <a:rPr lang="nl-NL" sz="2200" dirty="0"/>
              <a:t> </a:t>
            </a:r>
            <a:r>
              <a:rPr lang="nl-NL" sz="2200" dirty="0" err="1"/>
              <a:t>lecture</a:t>
            </a:r>
            <a:r>
              <a:rPr lang="nl-NL" sz="2200" dirty="0"/>
              <a:t> I present </a:t>
            </a:r>
            <a:r>
              <a:rPr lang="nl-NL" sz="2200" dirty="0" err="1"/>
              <a:t>my</a:t>
            </a:r>
            <a:r>
              <a:rPr lang="nl-NL" sz="2200" dirty="0"/>
              <a:t> </a:t>
            </a:r>
            <a:r>
              <a:rPr lang="nl-NL" sz="2200" dirty="0" err="1"/>
              <a:t>semantic</a:t>
            </a:r>
            <a:r>
              <a:rPr lang="nl-NL" sz="2200" dirty="0"/>
              <a:t> argument </a:t>
            </a:r>
            <a:r>
              <a:rPr lang="nl-NL" sz="2200" dirty="0" err="1"/>
              <a:t>and</a:t>
            </a:r>
            <a:r>
              <a:rPr lang="nl-NL" sz="2200" dirty="0"/>
              <a:t> I show </a:t>
            </a:r>
            <a:r>
              <a:rPr lang="nl-NL" sz="2200" dirty="0" err="1"/>
              <a:t>how</a:t>
            </a:r>
            <a:r>
              <a:rPr lang="nl-NL" sz="2200" dirty="0"/>
              <a:t> </a:t>
            </a:r>
            <a:r>
              <a:rPr lang="nl-NL" sz="2200" dirty="0" err="1"/>
              <a:t>its</a:t>
            </a:r>
            <a:r>
              <a:rPr lang="nl-NL" sz="2200" dirty="0"/>
              <a:t> </a:t>
            </a:r>
            <a:r>
              <a:rPr lang="nl-NL" sz="2200" dirty="0" err="1"/>
              <a:t>conclusion</a:t>
            </a:r>
            <a:r>
              <a:rPr lang="nl-NL" sz="2200" dirty="0"/>
              <a:t> </a:t>
            </a:r>
            <a:r>
              <a:rPr lang="nl-NL" sz="2200" dirty="0" err="1"/>
              <a:t>renders</a:t>
            </a:r>
            <a:r>
              <a:rPr lang="nl-NL" sz="2200" dirty="0"/>
              <a:t> </a:t>
            </a:r>
            <a:r>
              <a:rPr lang="nl-NL" sz="2200" dirty="0" err="1"/>
              <a:t>it</a:t>
            </a:r>
            <a:r>
              <a:rPr lang="nl-NL" sz="2200" dirty="0"/>
              <a:t> </a:t>
            </a:r>
            <a:r>
              <a:rPr lang="nl-NL" sz="2200" dirty="0" err="1"/>
              <a:t>likely</a:t>
            </a:r>
            <a:r>
              <a:rPr lang="nl-NL" sz="2200" dirty="0"/>
              <a:t> – or at </a:t>
            </a:r>
            <a:r>
              <a:rPr lang="nl-NL" sz="2200" dirty="0" err="1"/>
              <a:t>least</a:t>
            </a:r>
            <a:r>
              <a:rPr lang="nl-NL" sz="2200" dirty="0"/>
              <a:t> </a:t>
            </a:r>
            <a:r>
              <a:rPr lang="nl-NL" sz="2200" dirty="0" err="1"/>
              <a:t>significantly</a:t>
            </a:r>
            <a:r>
              <a:rPr lang="nl-NL" sz="2200" dirty="0"/>
              <a:t> </a:t>
            </a:r>
            <a:r>
              <a:rPr lang="nl-NL" sz="2200" dirty="0" err="1"/>
              <a:t>increases</a:t>
            </a:r>
            <a:r>
              <a:rPr lang="nl-NL" sz="2200" dirty="0"/>
              <a:t> </a:t>
            </a:r>
            <a:r>
              <a:rPr lang="nl-NL" sz="2200" dirty="0" err="1"/>
              <a:t>the</a:t>
            </a:r>
            <a:r>
              <a:rPr lang="nl-NL" sz="2200" dirty="0"/>
              <a:t> </a:t>
            </a:r>
            <a:r>
              <a:rPr lang="nl-NL" sz="2200" dirty="0" err="1"/>
              <a:t>likelihood</a:t>
            </a:r>
            <a:r>
              <a:rPr lang="nl-NL" sz="2200" dirty="0"/>
              <a:t> – </a:t>
            </a:r>
            <a:r>
              <a:rPr lang="nl-NL" sz="2200" dirty="0" err="1"/>
              <a:t>that</a:t>
            </a:r>
            <a:r>
              <a:rPr lang="nl-NL" sz="2200" dirty="0"/>
              <a:t> God </a:t>
            </a:r>
            <a:r>
              <a:rPr lang="nl-NL" sz="2200" dirty="0" err="1"/>
              <a:t>exists</a:t>
            </a:r>
            <a:r>
              <a:rPr lang="nl-NL" sz="2200" dirty="0"/>
              <a:t>. God is </a:t>
            </a:r>
            <a:r>
              <a:rPr lang="nl-NL" sz="2200" dirty="0" err="1"/>
              <a:t>understood</a:t>
            </a:r>
            <a:r>
              <a:rPr lang="nl-NL" sz="2200" dirty="0"/>
              <a:t> as a personal </a:t>
            </a:r>
            <a:r>
              <a:rPr lang="nl-NL" sz="2200" dirty="0" err="1"/>
              <a:t>being</a:t>
            </a:r>
            <a:r>
              <a:rPr lang="nl-NL" sz="2200" dirty="0"/>
              <a:t> </a:t>
            </a:r>
            <a:r>
              <a:rPr lang="nl-NL" sz="2200" dirty="0" err="1"/>
              <a:t>that</a:t>
            </a:r>
            <a:r>
              <a:rPr lang="nl-NL" sz="2200" dirty="0"/>
              <a:t> is </a:t>
            </a:r>
            <a:r>
              <a:rPr lang="nl-NL" sz="2200" dirty="0" err="1"/>
              <a:t>the</a:t>
            </a:r>
            <a:r>
              <a:rPr lang="nl-NL" sz="2200" dirty="0"/>
              <a:t> first </a:t>
            </a:r>
            <a:r>
              <a:rPr lang="nl-NL" sz="2200" dirty="0" err="1"/>
              <a:t>cause</a:t>
            </a:r>
            <a:r>
              <a:rPr lang="nl-NL" sz="2200" dirty="0"/>
              <a:t> of </a:t>
            </a:r>
            <a:r>
              <a:rPr lang="nl-NL" sz="2200" dirty="0" err="1"/>
              <a:t>the</a:t>
            </a:r>
            <a:r>
              <a:rPr lang="nl-NL" sz="2200" dirty="0"/>
              <a:t> </a:t>
            </a:r>
            <a:r>
              <a:rPr lang="nl-NL" sz="2200" dirty="0" err="1"/>
              <a:t>world</a:t>
            </a:r>
            <a:r>
              <a:rPr lang="nl-NL" sz="2200" dirty="0"/>
              <a:t>. God is a </a:t>
            </a:r>
            <a:r>
              <a:rPr lang="nl-NL" sz="2200" i="1" dirty="0"/>
              <a:t>personal first </a:t>
            </a:r>
            <a:r>
              <a:rPr lang="nl-NL" sz="2200" i="1" dirty="0" err="1"/>
              <a:t>cause</a:t>
            </a:r>
            <a:r>
              <a:rPr lang="nl-NL" sz="2200" dirty="0"/>
              <a:t>.</a:t>
            </a:r>
          </a:p>
          <a:p>
            <a:endParaRPr lang="nl-NL" sz="2400" dirty="0"/>
          </a:p>
          <a:p>
            <a:endParaRPr lang="nl-NL" sz="2400" dirty="0"/>
          </a:p>
          <a:p>
            <a:endParaRPr lang="nl-NL" sz="2400" dirty="0"/>
          </a:p>
        </p:txBody>
      </p:sp>
      <p:sp>
        <p:nvSpPr>
          <p:cNvPr id="4" name="Content Placeholder 2">
            <a:extLst>
              <a:ext uri="{FF2B5EF4-FFF2-40B4-BE49-F238E27FC236}">
                <a16:creationId xmlns:a16="http://schemas.microsoft.com/office/drawing/2014/main" id="{5039D4AC-D62D-DDDE-BD79-77A5545100A3}"/>
              </a:ext>
            </a:extLst>
          </p:cNvPr>
          <p:cNvSpPr txBox="1">
            <a:spLocks/>
          </p:cNvSpPr>
          <p:nvPr/>
        </p:nvSpPr>
        <p:spPr>
          <a:xfrm>
            <a:off x="467544" y="5560640"/>
            <a:ext cx="82296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I start </a:t>
            </a:r>
            <a:r>
              <a:rPr lang="nl-NL" sz="2200" dirty="0" err="1"/>
              <a:t>with</a:t>
            </a:r>
            <a:r>
              <a:rPr lang="nl-NL" sz="2200" dirty="0"/>
              <a:t> </a:t>
            </a:r>
            <a:r>
              <a:rPr lang="nl-NL" sz="2200" dirty="0" err="1"/>
              <a:t>initial</a:t>
            </a:r>
            <a:r>
              <a:rPr lang="nl-NL" sz="2200" dirty="0"/>
              <a:t> stage setting.</a:t>
            </a: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10" name="Content Placeholder 2">
            <a:extLst>
              <a:ext uri="{FF2B5EF4-FFF2-40B4-BE49-F238E27FC236}">
                <a16:creationId xmlns:a16="http://schemas.microsoft.com/office/drawing/2014/main" id="{AB67B89A-AE18-7209-1F47-6AADDBAEB4B5}"/>
              </a:ext>
            </a:extLst>
          </p:cNvPr>
          <p:cNvSpPr txBox="1">
            <a:spLocks/>
          </p:cNvSpPr>
          <p:nvPr/>
        </p:nvSpPr>
        <p:spPr>
          <a:xfrm>
            <a:off x="467544" y="1484784"/>
            <a:ext cx="8229600" cy="10129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 </a:t>
            </a:r>
            <a:r>
              <a:rPr lang="nl-NL" sz="2200" i="1" dirty="0" err="1"/>
              <a:t>universal</a:t>
            </a:r>
            <a:r>
              <a:rPr lang="nl-NL" sz="2200" dirty="0"/>
              <a:t> property is a property </a:t>
            </a:r>
            <a:r>
              <a:rPr lang="nl-NL" sz="2200" dirty="0" err="1"/>
              <a:t>that</a:t>
            </a:r>
            <a:r>
              <a:rPr lang="nl-NL" sz="2200" dirty="0"/>
              <a:t> </a:t>
            </a:r>
            <a:r>
              <a:rPr lang="nl-NL" sz="2200" dirty="0" err="1"/>
              <a:t>everything</a:t>
            </a:r>
            <a:r>
              <a:rPr lang="nl-NL" sz="2200" dirty="0"/>
              <a:t> </a:t>
            </a:r>
            <a:r>
              <a:rPr lang="nl-NL" sz="2200" dirty="0" err="1"/>
              <a:t>that</a:t>
            </a:r>
            <a:r>
              <a:rPr lang="nl-NL" sz="2200" dirty="0"/>
              <a:t> </a:t>
            </a:r>
            <a:r>
              <a:rPr lang="nl-NL" sz="2200" dirty="0" err="1"/>
              <a:t>exists</a:t>
            </a:r>
            <a:r>
              <a:rPr lang="nl-NL" sz="2200" dirty="0"/>
              <a:t> has. </a:t>
            </a:r>
            <a:r>
              <a:rPr lang="nl-NL" sz="2200" dirty="0" err="1"/>
              <a:t>Examples</a:t>
            </a:r>
            <a:r>
              <a:rPr lang="nl-NL" sz="2200" dirty="0"/>
              <a:t> </a:t>
            </a:r>
            <a:r>
              <a:rPr lang="nl-NL" sz="2200" dirty="0" err="1"/>
              <a:t>include</a:t>
            </a:r>
            <a:r>
              <a:rPr lang="nl-NL" sz="2200" dirty="0"/>
              <a:t> </a:t>
            </a:r>
            <a:r>
              <a:rPr lang="nl-NL" sz="2200" dirty="0" err="1"/>
              <a:t>such</a:t>
            </a:r>
            <a:r>
              <a:rPr lang="nl-NL" sz="2200" dirty="0"/>
              <a:t> </a:t>
            </a:r>
            <a:r>
              <a:rPr lang="nl-NL" sz="2200" i="1" dirty="0" err="1"/>
              <a:t>formal</a:t>
            </a:r>
            <a:r>
              <a:rPr lang="nl-NL" sz="2200" dirty="0"/>
              <a:t> </a:t>
            </a:r>
            <a:r>
              <a:rPr lang="nl-NL" sz="2200" dirty="0" err="1"/>
              <a:t>properties</a:t>
            </a:r>
            <a:r>
              <a:rPr lang="nl-NL" sz="2200" dirty="0"/>
              <a:t> as ‘</a:t>
            </a:r>
            <a:r>
              <a:rPr lang="nl-NL" sz="2200" dirty="0" err="1"/>
              <a:t>being</a:t>
            </a:r>
            <a:r>
              <a:rPr lang="nl-NL" sz="2200" dirty="0"/>
              <a:t> </a:t>
            </a:r>
            <a:r>
              <a:rPr lang="nl-NL" sz="2200" dirty="0" err="1"/>
              <a:t>an</a:t>
            </a:r>
            <a:r>
              <a:rPr lang="nl-NL" sz="2200" dirty="0"/>
              <a:t> object’ or ‘</a:t>
            </a:r>
            <a:r>
              <a:rPr lang="nl-NL" sz="2200" dirty="0" err="1"/>
              <a:t>being</a:t>
            </a:r>
            <a:r>
              <a:rPr lang="nl-NL" sz="2200" dirty="0"/>
              <a:t> </a:t>
            </a:r>
            <a:r>
              <a:rPr lang="nl-NL" sz="2200" dirty="0" err="1"/>
              <a:t>identical</a:t>
            </a:r>
            <a:r>
              <a:rPr lang="nl-NL" sz="2200" dirty="0"/>
              <a:t> </a:t>
            </a:r>
            <a:r>
              <a:rPr lang="nl-NL" sz="2200" dirty="0" err="1"/>
              <a:t>to</a:t>
            </a:r>
            <a:r>
              <a:rPr lang="nl-NL" sz="2200" dirty="0"/>
              <a:t> </a:t>
            </a:r>
            <a:r>
              <a:rPr lang="nl-NL" sz="2200" dirty="0" err="1"/>
              <a:t>itself</a:t>
            </a:r>
            <a:r>
              <a:rPr lang="nl-NL" sz="2200" dirty="0"/>
              <a:t>’. I </a:t>
            </a:r>
            <a:r>
              <a:rPr lang="nl-NL" sz="2200" dirty="0" err="1"/>
              <a:t>will</a:t>
            </a:r>
            <a:r>
              <a:rPr lang="nl-NL" sz="2200" dirty="0"/>
              <a:t> </a:t>
            </a:r>
            <a:r>
              <a:rPr lang="nl-NL" sz="2200" dirty="0" err="1"/>
              <a:t>define</a:t>
            </a:r>
            <a:r>
              <a:rPr lang="nl-NL" sz="2200" dirty="0"/>
              <a:t> ‘</a:t>
            </a:r>
            <a:r>
              <a:rPr lang="nl-NL" sz="2200" dirty="0" err="1"/>
              <a:t>formal</a:t>
            </a:r>
            <a:r>
              <a:rPr lang="nl-NL" sz="2200" dirty="0"/>
              <a:t>’ in </a:t>
            </a:r>
            <a:r>
              <a:rPr lang="nl-NL" sz="2200" dirty="0" err="1"/>
              <a:t>what</a:t>
            </a:r>
            <a:r>
              <a:rPr lang="nl-NL" sz="2200" dirty="0"/>
              <a:t> </a:t>
            </a:r>
            <a:r>
              <a:rPr lang="nl-NL" sz="2200" dirty="0" err="1"/>
              <a:t>follows</a:t>
            </a:r>
            <a:r>
              <a:rPr lang="nl-NL" sz="2200" dirty="0"/>
              <a:t>.</a:t>
            </a:r>
            <a:endParaRPr lang="nl-NL" sz="2400" dirty="0"/>
          </a:p>
          <a:p>
            <a:endParaRPr lang="nl-NL" sz="2400" dirty="0"/>
          </a:p>
          <a:p>
            <a:endParaRPr lang="nl-NL" sz="2400" dirty="0"/>
          </a:p>
        </p:txBody>
      </p:sp>
    </p:spTree>
    <p:extLst>
      <p:ext uri="{BB962C8B-B14F-4D97-AF65-F5344CB8AC3E}">
        <p14:creationId xmlns:p14="http://schemas.microsoft.com/office/powerpoint/2010/main" val="61119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a:t>Stage setting</a:t>
            </a:r>
          </a:p>
        </p:txBody>
      </p:sp>
      <p:sp>
        <p:nvSpPr>
          <p:cNvPr id="3" name="Content Placeholder 2"/>
          <p:cNvSpPr>
            <a:spLocks noGrp="1"/>
          </p:cNvSpPr>
          <p:nvPr>
            <p:ph idx="1"/>
          </p:nvPr>
        </p:nvSpPr>
        <p:spPr>
          <a:xfrm>
            <a:off x="107504" y="1556792"/>
            <a:ext cx="8435280" cy="532656"/>
          </a:xfrm>
        </p:spPr>
        <p:txBody>
          <a:bodyPr>
            <a:noAutofit/>
          </a:bodyPr>
          <a:lstStyle/>
          <a:p>
            <a:r>
              <a:rPr lang="nl-NL" sz="2200" dirty="0"/>
              <a:t>An object is </a:t>
            </a:r>
            <a:r>
              <a:rPr lang="nl-NL" sz="2200" dirty="0" err="1"/>
              <a:t>something</a:t>
            </a:r>
            <a:r>
              <a:rPr lang="nl-NL" sz="2200" dirty="0"/>
              <a:t> </a:t>
            </a:r>
            <a:r>
              <a:rPr lang="nl-NL" sz="2200" dirty="0" err="1"/>
              <a:t>that</a:t>
            </a:r>
            <a:r>
              <a:rPr lang="nl-NL" sz="2200" dirty="0"/>
              <a:t> </a:t>
            </a:r>
            <a:r>
              <a:rPr lang="nl-NL" sz="2200" dirty="0" err="1"/>
              <a:t>exists</a:t>
            </a:r>
            <a:r>
              <a:rPr lang="nl-NL" sz="2200" dirty="0"/>
              <a:t>, </a:t>
            </a:r>
            <a:r>
              <a:rPr lang="nl-NL" sz="2200" dirty="0" err="1"/>
              <a:t>such</a:t>
            </a:r>
            <a:r>
              <a:rPr lang="nl-NL" sz="2200" dirty="0"/>
              <a:t> as a </a:t>
            </a:r>
            <a:r>
              <a:rPr lang="nl-NL" sz="2200" dirty="0" err="1"/>
              <a:t>table</a:t>
            </a:r>
            <a:r>
              <a:rPr lang="nl-NL" sz="2200" dirty="0"/>
              <a:t>, </a:t>
            </a:r>
            <a:r>
              <a:rPr lang="nl-NL" sz="2200" dirty="0" err="1"/>
              <a:t>an</a:t>
            </a:r>
            <a:r>
              <a:rPr lang="nl-NL" sz="2200" dirty="0"/>
              <a:t> </a:t>
            </a:r>
            <a:r>
              <a:rPr lang="nl-NL" sz="2200" dirty="0" err="1"/>
              <a:t>electron</a:t>
            </a:r>
            <a:r>
              <a:rPr lang="nl-NL" sz="2200" dirty="0"/>
              <a:t>, a tree, a </a:t>
            </a:r>
            <a:r>
              <a:rPr lang="nl-NL" sz="2200" dirty="0" err="1"/>
              <a:t>tiger</a:t>
            </a:r>
            <a:r>
              <a:rPr lang="nl-NL" sz="2200" dirty="0"/>
              <a:t>, a human </a:t>
            </a:r>
            <a:r>
              <a:rPr lang="nl-NL" sz="2200" dirty="0" err="1"/>
              <a:t>being</a:t>
            </a:r>
            <a:r>
              <a:rPr lang="nl-NL" sz="2200" dirty="0"/>
              <a:t> </a:t>
            </a:r>
            <a:r>
              <a:rPr lang="nl-NL" sz="2200" dirty="0" err="1"/>
              <a:t>and</a:t>
            </a:r>
            <a:r>
              <a:rPr lang="nl-NL" sz="2200" dirty="0"/>
              <a:t> God (</a:t>
            </a:r>
            <a:r>
              <a:rPr lang="nl-NL" sz="2200" dirty="0" err="1"/>
              <a:t>if</a:t>
            </a:r>
            <a:r>
              <a:rPr lang="nl-NL" sz="2200" dirty="0"/>
              <a:t> God </a:t>
            </a:r>
            <a:r>
              <a:rPr lang="nl-NL" sz="2200" dirty="0" err="1"/>
              <a:t>exists</a:t>
            </a:r>
            <a:r>
              <a:rPr lang="nl-NL" sz="2200" dirty="0"/>
              <a:t>).</a:t>
            </a:r>
          </a:p>
          <a:p>
            <a:pPr marL="0" indent="0">
              <a:buNone/>
            </a:pPr>
            <a:endParaRPr lang="nl-NL" sz="2400" dirty="0"/>
          </a:p>
          <a:p>
            <a:endParaRPr lang="nl-NL" sz="2400" dirty="0"/>
          </a:p>
        </p:txBody>
      </p:sp>
      <p:sp>
        <p:nvSpPr>
          <p:cNvPr id="9" name="Content Placeholder 2"/>
          <p:cNvSpPr txBox="1">
            <a:spLocks/>
          </p:cNvSpPr>
          <p:nvPr/>
        </p:nvSpPr>
        <p:spPr>
          <a:xfrm>
            <a:off x="107504" y="2392288"/>
            <a:ext cx="82296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err="1"/>
              <a:t>Objects</a:t>
            </a:r>
            <a:r>
              <a:rPr lang="nl-NL" sz="2200" dirty="0"/>
              <a:t> have </a:t>
            </a:r>
            <a:r>
              <a:rPr lang="nl-NL" sz="2200" dirty="0" err="1"/>
              <a:t>properties</a:t>
            </a:r>
            <a:r>
              <a:rPr lang="nl-NL" sz="2200" dirty="0"/>
              <a:t>. John is a man </a:t>
            </a:r>
            <a:r>
              <a:rPr lang="nl-NL" sz="2200" dirty="0" err="1"/>
              <a:t>and</a:t>
            </a:r>
            <a:r>
              <a:rPr lang="nl-NL" sz="2200" dirty="0"/>
              <a:t> John’s bike is red.</a:t>
            </a:r>
            <a:endParaRPr lang="nl-NL" sz="2400" dirty="0"/>
          </a:p>
          <a:p>
            <a:endParaRPr lang="nl-NL" sz="2400" dirty="0"/>
          </a:p>
        </p:txBody>
      </p:sp>
      <p:sp>
        <p:nvSpPr>
          <p:cNvPr id="4" name="Content Placeholder 2">
            <a:extLst>
              <a:ext uri="{FF2B5EF4-FFF2-40B4-BE49-F238E27FC236}">
                <a16:creationId xmlns:a16="http://schemas.microsoft.com/office/drawing/2014/main" id="{5039D4AC-D62D-DDDE-BD79-77A5545100A3}"/>
              </a:ext>
            </a:extLst>
          </p:cNvPr>
          <p:cNvSpPr txBox="1">
            <a:spLocks/>
          </p:cNvSpPr>
          <p:nvPr/>
        </p:nvSpPr>
        <p:spPr>
          <a:xfrm>
            <a:off x="107504" y="2996952"/>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 property is </a:t>
            </a:r>
            <a:r>
              <a:rPr lang="nl-NL" sz="2200" i="1" dirty="0" err="1"/>
              <a:t>formal</a:t>
            </a:r>
            <a:r>
              <a:rPr lang="nl-NL" sz="2200" dirty="0"/>
              <a:t> </a:t>
            </a:r>
            <a:r>
              <a:rPr lang="nl-NL" sz="2200" dirty="0" err="1"/>
              <a:t>if</a:t>
            </a:r>
            <a:r>
              <a:rPr lang="nl-NL" sz="2200" dirty="0"/>
              <a:t> </a:t>
            </a:r>
            <a:r>
              <a:rPr lang="nl-NL" sz="2200" dirty="0" err="1"/>
              <a:t>and</a:t>
            </a:r>
            <a:r>
              <a:rPr lang="nl-NL" sz="2200" dirty="0"/>
              <a:t> </a:t>
            </a:r>
            <a:r>
              <a:rPr lang="nl-NL" sz="2200" dirty="0" err="1"/>
              <a:t>only</a:t>
            </a:r>
            <a:r>
              <a:rPr lang="nl-NL" sz="2200" dirty="0"/>
              <a:t> </a:t>
            </a:r>
            <a:r>
              <a:rPr lang="nl-NL" sz="2200" dirty="0" err="1"/>
              <a:t>if</a:t>
            </a:r>
            <a:r>
              <a:rPr lang="nl-NL" sz="2200" dirty="0"/>
              <a:t> </a:t>
            </a:r>
            <a:r>
              <a:rPr lang="nl-NL" sz="2200" dirty="0" err="1"/>
              <a:t>all</a:t>
            </a:r>
            <a:r>
              <a:rPr lang="nl-NL" sz="2200" dirty="0"/>
              <a:t> </a:t>
            </a:r>
            <a:r>
              <a:rPr lang="nl-NL" sz="2200" dirty="0" err="1"/>
              <a:t>objects</a:t>
            </a:r>
            <a:r>
              <a:rPr lang="nl-NL" sz="2200" dirty="0"/>
              <a:t> in </a:t>
            </a:r>
            <a:r>
              <a:rPr lang="nl-NL" sz="2200" dirty="0" err="1"/>
              <a:t>all</a:t>
            </a:r>
            <a:r>
              <a:rPr lang="nl-NL" sz="2200" dirty="0"/>
              <a:t> </a:t>
            </a:r>
            <a:r>
              <a:rPr lang="nl-NL" sz="2200" dirty="0" err="1"/>
              <a:t>possible</a:t>
            </a:r>
            <a:r>
              <a:rPr lang="nl-NL" sz="2200" dirty="0"/>
              <a:t> </a:t>
            </a:r>
            <a:r>
              <a:rPr lang="nl-NL" sz="2200" dirty="0" err="1"/>
              <a:t>worlds</a:t>
            </a:r>
            <a:r>
              <a:rPr lang="nl-NL" sz="2200" dirty="0"/>
              <a:t> have it. </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5" name="Content Placeholder 2">
            <a:extLst>
              <a:ext uri="{FF2B5EF4-FFF2-40B4-BE49-F238E27FC236}">
                <a16:creationId xmlns:a16="http://schemas.microsoft.com/office/drawing/2014/main" id="{7FB3BFAA-C59C-180C-EDB9-DE050FCC938C}"/>
              </a:ext>
            </a:extLst>
          </p:cNvPr>
          <p:cNvSpPr txBox="1">
            <a:spLocks/>
          </p:cNvSpPr>
          <p:nvPr/>
        </p:nvSpPr>
        <p:spPr>
          <a:xfrm>
            <a:off x="107504" y="3573016"/>
            <a:ext cx="878497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t>
            </a:r>
            <a:r>
              <a:rPr lang="nl-NL" sz="2200" dirty="0" err="1"/>
              <a:t>Being</a:t>
            </a:r>
            <a:r>
              <a:rPr lang="nl-NL" sz="2200" dirty="0"/>
              <a:t> </a:t>
            </a:r>
            <a:r>
              <a:rPr lang="nl-NL" sz="2200" dirty="0" err="1"/>
              <a:t>an</a:t>
            </a:r>
            <a:r>
              <a:rPr lang="nl-NL" sz="2200" dirty="0"/>
              <a:t> object’ </a:t>
            </a:r>
            <a:r>
              <a:rPr lang="nl-NL" sz="2200" dirty="0" err="1"/>
              <a:t>and</a:t>
            </a:r>
            <a:r>
              <a:rPr lang="nl-NL" sz="2200" dirty="0"/>
              <a:t> ‘</a:t>
            </a:r>
            <a:r>
              <a:rPr lang="nl-NL" sz="2200" dirty="0" err="1"/>
              <a:t>being</a:t>
            </a:r>
            <a:r>
              <a:rPr lang="nl-NL" sz="2200" dirty="0"/>
              <a:t> </a:t>
            </a:r>
            <a:r>
              <a:rPr lang="nl-NL" sz="2200" dirty="0" err="1"/>
              <a:t>self-identical</a:t>
            </a:r>
            <a:r>
              <a:rPr lang="nl-NL" sz="2200" dirty="0"/>
              <a:t>’ are </a:t>
            </a:r>
            <a:r>
              <a:rPr lang="nl-NL" sz="2200" dirty="0" err="1"/>
              <a:t>formal</a:t>
            </a:r>
            <a:r>
              <a:rPr lang="nl-NL" sz="2200" dirty="0"/>
              <a:t> </a:t>
            </a:r>
            <a:r>
              <a:rPr lang="nl-NL" sz="2200" dirty="0" err="1"/>
              <a:t>properties</a:t>
            </a:r>
            <a:r>
              <a:rPr lang="nl-NL" sz="2200" dirty="0"/>
              <a:t>. For </a:t>
            </a:r>
            <a:r>
              <a:rPr lang="nl-NL" sz="2200" dirty="0" err="1"/>
              <a:t>all</a:t>
            </a:r>
            <a:r>
              <a:rPr lang="nl-NL" sz="2200" dirty="0"/>
              <a:t> </a:t>
            </a:r>
            <a:r>
              <a:rPr lang="nl-NL" sz="2200" dirty="0" err="1"/>
              <a:t>objects</a:t>
            </a:r>
            <a:r>
              <a:rPr lang="nl-NL" sz="2200" dirty="0"/>
              <a:t> in </a:t>
            </a:r>
            <a:r>
              <a:rPr lang="nl-NL" sz="2200" dirty="0" err="1"/>
              <a:t>all</a:t>
            </a:r>
            <a:r>
              <a:rPr lang="nl-NL" sz="2200" dirty="0"/>
              <a:t> </a:t>
            </a:r>
            <a:r>
              <a:rPr lang="nl-NL" sz="2200" dirty="0" err="1"/>
              <a:t>possible</a:t>
            </a:r>
            <a:r>
              <a:rPr lang="nl-NL" sz="2200" dirty="0"/>
              <a:t> </a:t>
            </a:r>
            <a:r>
              <a:rPr lang="nl-NL" sz="2200" dirty="0" err="1"/>
              <a:t>worlds</a:t>
            </a:r>
            <a:r>
              <a:rPr lang="nl-NL" sz="2200" dirty="0"/>
              <a:t> are </a:t>
            </a:r>
            <a:r>
              <a:rPr lang="nl-NL" sz="2200" dirty="0" err="1"/>
              <a:t>objects</a:t>
            </a:r>
            <a:r>
              <a:rPr lang="nl-NL" sz="2200" dirty="0"/>
              <a:t> </a:t>
            </a:r>
            <a:r>
              <a:rPr lang="nl-NL" sz="2200" dirty="0" err="1"/>
              <a:t>and</a:t>
            </a:r>
            <a:r>
              <a:rPr lang="nl-NL" sz="2200" dirty="0"/>
              <a:t> </a:t>
            </a:r>
            <a:r>
              <a:rPr lang="nl-NL" sz="2200" dirty="0" err="1"/>
              <a:t>identical</a:t>
            </a:r>
            <a:r>
              <a:rPr lang="nl-NL" sz="2200" dirty="0"/>
              <a:t> </a:t>
            </a:r>
            <a:r>
              <a:rPr lang="nl-NL" sz="2200" dirty="0" err="1"/>
              <a:t>to</a:t>
            </a:r>
            <a:r>
              <a:rPr lang="nl-NL" sz="2200" dirty="0"/>
              <a:t> </a:t>
            </a:r>
            <a:r>
              <a:rPr lang="nl-NL" sz="2200" dirty="0" err="1"/>
              <a:t>themselves</a:t>
            </a:r>
            <a:r>
              <a:rPr lang="nl-NL" sz="2200" dirty="0"/>
              <a:t>. ‘</a:t>
            </a:r>
            <a:r>
              <a:rPr lang="nl-NL" sz="2200" dirty="0" err="1"/>
              <a:t>Being</a:t>
            </a:r>
            <a:r>
              <a:rPr lang="nl-NL" sz="2200" dirty="0"/>
              <a:t> a man’ </a:t>
            </a:r>
            <a:r>
              <a:rPr lang="nl-NL" sz="2200" dirty="0" err="1"/>
              <a:t>and</a:t>
            </a:r>
            <a:r>
              <a:rPr lang="nl-NL" sz="2200" dirty="0"/>
              <a:t> ‘</a:t>
            </a:r>
            <a:r>
              <a:rPr lang="nl-NL" sz="2200" dirty="0" err="1"/>
              <a:t>being</a:t>
            </a:r>
            <a:r>
              <a:rPr lang="nl-NL" sz="2200" dirty="0"/>
              <a:t> red’ are </a:t>
            </a:r>
            <a:r>
              <a:rPr lang="nl-NL" sz="2200" i="1" dirty="0"/>
              <a:t>non-</a:t>
            </a:r>
            <a:r>
              <a:rPr lang="nl-NL" sz="2200" i="1" dirty="0" err="1"/>
              <a:t>formal</a:t>
            </a:r>
            <a:r>
              <a:rPr lang="nl-NL" sz="2200" dirty="0"/>
              <a:t> </a:t>
            </a:r>
            <a:r>
              <a:rPr lang="nl-NL" sz="2200" dirty="0" err="1"/>
              <a:t>properties</a:t>
            </a:r>
            <a:r>
              <a:rPr lang="nl-NL" sz="2200" dirty="0"/>
              <a:t>.</a:t>
            </a:r>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8" name="Content Placeholder 2">
            <a:extLst>
              <a:ext uri="{FF2B5EF4-FFF2-40B4-BE49-F238E27FC236}">
                <a16:creationId xmlns:a16="http://schemas.microsoft.com/office/drawing/2014/main" id="{53FD2FF7-D9CB-225F-93FE-D3898603FAE0}"/>
              </a:ext>
            </a:extLst>
          </p:cNvPr>
          <p:cNvSpPr txBox="1">
            <a:spLocks/>
          </p:cNvSpPr>
          <p:nvPr/>
        </p:nvSpPr>
        <p:spPr>
          <a:xfrm>
            <a:off x="107504" y="4840560"/>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The claim </a:t>
            </a:r>
            <a:r>
              <a:rPr lang="nl-NL" sz="2200" dirty="0" err="1"/>
              <a:t>that</a:t>
            </a:r>
            <a:r>
              <a:rPr lang="nl-NL" sz="2200" dirty="0"/>
              <a:t> </a:t>
            </a:r>
            <a:r>
              <a:rPr lang="nl-NL" sz="2200" dirty="0" err="1"/>
              <a:t>there</a:t>
            </a:r>
            <a:r>
              <a:rPr lang="nl-NL" sz="2200" dirty="0"/>
              <a:t> are no </a:t>
            </a:r>
            <a:r>
              <a:rPr lang="nl-NL" sz="2200" dirty="0" err="1"/>
              <a:t>universal</a:t>
            </a:r>
            <a:r>
              <a:rPr lang="nl-NL" sz="2200" dirty="0"/>
              <a:t> non-</a:t>
            </a:r>
            <a:r>
              <a:rPr lang="nl-NL" sz="2200" dirty="0" err="1"/>
              <a:t>formal</a:t>
            </a:r>
            <a:r>
              <a:rPr lang="nl-NL" sz="2200" dirty="0"/>
              <a:t> </a:t>
            </a:r>
            <a:r>
              <a:rPr lang="nl-NL" sz="2200" dirty="0" err="1"/>
              <a:t>properties</a:t>
            </a:r>
            <a:r>
              <a:rPr lang="nl-NL" sz="2200" dirty="0"/>
              <a:t> </a:t>
            </a:r>
            <a:r>
              <a:rPr lang="nl-NL" sz="2200" dirty="0" err="1"/>
              <a:t>amounts</a:t>
            </a:r>
            <a:r>
              <a:rPr lang="nl-NL" sz="2200" dirty="0"/>
              <a:t> </a:t>
            </a:r>
            <a:r>
              <a:rPr lang="nl-NL" sz="2200" dirty="0" err="1"/>
              <a:t>to</a:t>
            </a:r>
            <a:r>
              <a:rPr lang="nl-NL" sz="2200" dirty="0"/>
              <a:t> </a:t>
            </a:r>
            <a:r>
              <a:rPr lang="nl-NL" sz="2200" dirty="0" err="1"/>
              <a:t>the</a:t>
            </a:r>
            <a:r>
              <a:rPr lang="nl-NL" sz="2200" dirty="0"/>
              <a:t> </a:t>
            </a:r>
            <a:r>
              <a:rPr lang="nl-NL" sz="2200" dirty="0" err="1"/>
              <a:t>following</a:t>
            </a:r>
            <a:r>
              <a:rPr lang="nl-NL" sz="2200" dirty="0"/>
              <a:t>. </a:t>
            </a:r>
            <a:r>
              <a:rPr lang="nl-NL" sz="2200" dirty="0" err="1"/>
              <a:t>If</a:t>
            </a:r>
            <a:r>
              <a:rPr lang="nl-NL" sz="2200" dirty="0"/>
              <a:t> property </a:t>
            </a:r>
            <a:r>
              <a:rPr lang="nl-NL" sz="2200" i="1" dirty="0"/>
              <a:t>p</a:t>
            </a:r>
            <a:r>
              <a:rPr lang="nl-NL" sz="2200" dirty="0"/>
              <a:t> is </a:t>
            </a:r>
            <a:r>
              <a:rPr lang="nl-NL" sz="2200" dirty="0" err="1"/>
              <a:t>such</a:t>
            </a:r>
            <a:r>
              <a:rPr lang="nl-NL" sz="2200" dirty="0"/>
              <a:t> </a:t>
            </a:r>
            <a:r>
              <a:rPr lang="nl-NL" sz="2200" dirty="0" err="1"/>
              <a:t>that</a:t>
            </a:r>
            <a:r>
              <a:rPr lang="nl-NL" sz="2200" dirty="0"/>
              <a:t> </a:t>
            </a:r>
            <a:r>
              <a:rPr lang="nl-NL" sz="2200" dirty="0" err="1"/>
              <a:t>some</a:t>
            </a:r>
            <a:r>
              <a:rPr lang="nl-NL" sz="2200" dirty="0"/>
              <a:t> object in </a:t>
            </a:r>
            <a:r>
              <a:rPr lang="nl-NL" sz="2200" dirty="0" err="1"/>
              <a:t>some</a:t>
            </a:r>
            <a:r>
              <a:rPr lang="nl-NL" sz="2200" dirty="0"/>
              <a:t> </a:t>
            </a:r>
            <a:r>
              <a:rPr lang="nl-NL" sz="2200" dirty="0" err="1"/>
              <a:t>possible</a:t>
            </a:r>
            <a:r>
              <a:rPr lang="nl-NL" sz="2200" dirty="0"/>
              <a:t> </a:t>
            </a:r>
            <a:r>
              <a:rPr lang="nl-NL" sz="2200" dirty="0" err="1"/>
              <a:t>world</a:t>
            </a:r>
            <a:r>
              <a:rPr lang="nl-NL" sz="2200" dirty="0"/>
              <a:t> </a:t>
            </a:r>
            <a:r>
              <a:rPr lang="nl-NL" sz="2200" dirty="0" err="1"/>
              <a:t>lacks</a:t>
            </a:r>
            <a:r>
              <a:rPr lang="nl-NL" sz="2200" dirty="0"/>
              <a:t> </a:t>
            </a:r>
            <a:r>
              <a:rPr lang="nl-NL" sz="2200" i="1" dirty="0"/>
              <a:t>p</a:t>
            </a:r>
            <a:r>
              <a:rPr lang="nl-NL" sz="2200" dirty="0"/>
              <a:t>, </a:t>
            </a:r>
            <a:r>
              <a:rPr lang="nl-NL" sz="2200" dirty="0" err="1"/>
              <a:t>then</a:t>
            </a:r>
            <a:r>
              <a:rPr lang="nl-NL" sz="2200" dirty="0"/>
              <a:t> </a:t>
            </a:r>
            <a:r>
              <a:rPr lang="nl-NL" sz="2200" dirty="0" err="1"/>
              <a:t>there</a:t>
            </a:r>
            <a:r>
              <a:rPr lang="nl-NL" sz="2200" dirty="0"/>
              <a:t> is </a:t>
            </a:r>
            <a:r>
              <a:rPr lang="nl-NL" sz="2200" dirty="0" err="1"/>
              <a:t>an</a:t>
            </a:r>
            <a:r>
              <a:rPr lang="nl-NL" sz="2200" dirty="0"/>
              <a:t> object </a:t>
            </a:r>
            <a:r>
              <a:rPr lang="nl-NL" sz="2200" i="1" dirty="0"/>
              <a:t>in </a:t>
            </a:r>
            <a:r>
              <a:rPr lang="nl-NL" sz="2200" i="1" dirty="0" err="1"/>
              <a:t>the</a:t>
            </a:r>
            <a:r>
              <a:rPr lang="nl-NL" sz="2200" i="1" dirty="0"/>
              <a:t> </a:t>
            </a:r>
            <a:r>
              <a:rPr lang="nl-NL" sz="2200" i="1" dirty="0" err="1"/>
              <a:t>actual</a:t>
            </a:r>
            <a:r>
              <a:rPr lang="nl-NL" sz="2200" i="1" dirty="0"/>
              <a:t> </a:t>
            </a:r>
            <a:r>
              <a:rPr lang="nl-NL" sz="2200" i="1" dirty="0" err="1"/>
              <a:t>world</a:t>
            </a:r>
            <a:r>
              <a:rPr lang="nl-NL" sz="2200" dirty="0"/>
              <a:t> </a:t>
            </a:r>
            <a:r>
              <a:rPr lang="nl-NL" sz="2200" dirty="0" err="1"/>
              <a:t>that</a:t>
            </a:r>
            <a:r>
              <a:rPr lang="nl-NL" sz="2200" dirty="0"/>
              <a:t> </a:t>
            </a:r>
            <a:r>
              <a:rPr lang="nl-NL" sz="2200" dirty="0" err="1"/>
              <a:t>lacks</a:t>
            </a:r>
            <a:r>
              <a:rPr lang="nl-NL" sz="2200" dirty="0"/>
              <a:t> </a:t>
            </a:r>
            <a:r>
              <a:rPr lang="nl-NL" sz="2200" i="1" dirty="0"/>
              <a:t>p</a:t>
            </a:r>
            <a:r>
              <a:rPr lang="nl-NL" sz="2200" dirty="0"/>
              <a:t>.</a:t>
            </a:r>
          </a:p>
          <a:p>
            <a:pPr lvl="1"/>
            <a:r>
              <a:rPr lang="nl-NL" sz="2000" dirty="0"/>
              <a:t>I claim </a:t>
            </a:r>
            <a:r>
              <a:rPr lang="nl-NL" sz="2000" i="1" dirty="0" err="1"/>
              <a:t>modal</a:t>
            </a:r>
            <a:r>
              <a:rPr lang="nl-NL" sz="2000" i="1" dirty="0"/>
              <a:t> </a:t>
            </a:r>
            <a:r>
              <a:rPr lang="nl-NL" sz="2000" i="1" dirty="0" err="1"/>
              <a:t>collapse</a:t>
            </a:r>
            <a:r>
              <a:rPr lang="nl-NL" sz="2000" dirty="0"/>
              <a:t> </a:t>
            </a:r>
            <a:r>
              <a:rPr lang="nl-NL" sz="2000" dirty="0" err="1"/>
              <a:t>for</a:t>
            </a:r>
            <a:r>
              <a:rPr lang="nl-NL" sz="2000" dirty="0"/>
              <a:t> “</a:t>
            </a:r>
            <a:r>
              <a:rPr lang="nl-NL" sz="2000" dirty="0" err="1"/>
              <a:t>lackings</a:t>
            </a:r>
            <a:r>
              <a:rPr lang="nl-NL" sz="2000" dirty="0"/>
              <a:t>”: </a:t>
            </a:r>
            <a:r>
              <a:rPr lang="nl-NL" sz="2000" dirty="0" err="1"/>
              <a:t>Possible</a:t>
            </a:r>
            <a:r>
              <a:rPr lang="nl-NL" sz="2000" dirty="0"/>
              <a:t> </a:t>
            </a:r>
            <a:r>
              <a:rPr lang="nl-NL" sz="2000" dirty="0" err="1"/>
              <a:t>lackings</a:t>
            </a:r>
            <a:r>
              <a:rPr lang="nl-NL" sz="2000" dirty="0"/>
              <a:t> are </a:t>
            </a:r>
            <a:r>
              <a:rPr lang="nl-NL" sz="2000" dirty="0" err="1"/>
              <a:t>actual</a:t>
            </a:r>
            <a:r>
              <a:rPr lang="nl-NL" sz="2000" dirty="0"/>
              <a:t> </a:t>
            </a:r>
            <a:r>
              <a:rPr lang="nl-NL" sz="2000" dirty="0" err="1"/>
              <a:t>lackings</a:t>
            </a:r>
            <a:r>
              <a:rPr lang="nl-NL" sz="2000" dirty="0"/>
              <a:t>.</a:t>
            </a:r>
          </a:p>
          <a:p>
            <a:endParaRPr lang="nl-NL" sz="2400" dirty="0"/>
          </a:p>
          <a:p>
            <a:endParaRPr lang="nl-NL" sz="2400" dirty="0"/>
          </a:p>
          <a:p>
            <a:endParaRPr lang="nl-NL" sz="2400" dirty="0"/>
          </a:p>
        </p:txBody>
      </p:sp>
    </p:spTree>
    <p:extLst>
      <p:ext uri="{BB962C8B-B14F-4D97-AF65-F5344CB8AC3E}">
        <p14:creationId xmlns:p14="http://schemas.microsoft.com/office/powerpoint/2010/main" val="21505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a:t>Stage setting (</a:t>
            </a:r>
            <a:r>
              <a:rPr lang="nl-NL" sz="3600" dirty="0" err="1"/>
              <a:t>cont</a:t>
            </a:r>
            <a:r>
              <a:rPr lang="nl-NL" sz="3600" dirty="0"/>
              <a:t>.)</a:t>
            </a:r>
          </a:p>
        </p:txBody>
      </p:sp>
      <p:sp>
        <p:nvSpPr>
          <p:cNvPr id="3" name="Content Placeholder 2"/>
          <p:cNvSpPr>
            <a:spLocks noGrp="1"/>
          </p:cNvSpPr>
          <p:nvPr>
            <p:ph idx="1"/>
          </p:nvPr>
        </p:nvSpPr>
        <p:spPr>
          <a:xfrm>
            <a:off x="107504" y="1556792"/>
            <a:ext cx="9036496" cy="532656"/>
          </a:xfrm>
        </p:spPr>
        <p:txBody>
          <a:bodyPr>
            <a:noAutofit/>
          </a:bodyPr>
          <a:lstStyle/>
          <a:p>
            <a:r>
              <a:rPr lang="nl-NL" sz="2200" dirty="0" err="1"/>
              <a:t>Negative</a:t>
            </a:r>
            <a:r>
              <a:rPr lang="nl-NL" sz="2200" dirty="0"/>
              <a:t> </a:t>
            </a:r>
            <a:r>
              <a:rPr lang="nl-NL" sz="2200" dirty="0" err="1"/>
              <a:t>properties</a:t>
            </a:r>
            <a:r>
              <a:rPr lang="nl-NL" sz="2200" dirty="0"/>
              <a:t> (e.g., ‘</a:t>
            </a:r>
            <a:r>
              <a:rPr lang="nl-NL" sz="2200" dirty="0" err="1"/>
              <a:t>Being</a:t>
            </a:r>
            <a:r>
              <a:rPr lang="nl-NL" sz="2200" dirty="0"/>
              <a:t> </a:t>
            </a:r>
            <a:r>
              <a:rPr lang="nl-NL" sz="2200" dirty="0" err="1"/>
              <a:t>not</a:t>
            </a:r>
            <a:r>
              <a:rPr lang="nl-NL" sz="2200" dirty="0"/>
              <a:t> red’) </a:t>
            </a:r>
            <a:r>
              <a:rPr lang="nl-NL" sz="2200" dirty="0" err="1"/>
              <a:t>and</a:t>
            </a:r>
            <a:r>
              <a:rPr lang="nl-NL" sz="2200" dirty="0"/>
              <a:t> </a:t>
            </a:r>
            <a:r>
              <a:rPr lang="nl-NL" sz="2200" dirty="0" err="1"/>
              <a:t>relational</a:t>
            </a:r>
            <a:r>
              <a:rPr lang="nl-NL" sz="2200" dirty="0"/>
              <a:t> </a:t>
            </a:r>
            <a:r>
              <a:rPr lang="nl-NL" sz="2200" dirty="0" err="1"/>
              <a:t>properties</a:t>
            </a:r>
            <a:r>
              <a:rPr lang="nl-NL" sz="2200" dirty="0"/>
              <a:t> (e.g., ‘</a:t>
            </a:r>
            <a:r>
              <a:rPr lang="nl-NL" sz="2200" dirty="0" err="1"/>
              <a:t>Being</a:t>
            </a:r>
            <a:r>
              <a:rPr lang="nl-NL" sz="2200" dirty="0"/>
              <a:t> </a:t>
            </a:r>
            <a:r>
              <a:rPr lang="nl-NL" sz="2200" dirty="0" err="1"/>
              <a:t>located</a:t>
            </a:r>
            <a:r>
              <a:rPr lang="nl-NL" sz="2200" dirty="0"/>
              <a:t> </a:t>
            </a:r>
            <a:r>
              <a:rPr lang="nl-NL" sz="2200" dirty="0" err="1"/>
              <a:t>north</a:t>
            </a:r>
            <a:r>
              <a:rPr lang="nl-NL" sz="2200" dirty="0"/>
              <a:t> of Paris’) are </a:t>
            </a:r>
            <a:r>
              <a:rPr lang="nl-NL" sz="2200" dirty="0" err="1"/>
              <a:t>excluded</a:t>
            </a:r>
            <a:r>
              <a:rPr lang="nl-NL" sz="2200" dirty="0"/>
              <a:t>. </a:t>
            </a:r>
            <a:r>
              <a:rPr lang="nl-NL" sz="2200" dirty="0" err="1"/>
              <a:t>So</a:t>
            </a:r>
            <a:r>
              <a:rPr lang="nl-NL" sz="2200" dirty="0"/>
              <a:t> </a:t>
            </a:r>
            <a:r>
              <a:rPr lang="nl-NL" sz="2200" dirty="0" err="1"/>
              <a:t>it’s</a:t>
            </a:r>
            <a:r>
              <a:rPr lang="nl-NL" sz="2200" dirty="0"/>
              <a:t> more </a:t>
            </a:r>
            <a:r>
              <a:rPr lang="nl-NL" sz="2200" dirty="0" err="1"/>
              <a:t>exactly</a:t>
            </a:r>
            <a:r>
              <a:rPr lang="nl-NL" sz="2200" dirty="0"/>
              <a:t> </a:t>
            </a:r>
            <a:r>
              <a:rPr lang="nl-NL" sz="2200" dirty="0" err="1"/>
              <a:t>claimed</a:t>
            </a:r>
            <a:r>
              <a:rPr lang="nl-NL" sz="2200" dirty="0"/>
              <a:t> </a:t>
            </a:r>
            <a:r>
              <a:rPr lang="nl-NL" sz="2200" dirty="0" err="1"/>
              <a:t>that</a:t>
            </a:r>
            <a:r>
              <a:rPr lang="nl-NL" sz="2200" dirty="0"/>
              <a:t> </a:t>
            </a:r>
            <a:r>
              <a:rPr lang="nl-NL" sz="2200" dirty="0" err="1"/>
              <a:t>there</a:t>
            </a:r>
            <a:r>
              <a:rPr lang="nl-NL" sz="2200" dirty="0"/>
              <a:t> are no </a:t>
            </a:r>
            <a:r>
              <a:rPr lang="nl-NL" sz="2200" dirty="0" err="1"/>
              <a:t>universal</a:t>
            </a:r>
            <a:r>
              <a:rPr lang="nl-NL" sz="2200" dirty="0"/>
              <a:t> non-</a:t>
            </a:r>
            <a:r>
              <a:rPr lang="nl-NL" sz="2200" dirty="0" err="1"/>
              <a:t>formal</a:t>
            </a:r>
            <a:r>
              <a:rPr lang="nl-NL" sz="2200" dirty="0"/>
              <a:t> </a:t>
            </a:r>
            <a:r>
              <a:rPr lang="nl-NL" sz="2200" i="1" dirty="0" err="1"/>
              <a:t>positive</a:t>
            </a:r>
            <a:r>
              <a:rPr lang="nl-NL" sz="2200" i="1" dirty="0"/>
              <a:t> </a:t>
            </a:r>
            <a:r>
              <a:rPr lang="nl-NL" sz="2200" i="1" dirty="0" err="1"/>
              <a:t>intrinsic</a:t>
            </a:r>
            <a:r>
              <a:rPr lang="nl-NL" sz="2200" dirty="0"/>
              <a:t> </a:t>
            </a:r>
            <a:r>
              <a:rPr lang="nl-NL" sz="2200" dirty="0" err="1"/>
              <a:t>properties</a:t>
            </a:r>
            <a:r>
              <a:rPr lang="nl-NL" sz="2200" dirty="0"/>
              <a:t>. </a:t>
            </a:r>
          </a:p>
          <a:p>
            <a:endParaRPr lang="nl-NL" sz="2400" dirty="0"/>
          </a:p>
        </p:txBody>
      </p:sp>
      <p:sp>
        <p:nvSpPr>
          <p:cNvPr id="4" name="Content Placeholder 2">
            <a:extLst>
              <a:ext uri="{FF2B5EF4-FFF2-40B4-BE49-F238E27FC236}">
                <a16:creationId xmlns:a16="http://schemas.microsoft.com/office/drawing/2014/main" id="{5039D4AC-D62D-DDDE-BD79-77A5545100A3}"/>
              </a:ext>
            </a:extLst>
          </p:cNvPr>
          <p:cNvSpPr txBox="1">
            <a:spLocks/>
          </p:cNvSpPr>
          <p:nvPr/>
        </p:nvSpPr>
        <p:spPr>
          <a:xfrm>
            <a:off x="107504" y="2752328"/>
            <a:ext cx="8964488" cy="12527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err="1"/>
              <a:t>Each</a:t>
            </a:r>
            <a:r>
              <a:rPr lang="nl-NL" sz="2200" dirty="0"/>
              <a:t> property (e.g., ‘</a:t>
            </a:r>
            <a:r>
              <a:rPr lang="nl-NL" sz="2200" dirty="0" err="1"/>
              <a:t>Being</a:t>
            </a:r>
            <a:r>
              <a:rPr lang="nl-NL" sz="2200" dirty="0"/>
              <a:t> red’) </a:t>
            </a:r>
            <a:r>
              <a:rPr lang="nl-NL" sz="2200" dirty="0" err="1"/>
              <a:t>corresponds</a:t>
            </a:r>
            <a:r>
              <a:rPr lang="nl-NL" sz="2200" dirty="0"/>
              <a:t> </a:t>
            </a:r>
            <a:r>
              <a:rPr lang="nl-NL" sz="2200" dirty="0" err="1"/>
              <a:t>to</a:t>
            </a:r>
            <a:r>
              <a:rPr lang="nl-NL" sz="2200" dirty="0"/>
              <a:t> a </a:t>
            </a:r>
            <a:r>
              <a:rPr lang="nl-NL" sz="2200" i="1" dirty="0"/>
              <a:t>concept</a:t>
            </a:r>
            <a:r>
              <a:rPr lang="nl-NL" sz="2200" dirty="0"/>
              <a:t> (‘Red’). </a:t>
            </a:r>
            <a:r>
              <a:rPr lang="nl-NL" sz="2200" dirty="0" err="1"/>
              <a:t>Each</a:t>
            </a:r>
            <a:r>
              <a:rPr lang="nl-NL" sz="2200" dirty="0"/>
              <a:t> concept has a </a:t>
            </a:r>
            <a:r>
              <a:rPr lang="nl-NL" sz="2200" i="1" dirty="0" err="1"/>
              <a:t>reference</a:t>
            </a:r>
            <a:r>
              <a:rPr lang="nl-NL" sz="2200" dirty="0"/>
              <a:t> (e.g., </a:t>
            </a:r>
            <a:r>
              <a:rPr lang="nl-NL" sz="2200" dirty="0" err="1"/>
              <a:t>all</a:t>
            </a:r>
            <a:r>
              <a:rPr lang="nl-NL" sz="2200" dirty="0"/>
              <a:t> red </a:t>
            </a:r>
            <a:r>
              <a:rPr lang="nl-NL" sz="2200" dirty="0" err="1"/>
              <a:t>objects</a:t>
            </a:r>
            <a:r>
              <a:rPr lang="nl-NL" sz="2200" dirty="0"/>
              <a:t>). </a:t>
            </a:r>
            <a:r>
              <a:rPr lang="nl-NL" sz="2200" dirty="0" err="1"/>
              <a:t>Two</a:t>
            </a:r>
            <a:r>
              <a:rPr lang="nl-NL" sz="2200" dirty="0"/>
              <a:t> </a:t>
            </a:r>
            <a:r>
              <a:rPr lang="nl-NL" sz="2200" dirty="0" err="1"/>
              <a:t>concepts</a:t>
            </a:r>
            <a:r>
              <a:rPr lang="nl-NL" sz="2200" dirty="0"/>
              <a:t> are </a:t>
            </a:r>
            <a:r>
              <a:rPr lang="nl-NL" sz="2200" i="1" dirty="0" err="1"/>
              <a:t>identical</a:t>
            </a:r>
            <a:r>
              <a:rPr lang="nl-NL" sz="2200" dirty="0"/>
              <a:t>    </a:t>
            </a:r>
            <a:r>
              <a:rPr lang="nl-NL" sz="2200" dirty="0" err="1"/>
              <a:t>if</a:t>
            </a:r>
            <a:r>
              <a:rPr lang="nl-NL" sz="2200" dirty="0"/>
              <a:t> </a:t>
            </a:r>
            <a:r>
              <a:rPr lang="nl-NL" sz="2200" dirty="0" err="1"/>
              <a:t>and</a:t>
            </a:r>
            <a:r>
              <a:rPr lang="nl-NL" sz="2200" dirty="0"/>
              <a:t> </a:t>
            </a:r>
            <a:r>
              <a:rPr lang="nl-NL" sz="2200" dirty="0" err="1"/>
              <a:t>only</a:t>
            </a:r>
            <a:r>
              <a:rPr lang="nl-NL" sz="2200" dirty="0"/>
              <a:t> </a:t>
            </a:r>
            <a:r>
              <a:rPr lang="nl-NL" sz="2200" dirty="0" err="1"/>
              <a:t>if</a:t>
            </a:r>
            <a:r>
              <a:rPr lang="nl-NL" sz="2200" dirty="0"/>
              <a:t> </a:t>
            </a:r>
            <a:r>
              <a:rPr lang="nl-NL" sz="2200" dirty="0" err="1"/>
              <a:t>they</a:t>
            </a:r>
            <a:r>
              <a:rPr lang="nl-NL" sz="2200" dirty="0"/>
              <a:t> have </a:t>
            </a:r>
            <a:r>
              <a:rPr lang="nl-NL" sz="2200" dirty="0" err="1"/>
              <a:t>the</a:t>
            </a:r>
            <a:r>
              <a:rPr lang="nl-NL" sz="2200" dirty="0"/>
              <a:t> </a:t>
            </a:r>
            <a:r>
              <a:rPr lang="nl-NL" sz="2200" dirty="0" err="1"/>
              <a:t>same</a:t>
            </a:r>
            <a:r>
              <a:rPr lang="nl-NL" sz="2200" dirty="0"/>
              <a:t> </a:t>
            </a:r>
            <a:r>
              <a:rPr lang="nl-NL" sz="2200" i="1" dirty="0" err="1"/>
              <a:t>meaning</a:t>
            </a:r>
            <a:r>
              <a:rPr lang="nl-NL" sz="2200" dirty="0"/>
              <a:t> (e.g., ‘Object’ </a:t>
            </a:r>
            <a:r>
              <a:rPr lang="nl-NL" sz="2200" dirty="0" err="1"/>
              <a:t>and</a:t>
            </a:r>
            <a:r>
              <a:rPr lang="nl-NL" sz="2200" dirty="0"/>
              <a:t> ‘</a:t>
            </a:r>
            <a:r>
              <a:rPr lang="nl-NL" sz="2200" dirty="0" err="1"/>
              <a:t>Entity</a:t>
            </a:r>
            <a:r>
              <a:rPr lang="nl-NL" sz="2200" dirty="0"/>
              <a:t>’). </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6" name="Content Placeholder 2">
            <a:extLst>
              <a:ext uri="{FF2B5EF4-FFF2-40B4-BE49-F238E27FC236}">
                <a16:creationId xmlns:a16="http://schemas.microsoft.com/office/drawing/2014/main" id="{AE2FE478-1734-B7D5-FC88-733F01BAABAD}"/>
              </a:ext>
            </a:extLst>
          </p:cNvPr>
          <p:cNvSpPr txBox="1">
            <a:spLocks/>
          </p:cNvSpPr>
          <p:nvPr/>
        </p:nvSpPr>
        <p:spPr>
          <a:xfrm>
            <a:off x="107504" y="4005064"/>
            <a:ext cx="8964488" cy="9361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 </a:t>
            </a:r>
            <a:r>
              <a:rPr lang="nl-NL" sz="2200" i="1" dirty="0"/>
              <a:t>complex</a:t>
            </a:r>
            <a:r>
              <a:rPr lang="nl-NL" sz="2200" dirty="0"/>
              <a:t> concept (e.g., ‘</a:t>
            </a:r>
            <a:r>
              <a:rPr lang="nl-NL" sz="2200" dirty="0" err="1"/>
              <a:t>Unicorn</a:t>
            </a:r>
            <a:r>
              <a:rPr lang="nl-NL" sz="2200" dirty="0"/>
              <a:t>‘, ‘</a:t>
            </a:r>
            <a:r>
              <a:rPr lang="nl-NL" sz="2200" dirty="0" err="1"/>
              <a:t>Vixen</a:t>
            </a:r>
            <a:r>
              <a:rPr lang="nl-NL" sz="2200" dirty="0"/>
              <a:t>’ or ‘Red </a:t>
            </a:r>
            <a:r>
              <a:rPr lang="nl-NL" sz="2200" dirty="0" err="1"/>
              <a:t>table</a:t>
            </a:r>
            <a:r>
              <a:rPr lang="nl-NL" sz="2200" dirty="0"/>
              <a:t>’) </a:t>
            </a:r>
            <a:r>
              <a:rPr lang="nl-NL" sz="2200" dirty="0" err="1"/>
              <a:t>consists</a:t>
            </a:r>
            <a:r>
              <a:rPr lang="nl-NL" sz="2200" dirty="0"/>
              <a:t> of </a:t>
            </a:r>
            <a:r>
              <a:rPr lang="nl-NL" sz="2200" i="1" dirty="0"/>
              <a:t>sub-</a:t>
            </a:r>
            <a:r>
              <a:rPr lang="nl-NL" sz="2200" i="1" dirty="0" err="1"/>
              <a:t>concepts</a:t>
            </a:r>
            <a:r>
              <a:rPr lang="nl-NL" sz="2200" dirty="0"/>
              <a:t> (‘Horn’, ‘</a:t>
            </a:r>
            <a:r>
              <a:rPr lang="nl-NL" sz="2200" dirty="0" err="1"/>
              <a:t>Forehead</a:t>
            </a:r>
            <a:r>
              <a:rPr lang="nl-NL" sz="2200" dirty="0"/>
              <a:t>’ &amp; ‘Horse’; ‘</a:t>
            </a:r>
            <a:r>
              <a:rPr lang="nl-NL" sz="2200" dirty="0" err="1"/>
              <a:t>Female</a:t>
            </a:r>
            <a:r>
              <a:rPr lang="nl-NL" sz="2200" dirty="0"/>
              <a:t>’ &amp; ‘Fox’; ‘Red’ &amp; ‘</a:t>
            </a:r>
            <a:r>
              <a:rPr lang="nl-NL" sz="2200" dirty="0" err="1"/>
              <a:t>Table</a:t>
            </a:r>
            <a:r>
              <a:rPr lang="nl-NL" sz="2200" dirty="0"/>
              <a:t>’).      </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5" name="Content Placeholder 2">
            <a:extLst>
              <a:ext uri="{FF2B5EF4-FFF2-40B4-BE49-F238E27FC236}">
                <a16:creationId xmlns:a16="http://schemas.microsoft.com/office/drawing/2014/main" id="{CD19FEF2-C4D7-D847-7B1C-B32B52E5E541}"/>
              </a:ext>
            </a:extLst>
          </p:cNvPr>
          <p:cNvSpPr txBox="1">
            <a:spLocks/>
          </p:cNvSpPr>
          <p:nvPr/>
        </p:nvSpPr>
        <p:spPr>
          <a:xfrm>
            <a:off x="72008" y="4984576"/>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 </a:t>
            </a:r>
            <a:r>
              <a:rPr lang="nl-NL" sz="2200" i="1" dirty="0" err="1"/>
              <a:t>simple</a:t>
            </a:r>
            <a:r>
              <a:rPr lang="nl-NL" sz="2200" dirty="0"/>
              <a:t> concept is a concept </a:t>
            </a:r>
            <a:r>
              <a:rPr lang="nl-NL" sz="2200" dirty="0" err="1"/>
              <a:t>that</a:t>
            </a:r>
            <a:r>
              <a:rPr lang="nl-NL" sz="2200" dirty="0"/>
              <a:t> is </a:t>
            </a:r>
            <a:r>
              <a:rPr lang="nl-NL" sz="2200" dirty="0" err="1"/>
              <a:t>not</a:t>
            </a:r>
            <a:r>
              <a:rPr lang="nl-NL" sz="2200" dirty="0"/>
              <a:t> complex (e.g., ‘Red’ or ‘Object’).</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7" name="Content Placeholder 2">
            <a:extLst>
              <a:ext uri="{FF2B5EF4-FFF2-40B4-BE49-F238E27FC236}">
                <a16:creationId xmlns:a16="http://schemas.microsoft.com/office/drawing/2014/main" id="{D2F2360D-A080-B88F-76BB-0D492358BF8E}"/>
              </a:ext>
            </a:extLst>
          </p:cNvPr>
          <p:cNvSpPr txBox="1">
            <a:spLocks/>
          </p:cNvSpPr>
          <p:nvPr/>
        </p:nvSpPr>
        <p:spPr>
          <a:xfrm>
            <a:off x="72008" y="5661248"/>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err="1"/>
              <a:t>Subconcepts</a:t>
            </a:r>
            <a:r>
              <a:rPr lang="nl-NL" sz="2200" dirty="0"/>
              <a:t> </a:t>
            </a:r>
            <a:r>
              <a:rPr lang="nl-NL" sz="2200" dirty="0" err="1"/>
              <a:t>can</a:t>
            </a:r>
            <a:r>
              <a:rPr lang="nl-NL" sz="2200" dirty="0"/>
              <a:t> </a:t>
            </a:r>
            <a:r>
              <a:rPr lang="nl-NL" sz="2200" dirty="0" err="1"/>
              <a:t>themselves</a:t>
            </a:r>
            <a:r>
              <a:rPr lang="nl-NL" sz="2200" dirty="0"/>
              <a:t> </a:t>
            </a:r>
            <a:r>
              <a:rPr lang="nl-NL" sz="2200" dirty="0" err="1"/>
              <a:t>be</a:t>
            </a:r>
            <a:r>
              <a:rPr lang="nl-NL" sz="2200" dirty="0"/>
              <a:t> </a:t>
            </a:r>
            <a:r>
              <a:rPr lang="nl-NL" sz="2200" dirty="0" err="1"/>
              <a:t>either</a:t>
            </a:r>
            <a:r>
              <a:rPr lang="nl-NL" sz="2200" dirty="0"/>
              <a:t> </a:t>
            </a:r>
            <a:r>
              <a:rPr lang="nl-NL" sz="2200" dirty="0" err="1"/>
              <a:t>simple</a:t>
            </a:r>
            <a:r>
              <a:rPr lang="nl-NL" sz="2200" dirty="0"/>
              <a:t> or complex. </a:t>
            </a:r>
            <a:r>
              <a:rPr lang="nl-NL" sz="2200" dirty="0" err="1"/>
              <a:t>Hence</a:t>
            </a:r>
            <a:r>
              <a:rPr lang="nl-NL" sz="2200" dirty="0"/>
              <a:t> we </a:t>
            </a:r>
            <a:r>
              <a:rPr lang="nl-NL" sz="2200" dirty="0" err="1"/>
              <a:t>can</a:t>
            </a:r>
            <a:r>
              <a:rPr lang="nl-NL" sz="2200" dirty="0"/>
              <a:t> </a:t>
            </a:r>
            <a:r>
              <a:rPr lang="nl-NL" sz="2200" i="1" dirty="0" err="1"/>
              <a:t>recursively</a:t>
            </a:r>
            <a:r>
              <a:rPr lang="nl-NL" sz="2200" dirty="0"/>
              <a:t> </a:t>
            </a:r>
            <a:r>
              <a:rPr lang="nl-NL" sz="2200" dirty="0" err="1"/>
              <a:t>unfold</a:t>
            </a:r>
            <a:r>
              <a:rPr lang="nl-NL" sz="2200" dirty="0"/>
              <a:t> a complex concept </a:t>
            </a:r>
            <a:r>
              <a:rPr lang="nl-NL" sz="2200" dirty="0" err="1"/>
              <a:t>into</a:t>
            </a:r>
            <a:r>
              <a:rPr lang="nl-NL" sz="2200" dirty="0"/>
              <a:t> a </a:t>
            </a:r>
            <a:r>
              <a:rPr lang="nl-NL" sz="2200" dirty="0" err="1"/>
              <a:t>collection</a:t>
            </a:r>
            <a:r>
              <a:rPr lang="nl-NL" sz="2200" dirty="0"/>
              <a:t> of </a:t>
            </a:r>
            <a:r>
              <a:rPr lang="nl-NL" sz="2200" dirty="0" err="1"/>
              <a:t>simple</a:t>
            </a:r>
            <a:r>
              <a:rPr lang="nl-NL" sz="2200" dirty="0"/>
              <a:t> </a:t>
            </a:r>
            <a:r>
              <a:rPr lang="nl-NL" sz="2200" dirty="0" err="1"/>
              <a:t>concepts</a:t>
            </a:r>
            <a:r>
              <a:rPr lang="nl-NL" sz="2200" dirty="0"/>
              <a:t>.</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Tree>
    <p:extLst>
      <p:ext uri="{BB962C8B-B14F-4D97-AF65-F5344CB8AC3E}">
        <p14:creationId xmlns:p14="http://schemas.microsoft.com/office/powerpoint/2010/main" val="423779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a:t>Stage setting (</a:t>
            </a:r>
            <a:r>
              <a:rPr lang="nl-NL" sz="3600" dirty="0" err="1"/>
              <a:t>cont</a:t>
            </a:r>
            <a:r>
              <a:rPr lang="nl-NL" sz="3600" dirty="0"/>
              <a:t>.)</a:t>
            </a:r>
          </a:p>
        </p:txBody>
      </p:sp>
      <p:sp>
        <p:nvSpPr>
          <p:cNvPr id="3" name="Content Placeholder 2"/>
          <p:cNvSpPr>
            <a:spLocks noGrp="1"/>
          </p:cNvSpPr>
          <p:nvPr>
            <p:ph idx="1"/>
          </p:nvPr>
        </p:nvSpPr>
        <p:spPr>
          <a:xfrm>
            <a:off x="107504" y="1312168"/>
            <a:ext cx="9036496" cy="532656"/>
          </a:xfrm>
        </p:spPr>
        <p:txBody>
          <a:bodyPr>
            <a:noAutofit/>
          </a:bodyPr>
          <a:lstStyle/>
          <a:p>
            <a:r>
              <a:rPr lang="nl-NL" sz="2200" dirty="0"/>
              <a:t>In </a:t>
            </a:r>
            <a:r>
              <a:rPr lang="nl-NL" sz="2200" dirty="0" err="1"/>
              <a:t>addition</a:t>
            </a:r>
            <a:r>
              <a:rPr lang="nl-NL" sz="2200" dirty="0"/>
              <a:t> </a:t>
            </a:r>
            <a:r>
              <a:rPr lang="nl-NL" sz="2200" dirty="0" err="1"/>
              <a:t>to</a:t>
            </a:r>
            <a:r>
              <a:rPr lang="nl-NL" sz="2200" dirty="0"/>
              <a:t> a </a:t>
            </a:r>
            <a:r>
              <a:rPr lang="nl-NL" sz="2200" dirty="0" err="1"/>
              <a:t>reference</a:t>
            </a:r>
            <a:r>
              <a:rPr lang="nl-NL" sz="2200" dirty="0"/>
              <a:t>, </a:t>
            </a:r>
            <a:r>
              <a:rPr lang="nl-NL" sz="2200" dirty="0" err="1"/>
              <a:t>concepts</a:t>
            </a:r>
            <a:r>
              <a:rPr lang="nl-NL" sz="2200" dirty="0"/>
              <a:t> </a:t>
            </a:r>
            <a:r>
              <a:rPr lang="nl-NL" sz="2200" dirty="0" err="1"/>
              <a:t>also</a:t>
            </a:r>
            <a:r>
              <a:rPr lang="nl-NL" sz="2200" dirty="0"/>
              <a:t> have a </a:t>
            </a:r>
            <a:r>
              <a:rPr lang="nl-NL" sz="2200" i="1" dirty="0" err="1"/>
              <a:t>reference</a:t>
            </a:r>
            <a:r>
              <a:rPr lang="nl-NL" sz="2200" i="1" dirty="0"/>
              <a:t> set</a:t>
            </a:r>
            <a:r>
              <a:rPr lang="nl-NL" sz="2200" dirty="0"/>
              <a:t>. The </a:t>
            </a:r>
            <a:r>
              <a:rPr lang="nl-NL" sz="2200" dirty="0" err="1"/>
              <a:t>reference</a:t>
            </a:r>
            <a:r>
              <a:rPr lang="nl-NL" sz="2200" dirty="0"/>
              <a:t> set of a </a:t>
            </a:r>
            <a:r>
              <a:rPr lang="nl-NL" sz="2200" i="1" dirty="0" err="1"/>
              <a:t>simple</a:t>
            </a:r>
            <a:r>
              <a:rPr lang="nl-NL" sz="2200" dirty="0"/>
              <a:t> concept is </a:t>
            </a:r>
            <a:r>
              <a:rPr lang="nl-NL" sz="2200" dirty="0" err="1"/>
              <a:t>the</a:t>
            </a:r>
            <a:r>
              <a:rPr lang="nl-NL" sz="2200" dirty="0"/>
              <a:t> </a:t>
            </a:r>
            <a:r>
              <a:rPr lang="nl-NL" sz="2200" dirty="0" err="1"/>
              <a:t>reference</a:t>
            </a:r>
            <a:r>
              <a:rPr lang="nl-NL" sz="2200" dirty="0"/>
              <a:t> of </a:t>
            </a:r>
            <a:r>
              <a:rPr lang="nl-NL" sz="2200" dirty="0" err="1"/>
              <a:t>that</a:t>
            </a:r>
            <a:r>
              <a:rPr lang="nl-NL" sz="2200" dirty="0"/>
              <a:t> concept.</a:t>
            </a:r>
          </a:p>
          <a:p>
            <a:pPr lvl="1"/>
            <a:r>
              <a:rPr lang="nl-NL" sz="1800" dirty="0"/>
              <a:t>The </a:t>
            </a:r>
            <a:r>
              <a:rPr lang="nl-NL" sz="1800" dirty="0" err="1"/>
              <a:t>reference</a:t>
            </a:r>
            <a:r>
              <a:rPr lang="nl-NL" sz="1800" dirty="0"/>
              <a:t> set of ‘Red’ is (</a:t>
            </a:r>
            <a:r>
              <a:rPr lang="nl-NL" sz="1800" dirty="0" err="1"/>
              <a:t>its</a:t>
            </a:r>
            <a:r>
              <a:rPr lang="nl-NL" sz="1800" dirty="0"/>
              <a:t> </a:t>
            </a:r>
            <a:r>
              <a:rPr lang="nl-NL" sz="1800" dirty="0" err="1"/>
              <a:t>reference</a:t>
            </a:r>
            <a:r>
              <a:rPr lang="nl-NL" sz="1800" dirty="0"/>
              <a:t> </a:t>
            </a:r>
            <a:r>
              <a:rPr lang="nl-NL" sz="1800" dirty="0" err="1"/>
              <a:t>and</a:t>
            </a:r>
            <a:r>
              <a:rPr lang="nl-NL" sz="1800" dirty="0"/>
              <a:t> </a:t>
            </a:r>
            <a:r>
              <a:rPr lang="nl-NL" sz="1800" dirty="0" err="1"/>
              <a:t>thus</a:t>
            </a:r>
            <a:r>
              <a:rPr lang="nl-NL" sz="1800" dirty="0"/>
              <a:t>) </a:t>
            </a:r>
            <a:r>
              <a:rPr lang="nl-NL" sz="1800" dirty="0" err="1"/>
              <a:t>the</a:t>
            </a:r>
            <a:r>
              <a:rPr lang="nl-NL" sz="1800" dirty="0"/>
              <a:t> set of </a:t>
            </a:r>
            <a:r>
              <a:rPr lang="nl-NL" sz="1800" dirty="0" err="1"/>
              <a:t>all</a:t>
            </a:r>
            <a:r>
              <a:rPr lang="nl-NL" sz="1800" dirty="0"/>
              <a:t> red </a:t>
            </a:r>
            <a:r>
              <a:rPr lang="nl-NL" sz="1800" dirty="0" err="1"/>
              <a:t>objects</a:t>
            </a:r>
            <a:r>
              <a:rPr lang="nl-NL" sz="1800" dirty="0"/>
              <a:t>.   </a:t>
            </a:r>
          </a:p>
          <a:p>
            <a:endParaRPr lang="nl-NL" sz="2400" dirty="0"/>
          </a:p>
        </p:txBody>
      </p:sp>
      <p:sp>
        <p:nvSpPr>
          <p:cNvPr id="8" name="Content Placeholder 2">
            <a:extLst>
              <a:ext uri="{FF2B5EF4-FFF2-40B4-BE49-F238E27FC236}">
                <a16:creationId xmlns:a16="http://schemas.microsoft.com/office/drawing/2014/main" id="{5A4C4515-2927-C06C-77AD-D060F4C9B97A}"/>
              </a:ext>
            </a:extLst>
          </p:cNvPr>
          <p:cNvSpPr txBox="1">
            <a:spLocks/>
          </p:cNvSpPr>
          <p:nvPr/>
        </p:nvSpPr>
        <p:spPr>
          <a:xfrm>
            <a:off x="107504" y="257971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The </a:t>
            </a:r>
            <a:r>
              <a:rPr lang="nl-NL" sz="2200" dirty="0" err="1"/>
              <a:t>reference</a:t>
            </a:r>
            <a:r>
              <a:rPr lang="nl-NL" sz="2200" dirty="0"/>
              <a:t> set of a </a:t>
            </a:r>
            <a:r>
              <a:rPr lang="nl-NL" sz="2200" i="1" dirty="0"/>
              <a:t>complex</a:t>
            </a:r>
            <a:r>
              <a:rPr lang="nl-NL" sz="2200" dirty="0"/>
              <a:t> concept is </a:t>
            </a:r>
            <a:r>
              <a:rPr lang="nl-NL" sz="2200" dirty="0" err="1"/>
              <a:t>the</a:t>
            </a:r>
            <a:r>
              <a:rPr lang="nl-NL" sz="2200" dirty="0"/>
              <a:t> </a:t>
            </a:r>
            <a:r>
              <a:rPr lang="nl-NL" sz="2200" dirty="0" err="1"/>
              <a:t>union</a:t>
            </a:r>
            <a:r>
              <a:rPr lang="nl-NL" sz="2200" dirty="0"/>
              <a:t> of </a:t>
            </a:r>
            <a:r>
              <a:rPr lang="nl-NL" sz="2200" dirty="0" err="1"/>
              <a:t>the</a:t>
            </a:r>
            <a:r>
              <a:rPr lang="nl-NL" sz="2200" dirty="0"/>
              <a:t> </a:t>
            </a:r>
            <a:r>
              <a:rPr lang="nl-NL" sz="2200" dirty="0" err="1"/>
              <a:t>references</a:t>
            </a:r>
            <a:r>
              <a:rPr lang="nl-NL" sz="2200" dirty="0"/>
              <a:t>        of </a:t>
            </a:r>
            <a:r>
              <a:rPr lang="nl-NL" sz="2200" dirty="0" err="1"/>
              <a:t>its</a:t>
            </a:r>
            <a:r>
              <a:rPr lang="nl-NL" sz="2200" dirty="0"/>
              <a:t> </a:t>
            </a:r>
            <a:r>
              <a:rPr lang="nl-NL" sz="2200" dirty="0" err="1"/>
              <a:t>subconcepts</a:t>
            </a:r>
            <a:r>
              <a:rPr lang="nl-NL" sz="2200" dirty="0"/>
              <a:t>.</a:t>
            </a:r>
          </a:p>
          <a:p>
            <a:pPr lvl="1"/>
            <a:r>
              <a:rPr lang="nl-NL" sz="1800" dirty="0"/>
              <a:t>The </a:t>
            </a:r>
            <a:r>
              <a:rPr lang="nl-NL" sz="1800" dirty="0" err="1"/>
              <a:t>reference</a:t>
            </a:r>
            <a:r>
              <a:rPr lang="nl-NL" sz="1800" dirty="0"/>
              <a:t> set of ‘Red bike’ is </a:t>
            </a:r>
            <a:r>
              <a:rPr lang="nl-NL" sz="1800" dirty="0" err="1"/>
              <a:t>the</a:t>
            </a:r>
            <a:r>
              <a:rPr lang="nl-NL" sz="1800" dirty="0"/>
              <a:t> set of </a:t>
            </a:r>
            <a:r>
              <a:rPr lang="nl-NL" sz="1800" dirty="0" err="1"/>
              <a:t>all</a:t>
            </a:r>
            <a:r>
              <a:rPr lang="nl-NL" sz="1800" dirty="0"/>
              <a:t> red </a:t>
            </a:r>
            <a:r>
              <a:rPr lang="nl-NL" sz="1800" dirty="0" err="1"/>
              <a:t>objects</a:t>
            </a:r>
            <a:r>
              <a:rPr lang="nl-NL" sz="1800" dirty="0"/>
              <a:t> </a:t>
            </a:r>
            <a:r>
              <a:rPr lang="nl-NL" sz="1800" dirty="0" err="1"/>
              <a:t>and</a:t>
            </a:r>
            <a:r>
              <a:rPr lang="nl-NL" sz="1800" dirty="0"/>
              <a:t> </a:t>
            </a:r>
            <a:r>
              <a:rPr lang="nl-NL" sz="1800" dirty="0" err="1"/>
              <a:t>all</a:t>
            </a:r>
            <a:r>
              <a:rPr lang="nl-NL" sz="1800" dirty="0"/>
              <a:t> bikes. It </a:t>
            </a:r>
            <a:r>
              <a:rPr lang="nl-NL" sz="1800" dirty="0" err="1"/>
              <a:t>contains</a:t>
            </a:r>
            <a:r>
              <a:rPr lang="nl-NL" sz="1800" dirty="0"/>
              <a:t> red </a:t>
            </a:r>
            <a:r>
              <a:rPr lang="nl-NL" sz="1800" dirty="0" err="1"/>
              <a:t>tables</a:t>
            </a:r>
            <a:r>
              <a:rPr lang="nl-NL" sz="1800" dirty="0"/>
              <a:t> </a:t>
            </a:r>
            <a:r>
              <a:rPr lang="nl-NL" sz="1800" dirty="0" err="1"/>
              <a:t>and</a:t>
            </a:r>
            <a:r>
              <a:rPr lang="nl-NL" sz="1800" dirty="0"/>
              <a:t> blue bikes. The </a:t>
            </a:r>
            <a:r>
              <a:rPr lang="nl-NL" sz="1800" dirty="0" err="1"/>
              <a:t>reference</a:t>
            </a:r>
            <a:r>
              <a:rPr lang="nl-NL" sz="1800" dirty="0"/>
              <a:t> set of ‘</a:t>
            </a:r>
            <a:r>
              <a:rPr lang="nl-NL" sz="1800" dirty="0" err="1"/>
              <a:t>Vixen</a:t>
            </a:r>
            <a:r>
              <a:rPr lang="nl-NL" sz="1800" dirty="0"/>
              <a:t>’ is </a:t>
            </a:r>
            <a:r>
              <a:rPr lang="nl-NL" sz="1800" dirty="0" err="1"/>
              <a:t>the</a:t>
            </a:r>
            <a:r>
              <a:rPr lang="nl-NL" sz="1800" dirty="0"/>
              <a:t> set of </a:t>
            </a:r>
            <a:r>
              <a:rPr lang="nl-NL" sz="1800" dirty="0" err="1"/>
              <a:t>all</a:t>
            </a:r>
            <a:r>
              <a:rPr lang="nl-NL" sz="1800" dirty="0"/>
              <a:t> </a:t>
            </a:r>
            <a:r>
              <a:rPr lang="nl-NL" sz="1800" dirty="0" err="1"/>
              <a:t>females</a:t>
            </a:r>
            <a:r>
              <a:rPr lang="nl-NL" sz="1800" dirty="0"/>
              <a:t> </a:t>
            </a:r>
            <a:r>
              <a:rPr lang="nl-NL" sz="1800" dirty="0" err="1"/>
              <a:t>and</a:t>
            </a:r>
            <a:r>
              <a:rPr lang="nl-NL" sz="1800" dirty="0"/>
              <a:t> </a:t>
            </a:r>
            <a:r>
              <a:rPr lang="nl-NL" sz="1800" dirty="0" err="1"/>
              <a:t>all</a:t>
            </a:r>
            <a:r>
              <a:rPr lang="nl-NL" sz="1800" dirty="0"/>
              <a:t> </a:t>
            </a:r>
            <a:r>
              <a:rPr lang="nl-NL" sz="1800" dirty="0" err="1"/>
              <a:t>foxes</a:t>
            </a:r>
            <a:r>
              <a:rPr lang="nl-NL" sz="1800" dirty="0"/>
              <a:t>.</a:t>
            </a:r>
            <a:endParaRPr lang="nl-NL" sz="2400" dirty="0"/>
          </a:p>
        </p:txBody>
      </p:sp>
      <p:sp>
        <p:nvSpPr>
          <p:cNvPr id="9" name="Content Placeholder 2">
            <a:extLst>
              <a:ext uri="{FF2B5EF4-FFF2-40B4-BE49-F238E27FC236}">
                <a16:creationId xmlns:a16="http://schemas.microsoft.com/office/drawing/2014/main" id="{778B0D8A-97A4-B80C-AAA7-874B0F5E78DE}"/>
              </a:ext>
            </a:extLst>
          </p:cNvPr>
          <p:cNvSpPr txBox="1">
            <a:spLocks/>
          </p:cNvSpPr>
          <p:nvPr/>
        </p:nvSpPr>
        <p:spPr>
          <a:xfrm>
            <a:off x="107504" y="412048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Different </a:t>
            </a:r>
            <a:r>
              <a:rPr lang="nl-NL" sz="2200" dirty="0" err="1"/>
              <a:t>concepts</a:t>
            </a:r>
            <a:r>
              <a:rPr lang="nl-NL" sz="2200" dirty="0"/>
              <a:t> </a:t>
            </a:r>
            <a:r>
              <a:rPr lang="nl-NL" sz="2200" dirty="0" err="1"/>
              <a:t>can</a:t>
            </a:r>
            <a:r>
              <a:rPr lang="nl-NL" sz="2200" dirty="0"/>
              <a:t> have </a:t>
            </a:r>
            <a:r>
              <a:rPr lang="nl-NL" sz="2200" dirty="0" err="1"/>
              <a:t>the</a:t>
            </a:r>
            <a:r>
              <a:rPr lang="nl-NL" sz="2200" dirty="0"/>
              <a:t> </a:t>
            </a:r>
            <a:r>
              <a:rPr lang="nl-NL" sz="2200" dirty="0" err="1"/>
              <a:t>same</a:t>
            </a:r>
            <a:r>
              <a:rPr lang="nl-NL" sz="2200" dirty="0"/>
              <a:t> </a:t>
            </a:r>
            <a:r>
              <a:rPr lang="nl-NL" sz="2200" dirty="0" err="1"/>
              <a:t>reference</a:t>
            </a:r>
            <a:r>
              <a:rPr lang="nl-NL" sz="2200" dirty="0"/>
              <a:t> (as Frege has </a:t>
            </a:r>
            <a:r>
              <a:rPr lang="nl-NL" sz="2200" dirty="0" err="1"/>
              <a:t>taught</a:t>
            </a:r>
            <a:r>
              <a:rPr lang="nl-NL" sz="2200" dirty="0"/>
              <a:t> </a:t>
            </a:r>
            <a:r>
              <a:rPr lang="nl-NL" sz="2200" dirty="0" err="1"/>
              <a:t>us</a:t>
            </a:r>
            <a:r>
              <a:rPr lang="nl-NL" sz="2200" dirty="0"/>
              <a:t>). </a:t>
            </a:r>
          </a:p>
          <a:p>
            <a:pPr lvl="1"/>
            <a:r>
              <a:rPr lang="nl-NL" sz="1800" dirty="0"/>
              <a:t>‘Animals </a:t>
            </a:r>
            <a:r>
              <a:rPr lang="nl-NL" sz="1800" dirty="0" err="1"/>
              <a:t>having</a:t>
            </a:r>
            <a:r>
              <a:rPr lang="nl-NL" sz="1800" dirty="0"/>
              <a:t> a </a:t>
            </a:r>
            <a:r>
              <a:rPr lang="nl-NL" sz="1800" dirty="0" err="1"/>
              <a:t>heart</a:t>
            </a:r>
            <a:r>
              <a:rPr lang="nl-NL" sz="1800" dirty="0"/>
              <a:t>’ </a:t>
            </a:r>
            <a:r>
              <a:rPr lang="nl-NL" sz="1800" dirty="0" err="1"/>
              <a:t>and</a:t>
            </a:r>
            <a:r>
              <a:rPr lang="nl-NL" sz="1800" dirty="0"/>
              <a:t> ‘Animals </a:t>
            </a:r>
            <a:r>
              <a:rPr lang="nl-NL" sz="1800" dirty="0" err="1"/>
              <a:t>having</a:t>
            </a:r>
            <a:r>
              <a:rPr lang="nl-NL" sz="1800" dirty="0"/>
              <a:t> a </a:t>
            </a:r>
            <a:r>
              <a:rPr lang="nl-NL" sz="1800" dirty="0" err="1"/>
              <a:t>kidney</a:t>
            </a:r>
            <a:r>
              <a:rPr lang="nl-NL" sz="1800" dirty="0"/>
              <a:t>’ are different </a:t>
            </a:r>
            <a:r>
              <a:rPr lang="nl-NL" sz="1800" dirty="0" err="1"/>
              <a:t>concepts</a:t>
            </a:r>
            <a:r>
              <a:rPr lang="nl-NL" sz="1800" dirty="0"/>
              <a:t>. </a:t>
            </a:r>
            <a:r>
              <a:rPr lang="nl-NL" sz="1800" dirty="0" err="1"/>
              <a:t>They</a:t>
            </a:r>
            <a:r>
              <a:rPr lang="nl-NL" sz="1800" dirty="0"/>
              <a:t> have a different </a:t>
            </a:r>
            <a:r>
              <a:rPr lang="nl-NL" sz="1800" dirty="0" err="1"/>
              <a:t>meaning</a:t>
            </a:r>
            <a:r>
              <a:rPr lang="nl-NL" sz="1800" dirty="0"/>
              <a:t>. </a:t>
            </a:r>
            <a:r>
              <a:rPr lang="nl-NL" sz="1800" dirty="0" err="1"/>
              <a:t>Yet</a:t>
            </a:r>
            <a:r>
              <a:rPr lang="nl-NL" sz="1800" dirty="0"/>
              <a:t>, </a:t>
            </a:r>
            <a:r>
              <a:rPr lang="nl-NL" sz="1800" dirty="0" err="1"/>
              <a:t>each</a:t>
            </a:r>
            <a:r>
              <a:rPr lang="nl-NL" sz="1800" dirty="0"/>
              <a:t> </a:t>
            </a:r>
            <a:r>
              <a:rPr lang="nl-NL" sz="1800" dirty="0" err="1"/>
              <a:t>animal</a:t>
            </a:r>
            <a:r>
              <a:rPr lang="nl-NL" sz="1800" dirty="0"/>
              <a:t> </a:t>
            </a:r>
            <a:r>
              <a:rPr lang="nl-NL" sz="1800" dirty="0" err="1"/>
              <a:t>that</a:t>
            </a:r>
            <a:r>
              <a:rPr lang="nl-NL" sz="1800" dirty="0"/>
              <a:t> has a </a:t>
            </a:r>
            <a:r>
              <a:rPr lang="nl-NL" sz="1800" dirty="0" err="1"/>
              <a:t>heart</a:t>
            </a:r>
            <a:r>
              <a:rPr lang="nl-NL" sz="1800" dirty="0"/>
              <a:t> has a </a:t>
            </a:r>
            <a:r>
              <a:rPr lang="nl-NL" sz="1800" dirty="0" err="1"/>
              <a:t>kidney</a:t>
            </a:r>
            <a:r>
              <a:rPr lang="nl-NL" sz="1800" dirty="0"/>
              <a:t> </a:t>
            </a:r>
            <a:r>
              <a:rPr lang="nl-NL" sz="1800" dirty="0" err="1"/>
              <a:t>and</a:t>
            </a:r>
            <a:r>
              <a:rPr lang="nl-NL" sz="1800" dirty="0"/>
              <a:t> </a:t>
            </a:r>
            <a:r>
              <a:rPr lang="nl-NL" sz="1800" dirty="0" err="1"/>
              <a:t>vice</a:t>
            </a:r>
            <a:r>
              <a:rPr lang="nl-NL" sz="1800" dirty="0"/>
              <a:t> versa.  </a:t>
            </a:r>
          </a:p>
        </p:txBody>
      </p:sp>
      <p:sp>
        <p:nvSpPr>
          <p:cNvPr id="10" name="Content Placeholder 2">
            <a:extLst>
              <a:ext uri="{FF2B5EF4-FFF2-40B4-BE49-F238E27FC236}">
                <a16:creationId xmlns:a16="http://schemas.microsoft.com/office/drawing/2014/main" id="{2ACE705B-F10B-6ADE-2D59-4B97E05C29A0}"/>
              </a:ext>
            </a:extLst>
          </p:cNvPr>
          <p:cNvSpPr txBox="1">
            <a:spLocks/>
          </p:cNvSpPr>
          <p:nvPr/>
        </p:nvSpPr>
        <p:spPr>
          <a:xfrm>
            <a:off x="107504" y="527260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Different </a:t>
            </a:r>
            <a:r>
              <a:rPr lang="nl-NL" sz="2200" dirty="0" err="1"/>
              <a:t>concepts</a:t>
            </a:r>
            <a:r>
              <a:rPr lang="nl-NL" sz="2200" dirty="0"/>
              <a:t> </a:t>
            </a:r>
            <a:r>
              <a:rPr lang="nl-NL" sz="2200" dirty="0" err="1"/>
              <a:t>can</a:t>
            </a:r>
            <a:r>
              <a:rPr lang="nl-NL" sz="2200" i="1" dirty="0" err="1"/>
              <a:t>not</a:t>
            </a:r>
            <a:r>
              <a:rPr lang="nl-NL" sz="2200" dirty="0"/>
              <a:t> have </a:t>
            </a:r>
            <a:r>
              <a:rPr lang="nl-NL" sz="2200" dirty="0" err="1"/>
              <a:t>the</a:t>
            </a:r>
            <a:r>
              <a:rPr lang="nl-NL" sz="2200" dirty="0"/>
              <a:t> </a:t>
            </a:r>
            <a:r>
              <a:rPr lang="nl-NL" sz="2200" dirty="0" err="1"/>
              <a:t>same</a:t>
            </a:r>
            <a:r>
              <a:rPr lang="nl-NL" sz="2200" dirty="0"/>
              <a:t> </a:t>
            </a:r>
            <a:r>
              <a:rPr lang="nl-NL" sz="2200" dirty="0" err="1"/>
              <a:t>reference</a:t>
            </a:r>
            <a:r>
              <a:rPr lang="nl-NL" sz="2200" dirty="0"/>
              <a:t> </a:t>
            </a:r>
            <a:r>
              <a:rPr lang="nl-NL" sz="2200" i="1" dirty="0"/>
              <a:t>set</a:t>
            </a:r>
            <a:r>
              <a:rPr lang="nl-NL" sz="2200" dirty="0"/>
              <a:t> (as I claim).</a:t>
            </a:r>
          </a:p>
          <a:p>
            <a:pPr lvl="1"/>
            <a:r>
              <a:rPr lang="nl-NL" sz="1800" dirty="0"/>
              <a:t>‘Animals </a:t>
            </a:r>
            <a:r>
              <a:rPr lang="nl-NL" sz="1800" dirty="0" err="1"/>
              <a:t>having</a:t>
            </a:r>
            <a:r>
              <a:rPr lang="nl-NL" sz="1800" dirty="0"/>
              <a:t> a </a:t>
            </a:r>
            <a:r>
              <a:rPr lang="nl-NL" sz="1800" dirty="0" err="1"/>
              <a:t>heart</a:t>
            </a:r>
            <a:r>
              <a:rPr lang="nl-NL" sz="1800" dirty="0"/>
              <a:t>’ </a:t>
            </a:r>
            <a:r>
              <a:rPr lang="nl-NL" sz="1800" dirty="0" err="1"/>
              <a:t>and</a:t>
            </a:r>
            <a:r>
              <a:rPr lang="nl-NL" sz="1800" dirty="0"/>
              <a:t> ‘Animals </a:t>
            </a:r>
            <a:r>
              <a:rPr lang="nl-NL" sz="1800" dirty="0" err="1"/>
              <a:t>having</a:t>
            </a:r>
            <a:r>
              <a:rPr lang="nl-NL" sz="1800" dirty="0"/>
              <a:t> a </a:t>
            </a:r>
            <a:r>
              <a:rPr lang="nl-NL" sz="1800" dirty="0" err="1"/>
              <a:t>kidney</a:t>
            </a:r>
            <a:r>
              <a:rPr lang="nl-NL" sz="1800" dirty="0"/>
              <a:t>’ indeed have different </a:t>
            </a:r>
            <a:r>
              <a:rPr lang="nl-NL" sz="1800" dirty="0" err="1"/>
              <a:t>reference</a:t>
            </a:r>
            <a:r>
              <a:rPr lang="nl-NL" sz="1800" dirty="0"/>
              <a:t> sets. For ‘</a:t>
            </a:r>
            <a:r>
              <a:rPr lang="nl-NL" sz="1800" dirty="0" err="1"/>
              <a:t>heart</a:t>
            </a:r>
            <a:r>
              <a:rPr lang="nl-NL" sz="1800" dirty="0"/>
              <a:t>’ is a </a:t>
            </a:r>
            <a:r>
              <a:rPr lang="nl-NL" sz="1800" dirty="0" err="1"/>
              <a:t>subconcept</a:t>
            </a:r>
            <a:r>
              <a:rPr lang="nl-NL" sz="1800" dirty="0"/>
              <a:t> of </a:t>
            </a:r>
            <a:r>
              <a:rPr lang="nl-NL" sz="1800" dirty="0" err="1"/>
              <a:t>the</a:t>
            </a:r>
            <a:r>
              <a:rPr lang="nl-NL" sz="1800" dirty="0"/>
              <a:t> </a:t>
            </a:r>
            <a:r>
              <a:rPr lang="nl-NL" sz="1800" dirty="0" err="1"/>
              <a:t>former</a:t>
            </a:r>
            <a:r>
              <a:rPr lang="nl-NL" sz="1800" dirty="0"/>
              <a:t> </a:t>
            </a:r>
            <a:r>
              <a:rPr lang="nl-NL" sz="1800" dirty="0" err="1"/>
              <a:t>and</a:t>
            </a:r>
            <a:r>
              <a:rPr lang="nl-NL" sz="1800" dirty="0"/>
              <a:t> </a:t>
            </a:r>
            <a:r>
              <a:rPr lang="nl-NL" sz="1800" dirty="0" err="1"/>
              <a:t>not</a:t>
            </a:r>
            <a:r>
              <a:rPr lang="nl-NL" sz="1800" dirty="0"/>
              <a:t> of </a:t>
            </a:r>
            <a:r>
              <a:rPr lang="nl-NL" sz="1800" dirty="0" err="1"/>
              <a:t>the</a:t>
            </a:r>
            <a:r>
              <a:rPr lang="nl-NL" sz="1800" dirty="0"/>
              <a:t> </a:t>
            </a:r>
            <a:r>
              <a:rPr lang="nl-NL" sz="1800" dirty="0" err="1"/>
              <a:t>latter</a:t>
            </a:r>
            <a:r>
              <a:rPr lang="nl-NL" sz="1800" dirty="0"/>
              <a:t>. </a:t>
            </a:r>
            <a:r>
              <a:rPr lang="nl-NL" sz="1800" dirty="0" err="1"/>
              <a:t>So</a:t>
            </a:r>
            <a:r>
              <a:rPr lang="nl-NL" sz="1800" dirty="0"/>
              <a:t> </a:t>
            </a:r>
            <a:r>
              <a:rPr lang="nl-NL" sz="1800" dirty="0" err="1"/>
              <a:t>the</a:t>
            </a:r>
            <a:r>
              <a:rPr lang="nl-NL" sz="1800" dirty="0"/>
              <a:t> </a:t>
            </a:r>
            <a:r>
              <a:rPr lang="nl-NL" sz="1800" dirty="0" err="1"/>
              <a:t>reference</a:t>
            </a:r>
            <a:r>
              <a:rPr lang="nl-NL" sz="1800" dirty="0"/>
              <a:t> set of </a:t>
            </a:r>
            <a:r>
              <a:rPr lang="nl-NL" sz="1800" dirty="0" err="1"/>
              <a:t>the</a:t>
            </a:r>
            <a:r>
              <a:rPr lang="nl-NL" sz="1800" dirty="0"/>
              <a:t> </a:t>
            </a:r>
            <a:r>
              <a:rPr lang="nl-NL" sz="1800" dirty="0" err="1"/>
              <a:t>former</a:t>
            </a:r>
            <a:r>
              <a:rPr lang="nl-NL" sz="1800" dirty="0"/>
              <a:t> </a:t>
            </a:r>
            <a:r>
              <a:rPr lang="nl-NL" sz="1800" dirty="0" err="1"/>
              <a:t>includes</a:t>
            </a:r>
            <a:r>
              <a:rPr lang="nl-NL" sz="1800" dirty="0"/>
              <a:t> </a:t>
            </a:r>
            <a:r>
              <a:rPr lang="nl-NL" sz="1800" dirty="0" err="1"/>
              <a:t>all</a:t>
            </a:r>
            <a:r>
              <a:rPr lang="nl-NL" sz="1800" dirty="0"/>
              <a:t> </a:t>
            </a:r>
            <a:r>
              <a:rPr lang="nl-NL" sz="1800" dirty="0" err="1"/>
              <a:t>hearts</a:t>
            </a:r>
            <a:r>
              <a:rPr lang="nl-NL" sz="1800" dirty="0"/>
              <a:t>, </a:t>
            </a:r>
            <a:r>
              <a:rPr lang="nl-NL" sz="1800" dirty="0" err="1"/>
              <a:t>whereas</a:t>
            </a:r>
            <a:r>
              <a:rPr lang="nl-NL" sz="1800" dirty="0"/>
              <a:t> </a:t>
            </a:r>
            <a:r>
              <a:rPr lang="nl-NL" sz="1800" dirty="0" err="1"/>
              <a:t>the</a:t>
            </a:r>
            <a:r>
              <a:rPr lang="nl-NL" sz="1800" dirty="0"/>
              <a:t> </a:t>
            </a:r>
            <a:r>
              <a:rPr lang="nl-NL" sz="1800" dirty="0" err="1"/>
              <a:t>reference</a:t>
            </a:r>
            <a:r>
              <a:rPr lang="nl-NL" sz="1800" dirty="0"/>
              <a:t> set of </a:t>
            </a:r>
            <a:r>
              <a:rPr lang="nl-NL" sz="1800" dirty="0" err="1"/>
              <a:t>the</a:t>
            </a:r>
            <a:r>
              <a:rPr lang="nl-NL" sz="1800" dirty="0"/>
              <a:t> </a:t>
            </a:r>
            <a:r>
              <a:rPr lang="nl-NL" sz="1800" dirty="0" err="1"/>
              <a:t>latter</a:t>
            </a:r>
            <a:r>
              <a:rPr lang="nl-NL" sz="1800" dirty="0"/>
              <a:t> </a:t>
            </a:r>
            <a:r>
              <a:rPr lang="nl-NL" sz="1800" dirty="0" err="1"/>
              <a:t>doesn’t</a:t>
            </a:r>
            <a:r>
              <a:rPr lang="nl-NL" sz="1800" dirty="0"/>
              <a:t>.</a:t>
            </a:r>
          </a:p>
        </p:txBody>
      </p:sp>
    </p:spTree>
    <p:extLst>
      <p:ext uri="{BB962C8B-B14F-4D97-AF65-F5344CB8AC3E}">
        <p14:creationId xmlns:p14="http://schemas.microsoft.com/office/powerpoint/2010/main" val="399710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a:t>The </a:t>
            </a:r>
            <a:r>
              <a:rPr lang="nl-NL" sz="3600" dirty="0" err="1"/>
              <a:t>semantic</a:t>
            </a:r>
            <a:r>
              <a:rPr lang="nl-NL" sz="3600" dirty="0"/>
              <a:t> </a:t>
            </a:r>
            <a:r>
              <a:rPr lang="nl-NL" sz="3600" dirty="0" err="1"/>
              <a:t>argument’s</a:t>
            </a:r>
            <a:r>
              <a:rPr lang="nl-NL" sz="3600" dirty="0"/>
              <a:t> </a:t>
            </a:r>
            <a:r>
              <a:rPr lang="nl-NL" sz="3600" dirty="0" err="1"/>
              <a:t>core</a:t>
            </a:r>
            <a:r>
              <a:rPr lang="nl-NL" sz="3600" dirty="0"/>
              <a:t> </a:t>
            </a:r>
            <a:r>
              <a:rPr lang="nl-NL" sz="3600" dirty="0" err="1"/>
              <a:t>premise</a:t>
            </a:r>
            <a:endParaRPr lang="nl-NL" sz="3600" dirty="0"/>
          </a:p>
        </p:txBody>
      </p:sp>
      <p:sp>
        <p:nvSpPr>
          <p:cNvPr id="6" name="Content Placeholder 2">
            <a:extLst>
              <a:ext uri="{FF2B5EF4-FFF2-40B4-BE49-F238E27FC236}">
                <a16:creationId xmlns:a16="http://schemas.microsoft.com/office/drawing/2014/main" id="{648C3847-35E3-1562-CFCA-0A7F93E4FCD8}"/>
              </a:ext>
            </a:extLst>
          </p:cNvPr>
          <p:cNvSpPr>
            <a:spLocks noGrp="1"/>
          </p:cNvSpPr>
          <p:nvPr>
            <p:ph idx="1"/>
          </p:nvPr>
        </p:nvSpPr>
        <p:spPr>
          <a:xfrm>
            <a:off x="107504" y="1312168"/>
            <a:ext cx="9036496" cy="532656"/>
          </a:xfrm>
        </p:spPr>
        <p:txBody>
          <a:bodyPr>
            <a:noAutofit/>
          </a:bodyPr>
          <a:lstStyle/>
          <a:p>
            <a:r>
              <a:rPr lang="nl-NL" sz="2200" dirty="0" err="1"/>
              <a:t>If</a:t>
            </a:r>
            <a:r>
              <a:rPr lang="nl-NL" sz="2200" dirty="0"/>
              <a:t> </a:t>
            </a:r>
            <a:r>
              <a:rPr lang="nl-NL" sz="2200" dirty="0" err="1"/>
              <a:t>two</a:t>
            </a:r>
            <a:r>
              <a:rPr lang="nl-NL" sz="2200" dirty="0"/>
              <a:t> </a:t>
            </a:r>
            <a:r>
              <a:rPr lang="nl-NL" sz="2200" dirty="0" err="1"/>
              <a:t>concepts</a:t>
            </a:r>
            <a:r>
              <a:rPr lang="nl-NL" sz="2200" dirty="0"/>
              <a:t> have </a:t>
            </a:r>
            <a:r>
              <a:rPr lang="nl-NL" sz="2200" dirty="0" err="1"/>
              <a:t>the</a:t>
            </a:r>
            <a:r>
              <a:rPr lang="nl-NL" sz="2200" dirty="0"/>
              <a:t> </a:t>
            </a:r>
            <a:r>
              <a:rPr lang="nl-NL" sz="2200" dirty="0" err="1"/>
              <a:t>same</a:t>
            </a:r>
            <a:r>
              <a:rPr lang="nl-NL" sz="2200" dirty="0"/>
              <a:t> </a:t>
            </a:r>
            <a:r>
              <a:rPr lang="nl-NL" sz="2200" dirty="0" err="1"/>
              <a:t>reference</a:t>
            </a:r>
            <a:r>
              <a:rPr lang="nl-NL" sz="2200" dirty="0"/>
              <a:t> set, </a:t>
            </a:r>
            <a:r>
              <a:rPr lang="nl-NL" sz="2200" dirty="0" err="1"/>
              <a:t>then</a:t>
            </a:r>
            <a:r>
              <a:rPr lang="nl-NL" sz="2200" dirty="0"/>
              <a:t> </a:t>
            </a:r>
            <a:r>
              <a:rPr lang="nl-NL" sz="2200" dirty="0" err="1"/>
              <a:t>they</a:t>
            </a:r>
            <a:r>
              <a:rPr lang="nl-NL" sz="2200" dirty="0"/>
              <a:t> are </a:t>
            </a:r>
            <a:r>
              <a:rPr lang="nl-NL" sz="2200" dirty="0" err="1"/>
              <a:t>identical</a:t>
            </a:r>
            <a:r>
              <a:rPr lang="nl-NL" sz="2200" dirty="0"/>
              <a:t> </a:t>
            </a:r>
            <a:r>
              <a:rPr lang="nl-NL" sz="2200" i="1" dirty="0"/>
              <a:t>(</a:t>
            </a:r>
            <a:r>
              <a:rPr lang="nl-NL" sz="2200" i="1" dirty="0" err="1"/>
              <a:t>semantic</a:t>
            </a:r>
            <a:r>
              <a:rPr lang="nl-NL" sz="2200" i="1" dirty="0"/>
              <a:t> </a:t>
            </a:r>
            <a:r>
              <a:rPr lang="nl-NL" sz="2200" i="1" dirty="0" err="1"/>
              <a:t>argument’s</a:t>
            </a:r>
            <a:r>
              <a:rPr lang="nl-NL" sz="2200" i="1" dirty="0"/>
              <a:t> </a:t>
            </a:r>
            <a:r>
              <a:rPr lang="nl-NL" sz="2200" i="1" dirty="0" err="1"/>
              <a:t>core</a:t>
            </a:r>
            <a:r>
              <a:rPr lang="nl-NL" sz="2200" i="1" dirty="0"/>
              <a:t> </a:t>
            </a:r>
            <a:r>
              <a:rPr lang="nl-NL" sz="2200" i="1" dirty="0" err="1"/>
              <a:t>premise</a:t>
            </a:r>
            <a:r>
              <a:rPr lang="nl-NL" sz="2200" i="1" dirty="0"/>
              <a:t>)</a:t>
            </a:r>
            <a:r>
              <a:rPr lang="nl-NL" sz="2200" dirty="0"/>
              <a:t>.</a:t>
            </a:r>
          </a:p>
        </p:txBody>
      </p:sp>
      <p:sp>
        <p:nvSpPr>
          <p:cNvPr id="7" name="Content Placeholder 2">
            <a:extLst>
              <a:ext uri="{FF2B5EF4-FFF2-40B4-BE49-F238E27FC236}">
                <a16:creationId xmlns:a16="http://schemas.microsoft.com/office/drawing/2014/main" id="{58F05DDC-1E0D-DCC0-B071-CC126083B093}"/>
              </a:ext>
            </a:extLst>
          </p:cNvPr>
          <p:cNvSpPr txBox="1">
            <a:spLocks/>
          </p:cNvSpPr>
          <p:nvPr/>
        </p:nvSpPr>
        <p:spPr>
          <a:xfrm>
            <a:off x="107504" y="2176264"/>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err="1"/>
              <a:t>Sameness</a:t>
            </a:r>
            <a:r>
              <a:rPr lang="nl-NL" sz="2200" dirty="0"/>
              <a:t> of </a:t>
            </a:r>
            <a:r>
              <a:rPr lang="nl-NL" sz="2200" dirty="0" err="1"/>
              <a:t>reference</a:t>
            </a:r>
            <a:r>
              <a:rPr lang="nl-NL" sz="2200" dirty="0"/>
              <a:t> does </a:t>
            </a:r>
            <a:r>
              <a:rPr lang="nl-NL" sz="2200" dirty="0" err="1"/>
              <a:t>not</a:t>
            </a:r>
            <a:r>
              <a:rPr lang="nl-NL" sz="2200" dirty="0"/>
              <a:t> </a:t>
            </a:r>
            <a:r>
              <a:rPr lang="nl-NL" sz="2200" dirty="0" err="1"/>
              <a:t>guarantee</a:t>
            </a:r>
            <a:r>
              <a:rPr lang="nl-NL" sz="2200" dirty="0"/>
              <a:t> </a:t>
            </a:r>
            <a:r>
              <a:rPr lang="nl-NL" sz="2200" dirty="0" err="1"/>
              <a:t>sameness</a:t>
            </a:r>
            <a:r>
              <a:rPr lang="nl-NL" sz="2200" dirty="0"/>
              <a:t> of </a:t>
            </a:r>
            <a:r>
              <a:rPr lang="nl-NL" sz="2200" dirty="0" err="1"/>
              <a:t>meaning</a:t>
            </a:r>
            <a:r>
              <a:rPr lang="nl-NL" sz="2200" dirty="0"/>
              <a:t>. But </a:t>
            </a:r>
            <a:r>
              <a:rPr lang="nl-NL" sz="2200" dirty="0" err="1"/>
              <a:t>sameness</a:t>
            </a:r>
            <a:r>
              <a:rPr lang="nl-NL" sz="2200" dirty="0"/>
              <a:t> of </a:t>
            </a:r>
            <a:r>
              <a:rPr lang="nl-NL" sz="2200" dirty="0" err="1"/>
              <a:t>reference</a:t>
            </a:r>
            <a:r>
              <a:rPr lang="nl-NL" sz="2200" dirty="0"/>
              <a:t> sets </a:t>
            </a:r>
            <a:r>
              <a:rPr lang="nl-NL" sz="2200" i="1" dirty="0"/>
              <a:t>does</a:t>
            </a:r>
            <a:r>
              <a:rPr lang="nl-NL" sz="2200" dirty="0"/>
              <a:t> </a:t>
            </a:r>
            <a:r>
              <a:rPr lang="nl-NL" sz="2200" dirty="0" err="1"/>
              <a:t>guarantee</a:t>
            </a:r>
            <a:r>
              <a:rPr lang="nl-NL" sz="2200" dirty="0"/>
              <a:t> </a:t>
            </a:r>
            <a:r>
              <a:rPr lang="nl-NL" sz="2200" dirty="0" err="1"/>
              <a:t>sameness</a:t>
            </a:r>
            <a:r>
              <a:rPr lang="nl-NL" sz="2200" dirty="0"/>
              <a:t> of </a:t>
            </a:r>
            <a:r>
              <a:rPr lang="nl-NL" sz="2200" dirty="0" err="1"/>
              <a:t>meaning</a:t>
            </a:r>
            <a:r>
              <a:rPr lang="nl-NL" sz="2200" dirty="0"/>
              <a:t>.</a:t>
            </a:r>
          </a:p>
        </p:txBody>
      </p:sp>
      <p:sp>
        <p:nvSpPr>
          <p:cNvPr id="10" name="Content Placeholder 2">
            <a:extLst>
              <a:ext uri="{FF2B5EF4-FFF2-40B4-BE49-F238E27FC236}">
                <a16:creationId xmlns:a16="http://schemas.microsoft.com/office/drawing/2014/main" id="{93F95CAB-B62B-DB3C-FFD2-E82ED6E8908B}"/>
              </a:ext>
            </a:extLst>
          </p:cNvPr>
          <p:cNvSpPr txBox="1">
            <a:spLocks/>
          </p:cNvSpPr>
          <p:nvPr/>
        </p:nvSpPr>
        <p:spPr>
          <a:xfrm>
            <a:off x="107504" y="304036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err="1"/>
              <a:t>If</a:t>
            </a:r>
            <a:r>
              <a:rPr lang="nl-NL" sz="2200" dirty="0"/>
              <a:t> </a:t>
            </a:r>
            <a:r>
              <a:rPr lang="nl-NL" sz="2200" dirty="0" err="1"/>
              <a:t>two</a:t>
            </a:r>
            <a:r>
              <a:rPr lang="nl-NL" sz="2200" dirty="0"/>
              <a:t> </a:t>
            </a:r>
            <a:r>
              <a:rPr lang="nl-NL" sz="2200" dirty="0" err="1"/>
              <a:t>concepts</a:t>
            </a:r>
            <a:r>
              <a:rPr lang="nl-NL" sz="2200" dirty="0"/>
              <a:t> have </a:t>
            </a:r>
            <a:r>
              <a:rPr lang="nl-NL" sz="2200" dirty="0" err="1"/>
              <a:t>the</a:t>
            </a:r>
            <a:r>
              <a:rPr lang="nl-NL" sz="2200" dirty="0"/>
              <a:t> </a:t>
            </a:r>
            <a:r>
              <a:rPr lang="nl-NL" sz="2200" dirty="0" err="1"/>
              <a:t>same</a:t>
            </a:r>
            <a:r>
              <a:rPr lang="nl-NL" sz="2200" dirty="0"/>
              <a:t> </a:t>
            </a:r>
            <a:r>
              <a:rPr lang="nl-NL" sz="2200" dirty="0" err="1"/>
              <a:t>reference</a:t>
            </a:r>
            <a:r>
              <a:rPr lang="nl-NL" sz="2200" dirty="0"/>
              <a:t> set, </a:t>
            </a:r>
            <a:r>
              <a:rPr lang="nl-NL" sz="2200" dirty="0" err="1"/>
              <a:t>then</a:t>
            </a:r>
            <a:r>
              <a:rPr lang="nl-NL" sz="2200" dirty="0"/>
              <a:t> </a:t>
            </a:r>
            <a:r>
              <a:rPr lang="nl-NL" sz="2200" dirty="0" err="1"/>
              <a:t>those</a:t>
            </a:r>
            <a:r>
              <a:rPr lang="nl-NL" sz="2200" dirty="0"/>
              <a:t> </a:t>
            </a:r>
            <a:r>
              <a:rPr lang="nl-NL" sz="2200" dirty="0" err="1"/>
              <a:t>concepts</a:t>
            </a:r>
            <a:r>
              <a:rPr lang="nl-NL" sz="2200" dirty="0"/>
              <a:t> </a:t>
            </a:r>
            <a:r>
              <a:rPr lang="nl-NL" sz="2200" dirty="0" err="1"/>
              <a:t>cannot</a:t>
            </a:r>
            <a:r>
              <a:rPr lang="nl-NL" sz="2200" dirty="0"/>
              <a:t> </a:t>
            </a:r>
            <a:r>
              <a:rPr lang="nl-NL" sz="2200" dirty="0" err="1"/>
              <a:t>be</a:t>
            </a:r>
            <a:r>
              <a:rPr lang="nl-NL" sz="2200" dirty="0"/>
              <a:t> </a:t>
            </a:r>
            <a:r>
              <a:rPr lang="nl-NL" sz="2200" dirty="0" err="1"/>
              <a:t>distinguished</a:t>
            </a:r>
            <a:r>
              <a:rPr lang="nl-NL" sz="2200" dirty="0"/>
              <a:t> </a:t>
            </a:r>
            <a:r>
              <a:rPr lang="nl-NL" sz="2200" dirty="0" err="1"/>
              <a:t>from</a:t>
            </a:r>
            <a:r>
              <a:rPr lang="nl-NL" sz="2200" dirty="0"/>
              <a:t> </a:t>
            </a:r>
            <a:r>
              <a:rPr lang="nl-NL" sz="2200" dirty="0" err="1"/>
              <a:t>each</a:t>
            </a:r>
            <a:r>
              <a:rPr lang="nl-NL" sz="2200" dirty="0"/>
              <a:t> </a:t>
            </a:r>
            <a:r>
              <a:rPr lang="nl-NL" sz="2200" dirty="0" err="1"/>
              <a:t>other</a:t>
            </a:r>
            <a:r>
              <a:rPr lang="nl-NL" sz="2200" dirty="0"/>
              <a:t> </a:t>
            </a:r>
            <a:r>
              <a:rPr lang="nl-NL" sz="2200" dirty="0" err="1"/>
              <a:t>by</a:t>
            </a:r>
            <a:r>
              <a:rPr lang="nl-NL" sz="2200" dirty="0"/>
              <a:t> </a:t>
            </a:r>
            <a:r>
              <a:rPr lang="nl-NL" sz="2200" dirty="0" err="1"/>
              <a:t>tracing</a:t>
            </a:r>
            <a:r>
              <a:rPr lang="nl-NL" sz="2200" dirty="0"/>
              <a:t> </a:t>
            </a:r>
            <a:r>
              <a:rPr lang="nl-NL" sz="2200" dirty="0" err="1"/>
              <a:t>the</a:t>
            </a:r>
            <a:r>
              <a:rPr lang="nl-NL" sz="2200" dirty="0"/>
              <a:t> </a:t>
            </a:r>
            <a:r>
              <a:rPr lang="nl-NL" sz="2200" dirty="0" err="1"/>
              <a:t>references</a:t>
            </a:r>
            <a:r>
              <a:rPr lang="nl-NL" sz="2200" dirty="0"/>
              <a:t> of </a:t>
            </a:r>
            <a:r>
              <a:rPr lang="nl-NL" sz="2200" dirty="0" err="1"/>
              <a:t>their</a:t>
            </a:r>
            <a:r>
              <a:rPr lang="nl-NL" sz="2200" dirty="0"/>
              <a:t> sub-</a:t>
            </a:r>
            <a:r>
              <a:rPr lang="nl-NL" sz="2200" dirty="0" err="1"/>
              <a:t>concepts</a:t>
            </a:r>
            <a:r>
              <a:rPr lang="nl-NL" sz="2200" dirty="0"/>
              <a:t>. Both </a:t>
            </a:r>
            <a:r>
              <a:rPr lang="nl-NL" sz="2200" dirty="0" err="1"/>
              <a:t>concepts</a:t>
            </a:r>
            <a:r>
              <a:rPr lang="nl-NL" sz="2200" dirty="0"/>
              <a:t> “</a:t>
            </a:r>
            <a:r>
              <a:rPr lang="nl-NL" sz="2200" dirty="0" err="1"/>
              <a:t>reach</a:t>
            </a:r>
            <a:r>
              <a:rPr lang="nl-NL" sz="2200" dirty="0"/>
              <a:t> out” </a:t>
            </a:r>
            <a:r>
              <a:rPr lang="nl-NL" sz="2200" dirty="0" err="1"/>
              <a:t>to</a:t>
            </a:r>
            <a:r>
              <a:rPr lang="nl-NL" sz="2200" dirty="0"/>
              <a:t> </a:t>
            </a:r>
            <a:r>
              <a:rPr lang="nl-NL" sz="2200" dirty="0" err="1"/>
              <a:t>the</a:t>
            </a:r>
            <a:r>
              <a:rPr lang="nl-NL" sz="2200" dirty="0"/>
              <a:t> </a:t>
            </a:r>
            <a:r>
              <a:rPr lang="nl-NL" sz="2200" dirty="0" err="1"/>
              <a:t>world’s</a:t>
            </a:r>
            <a:r>
              <a:rPr lang="nl-NL" sz="2200" dirty="0"/>
              <a:t> </a:t>
            </a:r>
            <a:r>
              <a:rPr lang="nl-NL" sz="2200" dirty="0" err="1"/>
              <a:t>objects</a:t>
            </a:r>
            <a:r>
              <a:rPr lang="nl-NL" sz="2200" dirty="0"/>
              <a:t> in </a:t>
            </a:r>
            <a:r>
              <a:rPr lang="nl-NL" sz="2200" dirty="0" err="1"/>
              <a:t>the</a:t>
            </a:r>
            <a:r>
              <a:rPr lang="nl-NL" sz="2200" dirty="0"/>
              <a:t> </a:t>
            </a:r>
            <a:r>
              <a:rPr lang="nl-NL" sz="2200" dirty="0" err="1"/>
              <a:t>same</a:t>
            </a:r>
            <a:r>
              <a:rPr lang="nl-NL" sz="2200" dirty="0"/>
              <a:t> </a:t>
            </a:r>
            <a:r>
              <a:rPr lang="nl-NL" sz="2200" dirty="0" err="1"/>
              <a:t>manner</a:t>
            </a:r>
            <a:r>
              <a:rPr lang="nl-NL" sz="2200" dirty="0"/>
              <a:t>. </a:t>
            </a:r>
            <a:r>
              <a:rPr lang="nl-NL" sz="2200" dirty="0" err="1"/>
              <a:t>This</a:t>
            </a:r>
            <a:r>
              <a:rPr lang="nl-NL" sz="2200" dirty="0"/>
              <a:t> </a:t>
            </a:r>
            <a:r>
              <a:rPr lang="nl-NL" sz="2200" dirty="0" err="1"/>
              <a:t>substantiates</a:t>
            </a:r>
            <a:r>
              <a:rPr lang="nl-NL" sz="2200" dirty="0"/>
              <a:t> </a:t>
            </a:r>
            <a:r>
              <a:rPr lang="nl-NL" sz="2200" dirty="0" err="1"/>
              <a:t>the</a:t>
            </a:r>
            <a:r>
              <a:rPr lang="nl-NL" sz="2200" dirty="0"/>
              <a:t> </a:t>
            </a:r>
            <a:r>
              <a:rPr lang="nl-NL" sz="2200" dirty="0" err="1"/>
              <a:t>assertion</a:t>
            </a:r>
            <a:r>
              <a:rPr lang="nl-NL" sz="2200" dirty="0"/>
              <a:t> </a:t>
            </a:r>
            <a:r>
              <a:rPr lang="nl-NL" sz="2200" dirty="0" err="1"/>
              <a:t>that</a:t>
            </a:r>
            <a:r>
              <a:rPr lang="nl-NL" sz="2200" dirty="0"/>
              <a:t> </a:t>
            </a:r>
            <a:r>
              <a:rPr lang="nl-NL" sz="2200" dirty="0" err="1"/>
              <a:t>they</a:t>
            </a:r>
            <a:r>
              <a:rPr lang="nl-NL" sz="2200" dirty="0"/>
              <a:t> are in </a:t>
            </a:r>
            <a:r>
              <a:rPr lang="nl-NL" sz="2200" dirty="0" err="1"/>
              <a:t>fact</a:t>
            </a:r>
            <a:r>
              <a:rPr lang="nl-NL" sz="2200" dirty="0"/>
              <a:t> </a:t>
            </a:r>
            <a:r>
              <a:rPr lang="nl-NL" sz="2200" dirty="0" err="1"/>
              <a:t>identical</a:t>
            </a:r>
            <a:r>
              <a:rPr lang="nl-NL" sz="2200" dirty="0"/>
              <a:t>. </a:t>
            </a:r>
          </a:p>
        </p:txBody>
      </p:sp>
      <p:sp>
        <p:nvSpPr>
          <p:cNvPr id="12" name="Content Placeholder 2">
            <a:extLst>
              <a:ext uri="{FF2B5EF4-FFF2-40B4-BE49-F238E27FC236}">
                <a16:creationId xmlns:a16="http://schemas.microsoft.com/office/drawing/2014/main" id="{040428DD-8985-3360-6E8B-EDCB0FF7F7CF}"/>
              </a:ext>
            </a:extLst>
          </p:cNvPr>
          <p:cNvSpPr txBox="1">
            <a:spLocks/>
          </p:cNvSpPr>
          <p:nvPr/>
        </p:nvSpPr>
        <p:spPr>
          <a:xfrm>
            <a:off x="107504" y="426449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200" dirty="0"/>
          </a:p>
        </p:txBody>
      </p:sp>
      <p:sp>
        <p:nvSpPr>
          <p:cNvPr id="13" name="Content Placeholder 2">
            <a:extLst>
              <a:ext uri="{FF2B5EF4-FFF2-40B4-BE49-F238E27FC236}">
                <a16:creationId xmlns:a16="http://schemas.microsoft.com/office/drawing/2014/main" id="{E5CBCF5D-8B0D-1468-7A4D-79BE2996ADB4}"/>
              </a:ext>
            </a:extLst>
          </p:cNvPr>
          <p:cNvSpPr txBox="1">
            <a:spLocks/>
          </p:cNvSpPr>
          <p:nvPr/>
        </p:nvSpPr>
        <p:spPr>
          <a:xfrm>
            <a:off x="107504" y="465313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err="1"/>
              <a:t>Moreover</a:t>
            </a:r>
            <a:r>
              <a:rPr lang="nl-NL" sz="2200" dirty="0"/>
              <a:t>, </a:t>
            </a:r>
            <a:r>
              <a:rPr lang="nl-NL" sz="2200" dirty="0" err="1"/>
              <a:t>numerous</a:t>
            </a:r>
            <a:r>
              <a:rPr lang="nl-NL" sz="2200" dirty="0"/>
              <a:t> </a:t>
            </a:r>
            <a:r>
              <a:rPr lang="nl-NL" sz="2200" dirty="0" err="1"/>
              <a:t>alleged</a:t>
            </a:r>
            <a:r>
              <a:rPr lang="nl-NL" sz="2200" dirty="0"/>
              <a:t> </a:t>
            </a:r>
            <a:r>
              <a:rPr lang="nl-NL" sz="2200" dirty="0" err="1"/>
              <a:t>counterexamples</a:t>
            </a:r>
            <a:r>
              <a:rPr lang="nl-NL" sz="2200" dirty="0"/>
              <a:t> of different </a:t>
            </a:r>
            <a:r>
              <a:rPr lang="nl-NL" sz="2200" dirty="0" err="1"/>
              <a:t>concepts</a:t>
            </a:r>
            <a:r>
              <a:rPr lang="nl-NL" sz="2200" dirty="0"/>
              <a:t> </a:t>
            </a:r>
            <a:r>
              <a:rPr lang="nl-NL" sz="2200" dirty="0" err="1"/>
              <a:t>having</a:t>
            </a:r>
            <a:r>
              <a:rPr lang="nl-NL" sz="2200" dirty="0"/>
              <a:t> </a:t>
            </a:r>
            <a:r>
              <a:rPr lang="nl-NL" sz="2200" dirty="0" err="1"/>
              <a:t>the</a:t>
            </a:r>
            <a:r>
              <a:rPr lang="nl-NL" sz="2200" dirty="0"/>
              <a:t> </a:t>
            </a:r>
            <a:r>
              <a:rPr lang="nl-NL" sz="2200" dirty="0" err="1"/>
              <a:t>same</a:t>
            </a:r>
            <a:r>
              <a:rPr lang="nl-NL" sz="2200" dirty="0"/>
              <a:t> </a:t>
            </a:r>
            <a:r>
              <a:rPr lang="nl-NL" sz="2200" dirty="0" err="1"/>
              <a:t>reference</a:t>
            </a:r>
            <a:r>
              <a:rPr lang="nl-NL" sz="2200" dirty="0"/>
              <a:t> set have been </a:t>
            </a:r>
            <a:r>
              <a:rPr lang="nl-NL" sz="2200" dirty="0" err="1"/>
              <a:t>refuted</a:t>
            </a:r>
            <a:r>
              <a:rPr lang="nl-NL" sz="2200" dirty="0"/>
              <a:t> (Rutten 2021). The </a:t>
            </a:r>
            <a:r>
              <a:rPr lang="nl-NL" sz="2200" dirty="0" err="1"/>
              <a:t>core</a:t>
            </a:r>
            <a:r>
              <a:rPr lang="nl-NL" sz="2200" dirty="0"/>
              <a:t> </a:t>
            </a:r>
            <a:r>
              <a:rPr lang="nl-NL" sz="2200" dirty="0" err="1"/>
              <a:t>premise</a:t>
            </a:r>
            <a:r>
              <a:rPr lang="nl-NL" sz="2200" dirty="0"/>
              <a:t> of </a:t>
            </a:r>
            <a:r>
              <a:rPr lang="nl-NL" sz="2200" dirty="0" err="1"/>
              <a:t>the</a:t>
            </a:r>
            <a:r>
              <a:rPr lang="nl-NL" sz="2200" dirty="0"/>
              <a:t> </a:t>
            </a:r>
            <a:r>
              <a:rPr lang="nl-NL" sz="2200" dirty="0" err="1"/>
              <a:t>semantic</a:t>
            </a:r>
            <a:r>
              <a:rPr lang="nl-NL" sz="2200" dirty="0"/>
              <a:t> argument </a:t>
            </a:r>
            <a:r>
              <a:rPr lang="nl-NL" sz="2200" dirty="0" err="1"/>
              <a:t>thus</a:t>
            </a:r>
            <a:r>
              <a:rPr lang="nl-NL" sz="2200" dirty="0"/>
              <a:t> has a </a:t>
            </a:r>
            <a:r>
              <a:rPr lang="nl-NL" sz="2200" dirty="0" err="1"/>
              <a:t>relatively</a:t>
            </a:r>
            <a:r>
              <a:rPr lang="nl-NL" sz="2200" dirty="0"/>
              <a:t> </a:t>
            </a:r>
            <a:r>
              <a:rPr lang="nl-NL" sz="2200" i="1" dirty="0"/>
              <a:t>high </a:t>
            </a:r>
            <a:r>
              <a:rPr lang="nl-NL" sz="2200" i="1" dirty="0" err="1"/>
              <a:t>corroboration</a:t>
            </a:r>
            <a:r>
              <a:rPr lang="nl-NL" sz="2200" i="1" dirty="0"/>
              <a:t> </a:t>
            </a:r>
            <a:r>
              <a:rPr lang="nl-NL" sz="2200" i="1" dirty="0" err="1"/>
              <a:t>rate</a:t>
            </a:r>
            <a:r>
              <a:rPr lang="nl-NL" sz="2200" dirty="0"/>
              <a:t>.</a:t>
            </a:r>
          </a:p>
          <a:p>
            <a:endParaRPr lang="nl-NL" sz="2200" dirty="0"/>
          </a:p>
        </p:txBody>
      </p:sp>
    </p:spTree>
    <p:extLst>
      <p:ext uri="{BB962C8B-B14F-4D97-AF65-F5344CB8AC3E}">
        <p14:creationId xmlns:p14="http://schemas.microsoft.com/office/powerpoint/2010/main" val="231591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a:t>The </a:t>
            </a:r>
            <a:r>
              <a:rPr lang="nl-NL" sz="3600" dirty="0" err="1"/>
              <a:t>semantic</a:t>
            </a:r>
            <a:r>
              <a:rPr lang="nl-NL" sz="3600" dirty="0"/>
              <a:t> argument </a:t>
            </a:r>
            <a:r>
              <a:rPr lang="nl-NL" sz="3600" dirty="0" err="1"/>
              <a:t>stated</a:t>
            </a:r>
            <a:endParaRPr lang="nl-NL" sz="3600" dirty="0"/>
          </a:p>
        </p:txBody>
      </p:sp>
      <p:sp>
        <p:nvSpPr>
          <p:cNvPr id="6" name="Content Placeholder 2">
            <a:extLst>
              <a:ext uri="{FF2B5EF4-FFF2-40B4-BE49-F238E27FC236}">
                <a16:creationId xmlns:a16="http://schemas.microsoft.com/office/drawing/2014/main" id="{648C3847-35E3-1562-CFCA-0A7F93E4FCD8}"/>
              </a:ext>
            </a:extLst>
          </p:cNvPr>
          <p:cNvSpPr>
            <a:spLocks noGrp="1"/>
          </p:cNvSpPr>
          <p:nvPr>
            <p:ph idx="1"/>
          </p:nvPr>
        </p:nvSpPr>
        <p:spPr>
          <a:xfrm>
            <a:off x="107504" y="1312168"/>
            <a:ext cx="9036496" cy="532656"/>
          </a:xfrm>
        </p:spPr>
        <p:txBody>
          <a:bodyPr>
            <a:noAutofit/>
          </a:bodyPr>
          <a:lstStyle/>
          <a:p>
            <a:r>
              <a:rPr lang="nl-NL" sz="2000" dirty="0" err="1"/>
              <a:t>Suppose</a:t>
            </a:r>
            <a:r>
              <a:rPr lang="nl-NL" sz="2000" dirty="0"/>
              <a:t> </a:t>
            </a:r>
            <a:r>
              <a:rPr lang="nl-NL" sz="2000" dirty="0" err="1"/>
              <a:t>for</a:t>
            </a:r>
            <a:r>
              <a:rPr lang="nl-NL" sz="2000" dirty="0"/>
              <a:t> </a:t>
            </a:r>
            <a:r>
              <a:rPr lang="nl-NL" sz="2000" i="1" dirty="0"/>
              <a:t>reductio ad absurdum</a:t>
            </a:r>
            <a:r>
              <a:rPr lang="nl-NL" sz="2000" dirty="0"/>
              <a:t> </a:t>
            </a:r>
            <a:r>
              <a:rPr lang="nl-NL" sz="2000" dirty="0" err="1"/>
              <a:t>that</a:t>
            </a:r>
            <a:r>
              <a:rPr lang="nl-NL" sz="2000" dirty="0"/>
              <a:t> </a:t>
            </a:r>
            <a:r>
              <a:rPr lang="nl-NL" sz="2000" dirty="0" err="1"/>
              <a:t>there</a:t>
            </a:r>
            <a:r>
              <a:rPr lang="nl-NL" sz="2000" dirty="0"/>
              <a:t> is a non-</a:t>
            </a:r>
            <a:r>
              <a:rPr lang="nl-NL" sz="2000" dirty="0" err="1"/>
              <a:t>formal</a:t>
            </a:r>
            <a:r>
              <a:rPr lang="nl-NL" sz="2000" dirty="0"/>
              <a:t> </a:t>
            </a:r>
            <a:r>
              <a:rPr lang="nl-NL" sz="2000" dirty="0" err="1"/>
              <a:t>universal</a:t>
            </a:r>
            <a:r>
              <a:rPr lang="nl-NL" sz="2000" dirty="0"/>
              <a:t> property </a:t>
            </a:r>
            <a:r>
              <a:rPr lang="nl-NL" sz="2000" i="1" dirty="0"/>
              <a:t>p</a:t>
            </a:r>
            <a:r>
              <a:rPr lang="nl-NL" sz="2000" dirty="0"/>
              <a:t>.</a:t>
            </a:r>
          </a:p>
        </p:txBody>
      </p:sp>
      <p:sp>
        <p:nvSpPr>
          <p:cNvPr id="3" name="Content Placeholder 2">
            <a:extLst>
              <a:ext uri="{FF2B5EF4-FFF2-40B4-BE49-F238E27FC236}">
                <a16:creationId xmlns:a16="http://schemas.microsoft.com/office/drawing/2014/main" id="{A70275E2-F4EC-DCC2-90EC-4BADB2E915CE}"/>
              </a:ext>
            </a:extLst>
          </p:cNvPr>
          <p:cNvSpPr txBox="1">
            <a:spLocks/>
          </p:cNvSpPr>
          <p:nvPr/>
        </p:nvSpPr>
        <p:spPr>
          <a:xfrm>
            <a:off x="107504" y="188823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Let P </a:t>
            </a:r>
            <a:r>
              <a:rPr lang="nl-NL" sz="2000" dirty="0" err="1"/>
              <a:t>be</a:t>
            </a:r>
            <a:r>
              <a:rPr lang="nl-NL" sz="2000" dirty="0"/>
              <a:t> </a:t>
            </a:r>
            <a:r>
              <a:rPr lang="nl-NL" sz="2000" dirty="0" err="1"/>
              <a:t>the</a:t>
            </a:r>
            <a:r>
              <a:rPr lang="nl-NL" sz="2000" dirty="0"/>
              <a:t> concept </a:t>
            </a:r>
            <a:r>
              <a:rPr lang="nl-NL" sz="2000" dirty="0" err="1"/>
              <a:t>that</a:t>
            </a:r>
            <a:r>
              <a:rPr lang="nl-NL" sz="2000" dirty="0"/>
              <a:t> </a:t>
            </a:r>
            <a:r>
              <a:rPr lang="nl-NL" sz="2000" dirty="0" err="1"/>
              <a:t>corresponds</a:t>
            </a:r>
            <a:r>
              <a:rPr lang="nl-NL" sz="2000" dirty="0"/>
              <a:t> </a:t>
            </a:r>
            <a:r>
              <a:rPr lang="nl-NL" sz="2000" dirty="0" err="1"/>
              <a:t>to</a:t>
            </a:r>
            <a:r>
              <a:rPr lang="nl-NL" sz="2000" dirty="0"/>
              <a:t> </a:t>
            </a:r>
            <a:r>
              <a:rPr lang="nl-NL" sz="2000" i="1" dirty="0"/>
              <a:t>p</a:t>
            </a:r>
            <a:r>
              <a:rPr lang="nl-NL" sz="2000" dirty="0"/>
              <a:t>. </a:t>
            </a:r>
            <a:r>
              <a:rPr lang="nl-NL" sz="2000" dirty="0" err="1"/>
              <a:t>Since</a:t>
            </a:r>
            <a:r>
              <a:rPr lang="nl-NL" sz="2000" dirty="0"/>
              <a:t> </a:t>
            </a:r>
            <a:r>
              <a:rPr lang="nl-NL" sz="2000" i="1" dirty="0"/>
              <a:t>p </a:t>
            </a:r>
            <a:r>
              <a:rPr lang="nl-NL" sz="2000" dirty="0"/>
              <a:t>is </a:t>
            </a:r>
            <a:r>
              <a:rPr lang="nl-NL" sz="2000" dirty="0" err="1"/>
              <a:t>universal</a:t>
            </a:r>
            <a:r>
              <a:rPr lang="nl-NL" sz="2000" dirty="0"/>
              <a:t>, </a:t>
            </a:r>
            <a:r>
              <a:rPr lang="nl-NL" sz="2000" dirty="0" err="1"/>
              <a:t>the</a:t>
            </a:r>
            <a:r>
              <a:rPr lang="nl-NL" sz="2000" dirty="0"/>
              <a:t> </a:t>
            </a:r>
            <a:r>
              <a:rPr lang="nl-NL" sz="2000" dirty="0" err="1"/>
              <a:t>reference</a:t>
            </a:r>
            <a:r>
              <a:rPr lang="nl-NL" sz="2000" dirty="0"/>
              <a:t> of P is </a:t>
            </a:r>
            <a:r>
              <a:rPr lang="nl-NL" sz="2000" dirty="0" err="1"/>
              <a:t>everything</a:t>
            </a:r>
            <a:r>
              <a:rPr lang="nl-NL" sz="2000" dirty="0"/>
              <a:t> </a:t>
            </a:r>
            <a:r>
              <a:rPr lang="nl-NL" sz="2000" dirty="0" err="1"/>
              <a:t>that</a:t>
            </a:r>
            <a:r>
              <a:rPr lang="nl-NL" sz="2000" dirty="0"/>
              <a:t> </a:t>
            </a:r>
            <a:r>
              <a:rPr lang="nl-NL" sz="2000" dirty="0" err="1"/>
              <a:t>exists</a:t>
            </a:r>
            <a:r>
              <a:rPr lang="nl-NL" sz="2000" dirty="0"/>
              <a:t>. Concept P is </a:t>
            </a:r>
            <a:r>
              <a:rPr lang="nl-NL" sz="2000" dirty="0" err="1"/>
              <a:t>either</a:t>
            </a:r>
            <a:r>
              <a:rPr lang="nl-NL" sz="2000" dirty="0"/>
              <a:t> </a:t>
            </a:r>
            <a:r>
              <a:rPr lang="nl-NL" sz="2000" dirty="0" err="1"/>
              <a:t>simple</a:t>
            </a:r>
            <a:r>
              <a:rPr lang="nl-NL" sz="2000" dirty="0"/>
              <a:t> or complex. </a:t>
            </a:r>
          </a:p>
        </p:txBody>
      </p:sp>
      <p:sp>
        <p:nvSpPr>
          <p:cNvPr id="4" name="Content Placeholder 2">
            <a:extLst>
              <a:ext uri="{FF2B5EF4-FFF2-40B4-BE49-F238E27FC236}">
                <a16:creationId xmlns:a16="http://schemas.microsoft.com/office/drawing/2014/main" id="{59882005-8871-1902-DB20-FCBFC48F081B}"/>
              </a:ext>
            </a:extLst>
          </p:cNvPr>
          <p:cNvSpPr txBox="1">
            <a:spLocks/>
          </p:cNvSpPr>
          <p:nvPr/>
        </p:nvSpPr>
        <p:spPr>
          <a:xfrm>
            <a:off x="107504" y="275232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If</a:t>
            </a:r>
            <a:r>
              <a:rPr lang="nl-NL" sz="2000" dirty="0"/>
              <a:t> P is </a:t>
            </a:r>
            <a:r>
              <a:rPr lang="nl-NL" sz="2000" dirty="0" err="1"/>
              <a:t>simple</a:t>
            </a:r>
            <a:r>
              <a:rPr lang="nl-NL" sz="2000" dirty="0"/>
              <a:t>, </a:t>
            </a:r>
            <a:r>
              <a:rPr lang="nl-NL" sz="2000" dirty="0" err="1"/>
              <a:t>then</a:t>
            </a:r>
            <a:r>
              <a:rPr lang="nl-NL" sz="2000" dirty="0"/>
              <a:t> </a:t>
            </a:r>
            <a:r>
              <a:rPr lang="nl-NL" sz="2000" dirty="0" err="1"/>
              <a:t>the</a:t>
            </a:r>
            <a:r>
              <a:rPr lang="nl-NL" sz="2000" dirty="0"/>
              <a:t> </a:t>
            </a:r>
            <a:r>
              <a:rPr lang="nl-NL" sz="2000" dirty="0" err="1"/>
              <a:t>reference</a:t>
            </a:r>
            <a:r>
              <a:rPr lang="nl-NL" sz="2000" dirty="0"/>
              <a:t> set of P (</a:t>
            </a:r>
            <a:r>
              <a:rPr lang="nl-NL" sz="2000" dirty="0" err="1"/>
              <a:t>being</a:t>
            </a:r>
            <a:r>
              <a:rPr lang="nl-NL" sz="2000" dirty="0"/>
              <a:t> </a:t>
            </a:r>
            <a:r>
              <a:rPr lang="nl-NL" sz="2000" dirty="0" err="1"/>
              <a:t>the</a:t>
            </a:r>
            <a:r>
              <a:rPr lang="nl-NL" sz="2000" dirty="0"/>
              <a:t> </a:t>
            </a:r>
            <a:r>
              <a:rPr lang="nl-NL" sz="2000" dirty="0" err="1"/>
              <a:t>reference</a:t>
            </a:r>
            <a:r>
              <a:rPr lang="nl-NL" sz="2000" dirty="0"/>
              <a:t> of P) is </a:t>
            </a:r>
            <a:r>
              <a:rPr lang="nl-NL" sz="2000" dirty="0" err="1"/>
              <a:t>everything</a:t>
            </a:r>
            <a:r>
              <a:rPr lang="nl-NL" sz="2000" dirty="0"/>
              <a:t> </a:t>
            </a:r>
            <a:r>
              <a:rPr lang="nl-NL" sz="2000" dirty="0" err="1"/>
              <a:t>that</a:t>
            </a:r>
            <a:r>
              <a:rPr lang="nl-NL" sz="2000" dirty="0"/>
              <a:t> </a:t>
            </a:r>
            <a:r>
              <a:rPr lang="nl-NL" sz="2000" dirty="0" err="1"/>
              <a:t>exists</a:t>
            </a:r>
            <a:r>
              <a:rPr lang="nl-NL" sz="2000" dirty="0"/>
              <a:t>. </a:t>
            </a:r>
          </a:p>
        </p:txBody>
      </p:sp>
      <p:sp>
        <p:nvSpPr>
          <p:cNvPr id="5" name="Content Placeholder 2">
            <a:extLst>
              <a:ext uri="{FF2B5EF4-FFF2-40B4-BE49-F238E27FC236}">
                <a16:creationId xmlns:a16="http://schemas.microsoft.com/office/drawing/2014/main" id="{D6954882-1F6E-F40A-9401-3CE652AD1476}"/>
              </a:ext>
            </a:extLst>
          </p:cNvPr>
          <p:cNvSpPr txBox="1">
            <a:spLocks/>
          </p:cNvSpPr>
          <p:nvPr/>
        </p:nvSpPr>
        <p:spPr>
          <a:xfrm>
            <a:off x="72008" y="357301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The concept ‘Object’ is </a:t>
            </a:r>
            <a:r>
              <a:rPr lang="nl-NL" sz="2000" dirty="0" err="1"/>
              <a:t>simple</a:t>
            </a:r>
            <a:r>
              <a:rPr lang="nl-NL" sz="2000" dirty="0"/>
              <a:t>. The </a:t>
            </a:r>
            <a:r>
              <a:rPr lang="nl-NL" sz="2000" dirty="0" err="1"/>
              <a:t>reference</a:t>
            </a:r>
            <a:r>
              <a:rPr lang="nl-NL" sz="2000" dirty="0"/>
              <a:t> set of ‘Object’ (</a:t>
            </a:r>
            <a:r>
              <a:rPr lang="nl-NL" sz="2000" dirty="0" err="1"/>
              <a:t>being</a:t>
            </a:r>
            <a:r>
              <a:rPr lang="nl-NL" sz="2000" dirty="0"/>
              <a:t> </a:t>
            </a:r>
            <a:r>
              <a:rPr lang="nl-NL" sz="2000" dirty="0" err="1"/>
              <a:t>the</a:t>
            </a:r>
            <a:r>
              <a:rPr lang="nl-NL" sz="2000" dirty="0"/>
              <a:t> </a:t>
            </a:r>
            <a:r>
              <a:rPr lang="nl-NL" sz="2000" dirty="0" err="1"/>
              <a:t>reference</a:t>
            </a:r>
            <a:r>
              <a:rPr lang="nl-NL" sz="2000" dirty="0"/>
              <a:t> of ‘Object’) is </a:t>
            </a:r>
            <a:r>
              <a:rPr lang="nl-NL" sz="2000" dirty="0" err="1"/>
              <a:t>the</a:t>
            </a:r>
            <a:r>
              <a:rPr lang="nl-NL" sz="2000" dirty="0"/>
              <a:t> </a:t>
            </a:r>
            <a:r>
              <a:rPr lang="nl-NL" sz="2000" dirty="0" err="1"/>
              <a:t>collection</a:t>
            </a:r>
            <a:r>
              <a:rPr lang="nl-NL" sz="2000" dirty="0"/>
              <a:t> of </a:t>
            </a:r>
            <a:r>
              <a:rPr lang="nl-NL" sz="2000" dirty="0" err="1"/>
              <a:t>all</a:t>
            </a:r>
            <a:r>
              <a:rPr lang="nl-NL" sz="2000" dirty="0"/>
              <a:t> </a:t>
            </a:r>
            <a:r>
              <a:rPr lang="nl-NL" sz="2000" dirty="0" err="1"/>
              <a:t>objects</a:t>
            </a:r>
            <a:r>
              <a:rPr lang="nl-NL" sz="2000" dirty="0"/>
              <a:t>. </a:t>
            </a:r>
            <a:r>
              <a:rPr lang="nl-NL" sz="2000" dirty="0" err="1"/>
              <a:t>That</a:t>
            </a:r>
            <a:r>
              <a:rPr lang="nl-NL" sz="2000" dirty="0"/>
              <a:t> is </a:t>
            </a:r>
            <a:r>
              <a:rPr lang="nl-NL" sz="2000" dirty="0" err="1"/>
              <a:t>to</a:t>
            </a:r>
            <a:r>
              <a:rPr lang="nl-NL" sz="2000" dirty="0"/>
              <a:t> say, </a:t>
            </a:r>
            <a:r>
              <a:rPr lang="nl-NL" sz="2000" dirty="0" err="1"/>
              <a:t>it’s</a:t>
            </a:r>
            <a:r>
              <a:rPr lang="nl-NL" sz="2000" dirty="0"/>
              <a:t> </a:t>
            </a:r>
            <a:r>
              <a:rPr lang="nl-NL" sz="2000" dirty="0" err="1"/>
              <a:t>everything</a:t>
            </a:r>
            <a:r>
              <a:rPr lang="nl-NL" sz="2000" dirty="0"/>
              <a:t> </a:t>
            </a:r>
            <a:r>
              <a:rPr lang="nl-NL" sz="2000" dirty="0" err="1"/>
              <a:t>that</a:t>
            </a:r>
            <a:r>
              <a:rPr lang="nl-NL" sz="2000" dirty="0"/>
              <a:t> </a:t>
            </a:r>
            <a:r>
              <a:rPr lang="nl-NL" sz="2000" dirty="0" err="1"/>
              <a:t>exists</a:t>
            </a:r>
            <a:r>
              <a:rPr lang="nl-NL" sz="2000" dirty="0"/>
              <a:t>.</a:t>
            </a:r>
          </a:p>
        </p:txBody>
      </p:sp>
      <p:sp>
        <p:nvSpPr>
          <p:cNvPr id="8" name="Content Placeholder 2">
            <a:extLst>
              <a:ext uri="{FF2B5EF4-FFF2-40B4-BE49-F238E27FC236}">
                <a16:creationId xmlns:a16="http://schemas.microsoft.com/office/drawing/2014/main" id="{67E15713-3583-A897-CF8A-5A13045CA03D}"/>
              </a:ext>
            </a:extLst>
          </p:cNvPr>
          <p:cNvSpPr txBox="1">
            <a:spLocks/>
          </p:cNvSpPr>
          <p:nvPr/>
        </p:nvSpPr>
        <p:spPr>
          <a:xfrm>
            <a:off x="72008" y="443711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Since</a:t>
            </a:r>
            <a:r>
              <a:rPr lang="nl-NL" sz="2000" dirty="0"/>
              <a:t> P </a:t>
            </a:r>
            <a:r>
              <a:rPr lang="nl-NL" sz="2000" dirty="0" err="1"/>
              <a:t>and</a:t>
            </a:r>
            <a:r>
              <a:rPr lang="nl-NL" sz="2000" dirty="0"/>
              <a:t> ‘Object’ have </a:t>
            </a:r>
            <a:r>
              <a:rPr lang="nl-NL" sz="2000" dirty="0" err="1"/>
              <a:t>the</a:t>
            </a:r>
            <a:r>
              <a:rPr lang="nl-NL" sz="2000" dirty="0"/>
              <a:t> </a:t>
            </a:r>
            <a:r>
              <a:rPr lang="nl-NL" sz="2000" dirty="0" err="1"/>
              <a:t>same</a:t>
            </a:r>
            <a:r>
              <a:rPr lang="nl-NL" sz="2000" dirty="0"/>
              <a:t> </a:t>
            </a:r>
            <a:r>
              <a:rPr lang="nl-NL" sz="2000" dirty="0" err="1"/>
              <a:t>reference</a:t>
            </a:r>
            <a:r>
              <a:rPr lang="nl-NL" sz="2000" dirty="0"/>
              <a:t> set, P </a:t>
            </a:r>
            <a:r>
              <a:rPr lang="nl-NL" sz="2000" dirty="0" err="1"/>
              <a:t>and</a:t>
            </a:r>
            <a:r>
              <a:rPr lang="nl-NL" sz="2000" dirty="0"/>
              <a:t> ‘Object’ have </a:t>
            </a:r>
            <a:r>
              <a:rPr lang="nl-NL" sz="2000" dirty="0" err="1"/>
              <a:t>the</a:t>
            </a:r>
            <a:r>
              <a:rPr lang="nl-NL" sz="2000" dirty="0"/>
              <a:t> </a:t>
            </a:r>
            <a:r>
              <a:rPr lang="nl-NL" sz="2000" dirty="0" err="1"/>
              <a:t>same</a:t>
            </a:r>
            <a:r>
              <a:rPr lang="nl-NL" sz="2000" dirty="0"/>
              <a:t> </a:t>
            </a:r>
            <a:r>
              <a:rPr lang="nl-NL" sz="2000" dirty="0" err="1"/>
              <a:t>meaning</a:t>
            </a:r>
            <a:r>
              <a:rPr lang="nl-NL" sz="2000" dirty="0"/>
              <a:t>. P is </a:t>
            </a:r>
            <a:r>
              <a:rPr lang="nl-NL" sz="2000" dirty="0" err="1"/>
              <a:t>identical</a:t>
            </a:r>
            <a:r>
              <a:rPr lang="nl-NL" sz="2000" dirty="0"/>
              <a:t> </a:t>
            </a:r>
            <a:r>
              <a:rPr lang="nl-NL" sz="2000" dirty="0" err="1"/>
              <a:t>to</a:t>
            </a:r>
            <a:r>
              <a:rPr lang="nl-NL" sz="2000" dirty="0"/>
              <a:t> ‘Object’. But </a:t>
            </a:r>
            <a:r>
              <a:rPr lang="nl-NL" sz="2000" dirty="0" err="1"/>
              <a:t>then</a:t>
            </a:r>
            <a:r>
              <a:rPr lang="nl-NL" sz="2000" dirty="0"/>
              <a:t> </a:t>
            </a:r>
            <a:r>
              <a:rPr lang="nl-NL" sz="2000" i="1" dirty="0"/>
              <a:t>p</a:t>
            </a:r>
            <a:r>
              <a:rPr lang="nl-NL" sz="2000" dirty="0"/>
              <a:t> is </a:t>
            </a:r>
            <a:r>
              <a:rPr lang="nl-NL" sz="2000" dirty="0" err="1"/>
              <a:t>the</a:t>
            </a:r>
            <a:r>
              <a:rPr lang="nl-NL" sz="2000" dirty="0"/>
              <a:t> property of ‘</a:t>
            </a:r>
            <a:r>
              <a:rPr lang="nl-NL" sz="2000" dirty="0" err="1"/>
              <a:t>Being</a:t>
            </a:r>
            <a:r>
              <a:rPr lang="nl-NL" sz="2000" dirty="0"/>
              <a:t> </a:t>
            </a:r>
            <a:r>
              <a:rPr lang="nl-NL" sz="2000" dirty="0" err="1"/>
              <a:t>an</a:t>
            </a:r>
            <a:r>
              <a:rPr lang="nl-NL" sz="2000" dirty="0"/>
              <a:t> object’.</a:t>
            </a:r>
          </a:p>
        </p:txBody>
      </p:sp>
      <p:sp>
        <p:nvSpPr>
          <p:cNvPr id="9" name="Content Placeholder 2">
            <a:extLst>
              <a:ext uri="{FF2B5EF4-FFF2-40B4-BE49-F238E27FC236}">
                <a16:creationId xmlns:a16="http://schemas.microsoft.com/office/drawing/2014/main" id="{F1F25230-0415-2351-79BF-027DE435CC12}"/>
              </a:ext>
            </a:extLst>
          </p:cNvPr>
          <p:cNvSpPr txBox="1">
            <a:spLocks/>
          </p:cNvSpPr>
          <p:nvPr/>
        </p:nvSpPr>
        <p:spPr>
          <a:xfrm>
            <a:off x="72008" y="534461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Yet</a:t>
            </a:r>
            <a:r>
              <a:rPr lang="nl-NL" sz="2000" dirty="0"/>
              <a:t> </a:t>
            </a:r>
            <a:r>
              <a:rPr lang="nl-NL" sz="2000" i="1" dirty="0"/>
              <a:t>p </a:t>
            </a:r>
            <a:r>
              <a:rPr lang="nl-NL" sz="2000" dirty="0"/>
              <a:t>is </a:t>
            </a:r>
            <a:r>
              <a:rPr lang="nl-NL" sz="2000" dirty="0" err="1"/>
              <a:t>supposed</a:t>
            </a:r>
            <a:r>
              <a:rPr lang="nl-NL" sz="2000" dirty="0"/>
              <a:t> </a:t>
            </a:r>
            <a:r>
              <a:rPr lang="nl-NL" sz="2000" dirty="0" err="1"/>
              <a:t>to</a:t>
            </a:r>
            <a:r>
              <a:rPr lang="nl-NL" sz="2000" dirty="0"/>
              <a:t> </a:t>
            </a:r>
            <a:r>
              <a:rPr lang="nl-NL" sz="2000" dirty="0" err="1"/>
              <a:t>be</a:t>
            </a:r>
            <a:r>
              <a:rPr lang="nl-NL" sz="2000" dirty="0"/>
              <a:t> a </a:t>
            </a:r>
            <a:r>
              <a:rPr lang="nl-NL" sz="2000" i="1" dirty="0"/>
              <a:t>non-</a:t>
            </a:r>
            <a:r>
              <a:rPr lang="nl-NL" sz="2000" dirty="0" err="1"/>
              <a:t>formal</a:t>
            </a:r>
            <a:r>
              <a:rPr lang="nl-NL" sz="2000" dirty="0"/>
              <a:t> property. We </a:t>
            </a:r>
            <a:r>
              <a:rPr lang="nl-NL" sz="2000" dirty="0" err="1"/>
              <a:t>arrive</a:t>
            </a:r>
            <a:r>
              <a:rPr lang="nl-NL" sz="2000" dirty="0"/>
              <a:t> at a </a:t>
            </a:r>
            <a:r>
              <a:rPr lang="nl-NL" sz="2000" dirty="0" err="1"/>
              <a:t>contradiction</a:t>
            </a:r>
            <a:r>
              <a:rPr lang="nl-NL" sz="2000" dirty="0"/>
              <a:t>.</a:t>
            </a:r>
          </a:p>
        </p:txBody>
      </p:sp>
    </p:spTree>
    <p:extLst>
      <p:ext uri="{BB962C8B-B14F-4D97-AF65-F5344CB8AC3E}">
        <p14:creationId xmlns:p14="http://schemas.microsoft.com/office/powerpoint/2010/main" val="172019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a:t>The </a:t>
            </a:r>
            <a:r>
              <a:rPr lang="nl-NL" sz="3600" dirty="0" err="1"/>
              <a:t>semantic</a:t>
            </a:r>
            <a:r>
              <a:rPr lang="nl-NL" sz="3600" dirty="0"/>
              <a:t> argument </a:t>
            </a:r>
            <a:r>
              <a:rPr lang="nl-NL" sz="3600" dirty="0" err="1"/>
              <a:t>stated</a:t>
            </a:r>
            <a:r>
              <a:rPr lang="nl-NL" sz="3600" dirty="0"/>
              <a:t> (</a:t>
            </a:r>
            <a:r>
              <a:rPr lang="nl-NL" sz="3600" dirty="0" err="1"/>
              <a:t>cont</a:t>
            </a:r>
            <a:r>
              <a:rPr lang="nl-NL" sz="3600" dirty="0"/>
              <a:t>.)</a:t>
            </a:r>
          </a:p>
        </p:txBody>
      </p:sp>
      <p:sp>
        <p:nvSpPr>
          <p:cNvPr id="4" name="Content Placeholder 2">
            <a:extLst>
              <a:ext uri="{FF2B5EF4-FFF2-40B4-BE49-F238E27FC236}">
                <a16:creationId xmlns:a16="http://schemas.microsoft.com/office/drawing/2014/main" id="{59882005-8871-1902-DB20-FCBFC48F081B}"/>
              </a:ext>
            </a:extLst>
          </p:cNvPr>
          <p:cNvSpPr txBox="1">
            <a:spLocks/>
          </p:cNvSpPr>
          <p:nvPr/>
        </p:nvSpPr>
        <p:spPr>
          <a:xfrm>
            <a:off x="107504" y="131216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If</a:t>
            </a:r>
            <a:r>
              <a:rPr lang="nl-NL" sz="2000" dirty="0"/>
              <a:t> P is complex, </a:t>
            </a:r>
            <a:r>
              <a:rPr lang="nl-NL" sz="2000" dirty="0" err="1"/>
              <a:t>then</a:t>
            </a:r>
            <a:r>
              <a:rPr lang="nl-NL" sz="2000" dirty="0"/>
              <a:t> P is </a:t>
            </a:r>
            <a:r>
              <a:rPr lang="nl-NL" sz="2000" dirty="0" err="1"/>
              <a:t>the</a:t>
            </a:r>
            <a:r>
              <a:rPr lang="nl-NL" sz="2000" dirty="0"/>
              <a:t> </a:t>
            </a:r>
            <a:r>
              <a:rPr lang="nl-NL" sz="2000" dirty="0" err="1"/>
              <a:t>conjunction</a:t>
            </a:r>
            <a:r>
              <a:rPr lang="nl-NL" sz="2000" dirty="0"/>
              <a:t> of </a:t>
            </a:r>
            <a:r>
              <a:rPr lang="nl-NL" sz="2000" dirty="0" err="1"/>
              <a:t>two</a:t>
            </a:r>
            <a:r>
              <a:rPr lang="nl-NL" sz="2000" dirty="0"/>
              <a:t> or more </a:t>
            </a:r>
            <a:r>
              <a:rPr lang="nl-NL" sz="2000" dirty="0" err="1"/>
              <a:t>simple</a:t>
            </a:r>
            <a:r>
              <a:rPr lang="nl-NL" sz="2000" dirty="0"/>
              <a:t> </a:t>
            </a:r>
            <a:r>
              <a:rPr lang="nl-NL" sz="2000" dirty="0" err="1"/>
              <a:t>subconcepts</a:t>
            </a:r>
            <a:r>
              <a:rPr lang="nl-NL" sz="2000" dirty="0"/>
              <a:t>.</a:t>
            </a:r>
          </a:p>
        </p:txBody>
      </p:sp>
      <p:sp>
        <p:nvSpPr>
          <p:cNvPr id="5" name="Content Placeholder 2">
            <a:extLst>
              <a:ext uri="{FF2B5EF4-FFF2-40B4-BE49-F238E27FC236}">
                <a16:creationId xmlns:a16="http://schemas.microsoft.com/office/drawing/2014/main" id="{D6954882-1F6E-F40A-9401-3CE652AD1476}"/>
              </a:ext>
            </a:extLst>
          </p:cNvPr>
          <p:cNvSpPr txBox="1">
            <a:spLocks/>
          </p:cNvSpPr>
          <p:nvPr/>
        </p:nvSpPr>
        <p:spPr>
          <a:xfrm>
            <a:off x="72008" y="1844824"/>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Since</a:t>
            </a:r>
            <a:r>
              <a:rPr lang="nl-NL" sz="2000" dirty="0"/>
              <a:t> P </a:t>
            </a:r>
            <a:r>
              <a:rPr lang="nl-NL" sz="2000" dirty="0" err="1"/>
              <a:t>corresponds</a:t>
            </a:r>
            <a:r>
              <a:rPr lang="nl-NL" sz="2000" dirty="0"/>
              <a:t> </a:t>
            </a:r>
            <a:r>
              <a:rPr lang="nl-NL" sz="2000" dirty="0" err="1"/>
              <a:t>to</a:t>
            </a:r>
            <a:r>
              <a:rPr lang="nl-NL" sz="2000" dirty="0"/>
              <a:t> </a:t>
            </a:r>
            <a:r>
              <a:rPr lang="nl-NL" sz="2000" dirty="0" err="1"/>
              <a:t>universal</a:t>
            </a:r>
            <a:r>
              <a:rPr lang="nl-NL" sz="2000" dirty="0"/>
              <a:t> property </a:t>
            </a:r>
            <a:r>
              <a:rPr lang="nl-NL" sz="2000" i="1" dirty="0"/>
              <a:t>p</a:t>
            </a:r>
            <a:r>
              <a:rPr lang="nl-NL" sz="2000" dirty="0"/>
              <a:t>, </a:t>
            </a:r>
            <a:r>
              <a:rPr lang="nl-NL" sz="2000" dirty="0" err="1"/>
              <a:t>the</a:t>
            </a:r>
            <a:r>
              <a:rPr lang="nl-NL" sz="2000" dirty="0"/>
              <a:t> </a:t>
            </a:r>
            <a:r>
              <a:rPr lang="nl-NL" sz="2000" dirty="0" err="1"/>
              <a:t>reference</a:t>
            </a:r>
            <a:r>
              <a:rPr lang="nl-NL" sz="2000" dirty="0"/>
              <a:t> of P is </a:t>
            </a:r>
            <a:r>
              <a:rPr lang="nl-NL" sz="2000" dirty="0" err="1"/>
              <a:t>everything</a:t>
            </a:r>
            <a:r>
              <a:rPr lang="nl-NL" sz="2000" dirty="0"/>
              <a:t> </a:t>
            </a:r>
            <a:r>
              <a:rPr lang="nl-NL" sz="2000" dirty="0" err="1"/>
              <a:t>that</a:t>
            </a:r>
            <a:r>
              <a:rPr lang="nl-NL" sz="2000" dirty="0"/>
              <a:t> </a:t>
            </a:r>
            <a:r>
              <a:rPr lang="nl-NL" sz="2000" dirty="0" err="1"/>
              <a:t>exists</a:t>
            </a:r>
            <a:r>
              <a:rPr lang="nl-NL" sz="2000" dirty="0"/>
              <a:t>. But </a:t>
            </a:r>
            <a:r>
              <a:rPr lang="nl-NL" sz="2000" dirty="0" err="1"/>
              <a:t>then</a:t>
            </a:r>
            <a:r>
              <a:rPr lang="nl-NL" sz="2000" dirty="0"/>
              <a:t>, </a:t>
            </a:r>
            <a:r>
              <a:rPr lang="nl-NL" sz="2000" dirty="0" err="1"/>
              <a:t>since</a:t>
            </a:r>
            <a:r>
              <a:rPr lang="nl-NL" sz="2000" dirty="0"/>
              <a:t> P is a </a:t>
            </a:r>
            <a:r>
              <a:rPr lang="nl-NL" sz="2000" i="1" dirty="0" err="1"/>
              <a:t>conjunction</a:t>
            </a:r>
            <a:r>
              <a:rPr lang="nl-NL" sz="2000" dirty="0"/>
              <a:t> of </a:t>
            </a:r>
            <a:r>
              <a:rPr lang="nl-NL" sz="2000" dirty="0" err="1"/>
              <a:t>simple</a:t>
            </a:r>
            <a:r>
              <a:rPr lang="nl-NL" sz="2000" dirty="0"/>
              <a:t> </a:t>
            </a:r>
            <a:r>
              <a:rPr lang="nl-NL" sz="2000" dirty="0" err="1"/>
              <a:t>subconcepts</a:t>
            </a:r>
            <a:r>
              <a:rPr lang="nl-NL" sz="2000" dirty="0"/>
              <a:t>, </a:t>
            </a:r>
            <a:r>
              <a:rPr lang="nl-NL" sz="2000" dirty="0" err="1"/>
              <a:t>the</a:t>
            </a:r>
            <a:r>
              <a:rPr lang="nl-NL" sz="2000" dirty="0"/>
              <a:t> </a:t>
            </a:r>
            <a:r>
              <a:rPr lang="nl-NL" sz="2000" dirty="0" err="1"/>
              <a:t>reference</a:t>
            </a:r>
            <a:r>
              <a:rPr lang="nl-NL" sz="2000" dirty="0"/>
              <a:t> of </a:t>
            </a:r>
            <a:r>
              <a:rPr lang="nl-NL" sz="2000" dirty="0" err="1"/>
              <a:t>each</a:t>
            </a:r>
            <a:r>
              <a:rPr lang="nl-NL" sz="2000" dirty="0"/>
              <a:t> </a:t>
            </a:r>
            <a:r>
              <a:rPr lang="nl-NL" sz="2000" dirty="0" err="1"/>
              <a:t>simple</a:t>
            </a:r>
            <a:r>
              <a:rPr lang="nl-NL" sz="2000" dirty="0"/>
              <a:t> </a:t>
            </a:r>
            <a:r>
              <a:rPr lang="nl-NL" sz="2000" dirty="0" err="1"/>
              <a:t>subconcept</a:t>
            </a:r>
            <a:r>
              <a:rPr lang="nl-NL" sz="2000" dirty="0"/>
              <a:t> of P is </a:t>
            </a:r>
            <a:r>
              <a:rPr lang="nl-NL" sz="2000" dirty="0" err="1"/>
              <a:t>also</a:t>
            </a:r>
            <a:r>
              <a:rPr lang="nl-NL" sz="2000" dirty="0"/>
              <a:t> </a:t>
            </a:r>
            <a:r>
              <a:rPr lang="nl-NL" sz="2000" dirty="0" err="1"/>
              <a:t>everything</a:t>
            </a:r>
            <a:r>
              <a:rPr lang="nl-NL" sz="2000" dirty="0"/>
              <a:t> </a:t>
            </a:r>
            <a:r>
              <a:rPr lang="nl-NL" sz="2000" dirty="0" err="1"/>
              <a:t>that</a:t>
            </a:r>
            <a:r>
              <a:rPr lang="nl-NL" sz="2000" dirty="0"/>
              <a:t> </a:t>
            </a:r>
            <a:r>
              <a:rPr lang="nl-NL" sz="2000" dirty="0" err="1"/>
              <a:t>exists</a:t>
            </a:r>
            <a:r>
              <a:rPr lang="nl-NL" sz="2000" dirty="0"/>
              <a:t>.</a:t>
            </a:r>
          </a:p>
        </p:txBody>
      </p:sp>
      <p:sp>
        <p:nvSpPr>
          <p:cNvPr id="8" name="Content Placeholder 2">
            <a:extLst>
              <a:ext uri="{FF2B5EF4-FFF2-40B4-BE49-F238E27FC236}">
                <a16:creationId xmlns:a16="http://schemas.microsoft.com/office/drawing/2014/main" id="{67E15713-3583-A897-CF8A-5A13045CA03D}"/>
              </a:ext>
            </a:extLst>
          </p:cNvPr>
          <p:cNvSpPr txBox="1">
            <a:spLocks/>
          </p:cNvSpPr>
          <p:nvPr/>
        </p:nvSpPr>
        <p:spPr>
          <a:xfrm>
            <a:off x="72008" y="299695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The </a:t>
            </a:r>
            <a:r>
              <a:rPr lang="nl-NL" sz="2000" dirty="0" err="1"/>
              <a:t>reference</a:t>
            </a:r>
            <a:r>
              <a:rPr lang="nl-NL" sz="2000" dirty="0"/>
              <a:t> set of </a:t>
            </a:r>
            <a:r>
              <a:rPr lang="nl-NL" sz="2000" dirty="0" err="1"/>
              <a:t>each</a:t>
            </a:r>
            <a:r>
              <a:rPr lang="nl-NL" sz="2000" dirty="0"/>
              <a:t> </a:t>
            </a:r>
            <a:r>
              <a:rPr lang="nl-NL" sz="2000" dirty="0" err="1"/>
              <a:t>simple</a:t>
            </a:r>
            <a:r>
              <a:rPr lang="nl-NL" sz="2000" dirty="0"/>
              <a:t> </a:t>
            </a:r>
            <a:r>
              <a:rPr lang="nl-NL" sz="2000" dirty="0" err="1"/>
              <a:t>subconcept</a:t>
            </a:r>
            <a:r>
              <a:rPr lang="nl-NL" sz="2000" dirty="0"/>
              <a:t> of P (</a:t>
            </a:r>
            <a:r>
              <a:rPr lang="nl-NL" sz="2000" dirty="0" err="1"/>
              <a:t>being</a:t>
            </a:r>
            <a:r>
              <a:rPr lang="nl-NL" sz="2000" dirty="0"/>
              <a:t> </a:t>
            </a:r>
            <a:r>
              <a:rPr lang="nl-NL" sz="2000" dirty="0" err="1"/>
              <a:t>the</a:t>
            </a:r>
            <a:r>
              <a:rPr lang="nl-NL" sz="2000" dirty="0"/>
              <a:t> </a:t>
            </a:r>
            <a:r>
              <a:rPr lang="nl-NL" sz="2000" dirty="0" err="1"/>
              <a:t>reference</a:t>
            </a:r>
            <a:r>
              <a:rPr lang="nl-NL" sz="2000" dirty="0"/>
              <a:t> of </a:t>
            </a:r>
            <a:r>
              <a:rPr lang="nl-NL" sz="2000" dirty="0" err="1"/>
              <a:t>that</a:t>
            </a:r>
            <a:r>
              <a:rPr lang="nl-NL" sz="2000" dirty="0"/>
              <a:t> </a:t>
            </a:r>
            <a:r>
              <a:rPr lang="nl-NL" sz="2000" dirty="0" err="1"/>
              <a:t>subconcept</a:t>
            </a:r>
            <a:r>
              <a:rPr lang="nl-NL" sz="2000" dirty="0"/>
              <a:t>) is </a:t>
            </a:r>
            <a:r>
              <a:rPr lang="nl-NL" sz="2000" dirty="0" err="1"/>
              <a:t>also</a:t>
            </a:r>
            <a:r>
              <a:rPr lang="nl-NL" sz="2000" dirty="0"/>
              <a:t> </a:t>
            </a:r>
            <a:r>
              <a:rPr lang="nl-NL" sz="2000" dirty="0" err="1"/>
              <a:t>everything</a:t>
            </a:r>
            <a:r>
              <a:rPr lang="nl-NL" sz="2000" dirty="0"/>
              <a:t> </a:t>
            </a:r>
            <a:r>
              <a:rPr lang="nl-NL" sz="2000" dirty="0" err="1"/>
              <a:t>that</a:t>
            </a:r>
            <a:r>
              <a:rPr lang="nl-NL" sz="2000" dirty="0"/>
              <a:t> </a:t>
            </a:r>
            <a:r>
              <a:rPr lang="nl-NL" sz="2000" dirty="0" err="1"/>
              <a:t>exists</a:t>
            </a:r>
            <a:r>
              <a:rPr lang="nl-NL" sz="2000" dirty="0"/>
              <a:t>. </a:t>
            </a:r>
            <a:r>
              <a:rPr lang="nl-NL" sz="2000" dirty="0" err="1"/>
              <a:t>So</a:t>
            </a:r>
            <a:r>
              <a:rPr lang="nl-NL" sz="2000" dirty="0"/>
              <a:t>, </a:t>
            </a:r>
            <a:r>
              <a:rPr lang="nl-NL" sz="2000" dirty="0" err="1"/>
              <a:t>again</a:t>
            </a:r>
            <a:r>
              <a:rPr lang="nl-NL" sz="2000" dirty="0"/>
              <a:t>, </a:t>
            </a:r>
            <a:r>
              <a:rPr lang="nl-NL" sz="2000" dirty="0" err="1"/>
              <a:t>since</a:t>
            </a:r>
            <a:r>
              <a:rPr lang="nl-NL" sz="2000" dirty="0"/>
              <a:t> </a:t>
            </a:r>
            <a:r>
              <a:rPr lang="nl-NL" sz="2000" dirty="0" err="1"/>
              <a:t>the</a:t>
            </a:r>
            <a:r>
              <a:rPr lang="nl-NL" sz="2000" dirty="0"/>
              <a:t> </a:t>
            </a:r>
            <a:r>
              <a:rPr lang="nl-NL" sz="2000" dirty="0" err="1"/>
              <a:t>reference</a:t>
            </a:r>
            <a:r>
              <a:rPr lang="nl-NL" sz="2000" dirty="0"/>
              <a:t> set of ‘Object’ is </a:t>
            </a:r>
            <a:r>
              <a:rPr lang="nl-NL" sz="2000" dirty="0" err="1"/>
              <a:t>also</a:t>
            </a:r>
            <a:r>
              <a:rPr lang="nl-NL" sz="2000" dirty="0"/>
              <a:t> </a:t>
            </a:r>
            <a:r>
              <a:rPr lang="nl-NL" sz="2000" dirty="0" err="1"/>
              <a:t>everything</a:t>
            </a:r>
            <a:r>
              <a:rPr lang="nl-NL" sz="2000" dirty="0"/>
              <a:t> </a:t>
            </a:r>
            <a:r>
              <a:rPr lang="nl-NL" sz="2000" dirty="0" err="1"/>
              <a:t>that</a:t>
            </a:r>
            <a:r>
              <a:rPr lang="nl-NL" sz="2000" dirty="0"/>
              <a:t> </a:t>
            </a:r>
            <a:r>
              <a:rPr lang="nl-NL" sz="2000" dirty="0" err="1"/>
              <a:t>exists</a:t>
            </a:r>
            <a:r>
              <a:rPr lang="nl-NL" sz="2000" dirty="0"/>
              <a:t>, </a:t>
            </a:r>
            <a:r>
              <a:rPr lang="nl-NL" sz="2000" dirty="0" err="1"/>
              <a:t>it</a:t>
            </a:r>
            <a:r>
              <a:rPr lang="nl-NL" sz="2000" dirty="0"/>
              <a:t> </a:t>
            </a:r>
            <a:r>
              <a:rPr lang="nl-NL" sz="2000" dirty="0" err="1"/>
              <a:t>follows</a:t>
            </a:r>
            <a:r>
              <a:rPr lang="nl-NL" sz="2000" dirty="0"/>
              <a:t> </a:t>
            </a:r>
            <a:r>
              <a:rPr lang="nl-NL" sz="2000" dirty="0" err="1"/>
              <a:t>that</a:t>
            </a:r>
            <a:r>
              <a:rPr lang="nl-NL" sz="2000" dirty="0"/>
              <a:t> </a:t>
            </a:r>
            <a:r>
              <a:rPr lang="nl-NL" sz="2000" dirty="0" err="1"/>
              <a:t>each</a:t>
            </a:r>
            <a:r>
              <a:rPr lang="nl-NL" sz="2000" dirty="0"/>
              <a:t> </a:t>
            </a:r>
            <a:r>
              <a:rPr lang="nl-NL" sz="2000" dirty="0" err="1"/>
              <a:t>simple</a:t>
            </a:r>
            <a:r>
              <a:rPr lang="nl-NL" sz="2000" dirty="0"/>
              <a:t> </a:t>
            </a:r>
            <a:r>
              <a:rPr lang="nl-NL" sz="2000" dirty="0" err="1"/>
              <a:t>subconcept</a:t>
            </a:r>
            <a:r>
              <a:rPr lang="nl-NL" sz="2000" dirty="0"/>
              <a:t> of     P has </a:t>
            </a:r>
            <a:r>
              <a:rPr lang="nl-NL" sz="2000" dirty="0" err="1"/>
              <a:t>the</a:t>
            </a:r>
            <a:r>
              <a:rPr lang="nl-NL" sz="2000" dirty="0"/>
              <a:t> </a:t>
            </a:r>
            <a:r>
              <a:rPr lang="nl-NL" sz="2000" dirty="0" err="1"/>
              <a:t>same</a:t>
            </a:r>
            <a:r>
              <a:rPr lang="nl-NL" sz="2000" dirty="0"/>
              <a:t> </a:t>
            </a:r>
            <a:r>
              <a:rPr lang="nl-NL" sz="2000" dirty="0" err="1"/>
              <a:t>meaning</a:t>
            </a:r>
            <a:r>
              <a:rPr lang="nl-NL" sz="2000" dirty="0"/>
              <a:t> as ‘Object’ </a:t>
            </a:r>
            <a:r>
              <a:rPr lang="nl-NL" sz="2000" dirty="0" err="1"/>
              <a:t>and</a:t>
            </a:r>
            <a:r>
              <a:rPr lang="nl-NL" sz="2000" dirty="0"/>
              <a:t> is </a:t>
            </a:r>
            <a:r>
              <a:rPr lang="nl-NL" sz="2000" dirty="0" err="1"/>
              <a:t>therefore</a:t>
            </a:r>
            <a:r>
              <a:rPr lang="nl-NL" sz="2000" dirty="0"/>
              <a:t> </a:t>
            </a:r>
            <a:r>
              <a:rPr lang="nl-NL" sz="2000" dirty="0" err="1"/>
              <a:t>identical</a:t>
            </a:r>
            <a:r>
              <a:rPr lang="nl-NL" sz="2000" dirty="0"/>
              <a:t> </a:t>
            </a:r>
            <a:r>
              <a:rPr lang="nl-NL" sz="2000" dirty="0" err="1"/>
              <a:t>to</a:t>
            </a:r>
            <a:r>
              <a:rPr lang="nl-NL" sz="2000" dirty="0"/>
              <a:t> ‘Object’.</a:t>
            </a:r>
          </a:p>
        </p:txBody>
      </p:sp>
      <p:sp>
        <p:nvSpPr>
          <p:cNvPr id="9" name="Content Placeholder 2">
            <a:extLst>
              <a:ext uri="{FF2B5EF4-FFF2-40B4-BE49-F238E27FC236}">
                <a16:creationId xmlns:a16="http://schemas.microsoft.com/office/drawing/2014/main" id="{F1F25230-0415-2351-79BF-027DE435CC12}"/>
              </a:ext>
            </a:extLst>
          </p:cNvPr>
          <p:cNvSpPr txBox="1">
            <a:spLocks/>
          </p:cNvSpPr>
          <p:nvPr/>
        </p:nvSpPr>
        <p:spPr>
          <a:xfrm>
            <a:off x="72008" y="534461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Yet</a:t>
            </a:r>
            <a:r>
              <a:rPr lang="nl-NL" sz="2000" dirty="0"/>
              <a:t> </a:t>
            </a:r>
            <a:r>
              <a:rPr lang="nl-NL" sz="2000" i="1" dirty="0"/>
              <a:t>p </a:t>
            </a:r>
            <a:r>
              <a:rPr lang="nl-NL" sz="2000" dirty="0"/>
              <a:t>is </a:t>
            </a:r>
            <a:r>
              <a:rPr lang="nl-NL" sz="2000" dirty="0" err="1"/>
              <a:t>supposed</a:t>
            </a:r>
            <a:r>
              <a:rPr lang="nl-NL" sz="2000" dirty="0"/>
              <a:t> </a:t>
            </a:r>
            <a:r>
              <a:rPr lang="nl-NL" sz="2000" dirty="0" err="1"/>
              <a:t>to</a:t>
            </a:r>
            <a:r>
              <a:rPr lang="nl-NL" sz="2000" dirty="0"/>
              <a:t> </a:t>
            </a:r>
            <a:r>
              <a:rPr lang="nl-NL" sz="2000" dirty="0" err="1"/>
              <a:t>be</a:t>
            </a:r>
            <a:r>
              <a:rPr lang="nl-NL" sz="2000" dirty="0"/>
              <a:t> a </a:t>
            </a:r>
            <a:r>
              <a:rPr lang="nl-NL" sz="2000" i="1" dirty="0"/>
              <a:t>non-</a:t>
            </a:r>
            <a:r>
              <a:rPr lang="nl-NL" sz="2000" dirty="0" err="1"/>
              <a:t>formal</a:t>
            </a:r>
            <a:r>
              <a:rPr lang="nl-NL" sz="2000" dirty="0"/>
              <a:t> property. We </a:t>
            </a:r>
            <a:r>
              <a:rPr lang="nl-NL" sz="2000" dirty="0" err="1"/>
              <a:t>arrive</a:t>
            </a:r>
            <a:r>
              <a:rPr lang="nl-NL" sz="2000" dirty="0"/>
              <a:t> </a:t>
            </a:r>
            <a:r>
              <a:rPr lang="nl-NL" sz="2000" dirty="0" err="1"/>
              <a:t>again</a:t>
            </a:r>
            <a:r>
              <a:rPr lang="nl-NL" sz="2000" dirty="0"/>
              <a:t> at a </a:t>
            </a:r>
            <a:r>
              <a:rPr lang="nl-NL" sz="2000" dirty="0" err="1"/>
              <a:t>contradiction</a:t>
            </a:r>
            <a:r>
              <a:rPr lang="nl-NL" sz="2000" dirty="0"/>
              <a:t>.</a:t>
            </a:r>
          </a:p>
        </p:txBody>
      </p:sp>
      <p:sp>
        <p:nvSpPr>
          <p:cNvPr id="11" name="Content Placeholder 2">
            <a:extLst>
              <a:ext uri="{FF2B5EF4-FFF2-40B4-BE49-F238E27FC236}">
                <a16:creationId xmlns:a16="http://schemas.microsoft.com/office/drawing/2014/main" id="{E145FCBA-20F5-E76A-D436-063D87959429}"/>
              </a:ext>
            </a:extLst>
          </p:cNvPr>
          <p:cNvSpPr txBox="1">
            <a:spLocks/>
          </p:cNvSpPr>
          <p:nvPr/>
        </p:nvSpPr>
        <p:spPr>
          <a:xfrm>
            <a:off x="35496" y="443711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But </a:t>
            </a:r>
            <a:r>
              <a:rPr lang="nl-NL" sz="2000" dirty="0" err="1"/>
              <a:t>then</a:t>
            </a:r>
            <a:r>
              <a:rPr lang="nl-NL" sz="2000" dirty="0"/>
              <a:t> P is </a:t>
            </a:r>
            <a:r>
              <a:rPr lang="nl-NL" sz="2000" dirty="0" err="1"/>
              <a:t>the</a:t>
            </a:r>
            <a:r>
              <a:rPr lang="nl-NL" sz="2000" dirty="0"/>
              <a:t> </a:t>
            </a:r>
            <a:r>
              <a:rPr lang="nl-NL" sz="2000" dirty="0" err="1"/>
              <a:t>conjunction</a:t>
            </a:r>
            <a:r>
              <a:rPr lang="nl-NL" sz="2000" dirty="0"/>
              <a:t> of </a:t>
            </a:r>
            <a:r>
              <a:rPr lang="nl-NL" sz="2000" dirty="0" err="1"/>
              <a:t>two</a:t>
            </a:r>
            <a:r>
              <a:rPr lang="nl-NL" sz="2000" dirty="0"/>
              <a:t> or more </a:t>
            </a:r>
            <a:r>
              <a:rPr lang="nl-NL" sz="2000" dirty="0" err="1"/>
              <a:t>concepts</a:t>
            </a:r>
            <a:r>
              <a:rPr lang="nl-NL" sz="2000" dirty="0"/>
              <a:t> </a:t>
            </a:r>
            <a:r>
              <a:rPr lang="nl-NL" sz="2000" dirty="0" err="1"/>
              <a:t>that</a:t>
            </a:r>
            <a:r>
              <a:rPr lang="nl-NL" sz="2000" dirty="0"/>
              <a:t> are </a:t>
            </a:r>
            <a:r>
              <a:rPr lang="nl-NL" sz="2000" dirty="0" err="1"/>
              <a:t>all</a:t>
            </a:r>
            <a:r>
              <a:rPr lang="nl-NL" sz="2000" dirty="0"/>
              <a:t> </a:t>
            </a:r>
            <a:r>
              <a:rPr lang="nl-NL" sz="2000" dirty="0" err="1"/>
              <a:t>identical</a:t>
            </a:r>
            <a:r>
              <a:rPr lang="nl-NL" sz="2000" dirty="0"/>
              <a:t> </a:t>
            </a:r>
            <a:r>
              <a:rPr lang="nl-NL" sz="2000" dirty="0" err="1"/>
              <a:t>to</a:t>
            </a:r>
            <a:r>
              <a:rPr lang="nl-NL" sz="2000" dirty="0"/>
              <a:t> ‘Object’. </a:t>
            </a:r>
            <a:r>
              <a:rPr lang="nl-NL" sz="2000" dirty="0" err="1"/>
              <a:t>Hence</a:t>
            </a:r>
            <a:r>
              <a:rPr lang="nl-NL" sz="2000" dirty="0"/>
              <a:t> P is </a:t>
            </a:r>
            <a:r>
              <a:rPr lang="nl-NL" sz="2000" dirty="0" err="1"/>
              <a:t>identical</a:t>
            </a:r>
            <a:r>
              <a:rPr lang="nl-NL" sz="2000" dirty="0"/>
              <a:t> </a:t>
            </a:r>
            <a:r>
              <a:rPr lang="nl-NL" sz="2000" dirty="0" err="1"/>
              <a:t>to</a:t>
            </a:r>
            <a:r>
              <a:rPr lang="nl-NL" sz="2000" dirty="0"/>
              <a:t> ‘Object’ </a:t>
            </a:r>
            <a:r>
              <a:rPr lang="nl-NL" sz="2000" dirty="0" err="1"/>
              <a:t>and</a:t>
            </a:r>
            <a:r>
              <a:rPr lang="nl-NL" sz="2000" dirty="0"/>
              <a:t> </a:t>
            </a:r>
            <a:r>
              <a:rPr lang="nl-NL" sz="2000" i="1" dirty="0"/>
              <a:t>p</a:t>
            </a:r>
            <a:r>
              <a:rPr lang="nl-NL" sz="2000" dirty="0"/>
              <a:t> is </a:t>
            </a:r>
            <a:r>
              <a:rPr lang="nl-NL" sz="2000" dirty="0" err="1"/>
              <a:t>the</a:t>
            </a:r>
            <a:r>
              <a:rPr lang="nl-NL" sz="2000" dirty="0"/>
              <a:t> property of ‘</a:t>
            </a:r>
            <a:r>
              <a:rPr lang="nl-NL" sz="2000" dirty="0" err="1"/>
              <a:t>Being</a:t>
            </a:r>
            <a:r>
              <a:rPr lang="nl-NL" sz="2000" dirty="0"/>
              <a:t> </a:t>
            </a:r>
            <a:r>
              <a:rPr lang="nl-NL" sz="2000" dirty="0" err="1"/>
              <a:t>an</a:t>
            </a:r>
            <a:r>
              <a:rPr lang="nl-NL" sz="2000" dirty="0"/>
              <a:t> object’. </a:t>
            </a:r>
          </a:p>
        </p:txBody>
      </p:sp>
      <p:sp>
        <p:nvSpPr>
          <p:cNvPr id="13" name="Content Placeholder 2">
            <a:extLst>
              <a:ext uri="{FF2B5EF4-FFF2-40B4-BE49-F238E27FC236}">
                <a16:creationId xmlns:a16="http://schemas.microsoft.com/office/drawing/2014/main" id="{8AA71A91-08D4-B627-873C-B636BBD1604C}"/>
              </a:ext>
            </a:extLst>
          </p:cNvPr>
          <p:cNvSpPr txBox="1">
            <a:spLocks/>
          </p:cNvSpPr>
          <p:nvPr/>
        </p:nvSpPr>
        <p:spPr>
          <a:xfrm>
            <a:off x="72008" y="594928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We </a:t>
            </a:r>
            <a:r>
              <a:rPr lang="nl-NL" sz="2000" dirty="0" err="1"/>
              <a:t>thus</a:t>
            </a:r>
            <a:r>
              <a:rPr lang="nl-NL" sz="2000" dirty="0"/>
              <a:t> </a:t>
            </a:r>
            <a:r>
              <a:rPr lang="nl-NL" sz="2000" dirty="0" err="1"/>
              <a:t>obtain</a:t>
            </a:r>
            <a:r>
              <a:rPr lang="nl-NL" sz="2000" dirty="0"/>
              <a:t> </a:t>
            </a:r>
            <a:r>
              <a:rPr lang="nl-NL" sz="2000" dirty="0" err="1"/>
              <a:t>the</a:t>
            </a:r>
            <a:r>
              <a:rPr lang="nl-NL" sz="2000" dirty="0"/>
              <a:t> </a:t>
            </a:r>
            <a:r>
              <a:rPr lang="nl-NL" sz="2000" i="1" dirty="0" err="1"/>
              <a:t>conclusion</a:t>
            </a:r>
            <a:r>
              <a:rPr lang="nl-NL" sz="2000" dirty="0"/>
              <a:t> </a:t>
            </a:r>
            <a:r>
              <a:rPr lang="nl-NL" sz="2000" dirty="0" err="1"/>
              <a:t>that</a:t>
            </a:r>
            <a:r>
              <a:rPr lang="nl-NL" sz="2000" dirty="0"/>
              <a:t> </a:t>
            </a:r>
            <a:r>
              <a:rPr lang="nl-NL" sz="2000" dirty="0" err="1"/>
              <a:t>there</a:t>
            </a:r>
            <a:r>
              <a:rPr lang="nl-NL" sz="2000" dirty="0"/>
              <a:t> are no non-</a:t>
            </a:r>
            <a:r>
              <a:rPr lang="nl-NL" sz="2000" dirty="0" err="1"/>
              <a:t>formal</a:t>
            </a:r>
            <a:r>
              <a:rPr lang="nl-NL" sz="2000" dirty="0"/>
              <a:t> </a:t>
            </a:r>
            <a:r>
              <a:rPr lang="nl-NL" sz="2000" dirty="0" err="1"/>
              <a:t>universal</a:t>
            </a:r>
            <a:r>
              <a:rPr lang="nl-NL" sz="2000" dirty="0"/>
              <a:t> </a:t>
            </a:r>
            <a:r>
              <a:rPr lang="nl-NL" sz="2000" dirty="0" err="1"/>
              <a:t>properties</a:t>
            </a:r>
            <a:r>
              <a:rPr lang="nl-NL" sz="2000" dirty="0"/>
              <a:t>.</a:t>
            </a:r>
            <a:endParaRPr lang="nl-NL" sz="2000" i="1" dirty="0"/>
          </a:p>
        </p:txBody>
      </p:sp>
    </p:spTree>
    <p:extLst>
      <p:ext uri="{BB962C8B-B14F-4D97-AF65-F5344CB8AC3E}">
        <p14:creationId xmlns:p14="http://schemas.microsoft.com/office/powerpoint/2010/main" val="265038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a:t>The </a:t>
            </a:r>
            <a:r>
              <a:rPr lang="nl-NL" sz="3600" dirty="0" err="1"/>
              <a:t>weight</a:t>
            </a:r>
            <a:r>
              <a:rPr lang="nl-NL" sz="3600" dirty="0"/>
              <a:t> of </a:t>
            </a:r>
            <a:r>
              <a:rPr lang="nl-NL" sz="3600" dirty="0" err="1"/>
              <a:t>tradition</a:t>
            </a:r>
            <a:r>
              <a:rPr lang="nl-NL" sz="3600" dirty="0"/>
              <a:t>: </a:t>
            </a:r>
            <a:r>
              <a:rPr lang="nl-NL" sz="3600" dirty="0" err="1"/>
              <a:t>there</a:t>
            </a:r>
            <a:r>
              <a:rPr lang="nl-NL" sz="3600" dirty="0"/>
              <a:t> are no </a:t>
            </a:r>
            <a:r>
              <a:rPr lang="nl-NL" sz="3600" dirty="0" err="1"/>
              <a:t>universal</a:t>
            </a:r>
            <a:r>
              <a:rPr lang="nl-NL" sz="3600" dirty="0"/>
              <a:t> </a:t>
            </a:r>
            <a:r>
              <a:rPr lang="nl-NL" sz="3600" dirty="0" err="1"/>
              <a:t>properties</a:t>
            </a:r>
            <a:r>
              <a:rPr lang="nl-NL" sz="3600" dirty="0"/>
              <a:t> </a:t>
            </a:r>
            <a:r>
              <a:rPr lang="nl-NL" sz="3600" dirty="0" err="1"/>
              <a:t>if</a:t>
            </a:r>
            <a:r>
              <a:rPr lang="nl-NL" sz="3600" dirty="0"/>
              <a:t> </a:t>
            </a:r>
            <a:r>
              <a:rPr lang="nl-NL" sz="3600" dirty="0" err="1"/>
              <a:t>reality</a:t>
            </a:r>
            <a:r>
              <a:rPr lang="nl-NL" sz="3600" dirty="0"/>
              <a:t> is </a:t>
            </a:r>
            <a:r>
              <a:rPr lang="nl-NL" sz="3600" dirty="0" err="1"/>
              <a:t>grounded</a:t>
            </a:r>
            <a:r>
              <a:rPr lang="nl-NL" sz="3600" dirty="0"/>
              <a:t> in </a:t>
            </a:r>
            <a:r>
              <a:rPr lang="nl-NL" sz="3600" dirty="0" err="1"/>
              <a:t>opposites</a:t>
            </a:r>
            <a:endParaRPr lang="nl-NL" sz="3600" dirty="0"/>
          </a:p>
        </p:txBody>
      </p:sp>
      <p:sp>
        <p:nvSpPr>
          <p:cNvPr id="4" name="Content Placeholder 2">
            <a:extLst>
              <a:ext uri="{FF2B5EF4-FFF2-40B4-BE49-F238E27FC236}">
                <a16:creationId xmlns:a16="http://schemas.microsoft.com/office/drawing/2014/main" id="{59882005-8871-1902-DB20-FCBFC48F081B}"/>
              </a:ext>
            </a:extLst>
          </p:cNvPr>
          <p:cNvSpPr txBox="1">
            <a:spLocks/>
          </p:cNvSpPr>
          <p:nvPr/>
        </p:nvSpPr>
        <p:spPr>
          <a:xfrm>
            <a:off x="35496" y="157160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Throughout history, philosophers from various traditions have affirmed that   reality is grounded in opposites. But then there are no universal properties.</a:t>
            </a:r>
            <a:endParaRPr lang="nl-NL" sz="2000" dirty="0"/>
          </a:p>
        </p:txBody>
      </p:sp>
      <p:sp>
        <p:nvSpPr>
          <p:cNvPr id="3" name="Content Placeholder 2">
            <a:extLst>
              <a:ext uri="{FF2B5EF4-FFF2-40B4-BE49-F238E27FC236}">
                <a16:creationId xmlns:a16="http://schemas.microsoft.com/office/drawing/2014/main" id="{7399D928-E341-1B31-7D75-5A3688C5ACD6}"/>
              </a:ext>
            </a:extLst>
          </p:cNvPr>
          <p:cNvSpPr txBox="1">
            <a:spLocks/>
          </p:cNvSpPr>
          <p:nvPr/>
        </p:nvSpPr>
        <p:spPr>
          <a:xfrm>
            <a:off x="35496" y="232028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Heraclitus teaches that nature is a harmony or unity of opposites. For everything that exists, its opposite also exists.</a:t>
            </a:r>
            <a:endParaRPr lang="nl-NL" sz="2000" dirty="0"/>
          </a:p>
        </p:txBody>
      </p:sp>
      <p:sp>
        <p:nvSpPr>
          <p:cNvPr id="6" name="Content Placeholder 2">
            <a:extLst>
              <a:ext uri="{FF2B5EF4-FFF2-40B4-BE49-F238E27FC236}">
                <a16:creationId xmlns:a16="http://schemas.microsoft.com/office/drawing/2014/main" id="{C597A081-1031-1AEE-D9F7-9979364B4439}"/>
              </a:ext>
            </a:extLst>
          </p:cNvPr>
          <p:cNvSpPr txBox="1">
            <a:spLocks/>
          </p:cNvSpPr>
          <p:nvPr/>
        </p:nvSpPr>
        <p:spPr>
          <a:xfrm>
            <a:off x="35496" y="304036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Aristotle affirms in his </a:t>
            </a:r>
            <a:r>
              <a:rPr lang="en-US" sz="2000" i="1" dirty="0"/>
              <a:t>On the Cosmos</a:t>
            </a:r>
            <a:r>
              <a:rPr lang="en-US" sz="2000" dirty="0"/>
              <a:t> that nature loves opposites. And in his </a:t>
            </a:r>
            <a:r>
              <a:rPr lang="en-US" sz="2000" i="1" dirty="0"/>
              <a:t>Rhetoric</a:t>
            </a:r>
            <a:r>
              <a:rPr lang="en-US" sz="2000" dirty="0"/>
              <a:t> he asserts that if something is possible, its opposite is also possible. </a:t>
            </a:r>
            <a:endParaRPr lang="nl-NL" sz="2000" dirty="0"/>
          </a:p>
        </p:txBody>
      </p:sp>
      <p:sp>
        <p:nvSpPr>
          <p:cNvPr id="7" name="Content Placeholder 2">
            <a:extLst>
              <a:ext uri="{FF2B5EF4-FFF2-40B4-BE49-F238E27FC236}">
                <a16:creationId xmlns:a16="http://schemas.microsoft.com/office/drawing/2014/main" id="{635DD617-3850-9A8B-BB52-3FAE70DB56C6}"/>
              </a:ext>
            </a:extLst>
          </p:cNvPr>
          <p:cNvSpPr txBox="1">
            <a:spLocks/>
          </p:cNvSpPr>
          <p:nvPr/>
        </p:nvSpPr>
        <p:spPr>
          <a:xfrm>
            <a:off x="0" y="3976464"/>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10" name="Content Placeholder 2">
            <a:extLst>
              <a:ext uri="{FF2B5EF4-FFF2-40B4-BE49-F238E27FC236}">
                <a16:creationId xmlns:a16="http://schemas.microsoft.com/office/drawing/2014/main" id="{B9F7EF4A-EBDE-9D1A-61B5-61D74517054A}"/>
              </a:ext>
            </a:extLst>
          </p:cNvPr>
          <p:cNvSpPr txBox="1">
            <a:spLocks/>
          </p:cNvSpPr>
          <p:nvPr/>
        </p:nvSpPr>
        <p:spPr>
          <a:xfrm>
            <a:off x="35496" y="383244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Cicero argues in his </a:t>
            </a:r>
            <a:r>
              <a:rPr lang="en-US" sz="2000" i="1" dirty="0"/>
              <a:t>On the Nature of the Gods</a:t>
            </a:r>
            <a:r>
              <a:rPr lang="en-US" sz="2000" dirty="0"/>
              <a:t> that nature is constructed in such a way that everything has its opposite. Cicero notes that this was also the view of Epicurus, who called it the principle of </a:t>
            </a:r>
            <a:r>
              <a:rPr lang="en-US" sz="2000" i="1" dirty="0" err="1"/>
              <a:t>isonomia</a:t>
            </a:r>
            <a:r>
              <a:rPr lang="en-US" sz="2000" dirty="0"/>
              <a:t> or equal distribution.</a:t>
            </a:r>
          </a:p>
          <a:p>
            <a:endParaRPr lang="nl-NL" sz="2000" dirty="0"/>
          </a:p>
        </p:txBody>
      </p:sp>
      <p:sp>
        <p:nvSpPr>
          <p:cNvPr id="12" name="Content Placeholder 2">
            <a:extLst>
              <a:ext uri="{FF2B5EF4-FFF2-40B4-BE49-F238E27FC236}">
                <a16:creationId xmlns:a16="http://schemas.microsoft.com/office/drawing/2014/main" id="{A757A1C7-4FB9-317F-08DB-FE84DB42DBA7}"/>
              </a:ext>
            </a:extLst>
          </p:cNvPr>
          <p:cNvSpPr txBox="1">
            <a:spLocks/>
          </p:cNvSpPr>
          <p:nvPr/>
        </p:nvSpPr>
        <p:spPr>
          <a:xfrm>
            <a:off x="35496" y="494116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Spinoza asserts </a:t>
            </a:r>
            <a:r>
              <a:rPr lang="en-US" sz="2000" i="1" dirty="0" err="1"/>
              <a:t>Determinatio</a:t>
            </a:r>
            <a:r>
              <a:rPr lang="en-US" sz="2000" i="1" dirty="0"/>
              <a:t> </a:t>
            </a:r>
            <a:r>
              <a:rPr lang="en-US" sz="2000" i="1" dirty="0" err="1"/>
              <a:t>negatio</a:t>
            </a:r>
            <a:r>
              <a:rPr lang="en-US" sz="2000" i="1" dirty="0"/>
              <a:t> est</a:t>
            </a:r>
            <a:r>
              <a:rPr lang="en-US" sz="2000" dirty="0"/>
              <a:t>. Determination is negation. To exist, to be determined, is to negate. For something to exist, its opposite must also exist.</a:t>
            </a:r>
            <a:endParaRPr lang="nl-NL" sz="2000" dirty="0"/>
          </a:p>
        </p:txBody>
      </p:sp>
      <p:sp>
        <p:nvSpPr>
          <p:cNvPr id="14" name="Content Placeholder 2">
            <a:extLst>
              <a:ext uri="{FF2B5EF4-FFF2-40B4-BE49-F238E27FC236}">
                <a16:creationId xmlns:a16="http://schemas.microsoft.com/office/drawing/2014/main" id="{8AEBCFEB-6DB8-0CBD-AEA7-12A4BD409371}"/>
              </a:ext>
            </a:extLst>
          </p:cNvPr>
          <p:cNvSpPr txBox="1">
            <a:spLocks/>
          </p:cNvSpPr>
          <p:nvPr/>
        </p:nvSpPr>
        <p:spPr>
          <a:xfrm>
            <a:off x="72008" y="620871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Many speculative postmodernists hold that reality is grounded in </a:t>
            </a:r>
            <a:r>
              <a:rPr lang="en-US" sz="2000" i="1" dirty="0"/>
              <a:t>differences</a:t>
            </a:r>
            <a:r>
              <a:rPr lang="en-US" sz="2000" dirty="0"/>
              <a:t>.</a:t>
            </a:r>
          </a:p>
          <a:p>
            <a:endParaRPr lang="nl-NL" sz="2000" dirty="0"/>
          </a:p>
        </p:txBody>
      </p:sp>
      <p:sp>
        <p:nvSpPr>
          <p:cNvPr id="5" name="Content Placeholder 2">
            <a:extLst>
              <a:ext uri="{FF2B5EF4-FFF2-40B4-BE49-F238E27FC236}">
                <a16:creationId xmlns:a16="http://schemas.microsoft.com/office/drawing/2014/main" id="{5A67F606-921F-B783-4D01-250B8B493D7D}"/>
              </a:ext>
            </a:extLst>
          </p:cNvPr>
          <p:cNvSpPr txBox="1">
            <a:spLocks/>
          </p:cNvSpPr>
          <p:nvPr/>
        </p:nvSpPr>
        <p:spPr>
          <a:xfrm>
            <a:off x="72008" y="570465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In his dialectics Hegel affirms the principle that reality unfolds through opposites.</a:t>
            </a:r>
            <a:endParaRPr lang="nl-NL" sz="2000" dirty="0"/>
          </a:p>
        </p:txBody>
      </p:sp>
    </p:spTree>
    <p:extLst>
      <p:ext uri="{BB962C8B-B14F-4D97-AF65-F5344CB8AC3E}">
        <p14:creationId xmlns:p14="http://schemas.microsoft.com/office/powerpoint/2010/main" val="38391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 grpId="0"/>
      <p:bldP spid="12" grpId="0"/>
      <p:bldP spid="1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92" y="-18256"/>
            <a:ext cx="8965504" cy="1143000"/>
          </a:xfrm>
        </p:spPr>
        <p:txBody>
          <a:bodyPr>
            <a:normAutofit fontScale="90000"/>
          </a:bodyPr>
          <a:lstStyle/>
          <a:p>
            <a:r>
              <a:rPr lang="nl-NL" sz="3600" dirty="0" err="1"/>
              <a:t>Implications</a:t>
            </a:r>
            <a:r>
              <a:rPr lang="nl-NL" sz="3600" dirty="0"/>
              <a:t> of </a:t>
            </a:r>
            <a:r>
              <a:rPr lang="nl-NL" sz="3600" dirty="0" err="1"/>
              <a:t>there</a:t>
            </a:r>
            <a:r>
              <a:rPr lang="nl-NL" sz="3600" dirty="0"/>
              <a:t> </a:t>
            </a:r>
            <a:r>
              <a:rPr lang="nl-NL" sz="3600" dirty="0" err="1"/>
              <a:t>being</a:t>
            </a:r>
            <a:r>
              <a:rPr lang="nl-NL" sz="3600" dirty="0"/>
              <a:t> no </a:t>
            </a:r>
            <a:r>
              <a:rPr lang="nl-NL" sz="3600" dirty="0" err="1"/>
              <a:t>universal</a:t>
            </a:r>
            <a:r>
              <a:rPr lang="nl-NL" sz="3600" dirty="0"/>
              <a:t> </a:t>
            </a:r>
            <a:r>
              <a:rPr lang="nl-NL" sz="3600" dirty="0" err="1"/>
              <a:t>properties</a:t>
            </a:r>
            <a:endParaRPr lang="nl-NL" sz="3600" dirty="0"/>
          </a:p>
        </p:txBody>
      </p:sp>
      <p:sp>
        <p:nvSpPr>
          <p:cNvPr id="3" name="Content Placeholder 2"/>
          <p:cNvSpPr>
            <a:spLocks noGrp="1"/>
          </p:cNvSpPr>
          <p:nvPr>
            <p:ph idx="1"/>
          </p:nvPr>
        </p:nvSpPr>
        <p:spPr>
          <a:xfrm>
            <a:off x="122312" y="1772816"/>
            <a:ext cx="8821488" cy="532656"/>
          </a:xfrm>
        </p:spPr>
        <p:txBody>
          <a:bodyPr>
            <a:noAutofit/>
          </a:bodyPr>
          <a:lstStyle/>
          <a:p>
            <a:r>
              <a:rPr lang="nl-NL" sz="2000" dirty="0"/>
              <a:t>‘</a:t>
            </a:r>
            <a:r>
              <a:rPr lang="nl-NL" sz="2000" dirty="0" err="1"/>
              <a:t>Being</a:t>
            </a:r>
            <a:r>
              <a:rPr lang="nl-NL" sz="2000" dirty="0"/>
              <a:t> </a:t>
            </a:r>
            <a:r>
              <a:rPr lang="nl-NL" sz="2000" dirty="0" err="1"/>
              <a:t>material</a:t>
            </a:r>
            <a:r>
              <a:rPr lang="nl-NL" sz="2000" dirty="0"/>
              <a:t>’ is </a:t>
            </a:r>
            <a:r>
              <a:rPr lang="nl-NL" sz="2000" dirty="0" err="1"/>
              <a:t>not</a:t>
            </a:r>
            <a:r>
              <a:rPr lang="nl-NL" sz="2000" dirty="0"/>
              <a:t> a </a:t>
            </a:r>
            <a:r>
              <a:rPr lang="nl-NL" sz="2000" dirty="0" err="1"/>
              <a:t>universal</a:t>
            </a:r>
            <a:r>
              <a:rPr lang="nl-NL" sz="2000" dirty="0"/>
              <a:t> property. </a:t>
            </a:r>
            <a:r>
              <a:rPr lang="nl-NL" sz="2000" dirty="0" err="1"/>
              <a:t>So</a:t>
            </a:r>
            <a:r>
              <a:rPr lang="nl-NL" sz="2000" dirty="0"/>
              <a:t> </a:t>
            </a:r>
            <a:r>
              <a:rPr lang="nl-NL" sz="2000" dirty="0" err="1"/>
              <a:t>not</a:t>
            </a:r>
            <a:r>
              <a:rPr lang="nl-NL" sz="2000" dirty="0"/>
              <a:t> </a:t>
            </a:r>
            <a:r>
              <a:rPr lang="nl-NL" sz="2000" dirty="0" err="1"/>
              <a:t>everything</a:t>
            </a:r>
            <a:r>
              <a:rPr lang="nl-NL" sz="2000" dirty="0"/>
              <a:t> is </a:t>
            </a:r>
            <a:r>
              <a:rPr lang="nl-NL" sz="2000" dirty="0" err="1"/>
              <a:t>material</a:t>
            </a:r>
            <a:r>
              <a:rPr lang="nl-NL" sz="2000" dirty="0"/>
              <a:t>. </a:t>
            </a:r>
            <a:r>
              <a:rPr lang="nl-NL" sz="2000" dirty="0" err="1"/>
              <a:t>There</a:t>
            </a:r>
            <a:r>
              <a:rPr lang="nl-NL" sz="2000" dirty="0"/>
              <a:t> are non-</a:t>
            </a:r>
            <a:r>
              <a:rPr lang="nl-NL" sz="2000" dirty="0" err="1"/>
              <a:t>material</a:t>
            </a:r>
            <a:r>
              <a:rPr lang="nl-NL" sz="2000" dirty="0"/>
              <a:t> or </a:t>
            </a:r>
            <a:r>
              <a:rPr lang="nl-NL" sz="2000" i="1" dirty="0" err="1"/>
              <a:t>immaterial</a:t>
            </a:r>
            <a:r>
              <a:rPr lang="nl-NL" sz="2000" dirty="0"/>
              <a:t> </a:t>
            </a:r>
            <a:r>
              <a:rPr lang="nl-NL" sz="2000" dirty="0" err="1"/>
              <a:t>objects</a:t>
            </a:r>
            <a:r>
              <a:rPr lang="nl-NL" sz="2000" dirty="0"/>
              <a:t>. </a:t>
            </a:r>
            <a:r>
              <a:rPr lang="nl-NL" sz="2000" dirty="0" err="1"/>
              <a:t>So</a:t>
            </a:r>
            <a:r>
              <a:rPr lang="nl-NL" sz="2000" dirty="0"/>
              <a:t> </a:t>
            </a:r>
            <a:r>
              <a:rPr lang="nl-NL" sz="2000" dirty="0" err="1"/>
              <a:t>materialism</a:t>
            </a:r>
            <a:r>
              <a:rPr lang="nl-NL" sz="2000" dirty="0"/>
              <a:t> </a:t>
            </a:r>
            <a:r>
              <a:rPr lang="nl-NL" sz="2000" dirty="0" err="1"/>
              <a:t>fails</a:t>
            </a:r>
            <a:r>
              <a:rPr lang="nl-NL" sz="2000" dirty="0"/>
              <a:t>.</a:t>
            </a:r>
          </a:p>
          <a:p>
            <a:pPr marL="0" indent="0">
              <a:buNone/>
            </a:pPr>
            <a:endParaRPr lang="nl-NL" sz="2000" dirty="0"/>
          </a:p>
        </p:txBody>
      </p:sp>
      <p:sp>
        <p:nvSpPr>
          <p:cNvPr id="4" name="Content Placeholder 2">
            <a:extLst>
              <a:ext uri="{FF2B5EF4-FFF2-40B4-BE49-F238E27FC236}">
                <a16:creationId xmlns:a16="http://schemas.microsoft.com/office/drawing/2014/main" id="{6B566B69-1E9F-E835-9579-A07ECC043F0D}"/>
              </a:ext>
            </a:extLst>
          </p:cNvPr>
          <p:cNvSpPr txBox="1">
            <a:spLocks/>
          </p:cNvSpPr>
          <p:nvPr/>
        </p:nvSpPr>
        <p:spPr>
          <a:xfrm>
            <a:off x="122312" y="2564904"/>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a:t>
            </a:r>
            <a:r>
              <a:rPr lang="nl-NL" sz="2000" dirty="0" err="1"/>
              <a:t>Being</a:t>
            </a:r>
            <a:r>
              <a:rPr lang="nl-NL" sz="2000" dirty="0"/>
              <a:t> </a:t>
            </a:r>
            <a:r>
              <a:rPr lang="nl-NL" sz="2000" dirty="0" err="1"/>
              <a:t>physical</a:t>
            </a:r>
            <a:r>
              <a:rPr lang="nl-NL" sz="2000" dirty="0"/>
              <a:t>’ </a:t>
            </a:r>
            <a:r>
              <a:rPr lang="nl-NL" sz="2000" dirty="0" err="1"/>
              <a:t>and</a:t>
            </a:r>
            <a:r>
              <a:rPr lang="nl-NL" sz="2000" dirty="0"/>
              <a:t> ‘</a:t>
            </a:r>
            <a:r>
              <a:rPr lang="nl-NL" sz="2000" dirty="0" err="1"/>
              <a:t>Being</a:t>
            </a:r>
            <a:r>
              <a:rPr lang="nl-NL" sz="2000" dirty="0"/>
              <a:t> </a:t>
            </a:r>
            <a:r>
              <a:rPr lang="nl-NL" sz="2000" dirty="0" err="1"/>
              <a:t>natural</a:t>
            </a:r>
            <a:r>
              <a:rPr lang="nl-NL" sz="2000" dirty="0"/>
              <a:t>’ are </a:t>
            </a:r>
            <a:r>
              <a:rPr lang="nl-NL" sz="2000" dirty="0" err="1"/>
              <a:t>not</a:t>
            </a:r>
            <a:r>
              <a:rPr lang="nl-NL" sz="2000" dirty="0"/>
              <a:t> </a:t>
            </a:r>
            <a:r>
              <a:rPr lang="nl-NL" sz="2000" dirty="0" err="1"/>
              <a:t>universal</a:t>
            </a:r>
            <a:r>
              <a:rPr lang="nl-NL" sz="2000" dirty="0"/>
              <a:t> </a:t>
            </a:r>
            <a:r>
              <a:rPr lang="nl-NL" sz="2000" dirty="0" err="1"/>
              <a:t>properties</a:t>
            </a:r>
            <a:r>
              <a:rPr lang="nl-NL" sz="2000" dirty="0"/>
              <a:t> </a:t>
            </a:r>
            <a:r>
              <a:rPr lang="nl-NL" sz="2000" dirty="0" err="1"/>
              <a:t>either</a:t>
            </a:r>
            <a:r>
              <a:rPr lang="nl-NL" sz="2000" dirty="0"/>
              <a:t>. </a:t>
            </a:r>
            <a:r>
              <a:rPr lang="nl-NL" sz="2000" dirty="0" err="1"/>
              <a:t>There</a:t>
            </a:r>
            <a:r>
              <a:rPr lang="nl-NL" sz="2000" dirty="0"/>
              <a:t>  are </a:t>
            </a:r>
            <a:r>
              <a:rPr lang="nl-NL" sz="2000" i="1" dirty="0"/>
              <a:t>non-</a:t>
            </a:r>
            <a:r>
              <a:rPr lang="nl-NL" sz="2000" i="1" dirty="0" err="1"/>
              <a:t>physical</a:t>
            </a:r>
            <a:r>
              <a:rPr lang="nl-NL" sz="2000" dirty="0"/>
              <a:t> </a:t>
            </a:r>
            <a:r>
              <a:rPr lang="nl-NL" sz="2000" dirty="0" err="1"/>
              <a:t>and</a:t>
            </a:r>
            <a:r>
              <a:rPr lang="nl-NL" sz="2000" dirty="0"/>
              <a:t> </a:t>
            </a:r>
            <a:r>
              <a:rPr lang="nl-NL" sz="2000" i="1" dirty="0"/>
              <a:t>super-</a:t>
            </a:r>
            <a:r>
              <a:rPr lang="nl-NL" sz="2000" i="1" dirty="0" err="1"/>
              <a:t>natural</a:t>
            </a:r>
            <a:r>
              <a:rPr lang="nl-NL" sz="2000" dirty="0"/>
              <a:t> </a:t>
            </a:r>
            <a:r>
              <a:rPr lang="nl-NL" sz="2000" dirty="0" err="1"/>
              <a:t>objects</a:t>
            </a:r>
            <a:r>
              <a:rPr lang="nl-NL" sz="2000" dirty="0"/>
              <a:t>. </a:t>
            </a:r>
            <a:r>
              <a:rPr lang="nl-NL" sz="2000" dirty="0" err="1"/>
              <a:t>Physicalism</a:t>
            </a:r>
            <a:r>
              <a:rPr lang="nl-NL" sz="2000" dirty="0"/>
              <a:t> </a:t>
            </a:r>
            <a:r>
              <a:rPr lang="nl-NL" sz="2000" dirty="0" err="1"/>
              <a:t>and</a:t>
            </a:r>
            <a:r>
              <a:rPr lang="nl-NL" sz="2000" dirty="0"/>
              <a:t> </a:t>
            </a:r>
            <a:r>
              <a:rPr lang="nl-NL" sz="2000" dirty="0" err="1"/>
              <a:t>naturalism</a:t>
            </a:r>
            <a:r>
              <a:rPr lang="nl-NL" sz="2000" dirty="0"/>
              <a:t> </a:t>
            </a:r>
            <a:r>
              <a:rPr lang="nl-NL" sz="2000" dirty="0" err="1"/>
              <a:t>fail</a:t>
            </a:r>
            <a:r>
              <a:rPr lang="nl-NL" sz="2000" dirty="0"/>
              <a:t>.</a:t>
            </a:r>
          </a:p>
        </p:txBody>
      </p:sp>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143000" y="1024136"/>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Not everything is water (refuting Thales), fire, earth, a monad (refuting Leibniz), ‘will to power’ (refuting Nietzsche) or ‘will to live’ (refuting Schopenhauer).</a:t>
            </a:r>
            <a:endParaRPr lang="nl-NL" sz="2000" dirty="0"/>
          </a:p>
        </p:txBody>
      </p:sp>
      <p:sp>
        <p:nvSpPr>
          <p:cNvPr id="9" name="Content Placeholder 2">
            <a:extLst>
              <a:ext uri="{FF2B5EF4-FFF2-40B4-BE49-F238E27FC236}">
                <a16:creationId xmlns:a16="http://schemas.microsoft.com/office/drawing/2014/main" id="{FE674579-4800-1FA2-E433-4E3B3BE98136}"/>
              </a:ext>
            </a:extLst>
          </p:cNvPr>
          <p:cNvSpPr txBox="1">
            <a:spLocks/>
          </p:cNvSpPr>
          <p:nvPr/>
        </p:nvSpPr>
        <p:spPr>
          <a:xfrm>
            <a:off x="122312" y="3356992"/>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a:t>
            </a:r>
            <a:r>
              <a:rPr lang="nl-NL" sz="2000" dirty="0" err="1"/>
              <a:t>Being</a:t>
            </a:r>
            <a:r>
              <a:rPr lang="nl-NL" sz="2000" dirty="0"/>
              <a:t> immanent’ is </a:t>
            </a:r>
            <a:r>
              <a:rPr lang="nl-NL" sz="2000" dirty="0" err="1"/>
              <a:t>not</a:t>
            </a:r>
            <a:r>
              <a:rPr lang="nl-NL" sz="2000" dirty="0"/>
              <a:t> a </a:t>
            </a:r>
            <a:r>
              <a:rPr lang="nl-NL" sz="2000" dirty="0" err="1"/>
              <a:t>universal</a:t>
            </a:r>
            <a:r>
              <a:rPr lang="nl-NL" sz="2000" dirty="0"/>
              <a:t> property </a:t>
            </a:r>
            <a:r>
              <a:rPr lang="nl-NL" sz="2000" dirty="0" err="1"/>
              <a:t>either</a:t>
            </a:r>
            <a:r>
              <a:rPr lang="nl-NL" sz="2000" dirty="0"/>
              <a:t>. </a:t>
            </a:r>
            <a:r>
              <a:rPr lang="nl-NL" sz="2000" dirty="0" err="1"/>
              <a:t>So</a:t>
            </a:r>
            <a:r>
              <a:rPr lang="nl-NL" sz="2000" dirty="0"/>
              <a:t> </a:t>
            </a:r>
            <a:r>
              <a:rPr lang="nl-NL" sz="2000" dirty="0" err="1"/>
              <a:t>there</a:t>
            </a:r>
            <a:r>
              <a:rPr lang="nl-NL" sz="2000" dirty="0"/>
              <a:t> must </a:t>
            </a:r>
            <a:r>
              <a:rPr lang="nl-NL" sz="2000" dirty="0" err="1"/>
              <a:t>be</a:t>
            </a:r>
            <a:r>
              <a:rPr lang="nl-NL" sz="2000" dirty="0"/>
              <a:t> a transcendent </a:t>
            </a:r>
            <a:r>
              <a:rPr lang="nl-NL" sz="2000" dirty="0" err="1"/>
              <a:t>realm</a:t>
            </a:r>
            <a:r>
              <a:rPr lang="nl-NL" sz="2000" dirty="0"/>
              <a:t> of </a:t>
            </a:r>
            <a:r>
              <a:rPr lang="nl-NL" sz="2000" i="1" dirty="0"/>
              <a:t>transcendent</a:t>
            </a:r>
            <a:r>
              <a:rPr lang="nl-NL" sz="2000" dirty="0"/>
              <a:t> </a:t>
            </a:r>
            <a:r>
              <a:rPr lang="nl-NL" sz="2000" dirty="0" err="1"/>
              <a:t>objects</a:t>
            </a:r>
            <a:r>
              <a:rPr lang="nl-NL" sz="2000" dirty="0"/>
              <a:t>. </a:t>
            </a:r>
            <a:r>
              <a:rPr lang="nl-NL" sz="2000" dirty="0" err="1"/>
              <a:t>Immanentism</a:t>
            </a:r>
            <a:r>
              <a:rPr lang="nl-NL" sz="2000" dirty="0"/>
              <a:t> </a:t>
            </a:r>
            <a:r>
              <a:rPr lang="nl-NL" sz="2000" dirty="0" err="1"/>
              <a:t>fails</a:t>
            </a:r>
            <a:r>
              <a:rPr lang="nl-NL" sz="2000" dirty="0"/>
              <a:t>. </a:t>
            </a:r>
          </a:p>
        </p:txBody>
      </p:sp>
      <p:sp>
        <p:nvSpPr>
          <p:cNvPr id="14" name="Content Placeholder 2">
            <a:extLst>
              <a:ext uri="{FF2B5EF4-FFF2-40B4-BE49-F238E27FC236}">
                <a16:creationId xmlns:a16="http://schemas.microsoft.com/office/drawing/2014/main" id="{596D5399-9908-E759-67FB-25039B468FFB}"/>
              </a:ext>
            </a:extLst>
          </p:cNvPr>
          <p:cNvSpPr txBox="1">
            <a:spLocks/>
          </p:cNvSpPr>
          <p:nvPr/>
        </p:nvSpPr>
        <p:spPr>
          <a:xfrm>
            <a:off x="107504" y="4509120"/>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15" name="Content Placeholder 2">
            <a:extLst>
              <a:ext uri="{FF2B5EF4-FFF2-40B4-BE49-F238E27FC236}">
                <a16:creationId xmlns:a16="http://schemas.microsoft.com/office/drawing/2014/main" id="{5700560A-B7A6-3C21-4EEB-8378B1B51B34}"/>
              </a:ext>
            </a:extLst>
          </p:cNvPr>
          <p:cNvSpPr txBox="1">
            <a:spLocks/>
          </p:cNvSpPr>
          <p:nvPr/>
        </p:nvSpPr>
        <p:spPr>
          <a:xfrm>
            <a:off x="107504" y="4192488"/>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Not</a:t>
            </a:r>
            <a:r>
              <a:rPr lang="nl-NL" sz="2000" dirty="0"/>
              <a:t> </a:t>
            </a:r>
            <a:r>
              <a:rPr lang="nl-NL" sz="2000" dirty="0" err="1"/>
              <a:t>everything</a:t>
            </a:r>
            <a:r>
              <a:rPr lang="nl-NL" sz="2000" dirty="0"/>
              <a:t> is </a:t>
            </a:r>
            <a:r>
              <a:rPr lang="nl-NL" sz="2000" dirty="0" err="1"/>
              <a:t>perishable</a:t>
            </a:r>
            <a:r>
              <a:rPr lang="nl-NL" sz="2000" dirty="0"/>
              <a:t>. </a:t>
            </a:r>
            <a:r>
              <a:rPr lang="nl-NL" sz="2000" dirty="0" err="1"/>
              <a:t>There</a:t>
            </a:r>
            <a:r>
              <a:rPr lang="nl-NL" sz="2000" dirty="0"/>
              <a:t> are </a:t>
            </a:r>
            <a:r>
              <a:rPr lang="nl-NL" sz="2000" dirty="0" err="1"/>
              <a:t>thus</a:t>
            </a:r>
            <a:r>
              <a:rPr lang="nl-NL" sz="2000" dirty="0"/>
              <a:t> non-</a:t>
            </a:r>
            <a:r>
              <a:rPr lang="nl-NL" sz="2000" dirty="0" err="1"/>
              <a:t>perishable</a:t>
            </a:r>
            <a:r>
              <a:rPr lang="nl-NL" sz="2000" dirty="0"/>
              <a:t>, </a:t>
            </a:r>
            <a:r>
              <a:rPr lang="nl-NL" sz="2000" dirty="0" err="1"/>
              <a:t>everlasting</a:t>
            </a:r>
            <a:r>
              <a:rPr lang="nl-NL" sz="2000" dirty="0"/>
              <a:t> or </a:t>
            </a:r>
            <a:r>
              <a:rPr lang="nl-NL" sz="2000" i="1" dirty="0" err="1"/>
              <a:t>eternal</a:t>
            </a:r>
            <a:r>
              <a:rPr lang="nl-NL" sz="2000" dirty="0"/>
              <a:t> </a:t>
            </a:r>
            <a:r>
              <a:rPr lang="nl-NL" sz="2000" dirty="0" err="1"/>
              <a:t>objects</a:t>
            </a:r>
            <a:r>
              <a:rPr lang="nl-NL" sz="2000" dirty="0"/>
              <a:t>. </a:t>
            </a:r>
            <a:r>
              <a:rPr lang="nl-NL" sz="2000" dirty="0" err="1"/>
              <a:t>And</a:t>
            </a:r>
            <a:r>
              <a:rPr lang="nl-NL" sz="2000" dirty="0"/>
              <a:t> </a:t>
            </a:r>
            <a:r>
              <a:rPr lang="nl-NL" sz="2000" dirty="0" err="1"/>
              <a:t>not</a:t>
            </a:r>
            <a:r>
              <a:rPr lang="nl-NL" sz="2000" dirty="0"/>
              <a:t> </a:t>
            </a:r>
            <a:r>
              <a:rPr lang="nl-NL" sz="2000" dirty="0" err="1"/>
              <a:t>everything</a:t>
            </a:r>
            <a:r>
              <a:rPr lang="nl-NL" sz="2000" dirty="0"/>
              <a:t> is </a:t>
            </a:r>
            <a:r>
              <a:rPr lang="nl-NL" sz="2000" dirty="0" err="1"/>
              <a:t>finite</a:t>
            </a:r>
            <a:r>
              <a:rPr lang="nl-NL" sz="2000" dirty="0"/>
              <a:t>. </a:t>
            </a:r>
            <a:r>
              <a:rPr lang="nl-NL" sz="2000" dirty="0" err="1"/>
              <a:t>So</a:t>
            </a:r>
            <a:r>
              <a:rPr lang="nl-NL" sz="2000" dirty="0"/>
              <a:t> </a:t>
            </a:r>
            <a:r>
              <a:rPr lang="nl-NL" sz="2000" dirty="0" err="1"/>
              <a:t>there</a:t>
            </a:r>
            <a:r>
              <a:rPr lang="nl-NL" sz="2000" dirty="0"/>
              <a:t> are </a:t>
            </a:r>
            <a:r>
              <a:rPr lang="nl-NL" sz="2000" i="1" dirty="0" err="1"/>
              <a:t>infinite</a:t>
            </a:r>
            <a:r>
              <a:rPr lang="nl-NL" sz="2000" dirty="0"/>
              <a:t> </a:t>
            </a:r>
            <a:r>
              <a:rPr lang="nl-NL" sz="2000" dirty="0" err="1"/>
              <a:t>objects</a:t>
            </a:r>
            <a:r>
              <a:rPr lang="nl-NL" sz="2000" dirty="0"/>
              <a:t>.</a:t>
            </a:r>
          </a:p>
          <a:p>
            <a:endParaRPr lang="nl-NL" sz="2000" dirty="0"/>
          </a:p>
        </p:txBody>
      </p:sp>
      <p:sp>
        <p:nvSpPr>
          <p:cNvPr id="16" name="Content Placeholder 2">
            <a:extLst>
              <a:ext uri="{FF2B5EF4-FFF2-40B4-BE49-F238E27FC236}">
                <a16:creationId xmlns:a16="http://schemas.microsoft.com/office/drawing/2014/main" id="{8D512905-181E-628C-BC60-9508407A4D3F}"/>
              </a:ext>
            </a:extLst>
          </p:cNvPr>
          <p:cNvSpPr txBox="1">
            <a:spLocks/>
          </p:cNvSpPr>
          <p:nvPr/>
        </p:nvSpPr>
        <p:spPr>
          <a:xfrm>
            <a:off x="158824" y="5056584"/>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i="1" dirty="0" err="1"/>
              <a:t>Panpsychism</a:t>
            </a:r>
            <a:r>
              <a:rPr lang="nl-NL" sz="2000" dirty="0"/>
              <a:t> </a:t>
            </a:r>
            <a:r>
              <a:rPr lang="nl-NL" sz="2000" dirty="0" err="1"/>
              <a:t>fails</a:t>
            </a:r>
            <a:r>
              <a:rPr lang="nl-NL" sz="2000" dirty="0"/>
              <a:t> as well. For </a:t>
            </a:r>
            <a:r>
              <a:rPr lang="nl-NL" sz="2000" dirty="0" err="1"/>
              <a:t>not</a:t>
            </a:r>
            <a:r>
              <a:rPr lang="nl-NL" sz="2000" dirty="0"/>
              <a:t> </a:t>
            </a:r>
            <a:r>
              <a:rPr lang="nl-NL" sz="2000" dirty="0" err="1"/>
              <a:t>everything</a:t>
            </a:r>
            <a:r>
              <a:rPr lang="nl-NL" sz="2000" dirty="0"/>
              <a:t> has a </a:t>
            </a:r>
            <a:r>
              <a:rPr lang="nl-NL" sz="2000" dirty="0" err="1"/>
              <a:t>mental</a:t>
            </a:r>
            <a:r>
              <a:rPr lang="nl-NL" sz="2000" dirty="0"/>
              <a:t> aspect. </a:t>
            </a:r>
            <a:r>
              <a:rPr lang="nl-NL" sz="2000" dirty="0" err="1"/>
              <a:t>There</a:t>
            </a:r>
            <a:r>
              <a:rPr lang="nl-NL" sz="2000" dirty="0"/>
              <a:t> are </a:t>
            </a:r>
            <a:r>
              <a:rPr lang="nl-NL" sz="2000" dirty="0" err="1"/>
              <a:t>objects</a:t>
            </a:r>
            <a:r>
              <a:rPr lang="nl-NL" sz="2000" dirty="0"/>
              <a:t> without a </a:t>
            </a:r>
            <a:r>
              <a:rPr lang="nl-NL" sz="2000" dirty="0" err="1"/>
              <a:t>mental</a:t>
            </a:r>
            <a:r>
              <a:rPr lang="nl-NL" sz="2000" dirty="0"/>
              <a:t> aspect.</a:t>
            </a:r>
          </a:p>
          <a:p>
            <a:endParaRPr lang="nl-NL" sz="2000" dirty="0"/>
          </a:p>
        </p:txBody>
      </p:sp>
      <p:sp>
        <p:nvSpPr>
          <p:cNvPr id="17" name="Content Placeholder 2">
            <a:extLst>
              <a:ext uri="{FF2B5EF4-FFF2-40B4-BE49-F238E27FC236}">
                <a16:creationId xmlns:a16="http://schemas.microsoft.com/office/drawing/2014/main" id="{8E22EB41-0082-BC37-F513-3D4F81D1DFCC}"/>
              </a:ext>
            </a:extLst>
          </p:cNvPr>
          <p:cNvSpPr txBox="1">
            <a:spLocks/>
          </p:cNvSpPr>
          <p:nvPr/>
        </p:nvSpPr>
        <p:spPr>
          <a:xfrm>
            <a:off x="107504" y="5877272"/>
            <a:ext cx="871296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i="1" dirty="0" err="1"/>
              <a:t>Empiricism</a:t>
            </a:r>
            <a:r>
              <a:rPr lang="nl-NL" sz="2000" i="1" dirty="0"/>
              <a:t> </a:t>
            </a:r>
            <a:r>
              <a:rPr lang="nl-NL" sz="2000" dirty="0"/>
              <a:t>or </a:t>
            </a:r>
            <a:r>
              <a:rPr lang="nl-NL" sz="2000" i="1" dirty="0" err="1"/>
              <a:t>positivism</a:t>
            </a:r>
            <a:r>
              <a:rPr lang="nl-NL" sz="2000" dirty="0"/>
              <a:t> or </a:t>
            </a:r>
            <a:r>
              <a:rPr lang="nl-NL" sz="2000" i="1" dirty="0" err="1"/>
              <a:t>phenomenalism</a:t>
            </a:r>
            <a:r>
              <a:rPr lang="nl-NL" sz="2000" dirty="0"/>
              <a:t> </a:t>
            </a:r>
            <a:r>
              <a:rPr lang="nl-NL" sz="2000" dirty="0" err="1"/>
              <a:t>fail</a:t>
            </a:r>
            <a:r>
              <a:rPr lang="nl-NL" sz="2000" dirty="0"/>
              <a:t> as well. For ‘</a:t>
            </a:r>
            <a:r>
              <a:rPr lang="nl-NL" sz="2000" dirty="0" err="1"/>
              <a:t>Being</a:t>
            </a:r>
            <a:r>
              <a:rPr lang="nl-NL" sz="2000" dirty="0"/>
              <a:t> </a:t>
            </a:r>
            <a:r>
              <a:rPr lang="nl-NL" sz="2000" dirty="0" err="1"/>
              <a:t>observable</a:t>
            </a:r>
            <a:r>
              <a:rPr lang="nl-NL" sz="2000" dirty="0"/>
              <a:t>’ is </a:t>
            </a:r>
            <a:r>
              <a:rPr lang="nl-NL" sz="2000" dirty="0" err="1"/>
              <a:t>not</a:t>
            </a:r>
            <a:r>
              <a:rPr lang="nl-NL" sz="2000" dirty="0"/>
              <a:t> a </a:t>
            </a:r>
            <a:r>
              <a:rPr lang="nl-NL" sz="2000" dirty="0" err="1"/>
              <a:t>universal</a:t>
            </a:r>
            <a:r>
              <a:rPr lang="nl-NL" sz="2000" dirty="0"/>
              <a:t> property </a:t>
            </a:r>
            <a:r>
              <a:rPr lang="nl-NL" sz="2000" dirty="0" err="1"/>
              <a:t>either</a:t>
            </a:r>
            <a:r>
              <a:rPr lang="nl-NL" sz="2000" dirty="0"/>
              <a:t>. </a:t>
            </a:r>
            <a:r>
              <a:rPr lang="nl-NL" sz="2000" dirty="0" err="1"/>
              <a:t>Not</a:t>
            </a:r>
            <a:r>
              <a:rPr lang="nl-NL" sz="2000" dirty="0"/>
              <a:t> </a:t>
            </a:r>
            <a:r>
              <a:rPr lang="nl-NL" sz="2000" dirty="0" err="1"/>
              <a:t>everything</a:t>
            </a:r>
            <a:r>
              <a:rPr lang="nl-NL" sz="2000" dirty="0"/>
              <a:t> is </a:t>
            </a:r>
            <a:r>
              <a:rPr lang="nl-NL" sz="2000" dirty="0" err="1"/>
              <a:t>observable</a:t>
            </a:r>
            <a:r>
              <a:rPr lang="nl-NL" sz="2000" dirty="0"/>
              <a:t>.</a:t>
            </a:r>
          </a:p>
          <a:p>
            <a:endParaRPr lang="nl-NL" sz="2000" dirty="0"/>
          </a:p>
        </p:txBody>
      </p:sp>
    </p:spTree>
    <p:extLst>
      <p:ext uri="{BB962C8B-B14F-4D97-AF65-F5344CB8AC3E}">
        <p14:creationId xmlns:p14="http://schemas.microsoft.com/office/powerpoint/2010/main" val="366828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9" grpId="0"/>
      <p:bldP spid="14"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2036087-2649-C14D-25CF-0A8B4259CFAA}"/>
              </a:ext>
            </a:extLst>
          </p:cNvPr>
          <p:cNvSpPr txBox="1">
            <a:spLocks/>
          </p:cNvSpPr>
          <p:nvPr/>
        </p:nvSpPr>
        <p:spPr>
          <a:xfrm>
            <a:off x="34480" y="908720"/>
            <a:ext cx="867645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Pantheism</a:t>
            </a:r>
            <a:r>
              <a:rPr lang="nl-NL" sz="2000" dirty="0"/>
              <a:t> </a:t>
            </a:r>
            <a:r>
              <a:rPr lang="nl-NL" sz="2000" dirty="0" err="1"/>
              <a:t>also</a:t>
            </a:r>
            <a:r>
              <a:rPr lang="nl-NL" sz="2000" dirty="0"/>
              <a:t> </a:t>
            </a:r>
            <a:r>
              <a:rPr lang="nl-NL" sz="2000" dirty="0" err="1"/>
              <a:t>fails</a:t>
            </a:r>
            <a:r>
              <a:rPr lang="nl-NL" sz="2000" dirty="0"/>
              <a:t>. For ‘</a:t>
            </a:r>
            <a:r>
              <a:rPr lang="nl-NL" sz="2000" dirty="0" err="1"/>
              <a:t>Being</a:t>
            </a:r>
            <a:r>
              <a:rPr lang="nl-NL" sz="2000" dirty="0"/>
              <a:t> </a:t>
            </a:r>
            <a:r>
              <a:rPr lang="nl-NL" sz="2000" dirty="0" err="1"/>
              <a:t>divine</a:t>
            </a:r>
            <a:r>
              <a:rPr lang="nl-NL" sz="2000" dirty="0"/>
              <a:t>’ is </a:t>
            </a:r>
            <a:r>
              <a:rPr lang="nl-NL" sz="2000" dirty="0" err="1"/>
              <a:t>not</a:t>
            </a:r>
            <a:r>
              <a:rPr lang="nl-NL" sz="2000" dirty="0"/>
              <a:t> a </a:t>
            </a:r>
            <a:r>
              <a:rPr lang="nl-NL" sz="2000" dirty="0" err="1"/>
              <a:t>universal</a:t>
            </a:r>
            <a:r>
              <a:rPr lang="nl-NL" sz="2000" dirty="0"/>
              <a:t> property. </a:t>
            </a:r>
            <a:r>
              <a:rPr lang="nl-NL" sz="2000" dirty="0" err="1"/>
              <a:t>Hence</a:t>
            </a:r>
            <a:r>
              <a:rPr lang="nl-NL" sz="2000" dirty="0"/>
              <a:t> </a:t>
            </a:r>
            <a:r>
              <a:rPr lang="nl-NL" sz="2000" dirty="0" err="1"/>
              <a:t>not</a:t>
            </a:r>
            <a:r>
              <a:rPr lang="nl-NL" sz="2000" dirty="0"/>
              <a:t> </a:t>
            </a:r>
            <a:r>
              <a:rPr lang="nl-NL" sz="2000" dirty="0" err="1"/>
              <a:t>everything</a:t>
            </a:r>
            <a:r>
              <a:rPr lang="nl-NL" sz="2000" dirty="0"/>
              <a:t> is </a:t>
            </a:r>
            <a:r>
              <a:rPr lang="nl-NL" sz="2000" dirty="0" err="1"/>
              <a:t>divine</a:t>
            </a:r>
            <a:r>
              <a:rPr lang="nl-NL" sz="2000" dirty="0"/>
              <a:t>.</a:t>
            </a:r>
          </a:p>
        </p:txBody>
      </p:sp>
      <p:sp>
        <p:nvSpPr>
          <p:cNvPr id="6" name="Content Placeholder 2">
            <a:extLst>
              <a:ext uri="{FF2B5EF4-FFF2-40B4-BE49-F238E27FC236}">
                <a16:creationId xmlns:a16="http://schemas.microsoft.com/office/drawing/2014/main" id="{9CE0502C-0193-5533-7953-1136674030F1}"/>
              </a:ext>
            </a:extLst>
          </p:cNvPr>
          <p:cNvSpPr txBox="1">
            <a:spLocks/>
          </p:cNvSpPr>
          <p:nvPr/>
        </p:nvSpPr>
        <p:spPr>
          <a:xfrm>
            <a:off x="50304" y="1657400"/>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a:t>
            </a:r>
            <a:r>
              <a:rPr lang="nl-NL" sz="2000" dirty="0" err="1"/>
              <a:t>Being</a:t>
            </a:r>
            <a:r>
              <a:rPr lang="nl-NL" sz="2000" dirty="0"/>
              <a:t> </a:t>
            </a:r>
            <a:r>
              <a:rPr lang="nl-NL" sz="2000" dirty="0" err="1"/>
              <a:t>mental</a:t>
            </a:r>
            <a:r>
              <a:rPr lang="nl-NL" sz="2000" dirty="0"/>
              <a:t>’ is </a:t>
            </a:r>
            <a:r>
              <a:rPr lang="nl-NL" sz="2000" dirty="0" err="1"/>
              <a:t>not</a:t>
            </a:r>
            <a:r>
              <a:rPr lang="nl-NL" sz="2000" dirty="0"/>
              <a:t> a </a:t>
            </a:r>
            <a:r>
              <a:rPr lang="nl-NL" sz="2000" dirty="0" err="1"/>
              <a:t>universal</a:t>
            </a:r>
            <a:r>
              <a:rPr lang="nl-NL" sz="2000" dirty="0"/>
              <a:t> property </a:t>
            </a:r>
            <a:r>
              <a:rPr lang="nl-NL" sz="2000" dirty="0" err="1"/>
              <a:t>either</a:t>
            </a:r>
            <a:r>
              <a:rPr lang="nl-NL" sz="2000" dirty="0"/>
              <a:t>. </a:t>
            </a:r>
            <a:r>
              <a:rPr lang="nl-NL" sz="2000" dirty="0" err="1"/>
              <a:t>Not</a:t>
            </a:r>
            <a:r>
              <a:rPr lang="nl-NL" sz="2000" dirty="0"/>
              <a:t> </a:t>
            </a:r>
            <a:r>
              <a:rPr lang="nl-NL" sz="2000" dirty="0" err="1"/>
              <a:t>everything</a:t>
            </a:r>
            <a:r>
              <a:rPr lang="nl-NL" sz="2000" dirty="0"/>
              <a:t> is </a:t>
            </a:r>
            <a:r>
              <a:rPr lang="nl-NL" sz="2000" dirty="0" err="1"/>
              <a:t>mental</a:t>
            </a:r>
            <a:r>
              <a:rPr lang="nl-NL" sz="2000" dirty="0"/>
              <a:t>. </a:t>
            </a:r>
            <a:r>
              <a:rPr lang="nl-NL" sz="2000" dirty="0" err="1"/>
              <a:t>So</a:t>
            </a:r>
            <a:r>
              <a:rPr lang="nl-NL" sz="2000" dirty="0"/>
              <a:t> </a:t>
            </a:r>
            <a:r>
              <a:rPr lang="nl-NL" sz="2000" dirty="0" err="1"/>
              <a:t>also</a:t>
            </a:r>
            <a:r>
              <a:rPr lang="nl-NL" sz="2000" dirty="0"/>
              <a:t> </a:t>
            </a:r>
            <a:r>
              <a:rPr lang="nl-NL" sz="2000" dirty="0" err="1"/>
              <a:t>metaphysical</a:t>
            </a:r>
            <a:r>
              <a:rPr lang="nl-NL" sz="2000" dirty="0"/>
              <a:t> </a:t>
            </a:r>
            <a:r>
              <a:rPr lang="nl-NL" sz="2000" i="1" dirty="0" err="1"/>
              <a:t>idealism</a:t>
            </a:r>
            <a:r>
              <a:rPr lang="nl-NL" sz="2000" dirty="0"/>
              <a:t> </a:t>
            </a:r>
            <a:r>
              <a:rPr lang="nl-NL" sz="2000" dirty="0" err="1"/>
              <a:t>fails</a:t>
            </a:r>
            <a:r>
              <a:rPr lang="nl-NL" sz="2000" dirty="0"/>
              <a:t>. </a:t>
            </a:r>
          </a:p>
        </p:txBody>
      </p:sp>
      <p:sp>
        <p:nvSpPr>
          <p:cNvPr id="7" name="Content Placeholder 2">
            <a:extLst>
              <a:ext uri="{FF2B5EF4-FFF2-40B4-BE49-F238E27FC236}">
                <a16:creationId xmlns:a16="http://schemas.microsoft.com/office/drawing/2014/main" id="{8C65E6D4-11CB-70B0-6FF8-89AE2DAF9837}"/>
              </a:ext>
            </a:extLst>
          </p:cNvPr>
          <p:cNvSpPr txBox="1">
            <a:spLocks/>
          </p:cNvSpPr>
          <p:nvPr/>
        </p:nvSpPr>
        <p:spPr>
          <a:xfrm>
            <a:off x="-1016" y="2780928"/>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13" name="Content Placeholder 2">
            <a:extLst>
              <a:ext uri="{FF2B5EF4-FFF2-40B4-BE49-F238E27FC236}">
                <a16:creationId xmlns:a16="http://schemas.microsoft.com/office/drawing/2014/main" id="{97A44C56-5A81-2969-E67B-F96CB76B2B91}"/>
              </a:ext>
            </a:extLst>
          </p:cNvPr>
          <p:cNvSpPr txBox="1">
            <a:spLocks/>
          </p:cNvSpPr>
          <p:nvPr/>
        </p:nvSpPr>
        <p:spPr>
          <a:xfrm>
            <a:off x="70992" y="3501008"/>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Not</a:t>
            </a:r>
            <a:r>
              <a:rPr lang="nl-NL" sz="2000" dirty="0"/>
              <a:t> </a:t>
            </a:r>
            <a:r>
              <a:rPr lang="nl-NL" sz="2000" dirty="0" err="1"/>
              <a:t>everything</a:t>
            </a:r>
            <a:r>
              <a:rPr lang="nl-NL" sz="2000" dirty="0"/>
              <a:t> is a concrete object. </a:t>
            </a:r>
            <a:r>
              <a:rPr lang="nl-NL" sz="2000" dirty="0" err="1"/>
              <a:t>So</a:t>
            </a:r>
            <a:r>
              <a:rPr lang="nl-NL" sz="2000" dirty="0"/>
              <a:t> </a:t>
            </a:r>
            <a:r>
              <a:rPr lang="nl-NL" sz="2000" dirty="0" err="1"/>
              <a:t>there</a:t>
            </a:r>
            <a:r>
              <a:rPr lang="nl-NL" sz="2000" dirty="0"/>
              <a:t> are </a:t>
            </a:r>
            <a:r>
              <a:rPr lang="nl-NL" sz="2000" i="1" dirty="0"/>
              <a:t>abstract</a:t>
            </a:r>
            <a:r>
              <a:rPr lang="nl-NL" sz="2000" dirty="0"/>
              <a:t> </a:t>
            </a:r>
            <a:r>
              <a:rPr lang="nl-NL" sz="2000" dirty="0" err="1"/>
              <a:t>objects</a:t>
            </a:r>
            <a:r>
              <a:rPr lang="nl-NL" sz="2000" dirty="0"/>
              <a:t>. We </a:t>
            </a:r>
            <a:r>
              <a:rPr lang="nl-NL" sz="2000" dirty="0" err="1"/>
              <a:t>obtain</a:t>
            </a:r>
            <a:r>
              <a:rPr lang="nl-NL" sz="2000" dirty="0"/>
              <a:t> as      a </a:t>
            </a:r>
            <a:r>
              <a:rPr lang="nl-NL" sz="2000" dirty="0" err="1"/>
              <a:t>corollary</a:t>
            </a:r>
            <a:r>
              <a:rPr lang="nl-NL" sz="2000" dirty="0"/>
              <a:t> </a:t>
            </a:r>
            <a:r>
              <a:rPr lang="nl-NL" sz="2000" dirty="0" err="1"/>
              <a:t>that</a:t>
            </a:r>
            <a:r>
              <a:rPr lang="nl-NL" sz="2000" dirty="0"/>
              <a:t> Plato was in </a:t>
            </a:r>
            <a:r>
              <a:rPr lang="nl-NL" sz="2000" dirty="0" err="1"/>
              <a:t>fact</a:t>
            </a:r>
            <a:r>
              <a:rPr lang="nl-NL" sz="2000" dirty="0"/>
              <a:t> right </a:t>
            </a:r>
            <a:r>
              <a:rPr lang="nl-NL" sz="2000" dirty="0" err="1"/>
              <a:t>after</a:t>
            </a:r>
            <a:r>
              <a:rPr lang="nl-NL" sz="2000" dirty="0"/>
              <a:t> </a:t>
            </a:r>
            <a:r>
              <a:rPr lang="nl-NL" sz="2000" dirty="0" err="1"/>
              <a:t>all</a:t>
            </a:r>
            <a:r>
              <a:rPr lang="nl-NL" sz="2000" dirty="0"/>
              <a:t> </a:t>
            </a:r>
            <a:r>
              <a:rPr lang="nl-NL" sz="2000" dirty="0" err="1"/>
              <a:t>to</a:t>
            </a:r>
            <a:r>
              <a:rPr lang="nl-NL" sz="2000" dirty="0"/>
              <a:t> </a:t>
            </a:r>
            <a:r>
              <a:rPr lang="nl-NL" sz="2000" dirty="0" err="1"/>
              <a:t>posit</a:t>
            </a:r>
            <a:r>
              <a:rPr lang="nl-NL" sz="2000" dirty="0"/>
              <a:t> </a:t>
            </a:r>
            <a:r>
              <a:rPr lang="nl-NL" sz="2000" i="1" dirty="0"/>
              <a:t>abstracta</a:t>
            </a:r>
            <a:r>
              <a:rPr lang="nl-NL" sz="2000" dirty="0"/>
              <a:t>.</a:t>
            </a:r>
          </a:p>
        </p:txBody>
      </p:sp>
      <p:sp>
        <p:nvSpPr>
          <p:cNvPr id="12" name="Content Placeholder 2">
            <a:extLst>
              <a:ext uri="{FF2B5EF4-FFF2-40B4-BE49-F238E27FC236}">
                <a16:creationId xmlns:a16="http://schemas.microsoft.com/office/drawing/2014/main" id="{E82A85E6-58BF-9877-751A-235387784006}"/>
              </a:ext>
            </a:extLst>
          </p:cNvPr>
          <p:cNvSpPr txBox="1">
            <a:spLocks/>
          </p:cNvSpPr>
          <p:nvPr/>
        </p:nvSpPr>
        <p:spPr>
          <a:xfrm>
            <a:off x="70992" y="2377480"/>
            <a:ext cx="8893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i="1" dirty="0" err="1"/>
              <a:t>Solipsism</a:t>
            </a:r>
            <a:r>
              <a:rPr lang="nl-NL" sz="2000" dirty="0"/>
              <a:t> </a:t>
            </a:r>
            <a:r>
              <a:rPr lang="nl-NL" sz="2000" dirty="0" err="1"/>
              <a:t>fails</a:t>
            </a:r>
            <a:r>
              <a:rPr lang="nl-NL" sz="2000" dirty="0"/>
              <a:t> as well </a:t>
            </a:r>
            <a:r>
              <a:rPr lang="nl-NL" sz="2000" dirty="0" err="1"/>
              <a:t>because</a:t>
            </a:r>
            <a:r>
              <a:rPr lang="nl-NL" sz="2000" dirty="0"/>
              <a:t> ‘</a:t>
            </a:r>
            <a:r>
              <a:rPr lang="nl-NL" sz="2000" dirty="0" err="1"/>
              <a:t>Being</a:t>
            </a:r>
            <a:r>
              <a:rPr lang="nl-NL" sz="2000" dirty="0"/>
              <a:t> </a:t>
            </a:r>
            <a:r>
              <a:rPr lang="nl-NL" sz="2000" dirty="0" err="1"/>
              <a:t>the</a:t>
            </a:r>
            <a:r>
              <a:rPr lang="nl-NL" sz="2000" dirty="0"/>
              <a:t> </a:t>
            </a:r>
            <a:r>
              <a:rPr lang="nl-NL" sz="2000" dirty="0" err="1"/>
              <a:t>only</a:t>
            </a:r>
            <a:r>
              <a:rPr lang="nl-NL" sz="2000" dirty="0"/>
              <a:t> object in </a:t>
            </a:r>
            <a:r>
              <a:rPr lang="nl-NL" sz="2000" dirty="0" err="1"/>
              <a:t>the</a:t>
            </a:r>
            <a:r>
              <a:rPr lang="nl-NL" sz="2000" dirty="0"/>
              <a:t> </a:t>
            </a:r>
            <a:r>
              <a:rPr lang="nl-NL" sz="2000" dirty="0" err="1"/>
              <a:t>world</a:t>
            </a:r>
            <a:r>
              <a:rPr lang="nl-NL" sz="2000" dirty="0"/>
              <a:t>’ </a:t>
            </a:r>
            <a:r>
              <a:rPr lang="nl-NL" sz="2000" dirty="0" err="1"/>
              <a:t>would</a:t>
            </a:r>
            <a:r>
              <a:rPr lang="nl-NL" sz="2000" dirty="0"/>
              <a:t> </a:t>
            </a:r>
            <a:r>
              <a:rPr lang="nl-NL" sz="2000" dirty="0" err="1"/>
              <a:t>be</a:t>
            </a:r>
            <a:r>
              <a:rPr lang="nl-NL" sz="2000" dirty="0"/>
              <a:t> a </a:t>
            </a:r>
            <a:r>
              <a:rPr lang="nl-NL" sz="2000" dirty="0" err="1"/>
              <a:t>universal</a:t>
            </a:r>
            <a:r>
              <a:rPr lang="nl-NL" sz="2000" dirty="0"/>
              <a:t> property </a:t>
            </a:r>
            <a:r>
              <a:rPr lang="nl-NL" sz="2000" dirty="0" err="1"/>
              <a:t>if</a:t>
            </a:r>
            <a:r>
              <a:rPr lang="nl-NL" sz="2000" dirty="0"/>
              <a:t> </a:t>
            </a:r>
            <a:r>
              <a:rPr lang="nl-NL" sz="2000" dirty="0" err="1"/>
              <a:t>solipsism</a:t>
            </a:r>
            <a:r>
              <a:rPr lang="nl-NL" sz="2000" dirty="0"/>
              <a:t> </a:t>
            </a:r>
            <a:r>
              <a:rPr lang="nl-NL" sz="2000" dirty="0" err="1"/>
              <a:t>were</a:t>
            </a:r>
            <a:r>
              <a:rPr lang="nl-NL" sz="2000" dirty="0"/>
              <a:t> </a:t>
            </a:r>
            <a:r>
              <a:rPr lang="nl-NL" sz="2000" dirty="0" err="1"/>
              <a:t>true</a:t>
            </a:r>
            <a:r>
              <a:rPr lang="nl-NL" sz="2000" dirty="0"/>
              <a:t>. But </a:t>
            </a:r>
            <a:r>
              <a:rPr lang="nl-NL" sz="2000" dirty="0" err="1"/>
              <a:t>there</a:t>
            </a:r>
            <a:r>
              <a:rPr lang="nl-NL" sz="2000" dirty="0"/>
              <a:t> are no </a:t>
            </a:r>
            <a:r>
              <a:rPr lang="nl-NL" sz="2000" dirty="0" err="1"/>
              <a:t>universal</a:t>
            </a:r>
            <a:r>
              <a:rPr lang="nl-NL" sz="2000" dirty="0"/>
              <a:t> </a:t>
            </a:r>
            <a:r>
              <a:rPr lang="nl-NL" sz="2000" dirty="0" err="1"/>
              <a:t>properties</a:t>
            </a:r>
            <a:r>
              <a:rPr lang="nl-NL" sz="2000" dirty="0"/>
              <a:t>. The </a:t>
            </a:r>
            <a:r>
              <a:rPr lang="nl-NL" sz="2000" dirty="0" err="1"/>
              <a:t>famous</a:t>
            </a:r>
            <a:r>
              <a:rPr lang="nl-NL" sz="2000" dirty="0"/>
              <a:t> </a:t>
            </a:r>
            <a:r>
              <a:rPr lang="nl-NL" sz="2000" i="1" dirty="0" err="1"/>
              <a:t>problem</a:t>
            </a:r>
            <a:r>
              <a:rPr lang="nl-NL" sz="2000" i="1" dirty="0"/>
              <a:t> of </a:t>
            </a:r>
            <a:r>
              <a:rPr lang="nl-NL" sz="2000" i="1" dirty="0" err="1"/>
              <a:t>the</a:t>
            </a:r>
            <a:r>
              <a:rPr lang="nl-NL" sz="2000" i="1" dirty="0"/>
              <a:t> </a:t>
            </a:r>
            <a:r>
              <a:rPr lang="nl-NL" sz="2000" i="1" dirty="0" err="1"/>
              <a:t>existence</a:t>
            </a:r>
            <a:r>
              <a:rPr lang="nl-NL" sz="2000" i="1" dirty="0"/>
              <a:t> of </a:t>
            </a:r>
            <a:r>
              <a:rPr lang="nl-NL" sz="2000" i="1" dirty="0" err="1"/>
              <a:t>the</a:t>
            </a:r>
            <a:r>
              <a:rPr lang="nl-NL" sz="2000" i="1" dirty="0"/>
              <a:t> </a:t>
            </a:r>
            <a:r>
              <a:rPr lang="nl-NL" sz="2000" i="1" dirty="0" err="1"/>
              <a:t>external</a:t>
            </a:r>
            <a:r>
              <a:rPr lang="nl-NL" sz="2000" i="1" dirty="0"/>
              <a:t> </a:t>
            </a:r>
            <a:r>
              <a:rPr lang="nl-NL" sz="2000" i="1" dirty="0" err="1"/>
              <a:t>world</a:t>
            </a:r>
            <a:r>
              <a:rPr lang="nl-NL" sz="2000" dirty="0"/>
              <a:t> is </a:t>
            </a:r>
            <a:r>
              <a:rPr lang="nl-NL" sz="2000" dirty="0" err="1"/>
              <a:t>therefore</a:t>
            </a:r>
            <a:r>
              <a:rPr lang="nl-NL" sz="2000" dirty="0"/>
              <a:t> </a:t>
            </a:r>
            <a:r>
              <a:rPr lang="nl-NL" sz="2000" dirty="0" err="1"/>
              <a:t>solved</a:t>
            </a:r>
            <a:r>
              <a:rPr lang="nl-NL" sz="2000" dirty="0"/>
              <a:t>.</a:t>
            </a:r>
          </a:p>
        </p:txBody>
      </p:sp>
      <p:sp>
        <p:nvSpPr>
          <p:cNvPr id="14" name="Content Placeholder 2">
            <a:extLst>
              <a:ext uri="{FF2B5EF4-FFF2-40B4-BE49-F238E27FC236}">
                <a16:creationId xmlns:a16="http://schemas.microsoft.com/office/drawing/2014/main" id="{AD18193A-4FB6-C515-2BEB-61F6ABB7F436}"/>
              </a:ext>
            </a:extLst>
          </p:cNvPr>
          <p:cNvSpPr txBox="1">
            <a:spLocks/>
          </p:cNvSpPr>
          <p:nvPr/>
        </p:nvSpPr>
        <p:spPr>
          <a:xfrm>
            <a:off x="70992" y="4293096"/>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Not</a:t>
            </a:r>
            <a:r>
              <a:rPr lang="nl-NL" sz="2000" dirty="0"/>
              <a:t> </a:t>
            </a:r>
            <a:r>
              <a:rPr lang="nl-NL" sz="2000" dirty="0" err="1"/>
              <a:t>everything</a:t>
            </a:r>
            <a:r>
              <a:rPr lang="nl-NL" sz="2000" dirty="0"/>
              <a:t> is </a:t>
            </a:r>
            <a:r>
              <a:rPr lang="nl-NL" sz="2000" dirty="0" err="1"/>
              <a:t>determined</a:t>
            </a:r>
            <a:r>
              <a:rPr lang="nl-NL" sz="2000" dirty="0"/>
              <a:t>. </a:t>
            </a:r>
            <a:r>
              <a:rPr lang="nl-NL" sz="2000" dirty="0" err="1"/>
              <a:t>So</a:t>
            </a:r>
            <a:r>
              <a:rPr lang="nl-NL" sz="2000" dirty="0"/>
              <a:t> </a:t>
            </a:r>
            <a:r>
              <a:rPr lang="nl-NL" sz="2000" dirty="0" err="1"/>
              <a:t>there</a:t>
            </a:r>
            <a:r>
              <a:rPr lang="nl-NL" sz="2000" dirty="0"/>
              <a:t> are </a:t>
            </a:r>
            <a:r>
              <a:rPr lang="nl-NL" sz="2000" dirty="0" err="1"/>
              <a:t>undetermined</a:t>
            </a:r>
            <a:r>
              <a:rPr lang="nl-NL" sz="2000" dirty="0"/>
              <a:t> </a:t>
            </a:r>
            <a:r>
              <a:rPr lang="nl-NL" sz="2000" dirty="0" err="1"/>
              <a:t>objects</a:t>
            </a:r>
            <a:r>
              <a:rPr lang="nl-NL" sz="2000" dirty="0"/>
              <a:t> </a:t>
            </a:r>
            <a:r>
              <a:rPr lang="nl-NL" sz="2000" dirty="0" err="1"/>
              <a:t>and</a:t>
            </a:r>
            <a:r>
              <a:rPr lang="nl-NL" sz="2000" dirty="0"/>
              <a:t> </a:t>
            </a:r>
            <a:r>
              <a:rPr lang="nl-NL" sz="2000" dirty="0" err="1"/>
              <a:t>thus</a:t>
            </a:r>
            <a:r>
              <a:rPr lang="nl-NL" sz="2000" dirty="0"/>
              <a:t>     </a:t>
            </a:r>
            <a:r>
              <a:rPr lang="nl-NL" sz="2000" dirty="0" err="1"/>
              <a:t>there</a:t>
            </a:r>
            <a:r>
              <a:rPr lang="nl-NL" sz="2000" dirty="0"/>
              <a:t> is </a:t>
            </a:r>
            <a:r>
              <a:rPr lang="nl-NL" sz="2000" dirty="0" err="1"/>
              <a:t>genuine</a:t>
            </a:r>
            <a:r>
              <a:rPr lang="nl-NL" sz="2000" dirty="0"/>
              <a:t> </a:t>
            </a:r>
            <a:r>
              <a:rPr lang="nl-NL" sz="2000" i="1" dirty="0"/>
              <a:t>free </a:t>
            </a:r>
            <a:r>
              <a:rPr lang="nl-NL" sz="2000" i="1" dirty="0" err="1"/>
              <a:t>will</a:t>
            </a:r>
            <a:r>
              <a:rPr lang="nl-NL" sz="2000" dirty="0"/>
              <a:t>. For </a:t>
            </a:r>
            <a:r>
              <a:rPr lang="nl-NL" sz="2000" dirty="0" err="1"/>
              <a:t>objective</a:t>
            </a:r>
            <a:r>
              <a:rPr lang="nl-NL" sz="2000" dirty="0"/>
              <a:t> </a:t>
            </a:r>
            <a:r>
              <a:rPr lang="nl-NL" sz="2000" dirty="0" err="1"/>
              <a:t>randomness</a:t>
            </a:r>
            <a:r>
              <a:rPr lang="nl-NL" sz="2000" dirty="0"/>
              <a:t> is </a:t>
            </a:r>
            <a:r>
              <a:rPr lang="nl-NL" sz="2000" dirty="0" err="1"/>
              <a:t>impossible</a:t>
            </a:r>
            <a:r>
              <a:rPr lang="nl-NL" sz="2000" dirty="0"/>
              <a:t> (Rutten 2012).</a:t>
            </a:r>
          </a:p>
        </p:txBody>
      </p:sp>
      <p:sp>
        <p:nvSpPr>
          <p:cNvPr id="15" name="Content Placeholder 2">
            <a:extLst>
              <a:ext uri="{FF2B5EF4-FFF2-40B4-BE49-F238E27FC236}">
                <a16:creationId xmlns:a16="http://schemas.microsoft.com/office/drawing/2014/main" id="{7AA67E1D-D0DC-2D22-0099-CC1946D04A4D}"/>
              </a:ext>
            </a:extLst>
          </p:cNvPr>
          <p:cNvSpPr txBox="1">
            <a:spLocks/>
          </p:cNvSpPr>
          <p:nvPr/>
        </p:nvSpPr>
        <p:spPr>
          <a:xfrm>
            <a:off x="70992" y="5085184"/>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Not</a:t>
            </a:r>
            <a:r>
              <a:rPr lang="nl-NL" sz="2000" dirty="0"/>
              <a:t> </a:t>
            </a:r>
            <a:r>
              <a:rPr lang="nl-NL" sz="2000" dirty="0" err="1"/>
              <a:t>everything</a:t>
            </a:r>
            <a:r>
              <a:rPr lang="nl-NL" sz="2000" dirty="0"/>
              <a:t> is contingent. </a:t>
            </a:r>
            <a:r>
              <a:rPr lang="nl-NL" sz="2000" dirty="0" err="1"/>
              <a:t>So</a:t>
            </a:r>
            <a:r>
              <a:rPr lang="nl-NL" sz="2000" dirty="0"/>
              <a:t> </a:t>
            </a:r>
            <a:r>
              <a:rPr lang="nl-NL" sz="2000" dirty="0" err="1"/>
              <a:t>there</a:t>
            </a:r>
            <a:r>
              <a:rPr lang="nl-NL" sz="2000" dirty="0"/>
              <a:t> </a:t>
            </a:r>
            <a:r>
              <a:rPr lang="nl-NL" sz="2000" dirty="0" err="1"/>
              <a:t>exists</a:t>
            </a:r>
            <a:r>
              <a:rPr lang="nl-NL" sz="2000" dirty="0"/>
              <a:t> a </a:t>
            </a:r>
            <a:r>
              <a:rPr lang="nl-NL" sz="2000" i="1" dirty="0" err="1"/>
              <a:t>necessarily</a:t>
            </a:r>
            <a:r>
              <a:rPr lang="nl-NL" sz="2000" i="1" dirty="0"/>
              <a:t> </a:t>
            </a:r>
            <a:r>
              <a:rPr lang="nl-NL" sz="2000" i="1" dirty="0" err="1"/>
              <a:t>existing</a:t>
            </a:r>
            <a:r>
              <a:rPr lang="nl-NL" sz="2000" dirty="0"/>
              <a:t> object. As a </a:t>
            </a:r>
            <a:r>
              <a:rPr lang="nl-NL" sz="2000" dirty="0" err="1"/>
              <a:t>corollary</a:t>
            </a:r>
            <a:r>
              <a:rPr lang="nl-NL" sz="2000" dirty="0"/>
              <a:t> we </a:t>
            </a:r>
            <a:r>
              <a:rPr lang="nl-NL" sz="2000" dirty="0" err="1"/>
              <a:t>obtain</a:t>
            </a:r>
            <a:r>
              <a:rPr lang="nl-NL" sz="2000" dirty="0"/>
              <a:t> a new </a:t>
            </a:r>
            <a:r>
              <a:rPr lang="nl-NL" sz="2000" dirty="0" err="1"/>
              <a:t>ontological</a:t>
            </a:r>
            <a:r>
              <a:rPr lang="nl-NL" sz="2000" dirty="0"/>
              <a:t> argument </a:t>
            </a:r>
            <a:r>
              <a:rPr lang="nl-NL" sz="2000" dirty="0" err="1"/>
              <a:t>for</a:t>
            </a:r>
            <a:r>
              <a:rPr lang="nl-NL" sz="2000" dirty="0"/>
              <a:t> </a:t>
            </a:r>
            <a:r>
              <a:rPr lang="nl-NL" sz="2000" dirty="0" err="1"/>
              <a:t>there</a:t>
            </a:r>
            <a:r>
              <a:rPr lang="nl-NL" sz="2000" dirty="0"/>
              <a:t> </a:t>
            </a:r>
            <a:r>
              <a:rPr lang="nl-NL" sz="2000" dirty="0" err="1"/>
              <a:t>being</a:t>
            </a:r>
            <a:r>
              <a:rPr lang="nl-NL" sz="2000" dirty="0"/>
              <a:t> a </a:t>
            </a:r>
            <a:r>
              <a:rPr lang="nl-NL" sz="2000" dirty="0" err="1"/>
              <a:t>necessary</a:t>
            </a:r>
            <a:r>
              <a:rPr lang="nl-NL" sz="2000" dirty="0"/>
              <a:t> </a:t>
            </a:r>
            <a:r>
              <a:rPr lang="nl-NL" sz="2000" dirty="0" err="1"/>
              <a:t>being</a:t>
            </a:r>
            <a:r>
              <a:rPr lang="nl-NL" sz="2000" dirty="0"/>
              <a:t>.</a:t>
            </a:r>
          </a:p>
        </p:txBody>
      </p:sp>
      <p:sp>
        <p:nvSpPr>
          <p:cNvPr id="19" name="Title 1">
            <a:extLst>
              <a:ext uri="{FF2B5EF4-FFF2-40B4-BE49-F238E27FC236}">
                <a16:creationId xmlns:a16="http://schemas.microsoft.com/office/drawing/2014/main" id="{0C793BE7-666D-9E21-6DE1-B642A8028EA5}"/>
              </a:ext>
            </a:extLst>
          </p:cNvPr>
          <p:cNvSpPr>
            <a:spLocks noGrp="1"/>
          </p:cNvSpPr>
          <p:nvPr>
            <p:ph type="title"/>
          </p:nvPr>
        </p:nvSpPr>
        <p:spPr>
          <a:xfrm>
            <a:off x="-73024" y="-171400"/>
            <a:ext cx="9253536" cy="1143000"/>
          </a:xfrm>
        </p:spPr>
        <p:txBody>
          <a:bodyPr>
            <a:normAutofit/>
          </a:bodyPr>
          <a:lstStyle/>
          <a:p>
            <a:r>
              <a:rPr lang="nl-NL" sz="3200" dirty="0" err="1"/>
              <a:t>Implications</a:t>
            </a:r>
            <a:r>
              <a:rPr lang="nl-NL" sz="3200" dirty="0"/>
              <a:t> of no </a:t>
            </a:r>
            <a:r>
              <a:rPr lang="nl-NL" sz="3200" dirty="0" err="1"/>
              <a:t>universal</a:t>
            </a:r>
            <a:r>
              <a:rPr lang="nl-NL" sz="3200" dirty="0"/>
              <a:t> </a:t>
            </a:r>
            <a:r>
              <a:rPr lang="nl-NL" sz="3200" dirty="0" err="1"/>
              <a:t>properties</a:t>
            </a:r>
            <a:r>
              <a:rPr lang="nl-NL" sz="3200" dirty="0"/>
              <a:t> (</a:t>
            </a:r>
            <a:r>
              <a:rPr lang="nl-NL" sz="3200" dirty="0" err="1"/>
              <a:t>cont</a:t>
            </a:r>
            <a:r>
              <a:rPr lang="nl-NL" sz="3200" dirty="0"/>
              <a:t>.)</a:t>
            </a:r>
          </a:p>
        </p:txBody>
      </p:sp>
      <p:sp>
        <p:nvSpPr>
          <p:cNvPr id="20" name="Content Placeholder 2">
            <a:extLst>
              <a:ext uri="{FF2B5EF4-FFF2-40B4-BE49-F238E27FC236}">
                <a16:creationId xmlns:a16="http://schemas.microsoft.com/office/drawing/2014/main" id="{6E21D8D5-5E0D-3C11-5D15-5A503ACA5303}"/>
              </a:ext>
            </a:extLst>
          </p:cNvPr>
          <p:cNvSpPr txBox="1">
            <a:spLocks/>
          </p:cNvSpPr>
          <p:nvPr/>
        </p:nvSpPr>
        <p:spPr>
          <a:xfrm>
            <a:off x="70992" y="5877272"/>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Not</a:t>
            </a:r>
            <a:r>
              <a:rPr lang="nl-NL" sz="2000" dirty="0"/>
              <a:t> </a:t>
            </a:r>
            <a:r>
              <a:rPr lang="nl-NL" sz="2000" dirty="0" err="1"/>
              <a:t>everything</a:t>
            </a:r>
            <a:r>
              <a:rPr lang="nl-NL" sz="2000" dirty="0"/>
              <a:t> is </a:t>
            </a:r>
            <a:r>
              <a:rPr lang="nl-NL" sz="2000" dirty="0" err="1"/>
              <a:t>spatial</a:t>
            </a:r>
            <a:r>
              <a:rPr lang="nl-NL" sz="2000" dirty="0"/>
              <a:t> or </a:t>
            </a:r>
            <a:r>
              <a:rPr lang="nl-NL" sz="2000" dirty="0" err="1"/>
              <a:t>temporal</a:t>
            </a:r>
            <a:r>
              <a:rPr lang="nl-NL" sz="2000" dirty="0"/>
              <a:t>. </a:t>
            </a:r>
            <a:r>
              <a:rPr lang="nl-NL" sz="2000" dirty="0" err="1"/>
              <a:t>There</a:t>
            </a:r>
            <a:r>
              <a:rPr lang="nl-NL" sz="2000" dirty="0"/>
              <a:t> are </a:t>
            </a:r>
            <a:r>
              <a:rPr lang="nl-NL" sz="2000" i="1" dirty="0"/>
              <a:t>a-</a:t>
            </a:r>
            <a:r>
              <a:rPr lang="nl-NL" sz="2000" i="1" dirty="0" err="1"/>
              <a:t>spatial</a:t>
            </a:r>
            <a:r>
              <a:rPr lang="nl-NL" sz="2000" dirty="0"/>
              <a:t> </a:t>
            </a:r>
            <a:r>
              <a:rPr lang="nl-NL" sz="2000" dirty="0" err="1"/>
              <a:t>and</a:t>
            </a:r>
            <a:r>
              <a:rPr lang="nl-NL" sz="2000" dirty="0"/>
              <a:t> </a:t>
            </a:r>
            <a:r>
              <a:rPr lang="nl-NL" sz="2000" i="1" dirty="0"/>
              <a:t>a-temportal</a:t>
            </a:r>
            <a:r>
              <a:rPr lang="nl-NL" sz="2000" dirty="0"/>
              <a:t> </a:t>
            </a:r>
            <a:r>
              <a:rPr lang="nl-NL" sz="2000" dirty="0" err="1"/>
              <a:t>objects</a:t>
            </a:r>
            <a:r>
              <a:rPr lang="nl-NL" sz="2000" dirty="0"/>
              <a:t>.</a:t>
            </a:r>
          </a:p>
        </p:txBody>
      </p:sp>
    </p:spTree>
    <p:extLst>
      <p:ext uri="{BB962C8B-B14F-4D97-AF65-F5344CB8AC3E}">
        <p14:creationId xmlns:p14="http://schemas.microsoft.com/office/powerpoint/2010/main" val="408009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2" grpId="0"/>
      <p:bldP spid="14" grpId="0"/>
      <p:bldP spid="15"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4" y="-171400"/>
            <a:ext cx="9253536" cy="1143000"/>
          </a:xfrm>
        </p:spPr>
        <p:txBody>
          <a:bodyPr>
            <a:normAutofit/>
          </a:bodyPr>
          <a:lstStyle/>
          <a:p>
            <a:r>
              <a:rPr lang="nl-NL" sz="3200" dirty="0" err="1"/>
              <a:t>Implications</a:t>
            </a:r>
            <a:r>
              <a:rPr lang="nl-NL" sz="3200" dirty="0"/>
              <a:t> of no </a:t>
            </a:r>
            <a:r>
              <a:rPr lang="nl-NL" sz="3200" dirty="0" err="1"/>
              <a:t>universal</a:t>
            </a:r>
            <a:r>
              <a:rPr lang="nl-NL" sz="3200" dirty="0"/>
              <a:t> </a:t>
            </a:r>
            <a:r>
              <a:rPr lang="nl-NL" sz="3200" dirty="0" err="1"/>
              <a:t>properties</a:t>
            </a:r>
            <a:r>
              <a:rPr lang="nl-NL" sz="3200" dirty="0"/>
              <a:t> (</a:t>
            </a:r>
            <a:r>
              <a:rPr lang="nl-NL" sz="3200" dirty="0" err="1"/>
              <a:t>cont</a:t>
            </a:r>
            <a:r>
              <a:rPr lang="nl-NL" sz="3200" dirty="0"/>
              <a:t>.)</a:t>
            </a:r>
          </a:p>
        </p:txBody>
      </p:sp>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70992" y="880120"/>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Not everything that exists is actual. There exist non-actual objects. Hence </a:t>
            </a:r>
            <a:r>
              <a:rPr lang="en-US" sz="2000" i="1" dirty="0"/>
              <a:t>mere </a:t>
            </a:r>
            <a:r>
              <a:rPr lang="en-US" sz="2000" i="1" dirty="0" err="1"/>
              <a:t>possibilia</a:t>
            </a:r>
            <a:r>
              <a:rPr lang="en-US" sz="2000" dirty="0"/>
              <a:t> indeed exist. Also, not everything is a composite of matter and form. So there are objects that exist as </a:t>
            </a:r>
            <a:r>
              <a:rPr lang="en-US" sz="2000" i="1" dirty="0"/>
              <a:t>pure form</a:t>
            </a:r>
            <a:r>
              <a:rPr lang="en-US" sz="2000" dirty="0"/>
              <a:t> – as Aristotle and Aquinas assert. </a:t>
            </a:r>
            <a:endParaRPr lang="nl-NL" sz="2000" dirty="0"/>
          </a:p>
        </p:txBody>
      </p:sp>
      <p:sp>
        <p:nvSpPr>
          <p:cNvPr id="12" name="Content Placeholder 2">
            <a:extLst>
              <a:ext uri="{FF2B5EF4-FFF2-40B4-BE49-F238E27FC236}">
                <a16:creationId xmlns:a16="http://schemas.microsoft.com/office/drawing/2014/main" id="{7D859270-145B-35C4-4C5A-0F32F83108F5}"/>
              </a:ext>
            </a:extLst>
          </p:cNvPr>
          <p:cNvSpPr txBox="1">
            <a:spLocks/>
          </p:cNvSpPr>
          <p:nvPr/>
        </p:nvSpPr>
        <p:spPr>
          <a:xfrm>
            <a:off x="70992" y="1931640"/>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Not everything is good. So there must be objects that are not good. Evil exists. This corollary opens the pathway to a radically new and unforeseen </a:t>
            </a:r>
            <a:r>
              <a:rPr lang="en-US" sz="2000" i="1" dirty="0"/>
              <a:t>theodicy</a:t>
            </a:r>
            <a:r>
              <a:rPr lang="en-US" sz="2000" dirty="0"/>
              <a:t>.</a:t>
            </a:r>
            <a:endParaRPr lang="nl-NL" sz="2000" dirty="0"/>
          </a:p>
        </p:txBody>
      </p:sp>
      <p:sp>
        <p:nvSpPr>
          <p:cNvPr id="14" name="Content Placeholder 2">
            <a:extLst>
              <a:ext uri="{FF2B5EF4-FFF2-40B4-BE49-F238E27FC236}">
                <a16:creationId xmlns:a16="http://schemas.microsoft.com/office/drawing/2014/main" id="{778615FF-C887-9B5E-B760-AF123177ACD1}"/>
              </a:ext>
            </a:extLst>
          </p:cNvPr>
          <p:cNvSpPr txBox="1">
            <a:spLocks/>
          </p:cNvSpPr>
          <p:nvPr/>
        </p:nvSpPr>
        <p:spPr>
          <a:xfrm>
            <a:off x="70992" y="2666528"/>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Not everything is caused. So there must be </a:t>
            </a:r>
            <a:r>
              <a:rPr lang="en-US" sz="2000" i="1" dirty="0"/>
              <a:t>uncaused objects</a:t>
            </a:r>
            <a:r>
              <a:rPr lang="en-US" sz="2000" dirty="0"/>
              <a:t>.</a:t>
            </a:r>
            <a:endParaRPr lang="nl-NL" sz="2000" dirty="0"/>
          </a:p>
        </p:txBody>
      </p:sp>
      <p:sp>
        <p:nvSpPr>
          <p:cNvPr id="15" name="Content Placeholder 2">
            <a:extLst>
              <a:ext uri="{FF2B5EF4-FFF2-40B4-BE49-F238E27FC236}">
                <a16:creationId xmlns:a16="http://schemas.microsoft.com/office/drawing/2014/main" id="{F7E867FA-B05F-6FF6-B0B5-38290578453B}"/>
              </a:ext>
            </a:extLst>
          </p:cNvPr>
          <p:cNvSpPr txBox="1">
            <a:spLocks/>
          </p:cNvSpPr>
          <p:nvPr/>
        </p:nvSpPr>
        <p:spPr>
          <a:xfrm>
            <a:off x="35496" y="3904456"/>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Even the famous question of Leibniz can be answered. </a:t>
            </a:r>
            <a:r>
              <a:rPr lang="en-US" sz="2000" i="1" dirty="0"/>
              <a:t>Why is there something rather than nothing?</a:t>
            </a:r>
            <a:r>
              <a:rPr lang="en-US" sz="2000" dirty="0"/>
              <a:t> The answer is that there must be objects. Because else all properties would be universal due to the logical principle of </a:t>
            </a:r>
            <a:r>
              <a:rPr lang="en-US" sz="2000" i="1" dirty="0"/>
              <a:t>ex </a:t>
            </a:r>
            <a:r>
              <a:rPr lang="en-US" sz="2000" i="1" dirty="0" err="1"/>
              <a:t>falso</a:t>
            </a:r>
            <a:r>
              <a:rPr lang="en-US" sz="2000" i="1" dirty="0"/>
              <a:t> quodlibet</a:t>
            </a:r>
            <a:r>
              <a:rPr lang="en-US" sz="2000" dirty="0"/>
              <a:t>.</a:t>
            </a:r>
            <a:endParaRPr lang="nl-NL" sz="2000" dirty="0"/>
          </a:p>
        </p:txBody>
      </p:sp>
      <p:sp>
        <p:nvSpPr>
          <p:cNvPr id="16" name="Content Placeholder 2">
            <a:extLst>
              <a:ext uri="{FF2B5EF4-FFF2-40B4-BE49-F238E27FC236}">
                <a16:creationId xmlns:a16="http://schemas.microsoft.com/office/drawing/2014/main" id="{76180175-4602-4298-2269-B0C60D052525}"/>
              </a:ext>
            </a:extLst>
          </p:cNvPr>
          <p:cNvSpPr txBox="1">
            <a:spLocks/>
          </p:cNvSpPr>
          <p:nvPr/>
        </p:nvSpPr>
        <p:spPr>
          <a:xfrm>
            <a:off x="35496" y="4984576"/>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Reality contains immaterial, non-physical, supernatural, transcendent, necessarily existing, uncaused, abstract, free, eternal, infinite, a-spatial and a-temporal objects. </a:t>
            </a:r>
            <a:endParaRPr lang="nl-NL" sz="2000" dirty="0"/>
          </a:p>
        </p:txBody>
      </p:sp>
      <p:sp>
        <p:nvSpPr>
          <p:cNvPr id="17" name="Content Placeholder 2">
            <a:extLst>
              <a:ext uri="{FF2B5EF4-FFF2-40B4-BE49-F238E27FC236}">
                <a16:creationId xmlns:a16="http://schemas.microsoft.com/office/drawing/2014/main" id="{D47E34F1-B821-8A82-EA6A-645B3373EF9F}"/>
              </a:ext>
            </a:extLst>
          </p:cNvPr>
          <p:cNvSpPr txBox="1">
            <a:spLocks/>
          </p:cNvSpPr>
          <p:nvPr/>
        </p:nvSpPr>
        <p:spPr>
          <a:xfrm>
            <a:off x="70992" y="3155776"/>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Not everything is a mereological composite. So there are mereological simples. There are </a:t>
            </a:r>
            <a:r>
              <a:rPr lang="en-US" sz="2000" i="1" dirty="0"/>
              <a:t>atoms</a:t>
            </a:r>
            <a:r>
              <a:rPr lang="en-US" sz="2000" dirty="0"/>
              <a:t>. There is thus indeed a fundamental or </a:t>
            </a:r>
            <a:r>
              <a:rPr lang="en-US" sz="2000" i="1" dirty="0"/>
              <a:t>ultimate level of reality</a:t>
            </a:r>
            <a:r>
              <a:rPr lang="en-US" sz="2000" dirty="0"/>
              <a:t>.</a:t>
            </a:r>
            <a:endParaRPr lang="nl-NL" sz="2000" dirty="0"/>
          </a:p>
        </p:txBody>
      </p:sp>
      <p:sp>
        <p:nvSpPr>
          <p:cNvPr id="3" name="Content Placeholder 2">
            <a:extLst>
              <a:ext uri="{FF2B5EF4-FFF2-40B4-BE49-F238E27FC236}">
                <a16:creationId xmlns:a16="http://schemas.microsoft.com/office/drawing/2014/main" id="{5B191A97-7139-7D99-0409-D5FC69C1BDA5}"/>
              </a:ext>
            </a:extLst>
          </p:cNvPr>
          <p:cNvSpPr txBox="1">
            <a:spLocks/>
          </p:cNvSpPr>
          <p:nvPr/>
        </p:nvSpPr>
        <p:spPr>
          <a:xfrm>
            <a:off x="35496" y="5704656"/>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This is incompatible with common atheistic worldviews. Those objects naturally fit with a worldview that is diametrically opposed to atheism: </a:t>
            </a:r>
            <a:r>
              <a:rPr lang="en-US" sz="2000" i="1" dirty="0"/>
              <a:t>theism</a:t>
            </a:r>
            <a:r>
              <a:rPr lang="en-US" sz="2000" dirty="0"/>
              <a:t>. The absence of universal properties therefore </a:t>
            </a:r>
            <a:r>
              <a:rPr lang="en-US" sz="2000" i="1" dirty="0"/>
              <a:t>increases the likelihood of theism</a:t>
            </a:r>
            <a:r>
              <a:rPr lang="en-US" sz="2000" dirty="0"/>
              <a:t> significantly.</a:t>
            </a:r>
          </a:p>
          <a:p>
            <a:endParaRPr lang="nl-NL" sz="2000" dirty="0"/>
          </a:p>
        </p:txBody>
      </p:sp>
    </p:spTree>
    <p:extLst>
      <p:ext uri="{BB962C8B-B14F-4D97-AF65-F5344CB8AC3E}">
        <p14:creationId xmlns:p14="http://schemas.microsoft.com/office/powerpoint/2010/main" val="3917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7"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4" y="-171400"/>
            <a:ext cx="9253536" cy="1143000"/>
          </a:xfrm>
        </p:spPr>
        <p:txBody>
          <a:bodyPr>
            <a:normAutofit/>
          </a:bodyPr>
          <a:lstStyle/>
          <a:p>
            <a:r>
              <a:rPr lang="nl-NL" sz="3200" dirty="0" err="1"/>
              <a:t>Increasing</a:t>
            </a:r>
            <a:r>
              <a:rPr lang="nl-NL" sz="3200" dirty="0"/>
              <a:t> </a:t>
            </a:r>
            <a:r>
              <a:rPr lang="nl-NL" sz="3200" dirty="0" err="1"/>
              <a:t>the</a:t>
            </a:r>
            <a:r>
              <a:rPr lang="nl-NL" sz="3200" dirty="0"/>
              <a:t> </a:t>
            </a:r>
            <a:r>
              <a:rPr lang="nl-NL" sz="3200" dirty="0" err="1"/>
              <a:t>likelihood</a:t>
            </a:r>
            <a:r>
              <a:rPr lang="nl-NL" sz="3200" dirty="0"/>
              <a:t> of </a:t>
            </a:r>
            <a:r>
              <a:rPr lang="nl-NL" sz="3200" dirty="0" err="1"/>
              <a:t>theism</a:t>
            </a:r>
            <a:endParaRPr lang="nl-NL" sz="3200" dirty="0"/>
          </a:p>
        </p:txBody>
      </p:sp>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35496" y="880120"/>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By</a:t>
            </a:r>
            <a:r>
              <a:rPr lang="nl-NL" sz="2000" dirty="0"/>
              <a:t> </a:t>
            </a:r>
            <a:r>
              <a:rPr lang="nl-NL" sz="2000" dirty="0" err="1"/>
              <a:t>now</a:t>
            </a:r>
            <a:r>
              <a:rPr lang="nl-NL" sz="2000" dirty="0"/>
              <a:t> </a:t>
            </a:r>
            <a:r>
              <a:rPr lang="nl-NL" sz="2000" dirty="0" err="1"/>
              <a:t>the</a:t>
            </a:r>
            <a:r>
              <a:rPr lang="nl-NL" sz="2000" dirty="0"/>
              <a:t> </a:t>
            </a:r>
            <a:r>
              <a:rPr lang="nl-NL" sz="2000" dirty="0" err="1"/>
              <a:t>recipe</a:t>
            </a:r>
            <a:r>
              <a:rPr lang="nl-NL" sz="2000" dirty="0"/>
              <a:t> </a:t>
            </a:r>
            <a:r>
              <a:rPr lang="nl-NL" sz="2000" dirty="0" err="1"/>
              <a:t>for</a:t>
            </a:r>
            <a:r>
              <a:rPr lang="nl-NL" sz="2000" dirty="0"/>
              <a:t> </a:t>
            </a:r>
            <a:r>
              <a:rPr lang="nl-NL" sz="2000" dirty="0" err="1"/>
              <a:t>deriving</a:t>
            </a:r>
            <a:r>
              <a:rPr lang="nl-NL" sz="2000" dirty="0"/>
              <a:t> </a:t>
            </a:r>
            <a:r>
              <a:rPr lang="nl-NL" sz="2000" dirty="0" err="1"/>
              <a:t>further</a:t>
            </a:r>
            <a:r>
              <a:rPr lang="nl-NL" sz="2000" dirty="0"/>
              <a:t> </a:t>
            </a:r>
            <a:r>
              <a:rPr lang="nl-NL" sz="2000" dirty="0" err="1"/>
              <a:t>corollaries</a:t>
            </a:r>
            <a:r>
              <a:rPr lang="nl-NL" sz="2000" dirty="0"/>
              <a:t> of interest </a:t>
            </a:r>
            <a:r>
              <a:rPr lang="nl-NL" sz="2000" dirty="0" err="1"/>
              <a:t>to</a:t>
            </a:r>
            <a:r>
              <a:rPr lang="nl-NL" sz="2000" dirty="0"/>
              <a:t> long-standing </a:t>
            </a:r>
            <a:r>
              <a:rPr lang="nl-NL" sz="2000" dirty="0" err="1"/>
              <a:t>debates</a:t>
            </a:r>
            <a:r>
              <a:rPr lang="nl-NL" sz="2000" dirty="0"/>
              <a:t> in </a:t>
            </a:r>
            <a:r>
              <a:rPr lang="nl-NL" sz="2000" dirty="0" err="1"/>
              <a:t>metaphysics</a:t>
            </a:r>
            <a:r>
              <a:rPr lang="nl-NL" sz="2000" dirty="0"/>
              <a:t> </a:t>
            </a:r>
            <a:r>
              <a:rPr lang="nl-NL" sz="2000" dirty="0" err="1"/>
              <a:t>will</a:t>
            </a:r>
            <a:r>
              <a:rPr lang="nl-NL" sz="2000" dirty="0"/>
              <a:t> </a:t>
            </a:r>
            <a:r>
              <a:rPr lang="nl-NL" sz="2000" dirty="0" err="1"/>
              <a:t>be</a:t>
            </a:r>
            <a:r>
              <a:rPr lang="nl-NL" sz="2000" dirty="0"/>
              <a:t> </a:t>
            </a:r>
            <a:r>
              <a:rPr lang="nl-NL" sz="2000" dirty="0" err="1"/>
              <a:t>clear</a:t>
            </a:r>
            <a:r>
              <a:rPr lang="nl-NL" sz="2000" dirty="0"/>
              <a:t> </a:t>
            </a:r>
            <a:r>
              <a:rPr lang="nl-NL" sz="2000" dirty="0" err="1"/>
              <a:t>enough</a:t>
            </a:r>
            <a:r>
              <a:rPr lang="nl-NL" sz="2000" dirty="0"/>
              <a:t>. </a:t>
            </a:r>
            <a:r>
              <a:rPr lang="nl-NL" sz="2000" dirty="0" err="1"/>
              <a:t>There</a:t>
            </a:r>
            <a:r>
              <a:rPr lang="nl-NL" sz="2000" dirty="0"/>
              <a:t> is </a:t>
            </a:r>
            <a:r>
              <a:rPr lang="nl-NL" sz="2000" dirty="0" err="1"/>
              <a:t>an</a:t>
            </a:r>
            <a:r>
              <a:rPr lang="nl-NL" sz="2000" dirty="0"/>
              <a:t> </a:t>
            </a:r>
            <a:r>
              <a:rPr lang="nl-NL" sz="2000" dirty="0" err="1"/>
              <a:t>abundance</a:t>
            </a:r>
            <a:r>
              <a:rPr lang="nl-NL" sz="2000" dirty="0"/>
              <a:t> of </a:t>
            </a:r>
            <a:r>
              <a:rPr lang="nl-NL" sz="2000" dirty="0" err="1"/>
              <a:t>corollaries</a:t>
            </a:r>
            <a:r>
              <a:rPr lang="nl-NL" sz="2000" dirty="0"/>
              <a:t>. </a:t>
            </a:r>
          </a:p>
        </p:txBody>
      </p:sp>
      <p:sp>
        <p:nvSpPr>
          <p:cNvPr id="5" name="Content Placeholder 2">
            <a:extLst>
              <a:ext uri="{FF2B5EF4-FFF2-40B4-BE49-F238E27FC236}">
                <a16:creationId xmlns:a16="http://schemas.microsoft.com/office/drawing/2014/main" id="{C7B814DD-0290-504A-A347-3997B1674E27}"/>
              </a:ext>
            </a:extLst>
          </p:cNvPr>
          <p:cNvSpPr txBox="1">
            <a:spLocks/>
          </p:cNvSpPr>
          <p:nvPr/>
        </p:nvSpPr>
        <p:spPr>
          <a:xfrm>
            <a:off x="374848" y="1340768"/>
            <a:ext cx="851763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400" i="1" dirty="0"/>
          </a:p>
        </p:txBody>
      </p:sp>
      <p:sp>
        <p:nvSpPr>
          <p:cNvPr id="6" name="Content Placeholder 2">
            <a:extLst>
              <a:ext uri="{FF2B5EF4-FFF2-40B4-BE49-F238E27FC236}">
                <a16:creationId xmlns:a16="http://schemas.microsoft.com/office/drawing/2014/main" id="{27C9677B-684D-B296-C050-56324F778E0F}"/>
              </a:ext>
            </a:extLst>
          </p:cNvPr>
          <p:cNvSpPr txBox="1">
            <a:spLocks/>
          </p:cNvSpPr>
          <p:nvPr/>
        </p:nvSpPr>
        <p:spPr>
          <a:xfrm>
            <a:off x="35496" y="1700808"/>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The </a:t>
            </a:r>
            <a:r>
              <a:rPr lang="nl-NL" sz="2000" dirty="0" err="1"/>
              <a:t>conclusion</a:t>
            </a:r>
            <a:r>
              <a:rPr lang="nl-NL" sz="2000" dirty="0"/>
              <a:t> of </a:t>
            </a:r>
            <a:r>
              <a:rPr lang="nl-NL" sz="2000" dirty="0" err="1"/>
              <a:t>the</a:t>
            </a:r>
            <a:r>
              <a:rPr lang="nl-NL" sz="2000" dirty="0"/>
              <a:t> </a:t>
            </a:r>
            <a:r>
              <a:rPr lang="nl-NL" sz="2000" dirty="0" err="1"/>
              <a:t>semantic</a:t>
            </a:r>
            <a:r>
              <a:rPr lang="nl-NL" sz="2000" dirty="0"/>
              <a:t> argument (i.e., </a:t>
            </a:r>
            <a:r>
              <a:rPr lang="nl-NL" sz="2000" dirty="0" err="1"/>
              <a:t>there</a:t>
            </a:r>
            <a:r>
              <a:rPr lang="nl-NL" sz="2000" dirty="0"/>
              <a:t> are no </a:t>
            </a:r>
            <a:r>
              <a:rPr lang="nl-NL" sz="2000" dirty="0" err="1"/>
              <a:t>universal</a:t>
            </a:r>
            <a:r>
              <a:rPr lang="nl-NL" sz="2000" dirty="0"/>
              <a:t> </a:t>
            </a:r>
            <a:r>
              <a:rPr lang="nl-NL" sz="2000" dirty="0" err="1"/>
              <a:t>properties</a:t>
            </a:r>
            <a:r>
              <a:rPr lang="nl-NL" sz="2000" dirty="0"/>
              <a:t>) </a:t>
            </a:r>
            <a:r>
              <a:rPr lang="nl-NL" sz="2000" dirty="0" err="1"/>
              <a:t>begins</a:t>
            </a:r>
            <a:r>
              <a:rPr lang="nl-NL" sz="2000" dirty="0"/>
              <a:t> </a:t>
            </a:r>
            <a:r>
              <a:rPr lang="nl-NL" sz="2000" dirty="0" err="1"/>
              <a:t>to</a:t>
            </a:r>
            <a:r>
              <a:rPr lang="nl-NL" sz="2000" dirty="0"/>
              <a:t> </a:t>
            </a:r>
            <a:r>
              <a:rPr lang="nl-NL" sz="2000" dirty="0" err="1"/>
              <a:t>reveal</a:t>
            </a:r>
            <a:r>
              <a:rPr lang="nl-NL" sz="2000" dirty="0"/>
              <a:t> </a:t>
            </a:r>
            <a:r>
              <a:rPr lang="nl-NL" sz="2000" dirty="0" err="1"/>
              <a:t>itself</a:t>
            </a:r>
            <a:r>
              <a:rPr lang="nl-NL" sz="2000" dirty="0"/>
              <a:t> as a </a:t>
            </a:r>
            <a:r>
              <a:rPr lang="nl-NL" sz="2000" i="1" dirty="0" err="1"/>
              <a:t>theory</a:t>
            </a:r>
            <a:r>
              <a:rPr lang="nl-NL" sz="2000" i="1" dirty="0"/>
              <a:t> of </a:t>
            </a:r>
            <a:r>
              <a:rPr lang="nl-NL" sz="2000" i="1" dirty="0" err="1"/>
              <a:t>everything</a:t>
            </a:r>
            <a:r>
              <a:rPr lang="nl-NL" sz="2000" dirty="0"/>
              <a:t>. For </a:t>
            </a:r>
            <a:r>
              <a:rPr lang="nl-NL" sz="2000" dirty="0" err="1"/>
              <a:t>the</a:t>
            </a:r>
            <a:r>
              <a:rPr lang="nl-NL" sz="2000" dirty="0"/>
              <a:t> </a:t>
            </a:r>
            <a:r>
              <a:rPr lang="nl-NL" sz="2000" dirty="0" err="1"/>
              <a:t>entire</a:t>
            </a:r>
            <a:r>
              <a:rPr lang="nl-NL" sz="2000" dirty="0"/>
              <a:t> </a:t>
            </a:r>
            <a:r>
              <a:rPr lang="nl-NL" sz="2000" dirty="0" err="1"/>
              <a:t>world</a:t>
            </a:r>
            <a:r>
              <a:rPr lang="nl-NL" sz="2000" dirty="0"/>
              <a:t> as we have </a:t>
            </a:r>
            <a:r>
              <a:rPr lang="nl-NL" sz="2000" dirty="0" err="1"/>
              <a:t>traditionally</a:t>
            </a:r>
            <a:r>
              <a:rPr lang="nl-NL" sz="2000" dirty="0"/>
              <a:t> </a:t>
            </a:r>
            <a:r>
              <a:rPr lang="nl-NL" sz="2000" dirty="0" err="1"/>
              <a:t>always</a:t>
            </a:r>
            <a:r>
              <a:rPr lang="nl-NL" sz="2000" dirty="0"/>
              <a:t> </a:t>
            </a:r>
            <a:r>
              <a:rPr lang="nl-NL" sz="2000" dirty="0" err="1"/>
              <a:t>known</a:t>
            </a:r>
            <a:r>
              <a:rPr lang="nl-NL" sz="2000" dirty="0"/>
              <a:t> </a:t>
            </a:r>
            <a:r>
              <a:rPr lang="nl-NL" sz="2000" dirty="0" err="1"/>
              <a:t>it</a:t>
            </a:r>
            <a:r>
              <a:rPr lang="nl-NL" sz="2000" dirty="0"/>
              <a:t> </a:t>
            </a:r>
            <a:r>
              <a:rPr lang="nl-NL" sz="2000" dirty="0" err="1"/>
              <a:t>throughout</a:t>
            </a:r>
            <a:r>
              <a:rPr lang="nl-NL" sz="2000" dirty="0"/>
              <a:t> </a:t>
            </a:r>
            <a:r>
              <a:rPr lang="nl-NL" sz="2000" dirty="0" err="1"/>
              <a:t>the</a:t>
            </a:r>
            <a:r>
              <a:rPr lang="nl-NL" sz="2000" dirty="0"/>
              <a:t> </a:t>
            </a:r>
            <a:r>
              <a:rPr lang="nl-NL" sz="2000" dirty="0" err="1"/>
              <a:t>ages</a:t>
            </a:r>
            <a:r>
              <a:rPr lang="nl-NL" sz="2000" dirty="0"/>
              <a:t> </a:t>
            </a:r>
            <a:r>
              <a:rPr lang="nl-NL" sz="2000" dirty="0" err="1"/>
              <a:t>seems</a:t>
            </a:r>
            <a:r>
              <a:rPr lang="nl-NL" sz="2000" dirty="0"/>
              <a:t> </a:t>
            </a:r>
            <a:r>
              <a:rPr lang="nl-NL" sz="2000" dirty="0" err="1"/>
              <a:t>to</a:t>
            </a:r>
            <a:r>
              <a:rPr lang="nl-NL" sz="2000" dirty="0"/>
              <a:t> </a:t>
            </a:r>
            <a:r>
              <a:rPr lang="nl-NL" sz="2000" dirty="0" err="1"/>
              <a:t>be</a:t>
            </a:r>
            <a:r>
              <a:rPr lang="nl-NL" sz="2000" dirty="0"/>
              <a:t> </a:t>
            </a:r>
            <a:r>
              <a:rPr lang="nl-NL" sz="2000" dirty="0" err="1"/>
              <a:t>implied</a:t>
            </a:r>
            <a:r>
              <a:rPr lang="nl-NL" sz="2000" dirty="0"/>
              <a:t> </a:t>
            </a:r>
            <a:r>
              <a:rPr lang="nl-NL" sz="2000" dirty="0" err="1"/>
              <a:t>by</a:t>
            </a:r>
            <a:r>
              <a:rPr lang="nl-NL" sz="2000" dirty="0"/>
              <a:t> it.</a:t>
            </a:r>
            <a:endParaRPr lang="nl-NL" sz="2000" i="1" dirty="0"/>
          </a:p>
          <a:p>
            <a:endParaRPr lang="nl-NL" sz="2000" dirty="0"/>
          </a:p>
        </p:txBody>
      </p:sp>
      <p:sp>
        <p:nvSpPr>
          <p:cNvPr id="7" name="Content Placeholder 2">
            <a:extLst>
              <a:ext uri="{FF2B5EF4-FFF2-40B4-BE49-F238E27FC236}">
                <a16:creationId xmlns:a16="http://schemas.microsoft.com/office/drawing/2014/main" id="{D2DA7C8F-CB9C-885C-0E9C-141CF809FCFA}"/>
              </a:ext>
            </a:extLst>
          </p:cNvPr>
          <p:cNvSpPr txBox="1">
            <a:spLocks/>
          </p:cNvSpPr>
          <p:nvPr/>
        </p:nvSpPr>
        <p:spPr>
          <a:xfrm>
            <a:off x="-36512" y="2824336"/>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9" name="Content Placeholder 2">
            <a:extLst>
              <a:ext uri="{FF2B5EF4-FFF2-40B4-BE49-F238E27FC236}">
                <a16:creationId xmlns:a16="http://schemas.microsoft.com/office/drawing/2014/main" id="{8DAD4DE9-D6B3-9E2F-8CB9-0AC2F1895015}"/>
              </a:ext>
            </a:extLst>
          </p:cNvPr>
          <p:cNvSpPr txBox="1">
            <a:spLocks/>
          </p:cNvSpPr>
          <p:nvPr/>
        </p:nvSpPr>
        <p:spPr>
          <a:xfrm>
            <a:off x="35496" y="2824336"/>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That single formula that is not ad hoc and adequately describes and explains the entire reality is not a formula within cosmology or physics. It is a formula within </a:t>
            </a:r>
            <a:r>
              <a:rPr lang="en-US" sz="2000" i="1" dirty="0"/>
              <a:t>metaphysics</a:t>
            </a:r>
            <a:r>
              <a:rPr lang="en-US" sz="2000" dirty="0"/>
              <a:t>, namely the proposition that there are no universal properties.</a:t>
            </a:r>
            <a:endParaRPr lang="nl-NL" sz="2000" dirty="0"/>
          </a:p>
        </p:txBody>
      </p:sp>
      <p:sp>
        <p:nvSpPr>
          <p:cNvPr id="10" name="Content Placeholder 2">
            <a:extLst>
              <a:ext uri="{FF2B5EF4-FFF2-40B4-BE49-F238E27FC236}">
                <a16:creationId xmlns:a16="http://schemas.microsoft.com/office/drawing/2014/main" id="{D98147BE-E6F8-8E3F-EB81-ED204F52F424}"/>
              </a:ext>
            </a:extLst>
          </p:cNvPr>
          <p:cNvSpPr txBox="1">
            <a:spLocks/>
          </p:cNvSpPr>
          <p:nvPr/>
        </p:nvSpPr>
        <p:spPr>
          <a:xfrm>
            <a:off x="35496" y="4005064"/>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The conclusion that there are no universal properties acts as a epistemic </a:t>
            </a:r>
            <a:r>
              <a:rPr lang="en-US" sz="2000" i="1" dirty="0"/>
              <a:t>filter for worldviews</a:t>
            </a:r>
            <a:r>
              <a:rPr lang="en-US" sz="2000" dirty="0"/>
              <a:t>. </a:t>
            </a:r>
            <a:r>
              <a:rPr lang="en-US" sz="2000" i="1" dirty="0"/>
              <a:t>Monistic</a:t>
            </a:r>
            <a:r>
              <a:rPr lang="en-US" sz="2000" dirty="0"/>
              <a:t> worldviews (i.e., worldviews relying on there being a universal property) such as materialism, physicalism, naturalism, immanentism, panpsychism, idealism, pantheism, vitalism, positivism and solipsism </a:t>
            </a:r>
            <a:r>
              <a:rPr lang="en-US" sz="2000" i="1" dirty="0"/>
              <a:t>all fail</a:t>
            </a:r>
            <a:r>
              <a:rPr lang="en-US" sz="2000" dirty="0"/>
              <a:t>. </a:t>
            </a:r>
            <a:endParaRPr lang="nl-NL" sz="2000" dirty="0"/>
          </a:p>
        </p:txBody>
      </p:sp>
      <p:sp>
        <p:nvSpPr>
          <p:cNvPr id="11" name="Content Placeholder 2">
            <a:extLst>
              <a:ext uri="{FF2B5EF4-FFF2-40B4-BE49-F238E27FC236}">
                <a16:creationId xmlns:a16="http://schemas.microsoft.com/office/drawing/2014/main" id="{9A1C71C1-6647-1713-F8F3-05BAA2A93AC9}"/>
              </a:ext>
            </a:extLst>
          </p:cNvPr>
          <p:cNvSpPr txBox="1">
            <a:spLocks/>
          </p:cNvSpPr>
          <p:nvPr/>
        </p:nvSpPr>
        <p:spPr>
          <a:xfrm>
            <a:off x="35496" y="5416624"/>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Only </a:t>
            </a:r>
            <a:r>
              <a:rPr lang="en-US" sz="2000" i="1" dirty="0"/>
              <a:t>dualistic</a:t>
            </a:r>
            <a:r>
              <a:rPr lang="en-US" sz="2000" dirty="0"/>
              <a:t> worldviews such as theism and Platonism survive the epistemic filter. But since Platonism effectively entails theism (Rutten 2021) reasonably theism remains as feasible or viable worldview.</a:t>
            </a:r>
            <a:endParaRPr lang="nl-NL" sz="2000" dirty="0"/>
          </a:p>
        </p:txBody>
      </p:sp>
    </p:spTree>
    <p:extLst>
      <p:ext uri="{BB962C8B-B14F-4D97-AF65-F5344CB8AC3E}">
        <p14:creationId xmlns:p14="http://schemas.microsoft.com/office/powerpoint/2010/main" val="90889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4" y="-171400"/>
            <a:ext cx="9253536" cy="1143000"/>
          </a:xfrm>
        </p:spPr>
        <p:txBody>
          <a:bodyPr>
            <a:normAutofit/>
          </a:bodyPr>
          <a:lstStyle/>
          <a:p>
            <a:r>
              <a:rPr lang="nl-NL" sz="3200" dirty="0" err="1"/>
              <a:t>Increasing</a:t>
            </a:r>
            <a:r>
              <a:rPr lang="nl-NL" sz="3200" dirty="0"/>
              <a:t> </a:t>
            </a:r>
            <a:r>
              <a:rPr lang="nl-NL" sz="3200" dirty="0" err="1"/>
              <a:t>the</a:t>
            </a:r>
            <a:r>
              <a:rPr lang="nl-NL" sz="3200" dirty="0"/>
              <a:t> </a:t>
            </a:r>
            <a:r>
              <a:rPr lang="nl-NL" sz="3200" dirty="0" err="1"/>
              <a:t>likelihood</a:t>
            </a:r>
            <a:r>
              <a:rPr lang="nl-NL" sz="3200" dirty="0"/>
              <a:t> of </a:t>
            </a:r>
            <a:r>
              <a:rPr lang="nl-NL" sz="3200" dirty="0" err="1"/>
              <a:t>theism</a:t>
            </a:r>
            <a:r>
              <a:rPr lang="nl-NL" sz="3200" dirty="0"/>
              <a:t> (</a:t>
            </a:r>
            <a:r>
              <a:rPr lang="nl-NL" sz="3200" dirty="0" err="1"/>
              <a:t>cont</a:t>
            </a:r>
            <a:r>
              <a:rPr lang="nl-NL" sz="3200" dirty="0"/>
              <a:t>.)</a:t>
            </a:r>
          </a:p>
        </p:txBody>
      </p:sp>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36512" y="880120"/>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There are no universal properties. So being cannot be restricted. It always “slips   away” from any compulsive "Everything is X" corset. That is to say, being cannot     be “squeezed” into any universalist mold. Being is radically free. The ultimate     truth of being is therefore freedom. </a:t>
            </a:r>
            <a:r>
              <a:rPr lang="en-US" sz="2000" i="1" dirty="0"/>
              <a:t>Free at last</a:t>
            </a:r>
            <a:r>
              <a:rPr lang="en-US" sz="2000" dirty="0"/>
              <a:t>. </a:t>
            </a:r>
            <a:endParaRPr lang="nl-NL" sz="2000" dirty="0"/>
          </a:p>
        </p:txBody>
      </p:sp>
      <p:sp>
        <p:nvSpPr>
          <p:cNvPr id="5" name="Content Placeholder 2">
            <a:extLst>
              <a:ext uri="{FF2B5EF4-FFF2-40B4-BE49-F238E27FC236}">
                <a16:creationId xmlns:a16="http://schemas.microsoft.com/office/drawing/2014/main" id="{C7B814DD-0290-504A-A347-3997B1674E27}"/>
              </a:ext>
            </a:extLst>
          </p:cNvPr>
          <p:cNvSpPr txBox="1">
            <a:spLocks/>
          </p:cNvSpPr>
          <p:nvPr/>
        </p:nvSpPr>
        <p:spPr>
          <a:xfrm>
            <a:off x="374848" y="1340768"/>
            <a:ext cx="851763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400" i="1" dirty="0"/>
          </a:p>
        </p:txBody>
      </p:sp>
      <p:sp>
        <p:nvSpPr>
          <p:cNvPr id="3" name="Content Placeholder 2">
            <a:extLst>
              <a:ext uri="{FF2B5EF4-FFF2-40B4-BE49-F238E27FC236}">
                <a16:creationId xmlns:a16="http://schemas.microsoft.com/office/drawing/2014/main" id="{E6E66A1D-7523-E1B6-F2C9-38618AF62D20}"/>
              </a:ext>
            </a:extLst>
          </p:cNvPr>
          <p:cNvSpPr txBox="1">
            <a:spLocks/>
          </p:cNvSpPr>
          <p:nvPr/>
        </p:nvSpPr>
        <p:spPr>
          <a:xfrm>
            <a:off x="-36512" y="2276872"/>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But freedom is grounded in </a:t>
            </a:r>
            <a:r>
              <a:rPr lang="en-US" sz="2000" i="1" dirty="0"/>
              <a:t>subjectivity</a:t>
            </a:r>
            <a:r>
              <a:rPr lang="en-US" sz="2000" dirty="0"/>
              <a:t>. Freedom is a characteristic of </a:t>
            </a:r>
            <a:r>
              <a:rPr lang="en-US" sz="2000" i="1" dirty="0"/>
              <a:t>mind</a:t>
            </a:r>
            <a:r>
              <a:rPr lang="en-US" sz="2000" dirty="0"/>
              <a:t>. The mind is free because it transcends any formalism. Dialectically speaking, mind always has the capacity for </a:t>
            </a:r>
            <a:r>
              <a:rPr lang="en-US" sz="2000" i="1" dirty="0"/>
              <a:t>negation</a:t>
            </a:r>
            <a:r>
              <a:rPr lang="en-US" sz="2000" dirty="0"/>
              <a:t>. The absence of universal properties hence reasonably suggests that the ultimate ground of the world is a free conscious   being. So the ultimate ground of reality can reasonably be referred to as </a:t>
            </a:r>
            <a:r>
              <a:rPr lang="en-US" sz="2000" i="1" dirty="0"/>
              <a:t>God</a:t>
            </a:r>
            <a:r>
              <a:rPr lang="en-US" sz="2000" dirty="0"/>
              <a:t>. </a:t>
            </a:r>
          </a:p>
          <a:p>
            <a:endParaRPr lang="nl-NL" sz="2000" dirty="0"/>
          </a:p>
        </p:txBody>
      </p:sp>
      <p:sp>
        <p:nvSpPr>
          <p:cNvPr id="4" name="Content Placeholder 2">
            <a:extLst>
              <a:ext uri="{FF2B5EF4-FFF2-40B4-BE49-F238E27FC236}">
                <a16:creationId xmlns:a16="http://schemas.microsoft.com/office/drawing/2014/main" id="{DA10B0C9-E114-69CF-EA06-9EB969EEFE24}"/>
              </a:ext>
            </a:extLst>
          </p:cNvPr>
          <p:cNvSpPr txBox="1">
            <a:spLocks/>
          </p:cNvSpPr>
          <p:nvPr/>
        </p:nvSpPr>
        <p:spPr>
          <a:xfrm>
            <a:off x="-36512" y="4048472"/>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The semantic argument thus reveals the spiritual ground of the world and shows us the intimate connection between language, reality, and the metaphysical ultimate.</a:t>
            </a:r>
            <a:endParaRPr lang="nl-NL" sz="2000" dirty="0"/>
          </a:p>
        </p:txBody>
      </p:sp>
      <p:sp>
        <p:nvSpPr>
          <p:cNvPr id="11" name="Content Placeholder 2">
            <a:extLst>
              <a:ext uri="{FF2B5EF4-FFF2-40B4-BE49-F238E27FC236}">
                <a16:creationId xmlns:a16="http://schemas.microsoft.com/office/drawing/2014/main" id="{31CF7600-4B71-32F3-B5C1-46FB791B5C30}"/>
              </a:ext>
            </a:extLst>
          </p:cNvPr>
          <p:cNvSpPr txBox="1">
            <a:spLocks/>
          </p:cNvSpPr>
          <p:nvPr/>
        </p:nvSpPr>
        <p:spPr>
          <a:xfrm>
            <a:off x="-36512" y="4869160"/>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It is no wonder that theism emerged as the most likely worldview in our </a:t>
            </a:r>
            <a:r>
              <a:rPr lang="en-US" sz="2000" i="1" dirty="0"/>
              <a:t>linguistic</a:t>
            </a:r>
            <a:r>
              <a:rPr lang="en-US" sz="2000" dirty="0"/>
              <a:t> analysis. For it is indeed language, word or </a:t>
            </a:r>
            <a:r>
              <a:rPr lang="en-US" sz="2000" i="1" dirty="0"/>
              <a:t>logos</a:t>
            </a:r>
            <a:r>
              <a:rPr lang="en-US" sz="2000" dirty="0"/>
              <a:t>, that ultimately points us to the ultimate origin of the world. For the world is the world as it is thought by logos.</a:t>
            </a:r>
            <a:endParaRPr lang="nl-NL" sz="2000" i="1" dirty="0"/>
          </a:p>
        </p:txBody>
      </p:sp>
    </p:spTree>
    <p:extLst>
      <p:ext uri="{BB962C8B-B14F-4D97-AF65-F5344CB8AC3E}">
        <p14:creationId xmlns:p14="http://schemas.microsoft.com/office/powerpoint/2010/main" val="2757438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4" grpId="0"/>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amp;#x0D;&amp;#x0A;&amp;#x0D;&amp;#x0A;Positive Universally Held Properties Are Necessarily Universally Held&amp;#x0D;&amp;#x0A;&amp;#x0D;&amp;#x0A;Annual OZSW Conference 2015 &amp;#x0D;&amp;#x0A;Vrije Univers&quot;/&gt;&lt;property id=&quot;20307&quot; value=&quot;256&quot;/&gt;&lt;/object&gt;&lt;object type=&quot;3&quot; unique_id=&quot;10005&quot;&gt;&lt;property id=&quot;20148&quot; value=&quot;5&quot;/&gt;&lt;property id=&quot;20300&quot; value=&quot;Slide 2&quot;/&gt;&lt;property id=&quot;20307&quot; value=&quot;364&quot;/&gt;&lt;/object&gt;&lt;object type=&quot;3&quot; unique_id=&quot;10006&quot;&gt;&lt;property id=&quot;20148&quot; value=&quot;5&quot;/&gt;&lt;property id=&quot;20300&quot; value=&quot;Slide 3 - &amp;quot;Preliminaries&amp;quot;&quot;/&gt;&lt;property id=&quot;20307&quot; value=&quot;262&quot;/&gt;&lt;/object&gt;&lt;object type=&quot;3&quot; unique_id=&quot;10007&quot;&gt;&lt;property id=&quot;20148&quot; value=&quot;5&quot;/&gt;&lt;property id=&quot;20300&quot; value=&quot;Slide 4 - &amp;quot;Preliminaries&amp;quot;&quot;/&gt;&lt;property id=&quot;20307&quot; value=&quot;700&quot;/&gt;&lt;/object&gt;&lt;object type=&quot;3&quot; unique_id=&quot;10008&quot;&gt;&lt;property id=&quot;20148&quot; value=&quot;5&quot;/&gt;&lt;property id=&quot;20300&quot; value=&quot;Slide 5 - &amp;quot;Premise 1&amp;quot;&quot;/&gt;&lt;property id=&quot;20307&quot; value=&quot;701&quot;/&gt;&lt;/object&gt;&lt;object type=&quot;3&quot; unique_id=&quot;10009&quot;&gt;&lt;property id=&quot;20148&quot; value=&quot;5&quot;/&gt;&lt;property id=&quot;20300&quot; value=&quot;Slide 6 - &amp;quot;Premise 2&amp;quot;&quot;/&gt;&lt;property id=&quot;20307&quot; value=&quot;702&quot;/&gt;&lt;/object&gt;&lt;object type=&quot;3&quot; unique_id=&quot;10010&quot;&gt;&lt;property id=&quot;20148&quot; value=&quot;5&quot;/&gt;&lt;property id=&quot;20300&quot; value=&quot;Slide 7 - &amp;quot;Premise 2&amp;quot;&quot;/&gt;&lt;property id=&quot;20307&quot; value=&quot;703&quot;/&gt;&lt;/object&gt;&lt;object type=&quot;3&quot; unique_id=&quot;10011&quot;&gt;&lt;property id=&quot;20148&quot; value=&quot;5&quot;/&gt;&lt;property id=&quot;20300&quot; value=&quot;Slide 8 - &amp;quot;Premise 3&amp;quot;&quot;/&gt;&lt;property id=&quot;20307&quot; value=&quot;704&quot;/&gt;&lt;/object&gt;&lt;object type=&quot;3&quot; unique_id=&quot;10012&quot;&gt;&lt;property id=&quot;20148&quot; value=&quot;5&quot;/&gt;&lt;property id=&quot;20300&quot; value=&quot;Slide 9 - &amp;quot;Premise 3&amp;quot;&quot;/&gt;&lt;property id=&quot;20307&quot; value=&quot;705&quot;/&gt;&lt;/object&gt;&lt;object type=&quot;3&quot; unique_id=&quot;10013&quot;&gt;&lt;property id=&quot;20148&quot; value=&quot;5&quot;/&gt;&lt;property id=&quot;20300&quot; value=&quot;Slide 10 - &amp;quot;The argument stated&amp;quot;&quot;/&gt;&lt;property id=&quot;20307&quot; value=&quot;706&quot;/&gt;&lt;/object&gt;&lt;object type=&quot;3&quot; unique_id=&quot;10014&quot;&gt;&lt;property id=&quot;20148&quot; value=&quot;5&quot;/&gt;&lt;property id=&quot;20300&quot; value=&quot;Slide 11 - &amp;quot;The argument stated&amp;quot;&quot;/&gt;&lt;property id=&quot;20307&quot; value=&quot;708&quot;/&gt;&lt;/object&gt;&lt;object type=&quot;3&quot; unique_id=&quot;10015&quot;&gt;&lt;property id=&quot;20148&quot; value=&quot;5&quot;/&gt;&lt;property id=&quot;20300&quot; value=&quot;Slide 12 - &amp;quot;Corollaries&amp;quot;&quot;/&gt;&lt;property id=&quot;20307&quot; value=&quot;709&quot;/&gt;&lt;/object&gt;&lt;object type=&quot;3&quot; unique_id=&quot;10016&quot;&gt;&lt;property id=&quot;20148&quot; value=&quot;5&quot;/&gt;&lt;property id=&quot;20300&quot; value=&quot;Slide 13 - &amp;quot;Corollaries&amp;quot;&quot;/&gt;&lt;property id=&quot;20307&quot; value=&quot;710&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2545</Words>
  <Application>Microsoft Office PowerPoint</Application>
  <PresentationFormat>Diavoorstelling (4:3)</PresentationFormat>
  <Paragraphs>129</Paragraphs>
  <Slides>14</Slides>
  <Notes>9</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14</vt:i4>
      </vt:variant>
    </vt:vector>
  </HeadingPairs>
  <TitlesOfParts>
    <vt:vector size="17" baseType="lpstr">
      <vt:lpstr>Arial</vt:lpstr>
      <vt:lpstr>Calibri</vt:lpstr>
      <vt:lpstr>Office Theme</vt:lpstr>
      <vt:lpstr>  The Semantic Argument and its implications for the likelihood  of the Existence of God         International Proofs of God’s Existence Conference organized by the Science Philosophy Religion Foundation  Istanbul | Spring 2023</vt:lpstr>
      <vt:lpstr>Objective of this lecture</vt:lpstr>
      <vt:lpstr>Stage setting</vt:lpstr>
      <vt:lpstr>Stage setting (cont.)</vt:lpstr>
      <vt:lpstr>Stage setting (cont.)</vt:lpstr>
      <vt:lpstr>The semantic argument’s core premise</vt:lpstr>
      <vt:lpstr>The semantic argument stated</vt:lpstr>
      <vt:lpstr>The semantic argument stated (cont.)</vt:lpstr>
      <vt:lpstr>The weight of tradition: there are no universal properties if reality is grounded in opposites</vt:lpstr>
      <vt:lpstr>Implications of there being no universal properties</vt:lpstr>
      <vt:lpstr>Implications of no universal properties (cont.)</vt:lpstr>
      <vt:lpstr>Implications of no universal properties (cont.)</vt:lpstr>
      <vt:lpstr>Increasing the likelihood of theism</vt:lpstr>
      <vt:lpstr>Increasing the likelihood of theism (cont.)</vt:lpstr>
    </vt:vector>
  </TitlesOfParts>
  <Company>LeasePlan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Epistemology</dc:title>
  <dc:creator>rutte</dc:creator>
  <cp:lastModifiedBy>E Rutten</cp:lastModifiedBy>
  <cp:revision>516</cp:revision>
  <dcterms:created xsi:type="dcterms:W3CDTF">2013-05-04T19:13:18Z</dcterms:created>
  <dcterms:modified xsi:type="dcterms:W3CDTF">2023-04-03T06:00:38Z</dcterms:modified>
</cp:coreProperties>
</file>