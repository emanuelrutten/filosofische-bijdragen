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60" r:id="rId3"/>
    <p:sldId id="318" r:id="rId4"/>
    <p:sldId id="321" r:id="rId5"/>
    <p:sldId id="332" r:id="rId6"/>
    <p:sldId id="323" r:id="rId7"/>
    <p:sldId id="324" r:id="rId8"/>
    <p:sldId id="328" r:id="rId9"/>
    <p:sldId id="325" r:id="rId10"/>
    <p:sldId id="330" r:id="rId11"/>
    <p:sldId id="327" r:id="rId12"/>
    <p:sldId id="329" r:id="rId13"/>
    <p:sldId id="333" r:id="rId14"/>
  </p:sldIdLst>
  <p:sldSz cx="9144000" cy="6858000" type="screen4x3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82" d="100"/>
          <a:sy n="82" d="100"/>
        </p:scale>
        <p:origin x="-804" y="-5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5590F1-945C-4218-81B4-9D0FAE344CC3}" type="datetimeFigureOut">
              <a:rPr lang="en-IE" smtClean="0"/>
              <a:pPr/>
              <a:t>26/08/2014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7D9CD3-00C3-4487-BD25-F290653A4305}" type="slidenum">
              <a:rPr lang="en-IE" smtClean="0"/>
              <a:pPr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2055013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7D9CD3-00C3-4487-BD25-F290653A4305}" type="slidenum">
              <a:rPr lang="en-IE" smtClean="0"/>
              <a:pPr/>
              <a:t>2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0083492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baseline="0" dirty="0" smtClean="0"/>
          </a:p>
          <a:p>
            <a:r>
              <a:rPr lang="nl-NL" baseline="0" dirty="0" err="1" smtClean="0"/>
              <a:t>Kripkean</a:t>
            </a:r>
            <a:r>
              <a:rPr lang="nl-NL" baseline="0" dirty="0" smtClean="0"/>
              <a:t> </a:t>
            </a:r>
            <a:r>
              <a:rPr lang="nl-NL" baseline="0" dirty="0" err="1" smtClean="0"/>
              <a:t>initial</a:t>
            </a:r>
            <a:r>
              <a:rPr lang="nl-NL" baseline="0" dirty="0" smtClean="0"/>
              <a:t> </a:t>
            </a:r>
            <a:r>
              <a:rPr lang="nl-NL" baseline="0" dirty="0" err="1" smtClean="0"/>
              <a:t>ostensive</a:t>
            </a:r>
            <a:r>
              <a:rPr lang="nl-NL" baseline="0" dirty="0" smtClean="0"/>
              <a:t> </a:t>
            </a:r>
            <a:r>
              <a:rPr lang="nl-NL" baseline="0" dirty="0" err="1" smtClean="0"/>
              <a:t>definiton</a:t>
            </a:r>
            <a:r>
              <a:rPr lang="nl-NL" baseline="0" dirty="0" smtClean="0"/>
              <a:t> = </a:t>
            </a:r>
            <a:r>
              <a:rPr lang="nl-NL" baseline="0" dirty="0" err="1" smtClean="0"/>
              <a:t>baptism</a:t>
            </a:r>
            <a:r>
              <a:rPr lang="nl-NL" baseline="0" dirty="0" smtClean="0"/>
              <a:t> act</a:t>
            </a:r>
          </a:p>
          <a:p>
            <a:endParaRPr lang="nl-NL" baseline="0" dirty="0" smtClean="0"/>
          </a:p>
          <a:p>
            <a:r>
              <a:rPr lang="nl-NL" baseline="0" dirty="0" err="1" smtClean="0"/>
              <a:t>Intension</a:t>
            </a:r>
            <a:r>
              <a:rPr lang="nl-NL" baseline="0" dirty="0" smtClean="0"/>
              <a:t> = </a:t>
            </a:r>
            <a:r>
              <a:rPr lang="nl-NL" baseline="0" dirty="0" err="1" smtClean="0"/>
              <a:t>conceptual</a:t>
            </a:r>
            <a:r>
              <a:rPr lang="nl-NL" baseline="0" dirty="0" smtClean="0"/>
              <a:t> content or </a:t>
            </a:r>
            <a:r>
              <a:rPr lang="nl-NL" baseline="0" dirty="0" err="1" smtClean="0"/>
              <a:t>connotation</a:t>
            </a:r>
            <a:endParaRPr lang="nl-NL" baseline="0" dirty="0" smtClean="0"/>
          </a:p>
          <a:p>
            <a:r>
              <a:rPr lang="nl-NL" baseline="0" dirty="0" smtClean="0"/>
              <a:t>Extension = the set of </a:t>
            </a:r>
            <a:r>
              <a:rPr lang="nl-NL" baseline="0" dirty="0" err="1" smtClean="0"/>
              <a:t>things</a:t>
            </a:r>
            <a:r>
              <a:rPr lang="nl-NL" baseline="0" dirty="0" smtClean="0"/>
              <a:t> </a:t>
            </a:r>
            <a:r>
              <a:rPr lang="nl-NL" baseline="0" dirty="0" err="1" smtClean="0"/>
              <a:t>that</a:t>
            </a:r>
            <a:r>
              <a:rPr lang="nl-NL" baseline="0" dirty="0" smtClean="0"/>
              <a:t> the term </a:t>
            </a:r>
            <a:r>
              <a:rPr lang="nl-NL" baseline="0" dirty="0" err="1" smtClean="0"/>
              <a:t>refers</a:t>
            </a:r>
            <a:r>
              <a:rPr lang="nl-NL" baseline="0" dirty="0" smtClean="0"/>
              <a:t> </a:t>
            </a:r>
            <a:r>
              <a:rPr lang="nl-NL" baseline="0" dirty="0" err="1" smtClean="0"/>
              <a:t>to</a:t>
            </a:r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7D9CD3-00C3-4487-BD25-F290653A4305}" type="slidenum">
              <a:rPr lang="en-IE" smtClean="0"/>
              <a:pPr/>
              <a:t>3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275646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1200" dirty="0" err="1" smtClean="0"/>
              <a:t>Note</a:t>
            </a:r>
            <a:r>
              <a:rPr lang="nl-NL" sz="1200" dirty="0" smtClean="0"/>
              <a:t> </a:t>
            </a:r>
            <a:r>
              <a:rPr lang="nl-NL" sz="1200" dirty="0" err="1" smtClean="0"/>
              <a:t>that</a:t>
            </a:r>
            <a:r>
              <a:rPr lang="nl-NL" sz="1200" dirty="0" smtClean="0"/>
              <a:t> the </a:t>
            </a:r>
            <a:r>
              <a:rPr lang="nl-NL" sz="1200" dirty="0" err="1" smtClean="0"/>
              <a:t>above</a:t>
            </a:r>
            <a:r>
              <a:rPr lang="nl-NL" sz="1200" dirty="0" smtClean="0"/>
              <a:t> </a:t>
            </a:r>
            <a:r>
              <a:rPr lang="nl-NL" sz="1200" dirty="0" err="1" smtClean="0"/>
              <a:t>excludes</a:t>
            </a:r>
            <a:r>
              <a:rPr lang="nl-NL" sz="1200" dirty="0" smtClean="0"/>
              <a:t> </a:t>
            </a:r>
            <a:r>
              <a:rPr lang="nl-NL" sz="1200" dirty="0" err="1" smtClean="0"/>
              <a:t>terms</a:t>
            </a:r>
            <a:r>
              <a:rPr lang="nl-NL" sz="1200" dirty="0" smtClean="0"/>
              <a:t> </a:t>
            </a:r>
            <a:r>
              <a:rPr lang="nl-NL" sz="1200" dirty="0" err="1" smtClean="0"/>
              <a:t>associated</a:t>
            </a:r>
            <a:r>
              <a:rPr lang="nl-NL" sz="1200" dirty="0" smtClean="0"/>
              <a:t> </a:t>
            </a:r>
            <a:r>
              <a:rPr lang="nl-NL" sz="1200" dirty="0" err="1" smtClean="0"/>
              <a:t>with</a:t>
            </a:r>
            <a:r>
              <a:rPr lang="nl-NL" sz="1200" dirty="0" smtClean="0"/>
              <a:t> Cambridge </a:t>
            </a:r>
            <a:r>
              <a:rPr lang="nl-NL" sz="1200" dirty="0" err="1" smtClean="0"/>
              <a:t>properties</a:t>
            </a:r>
            <a:r>
              <a:rPr lang="nl-NL" sz="1200" dirty="0" smtClean="0"/>
              <a:t> </a:t>
            </a:r>
            <a:r>
              <a:rPr lang="nl-NL" sz="1200" dirty="0" err="1" smtClean="0"/>
              <a:t>such</a:t>
            </a:r>
            <a:r>
              <a:rPr lang="nl-NL" sz="1200" dirty="0" smtClean="0"/>
              <a:t> as ‘</a:t>
            </a:r>
            <a:r>
              <a:rPr lang="nl-NL" sz="1200" dirty="0" err="1" smtClean="0"/>
              <a:t>not</a:t>
            </a:r>
            <a:r>
              <a:rPr lang="nl-NL" sz="1200" dirty="0" smtClean="0"/>
              <a:t>-red’, </a:t>
            </a:r>
            <a:r>
              <a:rPr lang="nl-NL" sz="1200" dirty="0" err="1" smtClean="0"/>
              <a:t>which</a:t>
            </a:r>
            <a:r>
              <a:rPr lang="nl-NL" sz="1200" dirty="0" smtClean="0"/>
              <a:t> are </a:t>
            </a:r>
            <a:r>
              <a:rPr lang="nl-NL" sz="1200" dirty="0" err="1" smtClean="0"/>
              <a:t>not</a:t>
            </a:r>
            <a:r>
              <a:rPr lang="nl-NL" sz="1200" dirty="0" smtClean="0"/>
              <a:t> </a:t>
            </a:r>
            <a:r>
              <a:rPr lang="nl-NL" sz="1200" dirty="0" err="1" smtClean="0"/>
              <a:t>composed</a:t>
            </a:r>
            <a:r>
              <a:rPr lang="nl-NL" sz="1200" dirty="0" smtClean="0"/>
              <a:t> of </a:t>
            </a:r>
            <a:r>
              <a:rPr lang="nl-NL" sz="1200" dirty="0" err="1" smtClean="0"/>
              <a:t>positive</a:t>
            </a:r>
            <a:r>
              <a:rPr lang="nl-NL" sz="1200" dirty="0" smtClean="0"/>
              <a:t> </a:t>
            </a:r>
            <a:r>
              <a:rPr lang="nl-NL" sz="1200" dirty="0" err="1" smtClean="0"/>
              <a:t>determinate</a:t>
            </a:r>
            <a:r>
              <a:rPr lang="nl-NL" sz="1200" dirty="0" smtClean="0"/>
              <a:t> </a:t>
            </a:r>
            <a:r>
              <a:rPr lang="nl-NL" sz="1200" dirty="0" err="1" smtClean="0"/>
              <a:t>meaning</a:t>
            </a:r>
            <a:r>
              <a:rPr lang="nl-NL" sz="1200" dirty="0" smtClean="0"/>
              <a:t> </a:t>
            </a:r>
            <a:r>
              <a:rPr lang="nl-NL" sz="1200" dirty="0" err="1" smtClean="0"/>
              <a:t>elements</a:t>
            </a:r>
            <a:r>
              <a:rPr lang="nl-NL" sz="1200" dirty="0" smtClean="0"/>
              <a:t> </a:t>
            </a:r>
          </a:p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7D9CD3-00C3-4487-BD25-F290653A4305}" type="slidenum">
              <a:rPr lang="en-IE" smtClean="0"/>
              <a:pPr/>
              <a:t>4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275646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1200" dirty="0" err="1" smtClean="0"/>
              <a:t>Note</a:t>
            </a:r>
            <a:r>
              <a:rPr lang="nl-NL" sz="1200" dirty="0" smtClean="0"/>
              <a:t> </a:t>
            </a:r>
            <a:r>
              <a:rPr lang="nl-NL" sz="1200" dirty="0" err="1" smtClean="0"/>
              <a:t>that</a:t>
            </a:r>
            <a:r>
              <a:rPr lang="nl-NL" sz="1200" dirty="0" smtClean="0"/>
              <a:t> the </a:t>
            </a:r>
            <a:r>
              <a:rPr lang="nl-NL" sz="1200" dirty="0" err="1" smtClean="0"/>
              <a:t>above</a:t>
            </a:r>
            <a:r>
              <a:rPr lang="nl-NL" sz="1200" dirty="0" smtClean="0"/>
              <a:t> </a:t>
            </a:r>
            <a:r>
              <a:rPr lang="nl-NL" sz="1200" dirty="0" err="1" smtClean="0"/>
              <a:t>excludes</a:t>
            </a:r>
            <a:r>
              <a:rPr lang="nl-NL" sz="1200" dirty="0" smtClean="0"/>
              <a:t> </a:t>
            </a:r>
            <a:r>
              <a:rPr lang="nl-NL" sz="1200" dirty="0" err="1" smtClean="0"/>
              <a:t>terms</a:t>
            </a:r>
            <a:r>
              <a:rPr lang="nl-NL" sz="1200" dirty="0" smtClean="0"/>
              <a:t> </a:t>
            </a:r>
            <a:r>
              <a:rPr lang="nl-NL" sz="1200" dirty="0" err="1" smtClean="0"/>
              <a:t>associated</a:t>
            </a:r>
            <a:r>
              <a:rPr lang="nl-NL" sz="1200" dirty="0" smtClean="0"/>
              <a:t> </a:t>
            </a:r>
            <a:r>
              <a:rPr lang="nl-NL" sz="1200" dirty="0" err="1" smtClean="0"/>
              <a:t>with</a:t>
            </a:r>
            <a:r>
              <a:rPr lang="nl-NL" sz="1200" dirty="0" smtClean="0"/>
              <a:t> Cambridge </a:t>
            </a:r>
            <a:r>
              <a:rPr lang="nl-NL" sz="1200" dirty="0" err="1" smtClean="0"/>
              <a:t>properties</a:t>
            </a:r>
            <a:r>
              <a:rPr lang="nl-NL" sz="1200" dirty="0" smtClean="0"/>
              <a:t> </a:t>
            </a:r>
            <a:r>
              <a:rPr lang="nl-NL" sz="1200" dirty="0" err="1" smtClean="0"/>
              <a:t>such</a:t>
            </a:r>
            <a:r>
              <a:rPr lang="nl-NL" sz="1200" dirty="0" smtClean="0"/>
              <a:t> as ‘</a:t>
            </a:r>
            <a:r>
              <a:rPr lang="nl-NL" sz="1200" dirty="0" err="1" smtClean="0"/>
              <a:t>not</a:t>
            </a:r>
            <a:r>
              <a:rPr lang="nl-NL" sz="1200" dirty="0" smtClean="0"/>
              <a:t>-red’, </a:t>
            </a:r>
            <a:r>
              <a:rPr lang="nl-NL" sz="1200" dirty="0" err="1" smtClean="0"/>
              <a:t>which</a:t>
            </a:r>
            <a:r>
              <a:rPr lang="nl-NL" sz="1200" dirty="0" smtClean="0"/>
              <a:t> are </a:t>
            </a:r>
            <a:r>
              <a:rPr lang="nl-NL" sz="1200" dirty="0" err="1" smtClean="0"/>
              <a:t>not</a:t>
            </a:r>
            <a:r>
              <a:rPr lang="nl-NL" sz="1200" dirty="0" smtClean="0"/>
              <a:t> </a:t>
            </a:r>
            <a:r>
              <a:rPr lang="nl-NL" sz="1200" dirty="0" err="1" smtClean="0"/>
              <a:t>composed</a:t>
            </a:r>
            <a:r>
              <a:rPr lang="nl-NL" sz="1200" dirty="0" smtClean="0"/>
              <a:t> of </a:t>
            </a:r>
            <a:r>
              <a:rPr lang="nl-NL" sz="1200" dirty="0" err="1" smtClean="0"/>
              <a:t>positive</a:t>
            </a:r>
            <a:r>
              <a:rPr lang="nl-NL" sz="1200" dirty="0" smtClean="0"/>
              <a:t> </a:t>
            </a:r>
            <a:r>
              <a:rPr lang="nl-NL" sz="1200" dirty="0" err="1" smtClean="0"/>
              <a:t>determinate</a:t>
            </a:r>
            <a:r>
              <a:rPr lang="nl-NL" sz="1200" dirty="0" smtClean="0"/>
              <a:t> </a:t>
            </a:r>
            <a:r>
              <a:rPr lang="nl-NL" sz="1200" dirty="0" err="1" smtClean="0"/>
              <a:t>meaning</a:t>
            </a:r>
            <a:r>
              <a:rPr lang="nl-NL" sz="1200" dirty="0" smtClean="0"/>
              <a:t> </a:t>
            </a:r>
            <a:r>
              <a:rPr lang="nl-NL" sz="1200" dirty="0" err="1" smtClean="0"/>
              <a:t>elements</a:t>
            </a:r>
            <a:r>
              <a:rPr lang="nl-NL" sz="1200" dirty="0" smtClean="0"/>
              <a:t> </a:t>
            </a:r>
          </a:p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7D9CD3-00C3-4487-BD25-F290653A4305}" type="slidenum">
              <a:rPr lang="en-IE" smtClean="0"/>
              <a:pPr/>
              <a:t>5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275646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 err="1" smtClean="0"/>
              <a:t>Note</a:t>
            </a:r>
            <a:r>
              <a:rPr lang="nl-NL" dirty="0" smtClean="0"/>
              <a:t> </a:t>
            </a:r>
            <a:r>
              <a:rPr lang="nl-NL" dirty="0" err="1" smtClean="0"/>
              <a:t>that</a:t>
            </a:r>
            <a:r>
              <a:rPr lang="nl-NL" dirty="0" smtClean="0"/>
              <a:t> a</a:t>
            </a:r>
            <a:r>
              <a:rPr lang="nl-NL" baseline="0" dirty="0" smtClean="0"/>
              <a:t> </a:t>
            </a:r>
            <a:r>
              <a:rPr lang="nl-NL" baseline="0" dirty="0" err="1" smtClean="0"/>
              <a:t>meaning</a:t>
            </a:r>
            <a:r>
              <a:rPr lang="nl-NL" baseline="0" dirty="0" smtClean="0"/>
              <a:t> element </a:t>
            </a:r>
            <a:r>
              <a:rPr lang="nl-NL" baseline="0" dirty="0" err="1" smtClean="0"/>
              <a:t>can</a:t>
            </a:r>
            <a:r>
              <a:rPr lang="nl-NL" baseline="0" dirty="0" smtClean="0"/>
              <a:t> </a:t>
            </a:r>
            <a:r>
              <a:rPr lang="nl-NL" baseline="0" dirty="0" err="1" smtClean="0"/>
              <a:t>itself</a:t>
            </a:r>
            <a:r>
              <a:rPr lang="nl-NL" baseline="0" dirty="0" smtClean="0"/>
              <a:t> </a:t>
            </a:r>
            <a:r>
              <a:rPr lang="nl-NL" baseline="0" dirty="0" err="1" smtClean="0"/>
              <a:t>consist</a:t>
            </a:r>
            <a:r>
              <a:rPr lang="nl-NL" baseline="0" dirty="0" smtClean="0"/>
              <a:t> of </a:t>
            </a:r>
            <a:r>
              <a:rPr lang="nl-NL" baseline="0" dirty="0" err="1" smtClean="0"/>
              <a:t>further</a:t>
            </a:r>
            <a:r>
              <a:rPr lang="nl-NL" baseline="0" dirty="0" smtClean="0"/>
              <a:t> </a:t>
            </a:r>
            <a:r>
              <a:rPr lang="nl-NL" baseline="0" dirty="0" err="1" smtClean="0"/>
              <a:t>meaning</a:t>
            </a:r>
            <a:r>
              <a:rPr lang="nl-NL" baseline="0" dirty="0" smtClean="0"/>
              <a:t> </a:t>
            </a:r>
            <a:r>
              <a:rPr lang="nl-NL" baseline="0" dirty="0" err="1" smtClean="0"/>
              <a:t>elements</a:t>
            </a:r>
            <a:r>
              <a:rPr lang="nl-NL" baseline="0" dirty="0" smtClean="0"/>
              <a:t>. </a:t>
            </a:r>
            <a:r>
              <a:rPr lang="nl-NL" baseline="0" dirty="0" err="1" smtClean="0"/>
              <a:t>Thus</a:t>
            </a:r>
            <a:r>
              <a:rPr lang="nl-NL" baseline="0" dirty="0" smtClean="0"/>
              <a:t> </a:t>
            </a:r>
            <a:r>
              <a:rPr lang="nl-NL" baseline="0" dirty="0" err="1" smtClean="0"/>
              <a:t>it</a:t>
            </a:r>
            <a:r>
              <a:rPr lang="nl-NL" baseline="0" dirty="0" smtClean="0"/>
              <a:t> </a:t>
            </a:r>
            <a:r>
              <a:rPr lang="nl-NL" baseline="0" dirty="0" err="1" smtClean="0"/>
              <a:t>becomes</a:t>
            </a:r>
            <a:r>
              <a:rPr lang="nl-NL" baseline="0" dirty="0" smtClean="0"/>
              <a:t> a </a:t>
            </a:r>
            <a:r>
              <a:rPr lang="nl-NL" baseline="0" dirty="0" err="1" smtClean="0"/>
              <a:t>recursive</a:t>
            </a:r>
            <a:r>
              <a:rPr lang="nl-NL" baseline="0" dirty="0" smtClean="0"/>
              <a:t> </a:t>
            </a:r>
            <a:r>
              <a:rPr lang="nl-NL" baseline="0" dirty="0" err="1" smtClean="0"/>
              <a:t>explosion</a:t>
            </a:r>
            <a:r>
              <a:rPr lang="nl-NL" baseline="0" dirty="0" smtClean="0"/>
              <a:t>. Reference sets are full </a:t>
            </a:r>
            <a:r>
              <a:rPr lang="nl-NL" baseline="0" dirty="0" err="1" smtClean="0"/>
              <a:t>blown</a:t>
            </a:r>
            <a:r>
              <a:rPr lang="nl-NL" baseline="0" dirty="0" smtClean="0"/>
              <a:t> </a:t>
            </a:r>
            <a:r>
              <a:rPr lang="nl-NL" baseline="0" dirty="0" err="1" smtClean="0"/>
              <a:t>reference</a:t>
            </a:r>
            <a:r>
              <a:rPr lang="nl-NL" baseline="0" dirty="0" smtClean="0"/>
              <a:t> </a:t>
            </a:r>
            <a:r>
              <a:rPr lang="nl-NL" baseline="0" dirty="0" err="1" smtClean="0"/>
              <a:t>expansion</a:t>
            </a:r>
            <a:r>
              <a:rPr lang="nl-NL" baseline="0" dirty="0" smtClean="0"/>
              <a:t> sets. {illustreer aan de hand van </a:t>
            </a:r>
            <a:r>
              <a:rPr lang="nl-NL" baseline="0" dirty="0" err="1" smtClean="0"/>
              <a:t>Jo’s</a:t>
            </a:r>
            <a:r>
              <a:rPr lang="nl-NL" baseline="0" dirty="0" smtClean="0"/>
              <a:t> </a:t>
            </a:r>
            <a:r>
              <a:rPr lang="nl-NL" baseline="0" dirty="0" err="1" smtClean="0"/>
              <a:t>iPhone</a:t>
            </a:r>
            <a:r>
              <a:rPr lang="nl-NL" baseline="0" dirty="0" smtClean="0"/>
              <a:t>}</a:t>
            </a:r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7D9CD3-00C3-4487-BD25-F290653A4305}" type="slidenum">
              <a:rPr lang="en-IE" smtClean="0"/>
              <a:pPr/>
              <a:t>6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275646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 err="1" smtClean="0"/>
              <a:t>Now</a:t>
            </a:r>
            <a:r>
              <a:rPr lang="nl-NL" dirty="0" smtClean="0"/>
              <a:t>, </a:t>
            </a:r>
            <a:r>
              <a:rPr lang="nl-NL" dirty="0" err="1" smtClean="0"/>
              <a:t>for</a:t>
            </a:r>
            <a:r>
              <a:rPr lang="nl-NL" baseline="0" dirty="0" smtClean="0"/>
              <a:t> </a:t>
            </a:r>
            <a:r>
              <a:rPr lang="nl-NL" baseline="0" dirty="0" err="1" smtClean="0"/>
              <a:t>sure</a:t>
            </a:r>
            <a:r>
              <a:rPr lang="nl-NL" baseline="0" dirty="0" smtClean="0"/>
              <a:t> </a:t>
            </a:r>
            <a:r>
              <a:rPr lang="nl-NL" baseline="0" dirty="0" err="1" smtClean="0"/>
              <a:t>it</a:t>
            </a:r>
            <a:r>
              <a:rPr lang="nl-NL" baseline="0" dirty="0" smtClean="0"/>
              <a:t> </a:t>
            </a:r>
            <a:r>
              <a:rPr lang="nl-NL" baseline="0" dirty="0" err="1" smtClean="0"/>
              <a:t>holds</a:t>
            </a:r>
            <a:r>
              <a:rPr lang="nl-NL" baseline="0" dirty="0" smtClean="0"/>
              <a:t> </a:t>
            </a:r>
            <a:r>
              <a:rPr lang="nl-NL" baseline="0" dirty="0" err="1" smtClean="0"/>
              <a:t>from</a:t>
            </a:r>
            <a:r>
              <a:rPr lang="nl-NL" baseline="0" dirty="0" smtClean="0"/>
              <a:t> </a:t>
            </a:r>
            <a:r>
              <a:rPr lang="nl-NL" baseline="0" dirty="0" err="1" smtClean="0"/>
              <a:t>left</a:t>
            </a:r>
            <a:r>
              <a:rPr lang="nl-NL" baseline="0" dirty="0" smtClean="0"/>
              <a:t> </a:t>
            </a:r>
            <a:r>
              <a:rPr lang="nl-NL" baseline="0" dirty="0" err="1" smtClean="0"/>
              <a:t>to</a:t>
            </a:r>
            <a:r>
              <a:rPr lang="nl-NL" baseline="0" dirty="0" smtClean="0"/>
              <a:t> right.</a:t>
            </a:r>
          </a:p>
          <a:p>
            <a:r>
              <a:rPr lang="nl-NL" baseline="0" dirty="0" err="1" smtClean="0"/>
              <a:t>And</a:t>
            </a:r>
            <a:r>
              <a:rPr lang="nl-NL" baseline="0" dirty="0" smtClean="0"/>
              <a:t> </a:t>
            </a:r>
            <a:r>
              <a:rPr lang="nl-NL" baseline="0" dirty="0" err="1" smtClean="0"/>
              <a:t>it</a:t>
            </a:r>
            <a:r>
              <a:rPr lang="nl-NL" baseline="0" dirty="0" smtClean="0"/>
              <a:t> </a:t>
            </a:r>
            <a:r>
              <a:rPr lang="nl-NL" baseline="0" dirty="0" err="1" smtClean="0"/>
              <a:t>plausibly</a:t>
            </a:r>
            <a:r>
              <a:rPr lang="nl-NL" baseline="0" dirty="0" smtClean="0"/>
              <a:t> </a:t>
            </a:r>
            <a:r>
              <a:rPr lang="nl-NL" baseline="0" dirty="0" err="1" smtClean="0"/>
              <a:t>holds</a:t>
            </a:r>
            <a:r>
              <a:rPr lang="nl-NL" baseline="0" dirty="0" smtClean="0"/>
              <a:t> </a:t>
            </a:r>
            <a:r>
              <a:rPr lang="nl-NL" baseline="0" dirty="0" err="1" smtClean="0"/>
              <a:t>from</a:t>
            </a:r>
            <a:r>
              <a:rPr lang="nl-NL" baseline="0" dirty="0" smtClean="0"/>
              <a:t> right </a:t>
            </a:r>
            <a:r>
              <a:rPr lang="nl-NL" baseline="0" dirty="0" err="1" smtClean="0"/>
              <a:t>to</a:t>
            </a:r>
            <a:r>
              <a:rPr lang="nl-NL" baseline="0" dirty="0" smtClean="0"/>
              <a:t> </a:t>
            </a:r>
            <a:r>
              <a:rPr lang="nl-NL" baseline="0" dirty="0" err="1" smtClean="0"/>
              <a:t>left</a:t>
            </a:r>
            <a:r>
              <a:rPr lang="nl-NL" baseline="0" dirty="0" smtClean="0"/>
              <a:t> </a:t>
            </a:r>
            <a:r>
              <a:rPr lang="nl-NL" baseline="0" dirty="0" err="1" smtClean="0"/>
              <a:t>if</a:t>
            </a:r>
            <a:r>
              <a:rPr lang="nl-NL" baseline="0" dirty="0" smtClean="0"/>
              <a:t> </a:t>
            </a:r>
            <a:r>
              <a:rPr lang="nl-NL" baseline="0" dirty="0" err="1" smtClean="0"/>
              <a:t>you</a:t>
            </a:r>
            <a:r>
              <a:rPr lang="nl-NL" baseline="0" dirty="0" smtClean="0"/>
              <a:t> </a:t>
            </a:r>
            <a:r>
              <a:rPr lang="nl-NL" baseline="0" dirty="0" err="1" smtClean="0"/>
              <a:t>consider</a:t>
            </a:r>
            <a:r>
              <a:rPr lang="nl-NL" baseline="0" dirty="0" smtClean="0"/>
              <a:t> </a:t>
            </a:r>
            <a:r>
              <a:rPr lang="nl-NL" baseline="0" dirty="0" err="1" smtClean="0"/>
              <a:t>those</a:t>
            </a:r>
            <a:r>
              <a:rPr lang="nl-NL" baseline="0" dirty="0" smtClean="0"/>
              <a:t> </a:t>
            </a:r>
            <a:r>
              <a:rPr lang="nl-NL" baseline="0" dirty="0" err="1" smtClean="0"/>
              <a:t>enormous</a:t>
            </a:r>
            <a:r>
              <a:rPr lang="nl-NL" baseline="0" dirty="0" smtClean="0"/>
              <a:t> </a:t>
            </a:r>
            <a:r>
              <a:rPr lang="nl-NL" baseline="0" dirty="0" err="1" smtClean="0"/>
              <a:t>recusive</a:t>
            </a:r>
            <a:r>
              <a:rPr lang="nl-NL" baseline="0" dirty="0" smtClean="0"/>
              <a:t> </a:t>
            </a:r>
            <a:r>
              <a:rPr lang="nl-NL" baseline="0" dirty="0" err="1" smtClean="0"/>
              <a:t>explosions</a:t>
            </a:r>
            <a:r>
              <a:rPr lang="nl-NL" baseline="0" dirty="0" smtClean="0"/>
              <a:t>! </a:t>
            </a:r>
            <a:r>
              <a:rPr lang="nl-NL" baseline="0" dirty="0" err="1" smtClean="0"/>
              <a:t>So</a:t>
            </a:r>
            <a:r>
              <a:rPr lang="nl-NL" baseline="0" dirty="0" smtClean="0"/>
              <a:t> </a:t>
            </a:r>
            <a:r>
              <a:rPr lang="nl-NL" baseline="0" dirty="0" err="1" smtClean="0"/>
              <a:t>if</a:t>
            </a:r>
            <a:r>
              <a:rPr lang="nl-NL" baseline="0" dirty="0" smtClean="0"/>
              <a:t> Ref1 is Ref2 </a:t>
            </a:r>
            <a:r>
              <a:rPr lang="nl-NL" baseline="0" dirty="0" err="1" smtClean="0"/>
              <a:t>than</a:t>
            </a:r>
            <a:r>
              <a:rPr lang="nl-NL" baseline="0" dirty="0" smtClean="0"/>
              <a:t> </a:t>
            </a:r>
            <a:r>
              <a:rPr lang="nl-NL" baseline="0" dirty="0" err="1" smtClean="0"/>
              <a:t>meanings</a:t>
            </a:r>
            <a:r>
              <a:rPr lang="nl-NL" baseline="0" dirty="0" smtClean="0"/>
              <a:t> are the </a:t>
            </a:r>
            <a:r>
              <a:rPr lang="nl-NL" baseline="0" dirty="0" err="1" smtClean="0"/>
              <a:t>same</a:t>
            </a:r>
            <a:r>
              <a:rPr lang="nl-NL" baseline="0" dirty="0" smtClean="0"/>
              <a:t>.</a:t>
            </a:r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7D9CD3-00C3-4487-BD25-F290653A4305}" type="slidenum">
              <a:rPr lang="en-IE" smtClean="0"/>
              <a:pPr/>
              <a:t>7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275646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 err="1" smtClean="0"/>
              <a:t>Given</a:t>
            </a:r>
            <a:r>
              <a:rPr lang="nl-NL" baseline="0" dirty="0" smtClean="0"/>
              <a:t> the </a:t>
            </a:r>
            <a:r>
              <a:rPr lang="nl-NL" baseline="0" dirty="0" err="1" smtClean="0"/>
              <a:t>famous</a:t>
            </a:r>
            <a:r>
              <a:rPr lang="nl-NL" baseline="0" dirty="0" smtClean="0"/>
              <a:t> </a:t>
            </a:r>
            <a:r>
              <a:rPr lang="nl-NL" baseline="0" dirty="0" err="1" smtClean="0"/>
              <a:t>composition</a:t>
            </a:r>
            <a:r>
              <a:rPr lang="nl-NL" baseline="0" dirty="0" smtClean="0"/>
              <a:t> </a:t>
            </a:r>
            <a:r>
              <a:rPr lang="nl-NL" baseline="0" dirty="0" err="1" smtClean="0"/>
              <a:t>principle</a:t>
            </a:r>
            <a:r>
              <a:rPr lang="nl-NL" baseline="0" dirty="0" smtClean="0"/>
              <a:t>, </a:t>
            </a:r>
            <a:r>
              <a:rPr lang="nl-NL" baseline="0" dirty="0" err="1" smtClean="0"/>
              <a:t>according</a:t>
            </a:r>
            <a:r>
              <a:rPr lang="nl-NL" baseline="0" dirty="0" smtClean="0"/>
              <a:t> </a:t>
            </a:r>
            <a:r>
              <a:rPr lang="nl-NL" baseline="0" dirty="0" err="1" smtClean="0"/>
              <a:t>to</a:t>
            </a:r>
            <a:r>
              <a:rPr lang="nl-NL" baseline="0" dirty="0" smtClean="0"/>
              <a:t> </a:t>
            </a:r>
            <a:r>
              <a:rPr lang="nl-NL" baseline="0" dirty="0" err="1" smtClean="0"/>
              <a:t>which</a:t>
            </a:r>
            <a:r>
              <a:rPr lang="nl-NL" baseline="0" dirty="0" smtClean="0"/>
              <a:t> the </a:t>
            </a:r>
            <a:r>
              <a:rPr lang="nl-NL" baseline="0" dirty="0" err="1" smtClean="0"/>
              <a:t>semantic</a:t>
            </a:r>
            <a:r>
              <a:rPr lang="nl-NL" baseline="0" dirty="0" smtClean="0"/>
              <a:t> </a:t>
            </a:r>
            <a:r>
              <a:rPr lang="nl-NL" baseline="0" dirty="0" err="1" smtClean="0"/>
              <a:t>value</a:t>
            </a:r>
            <a:r>
              <a:rPr lang="nl-NL" baseline="0" dirty="0" smtClean="0"/>
              <a:t> or </a:t>
            </a:r>
            <a:r>
              <a:rPr lang="nl-NL" baseline="0" dirty="0" err="1" smtClean="0"/>
              <a:t>semantic</a:t>
            </a:r>
            <a:r>
              <a:rPr lang="nl-NL" baseline="0" dirty="0" smtClean="0"/>
              <a:t> </a:t>
            </a:r>
            <a:r>
              <a:rPr lang="nl-NL" baseline="0" dirty="0" err="1" smtClean="0"/>
              <a:t>interpretation</a:t>
            </a:r>
            <a:r>
              <a:rPr lang="nl-NL" baseline="0" dirty="0" smtClean="0"/>
              <a:t> of </a:t>
            </a:r>
            <a:r>
              <a:rPr lang="nl-NL" baseline="0" dirty="0" err="1" smtClean="0"/>
              <a:t>an</a:t>
            </a:r>
            <a:r>
              <a:rPr lang="nl-NL" baseline="0" dirty="0" smtClean="0"/>
              <a:t> </a:t>
            </a:r>
            <a:r>
              <a:rPr lang="nl-NL" baseline="0" dirty="0" err="1" smtClean="0"/>
              <a:t>expression</a:t>
            </a:r>
            <a:r>
              <a:rPr lang="nl-NL" baseline="0" dirty="0" smtClean="0"/>
              <a:t> is a </a:t>
            </a:r>
            <a:r>
              <a:rPr lang="nl-NL" baseline="0" dirty="0" err="1" smtClean="0"/>
              <a:t>function</a:t>
            </a:r>
            <a:r>
              <a:rPr lang="nl-NL" baseline="0" dirty="0" smtClean="0"/>
              <a:t> of, or, put </a:t>
            </a:r>
            <a:r>
              <a:rPr lang="nl-NL" baseline="0" dirty="0" err="1" smtClean="0"/>
              <a:t>differently</a:t>
            </a:r>
            <a:r>
              <a:rPr lang="nl-NL" baseline="0" dirty="0" smtClean="0"/>
              <a:t>, is </a:t>
            </a:r>
            <a:r>
              <a:rPr lang="nl-NL" baseline="0" dirty="0" err="1" smtClean="0"/>
              <a:t>determined</a:t>
            </a:r>
            <a:r>
              <a:rPr lang="nl-NL" baseline="0" dirty="0" smtClean="0"/>
              <a:t> </a:t>
            </a:r>
            <a:r>
              <a:rPr lang="nl-NL" baseline="0" dirty="0" err="1" smtClean="0"/>
              <a:t>by</a:t>
            </a:r>
            <a:r>
              <a:rPr lang="nl-NL" baseline="0" dirty="0" smtClean="0"/>
              <a:t>, the </a:t>
            </a:r>
            <a:r>
              <a:rPr lang="nl-NL" baseline="0" dirty="0" err="1" smtClean="0"/>
              <a:t>semantic</a:t>
            </a:r>
            <a:r>
              <a:rPr lang="nl-NL" baseline="0" dirty="0" smtClean="0"/>
              <a:t> </a:t>
            </a:r>
            <a:r>
              <a:rPr lang="nl-NL" baseline="0" dirty="0" err="1" smtClean="0"/>
              <a:t>values</a:t>
            </a:r>
            <a:r>
              <a:rPr lang="nl-NL" baseline="0" dirty="0" smtClean="0"/>
              <a:t> or </a:t>
            </a:r>
            <a:r>
              <a:rPr lang="nl-NL" baseline="0" dirty="0" err="1" smtClean="0"/>
              <a:t>interpretations</a:t>
            </a:r>
            <a:r>
              <a:rPr lang="nl-NL" baseline="0" dirty="0" smtClean="0"/>
              <a:t> of </a:t>
            </a:r>
            <a:r>
              <a:rPr lang="nl-NL" baseline="0" dirty="0" err="1" smtClean="0"/>
              <a:t>its</a:t>
            </a:r>
            <a:r>
              <a:rPr lang="nl-NL" baseline="0" dirty="0" smtClean="0"/>
              <a:t> </a:t>
            </a:r>
            <a:r>
              <a:rPr lang="nl-NL" baseline="0" dirty="0" err="1" smtClean="0"/>
              <a:t>linguistic</a:t>
            </a:r>
            <a:r>
              <a:rPr lang="nl-NL" baseline="0" dirty="0" smtClean="0"/>
              <a:t> </a:t>
            </a:r>
            <a:r>
              <a:rPr lang="nl-NL" baseline="0" dirty="0" err="1" smtClean="0"/>
              <a:t>constituents</a:t>
            </a:r>
            <a:r>
              <a:rPr lang="nl-NL" baseline="0" dirty="0" smtClean="0"/>
              <a:t> or </a:t>
            </a:r>
            <a:r>
              <a:rPr lang="nl-NL" baseline="0" dirty="0" err="1" smtClean="0"/>
              <a:t>parts</a:t>
            </a:r>
            <a:r>
              <a:rPr lang="nl-NL" baseline="0" dirty="0" smtClean="0"/>
              <a:t>.</a:t>
            </a:r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7D9CD3-00C3-4487-BD25-F290653A4305}" type="slidenum">
              <a:rPr lang="en-IE" smtClean="0"/>
              <a:pPr/>
              <a:t>8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275646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7D9CD3-00C3-4487-BD25-F290653A4305}" type="slidenum">
              <a:rPr lang="en-IE" smtClean="0"/>
              <a:pPr/>
              <a:t>9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275646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 smtClean="0"/>
              <a:t>In respect of </a:t>
            </a:r>
            <a:r>
              <a:rPr lang="nl-NL" dirty="0" err="1" smtClean="0"/>
              <a:t>being</a:t>
            </a:r>
            <a:r>
              <a:rPr lang="nl-NL" dirty="0" smtClean="0"/>
              <a:t> = in respect of </a:t>
            </a:r>
            <a:r>
              <a:rPr lang="nl-NL" dirty="0" err="1" smtClean="0"/>
              <a:t>actuality</a:t>
            </a:r>
            <a:r>
              <a:rPr lang="nl-NL" dirty="0" smtClean="0"/>
              <a:t>,</a:t>
            </a:r>
            <a:r>
              <a:rPr lang="nl-NL" baseline="0" dirty="0" smtClean="0"/>
              <a:t> or in respect of </a:t>
            </a:r>
            <a:r>
              <a:rPr lang="nl-NL" baseline="0" dirty="0" err="1" smtClean="0"/>
              <a:t>existence</a:t>
            </a:r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7D9CD3-00C3-4487-BD25-F290653A4305}" type="slidenum">
              <a:rPr lang="en-IE" smtClean="0"/>
              <a:pPr/>
              <a:t>10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275646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 smtClean="0"/>
              <a:t>A </a:t>
            </a:r>
            <a:r>
              <a:rPr lang="nl-NL" dirty="0" err="1" smtClean="0"/>
              <a:t>swift</a:t>
            </a:r>
            <a:r>
              <a:rPr lang="nl-NL" dirty="0" smtClean="0"/>
              <a:t> </a:t>
            </a:r>
            <a:r>
              <a:rPr lang="nl-NL" dirty="0" err="1" smtClean="0"/>
              <a:t>application</a:t>
            </a:r>
            <a:r>
              <a:rPr lang="nl-NL" dirty="0" smtClean="0"/>
              <a:t> of </a:t>
            </a:r>
            <a:r>
              <a:rPr lang="nl-NL" dirty="0" err="1" smtClean="0"/>
              <a:t>Ockhams</a:t>
            </a:r>
            <a:r>
              <a:rPr lang="nl-NL" baseline="0" dirty="0" smtClean="0"/>
              <a:t> </a:t>
            </a:r>
            <a:r>
              <a:rPr lang="nl-NL" baseline="0" dirty="0" err="1" smtClean="0"/>
              <a:t>Razor</a:t>
            </a:r>
            <a:r>
              <a:rPr lang="nl-NL" baseline="0" dirty="0" smtClean="0"/>
              <a:t> </a:t>
            </a:r>
            <a:r>
              <a:rPr lang="nl-NL" baseline="0" dirty="0" err="1" smtClean="0"/>
              <a:t>would</a:t>
            </a:r>
            <a:r>
              <a:rPr lang="nl-NL" baseline="0" dirty="0" smtClean="0"/>
              <a:t> </a:t>
            </a:r>
            <a:r>
              <a:rPr lang="nl-NL" baseline="0" dirty="0" err="1" smtClean="0"/>
              <a:t>entail</a:t>
            </a:r>
            <a:r>
              <a:rPr lang="nl-NL" baseline="0" dirty="0" smtClean="0"/>
              <a:t> </a:t>
            </a:r>
            <a:r>
              <a:rPr lang="nl-NL" baseline="0" dirty="0" err="1" smtClean="0"/>
              <a:t>there</a:t>
            </a:r>
            <a:r>
              <a:rPr lang="nl-NL" baseline="0" dirty="0" smtClean="0"/>
              <a:t> </a:t>
            </a:r>
            <a:r>
              <a:rPr lang="nl-NL" baseline="0" dirty="0" err="1" smtClean="0"/>
              <a:t>being</a:t>
            </a:r>
            <a:r>
              <a:rPr lang="nl-NL" baseline="0" dirty="0" smtClean="0"/>
              <a:t> at </a:t>
            </a:r>
            <a:r>
              <a:rPr lang="nl-NL" baseline="0" dirty="0" err="1" smtClean="0"/>
              <a:t>least</a:t>
            </a:r>
            <a:r>
              <a:rPr lang="nl-NL" baseline="0" dirty="0" smtClean="0"/>
              <a:t> </a:t>
            </a:r>
            <a:r>
              <a:rPr lang="nl-NL" baseline="0" dirty="0" err="1" smtClean="0"/>
              <a:t>one</a:t>
            </a:r>
            <a:r>
              <a:rPr lang="nl-NL" baseline="0" dirty="0" smtClean="0"/>
              <a:t> non-</a:t>
            </a:r>
            <a:r>
              <a:rPr lang="nl-NL" baseline="0" dirty="0" err="1" smtClean="0"/>
              <a:t>physical</a:t>
            </a:r>
            <a:r>
              <a:rPr lang="nl-NL" baseline="0" dirty="0" smtClean="0"/>
              <a:t>, </a:t>
            </a:r>
            <a:r>
              <a:rPr lang="nl-NL" baseline="0" dirty="0" err="1" smtClean="0"/>
              <a:t>necessary</a:t>
            </a:r>
            <a:r>
              <a:rPr lang="nl-NL" baseline="0" dirty="0" smtClean="0"/>
              <a:t>, </a:t>
            </a:r>
            <a:r>
              <a:rPr lang="nl-NL" baseline="0" dirty="0" err="1" smtClean="0"/>
              <a:t>uncaused</a:t>
            </a:r>
            <a:r>
              <a:rPr lang="nl-NL" baseline="0" dirty="0" smtClean="0"/>
              <a:t>, </a:t>
            </a:r>
            <a:r>
              <a:rPr lang="nl-NL" baseline="0" dirty="0" err="1" smtClean="0"/>
              <a:t>simple</a:t>
            </a:r>
            <a:r>
              <a:rPr lang="nl-NL" baseline="0" dirty="0" smtClean="0"/>
              <a:t>, </a:t>
            </a:r>
            <a:r>
              <a:rPr lang="nl-NL" baseline="0" dirty="0" err="1" smtClean="0"/>
              <a:t>infinite</a:t>
            </a:r>
            <a:r>
              <a:rPr lang="nl-NL" baseline="0" dirty="0" smtClean="0"/>
              <a:t> </a:t>
            </a:r>
            <a:r>
              <a:rPr lang="nl-NL" baseline="0" dirty="0" err="1" smtClean="0"/>
              <a:t>thing</a:t>
            </a:r>
            <a:r>
              <a:rPr lang="nl-NL" baseline="0" dirty="0" smtClean="0"/>
              <a:t>. </a:t>
            </a:r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7D9CD3-00C3-4487-BD25-F290653A4305}" type="slidenum">
              <a:rPr lang="en-IE" smtClean="0"/>
              <a:pPr/>
              <a:t>11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275646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7D9CD3-00C3-4487-BD25-F290653A4305}" type="slidenum">
              <a:rPr lang="en-IE" smtClean="0"/>
              <a:pPr/>
              <a:t>12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275646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7D9CD3-00C3-4487-BD25-F290653A4305}" type="slidenum">
              <a:rPr lang="en-IE" smtClean="0"/>
              <a:pPr/>
              <a:t>13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275646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0AEB-7E23-4A29-AE8C-DEF0EC2E5D97}" type="datetimeFigureOut">
              <a:rPr lang="nl-NL" smtClean="0"/>
              <a:pPr/>
              <a:t>26-8-2014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04E19-9FB8-4C27-821D-BBEA7AABA37C}" type="slidenum">
              <a:rPr lang="nl-NL" smtClean="0"/>
              <a:pPr/>
              <a:t>‹#›</a:t>
            </a:fld>
            <a:endParaRPr lang="nl-NL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0AEB-7E23-4A29-AE8C-DEF0EC2E5D97}" type="datetimeFigureOut">
              <a:rPr lang="nl-NL" smtClean="0"/>
              <a:pPr/>
              <a:t>26-8-2014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04E19-9FB8-4C27-821D-BBEA7AABA37C}" type="slidenum">
              <a:rPr lang="nl-NL" smtClean="0"/>
              <a:pPr/>
              <a:t>‹#›</a:t>
            </a:fld>
            <a:endParaRPr lang="nl-NL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0AEB-7E23-4A29-AE8C-DEF0EC2E5D97}" type="datetimeFigureOut">
              <a:rPr lang="nl-NL" smtClean="0"/>
              <a:pPr/>
              <a:t>26-8-2014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04E19-9FB8-4C27-821D-BBEA7AABA37C}" type="slidenum">
              <a:rPr lang="nl-NL" smtClean="0"/>
              <a:pPr/>
              <a:t>‹#›</a:t>
            </a:fld>
            <a:endParaRPr lang="nl-NL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0AEB-7E23-4A29-AE8C-DEF0EC2E5D97}" type="datetimeFigureOut">
              <a:rPr lang="nl-NL" smtClean="0"/>
              <a:pPr/>
              <a:t>26-8-2014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04E19-9FB8-4C27-821D-BBEA7AABA37C}" type="slidenum">
              <a:rPr lang="nl-NL" smtClean="0"/>
              <a:pPr/>
              <a:t>‹#›</a:t>
            </a:fld>
            <a:endParaRPr lang="nl-NL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0AEB-7E23-4A29-AE8C-DEF0EC2E5D97}" type="datetimeFigureOut">
              <a:rPr lang="nl-NL" smtClean="0"/>
              <a:pPr/>
              <a:t>26-8-2014</a:t>
            </a:fld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04E19-9FB8-4C27-821D-BBEA7AABA37C}" type="slidenum">
              <a:rPr lang="nl-NL" smtClean="0"/>
              <a:pPr/>
              <a:t>‹#›</a:t>
            </a:fld>
            <a:endParaRPr lang="nl-NL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0AEB-7E23-4A29-AE8C-DEF0EC2E5D97}" type="datetimeFigureOut">
              <a:rPr lang="nl-NL" smtClean="0"/>
              <a:pPr/>
              <a:t>26-8-2014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04E19-9FB8-4C27-821D-BBEA7AABA37C}" type="slidenum">
              <a:rPr lang="nl-NL" smtClean="0"/>
              <a:pPr/>
              <a:t>‹#›</a:t>
            </a:fld>
            <a:endParaRPr lang="nl-N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0AEB-7E23-4A29-AE8C-DEF0EC2E5D97}" type="datetimeFigureOut">
              <a:rPr lang="nl-NL" smtClean="0"/>
              <a:pPr/>
              <a:t>26-8-2014</a:t>
            </a:fld>
            <a:endParaRPr lang="nl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04E19-9FB8-4C27-821D-BBEA7AABA37C}" type="slidenum">
              <a:rPr lang="nl-NL" smtClean="0"/>
              <a:pPr/>
              <a:t>‹#›</a:t>
            </a:fld>
            <a:endParaRPr lang="nl-N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0AEB-7E23-4A29-AE8C-DEF0EC2E5D97}" type="datetimeFigureOut">
              <a:rPr lang="nl-NL" smtClean="0"/>
              <a:pPr/>
              <a:t>26-8-2014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04E19-9FB8-4C27-821D-BBEA7AABA37C}" type="slidenum">
              <a:rPr lang="nl-NL" smtClean="0"/>
              <a:pPr/>
              <a:t>‹#›</a:t>
            </a:fld>
            <a:endParaRPr lang="nl-NL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0AEB-7E23-4A29-AE8C-DEF0EC2E5D97}" type="datetimeFigureOut">
              <a:rPr lang="nl-NL" smtClean="0"/>
              <a:pPr/>
              <a:t>26-8-2014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04E19-9FB8-4C27-821D-BBEA7AABA37C}" type="slidenum">
              <a:rPr lang="nl-NL" smtClean="0"/>
              <a:pPr/>
              <a:t>‹#›</a:t>
            </a:fld>
            <a:endParaRPr lang="nl-NL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0AEB-7E23-4A29-AE8C-DEF0EC2E5D97}" type="datetimeFigureOut">
              <a:rPr lang="nl-NL" smtClean="0"/>
              <a:pPr/>
              <a:t>26-8-2014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04E19-9FB8-4C27-821D-BBEA7AABA37C}" type="slidenum">
              <a:rPr lang="nl-NL" smtClean="0"/>
              <a:pPr/>
              <a:t>‹#›</a:t>
            </a:fld>
            <a:endParaRPr lang="nl-NL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0AEB-7E23-4A29-AE8C-DEF0EC2E5D97}" type="datetimeFigureOut">
              <a:rPr lang="nl-NL" smtClean="0"/>
              <a:pPr/>
              <a:t>26-8-2014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04E19-9FB8-4C27-821D-BBEA7AABA37C}" type="slidenum">
              <a:rPr lang="nl-NL" smtClean="0"/>
              <a:pPr/>
              <a:t>‹#›</a:t>
            </a:fld>
            <a:endParaRPr lang="nl-NL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AA0AEB-7E23-4A29-AE8C-DEF0EC2E5D97}" type="datetimeFigureOut">
              <a:rPr lang="nl-NL" smtClean="0"/>
              <a:pPr/>
              <a:t>26-8-2014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B04E19-9FB8-4C27-821D-BBEA7AABA37C}" type="slidenum">
              <a:rPr lang="nl-NL" smtClean="0"/>
              <a:pPr/>
              <a:t>‹#›</a:t>
            </a:fld>
            <a:endParaRPr lang="nl-N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7544" y="1412776"/>
            <a:ext cx="8278688" cy="1470025"/>
          </a:xfrm>
        </p:spPr>
        <p:txBody>
          <a:bodyPr>
            <a:normAutofit fontScale="90000"/>
          </a:bodyPr>
          <a:lstStyle/>
          <a:p>
            <a:r>
              <a:rPr lang="nl-NL" dirty="0" smtClean="0"/>
              <a:t/>
            </a:r>
            <a:br>
              <a:rPr lang="nl-NL" dirty="0" smtClean="0"/>
            </a:br>
            <a:r>
              <a:rPr lang="nl-NL" dirty="0" smtClean="0"/>
              <a:t/>
            </a:r>
            <a:br>
              <a:rPr lang="nl-NL" dirty="0" smtClean="0"/>
            </a:br>
            <a:r>
              <a:rPr lang="nl-NL" sz="4000" dirty="0" smtClean="0"/>
              <a:t>A </a:t>
            </a:r>
            <a:r>
              <a:rPr lang="nl-NL" sz="4000" dirty="0" err="1"/>
              <a:t>s</a:t>
            </a:r>
            <a:r>
              <a:rPr lang="nl-NL" sz="4000" dirty="0" err="1" smtClean="0"/>
              <a:t>emantic</a:t>
            </a:r>
            <a:r>
              <a:rPr lang="nl-NL" sz="4000" dirty="0" smtClean="0"/>
              <a:t> argument </a:t>
            </a:r>
            <a:r>
              <a:rPr lang="nl-NL" sz="4000" dirty="0" err="1" smtClean="0"/>
              <a:t>against</a:t>
            </a:r>
            <a:r>
              <a:rPr lang="nl-NL" sz="4000" dirty="0" smtClean="0"/>
              <a:t> the </a:t>
            </a:r>
            <a:r>
              <a:rPr lang="nl-NL" sz="4000" dirty="0" err="1" smtClean="0"/>
              <a:t>existence</a:t>
            </a:r>
            <a:r>
              <a:rPr lang="nl-NL" sz="4000" dirty="0" smtClean="0"/>
              <a:t> of </a:t>
            </a:r>
            <a:r>
              <a:rPr lang="nl-NL" sz="4000" dirty="0" err="1" smtClean="0"/>
              <a:t>universally</a:t>
            </a:r>
            <a:r>
              <a:rPr lang="nl-NL" sz="4000" dirty="0" smtClean="0"/>
              <a:t> held real </a:t>
            </a:r>
            <a:r>
              <a:rPr lang="nl-NL" sz="4000" dirty="0" err="1" smtClean="0"/>
              <a:t>properties</a:t>
            </a:r>
            <a:endParaRPr lang="nl-NL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052664"/>
            <a:ext cx="6400800" cy="1752600"/>
          </a:xfrm>
        </p:spPr>
        <p:txBody>
          <a:bodyPr>
            <a:normAutofit/>
          </a:bodyPr>
          <a:lstStyle/>
          <a:p>
            <a:r>
              <a:rPr lang="nl-NL" sz="2400" dirty="0" smtClean="0">
                <a:solidFill>
                  <a:srgbClr val="0070C0"/>
                </a:solidFill>
              </a:rPr>
              <a:t>Emanuel </a:t>
            </a:r>
            <a:r>
              <a:rPr lang="nl-NL" sz="2400" dirty="0">
                <a:solidFill>
                  <a:srgbClr val="0070C0"/>
                </a:solidFill>
              </a:rPr>
              <a:t>R</a:t>
            </a:r>
            <a:r>
              <a:rPr lang="nl-NL" sz="2400" dirty="0" smtClean="0">
                <a:solidFill>
                  <a:srgbClr val="0070C0"/>
                </a:solidFill>
              </a:rPr>
              <a:t>utten</a:t>
            </a:r>
          </a:p>
          <a:p>
            <a:r>
              <a:rPr lang="nl-NL" sz="2400" dirty="0" err="1" smtClean="0">
                <a:solidFill>
                  <a:schemeClr val="tx1"/>
                </a:solidFill>
              </a:rPr>
              <a:t>Faculty</a:t>
            </a:r>
            <a:r>
              <a:rPr lang="nl-NL" sz="2400" dirty="0" smtClean="0">
                <a:solidFill>
                  <a:schemeClr val="tx1"/>
                </a:solidFill>
              </a:rPr>
              <a:t> of </a:t>
            </a:r>
            <a:r>
              <a:rPr lang="nl-NL" sz="2400" dirty="0" err="1" smtClean="0">
                <a:solidFill>
                  <a:schemeClr val="tx1"/>
                </a:solidFill>
              </a:rPr>
              <a:t>Philosophy</a:t>
            </a:r>
            <a:endParaRPr lang="nl-NL" sz="2400" dirty="0">
              <a:solidFill>
                <a:schemeClr val="tx1"/>
              </a:solidFill>
            </a:endParaRPr>
          </a:p>
          <a:p>
            <a:r>
              <a:rPr lang="nl-NL" sz="2400" dirty="0" smtClean="0">
                <a:solidFill>
                  <a:schemeClr val="tx1"/>
                </a:solidFill>
              </a:rPr>
              <a:t>VU University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200" dirty="0" err="1"/>
              <a:t>P</a:t>
            </a:r>
            <a:r>
              <a:rPr lang="nl-NL" sz="3200" dirty="0" err="1" smtClean="0"/>
              <a:t>reliminaries</a:t>
            </a:r>
            <a:endParaRPr lang="nl-NL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1864" y="1196752"/>
            <a:ext cx="8856984" cy="519044"/>
          </a:xfrm>
        </p:spPr>
        <p:txBody>
          <a:bodyPr>
            <a:noAutofit/>
          </a:bodyPr>
          <a:lstStyle/>
          <a:p>
            <a:r>
              <a:rPr lang="nl-NL" sz="1900" dirty="0"/>
              <a:t>A</a:t>
            </a:r>
            <a:r>
              <a:rPr lang="nl-NL" sz="1900" dirty="0" smtClean="0"/>
              <a:t> </a:t>
            </a:r>
            <a:r>
              <a:rPr lang="nl-NL" sz="1900" i="1" dirty="0" err="1" smtClean="0"/>
              <a:t>semantic</a:t>
            </a:r>
            <a:r>
              <a:rPr lang="nl-NL" sz="1900" i="1" dirty="0" smtClean="0"/>
              <a:t> argument</a:t>
            </a:r>
            <a:r>
              <a:rPr lang="nl-NL" sz="1900" dirty="0" smtClean="0"/>
              <a:t> is a </a:t>
            </a:r>
            <a:r>
              <a:rPr lang="nl-NL" sz="1900" dirty="0" err="1" smtClean="0"/>
              <a:t>deductive</a:t>
            </a:r>
            <a:r>
              <a:rPr lang="nl-NL" sz="1900" dirty="0" smtClean="0"/>
              <a:t> argument </a:t>
            </a:r>
            <a:r>
              <a:rPr lang="nl-NL" sz="1900" dirty="0" err="1" smtClean="0"/>
              <a:t>from</a:t>
            </a:r>
            <a:r>
              <a:rPr lang="nl-NL" sz="1900" dirty="0" smtClean="0"/>
              <a:t> </a:t>
            </a:r>
            <a:r>
              <a:rPr lang="nl-NL" sz="1900" dirty="0" err="1" smtClean="0"/>
              <a:t>some</a:t>
            </a:r>
            <a:r>
              <a:rPr lang="nl-NL" sz="1900" dirty="0" smtClean="0"/>
              <a:t> </a:t>
            </a:r>
            <a:r>
              <a:rPr lang="nl-NL" sz="1900" i="1" dirty="0" err="1" smtClean="0"/>
              <a:t>theory</a:t>
            </a:r>
            <a:r>
              <a:rPr lang="nl-NL" sz="1900" i="1" dirty="0" smtClean="0"/>
              <a:t> of </a:t>
            </a:r>
            <a:r>
              <a:rPr lang="nl-NL" sz="1900" i="1" dirty="0" err="1" smtClean="0"/>
              <a:t>meaning</a:t>
            </a:r>
            <a:r>
              <a:rPr lang="nl-NL" sz="1900" dirty="0" smtClean="0"/>
              <a:t>. </a:t>
            </a:r>
            <a:r>
              <a:rPr lang="nl-NL" sz="1900" dirty="0" err="1" smtClean="0"/>
              <a:t>So</a:t>
            </a:r>
            <a:r>
              <a:rPr lang="nl-NL" sz="1900" dirty="0" smtClean="0"/>
              <a:t>,    the </a:t>
            </a:r>
            <a:r>
              <a:rPr lang="nl-NL" sz="1900" dirty="0" err="1" smtClean="0"/>
              <a:t>argument’s</a:t>
            </a:r>
            <a:r>
              <a:rPr lang="nl-NL" sz="1900" dirty="0" smtClean="0"/>
              <a:t> </a:t>
            </a:r>
            <a:r>
              <a:rPr lang="nl-NL" sz="1900" dirty="0" err="1" smtClean="0"/>
              <a:t>conclusion</a:t>
            </a:r>
            <a:r>
              <a:rPr lang="nl-NL" sz="1900" dirty="0" smtClean="0"/>
              <a:t> is </a:t>
            </a:r>
            <a:r>
              <a:rPr lang="nl-NL" sz="1900" dirty="0" err="1" smtClean="0"/>
              <a:t>entailed</a:t>
            </a:r>
            <a:r>
              <a:rPr lang="nl-NL" sz="1900" dirty="0" smtClean="0"/>
              <a:t> </a:t>
            </a:r>
            <a:r>
              <a:rPr lang="nl-NL" sz="1900" dirty="0" err="1" smtClean="0"/>
              <a:t>by</a:t>
            </a:r>
            <a:r>
              <a:rPr lang="nl-NL" sz="1900" dirty="0" smtClean="0"/>
              <a:t> </a:t>
            </a:r>
            <a:r>
              <a:rPr lang="nl-NL" sz="1900" dirty="0" err="1" smtClean="0"/>
              <a:t>one</a:t>
            </a:r>
            <a:r>
              <a:rPr lang="nl-NL" sz="1900" dirty="0" smtClean="0"/>
              <a:t> or more </a:t>
            </a:r>
            <a:r>
              <a:rPr lang="nl-NL" sz="1900" dirty="0" err="1" smtClean="0"/>
              <a:t>premises</a:t>
            </a:r>
            <a:r>
              <a:rPr lang="nl-NL" sz="1900" dirty="0" smtClean="0"/>
              <a:t> </a:t>
            </a:r>
            <a:r>
              <a:rPr lang="nl-NL" sz="1900" dirty="0" err="1" smtClean="0"/>
              <a:t>about</a:t>
            </a:r>
            <a:r>
              <a:rPr lang="nl-NL" sz="1900" dirty="0" smtClean="0"/>
              <a:t> </a:t>
            </a:r>
            <a:r>
              <a:rPr lang="nl-NL" sz="1900" dirty="0" err="1" smtClean="0"/>
              <a:t>meaning</a:t>
            </a:r>
            <a:r>
              <a:rPr lang="nl-NL" sz="1900" i="1" dirty="0" smtClean="0"/>
              <a:t> </a:t>
            </a:r>
          </a:p>
          <a:p>
            <a:endParaRPr lang="nl-NL" sz="1900" dirty="0"/>
          </a:p>
          <a:p>
            <a:endParaRPr lang="nl-NL" sz="1900" dirty="0" smtClean="0"/>
          </a:p>
          <a:p>
            <a:endParaRPr lang="nl-NL" sz="1900" dirty="0" smtClean="0"/>
          </a:p>
        </p:txBody>
      </p:sp>
      <p:sp>
        <p:nvSpPr>
          <p:cNvPr id="6" name="Rectangle 5"/>
          <p:cNvSpPr/>
          <p:nvPr/>
        </p:nvSpPr>
        <p:spPr>
          <a:xfrm>
            <a:off x="251520" y="3673008"/>
            <a:ext cx="8136904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nl-NL" sz="1900" dirty="0" smtClean="0"/>
              <a:t>A property is </a:t>
            </a:r>
            <a:r>
              <a:rPr lang="nl-NL" sz="1900" i="1" dirty="0" smtClean="0"/>
              <a:t>real</a:t>
            </a:r>
            <a:r>
              <a:rPr lang="nl-NL" sz="1900" dirty="0" smtClean="0"/>
              <a:t> </a:t>
            </a:r>
            <a:r>
              <a:rPr lang="nl-NL" sz="1900" dirty="0" err="1" smtClean="0"/>
              <a:t>if</a:t>
            </a:r>
            <a:r>
              <a:rPr lang="nl-NL" sz="1900" dirty="0" smtClean="0"/>
              <a:t> </a:t>
            </a:r>
            <a:r>
              <a:rPr lang="nl-NL" sz="1900" dirty="0" err="1" smtClean="0"/>
              <a:t>it</a:t>
            </a:r>
            <a:r>
              <a:rPr lang="nl-NL" sz="1900" dirty="0" smtClean="0"/>
              <a:t> </a:t>
            </a:r>
            <a:r>
              <a:rPr lang="nl-NL" sz="1900" dirty="0" err="1" smtClean="0"/>
              <a:t>adds</a:t>
            </a:r>
            <a:r>
              <a:rPr lang="nl-NL" sz="1900" dirty="0" smtClean="0"/>
              <a:t> </a:t>
            </a:r>
            <a:r>
              <a:rPr lang="nl-NL" sz="1900" dirty="0" err="1" smtClean="0"/>
              <a:t>something</a:t>
            </a:r>
            <a:r>
              <a:rPr lang="nl-NL" sz="1900" dirty="0"/>
              <a:t> </a:t>
            </a:r>
            <a:r>
              <a:rPr lang="nl-NL" sz="1900" dirty="0" err="1" smtClean="0"/>
              <a:t>to</a:t>
            </a:r>
            <a:r>
              <a:rPr lang="nl-NL" sz="1900" dirty="0"/>
              <a:t> </a:t>
            </a:r>
            <a:r>
              <a:rPr lang="nl-NL" sz="1900" dirty="0" smtClean="0"/>
              <a:t>(or is a </a:t>
            </a:r>
            <a:r>
              <a:rPr lang="nl-NL" sz="1900" dirty="0" err="1" smtClean="0"/>
              <a:t>modification</a:t>
            </a:r>
            <a:r>
              <a:rPr lang="nl-NL" sz="1900" dirty="0" smtClean="0"/>
              <a:t> of) </a:t>
            </a:r>
            <a:r>
              <a:rPr lang="nl-NL" sz="1900" dirty="0" err="1" smtClean="0"/>
              <a:t>its</a:t>
            </a:r>
            <a:r>
              <a:rPr lang="nl-NL" sz="1900" dirty="0" smtClean="0"/>
              <a:t> </a:t>
            </a:r>
            <a:r>
              <a:rPr lang="nl-NL" sz="1900" dirty="0" err="1" smtClean="0"/>
              <a:t>bearer</a:t>
            </a:r>
            <a:r>
              <a:rPr lang="nl-NL" sz="1900" dirty="0" smtClean="0"/>
              <a:t>. </a:t>
            </a:r>
            <a:r>
              <a:rPr lang="nl-NL" sz="1900" dirty="0" err="1" smtClean="0"/>
              <a:t>Properties</a:t>
            </a:r>
            <a:r>
              <a:rPr lang="nl-NL" sz="1900" dirty="0" smtClean="0"/>
              <a:t> </a:t>
            </a:r>
            <a:r>
              <a:rPr lang="nl-NL" sz="1900" dirty="0" err="1" smtClean="0"/>
              <a:t>that</a:t>
            </a:r>
            <a:r>
              <a:rPr lang="nl-NL" sz="1900" dirty="0" smtClean="0"/>
              <a:t> are </a:t>
            </a:r>
            <a:r>
              <a:rPr lang="nl-NL" sz="1900" dirty="0" err="1" smtClean="0"/>
              <a:t>not</a:t>
            </a:r>
            <a:r>
              <a:rPr lang="nl-NL" sz="1900" dirty="0" smtClean="0"/>
              <a:t> real are </a:t>
            </a:r>
            <a:r>
              <a:rPr lang="nl-NL" sz="1900" dirty="0" err="1" smtClean="0"/>
              <a:t>called</a:t>
            </a:r>
            <a:r>
              <a:rPr lang="nl-NL" sz="1900" dirty="0" smtClean="0"/>
              <a:t> </a:t>
            </a:r>
            <a:r>
              <a:rPr lang="nl-NL" sz="1900" i="1" dirty="0" smtClean="0"/>
              <a:t>Cambridge </a:t>
            </a:r>
            <a:r>
              <a:rPr lang="nl-NL" sz="1900" dirty="0" err="1" smtClean="0"/>
              <a:t>properties</a:t>
            </a:r>
            <a:endParaRPr lang="nl-NL" sz="1900" dirty="0" smtClean="0"/>
          </a:p>
        </p:txBody>
      </p:sp>
      <p:sp>
        <p:nvSpPr>
          <p:cNvPr id="7" name="Rectangle 6"/>
          <p:cNvSpPr/>
          <p:nvPr/>
        </p:nvSpPr>
        <p:spPr>
          <a:xfrm>
            <a:off x="261864" y="4393088"/>
            <a:ext cx="8702624" cy="984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>
              <a:spcBef>
                <a:spcPct val="20000"/>
              </a:spcBef>
              <a:buSzPct val="60000"/>
              <a:buFont typeface="Courier New" panose="02070309020205020404" pitchFamily="49" charset="0"/>
              <a:buChar char="o"/>
              <a:defRPr/>
            </a:pPr>
            <a:r>
              <a:rPr lang="nl-NL" sz="1900" dirty="0" err="1"/>
              <a:t>S</a:t>
            </a:r>
            <a:r>
              <a:rPr lang="nl-NL" sz="1900" dirty="0" err="1" smtClean="0"/>
              <a:t>ome</a:t>
            </a:r>
            <a:r>
              <a:rPr lang="nl-NL" sz="1900" dirty="0" smtClean="0"/>
              <a:t> </a:t>
            </a:r>
            <a:r>
              <a:rPr lang="nl-NL" sz="1900" dirty="0" err="1" smtClean="0"/>
              <a:t>examples</a:t>
            </a:r>
            <a:r>
              <a:rPr lang="nl-NL" sz="1900" dirty="0" smtClean="0"/>
              <a:t> of </a:t>
            </a:r>
            <a:r>
              <a:rPr lang="nl-NL" sz="1900" i="1" dirty="0" smtClean="0"/>
              <a:t>real</a:t>
            </a:r>
            <a:r>
              <a:rPr lang="nl-NL" sz="1900" dirty="0" smtClean="0"/>
              <a:t> </a:t>
            </a:r>
            <a:r>
              <a:rPr lang="nl-NL" sz="1900" dirty="0" err="1" smtClean="0"/>
              <a:t>properties</a:t>
            </a:r>
            <a:r>
              <a:rPr lang="nl-NL" sz="1900" dirty="0" smtClean="0"/>
              <a:t>: </a:t>
            </a:r>
            <a:r>
              <a:rPr lang="nl-NL" sz="1900" dirty="0" err="1" smtClean="0"/>
              <a:t>being</a:t>
            </a:r>
            <a:r>
              <a:rPr lang="nl-NL" sz="1900" dirty="0" smtClean="0"/>
              <a:t> red, </a:t>
            </a:r>
            <a:r>
              <a:rPr lang="nl-NL" sz="1900" dirty="0" err="1" smtClean="0"/>
              <a:t>being</a:t>
            </a:r>
            <a:r>
              <a:rPr lang="nl-NL" sz="1900" dirty="0" smtClean="0"/>
              <a:t> </a:t>
            </a:r>
            <a:r>
              <a:rPr lang="nl-NL" sz="1900" dirty="0" err="1" smtClean="0"/>
              <a:t>triangular</a:t>
            </a:r>
            <a:r>
              <a:rPr lang="nl-NL" sz="1900" dirty="0" smtClean="0"/>
              <a:t>, </a:t>
            </a:r>
            <a:r>
              <a:rPr lang="nl-NL" sz="1900" dirty="0" err="1" smtClean="0"/>
              <a:t>being</a:t>
            </a:r>
            <a:r>
              <a:rPr lang="nl-NL" sz="1900" dirty="0" smtClean="0"/>
              <a:t> a man, </a:t>
            </a:r>
            <a:r>
              <a:rPr lang="nl-NL" sz="1900" dirty="0" err="1" smtClean="0"/>
              <a:t>being</a:t>
            </a:r>
            <a:r>
              <a:rPr lang="nl-NL" sz="1900" dirty="0" smtClean="0"/>
              <a:t> a </a:t>
            </a:r>
            <a:r>
              <a:rPr lang="nl-NL" sz="1900" dirty="0" err="1" smtClean="0"/>
              <a:t>table</a:t>
            </a:r>
            <a:r>
              <a:rPr lang="nl-NL" sz="1900" dirty="0" smtClean="0"/>
              <a:t>, </a:t>
            </a:r>
            <a:r>
              <a:rPr lang="nl-NL" sz="1900" dirty="0" err="1" smtClean="0"/>
              <a:t>being</a:t>
            </a:r>
            <a:r>
              <a:rPr lang="nl-NL" sz="1900" dirty="0" smtClean="0"/>
              <a:t> </a:t>
            </a:r>
            <a:r>
              <a:rPr lang="nl-NL" sz="1900" dirty="0" err="1" smtClean="0"/>
              <a:t>material</a:t>
            </a:r>
            <a:r>
              <a:rPr lang="nl-NL" sz="1900" dirty="0" smtClean="0"/>
              <a:t>, </a:t>
            </a:r>
            <a:r>
              <a:rPr lang="nl-NL" sz="1900" dirty="0" err="1" smtClean="0"/>
              <a:t>being</a:t>
            </a:r>
            <a:r>
              <a:rPr lang="nl-NL" sz="1900" dirty="0" smtClean="0"/>
              <a:t> contingent, </a:t>
            </a:r>
            <a:r>
              <a:rPr lang="nl-NL" sz="1900" dirty="0" err="1" smtClean="0"/>
              <a:t>being</a:t>
            </a:r>
            <a:r>
              <a:rPr lang="nl-NL" sz="1900" dirty="0" smtClean="0"/>
              <a:t> in love, </a:t>
            </a:r>
            <a:r>
              <a:rPr lang="nl-NL" sz="1900" dirty="0" err="1" smtClean="0"/>
              <a:t>knowing</a:t>
            </a:r>
            <a:r>
              <a:rPr lang="nl-NL" sz="1900" dirty="0" smtClean="0"/>
              <a:t> </a:t>
            </a:r>
            <a:r>
              <a:rPr lang="nl-NL" sz="1900" dirty="0" err="1" smtClean="0"/>
              <a:t>that</a:t>
            </a:r>
            <a:r>
              <a:rPr lang="nl-NL" sz="1900" dirty="0" smtClean="0"/>
              <a:t> 1+1=2 </a:t>
            </a:r>
            <a:endParaRPr lang="nl-NL" sz="1900" dirty="0"/>
          </a:p>
        </p:txBody>
      </p:sp>
      <p:sp>
        <p:nvSpPr>
          <p:cNvPr id="8" name="Rectangle 7"/>
          <p:cNvSpPr/>
          <p:nvPr/>
        </p:nvSpPr>
        <p:spPr>
          <a:xfrm>
            <a:off x="261864" y="5339824"/>
            <a:ext cx="8702624" cy="9694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>
              <a:spcBef>
                <a:spcPct val="20000"/>
              </a:spcBef>
              <a:buSzPct val="60000"/>
              <a:buFont typeface="Courier New" panose="02070309020205020404" pitchFamily="49" charset="0"/>
              <a:buChar char="o"/>
              <a:defRPr/>
            </a:pPr>
            <a:r>
              <a:rPr lang="nl-NL" sz="1900" dirty="0" err="1" smtClean="0"/>
              <a:t>Some</a:t>
            </a:r>
            <a:r>
              <a:rPr lang="nl-NL" sz="1900" dirty="0" smtClean="0"/>
              <a:t> </a:t>
            </a:r>
            <a:r>
              <a:rPr lang="nl-NL" sz="1900" dirty="0" err="1" smtClean="0"/>
              <a:t>examples</a:t>
            </a:r>
            <a:r>
              <a:rPr lang="nl-NL" sz="1900" dirty="0" smtClean="0"/>
              <a:t> of </a:t>
            </a:r>
            <a:r>
              <a:rPr lang="nl-NL" sz="1900" i="1" dirty="0" smtClean="0"/>
              <a:t>Cambridge</a:t>
            </a:r>
            <a:r>
              <a:rPr lang="nl-NL" sz="1900" dirty="0" smtClean="0"/>
              <a:t> </a:t>
            </a:r>
            <a:r>
              <a:rPr lang="nl-NL" sz="1900" dirty="0" err="1" smtClean="0"/>
              <a:t>properties</a:t>
            </a:r>
            <a:r>
              <a:rPr lang="nl-NL" sz="1900" dirty="0" smtClean="0"/>
              <a:t>: </a:t>
            </a:r>
            <a:r>
              <a:rPr lang="nl-NL" sz="1900" dirty="0" err="1" smtClean="0"/>
              <a:t>being</a:t>
            </a:r>
            <a:r>
              <a:rPr lang="nl-NL" sz="1900" dirty="0" smtClean="0"/>
              <a:t> the </a:t>
            </a:r>
            <a:r>
              <a:rPr lang="nl-NL" sz="1900" dirty="0" err="1" smtClean="0"/>
              <a:t>only</a:t>
            </a:r>
            <a:r>
              <a:rPr lang="nl-NL" sz="1900" dirty="0" smtClean="0"/>
              <a:t> </a:t>
            </a:r>
            <a:r>
              <a:rPr lang="nl-NL" sz="1900" dirty="0" err="1" smtClean="0"/>
              <a:t>thing</a:t>
            </a:r>
            <a:r>
              <a:rPr lang="nl-NL" sz="1900" dirty="0" smtClean="0"/>
              <a:t> in the </a:t>
            </a:r>
            <a:r>
              <a:rPr lang="nl-NL" sz="1900" dirty="0" err="1" smtClean="0"/>
              <a:t>world</a:t>
            </a:r>
            <a:r>
              <a:rPr lang="nl-NL" sz="1900" dirty="0" smtClean="0"/>
              <a:t>, </a:t>
            </a:r>
            <a:r>
              <a:rPr lang="nl-NL" sz="1900" dirty="0" err="1" smtClean="0"/>
              <a:t>being</a:t>
            </a:r>
            <a:r>
              <a:rPr lang="nl-NL" sz="1900" dirty="0" smtClean="0"/>
              <a:t> to the </a:t>
            </a:r>
            <a:r>
              <a:rPr lang="nl-NL" sz="1900" dirty="0" err="1" smtClean="0"/>
              <a:t>south</a:t>
            </a:r>
            <a:r>
              <a:rPr lang="nl-NL" sz="1900" dirty="0" smtClean="0"/>
              <a:t> of Paris, </a:t>
            </a:r>
            <a:r>
              <a:rPr lang="nl-NL" sz="1900" dirty="0" err="1" smtClean="0"/>
              <a:t>being</a:t>
            </a:r>
            <a:r>
              <a:rPr lang="nl-NL" sz="1900" dirty="0" smtClean="0"/>
              <a:t> </a:t>
            </a:r>
            <a:r>
              <a:rPr lang="nl-NL" sz="1900" dirty="0" err="1" smtClean="0"/>
              <a:t>loved</a:t>
            </a:r>
            <a:r>
              <a:rPr lang="nl-NL" sz="1900" dirty="0" smtClean="0"/>
              <a:t> </a:t>
            </a:r>
            <a:r>
              <a:rPr lang="nl-NL" sz="1900" dirty="0" err="1" smtClean="0"/>
              <a:t>by</a:t>
            </a:r>
            <a:r>
              <a:rPr lang="nl-NL" sz="1900" dirty="0" smtClean="0"/>
              <a:t> Brigitte, </a:t>
            </a:r>
            <a:r>
              <a:rPr lang="nl-NL" sz="1900" dirty="0" err="1" smtClean="0"/>
              <a:t>being</a:t>
            </a:r>
            <a:r>
              <a:rPr lang="nl-NL" sz="1900" dirty="0" smtClean="0"/>
              <a:t> </a:t>
            </a:r>
            <a:r>
              <a:rPr lang="nl-NL" sz="1900" dirty="0" err="1" smtClean="0"/>
              <a:t>thought</a:t>
            </a:r>
            <a:r>
              <a:rPr lang="nl-NL" sz="1900" dirty="0" smtClean="0"/>
              <a:t> of </a:t>
            </a:r>
            <a:r>
              <a:rPr lang="nl-NL" sz="1900" dirty="0" err="1" smtClean="0"/>
              <a:t>by</a:t>
            </a:r>
            <a:r>
              <a:rPr lang="nl-NL" sz="1900" dirty="0" smtClean="0"/>
              <a:t> Mark, </a:t>
            </a:r>
            <a:r>
              <a:rPr lang="nl-NL" sz="1900" dirty="0" err="1" smtClean="0"/>
              <a:t>being</a:t>
            </a:r>
            <a:r>
              <a:rPr lang="nl-NL" sz="1900" dirty="0" smtClean="0"/>
              <a:t> </a:t>
            </a:r>
            <a:r>
              <a:rPr lang="nl-NL" sz="1900" dirty="0" err="1" smtClean="0"/>
              <a:t>self-identical</a:t>
            </a:r>
            <a:r>
              <a:rPr lang="nl-NL" sz="1900" dirty="0" smtClean="0"/>
              <a:t>, </a:t>
            </a:r>
            <a:r>
              <a:rPr lang="nl-NL" sz="1900" dirty="0" err="1" smtClean="0"/>
              <a:t>being</a:t>
            </a:r>
            <a:r>
              <a:rPr lang="nl-NL" sz="1900" dirty="0" smtClean="0"/>
              <a:t> </a:t>
            </a:r>
            <a:r>
              <a:rPr lang="nl-NL" sz="1900" dirty="0" err="1" smtClean="0"/>
              <a:t>such</a:t>
            </a:r>
            <a:r>
              <a:rPr lang="nl-NL" sz="1900" dirty="0" smtClean="0"/>
              <a:t> </a:t>
            </a:r>
            <a:r>
              <a:rPr lang="nl-NL" sz="1900" dirty="0" err="1" smtClean="0"/>
              <a:t>that</a:t>
            </a:r>
            <a:r>
              <a:rPr lang="nl-NL" sz="1900" dirty="0" smtClean="0"/>
              <a:t> 1+1=2</a:t>
            </a:r>
            <a:endParaRPr lang="nl-NL" sz="1900" dirty="0"/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251520" y="1931821"/>
            <a:ext cx="8892480" cy="63308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1900" dirty="0" smtClean="0"/>
              <a:t>I propose</a:t>
            </a:r>
            <a:r>
              <a:rPr lang="nl-NL" sz="1900" dirty="0"/>
              <a:t> </a:t>
            </a:r>
            <a:r>
              <a:rPr lang="nl-NL" sz="1900" dirty="0" smtClean="0"/>
              <a:t>a </a:t>
            </a:r>
            <a:r>
              <a:rPr lang="nl-NL" sz="1900" dirty="0" err="1" smtClean="0"/>
              <a:t>semantic</a:t>
            </a:r>
            <a:r>
              <a:rPr lang="nl-NL" sz="1900" dirty="0" smtClean="0"/>
              <a:t> argument </a:t>
            </a:r>
            <a:r>
              <a:rPr lang="nl-NL" sz="1900" dirty="0" err="1" smtClean="0"/>
              <a:t>for</a:t>
            </a:r>
            <a:r>
              <a:rPr lang="nl-NL" sz="1900" dirty="0" smtClean="0"/>
              <a:t> the </a:t>
            </a:r>
            <a:r>
              <a:rPr lang="nl-NL" sz="1900" i="1" dirty="0" err="1" smtClean="0"/>
              <a:t>ontological</a:t>
            </a:r>
            <a:r>
              <a:rPr lang="nl-NL" sz="1900" i="1" dirty="0" smtClean="0"/>
              <a:t> claim </a:t>
            </a:r>
            <a:r>
              <a:rPr lang="nl-NL" sz="1900" dirty="0" err="1" smtClean="0"/>
              <a:t>that</a:t>
            </a:r>
            <a:r>
              <a:rPr lang="nl-NL" sz="1900" dirty="0" smtClean="0"/>
              <a:t> </a:t>
            </a:r>
            <a:r>
              <a:rPr lang="nl-NL" sz="1900" dirty="0" err="1" smtClean="0"/>
              <a:t>there</a:t>
            </a:r>
            <a:r>
              <a:rPr lang="nl-NL" sz="1900" dirty="0" smtClean="0"/>
              <a:t> are </a:t>
            </a:r>
            <a:r>
              <a:rPr lang="nl-NL" sz="1900" dirty="0" err="1" smtClean="0"/>
              <a:t>no</a:t>
            </a:r>
            <a:r>
              <a:rPr lang="nl-NL" sz="1900" dirty="0" smtClean="0"/>
              <a:t>   </a:t>
            </a:r>
            <a:r>
              <a:rPr lang="nl-NL" sz="1900" dirty="0" err="1" smtClean="0"/>
              <a:t>universally</a:t>
            </a:r>
            <a:r>
              <a:rPr lang="nl-NL" sz="1900" dirty="0" smtClean="0"/>
              <a:t> held </a:t>
            </a:r>
            <a:r>
              <a:rPr lang="nl-NL" sz="1900" dirty="0" err="1" smtClean="0"/>
              <a:t>real</a:t>
            </a:r>
            <a:r>
              <a:rPr lang="nl-NL" sz="1900" dirty="0" smtClean="0"/>
              <a:t> </a:t>
            </a:r>
            <a:r>
              <a:rPr lang="nl-NL" sz="1900" dirty="0" err="1" smtClean="0"/>
              <a:t>properties</a:t>
            </a:r>
            <a:endParaRPr lang="nl-NL" sz="1900" i="1" dirty="0" smtClean="0"/>
          </a:p>
          <a:p>
            <a:pPr marL="0" indent="0">
              <a:buFont typeface="Arial" pitchFamily="34" charset="0"/>
              <a:buNone/>
            </a:pPr>
            <a:endParaRPr lang="nl-NL" sz="1900" dirty="0" smtClean="0"/>
          </a:p>
          <a:p>
            <a:endParaRPr lang="nl-NL" sz="1900" dirty="0" smtClean="0"/>
          </a:p>
          <a:p>
            <a:pPr marL="0" indent="0">
              <a:buNone/>
            </a:pPr>
            <a:endParaRPr lang="nl-NL" sz="1900" dirty="0" smtClean="0"/>
          </a:p>
          <a:p>
            <a:endParaRPr lang="nl-NL" sz="1900" dirty="0" smtClean="0"/>
          </a:p>
          <a:p>
            <a:endParaRPr lang="nl-NL" sz="1900" dirty="0" smtClean="0"/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261864" y="3199884"/>
            <a:ext cx="8388424" cy="4451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1900" dirty="0" err="1" smtClean="0"/>
              <a:t>Thus</a:t>
            </a:r>
            <a:r>
              <a:rPr lang="nl-NL" sz="1900" dirty="0" smtClean="0"/>
              <a:t> the </a:t>
            </a:r>
            <a:r>
              <a:rPr lang="nl-NL" sz="1900" dirty="0" err="1" smtClean="0"/>
              <a:t>ontological</a:t>
            </a:r>
            <a:r>
              <a:rPr lang="nl-NL" sz="1900" dirty="0" smtClean="0"/>
              <a:t> claim </a:t>
            </a:r>
            <a:r>
              <a:rPr lang="nl-NL" sz="1900" dirty="0" err="1" smtClean="0"/>
              <a:t>can</a:t>
            </a:r>
            <a:r>
              <a:rPr lang="nl-NL" sz="1900" dirty="0" smtClean="0"/>
              <a:t> </a:t>
            </a:r>
            <a:r>
              <a:rPr lang="nl-NL" sz="1900" dirty="0" err="1" smtClean="0"/>
              <a:t>be</a:t>
            </a:r>
            <a:r>
              <a:rPr lang="nl-NL" sz="1900" dirty="0" smtClean="0"/>
              <a:t> </a:t>
            </a:r>
            <a:r>
              <a:rPr lang="nl-NL" sz="1900" dirty="0" err="1" smtClean="0"/>
              <a:t>phrased</a:t>
            </a:r>
            <a:r>
              <a:rPr lang="nl-NL" sz="1900" dirty="0" smtClean="0"/>
              <a:t> as: </a:t>
            </a:r>
            <a:r>
              <a:rPr lang="nl-NL" sz="1900" b="1" dirty="0" smtClean="0"/>
              <a:t>∀P(</a:t>
            </a:r>
            <a:r>
              <a:rPr lang="nl-NL" sz="1900" b="1" dirty="0" err="1" smtClean="0"/>
              <a:t>Real</a:t>
            </a:r>
            <a:r>
              <a:rPr lang="nl-NL" sz="1900" b="1" dirty="0" smtClean="0"/>
              <a:t>(P) → ∃x¬P(x)) </a:t>
            </a:r>
            <a:endParaRPr lang="nl-NL" sz="1900" dirty="0" smtClean="0"/>
          </a:p>
          <a:p>
            <a:endParaRPr lang="nl-NL" sz="1800" dirty="0" smtClean="0"/>
          </a:p>
          <a:p>
            <a:endParaRPr lang="nl-NL" sz="1800" dirty="0" smtClean="0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261864" y="2693932"/>
            <a:ext cx="8363272" cy="5190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1900" dirty="0" smtClean="0"/>
              <a:t>A property is </a:t>
            </a:r>
            <a:r>
              <a:rPr lang="nl-NL" sz="1900" i="1" dirty="0" err="1" smtClean="0"/>
              <a:t>universally</a:t>
            </a:r>
            <a:r>
              <a:rPr lang="nl-NL" sz="1900" i="1" dirty="0" smtClean="0"/>
              <a:t> held </a:t>
            </a:r>
            <a:r>
              <a:rPr lang="nl-NL" sz="1900" dirty="0" err="1" smtClean="0"/>
              <a:t>if</a:t>
            </a:r>
            <a:r>
              <a:rPr lang="nl-NL" sz="1900" dirty="0" smtClean="0"/>
              <a:t> </a:t>
            </a:r>
            <a:r>
              <a:rPr lang="nl-NL" sz="1900" dirty="0" err="1" smtClean="0"/>
              <a:t>and</a:t>
            </a:r>
            <a:r>
              <a:rPr lang="nl-NL" sz="1900" dirty="0" smtClean="0"/>
              <a:t> </a:t>
            </a:r>
            <a:r>
              <a:rPr lang="nl-NL" sz="1900" dirty="0" err="1" smtClean="0"/>
              <a:t>only</a:t>
            </a:r>
            <a:r>
              <a:rPr lang="nl-NL" sz="1900" dirty="0" smtClean="0"/>
              <a:t> </a:t>
            </a:r>
            <a:r>
              <a:rPr lang="nl-NL" sz="1900" dirty="0" err="1" smtClean="0"/>
              <a:t>if</a:t>
            </a:r>
            <a:r>
              <a:rPr lang="nl-NL" sz="1900" dirty="0" smtClean="0"/>
              <a:t> </a:t>
            </a:r>
            <a:r>
              <a:rPr lang="nl-NL" sz="1900" dirty="0" err="1" smtClean="0"/>
              <a:t>everything</a:t>
            </a:r>
            <a:r>
              <a:rPr lang="nl-NL" sz="1900" dirty="0" smtClean="0"/>
              <a:t> has </a:t>
            </a:r>
            <a:r>
              <a:rPr lang="nl-NL" sz="1900" dirty="0" err="1" smtClean="0"/>
              <a:t>it</a:t>
            </a:r>
            <a:endParaRPr lang="nl-NL" sz="1900" dirty="0" smtClean="0"/>
          </a:p>
          <a:p>
            <a:endParaRPr lang="nl-NL" sz="1900" dirty="0" smtClean="0"/>
          </a:p>
          <a:p>
            <a:endParaRPr lang="nl-NL" sz="1900" dirty="0" smtClean="0"/>
          </a:p>
          <a:p>
            <a:endParaRPr lang="nl-NL" sz="19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  <p:bldP spid="7" grpId="0"/>
      <p:bldP spid="8" grpId="0"/>
      <p:bldP spid="12" grpId="0"/>
      <p:bldP spid="13" grpId="0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200" dirty="0" smtClean="0"/>
              <a:t>A </a:t>
            </a:r>
            <a:r>
              <a:rPr lang="nl-NL" sz="3200" dirty="0" err="1" smtClean="0"/>
              <a:t>theory</a:t>
            </a:r>
            <a:r>
              <a:rPr lang="nl-NL" sz="3200" dirty="0" smtClean="0"/>
              <a:t> of </a:t>
            </a:r>
            <a:r>
              <a:rPr lang="nl-NL" sz="3200" dirty="0" err="1" smtClean="0"/>
              <a:t>meaning</a:t>
            </a:r>
            <a:endParaRPr lang="nl-NL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3933056"/>
            <a:ext cx="9001000" cy="1036712"/>
          </a:xfrm>
        </p:spPr>
        <p:txBody>
          <a:bodyPr>
            <a:normAutofit/>
          </a:bodyPr>
          <a:lstStyle/>
          <a:p>
            <a:r>
              <a:rPr lang="nl-NL" sz="1900" dirty="0" err="1" smtClean="0"/>
              <a:t>So</a:t>
            </a:r>
            <a:r>
              <a:rPr lang="nl-NL" sz="1900" dirty="0" smtClean="0"/>
              <a:t>, in (</a:t>
            </a:r>
            <a:r>
              <a:rPr lang="nl-NL" sz="1900" dirty="0" err="1" smtClean="0"/>
              <a:t>neo</a:t>
            </a:r>
            <a:r>
              <a:rPr lang="nl-NL" sz="1900" dirty="0" smtClean="0"/>
              <a:t>-)</a:t>
            </a:r>
            <a:r>
              <a:rPr lang="nl-NL" sz="1900" dirty="0" err="1" smtClean="0"/>
              <a:t>Fregean</a:t>
            </a:r>
            <a:r>
              <a:rPr lang="nl-NL" sz="1900" dirty="0" smtClean="0"/>
              <a:t> </a:t>
            </a:r>
            <a:r>
              <a:rPr lang="nl-NL" sz="1900" dirty="0" err="1" smtClean="0"/>
              <a:t>linguistics</a:t>
            </a:r>
            <a:r>
              <a:rPr lang="nl-NL" sz="1900" dirty="0" smtClean="0"/>
              <a:t>, </a:t>
            </a:r>
            <a:r>
              <a:rPr lang="nl-NL" sz="1900" dirty="0" err="1" smtClean="0"/>
              <a:t>terms</a:t>
            </a:r>
            <a:r>
              <a:rPr lang="nl-NL" sz="1900" dirty="0" smtClean="0"/>
              <a:t> have a </a:t>
            </a:r>
            <a:r>
              <a:rPr lang="nl-NL" sz="1900" i="1" dirty="0" err="1" smtClean="0"/>
              <a:t>meaning</a:t>
            </a:r>
            <a:r>
              <a:rPr lang="nl-NL" sz="1900" dirty="0" smtClean="0"/>
              <a:t> (</a:t>
            </a:r>
            <a:r>
              <a:rPr lang="nl-NL" sz="1900" dirty="0" err="1" smtClean="0"/>
              <a:t>intension</a:t>
            </a:r>
            <a:r>
              <a:rPr lang="nl-NL" sz="1900" dirty="0" smtClean="0"/>
              <a:t>, content, mode         of </a:t>
            </a:r>
            <a:r>
              <a:rPr lang="nl-NL" sz="1900" dirty="0" err="1" smtClean="0"/>
              <a:t>presentation</a:t>
            </a:r>
            <a:r>
              <a:rPr lang="nl-NL" sz="1900" dirty="0" smtClean="0"/>
              <a:t>) and a </a:t>
            </a:r>
            <a:r>
              <a:rPr lang="nl-NL" sz="1900" i="1" dirty="0" err="1" smtClean="0"/>
              <a:t>reference</a:t>
            </a:r>
            <a:r>
              <a:rPr lang="nl-NL" sz="1900" dirty="0" smtClean="0"/>
              <a:t> (</a:t>
            </a:r>
            <a:r>
              <a:rPr lang="nl-NL" sz="1900" dirty="0" err="1" smtClean="0"/>
              <a:t>extension</a:t>
            </a:r>
            <a:r>
              <a:rPr lang="nl-NL" sz="1900" dirty="0" smtClean="0"/>
              <a:t>, </a:t>
            </a:r>
            <a:r>
              <a:rPr lang="nl-NL" sz="1900" dirty="0" err="1" smtClean="0"/>
              <a:t>designation</a:t>
            </a:r>
            <a:r>
              <a:rPr lang="nl-NL" sz="1900" dirty="0" smtClean="0"/>
              <a:t>). A term </a:t>
            </a:r>
            <a:r>
              <a:rPr lang="nl-NL" sz="1900" i="1" dirty="0" err="1" smtClean="0"/>
              <a:t>expresses</a:t>
            </a:r>
            <a:r>
              <a:rPr lang="nl-NL" sz="1900" i="1" dirty="0" smtClean="0"/>
              <a:t> </a:t>
            </a:r>
            <a:r>
              <a:rPr lang="nl-NL" sz="1900" dirty="0" err="1" smtClean="0"/>
              <a:t>its</a:t>
            </a:r>
            <a:r>
              <a:rPr lang="nl-NL" sz="1900" dirty="0" smtClean="0"/>
              <a:t>              </a:t>
            </a:r>
            <a:r>
              <a:rPr lang="nl-NL" sz="1900" dirty="0" err="1" smtClean="0"/>
              <a:t>meaning</a:t>
            </a:r>
            <a:r>
              <a:rPr lang="nl-NL" sz="1900" dirty="0" smtClean="0"/>
              <a:t> and </a:t>
            </a:r>
            <a:r>
              <a:rPr lang="nl-NL" sz="1900" i="1" dirty="0" err="1" smtClean="0"/>
              <a:t>designates</a:t>
            </a:r>
            <a:r>
              <a:rPr lang="nl-NL" sz="1900" dirty="0" smtClean="0"/>
              <a:t> </a:t>
            </a:r>
            <a:r>
              <a:rPr lang="nl-NL" sz="1900" dirty="0" err="1" smtClean="0"/>
              <a:t>its</a:t>
            </a:r>
            <a:r>
              <a:rPr lang="nl-NL" sz="1900" dirty="0" smtClean="0"/>
              <a:t> </a:t>
            </a:r>
            <a:r>
              <a:rPr lang="nl-NL" sz="1900" dirty="0" err="1" smtClean="0"/>
              <a:t>reference</a:t>
            </a:r>
            <a:r>
              <a:rPr lang="nl-NL" sz="1900" dirty="0" smtClean="0"/>
              <a:t> </a:t>
            </a:r>
            <a:endParaRPr lang="nl-NL" sz="800" dirty="0" smtClean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395536" y="1340768"/>
            <a:ext cx="8424936" cy="5183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1900" dirty="0" smtClean="0"/>
              <a:t>The class of </a:t>
            </a:r>
            <a:r>
              <a:rPr lang="nl-NL" sz="1900" dirty="0" err="1" smtClean="0"/>
              <a:t>linguistic</a:t>
            </a:r>
            <a:r>
              <a:rPr lang="nl-NL" sz="1900" dirty="0" smtClean="0"/>
              <a:t> </a:t>
            </a:r>
            <a:r>
              <a:rPr lang="nl-NL" sz="1900" dirty="0" err="1" smtClean="0"/>
              <a:t>expressions</a:t>
            </a:r>
            <a:r>
              <a:rPr lang="nl-NL" sz="1900" dirty="0" smtClean="0"/>
              <a:t> </a:t>
            </a:r>
            <a:r>
              <a:rPr lang="nl-NL" sz="1900" dirty="0" err="1" smtClean="0"/>
              <a:t>includes</a:t>
            </a:r>
            <a:r>
              <a:rPr lang="nl-NL" sz="1900" dirty="0" smtClean="0"/>
              <a:t> </a:t>
            </a:r>
            <a:r>
              <a:rPr lang="nl-NL" sz="1900" i="1" dirty="0" err="1" smtClean="0"/>
              <a:t>terms</a:t>
            </a:r>
            <a:r>
              <a:rPr lang="nl-NL" sz="1900" dirty="0" smtClean="0"/>
              <a:t>. </a:t>
            </a:r>
            <a:r>
              <a:rPr lang="nl-NL" sz="1900" dirty="0" err="1" smtClean="0"/>
              <a:t>There</a:t>
            </a:r>
            <a:r>
              <a:rPr lang="nl-NL" sz="1900" dirty="0" smtClean="0"/>
              <a:t> are </a:t>
            </a:r>
            <a:r>
              <a:rPr lang="nl-NL" sz="1900" dirty="0" err="1" smtClean="0"/>
              <a:t>two</a:t>
            </a:r>
            <a:r>
              <a:rPr lang="nl-NL" sz="1900" dirty="0" smtClean="0"/>
              <a:t> types of </a:t>
            </a:r>
            <a:r>
              <a:rPr lang="nl-NL" sz="1900" dirty="0" err="1" smtClean="0"/>
              <a:t>terms</a:t>
            </a:r>
            <a:endParaRPr lang="nl-NL" sz="800" dirty="0" smtClean="0"/>
          </a:p>
          <a:p>
            <a:endParaRPr lang="nl-NL" sz="2000" dirty="0" smtClean="0"/>
          </a:p>
          <a:p>
            <a:pPr marL="0" indent="0">
              <a:buNone/>
            </a:pPr>
            <a:endParaRPr lang="nl-NL" sz="2000" dirty="0" smtClean="0"/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395536" y="4941168"/>
            <a:ext cx="8748464" cy="10081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1900" dirty="0" smtClean="0"/>
              <a:t>As a special case, </a:t>
            </a:r>
            <a:r>
              <a:rPr lang="nl-NL" sz="1900" dirty="0" err="1" smtClean="0"/>
              <a:t>consider</a:t>
            </a:r>
            <a:r>
              <a:rPr lang="nl-NL" sz="1900" dirty="0" smtClean="0"/>
              <a:t> Jo. Jo </a:t>
            </a:r>
            <a:r>
              <a:rPr lang="nl-NL" sz="1900" dirty="0" err="1" smtClean="0"/>
              <a:t>decides</a:t>
            </a:r>
            <a:r>
              <a:rPr lang="nl-NL" sz="1900" dirty="0" smtClean="0"/>
              <a:t> to </a:t>
            </a:r>
            <a:r>
              <a:rPr lang="nl-NL" sz="1900" dirty="0" err="1" smtClean="0"/>
              <a:t>assign</a:t>
            </a:r>
            <a:r>
              <a:rPr lang="nl-NL" sz="1900" dirty="0" smtClean="0"/>
              <a:t> </a:t>
            </a:r>
            <a:r>
              <a:rPr lang="nl-NL" sz="1900" i="1" dirty="0"/>
              <a:t>abc </a:t>
            </a:r>
            <a:r>
              <a:rPr lang="nl-NL" sz="1900" dirty="0"/>
              <a:t>and </a:t>
            </a:r>
            <a:r>
              <a:rPr lang="nl-NL" sz="1900" i="1" dirty="0" err="1"/>
              <a:t>xyz</a:t>
            </a:r>
            <a:r>
              <a:rPr lang="nl-NL" sz="1900" dirty="0"/>
              <a:t> as proper </a:t>
            </a:r>
            <a:r>
              <a:rPr lang="nl-NL" sz="1900" dirty="0" err="1"/>
              <a:t>names</a:t>
            </a:r>
            <a:r>
              <a:rPr lang="nl-NL" sz="1900" dirty="0"/>
              <a:t> </a:t>
            </a:r>
            <a:r>
              <a:rPr lang="nl-NL" sz="1900" dirty="0" err="1"/>
              <a:t>for</a:t>
            </a:r>
            <a:r>
              <a:rPr lang="nl-NL" sz="1900" dirty="0"/>
              <a:t> </a:t>
            </a:r>
            <a:r>
              <a:rPr lang="nl-NL" sz="1900" dirty="0" err="1"/>
              <a:t>his</a:t>
            </a:r>
            <a:r>
              <a:rPr lang="nl-NL" sz="1900" dirty="0"/>
              <a:t> </a:t>
            </a:r>
            <a:r>
              <a:rPr lang="nl-NL" sz="1900" dirty="0" err="1" smtClean="0"/>
              <a:t>iPhone</a:t>
            </a:r>
            <a:r>
              <a:rPr lang="nl-NL" sz="1900" dirty="0" smtClean="0"/>
              <a:t>. In these cases of (</a:t>
            </a:r>
            <a:r>
              <a:rPr lang="nl-NL" sz="1900" dirty="0" err="1" smtClean="0"/>
              <a:t>Kripkean</a:t>
            </a:r>
            <a:r>
              <a:rPr lang="nl-NL" sz="1900" dirty="0" smtClean="0"/>
              <a:t>) </a:t>
            </a:r>
            <a:r>
              <a:rPr lang="nl-NL" sz="1900" dirty="0" err="1" smtClean="0"/>
              <a:t>ostensive</a:t>
            </a:r>
            <a:r>
              <a:rPr lang="nl-NL" sz="1900" dirty="0" smtClean="0"/>
              <a:t> </a:t>
            </a:r>
            <a:r>
              <a:rPr lang="nl-NL" sz="1900" dirty="0" err="1" smtClean="0"/>
              <a:t>definition</a:t>
            </a:r>
            <a:r>
              <a:rPr lang="nl-NL" sz="1900" dirty="0" smtClean="0"/>
              <a:t>, the </a:t>
            </a:r>
            <a:r>
              <a:rPr lang="nl-NL" sz="1900" dirty="0" err="1" smtClean="0"/>
              <a:t>meaning</a:t>
            </a:r>
            <a:r>
              <a:rPr lang="nl-NL" sz="1900" dirty="0" smtClean="0"/>
              <a:t> of </a:t>
            </a:r>
            <a:r>
              <a:rPr lang="nl-NL" sz="1900" i="1" dirty="0" smtClean="0"/>
              <a:t>abc</a:t>
            </a:r>
            <a:r>
              <a:rPr lang="nl-NL" sz="1900" dirty="0" smtClean="0"/>
              <a:t> is (the singleton set </a:t>
            </a:r>
            <a:r>
              <a:rPr lang="nl-NL" sz="1900" dirty="0" err="1" smtClean="0"/>
              <a:t>containing</a:t>
            </a:r>
            <a:r>
              <a:rPr lang="nl-NL" sz="1900" dirty="0" smtClean="0"/>
              <a:t>) </a:t>
            </a:r>
            <a:r>
              <a:rPr lang="nl-NL" sz="1900" dirty="0" err="1" smtClean="0"/>
              <a:t>Jo’s</a:t>
            </a:r>
            <a:r>
              <a:rPr lang="nl-NL" sz="1900" dirty="0" smtClean="0"/>
              <a:t> </a:t>
            </a:r>
            <a:r>
              <a:rPr lang="nl-NL" sz="1900" dirty="0" err="1" smtClean="0"/>
              <a:t>iPhone</a:t>
            </a:r>
            <a:r>
              <a:rPr lang="nl-NL" sz="1900" dirty="0" smtClean="0"/>
              <a:t>. And the </a:t>
            </a:r>
            <a:r>
              <a:rPr lang="nl-NL" sz="1900" dirty="0" err="1" smtClean="0"/>
              <a:t>same</a:t>
            </a:r>
            <a:r>
              <a:rPr lang="nl-NL" sz="1900" dirty="0" smtClean="0"/>
              <a:t> </a:t>
            </a:r>
            <a:r>
              <a:rPr lang="nl-NL" sz="1900" dirty="0" err="1" smtClean="0"/>
              <a:t>holds</a:t>
            </a:r>
            <a:r>
              <a:rPr lang="nl-NL" sz="1900" dirty="0" smtClean="0"/>
              <a:t> </a:t>
            </a:r>
            <a:r>
              <a:rPr lang="nl-NL" sz="1900" dirty="0" err="1" smtClean="0"/>
              <a:t>for</a:t>
            </a:r>
            <a:r>
              <a:rPr lang="nl-NL" sz="1900" dirty="0" smtClean="0"/>
              <a:t> </a:t>
            </a:r>
            <a:r>
              <a:rPr lang="nl-NL" sz="1900" i="1" dirty="0" err="1" smtClean="0"/>
              <a:t>xyz</a:t>
            </a:r>
            <a:endParaRPr lang="nl-NL" sz="2000" i="1" dirty="0" smtClean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395536" y="5949280"/>
            <a:ext cx="8748464" cy="10081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1900" dirty="0" smtClean="0"/>
              <a:t>In all </a:t>
            </a:r>
            <a:r>
              <a:rPr lang="nl-NL" sz="1900" dirty="0" err="1" smtClean="0"/>
              <a:t>above</a:t>
            </a:r>
            <a:r>
              <a:rPr lang="nl-NL" sz="1900" dirty="0" smtClean="0"/>
              <a:t> cases, the </a:t>
            </a:r>
            <a:r>
              <a:rPr lang="nl-NL" sz="1900" dirty="0" err="1" smtClean="0"/>
              <a:t>meaning</a:t>
            </a:r>
            <a:r>
              <a:rPr lang="nl-NL" sz="1900" dirty="0" smtClean="0"/>
              <a:t> of a term </a:t>
            </a:r>
            <a:r>
              <a:rPr lang="nl-NL" sz="1900" dirty="0" err="1" smtClean="0"/>
              <a:t>fixes</a:t>
            </a:r>
            <a:r>
              <a:rPr lang="nl-NL" sz="1900" dirty="0" smtClean="0"/>
              <a:t> </a:t>
            </a:r>
            <a:r>
              <a:rPr lang="nl-NL" sz="1900" dirty="0" err="1" smtClean="0"/>
              <a:t>its</a:t>
            </a:r>
            <a:r>
              <a:rPr lang="nl-NL" sz="1900" dirty="0" smtClean="0"/>
              <a:t> </a:t>
            </a:r>
            <a:r>
              <a:rPr lang="nl-NL" sz="1900" dirty="0" err="1" smtClean="0"/>
              <a:t>reference</a:t>
            </a:r>
            <a:endParaRPr lang="nl-NL" sz="2000" dirty="0" smtClean="0"/>
          </a:p>
          <a:p>
            <a:endParaRPr lang="nl-NL" sz="2000" dirty="0" smtClean="0"/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827584" y="1844824"/>
            <a:ext cx="8424936" cy="64807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Font typeface="Courier New" panose="02070309020205020404" pitchFamily="49" charset="0"/>
              <a:buChar char="o"/>
            </a:pPr>
            <a:r>
              <a:rPr lang="nl-NL" sz="1900" i="1" dirty="0" err="1"/>
              <a:t>S</a:t>
            </a:r>
            <a:r>
              <a:rPr lang="nl-NL" sz="1900" i="1" dirty="0" err="1" smtClean="0"/>
              <a:t>ingular</a:t>
            </a:r>
            <a:r>
              <a:rPr lang="nl-NL" sz="1900" i="1" dirty="0" smtClean="0"/>
              <a:t> </a:t>
            </a:r>
            <a:r>
              <a:rPr lang="nl-NL" sz="1900" dirty="0" err="1" smtClean="0"/>
              <a:t>terms</a:t>
            </a:r>
            <a:r>
              <a:rPr lang="nl-NL" sz="1900" dirty="0" smtClean="0"/>
              <a:t> (e.g., proper </a:t>
            </a:r>
            <a:r>
              <a:rPr lang="nl-NL" sz="1900" dirty="0" err="1" smtClean="0"/>
              <a:t>names</a:t>
            </a:r>
            <a:r>
              <a:rPr lang="nl-NL" sz="1900" dirty="0" smtClean="0"/>
              <a:t> </a:t>
            </a:r>
            <a:r>
              <a:rPr lang="nl-NL" sz="1900" dirty="0" err="1" smtClean="0"/>
              <a:t>such</a:t>
            </a:r>
            <a:r>
              <a:rPr lang="nl-NL" sz="1900" dirty="0" smtClean="0"/>
              <a:t> as </a:t>
            </a:r>
            <a:r>
              <a:rPr lang="nl-NL" sz="1900" i="1" dirty="0" smtClean="0"/>
              <a:t>John</a:t>
            </a:r>
            <a:r>
              <a:rPr lang="nl-NL" sz="1900" dirty="0" smtClean="0"/>
              <a:t> </a:t>
            </a:r>
            <a:r>
              <a:rPr lang="nl-NL" sz="1900" dirty="0" err="1" smtClean="0"/>
              <a:t>and</a:t>
            </a:r>
            <a:r>
              <a:rPr lang="nl-NL" sz="1900" dirty="0" smtClean="0"/>
              <a:t> </a:t>
            </a:r>
            <a:r>
              <a:rPr lang="en-IE" sz="1900" dirty="0" smtClean="0"/>
              <a:t>definite descriptions       such as </a:t>
            </a:r>
            <a:r>
              <a:rPr lang="en-IE" sz="1900" i="1" dirty="0" smtClean="0"/>
              <a:t>the president of the United States</a:t>
            </a:r>
            <a:r>
              <a:rPr lang="en-IE" sz="1900" dirty="0" smtClean="0"/>
              <a:t>)</a:t>
            </a:r>
            <a:endParaRPr lang="nl-NL" sz="1900" dirty="0" smtClean="0"/>
          </a:p>
          <a:p>
            <a:pPr>
              <a:buSzPct val="60000"/>
              <a:buFont typeface="Courier New" panose="02070309020205020404" pitchFamily="49" charset="0"/>
              <a:buChar char="o"/>
            </a:pPr>
            <a:endParaRPr lang="nl-NL" sz="800" dirty="0" smtClean="0"/>
          </a:p>
          <a:p>
            <a:pPr>
              <a:buSzPct val="60000"/>
              <a:buFont typeface="Courier New" panose="02070309020205020404" pitchFamily="49" charset="0"/>
              <a:buChar char="o"/>
            </a:pPr>
            <a:endParaRPr lang="nl-NL" sz="2000" dirty="0" smtClean="0"/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827584" y="2420888"/>
            <a:ext cx="8424936" cy="5183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Font typeface="Courier New" panose="02070309020205020404" pitchFamily="49" charset="0"/>
              <a:buChar char="o"/>
            </a:pPr>
            <a:r>
              <a:rPr lang="en-IE" sz="1900" i="1" dirty="0"/>
              <a:t>G</a:t>
            </a:r>
            <a:r>
              <a:rPr lang="en-IE" sz="1900" i="1" dirty="0" smtClean="0"/>
              <a:t>eneral</a:t>
            </a:r>
            <a:r>
              <a:rPr lang="en-IE" sz="1900" dirty="0" smtClean="0"/>
              <a:t> terms (</a:t>
            </a:r>
            <a:r>
              <a:rPr lang="en-IE" sz="1900" dirty="0" err="1" smtClean="0"/>
              <a:t>e.g</a:t>
            </a:r>
            <a:r>
              <a:rPr lang="en-IE" sz="1900" dirty="0" smtClean="0"/>
              <a:t>, </a:t>
            </a:r>
            <a:r>
              <a:rPr lang="en-IE" sz="1900" i="1" dirty="0" smtClean="0"/>
              <a:t>man</a:t>
            </a:r>
            <a:r>
              <a:rPr lang="en-IE" sz="1900" dirty="0" smtClean="0"/>
              <a:t>,</a:t>
            </a:r>
            <a:r>
              <a:rPr lang="en-IE" sz="1900" i="1" dirty="0" smtClean="0"/>
              <a:t> table</a:t>
            </a:r>
            <a:r>
              <a:rPr lang="en-IE" sz="1900" dirty="0" smtClean="0"/>
              <a:t>,</a:t>
            </a:r>
            <a:r>
              <a:rPr lang="en-IE" sz="1900" i="1" dirty="0" smtClean="0"/>
              <a:t> red </a:t>
            </a:r>
            <a:r>
              <a:rPr lang="en-IE" sz="1900" dirty="0" smtClean="0"/>
              <a:t>and</a:t>
            </a:r>
            <a:r>
              <a:rPr lang="en-IE" sz="1900" i="1" dirty="0" smtClean="0"/>
              <a:t> gold</a:t>
            </a:r>
            <a:r>
              <a:rPr lang="en-IE" sz="1900" dirty="0" smtClean="0"/>
              <a:t>)</a:t>
            </a:r>
            <a:endParaRPr lang="nl-NL" sz="1900" dirty="0" smtClean="0"/>
          </a:p>
          <a:p>
            <a:pPr>
              <a:buSzPct val="60000"/>
              <a:buFont typeface="Courier New" panose="02070309020205020404" pitchFamily="49" charset="0"/>
              <a:buChar char="o"/>
            </a:pPr>
            <a:endParaRPr lang="nl-NL" sz="800" dirty="0" smtClean="0"/>
          </a:p>
          <a:p>
            <a:pPr>
              <a:buSzPct val="60000"/>
              <a:buFont typeface="Courier New" panose="02070309020205020404" pitchFamily="49" charset="0"/>
              <a:buChar char="o"/>
            </a:pPr>
            <a:endParaRPr lang="nl-NL" sz="2000" dirty="0" smtClean="0"/>
          </a:p>
          <a:p>
            <a:pPr>
              <a:buSzPct val="60000"/>
              <a:buFont typeface="Courier New" panose="02070309020205020404" pitchFamily="49" charset="0"/>
              <a:buChar char="o"/>
            </a:pPr>
            <a:endParaRPr lang="nl-NL" sz="2000" dirty="0" smtClean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395536" y="2924944"/>
            <a:ext cx="8229600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1900" dirty="0" smtClean="0"/>
              <a:t>As </a:t>
            </a:r>
            <a:r>
              <a:rPr lang="nl-NL" sz="1900" dirty="0" err="1" smtClean="0"/>
              <a:t>Frege</a:t>
            </a:r>
            <a:r>
              <a:rPr lang="nl-NL" sz="1900" dirty="0" smtClean="0"/>
              <a:t> </a:t>
            </a:r>
            <a:r>
              <a:rPr lang="nl-NL" sz="1900" dirty="0" err="1" smtClean="0"/>
              <a:t>famously</a:t>
            </a:r>
            <a:r>
              <a:rPr lang="nl-NL" sz="1900" dirty="0" smtClean="0"/>
              <a:t> </a:t>
            </a:r>
            <a:r>
              <a:rPr lang="nl-NL" sz="1900" dirty="0" err="1" smtClean="0"/>
              <a:t>pointed</a:t>
            </a:r>
            <a:r>
              <a:rPr lang="nl-NL" sz="1900" dirty="0" smtClean="0"/>
              <a:t> out, </a:t>
            </a:r>
            <a:r>
              <a:rPr lang="nl-NL" sz="1900" i="1" dirty="0" err="1" smtClean="0"/>
              <a:t>evening</a:t>
            </a:r>
            <a:r>
              <a:rPr lang="nl-NL" sz="1900" i="1" dirty="0" smtClean="0"/>
              <a:t> star</a:t>
            </a:r>
            <a:r>
              <a:rPr lang="nl-NL" sz="1900" dirty="0" smtClean="0"/>
              <a:t> and </a:t>
            </a:r>
            <a:r>
              <a:rPr lang="nl-NL" sz="1900" i="1" dirty="0" err="1" smtClean="0"/>
              <a:t>morning</a:t>
            </a:r>
            <a:r>
              <a:rPr lang="nl-NL" sz="1900" i="1" dirty="0" smtClean="0"/>
              <a:t> star </a:t>
            </a:r>
            <a:r>
              <a:rPr lang="nl-NL" sz="1900" dirty="0" err="1" smtClean="0"/>
              <a:t>refer</a:t>
            </a:r>
            <a:r>
              <a:rPr lang="nl-NL" sz="1900" dirty="0" smtClean="0"/>
              <a:t> to the </a:t>
            </a:r>
            <a:r>
              <a:rPr lang="nl-NL" sz="1900" dirty="0" err="1" smtClean="0"/>
              <a:t>same</a:t>
            </a:r>
            <a:r>
              <a:rPr lang="nl-NL" sz="1900" dirty="0" smtClean="0"/>
              <a:t> </a:t>
            </a:r>
            <a:r>
              <a:rPr lang="nl-NL" sz="1900" dirty="0" err="1" smtClean="0"/>
              <a:t>thing</a:t>
            </a:r>
            <a:r>
              <a:rPr lang="nl-NL" sz="1900" dirty="0" smtClean="0"/>
              <a:t> without </a:t>
            </a:r>
            <a:r>
              <a:rPr lang="nl-NL" sz="1900" dirty="0" err="1" smtClean="0"/>
              <a:t>having</a:t>
            </a:r>
            <a:r>
              <a:rPr lang="nl-NL" sz="1900" dirty="0" smtClean="0"/>
              <a:t> the </a:t>
            </a:r>
            <a:r>
              <a:rPr lang="nl-NL" sz="1900" dirty="0" err="1" smtClean="0"/>
              <a:t>same</a:t>
            </a:r>
            <a:r>
              <a:rPr lang="nl-NL" sz="1900" dirty="0" smtClean="0"/>
              <a:t> </a:t>
            </a:r>
            <a:r>
              <a:rPr lang="nl-NL" sz="1900" dirty="0" err="1" smtClean="0"/>
              <a:t>meaning</a:t>
            </a:r>
            <a:r>
              <a:rPr lang="nl-NL" sz="1900" dirty="0" smtClean="0"/>
              <a:t>. The </a:t>
            </a:r>
            <a:r>
              <a:rPr lang="nl-NL" sz="1900" dirty="0" err="1" smtClean="0"/>
              <a:t>same</a:t>
            </a:r>
            <a:r>
              <a:rPr lang="nl-NL" sz="1900" dirty="0" smtClean="0"/>
              <a:t> </a:t>
            </a:r>
            <a:r>
              <a:rPr lang="nl-NL" sz="1900" dirty="0" err="1" smtClean="0"/>
              <a:t>holds</a:t>
            </a:r>
            <a:r>
              <a:rPr lang="nl-NL" sz="1900" dirty="0" smtClean="0"/>
              <a:t> </a:t>
            </a:r>
            <a:r>
              <a:rPr lang="nl-NL" sz="1900" dirty="0" err="1" smtClean="0"/>
              <a:t>for</a:t>
            </a:r>
            <a:r>
              <a:rPr lang="nl-NL" sz="1900" dirty="0" smtClean="0"/>
              <a:t> </a:t>
            </a:r>
            <a:r>
              <a:rPr lang="nl-NL" sz="1900" dirty="0" err="1" smtClean="0"/>
              <a:t>many</a:t>
            </a:r>
            <a:r>
              <a:rPr lang="nl-NL" sz="1900" dirty="0" smtClean="0"/>
              <a:t>    </a:t>
            </a:r>
            <a:r>
              <a:rPr lang="nl-NL" sz="1900" dirty="0" err="1" smtClean="0"/>
              <a:t>other</a:t>
            </a:r>
            <a:r>
              <a:rPr lang="nl-NL" sz="1900" dirty="0" smtClean="0"/>
              <a:t> cases, </a:t>
            </a:r>
            <a:r>
              <a:rPr lang="nl-NL" sz="1900" dirty="0" err="1" smtClean="0"/>
              <a:t>such</a:t>
            </a:r>
            <a:r>
              <a:rPr lang="nl-NL" sz="1900" dirty="0" smtClean="0"/>
              <a:t> as </a:t>
            </a:r>
            <a:r>
              <a:rPr lang="nl-NL" sz="1900" i="1" dirty="0" err="1" smtClean="0"/>
              <a:t>Obama</a:t>
            </a:r>
            <a:r>
              <a:rPr lang="nl-NL" sz="1900" i="1" dirty="0" smtClean="0"/>
              <a:t> </a:t>
            </a:r>
            <a:r>
              <a:rPr lang="nl-NL" sz="1900" dirty="0" smtClean="0"/>
              <a:t>and </a:t>
            </a:r>
            <a:r>
              <a:rPr lang="nl-NL" sz="1900" i="1" dirty="0" smtClean="0"/>
              <a:t>president of the United </a:t>
            </a:r>
            <a:r>
              <a:rPr lang="nl-NL" sz="1900" i="1" dirty="0" err="1" smtClean="0"/>
              <a:t>States</a:t>
            </a:r>
            <a:endParaRPr lang="nl-NL" sz="1900" i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9" grpId="0"/>
      <p:bldP spid="11" grpId="0"/>
      <p:bldP spid="8" grpId="0"/>
      <p:bldP spid="12" grpId="0"/>
      <p:bldP spid="13" grpId="0"/>
      <p:bldP spid="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200" dirty="0" smtClean="0"/>
              <a:t>A </a:t>
            </a:r>
            <a:r>
              <a:rPr lang="nl-NL" sz="3200" dirty="0" err="1" smtClean="0"/>
              <a:t>theory</a:t>
            </a:r>
            <a:r>
              <a:rPr lang="nl-NL" sz="3200" dirty="0" smtClean="0"/>
              <a:t> of </a:t>
            </a:r>
            <a:r>
              <a:rPr lang="nl-NL" sz="3200" dirty="0" err="1" smtClean="0"/>
              <a:t>meaning</a:t>
            </a:r>
            <a:r>
              <a:rPr lang="nl-NL" sz="3200" dirty="0" smtClean="0"/>
              <a:t> (</a:t>
            </a:r>
            <a:r>
              <a:rPr lang="nl-NL" sz="3200" dirty="0" err="1" smtClean="0"/>
              <a:t>cont</a:t>
            </a:r>
            <a:r>
              <a:rPr lang="nl-NL" sz="3200" dirty="0" smtClean="0"/>
              <a:t>.)</a:t>
            </a:r>
            <a:endParaRPr lang="nl-NL" sz="3200" dirty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395536" y="1312168"/>
            <a:ext cx="8748464" cy="3886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1900" dirty="0" err="1" smtClean="0"/>
              <a:t>Consider</a:t>
            </a:r>
            <a:r>
              <a:rPr lang="nl-NL" sz="1900" dirty="0"/>
              <a:t> </a:t>
            </a:r>
            <a:r>
              <a:rPr lang="nl-NL" sz="1900" dirty="0" err="1" smtClean="0"/>
              <a:t>terms</a:t>
            </a:r>
            <a:r>
              <a:rPr lang="nl-NL" sz="1900" dirty="0" smtClean="0"/>
              <a:t> </a:t>
            </a:r>
            <a:r>
              <a:rPr lang="nl-NL" sz="1900" dirty="0" err="1" smtClean="0"/>
              <a:t>that</a:t>
            </a:r>
            <a:r>
              <a:rPr lang="nl-NL" sz="1900" dirty="0" smtClean="0"/>
              <a:t> are </a:t>
            </a:r>
            <a:r>
              <a:rPr lang="nl-NL" sz="1900" dirty="0" err="1" smtClean="0"/>
              <a:t>either</a:t>
            </a:r>
            <a:endParaRPr lang="nl-NL" sz="1900" dirty="0" smtClean="0"/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395536" y="4912568"/>
            <a:ext cx="8280920" cy="7486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1900" dirty="0" smtClean="0"/>
              <a:t>The </a:t>
            </a:r>
            <a:r>
              <a:rPr lang="nl-NL" sz="1900" dirty="0" err="1" smtClean="0"/>
              <a:t>meaning</a:t>
            </a:r>
            <a:r>
              <a:rPr lang="nl-NL" sz="1900" dirty="0" smtClean="0"/>
              <a:t> </a:t>
            </a:r>
            <a:r>
              <a:rPr lang="nl-NL" sz="1900" dirty="0" err="1" smtClean="0"/>
              <a:t>elements</a:t>
            </a:r>
            <a:r>
              <a:rPr lang="nl-NL" sz="1900" dirty="0" smtClean="0"/>
              <a:t> of </a:t>
            </a:r>
            <a:r>
              <a:rPr lang="nl-NL" sz="1900" i="1" dirty="0" err="1"/>
              <a:t>k</a:t>
            </a:r>
            <a:r>
              <a:rPr lang="nl-NL" sz="1900" i="1" dirty="0" err="1" smtClean="0"/>
              <a:t>ing</a:t>
            </a:r>
            <a:r>
              <a:rPr lang="nl-NL" sz="1900" i="1" dirty="0" smtClean="0"/>
              <a:t> of the Netherlands </a:t>
            </a:r>
            <a:r>
              <a:rPr lang="nl-NL" sz="1900" dirty="0" smtClean="0"/>
              <a:t>are </a:t>
            </a:r>
            <a:r>
              <a:rPr lang="nl-NL" sz="1900" i="1" dirty="0" err="1" smtClean="0"/>
              <a:t>king</a:t>
            </a:r>
            <a:r>
              <a:rPr lang="nl-NL" sz="1900" dirty="0" smtClean="0"/>
              <a:t> </a:t>
            </a:r>
            <a:r>
              <a:rPr lang="nl-NL" sz="1900" dirty="0" err="1" smtClean="0"/>
              <a:t>and</a:t>
            </a:r>
            <a:r>
              <a:rPr lang="nl-NL" sz="1900" dirty="0" smtClean="0"/>
              <a:t> </a:t>
            </a:r>
            <a:r>
              <a:rPr lang="nl-NL" sz="1900" i="1" dirty="0"/>
              <a:t>t</a:t>
            </a:r>
            <a:r>
              <a:rPr lang="nl-NL" sz="1900" i="1" dirty="0" smtClean="0"/>
              <a:t>he Netherlands </a:t>
            </a:r>
          </a:p>
          <a:p>
            <a:pPr marL="0" indent="0">
              <a:buNone/>
            </a:pPr>
            <a:endParaRPr lang="nl-NL" sz="1900" dirty="0" smtClean="0"/>
          </a:p>
        </p:txBody>
      </p:sp>
      <p:sp>
        <p:nvSpPr>
          <p:cNvPr id="5" name="Rectangle 4"/>
          <p:cNvSpPr/>
          <p:nvPr/>
        </p:nvSpPr>
        <p:spPr>
          <a:xfrm>
            <a:off x="395536" y="5311224"/>
            <a:ext cx="8748464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nl-NL" sz="1900" dirty="0" smtClean="0"/>
              <a:t>(More </a:t>
            </a:r>
            <a:r>
              <a:rPr lang="nl-NL" sz="1900" dirty="0" err="1" smtClean="0"/>
              <a:t>precisely</a:t>
            </a:r>
            <a:r>
              <a:rPr lang="nl-NL" sz="1900" dirty="0"/>
              <a:t>:</a:t>
            </a:r>
            <a:r>
              <a:rPr lang="nl-NL" sz="1900" dirty="0" smtClean="0"/>
              <a:t> </a:t>
            </a:r>
            <a:r>
              <a:rPr lang="nl-NL" sz="1900" dirty="0"/>
              <a:t>the </a:t>
            </a:r>
            <a:r>
              <a:rPr lang="nl-NL" sz="1900" dirty="0" err="1"/>
              <a:t>meaning</a:t>
            </a:r>
            <a:r>
              <a:rPr lang="nl-NL" sz="1900" dirty="0"/>
              <a:t> </a:t>
            </a:r>
            <a:r>
              <a:rPr lang="nl-NL" sz="1900" dirty="0" err="1"/>
              <a:t>elements</a:t>
            </a:r>
            <a:r>
              <a:rPr lang="nl-NL" sz="1900" dirty="0"/>
              <a:t> </a:t>
            </a:r>
            <a:r>
              <a:rPr lang="nl-NL" sz="1900" dirty="0" smtClean="0"/>
              <a:t>of the </a:t>
            </a:r>
            <a:r>
              <a:rPr lang="nl-NL" sz="1900" dirty="0" err="1" smtClean="0"/>
              <a:t>meaning</a:t>
            </a:r>
            <a:r>
              <a:rPr lang="nl-NL" sz="1900" dirty="0" smtClean="0"/>
              <a:t> </a:t>
            </a:r>
            <a:r>
              <a:rPr lang="nl-NL" sz="1900" dirty="0" err="1" smtClean="0"/>
              <a:t>expressed</a:t>
            </a:r>
            <a:r>
              <a:rPr lang="nl-NL" sz="1900" dirty="0" smtClean="0"/>
              <a:t> </a:t>
            </a:r>
            <a:r>
              <a:rPr lang="nl-NL" sz="1900" dirty="0" err="1" smtClean="0"/>
              <a:t>by</a:t>
            </a:r>
            <a:r>
              <a:rPr lang="nl-NL" sz="1900" dirty="0" smtClean="0"/>
              <a:t> the term </a:t>
            </a:r>
            <a:r>
              <a:rPr lang="nl-NL" sz="1900" i="1" dirty="0" err="1"/>
              <a:t>k</a:t>
            </a:r>
            <a:r>
              <a:rPr lang="nl-NL" sz="1900" i="1" dirty="0" err="1" smtClean="0"/>
              <a:t>ing</a:t>
            </a:r>
            <a:r>
              <a:rPr lang="nl-NL" sz="1900" i="1" dirty="0" smtClean="0"/>
              <a:t> of the Netherlands </a:t>
            </a:r>
            <a:r>
              <a:rPr lang="nl-NL" sz="1900" dirty="0" smtClean="0"/>
              <a:t>are the </a:t>
            </a:r>
            <a:r>
              <a:rPr lang="nl-NL" sz="1900" dirty="0" err="1"/>
              <a:t>meanings</a:t>
            </a:r>
            <a:r>
              <a:rPr lang="nl-NL" sz="1900" dirty="0"/>
              <a:t> </a:t>
            </a:r>
            <a:r>
              <a:rPr lang="nl-NL" sz="1900" dirty="0" err="1"/>
              <a:t>expressed</a:t>
            </a:r>
            <a:r>
              <a:rPr lang="nl-NL" sz="1900" dirty="0"/>
              <a:t> </a:t>
            </a:r>
            <a:r>
              <a:rPr lang="nl-NL" sz="1900" dirty="0" err="1"/>
              <a:t>by</a:t>
            </a:r>
            <a:r>
              <a:rPr lang="nl-NL" sz="1900" dirty="0"/>
              <a:t> the </a:t>
            </a:r>
            <a:r>
              <a:rPr lang="nl-NL" sz="1900" dirty="0" err="1"/>
              <a:t>terms</a:t>
            </a:r>
            <a:r>
              <a:rPr lang="nl-NL" sz="1900" dirty="0"/>
              <a:t> </a:t>
            </a:r>
            <a:r>
              <a:rPr lang="nl-NL" sz="1900" i="1" dirty="0" err="1" smtClean="0"/>
              <a:t>king</a:t>
            </a:r>
            <a:r>
              <a:rPr lang="nl-NL" sz="1900" i="1" dirty="0" smtClean="0"/>
              <a:t> </a:t>
            </a:r>
            <a:r>
              <a:rPr lang="nl-NL" sz="1900" dirty="0" err="1" smtClean="0"/>
              <a:t>and</a:t>
            </a:r>
            <a:r>
              <a:rPr lang="nl-NL" sz="1900" dirty="0" smtClean="0"/>
              <a:t> </a:t>
            </a:r>
            <a:r>
              <a:rPr lang="nl-NL" sz="1900" i="1" dirty="0"/>
              <a:t>t</a:t>
            </a:r>
            <a:r>
              <a:rPr lang="nl-NL" sz="1900" i="1" dirty="0" smtClean="0"/>
              <a:t>he Netherlands</a:t>
            </a:r>
            <a:r>
              <a:rPr lang="nl-NL" sz="1900" dirty="0" smtClean="0"/>
              <a:t>)</a:t>
            </a:r>
            <a:endParaRPr lang="nl-NL" sz="1900" dirty="0"/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395536" y="6064696"/>
            <a:ext cx="8280920" cy="7486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1900" dirty="0" smtClean="0"/>
              <a:t>The </a:t>
            </a:r>
            <a:r>
              <a:rPr lang="nl-NL" sz="1900" dirty="0" err="1" smtClean="0"/>
              <a:t>meaning</a:t>
            </a:r>
            <a:r>
              <a:rPr lang="nl-NL" sz="1900" dirty="0" smtClean="0"/>
              <a:t> </a:t>
            </a:r>
            <a:r>
              <a:rPr lang="nl-NL" sz="1900" dirty="0" err="1" smtClean="0"/>
              <a:t>elements</a:t>
            </a:r>
            <a:r>
              <a:rPr lang="nl-NL" sz="1900" dirty="0" smtClean="0"/>
              <a:t> of </a:t>
            </a:r>
            <a:r>
              <a:rPr lang="nl-NL" sz="1900" i="1" dirty="0" err="1"/>
              <a:t>u</a:t>
            </a:r>
            <a:r>
              <a:rPr lang="nl-NL" sz="1900" i="1" dirty="0" err="1" smtClean="0"/>
              <a:t>nicorn</a:t>
            </a:r>
            <a:r>
              <a:rPr lang="nl-NL" sz="1900" i="1" dirty="0" smtClean="0"/>
              <a:t> </a:t>
            </a:r>
            <a:r>
              <a:rPr lang="nl-NL" sz="1900" dirty="0" smtClean="0"/>
              <a:t>are </a:t>
            </a:r>
            <a:r>
              <a:rPr lang="nl-NL" sz="1900" dirty="0" err="1" smtClean="0"/>
              <a:t>a.o</a:t>
            </a:r>
            <a:r>
              <a:rPr lang="nl-NL" sz="1900" dirty="0" smtClean="0"/>
              <a:t>. </a:t>
            </a:r>
            <a:r>
              <a:rPr lang="nl-NL" sz="1900" i="1" dirty="0" err="1" smtClean="0"/>
              <a:t>horn</a:t>
            </a:r>
            <a:r>
              <a:rPr lang="nl-NL" sz="1900" dirty="0" smtClean="0"/>
              <a:t>, </a:t>
            </a:r>
            <a:r>
              <a:rPr lang="nl-NL" sz="1900" i="1" dirty="0" err="1" smtClean="0"/>
              <a:t>forehead</a:t>
            </a:r>
            <a:r>
              <a:rPr lang="nl-NL" sz="1900" dirty="0" smtClean="0"/>
              <a:t>, </a:t>
            </a:r>
            <a:r>
              <a:rPr lang="nl-NL" sz="1900" i="1" dirty="0" err="1" smtClean="0"/>
              <a:t>tail</a:t>
            </a:r>
            <a:r>
              <a:rPr lang="nl-NL" sz="1900" dirty="0"/>
              <a:t> </a:t>
            </a:r>
            <a:r>
              <a:rPr lang="nl-NL" sz="1900" dirty="0" err="1" smtClean="0"/>
              <a:t>and</a:t>
            </a:r>
            <a:r>
              <a:rPr lang="nl-NL" sz="1900" dirty="0" smtClean="0"/>
              <a:t> </a:t>
            </a:r>
            <a:r>
              <a:rPr lang="nl-NL" sz="1900" i="1" dirty="0" err="1" smtClean="0"/>
              <a:t>horseshoe</a:t>
            </a:r>
            <a:endParaRPr lang="nl-NL" sz="1900" i="1" dirty="0" smtClean="0"/>
          </a:p>
          <a:p>
            <a:pPr marL="0" indent="0">
              <a:buNone/>
            </a:pPr>
            <a:endParaRPr lang="nl-NL" sz="1900" dirty="0" smtClean="0"/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971600" y="-1467544"/>
            <a:ext cx="8496944" cy="1036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nl-NL" sz="2000" dirty="0" smtClean="0"/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720080" y="1783507"/>
            <a:ext cx="8748464" cy="10367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Font typeface="Courier New" panose="02070309020205020404" pitchFamily="49" charset="0"/>
              <a:buChar char="o"/>
            </a:pPr>
            <a:r>
              <a:rPr lang="nl-NL" sz="1900" dirty="0" err="1" smtClean="0"/>
              <a:t>Singular</a:t>
            </a:r>
            <a:r>
              <a:rPr lang="nl-NL" sz="1900" dirty="0" smtClean="0"/>
              <a:t> (e.g., </a:t>
            </a:r>
            <a:r>
              <a:rPr lang="nl-NL" sz="1900" i="1" dirty="0" smtClean="0"/>
              <a:t>Jo</a:t>
            </a:r>
            <a:r>
              <a:rPr lang="nl-NL" sz="1900" dirty="0" smtClean="0"/>
              <a:t>, </a:t>
            </a:r>
            <a:r>
              <a:rPr lang="nl-NL" sz="1900" i="1" dirty="0" smtClean="0"/>
              <a:t>Kim</a:t>
            </a:r>
            <a:r>
              <a:rPr lang="nl-NL" sz="1900" dirty="0" smtClean="0"/>
              <a:t>, </a:t>
            </a:r>
            <a:r>
              <a:rPr lang="nl-NL" sz="1900" i="1" dirty="0" err="1" smtClean="0"/>
              <a:t>king</a:t>
            </a:r>
            <a:r>
              <a:rPr lang="nl-NL" sz="1900" i="1" dirty="0" smtClean="0"/>
              <a:t> of the Netherlands</a:t>
            </a:r>
            <a:r>
              <a:rPr lang="nl-NL" sz="1900" dirty="0" smtClean="0"/>
              <a:t>, </a:t>
            </a:r>
            <a:r>
              <a:rPr lang="nl-NL" sz="1900" i="1" dirty="0" smtClean="0"/>
              <a:t>president of the United </a:t>
            </a:r>
            <a:r>
              <a:rPr lang="nl-NL" sz="1900" i="1" dirty="0" err="1" smtClean="0"/>
              <a:t>States</a:t>
            </a:r>
            <a:r>
              <a:rPr lang="nl-NL" sz="1900" dirty="0" smtClean="0"/>
              <a:t>), </a:t>
            </a:r>
          </a:p>
        </p:txBody>
      </p:sp>
      <p:sp>
        <p:nvSpPr>
          <p:cNvPr id="17" name="Content Placeholder 2"/>
          <p:cNvSpPr txBox="1">
            <a:spLocks/>
          </p:cNvSpPr>
          <p:nvPr/>
        </p:nvSpPr>
        <p:spPr>
          <a:xfrm>
            <a:off x="720080" y="2204864"/>
            <a:ext cx="8748464" cy="4320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Font typeface="Courier New" panose="02070309020205020404" pitchFamily="49" charset="0"/>
              <a:buChar char="o"/>
            </a:pPr>
            <a:r>
              <a:rPr lang="nl-NL" sz="1900" dirty="0" err="1" smtClean="0"/>
              <a:t>Generic</a:t>
            </a:r>
            <a:r>
              <a:rPr lang="nl-NL" sz="1900" dirty="0" smtClean="0"/>
              <a:t> </a:t>
            </a:r>
            <a:r>
              <a:rPr lang="nl-NL" sz="1900" dirty="0" err="1" smtClean="0"/>
              <a:t>and</a:t>
            </a:r>
            <a:r>
              <a:rPr lang="nl-NL" sz="1900" dirty="0" smtClean="0"/>
              <a:t> stand </a:t>
            </a:r>
            <a:r>
              <a:rPr lang="nl-NL" sz="1900" dirty="0" err="1" smtClean="0"/>
              <a:t>for</a:t>
            </a:r>
            <a:r>
              <a:rPr lang="nl-NL" sz="1900" dirty="0" smtClean="0"/>
              <a:t> a real property (e.g., </a:t>
            </a:r>
            <a:r>
              <a:rPr lang="nl-NL" sz="1900" i="1" dirty="0" smtClean="0"/>
              <a:t>red</a:t>
            </a:r>
            <a:r>
              <a:rPr lang="nl-NL" sz="1900" dirty="0" smtClean="0"/>
              <a:t>, </a:t>
            </a:r>
            <a:r>
              <a:rPr lang="nl-NL" sz="1900" i="1" dirty="0" err="1" smtClean="0"/>
              <a:t>material</a:t>
            </a:r>
            <a:r>
              <a:rPr lang="nl-NL" sz="1900" dirty="0" smtClean="0"/>
              <a:t>, </a:t>
            </a:r>
            <a:r>
              <a:rPr lang="nl-NL" sz="1900" i="1" dirty="0" err="1" smtClean="0"/>
              <a:t>unicorn</a:t>
            </a:r>
            <a:r>
              <a:rPr lang="nl-NL" sz="1900" dirty="0" smtClean="0"/>
              <a:t>, </a:t>
            </a:r>
            <a:r>
              <a:rPr lang="nl-NL" sz="1900" i="1" dirty="0" err="1" smtClean="0"/>
              <a:t>triangular</a:t>
            </a:r>
            <a:r>
              <a:rPr lang="nl-NL" sz="1900" dirty="0" smtClean="0"/>
              <a:t>), or</a:t>
            </a:r>
          </a:p>
        </p:txBody>
      </p:sp>
      <p:sp>
        <p:nvSpPr>
          <p:cNvPr id="18" name="Content Placeholder 2"/>
          <p:cNvSpPr txBox="1">
            <a:spLocks/>
          </p:cNvSpPr>
          <p:nvPr/>
        </p:nvSpPr>
        <p:spPr>
          <a:xfrm>
            <a:off x="720080" y="2636912"/>
            <a:ext cx="8748464" cy="10367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Font typeface="Courier New" panose="02070309020205020404" pitchFamily="49" charset="0"/>
              <a:buChar char="o"/>
            </a:pPr>
            <a:r>
              <a:rPr lang="nl-NL" sz="1900" dirty="0" err="1" smtClean="0"/>
              <a:t>Generic</a:t>
            </a:r>
            <a:r>
              <a:rPr lang="nl-NL" sz="1900" dirty="0" smtClean="0"/>
              <a:t> and stand </a:t>
            </a:r>
            <a:r>
              <a:rPr lang="nl-NL" sz="1900" dirty="0" err="1" smtClean="0"/>
              <a:t>for</a:t>
            </a:r>
            <a:r>
              <a:rPr lang="nl-NL" sz="1900" dirty="0" smtClean="0"/>
              <a:t> </a:t>
            </a:r>
            <a:r>
              <a:rPr lang="nl-NL" sz="1900" dirty="0" err="1" smtClean="0"/>
              <a:t>everything</a:t>
            </a:r>
            <a:r>
              <a:rPr lang="nl-NL" sz="1900" dirty="0" smtClean="0"/>
              <a:t> (</a:t>
            </a:r>
            <a:r>
              <a:rPr lang="nl-NL" sz="1900" dirty="0" err="1" smtClean="0"/>
              <a:t>e.g</a:t>
            </a:r>
            <a:r>
              <a:rPr lang="nl-NL" sz="1900" dirty="0" smtClean="0"/>
              <a:t>, </a:t>
            </a:r>
            <a:r>
              <a:rPr lang="nl-NL" sz="1900" i="1" dirty="0" err="1" smtClean="0"/>
              <a:t>being</a:t>
            </a:r>
            <a:r>
              <a:rPr lang="nl-NL" sz="1900" dirty="0" smtClean="0"/>
              <a:t>, </a:t>
            </a:r>
            <a:r>
              <a:rPr lang="nl-NL" sz="1900" i="1" dirty="0" smtClean="0"/>
              <a:t>existent</a:t>
            </a:r>
            <a:r>
              <a:rPr lang="nl-NL" sz="1900" dirty="0" smtClean="0"/>
              <a:t>, </a:t>
            </a:r>
            <a:r>
              <a:rPr lang="nl-NL" sz="1900" i="1" dirty="0" err="1" smtClean="0"/>
              <a:t>thing</a:t>
            </a:r>
            <a:r>
              <a:rPr lang="nl-NL" sz="1900" dirty="0" smtClean="0"/>
              <a:t>,</a:t>
            </a:r>
            <a:r>
              <a:rPr lang="nl-NL" sz="1900" i="1" dirty="0" smtClean="0"/>
              <a:t> object</a:t>
            </a:r>
            <a:r>
              <a:rPr lang="nl-NL" sz="1900" dirty="0" smtClean="0"/>
              <a:t>,</a:t>
            </a:r>
            <a:r>
              <a:rPr lang="nl-NL" sz="1900" i="1" dirty="0" smtClean="0"/>
              <a:t> </a:t>
            </a:r>
            <a:r>
              <a:rPr lang="nl-NL" sz="1900" i="1" dirty="0" err="1" smtClean="0"/>
              <a:t>entity</a:t>
            </a:r>
            <a:r>
              <a:rPr lang="nl-NL" sz="1900" dirty="0" smtClean="0"/>
              <a:t>) </a:t>
            </a:r>
          </a:p>
        </p:txBody>
      </p:sp>
      <p:sp>
        <p:nvSpPr>
          <p:cNvPr id="19" name="Content Placeholder 2"/>
          <p:cNvSpPr txBox="1">
            <a:spLocks/>
          </p:cNvSpPr>
          <p:nvPr/>
        </p:nvSpPr>
        <p:spPr>
          <a:xfrm>
            <a:off x="432048" y="3090664"/>
            <a:ext cx="8748464" cy="3383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1900" dirty="0" err="1" smtClean="0"/>
              <a:t>Plausibly</a:t>
            </a:r>
            <a:r>
              <a:rPr lang="nl-NL" sz="1900" dirty="0" smtClean="0"/>
              <a:t>, these </a:t>
            </a:r>
            <a:r>
              <a:rPr lang="nl-NL" sz="1900" dirty="0" err="1" smtClean="0"/>
              <a:t>terms</a:t>
            </a:r>
            <a:r>
              <a:rPr lang="nl-NL" sz="1900" dirty="0" smtClean="0"/>
              <a:t> </a:t>
            </a:r>
            <a:r>
              <a:rPr lang="nl-NL" sz="1900" dirty="0" err="1" smtClean="0"/>
              <a:t>express</a:t>
            </a:r>
            <a:r>
              <a:rPr lang="nl-NL" sz="1900" dirty="0" smtClean="0"/>
              <a:t> a </a:t>
            </a:r>
            <a:r>
              <a:rPr lang="nl-NL" sz="1900" i="1" dirty="0" err="1" smtClean="0"/>
              <a:t>positive</a:t>
            </a:r>
            <a:r>
              <a:rPr lang="nl-NL" sz="1900" dirty="0" smtClean="0"/>
              <a:t> </a:t>
            </a:r>
            <a:r>
              <a:rPr lang="nl-NL" sz="1900" i="1" dirty="0" err="1" smtClean="0"/>
              <a:t>determinate</a:t>
            </a:r>
            <a:r>
              <a:rPr lang="nl-NL" sz="1900" i="1" dirty="0" smtClean="0"/>
              <a:t> </a:t>
            </a:r>
            <a:r>
              <a:rPr lang="nl-NL" sz="1900" dirty="0" err="1" smtClean="0"/>
              <a:t>meaning</a:t>
            </a:r>
            <a:endParaRPr lang="nl-NL" sz="1900" dirty="0" smtClean="0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432048" y="3522712"/>
            <a:ext cx="8748464" cy="3383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1900" dirty="0" err="1" smtClean="0"/>
              <a:t>Moreover</a:t>
            </a:r>
            <a:r>
              <a:rPr lang="nl-NL" sz="1900" dirty="0" smtClean="0"/>
              <a:t>, these </a:t>
            </a:r>
            <a:r>
              <a:rPr lang="nl-NL" sz="1900" dirty="0" err="1" smtClean="0"/>
              <a:t>positive</a:t>
            </a:r>
            <a:r>
              <a:rPr lang="nl-NL" sz="1900" dirty="0" smtClean="0"/>
              <a:t> </a:t>
            </a:r>
            <a:r>
              <a:rPr lang="nl-NL" sz="1900" dirty="0" err="1" smtClean="0"/>
              <a:t>determinate</a:t>
            </a:r>
            <a:r>
              <a:rPr lang="nl-NL" sz="1900" dirty="0" smtClean="0"/>
              <a:t> </a:t>
            </a:r>
            <a:r>
              <a:rPr lang="nl-NL" sz="1900" dirty="0" err="1" smtClean="0"/>
              <a:t>meanings</a:t>
            </a:r>
            <a:r>
              <a:rPr lang="nl-NL" sz="1900" dirty="0" smtClean="0"/>
              <a:t> are, </a:t>
            </a:r>
            <a:r>
              <a:rPr lang="nl-NL" sz="1900" dirty="0" err="1" smtClean="0"/>
              <a:t>plausibly</a:t>
            </a:r>
            <a:r>
              <a:rPr lang="nl-NL" sz="1900" dirty="0" smtClean="0"/>
              <a:t>, </a:t>
            </a:r>
            <a:r>
              <a:rPr lang="nl-NL" sz="1900" dirty="0" err="1" smtClean="0"/>
              <a:t>composed</a:t>
            </a:r>
            <a:r>
              <a:rPr lang="nl-NL" sz="1900" dirty="0" smtClean="0"/>
              <a:t>                        of </a:t>
            </a:r>
            <a:r>
              <a:rPr lang="nl-NL" sz="1900" dirty="0" err="1" smtClean="0"/>
              <a:t>positive</a:t>
            </a:r>
            <a:r>
              <a:rPr lang="nl-NL" sz="1900" dirty="0" smtClean="0"/>
              <a:t> </a:t>
            </a:r>
            <a:r>
              <a:rPr lang="nl-NL" sz="1900" dirty="0" err="1" smtClean="0"/>
              <a:t>determinate</a:t>
            </a:r>
            <a:r>
              <a:rPr lang="nl-NL" sz="1900" i="1" dirty="0" smtClean="0"/>
              <a:t> </a:t>
            </a:r>
            <a:r>
              <a:rPr lang="nl-NL" sz="1900" i="1" dirty="0" err="1" smtClean="0"/>
              <a:t>meaning</a:t>
            </a:r>
            <a:r>
              <a:rPr lang="nl-NL" sz="1900" i="1" dirty="0" smtClean="0"/>
              <a:t> </a:t>
            </a:r>
            <a:r>
              <a:rPr lang="nl-NL" sz="1900" i="1" dirty="0" err="1" smtClean="0"/>
              <a:t>elements</a:t>
            </a:r>
            <a:endParaRPr lang="nl-NL" sz="1900" i="1" dirty="0" smtClean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395536" y="4365104"/>
            <a:ext cx="8280920" cy="3166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1900" u="sng" dirty="0" err="1" smtClean="0"/>
              <a:t>Examples</a:t>
            </a:r>
            <a:endParaRPr lang="nl-NL" sz="1900" u="sng" dirty="0" smtClean="0"/>
          </a:p>
        </p:txBody>
      </p:sp>
    </p:spTree>
    <p:extLst>
      <p:ext uri="{BB962C8B-B14F-4D97-AF65-F5344CB8AC3E}">
        <p14:creationId xmlns:p14="http://schemas.microsoft.com/office/powerpoint/2010/main" val="3753748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5" grpId="0"/>
      <p:bldP spid="13" grpId="0"/>
      <p:bldP spid="16" grpId="0"/>
      <p:bldP spid="17" grpId="0"/>
      <p:bldP spid="18" grpId="0"/>
      <p:bldP spid="19" grpId="0"/>
      <p:bldP spid="14" grpId="0"/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200" dirty="0" smtClean="0"/>
              <a:t>A </a:t>
            </a:r>
            <a:r>
              <a:rPr lang="nl-NL" sz="3200" dirty="0" err="1" smtClean="0"/>
              <a:t>theory</a:t>
            </a:r>
            <a:r>
              <a:rPr lang="nl-NL" sz="3200" dirty="0" smtClean="0"/>
              <a:t> of </a:t>
            </a:r>
            <a:r>
              <a:rPr lang="nl-NL" sz="3200" dirty="0" err="1" smtClean="0"/>
              <a:t>meaning</a:t>
            </a:r>
            <a:r>
              <a:rPr lang="nl-NL" sz="3200" dirty="0" smtClean="0"/>
              <a:t> (</a:t>
            </a:r>
            <a:r>
              <a:rPr lang="nl-NL" sz="3200" dirty="0" err="1" smtClean="0"/>
              <a:t>cont</a:t>
            </a:r>
            <a:r>
              <a:rPr lang="nl-NL" sz="3200" dirty="0" smtClean="0"/>
              <a:t>.)</a:t>
            </a:r>
            <a:endParaRPr lang="nl-NL" sz="3200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395536" y="4365104"/>
            <a:ext cx="8280920" cy="3166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1900" u="sng" dirty="0" err="1" smtClean="0"/>
              <a:t>Examples</a:t>
            </a:r>
            <a:endParaRPr lang="nl-NL" sz="1900" u="sng" dirty="0" smtClean="0"/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179512" y="6712768"/>
            <a:ext cx="8496944" cy="1036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nl-NL" sz="2000" dirty="0" smtClean="0"/>
          </a:p>
        </p:txBody>
      </p:sp>
      <p:sp>
        <p:nvSpPr>
          <p:cNvPr id="20" name="Content Placeholder 2"/>
          <p:cNvSpPr txBox="1">
            <a:spLocks/>
          </p:cNvSpPr>
          <p:nvPr/>
        </p:nvSpPr>
        <p:spPr>
          <a:xfrm>
            <a:off x="395536" y="4912568"/>
            <a:ext cx="8280920" cy="7486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1900" dirty="0" smtClean="0"/>
              <a:t>The </a:t>
            </a:r>
            <a:r>
              <a:rPr lang="nl-NL" sz="1900" dirty="0" err="1" smtClean="0"/>
              <a:t>meaning</a:t>
            </a:r>
            <a:r>
              <a:rPr lang="nl-NL" sz="1900" dirty="0" smtClean="0"/>
              <a:t> </a:t>
            </a:r>
            <a:r>
              <a:rPr lang="nl-NL" sz="1900" dirty="0" err="1" smtClean="0"/>
              <a:t>elements</a:t>
            </a:r>
            <a:r>
              <a:rPr lang="nl-NL" sz="1900" dirty="0" smtClean="0"/>
              <a:t> of </a:t>
            </a:r>
            <a:r>
              <a:rPr lang="nl-NL" sz="1900" i="1" dirty="0"/>
              <a:t>e</a:t>
            </a:r>
            <a:r>
              <a:rPr lang="nl-NL" sz="1900" i="1" dirty="0" smtClean="0"/>
              <a:t>vening star </a:t>
            </a:r>
            <a:r>
              <a:rPr lang="nl-NL" sz="1900" dirty="0" smtClean="0"/>
              <a:t>are </a:t>
            </a:r>
            <a:r>
              <a:rPr lang="nl-NL" sz="1900" i="1" dirty="0" smtClean="0"/>
              <a:t>evening</a:t>
            </a:r>
            <a:r>
              <a:rPr lang="nl-NL" sz="1900" dirty="0" smtClean="0"/>
              <a:t> </a:t>
            </a:r>
            <a:r>
              <a:rPr lang="nl-NL" sz="1900" dirty="0" err="1" smtClean="0"/>
              <a:t>and</a:t>
            </a:r>
            <a:r>
              <a:rPr lang="nl-NL" sz="1900" dirty="0" smtClean="0"/>
              <a:t> </a:t>
            </a:r>
            <a:r>
              <a:rPr lang="nl-NL" sz="1900" i="1" dirty="0" smtClean="0"/>
              <a:t>star</a:t>
            </a:r>
            <a:r>
              <a:rPr lang="nl-NL" sz="1900" dirty="0" smtClean="0"/>
              <a:t> </a:t>
            </a:r>
            <a:endParaRPr lang="nl-NL" sz="1900" i="1" dirty="0" smtClean="0"/>
          </a:p>
          <a:p>
            <a:pPr marL="0" indent="0">
              <a:buNone/>
            </a:pPr>
            <a:endParaRPr lang="nl-NL" sz="1900" dirty="0" smtClean="0"/>
          </a:p>
        </p:txBody>
      </p:sp>
      <p:sp>
        <p:nvSpPr>
          <p:cNvPr id="21" name="Content Placeholder 2"/>
          <p:cNvSpPr txBox="1">
            <a:spLocks/>
          </p:cNvSpPr>
          <p:nvPr/>
        </p:nvSpPr>
        <p:spPr>
          <a:xfrm>
            <a:off x="395536" y="5416624"/>
            <a:ext cx="8280920" cy="7486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1900" dirty="0" smtClean="0"/>
              <a:t>The </a:t>
            </a:r>
            <a:r>
              <a:rPr lang="nl-NL" sz="1900" dirty="0" err="1" smtClean="0"/>
              <a:t>meaning</a:t>
            </a:r>
            <a:r>
              <a:rPr lang="nl-NL" sz="1900" dirty="0" smtClean="0"/>
              <a:t> </a:t>
            </a:r>
            <a:r>
              <a:rPr lang="nl-NL" sz="1900" dirty="0" err="1" smtClean="0"/>
              <a:t>elements</a:t>
            </a:r>
            <a:r>
              <a:rPr lang="nl-NL" sz="1900" dirty="0" smtClean="0"/>
              <a:t> of </a:t>
            </a:r>
            <a:r>
              <a:rPr lang="nl-NL" sz="1900" i="1" dirty="0" err="1" smtClean="0"/>
              <a:t>Alvin</a:t>
            </a:r>
            <a:r>
              <a:rPr lang="nl-NL" sz="1900" i="1" dirty="0" smtClean="0"/>
              <a:t> Plantinga </a:t>
            </a:r>
            <a:r>
              <a:rPr lang="nl-NL" sz="1900" dirty="0" smtClean="0"/>
              <a:t>are </a:t>
            </a:r>
            <a:r>
              <a:rPr lang="nl-NL" sz="1900" i="1" dirty="0" err="1" smtClean="0"/>
              <a:t>Alvin</a:t>
            </a:r>
            <a:r>
              <a:rPr lang="nl-NL" sz="1900" dirty="0" smtClean="0"/>
              <a:t> </a:t>
            </a:r>
            <a:r>
              <a:rPr lang="nl-NL" sz="1900" dirty="0" err="1" smtClean="0"/>
              <a:t>and</a:t>
            </a:r>
            <a:r>
              <a:rPr lang="nl-NL" sz="1900" dirty="0" smtClean="0"/>
              <a:t> </a:t>
            </a:r>
            <a:r>
              <a:rPr lang="nl-NL" sz="1900" i="1" dirty="0" smtClean="0"/>
              <a:t>Plantinga</a:t>
            </a:r>
          </a:p>
          <a:p>
            <a:pPr marL="0" indent="0">
              <a:buNone/>
            </a:pPr>
            <a:endParaRPr lang="nl-NL" sz="1900" dirty="0" smtClean="0"/>
          </a:p>
        </p:txBody>
      </p:sp>
      <p:sp>
        <p:nvSpPr>
          <p:cNvPr id="22" name="Content Placeholder 2"/>
          <p:cNvSpPr txBox="1">
            <a:spLocks/>
          </p:cNvSpPr>
          <p:nvPr/>
        </p:nvSpPr>
        <p:spPr>
          <a:xfrm>
            <a:off x="395536" y="5920680"/>
            <a:ext cx="8748464" cy="7486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1900" dirty="0" smtClean="0"/>
              <a:t>The </a:t>
            </a:r>
            <a:r>
              <a:rPr lang="nl-NL" sz="1900" dirty="0" err="1" smtClean="0"/>
              <a:t>meaning</a:t>
            </a:r>
            <a:r>
              <a:rPr lang="nl-NL" sz="1900" dirty="0" smtClean="0"/>
              <a:t> </a:t>
            </a:r>
            <a:r>
              <a:rPr lang="nl-NL" sz="1900" dirty="0" err="1" smtClean="0"/>
              <a:t>elements</a:t>
            </a:r>
            <a:r>
              <a:rPr lang="nl-NL" sz="1900" dirty="0" smtClean="0"/>
              <a:t> of </a:t>
            </a:r>
            <a:r>
              <a:rPr lang="nl-NL" sz="1900" i="1" dirty="0" err="1" smtClean="0"/>
              <a:t>being</a:t>
            </a:r>
            <a:r>
              <a:rPr lang="nl-NL" sz="1900" i="1" dirty="0" smtClean="0"/>
              <a:t>, red, abc </a:t>
            </a:r>
            <a:r>
              <a:rPr lang="nl-NL" sz="1900" dirty="0" err="1" smtClean="0"/>
              <a:t>and</a:t>
            </a:r>
            <a:r>
              <a:rPr lang="nl-NL" sz="1900" i="1" dirty="0" smtClean="0"/>
              <a:t> Kim </a:t>
            </a:r>
            <a:r>
              <a:rPr lang="nl-NL" sz="1900" dirty="0" smtClean="0"/>
              <a:t>are</a:t>
            </a:r>
            <a:r>
              <a:rPr lang="nl-NL" sz="1900" i="1" dirty="0" smtClean="0"/>
              <a:t> </a:t>
            </a:r>
            <a:r>
              <a:rPr lang="nl-NL" sz="1900" i="1" dirty="0" err="1" smtClean="0"/>
              <a:t>being</a:t>
            </a:r>
            <a:r>
              <a:rPr lang="nl-NL" sz="1900" i="1" dirty="0" smtClean="0"/>
              <a:t>, red, abc </a:t>
            </a:r>
            <a:r>
              <a:rPr lang="nl-NL" sz="1900" dirty="0" err="1" smtClean="0"/>
              <a:t>and</a:t>
            </a:r>
            <a:r>
              <a:rPr lang="nl-NL" sz="1900" dirty="0" smtClean="0"/>
              <a:t> </a:t>
            </a:r>
            <a:r>
              <a:rPr lang="nl-NL" sz="1900" i="1" dirty="0" smtClean="0"/>
              <a:t>Kim</a:t>
            </a:r>
          </a:p>
          <a:p>
            <a:pPr marL="0" indent="0">
              <a:buNone/>
            </a:pPr>
            <a:endParaRPr lang="nl-NL" sz="1900" dirty="0" smtClean="0"/>
          </a:p>
        </p:txBody>
      </p:sp>
      <p:sp>
        <p:nvSpPr>
          <p:cNvPr id="23" name="Content Placeholder 2"/>
          <p:cNvSpPr txBox="1">
            <a:spLocks/>
          </p:cNvSpPr>
          <p:nvPr/>
        </p:nvSpPr>
        <p:spPr>
          <a:xfrm>
            <a:off x="395536" y="1312168"/>
            <a:ext cx="8748464" cy="3886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1900" dirty="0" err="1" smtClean="0"/>
              <a:t>Consider</a:t>
            </a:r>
            <a:r>
              <a:rPr lang="nl-NL" sz="1900" dirty="0"/>
              <a:t> </a:t>
            </a:r>
            <a:r>
              <a:rPr lang="nl-NL" sz="1900" dirty="0" err="1" smtClean="0"/>
              <a:t>terms</a:t>
            </a:r>
            <a:r>
              <a:rPr lang="nl-NL" sz="1900" dirty="0" smtClean="0"/>
              <a:t> </a:t>
            </a:r>
            <a:r>
              <a:rPr lang="nl-NL" sz="1900" dirty="0" err="1" smtClean="0"/>
              <a:t>that</a:t>
            </a:r>
            <a:r>
              <a:rPr lang="nl-NL" sz="1900" dirty="0" smtClean="0"/>
              <a:t> are </a:t>
            </a:r>
            <a:r>
              <a:rPr lang="nl-NL" sz="1900" dirty="0" err="1" smtClean="0"/>
              <a:t>either</a:t>
            </a:r>
            <a:endParaRPr lang="nl-NL" sz="1900" dirty="0" smtClean="0"/>
          </a:p>
        </p:txBody>
      </p:sp>
      <p:sp>
        <p:nvSpPr>
          <p:cNvPr id="24" name="Content Placeholder 2"/>
          <p:cNvSpPr txBox="1">
            <a:spLocks/>
          </p:cNvSpPr>
          <p:nvPr/>
        </p:nvSpPr>
        <p:spPr>
          <a:xfrm>
            <a:off x="720080" y="1783507"/>
            <a:ext cx="8748464" cy="10367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Font typeface="Courier New" panose="02070309020205020404" pitchFamily="49" charset="0"/>
              <a:buChar char="o"/>
            </a:pPr>
            <a:r>
              <a:rPr lang="nl-NL" sz="1900" dirty="0" err="1" smtClean="0"/>
              <a:t>Singular</a:t>
            </a:r>
            <a:r>
              <a:rPr lang="nl-NL" sz="1900" dirty="0" smtClean="0"/>
              <a:t> (e.g., </a:t>
            </a:r>
            <a:r>
              <a:rPr lang="nl-NL" sz="1900" i="1" dirty="0" smtClean="0"/>
              <a:t>Jo</a:t>
            </a:r>
            <a:r>
              <a:rPr lang="nl-NL" sz="1900" dirty="0" smtClean="0"/>
              <a:t>, </a:t>
            </a:r>
            <a:r>
              <a:rPr lang="nl-NL" sz="1900" i="1" dirty="0" smtClean="0"/>
              <a:t>Kim</a:t>
            </a:r>
            <a:r>
              <a:rPr lang="nl-NL" sz="1900" dirty="0" smtClean="0"/>
              <a:t>, </a:t>
            </a:r>
            <a:r>
              <a:rPr lang="nl-NL" sz="1900" i="1" dirty="0" err="1" smtClean="0"/>
              <a:t>king</a:t>
            </a:r>
            <a:r>
              <a:rPr lang="nl-NL" sz="1900" i="1" dirty="0" smtClean="0"/>
              <a:t> of the Netherlands</a:t>
            </a:r>
            <a:r>
              <a:rPr lang="nl-NL" sz="1900" dirty="0" smtClean="0"/>
              <a:t>, </a:t>
            </a:r>
            <a:r>
              <a:rPr lang="nl-NL" sz="1900" i="1" dirty="0" smtClean="0"/>
              <a:t>president of the United </a:t>
            </a:r>
            <a:r>
              <a:rPr lang="nl-NL" sz="1900" i="1" dirty="0" err="1" smtClean="0"/>
              <a:t>States</a:t>
            </a:r>
            <a:r>
              <a:rPr lang="nl-NL" sz="1900" dirty="0" smtClean="0"/>
              <a:t>), </a:t>
            </a:r>
          </a:p>
        </p:txBody>
      </p:sp>
      <p:sp>
        <p:nvSpPr>
          <p:cNvPr id="25" name="Content Placeholder 2"/>
          <p:cNvSpPr txBox="1">
            <a:spLocks/>
          </p:cNvSpPr>
          <p:nvPr/>
        </p:nvSpPr>
        <p:spPr>
          <a:xfrm>
            <a:off x="720080" y="2204864"/>
            <a:ext cx="8748464" cy="4320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Font typeface="Courier New" panose="02070309020205020404" pitchFamily="49" charset="0"/>
              <a:buChar char="o"/>
            </a:pPr>
            <a:r>
              <a:rPr lang="nl-NL" sz="1900" dirty="0" err="1" smtClean="0"/>
              <a:t>Generic</a:t>
            </a:r>
            <a:r>
              <a:rPr lang="nl-NL" sz="1900" dirty="0" smtClean="0"/>
              <a:t> </a:t>
            </a:r>
            <a:r>
              <a:rPr lang="nl-NL" sz="1900" dirty="0" err="1" smtClean="0"/>
              <a:t>and</a:t>
            </a:r>
            <a:r>
              <a:rPr lang="nl-NL" sz="1900" dirty="0" smtClean="0"/>
              <a:t> stand </a:t>
            </a:r>
            <a:r>
              <a:rPr lang="nl-NL" sz="1900" dirty="0" err="1" smtClean="0"/>
              <a:t>for</a:t>
            </a:r>
            <a:r>
              <a:rPr lang="nl-NL" sz="1900" dirty="0" smtClean="0"/>
              <a:t> a real property (e.g., </a:t>
            </a:r>
            <a:r>
              <a:rPr lang="nl-NL" sz="1900" i="1" dirty="0" smtClean="0"/>
              <a:t>red</a:t>
            </a:r>
            <a:r>
              <a:rPr lang="nl-NL" sz="1900" dirty="0" smtClean="0"/>
              <a:t>, </a:t>
            </a:r>
            <a:r>
              <a:rPr lang="nl-NL" sz="1900" i="1" dirty="0" err="1" smtClean="0"/>
              <a:t>material</a:t>
            </a:r>
            <a:r>
              <a:rPr lang="nl-NL" sz="1900" dirty="0" smtClean="0"/>
              <a:t>, </a:t>
            </a:r>
            <a:r>
              <a:rPr lang="nl-NL" sz="1900" i="1" dirty="0" err="1" smtClean="0"/>
              <a:t>unicorn</a:t>
            </a:r>
            <a:r>
              <a:rPr lang="nl-NL" sz="1900" dirty="0" smtClean="0"/>
              <a:t>, </a:t>
            </a:r>
            <a:r>
              <a:rPr lang="nl-NL" sz="1900" i="1" dirty="0" err="1" smtClean="0"/>
              <a:t>triangular</a:t>
            </a:r>
            <a:r>
              <a:rPr lang="nl-NL" sz="1900" dirty="0" smtClean="0"/>
              <a:t>), or</a:t>
            </a:r>
          </a:p>
        </p:txBody>
      </p:sp>
      <p:sp>
        <p:nvSpPr>
          <p:cNvPr id="26" name="Content Placeholder 2"/>
          <p:cNvSpPr txBox="1">
            <a:spLocks/>
          </p:cNvSpPr>
          <p:nvPr/>
        </p:nvSpPr>
        <p:spPr>
          <a:xfrm>
            <a:off x="720080" y="2636912"/>
            <a:ext cx="8748464" cy="10367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Font typeface="Courier New" panose="02070309020205020404" pitchFamily="49" charset="0"/>
              <a:buChar char="o"/>
            </a:pPr>
            <a:r>
              <a:rPr lang="nl-NL" sz="1900" dirty="0" err="1" smtClean="0"/>
              <a:t>Generic</a:t>
            </a:r>
            <a:r>
              <a:rPr lang="nl-NL" sz="1900" dirty="0" smtClean="0"/>
              <a:t> and stand </a:t>
            </a:r>
            <a:r>
              <a:rPr lang="nl-NL" sz="1900" dirty="0" err="1" smtClean="0"/>
              <a:t>for</a:t>
            </a:r>
            <a:r>
              <a:rPr lang="nl-NL" sz="1900" dirty="0" smtClean="0"/>
              <a:t> </a:t>
            </a:r>
            <a:r>
              <a:rPr lang="nl-NL" sz="1900" dirty="0" err="1" smtClean="0"/>
              <a:t>everything</a:t>
            </a:r>
            <a:r>
              <a:rPr lang="nl-NL" sz="1900" dirty="0" smtClean="0"/>
              <a:t> (</a:t>
            </a:r>
            <a:r>
              <a:rPr lang="nl-NL" sz="1900" dirty="0" err="1" smtClean="0"/>
              <a:t>e.g</a:t>
            </a:r>
            <a:r>
              <a:rPr lang="nl-NL" sz="1900" dirty="0" smtClean="0"/>
              <a:t>, </a:t>
            </a:r>
            <a:r>
              <a:rPr lang="nl-NL" sz="1900" i="1" dirty="0" err="1" smtClean="0"/>
              <a:t>being</a:t>
            </a:r>
            <a:r>
              <a:rPr lang="nl-NL" sz="1900" dirty="0" smtClean="0"/>
              <a:t>, </a:t>
            </a:r>
            <a:r>
              <a:rPr lang="nl-NL" sz="1900" i="1" dirty="0" smtClean="0"/>
              <a:t>existent</a:t>
            </a:r>
            <a:r>
              <a:rPr lang="nl-NL" sz="1900" dirty="0" smtClean="0"/>
              <a:t>, </a:t>
            </a:r>
            <a:r>
              <a:rPr lang="nl-NL" sz="1900" i="1" dirty="0" err="1" smtClean="0"/>
              <a:t>thing</a:t>
            </a:r>
            <a:r>
              <a:rPr lang="nl-NL" sz="1900" dirty="0" smtClean="0"/>
              <a:t>,</a:t>
            </a:r>
            <a:r>
              <a:rPr lang="nl-NL" sz="1900" i="1" dirty="0" smtClean="0"/>
              <a:t> object</a:t>
            </a:r>
            <a:r>
              <a:rPr lang="nl-NL" sz="1900" dirty="0" smtClean="0"/>
              <a:t>,</a:t>
            </a:r>
            <a:r>
              <a:rPr lang="nl-NL" sz="1900" i="1" dirty="0" smtClean="0"/>
              <a:t> </a:t>
            </a:r>
            <a:r>
              <a:rPr lang="nl-NL" sz="1900" i="1" dirty="0" err="1" smtClean="0"/>
              <a:t>entity</a:t>
            </a:r>
            <a:r>
              <a:rPr lang="nl-NL" sz="1900" dirty="0" smtClean="0"/>
              <a:t>) </a:t>
            </a: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432048" y="3090664"/>
            <a:ext cx="8748464" cy="3383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1900" dirty="0" err="1" smtClean="0"/>
              <a:t>Plausibly</a:t>
            </a:r>
            <a:r>
              <a:rPr lang="nl-NL" sz="1900" dirty="0" smtClean="0"/>
              <a:t>, these </a:t>
            </a:r>
            <a:r>
              <a:rPr lang="nl-NL" sz="1900" dirty="0" err="1" smtClean="0"/>
              <a:t>terms</a:t>
            </a:r>
            <a:r>
              <a:rPr lang="nl-NL" sz="1900" dirty="0" smtClean="0"/>
              <a:t> </a:t>
            </a:r>
            <a:r>
              <a:rPr lang="nl-NL" sz="1900" dirty="0" err="1" smtClean="0"/>
              <a:t>express</a:t>
            </a:r>
            <a:r>
              <a:rPr lang="nl-NL" sz="1900" dirty="0" smtClean="0"/>
              <a:t> a </a:t>
            </a:r>
            <a:r>
              <a:rPr lang="nl-NL" sz="1900" i="1" dirty="0" err="1" smtClean="0"/>
              <a:t>positive</a:t>
            </a:r>
            <a:r>
              <a:rPr lang="nl-NL" sz="1900" dirty="0" smtClean="0"/>
              <a:t> </a:t>
            </a:r>
            <a:r>
              <a:rPr lang="nl-NL" sz="1900" i="1" dirty="0" err="1" smtClean="0"/>
              <a:t>determinate</a:t>
            </a:r>
            <a:r>
              <a:rPr lang="nl-NL" sz="1900" i="1" dirty="0" smtClean="0"/>
              <a:t> </a:t>
            </a:r>
            <a:r>
              <a:rPr lang="nl-NL" sz="1900" dirty="0" err="1" smtClean="0"/>
              <a:t>meaning</a:t>
            </a:r>
            <a:endParaRPr lang="nl-NL" sz="1900" dirty="0" smtClean="0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432048" y="3522712"/>
            <a:ext cx="8748464" cy="3383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1900" dirty="0" err="1" smtClean="0"/>
              <a:t>Moreover</a:t>
            </a:r>
            <a:r>
              <a:rPr lang="nl-NL" sz="1900" dirty="0" smtClean="0"/>
              <a:t>, these </a:t>
            </a:r>
            <a:r>
              <a:rPr lang="nl-NL" sz="1900" dirty="0" err="1" smtClean="0"/>
              <a:t>positive</a:t>
            </a:r>
            <a:r>
              <a:rPr lang="nl-NL" sz="1900" dirty="0" smtClean="0"/>
              <a:t> </a:t>
            </a:r>
            <a:r>
              <a:rPr lang="nl-NL" sz="1900" dirty="0" err="1" smtClean="0"/>
              <a:t>determinate</a:t>
            </a:r>
            <a:r>
              <a:rPr lang="nl-NL" sz="1900" dirty="0" smtClean="0"/>
              <a:t> </a:t>
            </a:r>
            <a:r>
              <a:rPr lang="nl-NL" sz="1900" dirty="0" err="1" smtClean="0"/>
              <a:t>meanings</a:t>
            </a:r>
            <a:r>
              <a:rPr lang="nl-NL" sz="1900" dirty="0" smtClean="0"/>
              <a:t> are, </a:t>
            </a:r>
            <a:r>
              <a:rPr lang="nl-NL" sz="1900" dirty="0" err="1" smtClean="0"/>
              <a:t>plausibly</a:t>
            </a:r>
            <a:r>
              <a:rPr lang="nl-NL" sz="1900" dirty="0" smtClean="0"/>
              <a:t>, </a:t>
            </a:r>
            <a:r>
              <a:rPr lang="nl-NL" sz="1900" dirty="0" err="1" smtClean="0"/>
              <a:t>composed</a:t>
            </a:r>
            <a:r>
              <a:rPr lang="nl-NL" sz="1900" dirty="0" smtClean="0"/>
              <a:t>                         of </a:t>
            </a:r>
            <a:r>
              <a:rPr lang="nl-NL" sz="1900" dirty="0" err="1" smtClean="0"/>
              <a:t>positive</a:t>
            </a:r>
            <a:r>
              <a:rPr lang="nl-NL" sz="1900" dirty="0" smtClean="0"/>
              <a:t> </a:t>
            </a:r>
            <a:r>
              <a:rPr lang="nl-NL" sz="1900" dirty="0" err="1" smtClean="0"/>
              <a:t>determinate</a:t>
            </a:r>
            <a:r>
              <a:rPr lang="nl-NL" sz="1900" i="1" dirty="0" smtClean="0"/>
              <a:t> </a:t>
            </a:r>
            <a:r>
              <a:rPr lang="nl-NL" sz="1900" i="1" dirty="0" err="1" smtClean="0"/>
              <a:t>meaning</a:t>
            </a:r>
            <a:r>
              <a:rPr lang="nl-NL" sz="1900" i="1" dirty="0" smtClean="0"/>
              <a:t> </a:t>
            </a:r>
            <a:r>
              <a:rPr lang="nl-NL" sz="1900" i="1" dirty="0" err="1" smtClean="0"/>
              <a:t>elements</a:t>
            </a:r>
            <a:endParaRPr lang="nl-NL" sz="1900" i="1" dirty="0" smtClean="0"/>
          </a:p>
        </p:txBody>
      </p:sp>
    </p:spTree>
    <p:extLst>
      <p:ext uri="{BB962C8B-B14F-4D97-AF65-F5344CB8AC3E}">
        <p14:creationId xmlns:p14="http://schemas.microsoft.com/office/powerpoint/2010/main" val="2448521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200" dirty="0" smtClean="0"/>
              <a:t>A </a:t>
            </a:r>
            <a:r>
              <a:rPr lang="nl-NL" sz="3200" dirty="0" err="1" smtClean="0"/>
              <a:t>theory</a:t>
            </a:r>
            <a:r>
              <a:rPr lang="nl-NL" sz="3200" dirty="0" smtClean="0"/>
              <a:t> of </a:t>
            </a:r>
            <a:r>
              <a:rPr lang="nl-NL" sz="3200" dirty="0" err="1" smtClean="0"/>
              <a:t>meaning</a:t>
            </a:r>
            <a:r>
              <a:rPr lang="nl-NL" sz="3200" dirty="0" smtClean="0"/>
              <a:t> (</a:t>
            </a:r>
            <a:r>
              <a:rPr lang="nl-NL" sz="3200" dirty="0" err="1" smtClean="0"/>
              <a:t>cont</a:t>
            </a:r>
            <a:r>
              <a:rPr lang="nl-NL" sz="3200" dirty="0" smtClean="0"/>
              <a:t>.)</a:t>
            </a:r>
            <a:endParaRPr lang="nl-NL" sz="3200" dirty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395536" y="1240160"/>
            <a:ext cx="8748464" cy="10367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1900" dirty="0" err="1" smtClean="0"/>
              <a:t>Each</a:t>
            </a:r>
            <a:r>
              <a:rPr lang="nl-NL" sz="1900" dirty="0" smtClean="0"/>
              <a:t> </a:t>
            </a:r>
            <a:r>
              <a:rPr lang="nl-NL" sz="1900" dirty="0" err="1" smtClean="0"/>
              <a:t>positive</a:t>
            </a:r>
            <a:r>
              <a:rPr lang="nl-NL" sz="1900" dirty="0" smtClean="0"/>
              <a:t> </a:t>
            </a:r>
            <a:r>
              <a:rPr lang="nl-NL" sz="1900" dirty="0" err="1" smtClean="0"/>
              <a:t>determinate</a:t>
            </a:r>
            <a:r>
              <a:rPr lang="nl-NL" sz="1900" dirty="0" smtClean="0"/>
              <a:t> </a:t>
            </a:r>
            <a:r>
              <a:rPr lang="nl-NL" sz="1900" i="1" dirty="0" err="1" smtClean="0"/>
              <a:t>meaning</a:t>
            </a:r>
            <a:r>
              <a:rPr lang="nl-NL" sz="1900" i="1" dirty="0" smtClean="0"/>
              <a:t> element</a:t>
            </a:r>
            <a:r>
              <a:rPr lang="nl-NL" sz="1900" dirty="0" smtClean="0"/>
              <a:t> has a </a:t>
            </a:r>
            <a:r>
              <a:rPr lang="nl-NL" sz="1900" i="1" dirty="0" err="1" smtClean="0"/>
              <a:t>reference</a:t>
            </a:r>
            <a:r>
              <a:rPr lang="nl-NL" sz="1900" i="1" dirty="0" smtClean="0"/>
              <a:t> set </a:t>
            </a:r>
            <a:r>
              <a:rPr lang="nl-NL" sz="1900" dirty="0" smtClean="0"/>
              <a:t>(e.g., the </a:t>
            </a:r>
            <a:r>
              <a:rPr lang="nl-NL" sz="1900" dirty="0" err="1" smtClean="0"/>
              <a:t>reference</a:t>
            </a:r>
            <a:r>
              <a:rPr lang="nl-NL" sz="1900" dirty="0" smtClean="0"/>
              <a:t> set of </a:t>
            </a:r>
            <a:r>
              <a:rPr lang="nl-NL" sz="1900" i="1" dirty="0" smtClean="0"/>
              <a:t>red</a:t>
            </a:r>
            <a:r>
              <a:rPr lang="nl-NL" sz="1900" dirty="0" smtClean="0"/>
              <a:t> is the set of </a:t>
            </a:r>
            <a:r>
              <a:rPr lang="nl-NL" sz="1900" dirty="0" err="1" smtClean="0"/>
              <a:t>all</a:t>
            </a:r>
            <a:r>
              <a:rPr lang="nl-NL" sz="1900" dirty="0" smtClean="0"/>
              <a:t> red </a:t>
            </a:r>
            <a:r>
              <a:rPr lang="nl-NL" sz="1900" dirty="0" err="1" smtClean="0"/>
              <a:t>things</a:t>
            </a:r>
            <a:r>
              <a:rPr lang="nl-NL" sz="1900" dirty="0" smtClean="0"/>
              <a:t>, the </a:t>
            </a:r>
            <a:r>
              <a:rPr lang="nl-NL" sz="1900" dirty="0" err="1" smtClean="0"/>
              <a:t>reference</a:t>
            </a:r>
            <a:r>
              <a:rPr lang="nl-NL" sz="1900" dirty="0" smtClean="0"/>
              <a:t> set of </a:t>
            </a:r>
            <a:r>
              <a:rPr lang="nl-NL" sz="1900" i="1" dirty="0" smtClean="0"/>
              <a:t>John</a:t>
            </a:r>
            <a:r>
              <a:rPr lang="nl-NL" sz="1900" dirty="0" smtClean="0"/>
              <a:t> is the set of </a:t>
            </a:r>
            <a:r>
              <a:rPr lang="nl-NL" sz="1900" dirty="0" err="1" smtClean="0"/>
              <a:t>all</a:t>
            </a:r>
            <a:r>
              <a:rPr lang="nl-NL" sz="1900" dirty="0" smtClean="0"/>
              <a:t> John’s)</a:t>
            </a: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395536" y="1916832"/>
            <a:ext cx="8496944" cy="2880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1900" dirty="0" smtClean="0"/>
              <a:t>More </a:t>
            </a:r>
            <a:r>
              <a:rPr lang="nl-NL" sz="1900" dirty="0" err="1" smtClean="0"/>
              <a:t>generally</a:t>
            </a:r>
            <a:r>
              <a:rPr lang="nl-NL" sz="1900" dirty="0" smtClean="0"/>
              <a:t>, </a:t>
            </a:r>
            <a:r>
              <a:rPr lang="nl-NL" sz="1900" dirty="0" err="1" smtClean="0"/>
              <a:t>each</a:t>
            </a:r>
            <a:r>
              <a:rPr lang="nl-NL" sz="1900" dirty="0" smtClean="0"/>
              <a:t> </a:t>
            </a:r>
            <a:r>
              <a:rPr lang="nl-NL" sz="1900" dirty="0" err="1" smtClean="0"/>
              <a:t>positive</a:t>
            </a:r>
            <a:r>
              <a:rPr lang="nl-NL" sz="1900" dirty="0" smtClean="0"/>
              <a:t> </a:t>
            </a:r>
            <a:r>
              <a:rPr lang="nl-NL" sz="1900" dirty="0" err="1" smtClean="0"/>
              <a:t>determinate</a:t>
            </a:r>
            <a:r>
              <a:rPr lang="nl-NL" sz="1900" dirty="0" smtClean="0"/>
              <a:t> </a:t>
            </a:r>
            <a:r>
              <a:rPr lang="nl-NL" sz="1900" i="1" dirty="0" err="1" smtClean="0"/>
              <a:t>meaning</a:t>
            </a:r>
            <a:r>
              <a:rPr lang="nl-NL" sz="1900" dirty="0" smtClean="0"/>
              <a:t> has a </a:t>
            </a:r>
            <a:r>
              <a:rPr lang="nl-NL" sz="1900" i="1" dirty="0" err="1" smtClean="0"/>
              <a:t>reference</a:t>
            </a:r>
            <a:r>
              <a:rPr lang="nl-NL" sz="1900" i="1" dirty="0" smtClean="0"/>
              <a:t> set</a:t>
            </a:r>
            <a:endParaRPr lang="nl-NL" sz="1900" dirty="0" smtClean="0"/>
          </a:p>
          <a:p>
            <a:endParaRPr lang="nl-NL" sz="1900" dirty="0"/>
          </a:p>
          <a:p>
            <a:pPr marL="0" indent="0">
              <a:buNone/>
            </a:pPr>
            <a:endParaRPr lang="nl-NL" sz="1900" dirty="0" smtClean="0"/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395536" y="3933056"/>
            <a:ext cx="8496944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1900" dirty="0" smtClean="0"/>
              <a:t>Take the </a:t>
            </a:r>
            <a:r>
              <a:rPr lang="nl-NL" sz="1900" dirty="0" err="1" smtClean="0"/>
              <a:t>meaning</a:t>
            </a:r>
            <a:r>
              <a:rPr lang="nl-NL" sz="1900" dirty="0" smtClean="0"/>
              <a:t> </a:t>
            </a:r>
            <a:r>
              <a:rPr lang="nl-NL" sz="1900" dirty="0" err="1" smtClean="0"/>
              <a:t>expressed</a:t>
            </a:r>
            <a:r>
              <a:rPr lang="nl-NL" sz="1900" dirty="0" smtClean="0"/>
              <a:t> </a:t>
            </a:r>
            <a:r>
              <a:rPr lang="nl-NL" sz="1900" dirty="0" err="1" smtClean="0"/>
              <a:t>by</a:t>
            </a:r>
            <a:r>
              <a:rPr lang="nl-NL" sz="1900" dirty="0" smtClean="0"/>
              <a:t> </a:t>
            </a:r>
            <a:r>
              <a:rPr lang="nl-NL" sz="1900" i="1" dirty="0" err="1" smtClean="0"/>
              <a:t>unicorn</a:t>
            </a:r>
            <a:r>
              <a:rPr lang="nl-NL" sz="1900" dirty="0" smtClean="0"/>
              <a:t>. The </a:t>
            </a:r>
            <a:r>
              <a:rPr lang="nl-NL" sz="1900" dirty="0" err="1" smtClean="0"/>
              <a:t>reference</a:t>
            </a:r>
            <a:r>
              <a:rPr lang="nl-NL" sz="1900" dirty="0" smtClean="0"/>
              <a:t> set of </a:t>
            </a:r>
            <a:r>
              <a:rPr lang="nl-NL" sz="1900" dirty="0" err="1" smtClean="0"/>
              <a:t>that</a:t>
            </a:r>
            <a:r>
              <a:rPr lang="nl-NL" sz="1900" dirty="0" smtClean="0"/>
              <a:t> </a:t>
            </a:r>
            <a:r>
              <a:rPr lang="nl-NL" sz="1900" dirty="0" err="1" smtClean="0"/>
              <a:t>meaning</a:t>
            </a:r>
            <a:r>
              <a:rPr lang="nl-NL" sz="1900" dirty="0" smtClean="0"/>
              <a:t> is the set of </a:t>
            </a:r>
            <a:r>
              <a:rPr lang="nl-NL" sz="1900" dirty="0" err="1" smtClean="0"/>
              <a:t>all</a:t>
            </a:r>
            <a:r>
              <a:rPr lang="nl-NL" sz="1900" dirty="0" smtClean="0"/>
              <a:t> </a:t>
            </a:r>
            <a:r>
              <a:rPr lang="nl-NL" sz="1900" dirty="0" err="1" smtClean="0"/>
              <a:t>horns</a:t>
            </a:r>
            <a:r>
              <a:rPr lang="nl-NL" sz="1900" dirty="0" smtClean="0"/>
              <a:t>, </a:t>
            </a:r>
            <a:r>
              <a:rPr lang="nl-NL" sz="1900" dirty="0" err="1" smtClean="0"/>
              <a:t>all</a:t>
            </a:r>
            <a:r>
              <a:rPr lang="nl-NL" sz="1900" dirty="0" smtClean="0"/>
              <a:t> </a:t>
            </a:r>
            <a:r>
              <a:rPr lang="nl-NL" sz="1900" dirty="0" err="1" smtClean="0"/>
              <a:t>foreheads</a:t>
            </a:r>
            <a:r>
              <a:rPr lang="nl-NL" sz="1900" dirty="0" smtClean="0"/>
              <a:t>, </a:t>
            </a:r>
            <a:r>
              <a:rPr lang="nl-NL" sz="1900" dirty="0" err="1" smtClean="0"/>
              <a:t>all</a:t>
            </a:r>
            <a:r>
              <a:rPr lang="nl-NL" sz="1900" dirty="0" smtClean="0"/>
              <a:t> </a:t>
            </a:r>
            <a:r>
              <a:rPr lang="nl-NL" sz="1900" dirty="0" err="1" smtClean="0"/>
              <a:t>tails</a:t>
            </a:r>
            <a:r>
              <a:rPr lang="nl-NL" sz="1900" dirty="0" smtClean="0"/>
              <a:t>, </a:t>
            </a:r>
            <a:r>
              <a:rPr lang="nl-NL" sz="1900" dirty="0" err="1" smtClean="0"/>
              <a:t>all</a:t>
            </a:r>
            <a:r>
              <a:rPr lang="nl-NL" sz="1900" dirty="0" smtClean="0"/>
              <a:t> </a:t>
            </a:r>
            <a:r>
              <a:rPr lang="nl-NL" sz="1900" dirty="0" err="1" smtClean="0"/>
              <a:t>horseshoe’s</a:t>
            </a:r>
            <a:r>
              <a:rPr lang="nl-NL" sz="1900" dirty="0" smtClean="0"/>
              <a:t>, etc.</a:t>
            </a:r>
          </a:p>
          <a:p>
            <a:endParaRPr lang="nl-NL" sz="1900" dirty="0"/>
          </a:p>
          <a:p>
            <a:pPr marL="0" indent="0">
              <a:buNone/>
            </a:pPr>
            <a:endParaRPr lang="nl-NL" sz="1900" dirty="0" smtClean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395536" y="4725144"/>
            <a:ext cx="8496944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1900" dirty="0" smtClean="0"/>
              <a:t>Take the </a:t>
            </a:r>
            <a:r>
              <a:rPr lang="nl-NL" sz="1900" dirty="0" err="1" smtClean="0"/>
              <a:t>meaning</a:t>
            </a:r>
            <a:r>
              <a:rPr lang="nl-NL" sz="1900" dirty="0" smtClean="0"/>
              <a:t> </a:t>
            </a:r>
            <a:r>
              <a:rPr lang="nl-NL" sz="1900" dirty="0" err="1" smtClean="0"/>
              <a:t>expressed</a:t>
            </a:r>
            <a:r>
              <a:rPr lang="nl-NL" sz="1900" dirty="0" smtClean="0"/>
              <a:t> </a:t>
            </a:r>
            <a:r>
              <a:rPr lang="nl-NL" sz="1900" dirty="0" err="1" smtClean="0"/>
              <a:t>by</a:t>
            </a:r>
            <a:r>
              <a:rPr lang="nl-NL" sz="1900" dirty="0" smtClean="0"/>
              <a:t> </a:t>
            </a:r>
            <a:r>
              <a:rPr lang="nl-NL" sz="1900" i="1" dirty="0" smtClean="0"/>
              <a:t>president of the United </a:t>
            </a:r>
            <a:r>
              <a:rPr lang="nl-NL" sz="1900" i="1" dirty="0" err="1" smtClean="0"/>
              <a:t>States</a:t>
            </a:r>
            <a:r>
              <a:rPr lang="nl-NL" sz="1900" dirty="0" smtClean="0"/>
              <a:t>. The </a:t>
            </a:r>
            <a:r>
              <a:rPr lang="nl-NL" sz="1900" dirty="0" err="1" smtClean="0"/>
              <a:t>reference</a:t>
            </a:r>
            <a:r>
              <a:rPr lang="nl-NL" sz="1900" dirty="0" smtClean="0"/>
              <a:t> set of </a:t>
            </a:r>
            <a:r>
              <a:rPr lang="nl-NL" sz="1900" dirty="0" err="1" smtClean="0"/>
              <a:t>that</a:t>
            </a:r>
            <a:r>
              <a:rPr lang="nl-NL" sz="1900" dirty="0" smtClean="0"/>
              <a:t> </a:t>
            </a:r>
            <a:r>
              <a:rPr lang="nl-NL" sz="1900" dirty="0" err="1" smtClean="0"/>
              <a:t>meaning</a:t>
            </a:r>
            <a:r>
              <a:rPr lang="nl-NL" sz="1900" dirty="0" smtClean="0"/>
              <a:t> is the set of </a:t>
            </a:r>
            <a:r>
              <a:rPr lang="nl-NL" sz="1900" dirty="0" err="1" smtClean="0"/>
              <a:t>all</a:t>
            </a:r>
            <a:r>
              <a:rPr lang="nl-NL" sz="1900" dirty="0" smtClean="0"/>
              <a:t> </a:t>
            </a:r>
            <a:r>
              <a:rPr lang="nl-NL" sz="1900" dirty="0" err="1" smtClean="0"/>
              <a:t>presidents</a:t>
            </a:r>
            <a:r>
              <a:rPr lang="nl-NL" sz="1900" dirty="0" smtClean="0"/>
              <a:t> </a:t>
            </a:r>
            <a:r>
              <a:rPr lang="nl-NL" sz="1900" dirty="0" err="1" smtClean="0"/>
              <a:t>and</a:t>
            </a:r>
            <a:r>
              <a:rPr lang="nl-NL" sz="1900" dirty="0" smtClean="0"/>
              <a:t> the United </a:t>
            </a:r>
            <a:r>
              <a:rPr lang="nl-NL" sz="1900" dirty="0" err="1" smtClean="0"/>
              <a:t>States</a:t>
            </a:r>
            <a:r>
              <a:rPr lang="nl-NL" sz="1900" dirty="0" smtClean="0"/>
              <a:t> </a:t>
            </a:r>
            <a:endParaRPr lang="nl-NL" sz="1900" dirty="0"/>
          </a:p>
        </p:txBody>
      </p:sp>
      <p:sp>
        <p:nvSpPr>
          <p:cNvPr id="3" name="TextBox 2"/>
          <p:cNvSpPr txBox="1"/>
          <p:nvPr/>
        </p:nvSpPr>
        <p:spPr>
          <a:xfrm>
            <a:off x="1043608" y="2996952"/>
            <a:ext cx="65527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900" dirty="0" err="1" smtClean="0"/>
              <a:t>RefSet</a:t>
            </a:r>
            <a:r>
              <a:rPr lang="nl-NL" sz="1900" dirty="0" smtClean="0"/>
              <a:t>(</a:t>
            </a:r>
            <a:r>
              <a:rPr lang="nl-NL" sz="1900" i="1" dirty="0" smtClean="0"/>
              <a:t>M</a:t>
            </a:r>
            <a:r>
              <a:rPr lang="nl-NL" sz="1900" dirty="0" smtClean="0"/>
              <a:t>) = </a:t>
            </a:r>
            <a:r>
              <a:rPr lang="nl-NL" sz="2400" dirty="0" smtClean="0"/>
              <a:t>∪</a:t>
            </a:r>
            <a:r>
              <a:rPr lang="nl-NL" sz="1900" dirty="0" smtClean="0"/>
              <a:t> { </a:t>
            </a:r>
            <a:r>
              <a:rPr lang="nl-NL" sz="1900" dirty="0" err="1" smtClean="0"/>
              <a:t>RefSet</a:t>
            </a:r>
            <a:r>
              <a:rPr lang="nl-NL" sz="1900" dirty="0" smtClean="0"/>
              <a:t>(</a:t>
            </a:r>
            <a:r>
              <a:rPr lang="nl-NL" sz="1900" i="1" dirty="0" smtClean="0"/>
              <a:t>M</a:t>
            </a:r>
            <a:r>
              <a:rPr lang="nl-NL" sz="1900" i="1" baseline="-25000" dirty="0" smtClean="0"/>
              <a:t>i</a:t>
            </a:r>
            <a:r>
              <a:rPr lang="nl-NL" sz="1900" dirty="0" smtClean="0"/>
              <a:t>) | </a:t>
            </a:r>
            <a:r>
              <a:rPr lang="nl-NL" sz="1900" i="1" dirty="0" smtClean="0"/>
              <a:t>M</a:t>
            </a:r>
            <a:r>
              <a:rPr lang="nl-NL" sz="1900" i="1" baseline="-25000" dirty="0" smtClean="0"/>
              <a:t>i </a:t>
            </a:r>
            <a:r>
              <a:rPr lang="nl-NL" sz="1900" i="1" dirty="0" smtClean="0"/>
              <a:t> </a:t>
            </a:r>
            <a:r>
              <a:rPr lang="nl-NL" sz="1900" dirty="0" smtClean="0"/>
              <a:t>is a </a:t>
            </a:r>
            <a:r>
              <a:rPr lang="nl-NL" sz="1900" dirty="0" err="1" smtClean="0"/>
              <a:t>meaning</a:t>
            </a:r>
            <a:r>
              <a:rPr lang="nl-NL" sz="1900" dirty="0" smtClean="0"/>
              <a:t> element of </a:t>
            </a:r>
            <a:r>
              <a:rPr lang="nl-NL" sz="1900" i="1" dirty="0" smtClean="0"/>
              <a:t>M </a:t>
            </a:r>
            <a:r>
              <a:rPr lang="nl-NL" sz="1900" dirty="0" smtClean="0"/>
              <a:t>} </a:t>
            </a:r>
            <a:endParaRPr lang="en-IE" sz="1900" dirty="0"/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395536" y="5517232"/>
            <a:ext cx="8496944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1900" dirty="0" smtClean="0"/>
              <a:t>Take the </a:t>
            </a:r>
            <a:r>
              <a:rPr lang="nl-NL" sz="1900" dirty="0" err="1" smtClean="0"/>
              <a:t>meaning</a:t>
            </a:r>
            <a:r>
              <a:rPr lang="nl-NL" sz="1900" dirty="0" smtClean="0"/>
              <a:t> </a:t>
            </a:r>
            <a:r>
              <a:rPr lang="nl-NL" sz="1900" dirty="0" err="1" smtClean="0"/>
              <a:t>expressed</a:t>
            </a:r>
            <a:r>
              <a:rPr lang="nl-NL" sz="1900" dirty="0" smtClean="0"/>
              <a:t> </a:t>
            </a:r>
            <a:r>
              <a:rPr lang="nl-NL" sz="1900" dirty="0" err="1" smtClean="0"/>
              <a:t>by</a:t>
            </a:r>
            <a:r>
              <a:rPr lang="nl-NL" sz="1900" dirty="0" smtClean="0"/>
              <a:t> </a:t>
            </a:r>
            <a:r>
              <a:rPr lang="nl-NL" sz="1900" i="1" dirty="0" smtClean="0"/>
              <a:t>evening star</a:t>
            </a:r>
            <a:r>
              <a:rPr lang="nl-NL" sz="1900" dirty="0" smtClean="0"/>
              <a:t>. The </a:t>
            </a:r>
            <a:r>
              <a:rPr lang="nl-NL" sz="1900" dirty="0" err="1" smtClean="0"/>
              <a:t>reference</a:t>
            </a:r>
            <a:r>
              <a:rPr lang="nl-NL" sz="1900" dirty="0" smtClean="0"/>
              <a:t> set of </a:t>
            </a:r>
            <a:r>
              <a:rPr lang="nl-NL" sz="1900" dirty="0" err="1" smtClean="0"/>
              <a:t>that</a:t>
            </a:r>
            <a:r>
              <a:rPr lang="nl-NL" sz="1900" dirty="0" smtClean="0"/>
              <a:t> </a:t>
            </a:r>
            <a:r>
              <a:rPr lang="nl-NL" sz="1900" dirty="0" err="1" smtClean="0"/>
              <a:t>meaning</a:t>
            </a:r>
            <a:r>
              <a:rPr lang="nl-NL" sz="1900" dirty="0" smtClean="0"/>
              <a:t> is the set of </a:t>
            </a:r>
            <a:r>
              <a:rPr lang="nl-NL" sz="1900" dirty="0" err="1" smtClean="0"/>
              <a:t>all</a:t>
            </a:r>
            <a:r>
              <a:rPr lang="nl-NL" sz="1900" dirty="0" smtClean="0"/>
              <a:t> </a:t>
            </a:r>
            <a:r>
              <a:rPr lang="nl-NL" sz="1900" dirty="0" err="1" smtClean="0"/>
              <a:t>evenings</a:t>
            </a:r>
            <a:r>
              <a:rPr lang="nl-NL" sz="1900" dirty="0" smtClean="0"/>
              <a:t> </a:t>
            </a:r>
            <a:r>
              <a:rPr lang="nl-NL" sz="1900" dirty="0" err="1" smtClean="0"/>
              <a:t>and</a:t>
            </a:r>
            <a:r>
              <a:rPr lang="nl-NL" sz="1900" dirty="0" smtClean="0"/>
              <a:t> </a:t>
            </a:r>
            <a:r>
              <a:rPr lang="nl-NL" sz="1900" dirty="0" err="1" smtClean="0"/>
              <a:t>all</a:t>
            </a:r>
            <a:r>
              <a:rPr lang="nl-NL" sz="1900" dirty="0" smtClean="0"/>
              <a:t> stars</a:t>
            </a:r>
            <a:endParaRPr lang="nl-NL" sz="1900" dirty="0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395536" y="6237312"/>
            <a:ext cx="8496944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1900" dirty="0" smtClean="0"/>
              <a:t>Take the </a:t>
            </a:r>
            <a:r>
              <a:rPr lang="nl-NL" sz="1900" dirty="0" err="1" smtClean="0"/>
              <a:t>meaning</a:t>
            </a:r>
            <a:r>
              <a:rPr lang="nl-NL" sz="1900" dirty="0" smtClean="0"/>
              <a:t> </a:t>
            </a:r>
            <a:r>
              <a:rPr lang="nl-NL" sz="1900" dirty="0" err="1" smtClean="0"/>
              <a:t>expressed</a:t>
            </a:r>
            <a:r>
              <a:rPr lang="nl-NL" sz="1900" dirty="0" smtClean="0"/>
              <a:t> </a:t>
            </a:r>
            <a:r>
              <a:rPr lang="nl-NL" sz="1900" dirty="0" err="1" smtClean="0"/>
              <a:t>by</a:t>
            </a:r>
            <a:r>
              <a:rPr lang="nl-NL" sz="1900" dirty="0" smtClean="0"/>
              <a:t> </a:t>
            </a:r>
            <a:r>
              <a:rPr lang="nl-NL" sz="1900" i="1" dirty="0" smtClean="0"/>
              <a:t>abc</a:t>
            </a:r>
            <a:r>
              <a:rPr lang="nl-NL" sz="1900" dirty="0" smtClean="0"/>
              <a:t>. The </a:t>
            </a:r>
            <a:r>
              <a:rPr lang="nl-NL" sz="1900" dirty="0" err="1" smtClean="0"/>
              <a:t>reference</a:t>
            </a:r>
            <a:r>
              <a:rPr lang="nl-NL" sz="1900" dirty="0" smtClean="0"/>
              <a:t> set of </a:t>
            </a:r>
            <a:r>
              <a:rPr lang="nl-NL" sz="1900" dirty="0" err="1" smtClean="0"/>
              <a:t>that</a:t>
            </a:r>
            <a:r>
              <a:rPr lang="nl-NL" sz="1900" dirty="0" smtClean="0"/>
              <a:t> </a:t>
            </a:r>
            <a:r>
              <a:rPr lang="nl-NL" sz="1900" dirty="0" err="1" smtClean="0"/>
              <a:t>meaning</a:t>
            </a:r>
            <a:r>
              <a:rPr lang="nl-NL" sz="1900" dirty="0" smtClean="0"/>
              <a:t> is </a:t>
            </a:r>
            <a:r>
              <a:rPr lang="nl-NL" sz="1900" dirty="0" err="1" smtClean="0"/>
              <a:t>Jo’s</a:t>
            </a:r>
            <a:r>
              <a:rPr lang="nl-NL" sz="1900" dirty="0" smtClean="0"/>
              <a:t> </a:t>
            </a:r>
            <a:r>
              <a:rPr lang="nl-NL" sz="1900" dirty="0" err="1" smtClean="0"/>
              <a:t>iPhone</a:t>
            </a:r>
            <a:endParaRPr lang="nl-NL" sz="19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395536" y="3501008"/>
            <a:ext cx="8280920" cy="3166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1900" u="sng" dirty="0" err="1" smtClean="0"/>
              <a:t>Examples</a:t>
            </a:r>
            <a:endParaRPr lang="nl-NL" sz="1900" u="sng" dirty="0" smtClean="0"/>
          </a:p>
        </p:txBody>
      </p:sp>
      <p:sp>
        <p:nvSpPr>
          <p:cNvPr id="17" name="Content Placeholder 2"/>
          <p:cNvSpPr txBox="1">
            <a:spLocks/>
          </p:cNvSpPr>
          <p:nvPr/>
        </p:nvSpPr>
        <p:spPr>
          <a:xfrm>
            <a:off x="720080" y="2348880"/>
            <a:ext cx="8748464" cy="10367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Font typeface="Courier New" panose="02070309020205020404" pitchFamily="49" charset="0"/>
              <a:buChar char="o"/>
            </a:pPr>
            <a:r>
              <a:rPr lang="nl-NL" sz="1900" dirty="0"/>
              <a:t>The </a:t>
            </a:r>
            <a:r>
              <a:rPr lang="nl-NL" sz="1900" dirty="0" err="1"/>
              <a:t>reference</a:t>
            </a:r>
            <a:r>
              <a:rPr lang="nl-NL" sz="1900" dirty="0"/>
              <a:t> set </a:t>
            </a:r>
            <a:r>
              <a:rPr lang="nl-NL" sz="1900" dirty="0" err="1"/>
              <a:t>RefSet</a:t>
            </a:r>
            <a:r>
              <a:rPr lang="nl-NL" sz="1900" dirty="0"/>
              <a:t>(</a:t>
            </a:r>
            <a:r>
              <a:rPr lang="nl-NL" sz="1900" i="1" dirty="0"/>
              <a:t>M</a:t>
            </a:r>
            <a:r>
              <a:rPr lang="nl-NL" sz="1900" dirty="0"/>
              <a:t>) of a </a:t>
            </a:r>
            <a:r>
              <a:rPr lang="nl-NL" sz="1900" dirty="0" err="1"/>
              <a:t>positive</a:t>
            </a:r>
            <a:r>
              <a:rPr lang="nl-NL" sz="1900" dirty="0"/>
              <a:t> </a:t>
            </a:r>
            <a:r>
              <a:rPr lang="nl-NL" sz="1900" dirty="0" err="1"/>
              <a:t>determinate</a:t>
            </a:r>
            <a:r>
              <a:rPr lang="nl-NL" sz="1900" dirty="0"/>
              <a:t> </a:t>
            </a:r>
            <a:r>
              <a:rPr lang="nl-NL" sz="1900" dirty="0" err="1"/>
              <a:t>meaning</a:t>
            </a:r>
            <a:r>
              <a:rPr lang="nl-NL" sz="1900" dirty="0"/>
              <a:t> </a:t>
            </a:r>
            <a:r>
              <a:rPr lang="nl-NL" sz="1900" i="1" dirty="0"/>
              <a:t>M</a:t>
            </a:r>
            <a:r>
              <a:rPr lang="nl-NL" sz="1900" dirty="0"/>
              <a:t>                                       is the </a:t>
            </a:r>
            <a:r>
              <a:rPr lang="nl-NL" sz="1900" dirty="0" err="1"/>
              <a:t>union</a:t>
            </a:r>
            <a:r>
              <a:rPr lang="nl-NL" sz="1900" dirty="0"/>
              <a:t> of the </a:t>
            </a:r>
            <a:r>
              <a:rPr lang="nl-NL" sz="1900" dirty="0" err="1"/>
              <a:t>reference</a:t>
            </a:r>
            <a:r>
              <a:rPr lang="nl-NL" sz="1900" dirty="0"/>
              <a:t> sets of </a:t>
            </a:r>
            <a:r>
              <a:rPr lang="nl-NL" sz="1900" i="1" dirty="0"/>
              <a:t>M</a:t>
            </a:r>
            <a:r>
              <a:rPr lang="nl-NL" sz="1900" dirty="0"/>
              <a:t>’s </a:t>
            </a:r>
            <a:r>
              <a:rPr lang="nl-NL" sz="1900" dirty="0" err="1"/>
              <a:t>meaning</a:t>
            </a:r>
            <a:r>
              <a:rPr lang="nl-NL" sz="1900" dirty="0"/>
              <a:t> </a:t>
            </a:r>
            <a:r>
              <a:rPr lang="nl-NL" sz="1900" dirty="0" err="1"/>
              <a:t>elements</a:t>
            </a:r>
            <a:endParaRPr lang="nl-NL" sz="1900" dirty="0" smtClean="0"/>
          </a:p>
        </p:txBody>
      </p:sp>
    </p:spTree>
    <p:extLst>
      <p:ext uri="{BB962C8B-B14F-4D97-AF65-F5344CB8AC3E}">
        <p14:creationId xmlns:p14="http://schemas.microsoft.com/office/powerpoint/2010/main" val="2910308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6" grpId="0"/>
      <p:bldP spid="6" grpId="0"/>
      <p:bldP spid="3" grpId="0"/>
      <p:bldP spid="12" grpId="0"/>
      <p:bldP spid="14" grpId="0"/>
      <p:bldP spid="15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200" dirty="0" smtClean="0"/>
              <a:t>A </a:t>
            </a:r>
            <a:r>
              <a:rPr lang="nl-NL" sz="3200" dirty="0" err="1" smtClean="0"/>
              <a:t>theory</a:t>
            </a:r>
            <a:r>
              <a:rPr lang="nl-NL" sz="3200" dirty="0" smtClean="0"/>
              <a:t> of </a:t>
            </a:r>
            <a:r>
              <a:rPr lang="nl-NL" sz="3200" dirty="0" err="1" smtClean="0"/>
              <a:t>meaning</a:t>
            </a:r>
            <a:r>
              <a:rPr lang="nl-NL" sz="3200" dirty="0" smtClean="0"/>
              <a:t> (</a:t>
            </a:r>
            <a:r>
              <a:rPr lang="nl-NL" sz="3200" dirty="0" err="1" smtClean="0"/>
              <a:t>cont</a:t>
            </a:r>
            <a:r>
              <a:rPr lang="nl-NL" sz="3200" dirty="0" smtClean="0"/>
              <a:t>.)</a:t>
            </a:r>
            <a:endParaRPr lang="nl-NL" sz="3200" dirty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395536" y="1312168"/>
            <a:ext cx="8748464" cy="6766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1900" dirty="0" err="1"/>
              <a:t>Although</a:t>
            </a:r>
            <a:r>
              <a:rPr lang="nl-NL" sz="1900" dirty="0"/>
              <a:t> </a:t>
            </a:r>
            <a:r>
              <a:rPr lang="nl-NL" sz="1900" dirty="0" err="1"/>
              <a:t>meaning</a:t>
            </a:r>
            <a:r>
              <a:rPr lang="nl-NL" sz="1900" dirty="0"/>
              <a:t> and </a:t>
            </a:r>
            <a:r>
              <a:rPr lang="nl-NL" sz="1900" dirty="0" err="1"/>
              <a:t>reference</a:t>
            </a:r>
            <a:r>
              <a:rPr lang="nl-NL" sz="1900" dirty="0"/>
              <a:t> </a:t>
            </a:r>
            <a:r>
              <a:rPr lang="nl-NL" sz="1900" dirty="0" err="1" smtClean="0"/>
              <a:t>surely</a:t>
            </a:r>
            <a:r>
              <a:rPr lang="nl-NL" sz="1900" dirty="0" smtClean="0"/>
              <a:t> do </a:t>
            </a:r>
            <a:r>
              <a:rPr lang="nl-NL" sz="1900" dirty="0" err="1"/>
              <a:t>not</a:t>
            </a:r>
            <a:r>
              <a:rPr lang="nl-NL" sz="1900" dirty="0"/>
              <a:t> </a:t>
            </a:r>
            <a:r>
              <a:rPr lang="nl-NL" sz="1900" dirty="0" err="1" smtClean="0"/>
              <a:t>coincide</a:t>
            </a:r>
            <a:r>
              <a:rPr lang="nl-NL" sz="1900" dirty="0"/>
              <a:t>, </a:t>
            </a:r>
            <a:r>
              <a:rPr lang="nl-NL" sz="1900" dirty="0" err="1" smtClean="0"/>
              <a:t>meaning</a:t>
            </a:r>
            <a:r>
              <a:rPr lang="nl-NL" sz="1900" dirty="0" smtClean="0"/>
              <a:t> </a:t>
            </a:r>
            <a:r>
              <a:rPr lang="nl-NL" sz="1900" dirty="0" err="1"/>
              <a:t>and</a:t>
            </a:r>
            <a:r>
              <a:rPr lang="nl-NL" sz="1900" dirty="0"/>
              <a:t> </a:t>
            </a:r>
            <a:r>
              <a:rPr lang="nl-NL" sz="1900" dirty="0" err="1" smtClean="0"/>
              <a:t>reference</a:t>
            </a:r>
            <a:r>
              <a:rPr lang="nl-NL" sz="1900" dirty="0" smtClean="0"/>
              <a:t>         are </a:t>
            </a:r>
            <a:r>
              <a:rPr lang="nl-NL" sz="1900" dirty="0" err="1" smtClean="0"/>
              <a:t>plausibly</a:t>
            </a:r>
            <a:r>
              <a:rPr lang="nl-NL" sz="1900" dirty="0" smtClean="0"/>
              <a:t> </a:t>
            </a:r>
            <a:r>
              <a:rPr lang="nl-NL" sz="1900" dirty="0" err="1" smtClean="0"/>
              <a:t>closely</a:t>
            </a:r>
            <a:r>
              <a:rPr lang="nl-NL" sz="1900" dirty="0" smtClean="0"/>
              <a:t> </a:t>
            </a:r>
            <a:r>
              <a:rPr lang="nl-NL" sz="1900" dirty="0" err="1" smtClean="0"/>
              <a:t>related</a:t>
            </a:r>
            <a:r>
              <a:rPr lang="nl-NL" sz="1900" dirty="0" smtClean="0"/>
              <a:t>. For, the </a:t>
            </a:r>
            <a:r>
              <a:rPr lang="nl-NL" sz="1900" dirty="0" err="1" smtClean="0"/>
              <a:t>things</a:t>
            </a:r>
            <a:r>
              <a:rPr lang="nl-NL" sz="1900" dirty="0" smtClean="0"/>
              <a:t> ‘out </a:t>
            </a:r>
            <a:r>
              <a:rPr lang="nl-NL" sz="1900" dirty="0" err="1" smtClean="0"/>
              <a:t>there</a:t>
            </a:r>
            <a:r>
              <a:rPr lang="nl-NL" sz="1900" dirty="0" smtClean="0"/>
              <a:t>’ is </a:t>
            </a:r>
            <a:r>
              <a:rPr lang="nl-NL" sz="1900" dirty="0" err="1" smtClean="0"/>
              <a:t>what</a:t>
            </a:r>
            <a:r>
              <a:rPr lang="nl-NL" sz="1900" dirty="0" smtClean="0"/>
              <a:t> </a:t>
            </a:r>
            <a:r>
              <a:rPr lang="nl-NL" sz="1900" dirty="0" err="1" smtClean="0"/>
              <a:t>meaning</a:t>
            </a:r>
            <a:r>
              <a:rPr lang="nl-NL" sz="1900" dirty="0" smtClean="0"/>
              <a:t> is </a:t>
            </a:r>
            <a:r>
              <a:rPr lang="nl-NL" sz="1900" dirty="0" err="1" smtClean="0"/>
              <a:t>all</a:t>
            </a:r>
            <a:r>
              <a:rPr lang="nl-NL" sz="1900" dirty="0" smtClean="0"/>
              <a:t> </a:t>
            </a:r>
            <a:r>
              <a:rPr lang="nl-NL" sz="1900" dirty="0" err="1" smtClean="0"/>
              <a:t>about</a:t>
            </a:r>
            <a:r>
              <a:rPr lang="nl-NL" sz="1900" dirty="0" smtClean="0"/>
              <a:t>    </a:t>
            </a:r>
            <a:endParaRPr lang="nl-NL" sz="1900" dirty="0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395536" y="4725144"/>
            <a:ext cx="8280920" cy="3166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1900" u="sng" dirty="0" err="1" smtClean="0"/>
              <a:t>Example</a:t>
            </a:r>
            <a:r>
              <a:rPr lang="nl-NL" sz="1900" u="sng" dirty="0" smtClean="0"/>
              <a:t> 2</a:t>
            </a:r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395536" y="5157192"/>
            <a:ext cx="8280920" cy="3960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1900" dirty="0" err="1" smtClean="0"/>
              <a:t>Meaning</a:t>
            </a:r>
            <a:r>
              <a:rPr lang="nl-NL" sz="1900" dirty="0" smtClean="0"/>
              <a:t>(</a:t>
            </a:r>
            <a:r>
              <a:rPr lang="nl-NL" sz="1900" i="1" dirty="0" err="1" smtClean="0"/>
              <a:t>morning</a:t>
            </a:r>
            <a:r>
              <a:rPr lang="nl-NL" sz="1900" i="1" dirty="0" smtClean="0"/>
              <a:t> star</a:t>
            </a:r>
            <a:r>
              <a:rPr lang="nl-NL" sz="1900" dirty="0" smtClean="0"/>
              <a:t>)</a:t>
            </a:r>
            <a:r>
              <a:rPr lang="en-IE" sz="1900" dirty="0" smtClean="0"/>
              <a:t> </a:t>
            </a:r>
            <a:r>
              <a:rPr lang="en-IE" sz="1900" dirty="0"/>
              <a:t>≠</a:t>
            </a:r>
            <a:r>
              <a:rPr lang="nl-NL" sz="1900" dirty="0" smtClean="0"/>
              <a:t> </a:t>
            </a:r>
            <a:r>
              <a:rPr lang="nl-NL" sz="1900" dirty="0" err="1" smtClean="0"/>
              <a:t>Meaning</a:t>
            </a:r>
            <a:r>
              <a:rPr lang="nl-NL" sz="1900" dirty="0" smtClean="0"/>
              <a:t>(e</a:t>
            </a:r>
            <a:r>
              <a:rPr lang="nl-NL" sz="1900" i="1" dirty="0" smtClean="0"/>
              <a:t>vening star</a:t>
            </a:r>
            <a:r>
              <a:rPr lang="nl-NL" sz="1900" dirty="0" smtClean="0"/>
              <a:t>)</a:t>
            </a:r>
          </a:p>
        </p:txBody>
      </p:sp>
      <p:sp>
        <p:nvSpPr>
          <p:cNvPr id="17" name="Content Placeholder 2"/>
          <p:cNvSpPr txBox="1">
            <a:spLocks/>
          </p:cNvSpPr>
          <p:nvPr/>
        </p:nvSpPr>
        <p:spPr>
          <a:xfrm>
            <a:off x="395536" y="5517232"/>
            <a:ext cx="8280920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1900" dirty="0" err="1" smtClean="0"/>
              <a:t>RefSet</a:t>
            </a:r>
            <a:r>
              <a:rPr lang="nl-NL" sz="1900" i="1" dirty="0" smtClean="0"/>
              <a:t>(</a:t>
            </a:r>
            <a:r>
              <a:rPr lang="nl-NL" sz="1900" i="1" dirty="0" err="1" smtClean="0"/>
              <a:t>morning</a:t>
            </a:r>
            <a:r>
              <a:rPr lang="nl-NL" sz="1900" i="1" dirty="0" smtClean="0"/>
              <a:t> star)</a:t>
            </a:r>
            <a:r>
              <a:rPr lang="nl-NL" sz="1900" dirty="0" smtClean="0"/>
              <a:t> </a:t>
            </a:r>
            <a:r>
              <a:rPr lang="en-IE" sz="1900" dirty="0" smtClean="0"/>
              <a:t>≠</a:t>
            </a:r>
            <a:r>
              <a:rPr lang="nl-NL" sz="1900" dirty="0"/>
              <a:t> </a:t>
            </a:r>
            <a:r>
              <a:rPr lang="nl-NL" sz="1900" dirty="0" err="1" smtClean="0"/>
              <a:t>RefSet</a:t>
            </a:r>
            <a:r>
              <a:rPr lang="nl-NL" sz="1900" dirty="0" smtClean="0"/>
              <a:t>(</a:t>
            </a:r>
            <a:r>
              <a:rPr lang="nl-NL" sz="1900" i="1" dirty="0" smtClean="0"/>
              <a:t>evening star</a:t>
            </a:r>
            <a:r>
              <a:rPr lang="nl-NL" sz="1900" dirty="0" smtClean="0"/>
              <a:t>)</a:t>
            </a:r>
          </a:p>
        </p:txBody>
      </p:sp>
      <p:sp>
        <p:nvSpPr>
          <p:cNvPr id="18" name="Content Placeholder 2"/>
          <p:cNvSpPr txBox="1">
            <a:spLocks/>
          </p:cNvSpPr>
          <p:nvPr/>
        </p:nvSpPr>
        <p:spPr>
          <a:xfrm>
            <a:off x="395536" y="2924944"/>
            <a:ext cx="8280920" cy="3166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1900" u="sng" dirty="0" err="1" smtClean="0"/>
              <a:t>Example</a:t>
            </a:r>
            <a:r>
              <a:rPr lang="nl-NL" sz="1900" u="sng" dirty="0" smtClean="0"/>
              <a:t> 1</a:t>
            </a:r>
          </a:p>
        </p:txBody>
      </p:sp>
      <p:sp>
        <p:nvSpPr>
          <p:cNvPr id="19" name="Content Placeholder 2"/>
          <p:cNvSpPr txBox="1">
            <a:spLocks/>
          </p:cNvSpPr>
          <p:nvPr/>
        </p:nvSpPr>
        <p:spPr>
          <a:xfrm>
            <a:off x="395536" y="3356992"/>
            <a:ext cx="8280920" cy="3960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1900" dirty="0" err="1"/>
              <a:t>M</a:t>
            </a:r>
            <a:r>
              <a:rPr lang="nl-NL" sz="1900" dirty="0" err="1" smtClean="0"/>
              <a:t>eaning</a:t>
            </a:r>
            <a:r>
              <a:rPr lang="nl-NL" sz="1900" dirty="0" smtClean="0"/>
              <a:t>(</a:t>
            </a:r>
            <a:r>
              <a:rPr lang="nl-NL" sz="1900" i="1" dirty="0" smtClean="0"/>
              <a:t>Obama</a:t>
            </a:r>
            <a:r>
              <a:rPr lang="nl-NL" sz="1900" dirty="0" smtClean="0"/>
              <a:t>)</a:t>
            </a:r>
            <a:r>
              <a:rPr lang="en-IE" sz="1900" dirty="0" smtClean="0"/>
              <a:t> </a:t>
            </a:r>
            <a:r>
              <a:rPr lang="en-IE" sz="1900" dirty="0"/>
              <a:t>≠</a:t>
            </a:r>
            <a:r>
              <a:rPr lang="nl-NL" sz="1900" dirty="0" smtClean="0"/>
              <a:t> </a:t>
            </a:r>
            <a:r>
              <a:rPr lang="nl-NL" sz="1900" dirty="0" err="1" smtClean="0"/>
              <a:t>Meaning</a:t>
            </a:r>
            <a:r>
              <a:rPr lang="nl-NL" sz="1900" dirty="0" smtClean="0"/>
              <a:t>(</a:t>
            </a:r>
            <a:r>
              <a:rPr lang="nl-NL" sz="1900" i="1" dirty="0" smtClean="0"/>
              <a:t>president of the United </a:t>
            </a:r>
            <a:r>
              <a:rPr lang="nl-NL" sz="1900" i="1" dirty="0" err="1" smtClean="0"/>
              <a:t>States</a:t>
            </a:r>
            <a:r>
              <a:rPr lang="nl-NL" sz="1900" dirty="0"/>
              <a:t>)</a:t>
            </a:r>
            <a:endParaRPr lang="nl-NL" sz="1900" dirty="0" smtClean="0"/>
          </a:p>
        </p:txBody>
      </p:sp>
      <p:sp>
        <p:nvSpPr>
          <p:cNvPr id="20" name="Content Placeholder 2"/>
          <p:cNvSpPr txBox="1">
            <a:spLocks/>
          </p:cNvSpPr>
          <p:nvPr/>
        </p:nvSpPr>
        <p:spPr>
          <a:xfrm>
            <a:off x="395536" y="3717032"/>
            <a:ext cx="8280920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1900" dirty="0" err="1" smtClean="0"/>
              <a:t>RefSet</a:t>
            </a:r>
            <a:r>
              <a:rPr lang="nl-NL" sz="1900" dirty="0" smtClean="0"/>
              <a:t>(</a:t>
            </a:r>
            <a:r>
              <a:rPr lang="nl-NL" sz="1900" dirty="0" err="1" smtClean="0"/>
              <a:t>Meaning</a:t>
            </a:r>
            <a:r>
              <a:rPr lang="nl-NL" sz="1900" dirty="0" smtClean="0"/>
              <a:t>(</a:t>
            </a:r>
            <a:r>
              <a:rPr lang="nl-NL" sz="1900" i="1" dirty="0" smtClean="0"/>
              <a:t>Obama</a:t>
            </a:r>
            <a:r>
              <a:rPr lang="nl-NL" sz="1900" dirty="0" smtClean="0"/>
              <a:t>)) </a:t>
            </a:r>
            <a:r>
              <a:rPr lang="en-IE" sz="1900" dirty="0" smtClean="0"/>
              <a:t>≠</a:t>
            </a:r>
            <a:r>
              <a:rPr lang="nl-NL" sz="1900" dirty="0"/>
              <a:t> </a:t>
            </a:r>
            <a:r>
              <a:rPr lang="nl-NL" sz="1900" dirty="0" err="1" smtClean="0"/>
              <a:t>RefSet</a:t>
            </a:r>
            <a:r>
              <a:rPr lang="nl-NL" sz="1900" dirty="0" smtClean="0"/>
              <a:t>(</a:t>
            </a:r>
            <a:r>
              <a:rPr lang="nl-NL" sz="1900" dirty="0" err="1" smtClean="0"/>
              <a:t>Meaning</a:t>
            </a:r>
            <a:r>
              <a:rPr lang="nl-NL" sz="1900" dirty="0" smtClean="0"/>
              <a:t>(</a:t>
            </a:r>
            <a:r>
              <a:rPr lang="nl-NL" sz="1900" i="1" dirty="0" smtClean="0"/>
              <a:t>president of the United </a:t>
            </a:r>
            <a:r>
              <a:rPr lang="nl-NL" sz="1900" i="1" dirty="0" err="1" smtClean="0"/>
              <a:t>States</a:t>
            </a:r>
            <a:r>
              <a:rPr lang="nl-NL" sz="1900" dirty="0" smtClean="0"/>
              <a:t>))</a:t>
            </a:r>
          </a:p>
        </p:txBody>
      </p:sp>
      <p:sp>
        <p:nvSpPr>
          <p:cNvPr id="21" name="Content Placeholder 2"/>
          <p:cNvSpPr txBox="1">
            <a:spLocks/>
          </p:cNvSpPr>
          <p:nvPr/>
        </p:nvSpPr>
        <p:spPr>
          <a:xfrm>
            <a:off x="395536" y="4077072"/>
            <a:ext cx="8280920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1900" dirty="0" err="1" smtClean="0"/>
              <a:t>RefSet</a:t>
            </a:r>
            <a:r>
              <a:rPr lang="nl-NL" sz="1900" dirty="0" smtClean="0"/>
              <a:t>(</a:t>
            </a:r>
            <a:r>
              <a:rPr lang="nl-NL" sz="1900" i="1" dirty="0" smtClean="0"/>
              <a:t>Obama</a:t>
            </a:r>
            <a:r>
              <a:rPr lang="nl-NL" sz="1900" dirty="0" smtClean="0"/>
              <a:t>) </a:t>
            </a:r>
            <a:r>
              <a:rPr lang="en-IE" sz="1900" dirty="0" smtClean="0"/>
              <a:t>≠</a:t>
            </a:r>
            <a:r>
              <a:rPr lang="nl-NL" sz="1900" dirty="0"/>
              <a:t> </a:t>
            </a:r>
            <a:r>
              <a:rPr lang="nl-NL" sz="1900" dirty="0" err="1" smtClean="0"/>
              <a:t>RefSet</a:t>
            </a:r>
            <a:r>
              <a:rPr lang="nl-NL" sz="1900" dirty="0" smtClean="0"/>
              <a:t>(</a:t>
            </a:r>
            <a:r>
              <a:rPr lang="nl-NL" sz="1900" i="1" dirty="0" smtClean="0"/>
              <a:t>president of the United </a:t>
            </a:r>
            <a:r>
              <a:rPr lang="nl-NL" sz="1900" i="1" dirty="0" err="1" smtClean="0"/>
              <a:t>States</a:t>
            </a:r>
            <a:r>
              <a:rPr lang="nl-NL" sz="1900" dirty="0" smtClean="0"/>
              <a:t>)</a:t>
            </a:r>
          </a:p>
        </p:txBody>
      </p:sp>
      <p:sp>
        <p:nvSpPr>
          <p:cNvPr id="3" name="Rectangle 2"/>
          <p:cNvSpPr/>
          <p:nvPr/>
        </p:nvSpPr>
        <p:spPr>
          <a:xfrm>
            <a:off x="417398" y="2396207"/>
            <a:ext cx="8115042" cy="3847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sz="1900" dirty="0"/>
              <a:t>I </a:t>
            </a:r>
            <a:r>
              <a:rPr lang="nl-NL" sz="1900" dirty="0" err="1"/>
              <a:t>posit</a:t>
            </a:r>
            <a:r>
              <a:rPr lang="nl-NL" sz="1900" dirty="0"/>
              <a:t> </a:t>
            </a:r>
            <a:r>
              <a:rPr lang="nl-NL" sz="1900" dirty="0" err="1"/>
              <a:t>this</a:t>
            </a:r>
            <a:r>
              <a:rPr lang="nl-NL" sz="1900" dirty="0"/>
              <a:t> </a:t>
            </a:r>
            <a:r>
              <a:rPr lang="nl-NL" sz="1900" i="1" dirty="0" err="1"/>
              <a:t>theory</a:t>
            </a:r>
            <a:r>
              <a:rPr lang="nl-NL" sz="1900" i="1" dirty="0"/>
              <a:t> of </a:t>
            </a:r>
            <a:r>
              <a:rPr lang="nl-NL" sz="1900" i="1" dirty="0" err="1" smtClean="0"/>
              <a:t>meaning</a:t>
            </a:r>
            <a:r>
              <a:rPr lang="nl-NL" sz="1900" dirty="0" smtClean="0"/>
              <a:t>:  </a:t>
            </a:r>
            <a:r>
              <a:rPr lang="nl-NL" sz="1900" i="1" dirty="0" smtClean="0"/>
              <a:t>M</a:t>
            </a:r>
            <a:r>
              <a:rPr lang="nl-NL" sz="1900" i="1" baseline="-25000" dirty="0" smtClean="0"/>
              <a:t>1</a:t>
            </a:r>
            <a:r>
              <a:rPr lang="nl-NL" sz="1900" dirty="0" smtClean="0"/>
              <a:t> </a:t>
            </a:r>
            <a:r>
              <a:rPr lang="nl-NL" sz="1900" dirty="0"/>
              <a:t>= </a:t>
            </a:r>
            <a:r>
              <a:rPr lang="nl-NL" sz="1900" i="1" dirty="0"/>
              <a:t>M</a:t>
            </a:r>
            <a:r>
              <a:rPr lang="nl-NL" sz="1900" i="1" baseline="-25000" dirty="0"/>
              <a:t>2</a:t>
            </a:r>
            <a:r>
              <a:rPr lang="nl-NL" sz="1900" dirty="0"/>
              <a:t> </a:t>
            </a:r>
            <a:r>
              <a:rPr lang="nl-NL" sz="1900" dirty="0" err="1" smtClean="0"/>
              <a:t>if</a:t>
            </a:r>
            <a:r>
              <a:rPr lang="nl-NL" sz="1900" dirty="0" smtClean="0"/>
              <a:t> </a:t>
            </a:r>
            <a:r>
              <a:rPr lang="nl-NL" sz="1900" dirty="0" err="1" smtClean="0"/>
              <a:t>and</a:t>
            </a:r>
            <a:r>
              <a:rPr lang="nl-NL" sz="1900" dirty="0" smtClean="0"/>
              <a:t> </a:t>
            </a:r>
            <a:r>
              <a:rPr lang="nl-NL" sz="1900" dirty="0" err="1" smtClean="0"/>
              <a:t>only</a:t>
            </a:r>
            <a:r>
              <a:rPr lang="nl-NL" sz="1900" dirty="0" smtClean="0"/>
              <a:t> </a:t>
            </a:r>
            <a:r>
              <a:rPr lang="nl-NL" sz="1900" dirty="0" err="1" smtClean="0"/>
              <a:t>if</a:t>
            </a:r>
            <a:r>
              <a:rPr lang="nl-NL" sz="1900" dirty="0" smtClean="0"/>
              <a:t> </a:t>
            </a:r>
            <a:r>
              <a:rPr lang="nl-NL" sz="1900" dirty="0" err="1" smtClean="0"/>
              <a:t>RefSet</a:t>
            </a:r>
            <a:r>
              <a:rPr lang="nl-NL" sz="1900" dirty="0" smtClean="0"/>
              <a:t>(</a:t>
            </a:r>
            <a:r>
              <a:rPr lang="nl-NL" sz="1900" i="1" dirty="0" smtClean="0"/>
              <a:t>M</a:t>
            </a:r>
            <a:r>
              <a:rPr lang="nl-NL" sz="1900" i="1" baseline="-25000" dirty="0" smtClean="0"/>
              <a:t>1</a:t>
            </a:r>
            <a:r>
              <a:rPr lang="nl-NL" sz="1900" dirty="0"/>
              <a:t>) = </a:t>
            </a:r>
            <a:r>
              <a:rPr lang="nl-NL" sz="1900" dirty="0" err="1" smtClean="0"/>
              <a:t>RefSet</a:t>
            </a:r>
            <a:r>
              <a:rPr lang="nl-NL" sz="1900" dirty="0" smtClean="0"/>
              <a:t>(</a:t>
            </a:r>
            <a:r>
              <a:rPr lang="nl-NL" sz="1900" i="1" dirty="0" smtClean="0"/>
              <a:t>M</a:t>
            </a:r>
            <a:r>
              <a:rPr lang="nl-NL" sz="1900" i="1" baseline="-25000" dirty="0" smtClean="0"/>
              <a:t>2</a:t>
            </a:r>
            <a:r>
              <a:rPr lang="nl-NL" sz="1900" dirty="0"/>
              <a:t>) </a:t>
            </a:r>
            <a:endParaRPr lang="en-IE" sz="1900" dirty="0"/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395536" y="2013521"/>
            <a:ext cx="8748464" cy="4073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1900" dirty="0" err="1" smtClean="0"/>
              <a:t>So</a:t>
            </a:r>
            <a:r>
              <a:rPr lang="nl-NL" sz="1900" dirty="0" smtClean="0"/>
              <a:t>, </a:t>
            </a:r>
            <a:r>
              <a:rPr lang="nl-NL" sz="1900" dirty="0" err="1" smtClean="0"/>
              <a:t>meanings</a:t>
            </a:r>
            <a:r>
              <a:rPr lang="nl-NL" sz="1900" dirty="0" smtClean="0"/>
              <a:t> are </a:t>
            </a:r>
            <a:r>
              <a:rPr lang="nl-NL" sz="1900" dirty="0" err="1" smtClean="0"/>
              <a:t>devices</a:t>
            </a:r>
            <a:r>
              <a:rPr lang="nl-NL" sz="1900" dirty="0" smtClean="0"/>
              <a:t> </a:t>
            </a:r>
            <a:r>
              <a:rPr lang="nl-NL" sz="1900" dirty="0" err="1" smtClean="0"/>
              <a:t>for</a:t>
            </a:r>
            <a:r>
              <a:rPr lang="nl-NL" sz="1900" dirty="0" smtClean="0"/>
              <a:t> </a:t>
            </a:r>
            <a:r>
              <a:rPr lang="nl-NL" sz="1900" dirty="0" err="1" smtClean="0"/>
              <a:t>referring</a:t>
            </a:r>
            <a:r>
              <a:rPr lang="nl-NL" sz="1900" dirty="0" smtClean="0"/>
              <a:t> – and </a:t>
            </a:r>
            <a:r>
              <a:rPr lang="nl-NL" sz="1900" dirty="0" err="1" smtClean="0"/>
              <a:t>thus</a:t>
            </a:r>
            <a:r>
              <a:rPr lang="nl-NL" sz="1900" dirty="0" smtClean="0"/>
              <a:t> </a:t>
            </a:r>
            <a:r>
              <a:rPr lang="nl-NL" sz="1900" dirty="0" err="1" smtClean="0"/>
              <a:t>analysable</a:t>
            </a:r>
            <a:r>
              <a:rPr lang="nl-NL" sz="1900" dirty="0" smtClean="0"/>
              <a:t> in </a:t>
            </a:r>
            <a:r>
              <a:rPr lang="nl-NL" sz="1900" dirty="0" err="1" smtClean="0"/>
              <a:t>terms</a:t>
            </a:r>
            <a:r>
              <a:rPr lang="nl-NL" sz="1900" dirty="0" smtClean="0"/>
              <a:t> of </a:t>
            </a:r>
            <a:r>
              <a:rPr lang="nl-NL" sz="1900" dirty="0" err="1" smtClean="0"/>
              <a:t>reference</a:t>
            </a:r>
            <a:r>
              <a:rPr lang="nl-NL" sz="1900" dirty="0" smtClean="0"/>
              <a:t> </a:t>
            </a:r>
            <a:endParaRPr lang="nl-NL" sz="1900" dirty="0"/>
          </a:p>
        </p:txBody>
      </p:sp>
    </p:spTree>
    <p:extLst>
      <p:ext uri="{BB962C8B-B14F-4D97-AF65-F5344CB8AC3E}">
        <p14:creationId xmlns:p14="http://schemas.microsoft.com/office/powerpoint/2010/main" val="2490071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7" grpId="0"/>
      <p:bldP spid="18" grpId="0"/>
      <p:bldP spid="19" grpId="0"/>
      <p:bldP spid="20" grpId="0"/>
      <p:bldP spid="21" grpId="0"/>
      <p:bldP spid="3" grpId="0"/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200" dirty="0" smtClean="0"/>
              <a:t>A </a:t>
            </a:r>
            <a:r>
              <a:rPr lang="nl-NL" sz="3200" dirty="0" err="1" smtClean="0"/>
              <a:t>theory</a:t>
            </a:r>
            <a:r>
              <a:rPr lang="nl-NL" sz="3200" dirty="0" smtClean="0"/>
              <a:t> of </a:t>
            </a:r>
            <a:r>
              <a:rPr lang="nl-NL" sz="3200" dirty="0" err="1" smtClean="0"/>
              <a:t>meaning</a:t>
            </a:r>
            <a:r>
              <a:rPr lang="nl-NL" sz="3200" dirty="0" smtClean="0"/>
              <a:t> (</a:t>
            </a:r>
            <a:r>
              <a:rPr lang="nl-NL" sz="3200" dirty="0" err="1" smtClean="0"/>
              <a:t>cont</a:t>
            </a:r>
            <a:r>
              <a:rPr lang="nl-NL" sz="3200" dirty="0" smtClean="0"/>
              <a:t>.)</a:t>
            </a:r>
            <a:endParaRPr lang="nl-NL" sz="3200" dirty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395536" y="1312168"/>
            <a:ext cx="8748464" cy="6766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1900" dirty="0" err="1"/>
              <a:t>Although</a:t>
            </a:r>
            <a:r>
              <a:rPr lang="nl-NL" sz="1900" dirty="0"/>
              <a:t> </a:t>
            </a:r>
            <a:r>
              <a:rPr lang="nl-NL" sz="1900" dirty="0" err="1"/>
              <a:t>meaning</a:t>
            </a:r>
            <a:r>
              <a:rPr lang="nl-NL" sz="1900" dirty="0"/>
              <a:t> and </a:t>
            </a:r>
            <a:r>
              <a:rPr lang="nl-NL" sz="1900" dirty="0" err="1"/>
              <a:t>reference</a:t>
            </a:r>
            <a:r>
              <a:rPr lang="nl-NL" sz="1900" dirty="0"/>
              <a:t> </a:t>
            </a:r>
            <a:r>
              <a:rPr lang="nl-NL" sz="1900" dirty="0" err="1" smtClean="0"/>
              <a:t>surely</a:t>
            </a:r>
            <a:r>
              <a:rPr lang="nl-NL" sz="1900" dirty="0" smtClean="0"/>
              <a:t> </a:t>
            </a:r>
            <a:r>
              <a:rPr lang="nl-NL" sz="1900" dirty="0" smtClean="0"/>
              <a:t>do </a:t>
            </a:r>
            <a:r>
              <a:rPr lang="nl-NL" sz="1900" dirty="0" err="1" smtClean="0"/>
              <a:t>not</a:t>
            </a:r>
            <a:r>
              <a:rPr lang="nl-NL" sz="1900" dirty="0" smtClean="0"/>
              <a:t> </a:t>
            </a:r>
            <a:r>
              <a:rPr lang="nl-NL" sz="1900" dirty="0" err="1" smtClean="0"/>
              <a:t>coincide</a:t>
            </a:r>
            <a:r>
              <a:rPr lang="nl-NL" sz="1900" dirty="0"/>
              <a:t>, </a:t>
            </a:r>
            <a:r>
              <a:rPr lang="nl-NL" sz="1900" dirty="0" err="1" smtClean="0"/>
              <a:t>meaning</a:t>
            </a:r>
            <a:r>
              <a:rPr lang="nl-NL" sz="1900" dirty="0" smtClean="0"/>
              <a:t> </a:t>
            </a:r>
            <a:r>
              <a:rPr lang="nl-NL" sz="1900" dirty="0" err="1"/>
              <a:t>and</a:t>
            </a:r>
            <a:r>
              <a:rPr lang="nl-NL" sz="1900" dirty="0"/>
              <a:t> </a:t>
            </a:r>
            <a:r>
              <a:rPr lang="nl-NL" sz="1900" dirty="0" err="1" smtClean="0"/>
              <a:t>reference</a:t>
            </a:r>
            <a:r>
              <a:rPr lang="nl-NL" sz="1900" dirty="0" smtClean="0"/>
              <a:t>   are </a:t>
            </a:r>
            <a:r>
              <a:rPr lang="nl-NL" sz="1900" dirty="0" err="1" smtClean="0"/>
              <a:t>plausibly</a:t>
            </a:r>
            <a:r>
              <a:rPr lang="nl-NL" sz="1900" dirty="0" smtClean="0"/>
              <a:t> </a:t>
            </a:r>
            <a:r>
              <a:rPr lang="nl-NL" sz="1900" dirty="0" err="1" smtClean="0"/>
              <a:t>closely</a:t>
            </a:r>
            <a:r>
              <a:rPr lang="nl-NL" sz="1900" dirty="0" smtClean="0"/>
              <a:t> </a:t>
            </a:r>
            <a:r>
              <a:rPr lang="nl-NL" sz="1900" dirty="0" err="1" smtClean="0"/>
              <a:t>related</a:t>
            </a:r>
            <a:r>
              <a:rPr lang="nl-NL" sz="1900" dirty="0"/>
              <a:t>. </a:t>
            </a:r>
            <a:r>
              <a:rPr lang="nl-NL" sz="1900" dirty="0" smtClean="0"/>
              <a:t>For, the </a:t>
            </a:r>
            <a:r>
              <a:rPr lang="nl-NL" sz="1900" dirty="0" err="1"/>
              <a:t>things</a:t>
            </a:r>
            <a:r>
              <a:rPr lang="nl-NL" sz="1900" dirty="0"/>
              <a:t> ‘out </a:t>
            </a:r>
            <a:r>
              <a:rPr lang="nl-NL" sz="1900" dirty="0" err="1"/>
              <a:t>there</a:t>
            </a:r>
            <a:r>
              <a:rPr lang="nl-NL" sz="1900" dirty="0"/>
              <a:t>’ </a:t>
            </a:r>
            <a:r>
              <a:rPr lang="nl-NL" sz="1900" dirty="0" smtClean="0"/>
              <a:t>is </a:t>
            </a:r>
            <a:r>
              <a:rPr lang="nl-NL" sz="1900" dirty="0" err="1" smtClean="0"/>
              <a:t>what</a:t>
            </a:r>
            <a:r>
              <a:rPr lang="nl-NL" sz="1900" dirty="0" smtClean="0"/>
              <a:t> </a:t>
            </a:r>
            <a:r>
              <a:rPr lang="nl-NL" sz="1900" dirty="0" err="1" smtClean="0"/>
              <a:t>meaning</a:t>
            </a:r>
            <a:r>
              <a:rPr lang="nl-NL" sz="1900" dirty="0" smtClean="0"/>
              <a:t> is </a:t>
            </a:r>
            <a:r>
              <a:rPr lang="nl-NL" sz="1900" dirty="0" err="1" smtClean="0"/>
              <a:t>all</a:t>
            </a:r>
            <a:r>
              <a:rPr lang="nl-NL" sz="1900" dirty="0" smtClean="0"/>
              <a:t> </a:t>
            </a:r>
            <a:r>
              <a:rPr lang="nl-NL" sz="1900" dirty="0" err="1" smtClean="0"/>
              <a:t>about</a:t>
            </a:r>
            <a:endParaRPr lang="nl-NL" sz="1900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395536" y="3717032"/>
            <a:ext cx="8280920" cy="3960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1900" dirty="0" err="1" smtClean="0"/>
              <a:t>RefSet</a:t>
            </a:r>
            <a:r>
              <a:rPr lang="nl-NL" sz="1900" dirty="0" smtClean="0"/>
              <a:t>(</a:t>
            </a:r>
            <a:r>
              <a:rPr lang="nl-NL" sz="1900" i="1" dirty="0" smtClean="0"/>
              <a:t>abc</a:t>
            </a:r>
            <a:r>
              <a:rPr lang="nl-NL" sz="1900" dirty="0" smtClean="0"/>
              <a:t>)</a:t>
            </a:r>
            <a:r>
              <a:rPr lang="en-IE" sz="1900" dirty="0" smtClean="0"/>
              <a:t> </a:t>
            </a:r>
            <a:r>
              <a:rPr lang="en-IE" sz="1900" dirty="0"/>
              <a:t>=</a:t>
            </a:r>
            <a:r>
              <a:rPr lang="nl-NL" sz="1900" dirty="0" smtClean="0"/>
              <a:t> </a:t>
            </a:r>
            <a:r>
              <a:rPr lang="nl-NL" sz="1900" dirty="0" err="1" smtClean="0"/>
              <a:t>RefSet</a:t>
            </a:r>
            <a:r>
              <a:rPr lang="nl-NL" sz="1900" dirty="0" smtClean="0"/>
              <a:t>(</a:t>
            </a:r>
            <a:r>
              <a:rPr lang="nl-NL" sz="1900" i="1" dirty="0" err="1" smtClean="0"/>
              <a:t>xyz</a:t>
            </a:r>
            <a:r>
              <a:rPr lang="nl-NL" sz="1900" dirty="0" smtClean="0"/>
              <a:t>)</a:t>
            </a: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395536" y="3356992"/>
            <a:ext cx="8280920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1900" dirty="0" err="1" smtClean="0"/>
              <a:t>Meaning</a:t>
            </a:r>
            <a:r>
              <a:rPr lang="nl-NL" sz="1900" dirty="0" smtClean="0"/>
              <a:t>(</a:t>
            </a:r>
            <a:r>
              <a:rPr lang="nl-NL" sz="1900" i="1" dirty="0" smtClean="0"/>
              <a:t>abc</a:t>
            </a:r>
            <a:r>
              <a:rPr lang="nl-NL" sz="1900" dirty="0" smtClean="0"/>
              <a:t>) = </a:t>
            </a:r>
            <a:r>
              <a:rPr lang="nl-NL" sz="1900" dirty="0" err="1" smtClean="0"/>
              <a:t>Meaning</a:t>
            </a:r>
            <a:r>
              <a:rPr lang="nl-NL" sz="1900" dirty="0" smtClean="0"/>
              <a:t>(</a:t>
            </a:r>
            <a:r>
              <a:rPr lang="nl-NL" sz="1900" i="1" dirty="0" err="1" smtClean="0"/>
              <a:t>xyz</a:t>
            </a:r>
            <a:r>
              <a:rPr lang="nl-NL" sz="1900" dirty="0" smtClean="0"/>
              <a:t>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5536" y="4139788"/>
            <a:ext cx="8424936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900" dirty="0" err="1" smtClean="0"/>
              <a:t>Yet</a:t>
            </a:r>
            <a:r>
              <a:rPr lang="nl-NL" sz="1900" dirty="0" smtClean="0"/>
              <a:t>, “Brigitte </a:t>
            </a:r>
            <a:r>
              <a:rPr lang="nl-NL" sz="1900" dirty="0" err="1" smtClean="0"/>
              <a:t>knows</a:t>
            </a:r>
            <a:r>
              <a:rPr lang="nl-NL" sz="1900" dirty="0" smtClean="0"/>
              <a:t> </a:t>
            </a:r>
            <a:r>
              <a:rPr lang="nl-NL" sz="1900" dirty="0" err="1" smtClean="0"/>
              <a:t>that</a:t>
            </a:r>
            <a:r>
              <a:rPr lang="nl-NL" sz="1900" dirty="0" smtClean="0"/>
              <a:t> </a:t>
            </a:r>
            <a:r>
              <a:rPr lang="nl-NL" sz="1900" dirty="0" err="1" smtClean="0"/>
              <a:t>Jo’s</a:t>
            </a:r>
            <a:r>
              <a:rPr lang="nl-NL" sz="1900" dirty="0" smtClean="0"/>
              <a:t> </a:t>
            </a:r>
            <a:r>
              <a:rPr lang="nl-NL" sz="1900" dirty="0" err="1" smtClean="0"/>
              <a:t>iPhone</a:t>
            </a:r>
            <a:r>
              <a:rPr lang="nl-NL" sz="1900" dirty="0" smtClean="0"/>
              <a:t> is </a:t>
            </a:r>
            <a:r>
              <a:rPr lang="nl-NL" sz="1900" dirty="0" err="1" smtClean="0"/>
              <a:t>called</a:t>
            </a:r>
            <a:r>
              <a:rPr lang="nl-NL" sz="1900" dirty="0" smtClean="0"/>
              <a:t> </a:t>
            </a:r>
            <a:r>
              <a:rPr lang="nl-NL" sz="1900" i="1" dirty="0" smtClean="0"/>
              <a:t>abc</a:t>
            </a:r>
            <a:r>
              <a:rPr lang="nl-NL" sz="1900" dirty="0" smtClean="0"/>
              <a:t>” does </a:t>
            </a:r>
            <a:r>
              <a:rPr lang="nl-NL" sz="1900" dirty="0" err="1" smtClean="0"/>
              <a:t>not</a:t>
            </a:r>
            <a:r>
              <a:rPr lang="nl-NL" sz="1900" dirty="0" smtClean="0"/>
              <a:t> </a:t>
            </a:r>
            <a:r>
              <a:rPr lang="nl-NL" sz="1900" dirty="0" err="1" smtClean="0"/>
              <a:t>entail</a:t>
            </a:r>
            <a:r>
              <a:rPr lang="nl-NL" sz="1900" dirty="0" smtClean="0"/>
              <a:t> “Brigitte </a:t>
            </a:r>
            <a:r>
              <a:rPr lang="nl-NL" sz="1900" dirty="0" err="1" smtClean="0"/>
              <a:t>knows</a:t>
            </a:r>
            <a:r>
              <a:rPr lang="nl-NL" sz="1900" dirty="0" smtClean="0"/>
              <a:t> </a:t>
            </a:r>
            <a:r>
              <a:rPr lang="nl-NL" sz="1900" dirty="0" err="1" smtClean="0"/>
              <a:t>that</a:t>
            </a:r>
            <a:r>
              <a:rPr lang="nl-NL" sz="1900" dirty="0" smtClean="0"/>
              <a:t> </a:t>
            </a:r>
            <a:r>
              <a:rPr lang="nl-NL" sz="1900" dirty="0" err="1" smtClean="0"/>
              <a:t>Jo’s</a:t>
            </a:r>
            <a:r>
              <a:rPr lang="nl-NL" sz="1900" dirty="0" smtClean="0"/>
              <a:t> </a:t>
            </a:r>
            <a:r>
              <a:rPr lang="nl-NL" sz="1900" dirty="0" err="1" smtClean="0"/>
              <a:t>iPhone</a:t>
            </a:r>
            <a:r>
              <a:rPr lang="nl-NL" sz="1900" dirty="0" smtClean="0"/>
              <a:t> is </a:t>
            </a:r>
            <a:r>
              <a:rPr lang="nl-NL" sz="1900" dirty="0" err="1" smtClean="0"/>
              <a:t>called</a:t>
            </a:r>
            <a:r>
              <a:rPr lang="nl-NL" sz="1900" dirty="0" smtClean="0"/>
              <a:t> </a:t>
            </a:r>
            <a:r>
              <a:rPr lang="nl-NL" sz="1900" i="1" dirty="0" err="1" smtClean="0"/>
              <a:t>xyz</a:t>
            </a:r>
            <a:r>
              <a:rPr lang="nl-NL" sz="1900" dirty="0" smtClean="0"/>
              <a:t>”. </a:t>
            </a:r>
            <a:r>
              <a:rPr lang="nl-NL" sz="1900" dirty="0" err="1" smtClean="0"/>
              <a:t>Would</a:t>
            </a:r>
            <a:r>
              <a:rPr lang="nl-NL" sz="1900" dirty="0" smtClean="0"/>
              <a:t> </a:t>
            </a:r>
            <a:r>
              <a:rPr lang="nl-NL" sz="1900" dirty="0" err="1" smtClean="0"/>
              <a:t>that</a:t>
            </a:r>
            <a:r>
              <a:rPr lang="nl-NL" sz="1900" dirty="0" smtClean="0"/>
              <a:t> </a:t>
            </a:r>
            <a:r>
              <a:rPr lang="nl-NL" sz="1900" dirty="0" err="1" smtClean="0"/>
              <a:t>refute</a:t>
            </a:r>
            <a:r>
              <a:rPr lang="nl-NL" sz="1900" dirty="0" smtClean="0"/>
              <a:t> </a:t>
            </a:r>
            <a:r>
              <a:rPr lang="nl-NL" sz="1900" i="1" dirty="0" smtClean="0"/>
              <a:t>abc</a:t>
            </a:r>
            <a:r>
              <a:rPr lang="nl-NL" sz="1900" dirty="0" smtClean="0"/>
              <a:t> </a:t>
            </a:r>
            <a:r>
              <a:rPr lang="nl-NL" sz="1900" dirty="0" err="1" smtClean="0"/>
              <a:t>and</a:t>
            </a:r>
            <a:r>
              <a:rPr lang="nl-NL" sz="1900" dirty="0" smtClean="0"/>
              <a:t> </a:t>
            </a:r>
            <a:r>
              <a:rPr lang="nl-NL" sz="1900" i="1" dirty="0" err="1" smtClean="0"/>
              <a:t>xyz</a:t>
            </a:r>
            <a:r>
              <a:rPr lang="nl-NL" sz="1900" dirty="0" smtClean="0"/>
              <a:t> </a:t>
            </a:r>
            <a:r>
              <a:rPr lang="nl-NL" sz="1900" dirty="0" err="1" smtClean="0"/>
              <a:t>having</a:t>
            </a:r>
            <a:r>
              <a:rPr lang="nl-NL" sz="1900" dirty="0" smtClean="0"/>
              <a:t> the </a:t>
            </a:r>
            <a:r>
              <a:rPr lang="nl-NL" sz="1900" dirty="0" err="1" smtClean="0"/>
              <a:t>same</a:t>
            </a:r>
            <a:r>
              <a:rPr lang="nl-NL" sz="1900" dirty="0" smtClean="0"/>
              <a:t> </a:t>
            </a:r>
            <a:r>
              <a:rPr lang="nl-NL" sz="1900" dirty="0" err="1" smtClean="0"/>
              <a:t>meaning</a:t>
            </a:r>
            <a:r>
              <a:rPr lang="nl-NL" sz="1900" dirty="0" smtClean="0"/>
              <a:t>?</a:t>
            </a:r>
            <a:endParaRPr lang="en-IE" sz="1900" dirty="0"/>
          </a:p>
        </p:txBody>
      </p:sp>
      <p:sp>
        <p:nvSpPr>
          <p:cNvPr id="12" name="TextBox 11"/>
          <p:cNvSpPr txBox="1"/>
          <p:nvPr/>
        </p:nvSpPr>
        <p:spPr>
          <a:xfrm>
            <a:off x="395536" y="5128156"/>
            <a:ext cx="874846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900" dirty="0" smtClean="0"/>
              <a:t>No, </a:t>
            </a:r>
            <a:r>
              <a:rPr lang="nl-NL" sz="1900" i="1" dirty="0" smtClean="0"/>
              <a:t>abc</a:t>
            </a:r>
            <a:r>
              <a:rPr lang="nl-NL" sz="1900" dirty="0" smtClean="0"/>
              <a:t> </a:t>
            </a:r>
            <a:r>
              <a:rPr lang="nl-NL" sz="1900" dirty="0" err="1" smtClean="0"/>
              <a:t>and</a:t>
            </a:r>
            <a:r>
              <a:rPr lang="nl-NL" sz="1900" dirty="0" smtClean="0"/>
              <a:t> </a:t>
            </a:r>
            <a:r>
              <a:rPr lang="nl-NL" sz="1900" i="1" dirty="0" err="1" smtClean="0"/>
              <a:t>xyz</a:t>
            </a:r>
            <a:r>
              <a:rPr lang="nl-NL" sz="1900" dirty="0" smtClean="0"/>
              <a:t> are </a:t>
            </a:r>
            <a:r>
              <a:rPr lang="nl-NL" sz="1900" u="sng" dirty="0" err="1" smtClean="0"/>
              <a:t>mentioned</a:t>
            </a:r>
            <a:r>
              <a:rPr lang="nl-NL" sz="1900" dirty="0" smtClean="0"/>
              <a:t> </a:t>
            </a:r>
            <a:r>
              <a:rPr lang="nl-NL" sz="1900" dirty="0" err="1" smtClean="0"/>
              <a:t>and</a:t>
            </a:r>
            <a:r>
              <a:rPr lang="nl-NL" sz="1900" dirty="0" smtClean="0"/>
              <a:t> </a:t>
            </a:r>
            <a:r>
              <a:rPr lang="nl-NL" sz="1900" dirty="0" err="1" smtClean="0"/>
              <a:t>not</a:t>
            </a:r>
            <a:r>
              <a:rPr lang="nl-NL" sz="1900" dirty="0" smtClean="0"/>
              <a:t> </a:t>
            </a:r>
            <a:r>
              <a:rPr lang="nl-NL" sz="1900" dirty="0" err="1" smtClean="0"/>
              <a:t>used</a:t>
            </a:r>
            <a:r>
              <a:rPr lang="nl-NL" sz="1900" dirty="0" smtClean="0"/>
              <a:t> in these </a:t>
            </a:r>
            <a:r>
              <a:rPr lang="nl-NL" sz="1900" dirty="0" err="1" smtClean="0"/>
              <a:t>sentences</a:t>
            </a:r>
            <a:r>
              <a:rPr lang="nl-NL" sz="1900" dirty="0" smtClean="0"/>
              <a:t> (</a:t>
            </a:r>
            <a:r>
              <a:rPr lang="nl-NL" sz="1900" dirty="0" err="1" smtClean="0"/>
              <a:t>use-mention</a:t>
            </a:r>
            <a:r>
              <a:rPr lang="nl-NL" sz="1900" dirty="0" smtClean="0"/>
              <a:t> </a:t>
            </a:r>
            <a:r>
              <a:rPr lang="nl-NL" sz="1900" dirty="0" err="1" smtClean="0"/>
              <a:t>distinction</a:t>
            </a:r>
            <a:r>
              <a:rPr lang="nl-NL" sz="1900" dirty="0" smtClean="0"/>
              <a:t>) </a:t>
            </a:r>
            <a:endParaRPr lang="en-IE" sz="1900" dirty="0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395536" y="2924944"/>
            <a:ext cx="8280920" cy="3166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1900" u="sng" dirty="0" err="1" smtClean="0"/>
              <a:t>Example</a:t>
            </a:r>
            <a:r>
              <a:rPr lang="nl-NL" sz="1900" u="sng" dirty="0" smtClean="0"/>
              <a:t> 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7398" y="2396207"/>
            <a:ext cx="8115042" cy="3847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sz="1900" dirty="0"/>
              <a:t>I </a:t>
            </a:r>
            <a:r>
              <a:rPr lang="nl-NL" sz="1900" dirty="0" err="1"/>
              <a:t>posit</a:t>
            </a:r>
            <a:r>
              <a:rPr lang="nl-NL" sz="1900" dirty="0"/>
              <a:t> </a:t>
            </a:r>
            <a:r>
              <a:rPr lang="nl-NL" sz="1900" dirty="0" err="1"/>
              <a:t>this</a:t>
            </a:r>
            <a:r>
              <a:rPr lang="nl-NL" sz="1900" dirty="0"/>
              <a:t> </a:t>
            </a:r>
            <a:r>
              <a:rPr lang="nl-NL" sz="1900" i="1" dirty="0" err="1"/>
              <a:t>theory</a:t>
            </a:r>
            <a:r>
              <a:rPr lang="nl-NL" sz="1900" i="1" dirty="0"/>
              <a:t> of </a:t>
            </a:r>
            <a:r>
              <a:rPr lang="nl-NL" sz="1900" i="1" dirty="0" err="1" smtClean="0"/>
              <a:t>meaning</a:t>
            </a:r>
            <a:r>
              <a:rPr lang="nl-NL" sz="1900" dirty="0" smtClean="0"/>
              <a:t>:  </a:t>
            </a:r>
            <a:r>
              <a:rPr lang="nl-NL" sz="1900" i="1" dirty="0" smtClean="0"/>
              <a:t>M</a:t>
            </a:r>
            <a:r>
              <a:rPr lang="nl-NL" sz="1900" i="1" baseline="-25000" dirty="0" smtClean="0"/>
              <a:t>1</a:t>
            </a:r>
            <a:r>
              <a:rPr lang="nl-NL" sz="1900" dirty="0" smtClean="0"/>
              <a:t> </a:t>
            </a:r>
            <a:r>
              <a:rPr lang="nl-NL" sz="1900" dirty="0"/>
              <a:t>= </a:t>
            </a:r>
            <a:r>
              <a:rPr lang="nl-NL" sz="1900" i="1" dirty="0"/>
              <a:t>M</a:t>
            </a:r>
            <a:r>
              <a:rPr lang="nl-NL" sz="1900" i="1" baseline="-25000" dirty="0"/>
              <a:t>2</a:t>
            </a:r>
            <a:r>
              <a:rPr lang="nl-NL" sz="1900" dirty="0"/>
              <a:t> </a:t>
            </a:r>
            <a:r>
              <a:rPr lang="nl-NL" sz="1900" dirty="0" err="1" smtClean="0"/>
              <a:t>if</a:t>
            </a:r>
            <a:r>
              <a:rPr lang="nl-NL" sz="1900" dirty="0" smtClean="0"/>
              <a:t> </a:t>
            </a:r>
            <a:r>
              <a:rPr lang="nl-NL" sz="1900" dirty="0" err="1" smtClean="0"/>
              <a:t>and</a:t>
            </a:r>
            <a:r>
              <a:rPr lang="nl-NL" sz="1900" dirty="0" smtClean="0"/>
              <a:t> </a:t>
            </a:r>
            <a:r>
              <a:rPr lang="nl-NL" sz="1900" dirty="0" err="1" smtClean="0"/>
              <a:t>only</a:t>
            </a:r>
            <a:r>
              <a:rPr lang="nl-NL" sz="1900" dirty="0" smtClean="0"/>
              <a:t> </a:t>
            </a:r>
            <a:r>
              <a:rPr lang="nl-NL" sz="1900" dirty="0" err="1" smtClean="0"/>
              <a:t>if</a:t>
            </a:r>
            <a:r>
              <a:rPr lang="nl-NL" sz="1900" dirty="0" smtClean="0"/>
              <a:t> </a:t>
            </a:r>
            <a:r>
              <a:rPr lang="nl-NL" sz="1900" dirty="0" err="1" smtClean="0"/>
              <a:t>RefSet</a:t>
            </a:r>
            <a:r>
              <a:rPr lang="nl-NL" sz="1900" dirty="0" smtClean="0"/>
              <a:t>(</a:t>
            </a:r>
            <a:r>
              <a:rPr lang="nl-NL" sz="1900" i="1" dirty="0" smtClean="0"/>
              <a:t>M</a:t>
            </a:r>
            <a:r>
              <a:rPr lang="nl-NL" sz="1900" i="1" baseline="-25000" dirty="0" smtClean="0"/>
              <a:t>1</a:t>
            </a:r>
            <a:r>
              <a:rPr lang="nl-NL" sz="1900" dirty="0"/>
              <a:t>) = </a:t>
            </a:r>
            <a:r>
              <a:rPr lang="nl-NL" sz="1900" dirty="0" err="1" smtClean="0"/>
              <a:t>RefSet</a:t>
            </a:r>
            <a:r>
              <a:rPr lang="nl-NL" sz="1900" dirty="0" smtClean="0"/>
              <a:t>(</a:t>
            </a:r>
            <a:r>
              <a:rPr lang="nl-NL" sz="1900" i="1" dirty="0" smtClean="0"/>
              <a:t>M</a:t>
            </a:r>
            <a:r>
              <a:rPr lang="nl-NL" sz="1900" i="1" baseline="-25000" dirty="0" smtClean="0"/>
              <a:t>2</a:t>
            </a:r>
            <a:r>
              <a:rPr lang="nl-NL" sz="1900" dirty="0"/>
              <a:t>) </a:t>
            </a:r>
            <a:endParaRPr lang="en-IE" sz="1900" dirty="0"/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395536" y="2013521"/>
            <a:ext cx="8748464" cy="4073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1900" dirty="0" err="1" smtClean="0"/>
              <a:t>So</a:t>
            </a:r>
            <a:r>
              <a:rPr lang="nl-NL" sz="1900" dirty="0" smtClean="0"/>
              <a:t>, </a:t>
            </a:r>
            <a:r>
              <a:rPr lang="nl-NL" sz="1900" dirty="0" err="1" smtClean="0"/>
              <a:t>meanings</a:t>
            </a:r>
            <a:r>
              <a:rPr lang="nl-NL" sz="1900" dirty="0" smtClean="0"/>
              <a:t> are </a:t>
            </a:r>
            <a:r>
              <a:rPr lang="nl-NL" sz="1900" dirty="0" err="1" smtClean="0"/>
              <a:t>devices</a:t>
            </a:r>
            <a:r>
              <a:rPr lang="nl-NL" sz="1900" dirty="0" smtClean="0"/>
              <a:t> </a:t>
            </a:r>
            <a:r>
              <a:rPr lang="nl-NL" sz="1900" dirty="0" err="1" smtClean="0"/>
              <a:t>for</a:t>
            </a:r>
            <a:r>
              <a:rPr lang="nl-NL" sz="1900" dirty="0" smtClean="0"/>
              <a:t> </a:t>
            </a:r>
            <a:r>
              <a:rPr lang="nl-NL" sz="1900" dirty="0" err="1" smtClean="0"/>
              <a:t>referring</a:t>
            </a:r>
            <a:r>
              <a:rPr lang="nl-NL" sz="1900" dirty="0" smtClean="0"/>
              <a:t> – and </a:t>
            </a:r>
            <a:r>
              <a:rPr lang="nl-NL" sz="1900" dirty="0" err="1" smtClean="0"/>
              <a:t>thus</a:t>
            </a:r>
            <a:r>
              <a:rPr lang="nl-NL" sz="1900" dirty="0" smtClean="0"/>
              <a:t> </a:t>
            </a:r>
            <a:r>
              <a:rPr lang="nl-NL" sz="1900" dirty="0" err="1" smtClean="0"/>
              <a:t>analysable</a:t>
            </a:r>
            <a:r>
              <a:rPr lang="nl-NL" sz="1900" dirty="0" smtClean="0"/>
              <a:t> in </a:t>
            </a:r>
            <a:r>
              <a:rPr lang="nl-NL" sz="1900" dirty="0" err="1" smtClean="0"/>
              <a:t>terms</a:t>
            </a:r>
            <a:r>
              <a:rPr lang="nl-NL" sz="1900" dirty="0" smtClean="0"/>
              <a:t> of </a:t>
            </a:r>
            <a:r>
              <a:rPr lang="nl-NL" sz="1900" dirty="0" err="1" smtClean="0"/>
              <a:t>reference</a:t>
            </a:r>
            <a:endParaRPr lang="nl-NL" sz="1900" dirty="0"/>
          </a:p>
        </p:txBody>
      </p:sp>
    </p:spTree>
    <p:extLst>
      <p:ext uri="{BB962C8B-B14F-4D97-AF65-F5344CB8AC3E}">
        <p14:creationId xmlns:p14="http://schemas.microsoft.com/office/powerpoint/2010/main" val="3820976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3" grpId="0"/>
      <p:bldP spid="3" grpId="0"/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200" dirty="0" smtClean="0"/>
              <a:t>The </a:t>
            </a:r>
            <a:r>
              <a:rPr lang="nl-NL" sz="3200" dirty="0" err="1" smtClean="0"/>
              <a:t>semantic</a:t>
            </a:r>
            <a:r>
              <a:rPr lang="nl-NL" sz="3200" dirty="0" smtClean="0"/>
              <a:t> argument</a:t>
            </a:r>
            <a:endParaRPr lang="nl-NL" sz="3200" dirty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251520" y="1340768"/>
            <a:ext cx="8748464" cy="5183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1900" dirty="0" err="1" smtClean="0"/>
              <a:t>Need</a:t>
            </a:r>
            <a:r>
              <a:rPr lang="nl-NL" sz="1900" dirty="0" smtClean="0"/>
              <a:t> </a:t>
            </a:r>
            <a:r>
              <a:rPr lang="nl-NL" sz="1900" dirty="0" err="1" smtClean="0"/>
              <a:t>to</a:t>
            </a:r>
            <a:r>
              <a:rPr lang="nl-NL" sz="1900" dirty="0" smtClean="0"/>
              <a:t> show </a:t>
            </a:r>
            <a:r>
              <a:rPr lang="nl-NL" sz="1900" dirty="0" err="1" smtClean="0"/>
              <a:t>that</a:t>
            </a:r>
            <a:r>
              <a:rPr lang="nl-NL" sz="1900" dirty="0" smtClean="0"/>
              <a:t> </a:t>
            </a:r>
            <a:r>
              <a:rPr lang="nl-NL" sz="1900" dirty="0" err="1"/>
              <a:t>t</a:t>
            </a:r>
            <a:r>
              <a:rPr lang="nl-NL" sz="1900" dirty="0" err="1" smtClean="0"/>
              <a:t>here</a:t>
            </a:r>
            <a:r>
              <a:rPr lang="nl-NL" sz="1900" dirty="0" smtClean="0"/>
              <a:t> are no </a:t>
            </a:r>
            <a:r>
              <a:rPr lang="nl-NL" sz="1900" dirty="0" err="1" smtClean="0"/>
              <a:t>universally</a:t>
            </a:r>
            <a:r>
              <a:rPr lang="nl-NL" sz="1900" dirty="0" smtClean="0"/>
              <a:t> held real </a:t>
            </a:r>
            <a:r>
              <a:rPr lang="nl-NL" sz="1900" dirty="0" err="1" smtClean="0"/>
              <a:t>properties</a:t>
            </a:r>
            <a:r>
              <a:rPr lang="nl-NL" sz="1900" dirty="0"/>
              <a:t>:</a:t>
            </a:r>
            <a:r>
              <a:rPr lang="nl-NL" sz="1900" dirty="0" smtClean="0"/>
              <a:t> </a:t>
            </a:r>
            <a:r>
              <a:rPr lang="nl-NL" sz="1900" b="1" dirty="0" smtClean="0"/>
              <a:t>∀</a:t>
            </a:r>
            <a:r>
              <a:rPr lang="nl-NL" sz="1900" b="1" dirty="0"/>
              <a:t>P(Real(P) → ∃</a:t>
            </a:r>
            <a:r>
              <a:rPr lang="nl-NL" sz="1900" b="1" dirty="0" err="1"/>
              <a:t>x¬P</a:t>
            </a:r>
            <a:r>
              <a:rPr lang="nl-NL" sz="1900" b="1" dirty="0"/>
              <a:t>(x))</a:t>
            </a:r>
            <a:endParaRPr lang="nl-NL" sz="1900" dirty="0" smtClean="0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251520" y="1916832"/>
            <a:ext cx="8748464" cy="3886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1900" dirty="0" err="1" smtClean="0"/>
              <a:t>Suppose</a:t>
            </a:r>
            <a:r>
              <a:rPr lang="nl-NL" sz="1900" dirty="0" smtClean="0"/>
              <a:t> </a:t>
            </a:r>
            <a:r>
              <a:rPr lang="nl-NL" sz="1900" i="1" dirty="0" err="1" smtClean="0"/>
              <a:t>for</a:t>
            </a:r>
            <a:r>
              <a:rPr lang="nl-NL" sz="1900" i="1" dirty="0" smtClean="0"/>
              <a:t> reductio ad absurdum </a:t>
            </a:r>
            <a:r>
              <a:rPr lang="nl-NL" sz="1900" dirty="0" err="1" smtClean="0"/>
              <a:t>that</a:t>
            </a:r>
            <a:r>
              <a:rPr lang="nl-NL" sz="1900" dirty="0" smtClean="0"/>
              <a:t> </a:t>
            </a:r>
            <a:r>
              <a:rPr lang="nl-NL" sz="1900" dirty="0" err="1" smtClean="0"/>
              <a:t>there</a:t>
            </a:r>
            <a:r>
              <a:rPr lang="nl-NL" sz="1900" dirty="0" smtClean="0"/>
              <a:t> is a real property </a:t>
            </a:r>
            <a:r>
              <a:rPr lang="nl-NL" sz="1900" dirty="0" err="1" smtClean="0"/>
              <a:t>that</a:t>
            </a:r>
            <a:r>
              <a:rPr lang="nl-NL" sz="1900" dirty="0" smtClean="0"/>
              <a:t> is </a:t>
            </a:r>
            <a:r>
              <a:rPr lang="nl-NL" sz="1900" dirty="0" err="1" smtClean="0"/>
              <a:t>universally</a:t>
            </a:r>
            <a:r>
              <a:rPr lang="nl-NL" sz="1900" dirty="0" smtClean="0"/>
              <a:t> held</a:t>
            </a:r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251520" y="5301208"/>
            <a:ext cx="5472608" cy="3600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1900" dirty="0" err="1" smtClean="0"/>
              <a:t>Thus</a:t>
            </a:r>
            <a:r>
              <a:rPr lang="nl-NL" sz="1900" dirty="0" smtClean="0"/>
              <a:t> </a:t>
            </a:r>
            <a:r>
              <a:rPr lang="nl-NL" sz="1900" dirty="0" err="1" smtClean="0"/>
              <a:t>RefSet</a:t>
            </a:r>
            <a:r>
              <a:rPr lang="nl-NL" sz="1900" dirty="0" smtClean="0"/>
              <a:t>(</a:t>
            </a:r>
            <a:r>
              <a:rPr lang="nl-NL" sz="1900" dirty="0" err="1" smtClean="0"/>
              <a:t>Meaning</a:t>
            </a:r>
            <a:r>
              <a:rPr lang="nl-NL" sz="1900" dirty="0" smtClean="0"/>
              <a:t>(</a:t>
            </a:r>
            <a:r>
              <a:rPr lang="nl-NL" sz="1900" i="1" dirty="0" smtClean="0"/>
              <a:t>P</a:t>
            </a:r>
            <a:r>
              <a:rPr lang="nl-NL" sz="1900" dirty="0" smtClean="0"/>
              <a:t>)) = </a:t>
            </a:r>
            <a:r>
              <a:rPr lang="nl-NL" sz="1900" dirty="0" err="1" smtClean="0"/>
              <a:t>RefSet</a:t>
            </a:r>
            <a:r>
              <a:rPr lang="nl-NL" sz="1900" dirty="0" smtClean="0"/>
              <a:t>(</a:t>
            </a:r>
            <a:r>
              <a:rPr lang="nl-NL" sz="1900" dirty="0" err="1" smtClean="0"/>
              <a:t>Meaning</a:t>
            </a:r>
            <a:r>
              <a:rPr lang="nl-NL" sz="1900" dirty="0" smtClean="0"/>
              <a:t>(</a:t>
            </a:r>
            <a:r>
              <a:rPr lang="nl-NL" sz="1900" i="1" dirty="0" err="1" smtClean="0"/>
              <a:t>being</a:t>
            </a:r>
            <a:r>
              <a:rPr lang="nl-NL" sz="1900" dirty="0" smtClean="0"/>
              <a:t>)) </a:t>
            </a:r>
            <a:endParaRPr lang="nl-NL" sz="1900" dirty="0"/>
          </a:p>
        </p:txBody>
      </p:sp>
      <p:sp>
        <p:nvSpPr>
          <p:cNvPr id="19" name="Content Placeholder 2"/>
          <p:cNvSpPr txBox="1">
            <a:spLocks/>
          </p:cNvSpPr>
          <p:nvPr/>
        </p:nvSpPr>
        <p:spPr>
          <a:xfrm>
            <a:off x="251520" y="2536304"/>
            <a:ext cx="8748464" cy="3886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1900" dirty="0" err="1" smtClean="0"/>
              <a:t>That</a:t>
            </a:r>
            <a:r>
              <a:rPr lang="nl-NL" sz="1900" dirty="0" smtClean="0"/>
              <a:t> property is </a:t>
            </a:r>
            <a:r>
              <a:rPr lang="nl-NL" sz="1900" dirty="0" err="1" smtClean="0"/>
              <a:t>either</a:t>
            </a:r>
            <a:r>
              <a:rPr lang="nl-NL" sz="1900" dirty="0" smtClean="0"/>
              <a:t> complex or </a:t>
            </a:r>
            <a:r>
              <a:rPr lang="nl-NL" sz="1900" dirty="0" err="1" smtClean="0"/>
              <a:t>simple</a:t>
            </a:r>
            <a:r>
              <a:rPr lang="nl-NL" sz="1900" dirty="0"/>
              <a:t> </a:t>
            </a:r>
            <a:r>
              <a:rPr lang="nl-NL" sz="1900" dirty="0" smtClean="0"/>
              <a:t>(e.g., </a:t>
            </a:r>
            <a:r>
              <a:rPr lang="nl-NL" sz="1900" i="1" dirty="0" smtClean="0"/>
              <a:t>red</a:t>
            </a:r>
            <a:r>
              <a:rPr lang="nl-NL" sz="1900" dirty="0" smtClean="0"/>
              <a:t> is </a:t>
            </a:r>
            <a:r>
              <a:rPr lang="nl-NL" sz="1900" dirty="0" err="1" smtClean="0"/>
              <a:t>simple</a:t>
            </a:r>
            <a:r>
              <a:rPr lang="nl-NL" sz="1900" dirty="0"/>
              <a:t> </a:t>
            </a:r>
            <a:r>
              <a:rPr lang="nl-NL" sz="1900" dirty="0" err="1" smtClean="0"/>
              <a:t>and</a:t>
            </a:r>
            <a:r>
              <a:rPr lang="nl-NL" sz="1900" dirty="0" smtClean="0"/>
              <a:t> </a:t>
            </a:r>
            <a:r>
              <a:rPr lang="nl-NL" sz="1900" i="1" dirty="0" err="1" smtClean="0"/>
              <a:t>unicorn</a:t>
            </a:r>
            <a:r>
              <a:rPr lang="nl-NL" sz="1900" dirty="0" smtClean="0"/>
              <a:t> is complex) </a:t>
            </a:r>
          </a:p>
        </p:txBody>
      </p:sp>
      <p:sp>
        <p:nvSpPr>
          <p:cNvPr id="20" name="Content Placeholder 2"/>
          <p:cNvSpPr txBox="1">
            <a:spLocks/>
          </p:cNvSpPr>
          <p:nvPr/>
        </p:nvSpPr>
        <p:spPr>
          <a:xfrm>
            <a:off x="251520" y="3140968"/>
            <a:ext cx="8748464" cy="3886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1900" dirty="0" err="1" smtClean="0"/>
              <a:t>If</a:t>
            </a:r>
            <a:r>
              <a:rPr lang="nl-NL" sz="1900" dirty="0" smtClean="0"/>
              <a:t> </a:t>
            </a:r>
            <a:r>
              <a:rPr lang="nl-NL" sz="1900" dirty="0" err="1" smtClean="0"/>
              <a:t>it</a:t>
            </a:r>
            <a:r>
              <a:rPr lang="nl-NL" sz="1900" dirty="0" smtClean="0"/>
              <a:t> is </a:t>
            </a:r>
            <a:r>
              <a:rPr lang="nl-NL" sz="1900" dirty="0" err="1" smtClean="0"/>
              <a:t>simple</a:t>
            </a:r>
            <a:r>
              <a:rPr lang="nl-NL" sz="1900" dirty="0" smtClean="0"/>
              <a:t> call </a:t>
            </a:r>
            <a:r>
              <a:rPr lang="nl-NL" sz="1900" dirty="0" err="1" smtClean="0"/>
              <a:t>it</a:t>
            </a:r>
            <a:r>
              <a:rPr lang="nl-NL" sz="1900" dirty="0" smtClean="0"/>
              <a:t> </a:t>
            </a:r>
            <a:r>
              <a:rPr lang="nl-NL" sz="1900" i="1" dirty="0" smtClean="0"/>
              <a:t>P</a:t>
            </a:r>
            <a:r>
              <a:rPr lang="nl-NL" sz="1900" dirty="0" smtClean="0"/>
              <a:t>. </a:t>
            </a:r>
            <a:r>
              <a:rPr lang="nl-NL" sz="1900" dirty="0" err="1" smtClean="0"/>
              <a:t>If</a:t>
            </a:r>
            <a:r>
              <a:rPr lang="nl-NL" sz="1900" dirty="0" smtClean="0"/>
              <a:t> </a:t>
            </a:r>
            <a:r>
              <a:rPr lang="nl-NL" sz="1900" dirty="0" err="1" smtClean="0"/>
              <a:t>it</a:t>
            </a:r>
            <a:r>
              <a:rPr lang="nl-NL" sz="1900" dirty="0" smtClean="0"/>
              <a:t> is complex, </a:t>
            </a:r>
            <a:r>
              <a:rPr lang="nl-NL" sz="1900" dirty="0" err="1" smtClean="0"/>
              <a:t>it</a:t>
            </a:r>
            <a:r>
              <a:rPr lang="nl-NL" sz="1900" dirty="0" smtClean="0"/>
              <a:t> has a </a:t>
            </a:r>
            <a:r>
              <a:rPr lang="nl-NL" sz="1900" dirty="0" err="1" smtClean="0"/>
              <a:t>simple</a:t>
            </a:r>
            <a:r>
              <a:rPr lang="nl-NL" sz="1900" dirty="0" smtClean="0"/>
              <a:t> property as constituent. Call </a:t>
            </a:r>
            <a:r>
              <a:rPr lang="nl-NL" sz="1900" dirty="0" err="1" smtClean="0"/>
              <a:t>that</a:t>
            </a:r>
            <a:r>
              <a:rPr lang="nl-NL" sz="1900" dirty="0" smtClean="0"/>
              <a:t> </a:t>
            </a:r>
            <a:r>
              <a:rPr lang="nl-NL" sz="1900" i="1" dirty="0" smtClean="0"/>
              <a:t>P</a:t>
            </a:r>
          </a:p>
        </p:txBody>
      </p:sp>
      <p:sp>
        <p:nvSpPr>
          <p:cNvPr id="21" name="Content Placeholder 2"/>
          <p:cNvSpPr txBox="1">
            <a:spLocks/>
          </p:cNvSpPr>
          <p:nvPr/>
        </p:nvSpPr>
        <p:spPr>
          <a:xfrm>
            <a:off x="251520" y="3717032"/>
            <a:ext cx="8748464" cy="3886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1900" dirty="0" smtClean="0"/>
              <a:t>It </a:t>
            </a:r>
            <a:r>
              <a:rPr lang="nl-NL" sz="1900" dirty="0" err="1" smtClean="0"/>
              <a:t>follows</a:t>
            </a:r>
            <a:r>
              <a:rPr lang="nl-NL" sz="1900" dirty="0" smtClean="0"/>
              <a:t> </a:t>
            </a:r>
            <a:r>
              <a:rPr lang="nl-NL" sz="1900" dirty="0" err="1" smtClean="0"/>
              <a:t>that</a:t>
            </a:r>
            <a:r>
              <a:rPr lang="nl-NL" sz="1900" dirty="0" smtClean="0"/>
              <a:t> </a:t>
            </a:r>
            <a:r>
              <a:rPr lang="nl-NL" sz="1900" i="1" dirty="0" smtClean="0"/>
              <a:t>P</a:t>
            </a:r>
            <a:r>
              <a:rPr lang="nl-NL" sz="1900" dirty="0" smtClean="0"/>
              <a:t> is a </a:t>
            </a:r>
            <a:r>
              <a:rPr lang="nl-NL" sz="1900" dirty="0" err="1" smtClean="0"/>
              <a:t>simple</a:t>
            </a:r>
            <a:r>
              <a:rPr lang="nl-NL" sz="1900" dirty="0" smtClean="0"/>
              <a:t> </a:t>
            </a:r>
            <a:r>
              <a:rPr lang="nl-NL" sz="1900" dirty="0" err="1" smtClean="0"/>
              <a:t>universally</a:t>
            </a:r>
            <a:r>
              <a:rPr lang="nl-NL" sz="1900" dirty="0" smtClean="0"/>
              <a:t> held real property </a:t>
            </a: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251520" y="5805264"/>
            <a:ext cx="8748464" cy="3600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1900" dirty="0" smtClean="0"/>
              <a:t>But </a:t>
            </a:r>
            <a:r>
              <a:rPr lang="nl-NL" sz="1900" dirty="0" err="1" smtClean="0"/>
              <a:t>then</a:t>
            </a:r>
            <a:r>
              <a:rPr lang="nl-NL" sz="1900" dirty="0" smtClean="0"/>
              <a:t>, </a:t>
            </a:r>
            <a:r>
              <a:rPr lang="nl-NL" sz="1900" dirty="0" err="1" smtClean="0"/>
              <a:t>Meaning</a:t>
            </a:r>
            <a:r>
              <a:rPr lang="nl-NL" sz="1900" dirty="0" smtClean="0"/>
              <a:t>(</a:t>
            </a:r>
            <a:r>
              <a:rPr lang="nl-NL" sz="1900" i="1" dirty="0" smtClean="0"/>
              <a:t>P</a:t>
            </a:r>
            <a:r>
              <a:rPr lang="nl-NL" sz="1900" dirty="0" smtClean="0"/>
              <a:t>) </a:t>
            </a:r>
            <a:r>
              <a:rPr lang="nl-NL" sz="1900" dirty="0"/>
              <a:t>= </a:t>
            </a:r>
            <a:r>
              <a:rPr lang="nl-NL" sz="1900" dirty="0" err="1" smtClean="0"/>
              <a:t>Meaning</a:t>
            </a:r>
            <a:r>
              <a:rPr lang="nl-NL" sz="1900" dirty="0" smtClean="0"/>
              <a:t>(</a:t>
            </a:r>
            <a:r>
              <a:rPr lang="nl-NL" sz="1900" i="1" dirty="0" err="1" smtClean="0"/>
              <a:t>being</a:t>
            </a:r>
            <a:r>
              <a:rPr lang="nl-NL" sz="1900" dirty="0" smtClean="0"/>
              <a:t>)</a:t>
            </a:r>
            <a:endParaRPr lang="nl-NL" sz="1900" dirty="0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251520" y="4221088"/>
            <a:ext cx="8748464" cy="3886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1900" dirty="0" err="1" smtClean="0"/>
              <a:t>Since</a:t>
            </a:r>
            <a:r>
              <a:rPr lang="nl-NL" sz="1900" dirty="0" smtClean="0"/>
              <a:t> </a:t>
            </a:r>
            <a:r>
              <a:rPr lang="nl-NL" sz="1900" i="1" dirty="0" smtClean="0"/>
              <a:t>P</a:t>
            </a:r>
            <a:r>
              <a:rPr lang="nl-NL" sz="1900" dirty="0" smtClean="0"/>
              <a:t> is </a:t>
            </a:r>
            <a:r>
              <a:rPr lang="nl-NL" sz="1900" dirty="0" err="1" smtClean="0"/>
              <a:t>simple</a:t>
            </a:r>
            <a:r>
              <a:rPr lang="nl-NL" sz="1900" dirty="0" smtClean="0"/>
              <a:t>, </a:t>
            </a:r>
            <a:r>
              <a:rPr lang="nl-NL" sz="1900" dirty="0" err="1" smtClean="0"/>
              <a:t>RefSet</a:t>
            </a:r>
            <a:r>
              <a:rPr lang="nl-NL" sz="1900" dirty="0" smtClean="0"/>
              <a:t>(</a:t>
            </a:r>
            <a:r>
              <a:rPr lang="nl-NL" sz="1900" dirty="0" err="1" smtClean="0"/>
              <a:t>Meaning</a:t>
            </a:r>
            <a:r>
              <a:rPr lang="nl-NL" sz="1900" dirty="0" smtClean="0"/>
              <a:t>(</a:t>
            </a:r>
            <a:r>
              <a:rPr lang="nl-NL" sz="1900" i="1" dirty="0" smtClean="0"/>
              <a:t>P</a:t>
            </a:r>
            <a:r>
              <a:rPr lang="nl-NL" sz="1900" dirty="0" smtClean="0"/>
              <a:t>)) is the set of </a:t>
            </a:r>
            <a:r>
              <a:rPr lang="nl-NL" sz="1900" dirty="0" err="1" smtClean="0"/>
              <a:t>all</a:t>
            </a:r>
            <a:r>
              <a:rPr lang="nl-NL" sz="1900" dirty="0" smtClean="0"/>
              <a:t> </a:t>
            </a:r>
            <a:r>
              <a:rPr lang="nl-NL" sz="1900" i="1" dirty="0" smtClean="0"/>
              <a:t>P</a:t>
            </a:r>
            <a:r>
              <a:rPr lang="nl-NL" sz="1900" dirty="0" smtClean="0"/>
              <a:t>’s </a:t>
            </a: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251520" y="4768552"/>
            <a:ext cx="8748464" cy="3886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1900" dirty="0" err="1" smtClean="0"/>
              <a:t>Since</a:t>
            </a:r>
            <a:r>
              <a:rPr lang="nl-NL" sz="1900" dirty="0" smtClean="0"/>
              <a:t> </a:t>
            </a:r>
            <a:r>
              <a:rPr lang="nl-NL" sz="1900" i="1" dirty="0" smtClean="0"/>
              <a:t>P</a:t>
            </a:r>
            <a:r>
              <a:rPr lang="nl-NL" sz="1900" dirty="0" smtClean="0"/>
              <a:t> is </a:t>
            </a:r>
            <a:r>
              <a:rPr lang="nl-NL" sz="1900" dirty="0" err="1" smtClean="0"/>
              <a:t>universally</a:t>
            </a:r>
            <a:r>
              <a:rPr lang="nl-NL" sz="1900" dirty="0" smtClean="0"/>
              <a:t> held, </a:t>
            </a:r>
            <a:r>
              <a:rPr lang="nl-NL" sz="1900" dirty="0" err="1" smtClean="0"/>
              <a:t>every</a:t>
            </a:r>
            <a:r>
              <a:rPr lang="nl-NL" sz="1900" dirty="0" smtClean="0"/>
              <a:t> </a:t>
            </a:r>
            <a:r>
              <a:rPr lang="nl-NL" sz="1900" dirty="0" err="1" smtClean="0"/>
              <a:t>being</a:t>
            </a:r>
            <a:r>
              <a:rPr lang="nl-NL" sz="1900" dirty="0" smtClean="0"/>
              <a:t> is </a:t>
            </a:r>
            <a:r>
              <a:rPr lang="nl-NL" sz="1900" i="1" dirty="0" smtClean="0"/>
              <a:t>P</a:t>
            </a:r>
            <a:r>
              <a:rPr lang="nl-NL" sz="1900" dirty="0" smtClean="0"/>
              <a:t>. </a:t>
            </a:r>
            <a:r>
              <a:rPr lang="nl-NL" sz="1900" dirty="0" err="1" smtClean="0"/>
              <a:t>Hence</a:t>
            </a:r>
            <a:r>
              <a:rPr lang="nl-NL" sz="1900" dirty="0" smtClean="0"/>
              <a:t>, </a:t>
            </a:r>
            <a:r>
              <a:rPr lang="nl-NL" sz="1900" dirty="0" err="1" smtClean="0"/>
              <a:t>RefSet</a:t>
            </a:r>
            <a:r>
              <a:rPr lang="nl-NL" sz="1900" dirty="0" smtClean="0"/>
              <a:t>(</a:t>
            </a:r>
            <a:r>
              <a:rPr lang="nl-NL" sz="1900" dirty="0" err="1" smtClean="0"/>
              <a:t>Meaning</a:t>
            </a:r>
            <a:r>
              <a:rPr lang="nl-NL" sz="1900" dirty="0" smtClean="0"/>
              <a:t>(</a:t>
            </a:r>
            <a:r>
              <a:rPr lang="nl-NL" sz="1900" i="1" dirty="0" smtClean="0"/>
              <a:t>P</a:t>
            </a:r>
            <a:r>
              <a:rPr lang="nl-NL" sz="1900" dirty="0" smtClean="0"/>
              <a:t>)) is </a:t>
            </a:r>
            <a:r>
              <a:rPr lang="nl-NL" sz="1900" dirty="0" err="1" smtClean="0"/>
              <a:t>everything</a:t>
            </a:r>
            <a:endParaRPr lang="nl-NL" sz="1900" dirty="0" smtClean="0"/>
          </a:p>
        </p:txBody>
      </p:sp>
    </p:spTree>
    <p:extLst>
      <p:ext uri="{BB962C8B-B14F-4D97-AF65-F5344CB8AC3E}">
        <p14:creationId xmlns:p14="http://schemas.microsoft.com/office/powerpoint/2010/main" val="3834454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4" grpId="0"/>
      <p:bldP spid="15" grpId="0"/>
      <p:bldP spid="19" grpId="0"/>
      <p:bldP spid="20" grpId="0"/>
      <p:bldP spid="21" grpId="0"/>
      <p:bldP spid="13" grpId="0"/>
      <p:bldP spid="10" grpId="0"/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200" dirty="0" smtClean="0"/>
              <a:t>The </a:t>
            </a:r>
            <a:r>
              <a:rPr lang="nl-NL" sz="3200" dirty="0" err="1" smtClean="0"/>
              <a:t>semantic</a:t>
            </a:r>
            <a:r>
              <a:rPr lang="nl-NL" sz="3200" dirty="0" smtClean="0"/>
              <a:t> argument (</a:t>
            </a:r>
            <a:r>
              <a:rPr lang="nl-NL" sz="3200" dirty="0" err="1" smtClean="0"/>
              <a:t>cont</a:t>
            </a:r>
            <a:r>
              <a:rPr lang="nl-NL" sz="3200" dirty="0" smtClean="0"/>
              <a:t>.)</a:t>
            </a:r>
            <a:endParaRPr lang="nl-NL" sz="3200" dirty="0"/>
          </a:p>
        </p:txBody>
      </p:sp>
      <p:sp>
        <p:nvSpPr>
          <p:cNvPr id="17" name="Content Placeholder 2"/>
          <p:cNvSpPr txBox="1">
            <a:spLocks/>
          </p:cNvSpPr>
          <p:nvPr/>
        </p:nvSpPr>
        <p:spPr>
          <a:xfrm>
            <a:off x="251520" y="1412776"/>
            <a:ext cx="8748464" cy="4103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1900" dirty="0" err="1" smtClean="0"/>
              <a:t>Since</a:t>
            </a:r>
            <a:r>
              <a:rPr lang="nl-NL" sz="1900" dirty="0" smtClean="0"/>
              <a:t> </a:t>
            </a:r>
            <a:r>
              <a:rPr lang="nl-NL" sz="1900" i="1" dirty="0" smtClean="0"/>
              <a:t>P</a:t>
            </a:r>
            <a:r>
              <a:rPr lang="nl-NL" sz="1900" dirty="0" smtClean="0"/>
              <a:t> means </a:t>
            </a:r>
            <a:r>
              <a:rPr lang="nl-NL" sz="1900" i="1" dirty="0" err="1" smtClean="0"/>
              <a:t>being</a:t>
            </a:r>
            <a:r>
              <a:rPr lang="nl-NL" sz="1900" i="1" dirty="0" smtClean="0"/>
              <a:t> </a:t>
            </a:r>
            <a:r>
              <a:rPr lang="nl-NL" sz="1900" dirty="0" err="1" smtClean="0"/>
              <a:t>and</a:t>
            </a:r>
            <a:r>
              <a:rPr lang="nl-NL" sz="1900" dirty="0" smtClean="0"/>
              <a:t> </a:t>
            </a:r>
            <a:r>
              <a:rPr lang="nl-NL" sz="1900" i="1" dirty="0" smtClean="0"/>
              <a:t>P</a:t>
            </a:r>
            <a:r>
              <a:rPr lang="nl-NL" sz="1900" dirty="0" smtClean="0"/>
              <a:t> is a real property, </a:t>
            </a:r>
            <a:r>
              <a:rPr lang="nl-NL" sz="1900" dirty="0" err="1" smtClean="0"/>
              <a:t>it</a:t>
            </a:r>
            <a:r>
              <a:rPr lang="nl-NL" sz="1900" dirty="0" smtClean="0"/>
              <a:t> </a:t>
            </a:r>
            <a:r>
              <a:rPr lang="nl-NL" sz="1900" dirty="0" err="1" smtClean="0"/>
              <a:t>follows</a:t>
            </a:r>
            <a:r>
              <a:rPr lang="nl-NL" sz="1900" dirty="0" smtClean="0"/>
              <a:t> </a:t>
            </a:r>
            <a:r>
              <a:rPr lang="nl-NL" sz="1900" dirty="0" err="1" smtClean="0"/>
              <a:t>that</a:t>
            </a:r>
            <a:r>
              <a:rPr lang="nl-NL" sz="1900" dirty="0" smtClean="0"/>
              <a:t> </a:t>
            </a:r>
            <a:r>
              <a:rPr lang="nl-NL" sz="1900" i="1" dirty="0" err="1" smtClean="0"/>
              <a:t>being</a:t>
            </a:r>
            <a:r>
              <a:rPr lang="nl-NL" sz="1900" dirty="0" smtClean="0"/>
              <a:t> is </a:t>
            </a:r>
            <a:r>
              <a:rPr lang="nl-NL" sz="1900" dirty="0" err="1" smtClean="0"/>
              <a:t>also</a:t>
            </a:r>
            <a:r>
              <a:rPr lang="nl-NL" sz="1900" dirty="0" smtClean="0"/>
              <a:t> a real property</a:t>
            </a:r>
          </a:p>
        </p:txBody>
      </p:sp>
      <p:sp>
        <p:nvSpPr>
          <p:cNvPr id="18" name="Content Placeholder 2"/>
          <p:cNvSpPr txBox="1">
            <a:spLocks/>
          </p:cNvSpPr>
          <p:nvPr/>
        </p:nvSpPr>
        <p:spPr>
          <a:xfrm>
            <a:off x="251520" y="2831232"/>
            <a:ext cx="8784976" cy="3886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1900" dirty="0" smtClean="0"/>
              <a:t>But </a:t>
            </a:r>
            <a:r>
              <a:rPr lang="nl-NL" sz="1900" i="1" dirty="0" err="1" smtClean="0"/>
              <a:t>being</a:t>
            </a:r>
            <a:r>
              <a:rPr lang="nl-NL" sz="1900" dirty="0" smtClean="0"/>
              <a:t> is </a:t>
            </a:r>
            <a:r>
              <a:rPr lang="nl-NL" sz="1900" u="sng" dirty="0" err="1" smtClean="0"/>
              <a:t>not</a:t>
            </a:r>
            <a:r>
              <a:rPr lang="nl-NL" sz="1900" dirty="0" smtClean="0"/>
              <a:t> a </a:t>
            </a:r>
            <a:r>
              <a:rPr lang="nl-NL" sz="1900" dirty="0" err="1" smtClean="0"/>
              <a:t>real</a:t>
            </a:r>
            <a:r>
              <a:rPr lang="nl-NL" sz="1900" dirty="0" smtClean="0"/>
              <a:t> </a:t>
            </a:r>
            <a:r>
              <a:rPr lang="nl-NL" sz="1900" dirty="0" err="1" smtClean="0"/>
              <a:t>property</a:t>
            </a:r>
            <a:endParaRPr lang="nl-NL" sz="1900" dirty="0"/>
          </a:p>
        </p:txBody>
      </p:sp>
      <p:sp>
        <p:nvSpPr>
          <p:cNvPr id="23" name="Content Placeholder 2"/>
          <p:cNvSpPr txBox="1">
            <a:spLocks/>
          </p:cNvSpPr>
          <p:nvPr/>
        </p:nvSpPr>
        <p:spPr>
          <a:xfrm>
            <a:off x="216024" y="5639544"/>
            <a:ext cx="8748464" cy="3886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1900" dirty="0" smtClean="0"/>
              <a:t>We </a:t>
            </a:r>
            <a:r>
              <a:rPr lang="nl-NL" sz="1900" dirty="0" err="1" smtClean="0"/>
              <a:t>arrive</a:t>
            </a:r>
            <a:r>
              <a:rPr lang="nl-NL" sz="1900" dirty="0" smtClean="0"/>
              <a:t> at a</a:t>
            </a:r>
            <a:r>
              <a:rPr lang="nl-NL" sz="1900" i="1" dirty="0" smtClean="0"/>
              <a:t> </a:t>
            </a:r>
            <a:r>
              <a:rPr lang="nl-NL" sz="1900" i="1" dirty="0" err="1" smtClean="0"/>
              <a:t>contradiction</a:t>
            </a:r>
            <a:r>
              <a:rPr lang="nl-NL" sz="1900" dirty="0" smtClean="0"/>
              <a:t>. </a:t>
            </a:r>
            <a:r>
              <a:rPr lang="nl-NL" sz="1900" dirty="0" err="1" smtClean="0"/>
              <a:t>Therefore</a:t>
            </a:r>
            <a:r>
              <a:rPr lang="nl-NL" sz="1900" dirty="0" smtClean="0"/>
              <a:t>, </a:t>
            </a:r>
            <a:r>
              <a:rPr lang="nl-NL" sz="1900" dirty="0" err="1" smtClean="0"/>
              <a:t>there</a:t>
            </a:r>
            <a:r>
              <a:rPr lang="nl-NL" sz="1900" dirty="0" smtClean="0"/>
              <a:t> are no </a:t>
            </a:r>
            <a:r>
              <a:rPr lang="nl-NL" sz="1900" dirty="0" err="1" smtClean="0"/>
              <a:t>universally</a:t>
            </a:r>
            <a:r>
              <a:rPr lang="nl-NL" sz="1900" dirty="0" smtClean="0"/>
              <a:t> held real </a:t>
            </a:r>
            <a:r>
              <a:rPr lang="nl-NL" sz="1900" dirty="0" err="1" smtClean="0"/>
              <a:t>properties</a:t>
            </a:r>
            <a:endParaRPr lang="nl-NL" sz="1900" dirty="0"/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251520" y="1967136"/>
            <a:ext cx="8748464" cy="3886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1900" dirty="0" smtClean="0"/>
              <a:t>( </a:t>
            </a:r>
            <a:r>
              <a:rPr lang="nl-NL" sz="1900" dirty="0" err="1" smtClean="0"/>
              <a:t>One</a:t>
            </a:r>
            <a:r>
              <a:rPr lang="nl-NL" sz="1900" dirty="0" smtClean="0"/>
              <a:t> </a:t>
            </a:r>
            <a:r>
              <a:rPr lang="nl-NL" sz="1900" dirty="0" err="1" smtClean="0"/>
              <a:t>could</a:t>
            </a:r>
            <a:r>
              <a:rPr lang="nl-NL" sz="1900" dirty="0" smtClean="0"/>
              <a:t> even </a:t>
            </a:r>
            <a:r>
              <a:rPr lang="nl-NL" sz="1900" dirty="0" err="1" smtClean="0"/>
              <a:t>argue</a:t>
            </a:r>
            <a:r>
              <a:rPr lang="nl-NL" sz="1900" dirty="0" smtClean="0"/>
              <a:t> </a:t>
            </a:r>
            <a:r>
              <a:rPr lang="nl-NL" sz="1900" dirty="0" err="1" smtClean="0"/>
              <a:t>that</a:t>
            </a:r>
            <a:r>
              <a:rPr lang="nl-NL" sz="1900" dirty="0" smtClean="0"/>
              <a:t> [</a:t>
            </a:r>
            <a:r>
              <a:rPr lang="nl-NL" sz="1900" dirty="0" err="1" smtClean="0"/>
              <a:t>Meaning</a:t>
            </a:r>
            <a:r>
              <a:rPr lang="nl-NL" sz="1900" dirty="0" smtClean="0"/>
              <a:t>(</a:t>
            </a:r>
            <a:r>
              <a:rPr lang="nl-NL" sz="1900" i="1" dirty="0"/>
              <a:t>P</a:t>
            </a:r>
            <a:r>
              <a:rPr lang="nl-NL" sz="1900" dirty="0" smtClean="0"/>
              <a:t>) = </a:t>
            </a:r>
            <a:r>
              <a:rPr lang="nl-NL" sz="1900" dirty="0" err="1" smtClean="0"/>
              <a:t>Meaning</a:t>
            </a:r>
            <a:r>
              <a:rPr lang="nl-NL" sz="1900" dirty="0" smtClean="0"/>
              <a:t>(</a:t>
            </a:r>
            <a:r>
              <a:rPr lang="nl-NL" sz="1900" i="1" dirty="0" err="1" smtClean="0"/>
              <a:t>being</a:t>
            </a:r>
            <a:r>
              <a:rPr lang="nl-NL" sz="1900" dirty="0" smtClean="0"/>
              <a:t>)] </a:t>
            </a:r>
            <a:r>
              <a:rPr lang="nl-NL" sz="1900" dirty="0" err="1" smtClean="0"/>
              <a:t>entails</a:t>
            </a:r>
            <a:r>
              <a:rPr lang="nl-NL" sz="1900" dirty="0" smtClean="0"/>
              <a:t> [</a:t>
            </a:r>
            <a:r>
              <a:rPr lang="nl-NL" sz="1900" i="1" dirty="0" smtClean="0"/>
              <a:t>P = </a:t>
            </a:r>
            <a:r>
              <a:rPr lang="nl-NL" sz="1900" i="1" dirty="0" err="1" smtClean="0"/>
              <a:t>being</a:t>
            </a:r>
            <a:r>
              <a:rPr lang="nl-NL" sz="1900" dirty="0" smtClean="0"/>
              <a:t>]. For [</a:t>
            </a:r>
            <a:r>
              <a:rPr lang="nl-NL" sz="1900" dirty="0" err="1" smtClean="0"/>
              <a:t>Every</a:t>
            </a:r>
            <a:r>
              <a:rPr lang="nl-NL" sz="1900" dirty="0" smtClean="0"/>
              <a:t> </a:t>
            </a:r>
            <a:r>
              <a:rPr lang="nl-NL" sz="1900" dirty="0" err="1" smtClean="0"/>
              <a:t>being</a:t>
            </a:r>
            <a:r>
              <a:rPr lang="nl-NL" sz="1900" dirty="0" smtClean="0"/>
              <a:t> is P] </a:t>
            </a:r>
            <a:r>
              <a:rPr lang="nl-NL" sz="1900" dirty="0" err="1" smtClean="0"/>
              <a:t>can</a:t>
            </a:r>
            <a:r>
              <a:rPr lang="nl-NL" sz="1900" dirty="0" smtClean="0"/>
              <a:t> </a:t>
            </a:r>
            <a:r>
              <a:rPr lang="nl-NL" sz="1900" dirty="0" err="1" smtClean="0"/>
              <a:t>only</a:t>
            </a:r>
            <a:r>
              <a:rPr lang="nl-NL" sz="1900" dirty="0" smtClean="0"/>
              <a:t> </a:t>
            </a:r>
            <a:r>
              <a:rPr lang="nl-NL" sz="1900" dirty="0" err="1" smtClean="0"/>
              <a:t>be</a:t>
            </a:r>
            <a:r>
              <a:rPr lang="nl-NL" sz="1900" dirty="0" smtClean="0"/>
              <a:t> </a:t>
            </a:r>
            <a:r>
              <a:rPr lang="nl-NL" sz="1900" dirty="0" err="1" smtClean="0"/>
              <a:t>an</a:t>
            </a:r>
            <a:r>
              <a:rPr lang="nl-NL" sz="1900" dirty="0" smtClean="0"/>
              <a:t> a priori </a:t>
            </a:r>
            <a:r>
              <a:rPr lang="nl-NL" sz="1900" dirty="0" err="1" smtClean="0"/>
              <a:t>conceptual</a:t>
            </a:r>
            <a:r>
              <a:rPr lang="nl-NL" sz="1900" dirty="0" smtClean="0"/>
              <a:t> </a:t>
            </a:r>
            <a:r>
              <a:rPr lang="nl-NL" sz="1900" dirty="0" err="1" smtClean="0"/>
              <a:t>truth</a:t>
            </a:r>
            <a:r>
              <a:rPr lang="nl-NL" sz="1900" dirty="0" smtClean="0"/>
              <a:t> in case [</a:t>
            </a:r>
            <a:r>
              <a:rPr lang="nl-NL" sz="1900" i="1" dirty="0"/>
              <a:t>P</a:t>
            </a:r>
            <a:r>
              <a:rPr lang="nl-NL" sz="1900" dirty="0" smtClean="0"/>
              <a:t> = </a:t>
            </a:r>
            <a:r>
              <a:rPr lang="nl-NL" sz="1900" i="1" dirty="0" err="1" smtClean="0"/>
              <a:t>being</a:t>
            </a:r>
            <a:r>
              <a:rPr lang="nl-NL" sz="1900" dirty="0" smtClean="0"/>
              <a:t>] ) </a:t>
            </a:r>
            <a:endParaRPr lang="nl-NL" sz="1900" dirty="0"/>
          </a:p>
        </p:txBody>
      </p:sp>
      <p:sp>
        <p:nvSpPr>
          <p:cNvPr id="7" name="Rectangle 6"/>
          <p:cNvSpPr/>
          <p:nvPr/>
        </p:nvSpPr>
        <p:spPr>
          <a:xfrm>
            <a:off x="539552" y="4055368"/>
            <a:ext cx="842493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nl-NL" dirty="0" err="1" smtClean="0"/>
              <a:t>If</a:t>
            </a:r>
            <a:r>
              <a:rPr lang="nl-NL" dirty="0" smtClean="0"/>
              <a:t> </a:t>
            </a:r>
            <a:r>
              <a:rPr lang="nl-NL" i="1" dirty="0" err="1" smtClean="0"/>
              <a:t>being</a:t>
            </a:r>
            <a:r>
              <a:rPr lang="nl-NL" dirty="0" smtClean="0"/>
              <a:t> </a:t>
            </a:r>
            <a:r>
              <a:rPr lang="nl-NL" dirty="0" err="1" smtClean="0"/>
              <a:t>would</a:t>
            </a:r>
            <a:r>
              <a:rPr lang="nl-NL" dirty="0" smtClean="0"/>
              <a:t> </a:t>
            </a:r>
            <a:r>
              <a:rPr lang="nl-NL" dirty="0" err="1" smtClean="0"/>
              <a:t>be</a:t>
            </a:r>
            <a:r>
              <a:rPr lang="nl-NL" dirty="0" smtClean="0"/>
              <a:t> a </a:t>
            </a:r>
            <a:r>
              <a:rPr lang="nl-NL" dirty="0" err="1" smtClean="0"/>
              <a:t>real</a:t>
            </a:r>
            <a:r>
              <a:rPr lang="nl-NL" dirty="0" smtClean="0"/>
              <a:t> </a:t>
            </a:r>
            <a:r>
              <a:rPr lang="nl-NL" dirty="0" err="1" smtClean="0"/>
              <a:t>property</a:t>
            </a:r>
            <a:r>
              <a:rPr lang="nl-NL" dirty="0" smtClean="0"/>
              <a:t>, </a:t>
            </a:r>
            <a:r>
              <a:rPr lang="nl-NL" dirty="0" err="1" smtClean="0"/>
              <a:t>then</a:t>
            </a:r>
            <a:r>
              <a:rPr lang="nl-NL" dirty="0" smtClean="0"/>
              <a:t> </a:t>
            </a:r>
            <a:r>
              <a:rPr lang="nl-NL" dirty="0" err="1" smtClean="0"/>
              <a:t>it</a:t>
            </a:r>
            <a:r>
              <a:rPr lang="nl-NL" dirty="0" smtClean="0"/>
              <a:t> </a:t>
            </a:r>
            <a:r>
              <a:rPr lang="nl-NL" dirty="0" err="1" smtClean="0"/>
              <a:t>should</a:t>
            </a:r>
            <a:r>
              <a:rPr lang="nl-NL" dirty="0" smtClean="0"/>
              <a:t> </a:t>
            </a:r>
            <a:r>
              <a:rPr lang="nl-NL" dirty="0" err="1" smtClean="0"/>
              <a:t>add</a:t>
            </a:r>
            <a:r>
              <a:rPr lang="nl-NL" dirty="0" smtClean="0"/>
              <a:t> </a:t>
            </a:r>
            <a:r>
              <a:rPr lang="nl-NL" dirty="0" err="1" smtClean="0"/>
              <a:t>being</a:t>
            </a:r>
            <a:r>
              <a:rPr lang="nl-NL" dirty="0" smtClean="0"/>
              <a:t> to </a:t>
            </a:r>
            <a:r>
              <a:rPr lang="nl-NL" dirty="0" err="1" smtClean="0"/>
              <a:t>its</a:t>
            </a:r>
            <a:r>
              <a:rPr lang="nl-NL" dirty="0" smtClean="0"/>
              <a:t> </a:t>
            </a:r>
            <a:r>
              <a:rPr lang="nl-NL" dirty="0" err="1" smtClean="0"/>
              <a:t>bearer</a:t>
            </a:r>
            <a:r>
              <a:rPr lang="nl-NL" dirty="0" smtClean="0"/>
              <a:t>. </a:t>
            </a:r>
            <a:r>
              <a:rPr lang="nl-NL" dirty="0" err="1" smtClean="0"/>
              <a:t>But</a:t>
            </a:r>
            <a:r>
              <a:rPr lang="nl-NL" dirty="0" smtClean="0"/>
              <a:t> </a:t>
            </a:r>
            <a:r>
              <a:rPr lang="nl-NL" dirty="0" err="1" smtClean="0"/>
              <a:t>this</a:t>
            </a:r>
            <a:r>
              <a:rPr lang="nl-NL" dirty="0" smtClean="0"/>
              <a:t> is </a:t>
            </a:r>
            <a:r>
              <a:rPr lang="nl-NL" dirty="0" err="1" smtClean="0"/>
              <a:t>impossible</a:t>
            </a:r>
            <a:r>
              <a:rPr lang="nl-NL" dirty="0" smtClean="0"/>
              <a:t> </a:t>
            </a:r>
            <a:r>
              <a:rPr lang="nl-NL" dirty="0" err="1" smtClean="0"/>
              <a:t>since</a:t>
            </a:r>
            <a:r>
              <a:rPr lang="nl-NL" dirty="0" smtClean="0"/>
              <a:t> </a:t>
            </a:r>
            <a:r>
              <a:rPr lang="nl-NL" dirty="0" err="1" smtClean="0"/>
              <a:t>bearers</a:t>
            </a:r>
            <a:r>
              <a:rPr lang="nl-NL" dirty="0" smtClean="0"/>
              <a:t> are prior to </a:t>
            </a:r>
            <a:r>
              <a:rPr lang="nl-NL" dirty="0" err="1" smtClean="0"/>
              <a:t>their</a:t>
            </a:r>
            <a:r>
              <a:rPr lang="nl-NL" dirty="0" smtClean="0"/>
              <a:t> </a:t>
            </a:r>
            <a:r>
              <a:rPr lang="nl-NL" dirty="0" err="1" smtClean="0"/>
              <a:t>real</a:t>
            </a:r>
            <a:r>
              <a:rPr lang="nl-NL" dirty="0" smtClean="0"/>
              <a:t> </a:t>
            </a:r>
            <a:r>
              <a:rPr lang="nl-NL" dirty="0" err="1" smtClean="0"/>
              <a:t>properties</a:t>
            </a:r>
            <a:r>
              <a:rPr lang="nl-NL" dirty="0" smtClean="0"/>
              <a:t> in respect of </a:t>
            </a:r>
            <a:r>
              <a:rPr lang="nl-NL" dirty="0" err="1" smtClean="0"/>
              <a:t>existence</a:t>
            </a:r>
            <a:r>
              <a:rPr lang="nl-NL" dirty="0" smtClean="0"/>
              <a:t> </a:t>
            </a:r>
            <a:endParaRPr lang="nl-NL" dirty="0"/>
          </a:p>
        </p:txBody>
      </p:sp>
      <p:sp>
        <p:nvSpPr>
          <p:cNvPr id="8" name="Rectangle 7"/>
          <p:cNvSpPr/>
          <p:nvPr/>
        </p:nvSpPr>
        <p:spPr>
          <a:xfrm>
            <a:off x="539552" y="3335288"/>
            <a:ext cx="860444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nl-NL" dirty="0" err="1" smtClean="0"/>
              <a:t>Real</a:t>
            </a:r>
            <a:r>
              <a:rPr lang="nl-NL" dirty="0" smtClean="0"/>
              <a:t> </a:t>
            </a:r>
            <a:r>
              <a:rPr lang="nl-NL" dirty="0" err="1" smtClean="0"/>
              <a:t>properties</a:t>
            </a:r>
            <a:r>
              <a:rPr lang="nl-NL" dirty="0" smtClean="0"/>
              <a:t>, </a:t>
            </a:r>
            <a:r>
              <a:rPr lang="nl-NL" dirty="0" err="1" smtClean="0"/>
              <a:t>such</a:t>
            </a:r>
            <a:r>
              <a:rPr lang="nl-NL" dirty="0" smtClean="0"/>
              <a:t> as </a:t>
            </a:r>
            <a:r>
              <a:rPr lang="nl-NL" i="1" dirty="0" smtClean="0"/>
              <a:t>red</a:t>
            </a:r>
            <a:r>
              <a:rPr lang="nl-NL" dirty="0" smtClean="0"/>
              <a:t>, </a:t>
            </a:r>
            <a:r>
              <a:rPr lang="nl-NL" dirty="0" err="1" smtClean="0"/>
              <a:t>add</a:t>
            </a:r>
            <a:r>
              <a:rPr lang="nl-NL" dirty="0" smtClean="0"/>
              <a:t> </a:t>
            </a:r>
            <a:r>
              <a:rPr lang="nl-NL" dirty="0" err="1" smtClean="0"/>
              <a:t>something</a:t>
            </a:r>
            <a:r>
              <a:rPr lang="nl-NL" dirty="0" smtClean="0"/>
              <a:t> to </a:t>
            </a:r>
            <a:r>
              <a:rPr lang="nl-NL" dirty="0" err="1" smtClean="0"/>
              <a:t>things</a:t>
            </a:r>
            <a:r>
              <a:rPr lang="nl-NL" dirty="0" smtClean="0"/>
              <a:t> </a:t>
            </a:r>
            <a:r>
              <a:rPr lang="nl-NL" dirty="0" err="1" smtClean="0"/>
              <a:t>that</a:t>
            </a:r>
            <a:r>
              <a:rPr lang="nl-NL" dirty="0" smtClean="0"/>
              <a:t> </a:t>
            </a:r>
            <a:r>
              <a:rPr lang="nl-NL" dirty="0" err="1" smtClean="0"/>
              <a:t>already</a:t>
            </a:r>
            <a:r>
              <a:rPr lang="nl-NL" dirty="0" smtClean="0"/>
              <a:t> </a:t>
            </a:r>
            <a:r>
              <a:rPr lang="nl-NL" dirty="0" err="1" smtClean="0"/>
              <a:t>exist</a:t>
            </a:r>
            <a:r>
              <a:rPr lang="nl-NL" dirty="0" smtClean="0"/>
              <a:t>. </a:t>
            </a:r>
            <a:r>
              <a:rPr lang="nl-NL" dirty="0" err="1" smtClean="0"/>
              <a:t>So</a:t>
            </a:r>
            <a:r>
              <a:rPr lang="nl-NL" dirty="0" smtClean="0"/>
              <a:t>, </a:t>
            </a:r>
            <a:r>
              <a:rPr lang="nl-NL" dirty="0" err="1" smtClean="0"/>
              <a:t>if</a:t>
            </a:r>
            <a:r>
              <a:rPr lang="nl-NL" dirty="0" smtClean="0"/>
              <a:t> </a:t>
            </a:r>
            <a:r>
              <a:rPr lang="nl-NL" i="1" dirty="0" err="1" smtClean="0"/>
              <a:t>being</a:t>
            </a:r>
            <a:r>
              <a:rPr lang="nl-NL" dirty="0" smtClean="0"/>
              <a:t> is a    </a:t>
            </a:r>
            <a:r>
              <a:rPr lang="nl-NL" dirty="0" err="1" smtClean="0"/>
              <a:t>real</a:t>
            </a:r>
            <a:r>
              <a:rPr lang="nl-NL" dirty="0" smtClean="0"/>
              <a:t> </a:t>
            </a:r>
            <a:r>
              <a:rPr lang="nl-NL" dirty="0" err="1" smtClean="0"/>
              <a:t>property</a:t>
            </a:r>
            <a:r>
              <a:rPr lang="nl-NL" dirty="0" smtClean="0"/>
              <a:t>, </a:t>
            </a:r>
            <a:r>
              <a:rPr lang="nl-NL" dirty="0" err="1" smtClean="0"/>
              <a:t>it</a:t>
            </a:r>
            <a:r>
              <a:rPr lang="nl-NL" dirty="0" smtClean="0"/>
              <a:t> </a:t>
            </a:r>
            <a:r>
              <a:rPr lang="nl-NL" dirty="0" err="1" smtClean="0"/>
              <a:t>should</a:t>
            </a:r>
            <a:r>
              <a:rPr lang="nl-NL" dirty="0" smtClean="0"/>
              <a:t> </a:t>
            </a:r>
            <a:r>
              <a:rPr lang="nl-NL" dirty="0" err="1" smtClean="0"/>
              <a:t>add</a:t>
            </a:r>
            <a:r>
              <a:rPr lang="nl-NL" dirty="0" smtClean="0"/>
              <a:t> </a:t>
            </a:r>
            <a:r>
              <a:rPr lang="nl-NL" dirty="0" err="1" smtClean="0"/>
              <a:t>existence</a:t>
            </a:r>
            <a:r>
              <a:rPr lang="nl-NL" dirty="0" smtClean="0"/>
              <a:t> to </a:t>
            </a:r>
            <a:r>
              <a:rPr lang="nl-NL" dirty="0" err="1" smtClean="0"/>
              <a:t>already</a:t>
            </a:r>
            <a:r>
              <a:rPr lang="nl-NL" dirty="0" smtClean="0"/>
              <a:t> </a:t>
            </a:r>
            <a:r>
              <a:rPr lang="nl-NL" dirty="0" err="1" smtClean="0"/>
              <a:t>existing</a:t>
            </a:r>
            <a:r>
              <a:rPr lang="nl-NL" dirty="0" smtClean="0"/>
              <a:t> </a:t>
            </a:r>
            <a:r>
              <a:rPr lang="nl-NL" dirty="0" err="1" smtClean="0"/>
              <a:t>things</a:t>
            </a:r>
            <a:r>
              <a:rPr lang="nl-NL" dirty="0" smtClean="0"/>
              <a:t>, </a:t>
            </a:r>
            <a:r>
              <a:rPr lang="nl-NL" dirty="0" err="1" smtClean="0"/>
              <a:t>which</a:t>
            </a:r>
            <a:r>
              <a:rPr lang="nl-NL" dirty="0" smtClean="0"/>
              <a:t> is </a:t>
            </a:r>
            <a:r>
              <a:rPr lang="nl-NL" dirty="0" err="1" smtClean="0"/>
              <a:t>impossible</a:t>
            </a:r>
            <a:endParaRPr lang="nl-NL" dirty="0"/>
          </a:p>
        </p:txBody>
      </p:sp>
      <p:sp>
        <p:nvSpPr>
          <p:cNvPr id="9" name="Rectangle 8"/>
          <p:cNvSpPr/>
          <p:nvPr/>
        </p:nvSpPr>
        <p:spPr>
          <a:xfrm>
            <a:off x="539552" y="4775448"/>
            <a:ext cx="85324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nl-NL" dirty="0" smtClean="0"/>
              <a:t>Indeed, </a:t>
            </a:r>
            <a:r>
              <a:rPr lang="nl-NL" dirty="0" err="1" smtClean="0"/>
              <a:t>if</a:t>
            </a:r>
            <a:r>
              <a:rPr lang="nl-NL" dirty="0" smtClean="0"/>
              <a:t> the </a:t>
            </a:r>
            <a:r>
              <a:rPr lang="nl-NL" dirty="0" err="1" smtClean="0"/>
              <a:t>bearer</a:t>
            </a:r>
            <a:r>
              <a:rPr lang="nl-NL" dirty="0" smtClean="0"/>
              <a:t> is </a:t>
            </a:r>
            <a:r>
              <a:rPr lang="nl-NL" dirty="0" err="1" smtClean="0"/>
              <a:t>not</a:t>
            </a:r>
            <a:r>
              <a:rPr lang="nl-NL" dirty="0" smtClean="0"/>
              <a:t> </a:t>
            </a:r>
            <a:r>
              <a:rPr lang="nl-NL" i="1" dirty="0" err="1" smtClean="0"/>
              <a:t>already</a:t>
            </a:r>
            <a:r>
              <a:rPr lang="nl-NL" dirty="0" smtClean="0"/>
              <a:t> a </a:t>
            </a:r>
            <a:r>
              <a:rPr lang="nl-NL" dirty="0" err="1" smtClean="0"/>
              <a:t>being</a:t>
            </a:r>
            <a:r>
              <a:rPr lang="nl-NL" dirty="0" smtClean="0"/>
              <a:t>, </a:t>
            </a:r>
            <a:r>
              <a:rPr lang="nl-NL" dirty="0" err="1" smtClean="0"/>
              <a:t>there</a:t>
            </a:r>
            <a:r>
              <a:rPr lang="nl-NL" dirty="0" smtClean="0"/>
              <a:t> is </a:t>
            </a:r>
            <a:r>
              <a:rPr lang="nl-NL" dirty="0" err="1" smtClean="0"/>
              <a:t>nothing</a:t>
            </a:r>
            <a:r>
              <a:rPr lang="nl-NL" dirty="0" smtClean="0"/>
              <a:t> </a:t>
            </a:r>
            <a:r>
              <a:rPr lang="nl-NL" dirty="0" err="1" smtClean="0"/>
              <a:t>for</a:t>
            </a:r>
            <a:r>
              <a:rPr lang="nl-NL" dirty="0" smtClean="0"/>
              <a:t> </a:t>
            </a:r>
            <a:r>
              <a:rPr lang="nl-NL" i="1" dirty="0" err="1" smtClean="0"/>
              <a:t>being</a:t>
            </a:r>
            <a:r>
              <a:rPr lang="nl-NL" dirty="0" smtClean="0"/>
              <a:t> to </a:t>
            </a:r>
            <a:r>
              <a:rPr lang="nl-NL" dirty="0" err="1" smtClean="0"/>
              <a:t>attach</a:t>
            </a:r>
            <a:r>
              <a:rPr lang="nl-NL" dirty="0" smtClean="0"/>
              <a:t> </a:t>
            </a:r>
            <a:r>
              <a:rPr lang="nl-NL" dirty="0" err="1" smtClean="0"/>
              <a:t>itself</a:t>
            </a:r>
            <a:r>
              <a:rPr lang="nl-NL" dirty="0" smtClean="0"/>
              <a:t> to, i.e., </a:t>
            </a:r>
            <a:r>
              <a:rPr lang="nl-NL" dirty="0" err="1" smtClean="0"/>
              <a:t>there</a:t>
            </a:r>
            <a:r>
              <a:rPr lang="nl-NL" dirty="0" smtClean="0"/>
              <a:t> is </a:t>
            </a:r>
            <a:r>
              <a:rPr lang="nl-NL" dirty="0" err="1" smtClean="0"/>
              <a:t>nothing</a:t>
            </a:r>
            <a:r>
              <a:rPr lang="nl-NL" dirty="0" smtClean="0"/>
              <a:t> </a:t>
            </a:r>
            <a:r>
              <a:rPr lang="nl-NL" dirty="0" err="1" smtClean="0"/>
              <a:t>for</a:t>
            </a:r>
            <a:r>
              <a:rPr lang="nl-NL" dirty="0" smtClean="0"/>
              <a:t> </a:t>
            </a:r>
            <a:r>
              <a:rPr lang="nl-NL" i="1" dirty="0" err="1" smtClean="0"/>
              <a:t>being</a:t>
            </a:r>
            <a:r>
              <a:rPr lang="nl-NL" dirty="0" smtClean="0"/>
              <a:t> to </a:t>
            </a:r>
            <a:r>
              <a:rPr lang="nl-NL" dirty="0" err="1" smtClean="0"/>
              <a:t>be</a:t>
            </a:r>
            <a:r>
              <a:rPr lang="nl-NL" dirty="0" smtClean="0"/>
              <a:t> a </a:t>
            </a:r>
            <a:r>
              <a:rPr lang="nl-NL" dirty="0" err="1" smtClean="0"/>
              <a:t>property</a:t>
            </a:r>
            <a:r>
              <a:rPr lang="nl-NL" dirty="0" smtClean="0"/>
              <a:t> of. </a:t>
            </a:r>
            <a:r>
              <a:rPr lang="nl-NL" dirty="0" err="1" smtClean="0"/>
              <a:t>Therefore</a:t>
            </a:r>
            <a:r>
              <a:rPr lang="nl-NL" dirty="0" smtClean="0"/>
              <a:t> </a:t>
            </a:r>
            <a:r>
              <a:rPr lang="nl-NL" i="1" dirty="0" err="1" smtClean="0"/>
              <a:t>being</a:t>
            </a:r>
            <a:r>
              <a:rPr lang="nl-NL" dirty="0" smtClean="0"/>
              <a:t> </a:t>
            </a:r>
            <a:r>
              <a:rPr lang="nl-NL" dirty="0" err="1" smtClean="0"/>
              <a:t>cannot</a:t>
            </a:r>
            <a:r>
              <a:rPr lang="nl-NL" dirty="0" smtClean="0"/>
              <a:t> </a:t>
            </a:r>
            <a:r>
              <a:rPr lang="nl-NL" dirty="0" err="1" smtClean="0"/>
              <a:t>add</a:t>
            </a:r>
            <a:r>
              <a:rPr lang="nl-NL" dirty="0" smtClean="0"/>
              <a:t> </a:t>
            </a:r>
            <a:r>
              <a:rPr lang="nl-NL" dirty="0" err="1" smtClean="0"/>
              <a:t>existence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494545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3" grpId="0"/>
      <p:bldP spid="12" grpId="0"/>
      <p:bldP spid="7" grpId="0"/>
      <p:bldP spid="8" grpId="0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200" dirty="0" err="1" smtClean="0"/>
              <a:t>Some</a:t>
            </a:r>
            <a:r>
              <a:rPr lang="nl-NL" sz="3200" dirty="0" smtClean="0"/>
              <a:t> </a:t>
            </a:r>
            <a:r>
              <a:rPr lang="nl-NL" sz="3200" dirty="0" err="1"/>
              <a:t>c</a:t>
            </a:r>
            <a:r>
              <a:rPr lang="nl-NL" sz="3200" dirty="0" err="1" smtClean="0"/>
              <a:t>orollaries</a:t>
            </a:r>
            <a:r>
              <a:rPr lang="nl-NL" sz="3200" dirty="0" smtClean="0"/>
              <a:t> of the </a:t>
            </a:r>
            <a:r>
              <a:rPr lang="nl-NL" sz="3200" dirty="0" err="1" smtClean="0"/>
              <a:t>argument’s</a:t>
            </a:r>
            <a:r>
              <a:rPr lang="nl-NL" sz="3200" dirty="0" smtClean="0"/>
              <a:t> </a:t>
            </a:r>
            <a:r>
              <a:rPr lang="nl-NL" sz="3200" dirty="0" err="1" smtClean="0"/>
              <a:t>conclusion</a:t>
            </a:r>
            <a:endParaRPr lang="nl-NL" sz="3200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395536" y="1384176"/>
            <a:ext cx="8748464" cy="5183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1900" dirty="0" err="1"/>
              <a:t>Not</a:t>
            </a:r>
            <a:r>
              <a:rPr lang="nl-NL" sz="1900" dirty="0"/>
              <a:t> </a:t>
            </a:r>
            <a:r>
              <a:rPr lang="nl-NL" sz="1900" dirty="0" err="1"/>
              <a:t>everything</a:t>
            </a:r>
            <a:r>
              <a:rPr lang="nl-NL" sz="1900" dirty="0"/>
              <a:t> is </a:t>
            </a:r>
            <a:r>
              <a:rPr lang="nl-NL" sz="1900" i="1" dirty="0" err="1"/>
              <a:t>physical</a:t>
            </a:r>
            <a:r>
              <a:rPr lang="nl-NL" sz="1900" dirty="0"/>
              <a:t>. </a:t>
            </a:r>
            <a:r>
              <a:rPr lang="nl-NL" sz="1900" dirty="0" err="1"/>
              <a:t>There</a:t>
            </a:r>
            <a:r>
              <a:rPr lang="nl-NL" sz="1900" dirty="0"/>
              <a:t> is at </a:t>
            </a:r>
            <a:r>
              <a:rPr lang="nl-NL" sz="1900" dirty="0" err="1"/>
              <a:t>least</a:t>
            </a:r>
            <a:r>
              <a:rPr lang="nl-NL" sz="1900" dirty="0"/>
              <a:t> </a:t>
            </a:r>
            <a:r>
              <a:rPr lang="nl-NL" sz="1900" dirty="0" err="1"/>
              <a:t>one</a:t>
            </a:r>
            <a:r>
              <a:rPr lang="nl-NL" sz="1900" dirty="0"/>
              <a:t> </a:t>
            </a:r>
            <a:r>
              <a:rPr lang="nl-NL" sz="1900" i="1" dirty="0"/>
              <a:t>non-</a:t>
            </a:r>
            <a:r>
              <a:rPr lang="nl-NL" sz="1900" i="1" dirty="0" err="1"/>
              <a:t>physical</a:t>
            </a:r>
            <a:r>
              <a:rPr lang="nl-NL" sz="1900" dirty="0"/>
              <a:t> </a:t>
            </a:r>
            <a:r>
              <a:rPr lang="nl-NL" sz="1900" dirty="0" err="1"/>
              <a:t>thing</a:t>
            </a:r>
            <a:endParaRPr lang="nl-NL" sz="1900" dirty="0"/>
          </a:p>
          <a:p>
            <a:endParaRPr lang="nl-NL" sz="1900" dirty="0"/>
          </a:p>
        </p:txBody>
      </p:sp>
      <p:sp>
        <p:nvSpPr>
          <p:cNvPr id="19" name="Content Placeholder 2"/>
          <p:cNvSpPr txBox="1">
            <a:spLocks/>
          </p:cNvSpPr>
          <p:nvPr/>
        </p:nvSpPr>
        <p:spPr>
          <a:xfrm>
            <a:off x="395536" y="1888232"/>
            <a:ext cx="8748464" cy="5183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1900" dirty="0" err="1"/>
              <a:t>Not</a:t>
            </a:r>
            <a:r>
              <a:rPr lang="nl-NL" sz="1900" dirty="0"/>
              <a:t> </a:t>
            </a:r>
            <a:r>
              <a:rPr lang="nl-NL" sz="1900" dirty="0" err="1"/>
              <a:t>everything</a:t>
            </a:r>
            <a:r>
              <a:rPr lang="nl-NL" sz="1900" dirty="0"/>
              <a:t> is </a:t>
            </a:r>
            <a:r>
              <a:rPr lang="nl-NL" sz="1900" i="1" dirty="0" smtClean="0"/>
              <a:t>contingent</a:t>
            </a:r>
            <a:r>
              <a:rPr lang="nl-NL" sz="1900" dirty="0" smtClean="0"/>
              <a:t>. </a:t>
            </a:r>
            <a:r>
              <a:rPr lang="nl-NL" sz="1900" dirty="0" err="1"/>
              <a:t>There</a:t>
            </a:r>
            <a:r>
              <a:rPr lang="nl-NL" sz="1900" dirty="0"/>
              <a:t> is at </a:t>
            </a:r>
            <a:r>
              <a:rPr lang="nl-NL" sz="1900" dirty="0" err="1"/>
              <a:t>least</a:t>
            </a:r>
            <a:r>
              <a:rPr lang="nl-NL" sz="1900" dirty="0"/>
              <a:t> </a:t>
            </a:r>
            <a:r>
              <a:rPr lang="nl-NL" sz="1900" dirty="0" err="1"/>
              <a:t>one</a:t>
            </a:r>
            <a:r>
              <a:rPr lang="nl-NL" sz="1900" dirty="0"/>
              <a:t> </a:t>
            </a:r>
            <a:r>
              <a:rPr lang="nl-NL" sz="1900" i="1" dirty="0" err="1" smtClean="0"/>
              <a:t>necessary</a:t>
            </a:r>
            <a:r>
              <a:rPr lang="nl-NL" sz="1900" dirty="0" smtClean="0"/>
              <a:t> </a:t>
            </a:r>
            <a:r>
              <a:rPr lang="nl-NL" sz="1900" dirty="0" err="1"/>
              <a:t>thing</a:t>
            </a:r>
            <a:endParaRPr lang="nl-NL" sz="1900" dirty="0"/>
          </a:p>
          <a:p>
            <a:endParaRPr lang="nl-NL" sz="1900" dirty="0"/>
          </a:p>
        </p:txBody>
      </p:sp>
      <p:sp>
        <p:nvSpPr>
          <p:cNvPr id="20" name="Content Placeholder 2"/>
          <p:cNvSpPr txBox="1">
            <a:spLocks/>
          </p:cNvSpPr>
          <p:nvPr/>
        </p:nvSpPr>
        <p:spPr>
          <a:xfrm>
            <a:off x="395536" y="2406588"/>
            <a:ext cx="8748464" cy="5183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1900" dirty="0" err="1"/>
              <a:t>Not</a:t>
            </a:r>
            <a:r>
              <a:rPr lang="nl-NL" sz="1900" dirty="0"/>
              <a:t> </a:t>
            </a:r>
            <a:r>
              <a:rPr lang="nl-NL" sz="1900" dirty="0" err="1"/>
              <a:t>everything</a:t>
            </a:r>
            <a:r>
              <a:rPr lang="nl-NL" sz="1900" dirty="0"/>
              <a:t> is </a:t>
            </a:r>
            <a:r>
              <a:rPr lang="nl-NL" sz="1900" i="1" dirty="0" err="1" smtClean="0"/>
              <a:t>caused</a:t>
            </a:r>
            <a:r>
              <a:rPr lang="nl-NL" sz="1900" dirty="0" smtClean="0"/>
              <a:t>. </a:t>
            </a:r>
            <a:r>
              <a:rPr lang="nl-NL" sz="1900" dirty="0" err="1"/>
              <a:t>There</a:t>
            </a:r>
            <a:r>
              <a:rPr lang="nl-NL" sz="1900" dirty="0"/>
              <a:t> is at </a:t>
            </a:r>
            <a:r>
              <a:rPr lang="nl-NL" sz="1900" dirty="0" err="1"/>
              <a:t>least</a:t>
            </a:r>
            <a:r>
              <a:rPr lang="nl-NL" sz="1900" dirty="0"/>
              <a:t> </a:t>
            </a:r>
            <a:r>
              <a:rPr lang="nl-NL" sz="1900" dirty="0" err="1"/>
              <a:t>one</a:t>
            </a:r>
            <a:r>
              <a:rPr lang="nl-NL" sz="1900" dirty="0"/>
              <a:t> </a:t>
            </a:r>
            <a:r>
              <a:rPr lang="nl-NL" sz="1900" i="1" dirty="0" err="1" smtClean="0"/>
              <a:t>uncaused</a:t>
            </a:r>
            <a:r>
              <a:rPr lang="nl-NL" sz="1900" dirty="0" smtClean="0"/>
              <a:t> </a:t>
            </a:r>
            <a:r>
              <a:rPr lang="nl-NL" sz="1900" dirty="0" err="1"/>
              <a:t>thing</a:t>
            </a:r>
            <a:endParaRPr lang="nl-NL" sz="1900" dirty="0"/>
          </a:p>
          <a:p>
            <a:endParaRPr lang="nl-NL" sz="1900" dirty="0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395536" y="2896344"/>
            <a:ext cx="8748464" cy="5183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1900" dirty="0" err="1"/>
              <a:t>Not</a:t>
            </a:r>
            <a:r>
              <a:rPr lang="nl-NL" sz="1900" dirty="0"/>
              <a:t> </a:t>
            </a:r>
            <a:r>
              <a:rPr lang="nl-NL" sz="1900" dirty="0" err="1"/>
              <a:t>everything</a:t>
            </a:r>
            <a:r>
              <a:rPr lang="nl-NL" sz="1900" dirty="0"/>
              <a:t> is </a:t>
            </a:r>
            <a:r>
              <a:rPr lang="nl-NL" sz="1900" i="1" dirty="0" err="1" smtClean="0"/>
              <a:t>composite</a:t>
            </a:r>
            <a:r>
              <a:rPr lang="nl-NL" sz="1900" dirty="0" smtClean="0"/>
              <a:t>. </a:t>
            </a:r>
            <a:r>
              <a:rPr lang="nl-NL" sz="1900" dirty="0" err="1"/>
              <a:t>There</a:t>
            </a:r>
            <a:r>
              <a:rPr lang="nl-NL" sz="1900" dirty="0"/>
              <a:t> is at </a:t>
            </a:r>
            <a:r>
              <a:rPr lang="nl-NL" sz="1900" dirty="0" err="1"/>
              <a:t>least</a:t>
            </a:r>
            <a:r>
              <a:rPr lang="nl-NL" sz="1900" dirty="0"/>
              <a:t> </a:t>
            </a:r>
            <a:r>
              <a:rPr lang="nl-NL" sz="1900" dirty="0" err="1"/>
              <a:t>one</a:t>
            </a:r>
            <a:r>
              <a:rPr lang="nl-NL" sz="1900" dirty="0"/>
              <a:t> </a:t>
            </a:r>
            <a:r>
              <a:rPr lang="nl-NL" sz="1900" i="1" dirty="0" err="1" smtClean="0"/>
              <a:t>simple</a:t>
            </a:r>
            <a:r>
              <a:rPr lang="nl-NL" sz="1900" dirty="0" smtClean="0"/>
              <a:t> </a:t>
            </a:r>
            <a:r>
              <a:rPr lang="nl-NL" sz="1900" dirty="0" err="1"/>
              <a:t>thing</a:t>
            </a:r>
            <a:endParaRPr lang="nl-NL" sz="1900" dirty="0"/>
          </a:p>
          <a:p>
            <a:endParaRPr lang="nl-NL" sz="1900" dirty="0"/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395536" y="3400400"/>
            <a:ext cx="8748464" cy="5183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1900" dirty="0" err="1"/>
              <a:t>Not</a:t>
            </a:r>
            <a:r>
              <a:rPr lang="nl-NL" sz="1900" dirty="0"/>
              <a:t> </a:t>
            </a:r>
            <a:r>
              <a:rPr lang="nl-NL" sz="1900" dirty="0" err="1"/>
              <a:t>everything</a:t>
            </a:r>
            <a:r>
              <a:rPr lang="nl-NL" sz="1900" dirty="0"/>
              <a:t> is </a:t>
            </a:r>
            <a:r>
              <a:rPr lang="nl-NL" sz="1900" i="1" dirty="0" err="1" smtClean="0"/>
              <a:t>finite</a:t>
            </a:r>
            <a:r>
              <a:rPr lang="nl-NL" sz="1900" dirty="0" smtClean="0"/>
              <a:t>. </a:t>
            </a:r>
            <a:r>
              <a:rPr lang="nl-NL" sz="1900" dirty="0" err="1"/>
              <a:t>There</a:t>
            </a:r>
            <a:r>
              <a:rPr lang="nl-NL" sz="1900" dirty="0"/>
              <a:t> is at </a:t>
            </a:r>
            <a:r>
              <a:rPr lang="nl-NL" sz="1900" dirty="0" err="1"/>
              <a:t>least</a:t>
            </a:r>
            <a:r>
              <a:rPr lang="nl-NL" sz="1900" dirty="0"/>
              <a:t> </a:t>
            </a:r>
            <a:r>
              <a:rPr lang="nl-NL" sz="1900" dirty="0" err="1"/>
              <a:t>one</a:t>
            </a:r>
            <a:r>
              <a:rPr lang="nl-NL" sz="1900" dirty="0"/>
              <a:t> </a:t>
            </a:r>
            <a:r>
              <a:rPr lang="nl-NL" sz="1900" i="1" dirty="0" err="1" smtClean="0"/>
              <a:t>infinite</a:t>
            </a:r>
            <a:r>
              <a:rPr lang="nl-NL" sz="1900" dirty="0" smtClean="0"/>
              <a:t> </a:t>
            </a:r>
            <a:r>
              <a:rPr lang="nl-NL" sz="1900" dirty="0" err="1"/>
              <a:t>thing</a:t>
            </a:r>
            <a:endParaRPr lang="nl-NL" sz="1900" dirty="0"/>
          </a:p>
          <a:p>
            <a:endParaRPr lang="nl-NL" sz="1900" dirty="0"/>
          </a:p>
        </p:txBody>
      </p:sp>
    </p:spTree>
    <p:extLst>
      <p:ext uri="{BB962C8B-B14F-4D97-AF65-F5344CB8AC3E}">
        <p14:creationId xmlns:p14="http://schemas.microsoft.com/office/powerpoint/2010/main" val="1262235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9" grpId="0"/>
      <p:bldP spid="20" grpId="0"/>
      <p:bldP spid="10" grpId="0"/>
      <p:bldP spid="1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200" dirty="0" err="1" smtClean="0"/>
              <a:t>Some</a:t>
            </a:r>
            <a:r>
              <a:rPr lang="nl-NL" sz="3200" dirty="0" smtClean="0"/>
              <a:t> </a:t>
            </a:r>
            <a:r>
              <a:rPr lang="nl-NL" sz="3200" dirty="0" err="1" smtClean="0"/>
              <a:t>objections</a:t>
            </a:r>
            <a:endParaRPr lang="nl-NL" sz="3200" dirty="0"/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395536" y="1268760"/>
            <a:ext cx="9001000" cy="5183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1900" dirty="0" err="1" smtClean="0"/>
              <a:t>So</a:t>
            </a:r>
            <a:r>
              <a:rPr lang="nl-NL" sz="1900" dirty="0"/>
              <a:t> </a:t>
            </a:r>
            <a:r>
              <a:rPr lang="nl-NL" sz="1900" dirty="0" smtClean="0"/>
              <a:t>[</a:t>
            </a:r>
            <a:r>
              <a:rPr lang="nl-NL" sz="1900" dirty="0" err="1" smtClean="0"/>
              <a:t>Not</a:t>
            </a:r>
            <a:r>
              <a:rPr lang="nl-NL" sz="1900" dirty="0" smtClean="0"/>
              <a:t> </a:t>
            </a:r>
            <a:r>
              <a:rPr lang="nl-NL" sz="1900" dirty="0" err="1"/>
              <a:t>everything</a:t>
            </a:r>
            <a:r>
              <a:rPr lang="nl-NL" sz="1900" dirty="0"/>
              <a:t> is </a:t>
            </a:r>
            <a:r>
              <a:rPr lang="nl-NL" sz="1900" i="1" dirty="0" err="1" smtClean="0"/>
              <a:t>not-unicorn</a:t>
            </a:r>
            <a:r>
              <a:rPr lang="nl-NL" sz="1900" dirty="0" smtClean="0"/>
              <a:t>] is </a:t>
            </a:r>
            <a:r>
              <a:rPr lang="nl-NL" sz="1900" dirty="0" err="1" smtClean="0"/>
              <a:t>true</a:t>
            </a:r>
            <a:r>
              <a:rPr lang="nl-NL" sz="1900" dirty="0" smtClean="0"/>
              <a:t> </a:t>
            </a:r>
            <a:r>
              <a:rPr lang="nl-NL" sz="1900" dirty="0"/>
              <a:t>as well? </a:t>
            </a:r>
            <a:r>
              <a:rPr lang="nl-NL" sz="1900" dirty="0" smtClean="0"/>
              <a:t>But </a:t>
            </a:r>
            <a:r>
              <a:rPr lang="nl-NL" sz="1900" dirty="0" err="1" smtClean="0"/>
              <a:t>then</a:t>
            </a:r>
            <a:r>
              <a:rPr lang="nl-NL" sz="1900" dirty="0"/>
              <a:t> </a:t>
            </a:r>
            <a:r>
              <a:rPr lang="nl-NL" sz="1900" dirty="0" err="1" smtClean="0"/>
              <a:t>there</a:t>
            </a:r>
            <a:r>
              <a:rPr lang="nl-NL" sz="1900" dirty="0" smtClean="0"/>
              <a:t> are </a:t>
            </a:r>
            <a:r>
              <a:rPr lang="nl-NL" sz="1900" dirty="0" err="1" smtClean="0"/>
              <a:t>unicorns</a:t>
            </a:r>
            <a:r>
              <a:rPr lang="nl-NL" sz="1900" dirty="0" smtClean="0"/>
              <a:t>?</a:t>
            </a:r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611560" y="1787116"/>
            <a:ext cx="8568952" cy="3960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1900" i="1" dirty="0" err="1"/>
              <a:t>N</a:t>
            </a:r>
            <a:r>
              <a:rPr lang="nl-NL" sz="1900" i="1" dirty="0" err="1" smtClean="0"/>
              <a:t>ot-unicorn</a:t>
            </a:r>
            <a:r>
              <a:rPr lang="nl-NL" sz="1900" dirty="0" smtClean="0"/>
              <a:t> </a:t>
            </a:r>
            <a:r>
              <a:rPr lang="nl-NL" sz="1900" dirty="0" err="1" smtClean="0"/>
              <a:t>isn’t</a:t>
            </a:r>
            <a:r>
              <a:rPr lang="nl-NL" sz="1900" dirty="0" smtClean="0"/>
              <a:t> a term </a:t>
            </a:r>
            <a:r>
              <a:rPr lang="nl-NL" sz="1900" dirty="0" err="1" smtClean="0"/>
              <a:t>with</a:t>
            </a:r>
            <a:r>
              <a:rPr lang="nl-NL" sz="1900" dirty="0"/>
              <a:t> </a:t>
            </a:r>
            <a:r>
              <a:rPr lang="nl-NL" sz="1900" dirty="0" err="1" smtClean="0"/>
              <a:t>positive</a:t>
            </a:r>
            <a:r>
              <a:rPr lang="nl-NL" sz="1900" dirty="0" smtClean="0"/>
              <a:t> </a:t>
            </a:r>
            <a:r>
              <a:rPr lang="nl-NL" sz="1900" dirty="0" err="1" smtClean="0"/>
              <a:t>determinate</a:t>
            </a:r>
            <a:r>
              <a:rPr lang="nl-NL" sz="1900" dirty="0" smtClean="0"/>
              <a:t> </a:t>
            </a:r>
            <a:r>
              <a:rPr lang="nl-NL" sz="1900" dirty="0" err="1" smtClean="0"/>
              <a:t>meaning</a:t>
            </a:r>
            <a:r>
              <a:rPr lang="nl-NL" sz="1900" dirty="0" smtClean="0"/>
              <a:t>. </a:t>
            </a:r>
            <a:r>
              <a:rPr lang="nl-NL" sz="1900" dirty="0" err="1" smtClean="0"/>
              <a:t>RefSet</a:t>
            </a:r>
            <a:r>
              <a:rPr lang="nl-NL" sz="1900" dirty="0" smtClean="0"/>
              <a:t>(</a:t>
            </a:r>
            <a:r>
              <a:rPr lang="nl-NL" sz="1900" dirty="0" err="1" smtClean="0"/>
              <a:t>Meaning</a:t>
            </a:r>
            <a:r>
              <a:rPr lang="nl-NL" sz="1900" dirty="0" smtClean="0"/>
              <a:t>(</a:t>
            </a:r>
            <a:r>
              <a:rPr lang="nl-NL" sz="1900" i="1" dirty="0" err="1" smtClean="0"/>
              <a:t>not-unicorn</a:t>
            </a:r>
            <a:r>
              <a:rPr lang="nl-NL" sz="1900" dirty="0" smtClean="0"/>
              <a:t>)) is </a:t>
            </a:r>
            <a:r>
              <a:rPr lang="nl-NL" sz="1900" dirty="0" err="1" smtClean="0"/>
              <a:t>thus</a:t>
            </a:r>
            <a:r>
              <a:rPr lang="nl-NL" sz="1900" dirty="0" smtClean="0"/>
              <a:t> </a:t>
            </a:r>
            <a:r>
              <a:rPr lang="nl-NL" sz="1900" dirty="0" err="1" smtClean="0"/>
              <a:t>not</a:t>
            </a:r>
            <a:r>
              <a:rPr lang="nl-NL" sz="1900" dirty="0" smtClean="0"/>
              <a:t> </a:t>
            </a:r>
            <a:r>
              <a:rPr lang="nl-NL" sz="1900" dirty="0" err="1" smtClean="0"/>
              <a:t>defined</a:t>
            </a:r>
            <a:r>
              <a:rPr lang="nl-NL" sz="1900" dirty="0" smtClean="0"/>
              <a:t> </a:t>
            </a:r>
            <a:r>
              <a:rPr lang="nl-NL" sz="1900" dirty="0" err="1" smtClean="0"/>
              <a:t>and</a:t>
            </a:r>
            <a:r>
              <a:rPr lang="nl-NL" sz="1900" dirty="0" smtClean="0"/>
              <a:t> [</a:t>
            </a:r>
            <a:r>
              <a:rPr lang="nl-NL" sz="1900" dirty="0" err="1" smtClean="0"/>
              <a:t>Not</a:t>
            </a:r>
            <a:r>
              <a:rPr lang="nl-NL" sz="1900" dirty="0" smtClean="0"/>
              <a:t> </a:t>
            </a:r>
            <a:r>
              <a:rPr lang="nl-NL" sz="1900" dirty="0" err="1" smtClean="0"/>
              <a:t>everything</a:t>
            </a:r>
            <a:r>
              <a:rPr lang="nl-NL" sz="1900" dirty="0" smtClean="0"/>
              <a:t> is </a:t>
            </a:r>
            <a:r>
              <a:rPr lang="nl-NL" sz="1900" i="1" dirty="0" err="1" smtClean="0"/>
              <a:t>not-unicorn</a:t>
            </a:r>
            <a:r>
              <a:rPr lang="nl-NL" sz="1900" dirty="0"/>
              <a:t>]</a:t>
            </a:r>
            <a:r>
              <a:rPr lang="nl-NL" sz="1900" dirty="0" smtClean="0"/>
              <a:t> does </a:t>
            </a:r>
            <a:r>
              <a:rPr lang="nl-NL" sz="1900" dirty="0" err="1" smtClean="0"/>
              <a:t>not</a:t>
            </a:r>
            <a:r>
              <a:rPr lang="nl-NL" sz="1900" dirty="0" smtClean="0"/>
              <a:t> follow</a:t>
            </a:r>
          </a:p>
        </p:txBody>
      </p:sp>
      <p:sp>
        <p:nvSpPr>
          <p:cNvPr id="21" name="Content Placeholder 2"/>
          <p:cNvSpPr txBox="1">
            <a:spLocks/>
          </p:cNvSpPr>
          <p:nvPr/>
        </p:nvSpPr>
        <p:spPr>
          <a:xfrm>
            <a:off x="395536" y="2564904"/>
            <a:ext cx="9001000" cy="5183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1900" dirty="0" smtClean="0"/>
              <a:t>But is [</a:t>
            </a:r>
            <a:r>
              <a:rPr lang="nl-NL" sz="1900" dirty="0" err="1" smtClean="0"/>
              <a:t>Not</a:t>
            </a:r>
            <a:r>
              <a:rPr lang="nl-NL" sz="1900" dirty="0" smtClean="0"/>
              <a:t> </a:t>
            </a:r>
            <a:r>
              <a:rPr lang="nl-NL" sz="1900" dirty="0" err="1" smtClean="0"/>
              <a:t>everything</a:t>
            </a:r>
            <a:r>
              <a:rPr lang="nl-NL" sz="1900" dirty="0" smtClean="0"/>
              <a:t> is </a:t>
            </a:r>
            <a:r>
              <a:rPr lang="nl-NL" sz="1900" i="1" dirty="0" err="1" smtClean="0"/>
              <a:t>self-identical</a:t>
            </a:r>
            <a:r>
              <a:rPr lang="nl-NL" sz="1900" dirty="0" smtClean="0"/>
              <a:t>]</a:t>
            </a:r>
            <a:r>
              <a:rPr lang="nl-NL" sz="1900" dirty="0"/>
              <a:t> </a:t>
            </a:r>
            <a:r>
              <a:rPr lang="nl-NL" sz="1900" dirty="0" err="1" smtClean="0"/>
              <a:t>true</a:t>
            </a:r>
            <a:r>
              <a:rPr lang="nl-NL" sz="1900" dirty="0" smtClean="0"/>
              <a:t>? Is </a:t>
            </a:r>
            <a:r>
              <a:rPr lang="nl-NL" sz="1900" dirty="0" err="1" smtClean="0"/>
              <a:t>there</a:t>
            </a:r>
            <a:r>
              <a:rPr lang="nl-NL" sz="1900" dirty="0" smtClean="0"/>
              <a:t> a </a:t>
            </a:r>
            <a:r>
              <a:rPr lang="nl-NL" sz="1900" dirty="0" err="1" smtClean="0"/>
              <a:t>thing</a:t>
            </a:r>
            <a:r>
              <a:rPr lang="nl-NL" sz="1900" dirty="0" smtClean="0"/>
              <a:t> </a:t>
            </a:r>
            <a:r>
              <a:rPr lang="nl-NL" sz="1900" dirty="0" err="1" smtClean="0"/>
              <a:t>not</a:t>
            </a:r>
            <a:r>
              <a:rPr lang="nl-NL" sz="1900" dirty="0" smtClean="0"/>
              <a:t> </a:t>
            </a:r>
            <a:r>
              <a:rPr lang="nl-NL" sz="1900" dirty="0" err="1" smtClean="0"/>
              <a:t>identical</a:t>
            </a:r>
            <a:r>
              <a:rPr lang="nl-NL" sz="1900" dirty="0" smtClean="0"/>
              <a:t> </a:t>
            </a:r>
            <a:r>
              <a:rPr lang="nl-NL" sz="1900" dirty="0" err="1" smtClean="0"/>
              <a:t>to</a:t>
            </a:r>
            <a:r>
              <a:rPr lang="nl-NL" sz="1900" dirty="0" smtClean="0"/>
              <a:t> </a:t>
            </a:r>
            <a:r>
              <a:rPr lang="nl-NL" sz="1900" dirty="0" err="1" smtClean="0"/>
              <a:t>itself</a:t>
            </a:r>
            <a:r>
              <a:rPr lang="nl-NL" sz="1900" dirty="0" smtClean="0"/>
              <a:t>?</a:t>
            </a:r>
          </a:p>
        </p:txBody>
      </p:sp>
      <p:sp>
        <p:nvSpPr>
          <p:cNvPr id="22" name="Content Placeholder 2"/>
          <p:cNvSpPr txBox="1">
            <a:spLocks/>
          </p:cNvSpPr>
          <p:nvPr/>
        </p:nvSpPr>
        <p:spPr>
          <a:xfrm>
            <a:off x="395536" y="3032956"/>
            <a:ext cx="8568952" cy="3960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1900" dirty="0" err="1" smtClean="0"/>
              <a:t>This</a:t>
            </a:r>
            <a:r>
              <a:rPr lang="nl-NL" sz="1900" dirty="0" smtClean="0"/>
              <a:t> </a:t>
            </a:r>
            <a:r>
              <a:rPr lang="nl-NL" sz="1900" dirty="0" err="1" smtClean="0"/>
              <a:t>doesn’t</a:t>
            </a:r>
            <a:r>
              <a:rPr lang="nl-NL" sz="1900" dirty="0" smtClean="0"/>
              <a:t> follow </a:t>
            </a:r>
            <a:r>
              <a:rPr lang="nl-NL" sz="1900" dirty="0" err="1" smtClean="0"/>
              <a:t>either</a:t>
            </a:r>
            <a:r>
              <a:rPr lang="nl-NL" sz="1900" dirty="0" smtClean="0"/>
              <a:t>, </a:t>
            </a:r>
            <a:r>
              <a:rPr lang="nl-NL" sz="1900" dirty="0" err="1" smtClean="0"/>
              <a:t>since</a:t>
            </a:r>
            <a:r>
              <a:rPr lang="nl-NL" sz="1900" dirty="0"/>
              <a:t> </a:t>
            </a:r>
            <a:r>
              <a:rPr lang="nl-NL" sz="1900" i="1" dirty="0" err="1" smtClean="0"/>
              <a:t>self-identical</a:t>
            </a:r>
            <a:r>
              <a:rPr lang="nl-NL" sz="1900" dirty="0" smtClean="0"/>
              <a:t> is a </a:t>
            </a:r>
            <a:r>
              <a:rPr lang="nl-NL" sz="1900" dirty="0" err="1" smtClean="0"/>
              <a:t>relational</a:t>
            </a:r>
            <a:r>
              <a:rPr lang="nl-NL" sz="1900" dirty="0" smtClean="0"/>
              <a:t> property </a:t>
            </a:r>
            <a:r>
              <a:rPr lang="nl-NL" sz="1900" dirty="0" err="1" smtClean="0"/>
              <a:t>and</a:t>
            </a:r>
            <a:r>
              <a:rPr lang="nl-NL" sz="1900" dirty="0" smtClean="0"/>
              <a:t> </a:t>
            </a:r>
            <a:r>
              <a:rPr lang="nl-NL" sz="1900" dirty="0" err="1" smtClean="0"/>
              <a:t>thus</a:t>
            </a:r>
            <a:r>
              <a:rPr lang="nl-NL" sz="1900" dirty="0" smtClean="0"/>
              <a:t> a </a:t>
            </a:r>
            <a:r>
              <a:rPr lang="nl-NL" sz="1900" i="1" dirty="0" smtClean="0"/>
              <a:t>Cambridge</a:t>
            </a:r>
            <a:r>
              <a:rPr lang="nl-NL" sz="1900" dirty="0" smtClean="0"/>
              <a:t> </a:t>
            </a:r>
            <a:r>
              <a:rPr lang="nl-NL" sz="1900" dirty="0" err="1" smtClean="0"/>
              <a:t>instead</a:t>
            </a:r>
            <a:r>
              <a:rPr lang="nl-NL" sz="1900" dirty="0" smtClean="0"/>
              <a:t> of a </a:t>
            </a:r>
            <a:r>
              <a:rPr lang="nl-NL" sz="1900" i="1" dirty="0" smtClean="0"/>
              <a:t>real</a:t>
            </a:r>
            <a:r>
              <a:rPr lang="nl-NL" sz="1900" dirty="0" smtClean="0"/>
              <a:t> property. It </a:t>
            </a:r>
            <a:r>
              <a:rPr lang="nl-NL" sz="1900" dirty="0" err="1" smtClean="0"/>
              <a:t>doesn’t</a:t>
            </a:r>
            <a:r>
              <a:rPr lang="nl-NL" sz="1900" dirty="0" smtClean="0"/>
              <a:t> </a:t>
            </a:r>
            <a:r>
              <a:rPr lang="nl-NL" sz="1900" dirty="0" err="1" smtClean="0"/>
              <a:t>add</a:t>
            </a:r>
            <a:r>
              <a:rPr lang="nl-NL" sz="1900" dirty="0" smtClean="0"/>
              <a:t> </a:t>
            </a:r>
            <a:r>
              <a:rPr lang="nl-NL" sz="1900" dirty="0" err="1" smtClean="0"/>
              <a:t>to</a:t>
            </a:r>
            <a:r>
              <a:rPr lang="nl-NL" sz="1900" dirty="0" smtClean="0"/>
              <a:t> (or </a:t>
            </a:r>
            <a:r>
              <a:rPr lang="nl-NL" sz="1900" dirty="0" err="1" smtClean="0"/>
              <a:t>modify</a:t>
            </a:r>
            <a:r>
              <a:rPr lang="nl-NL" sz="1900" dirty="0"/>
              <a:t>)</a:t>
            </a:r>
            <a:r>
              <a:rPr lang="nl-NL" sz="1900" dirty="0" smtClean="0"/>
              <a:t> </a:t>
            </a:r>
            <a:r>
              <a:rPr lang="nl-NL" sz="1900" dirty="0" err="1" smtClean="0"/>
              <a:t>its</a:t>
            </a:r>
            <a:r>
              <a:rPr lang="nl-NL" sz="1900" dirty="0" smtClean="0"/>
              <a:t> </a:t>
            </a:r>
            <a:r>
              <a:rPr lang="nl-NL" sz="1900" dirty="0" err="1" smtClean="0"/>
              <a:t>bearer</a:t>
            </a:r>
            <a:endParaRPr lang="nl-NL" sz="1900" dirty="0" smtClean="0"/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395536" y="3774740"/>
            <a:ext cx="9001000" cy="5183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1900" dirty="0" smtClean="0"/>
              <a:t>Is </a:t>
            </a:r>
            <a:r>
              <a:rPr lang="nl-NL" sz="1900" dirty="0" err="1" smtClean="0"/>
              <a:t>then</a:t>
            </a:r>
            <a:r>
              <a:rPr lang="nl-NL" sz="1900" dirty="0" smtClean="0"/>
              <a:t> [</a:t>
            </a:r>
            <a:r>
              <a:rPr lang="nl-NL" sz="1900" dirty="0" err="1" smtClean="0"/>
              <a:t>Not</a:t>
            </a:r>
            <a:r>
              <a:rPr lang="nl-NL" sz="1900" dirty="0" smtClean="0"/>
              <a:t> </a:t>
            </a:r>
            <a:r>
              <a:rPr lang="nl-NL" sz="1900" dirty="0" err="1" smtClean="0"/>
              <a:t>everything</a:t>
            </a:r>
            <a:r>
              <a:rPr lang="nl-NL" sz="1900" dirty="0" smtClean="0"/>
              <a:t> is </a:t>
            </a:r>
            <a:r>
              <a:rPr lang="nl-NL" sz="1900" i="1" dirty="0" err="1" smtClean="0"/>
              <a:t>knowable</a:t>
            </a:r>
            <a:r>
              <a:rPr lang="nl-NL" sz="1900" dirty="0" smtClean="0"/>
              <a:t>?] </a:t>
            </a:r>
            <a:r>
              <a:rPr lang="nl-NL" sz="1900" dirty="0" err="1" smtClean="0"/>
              <a:t>true</a:t>
            </a:r>
            <a:r>
              <a:rPr lang="nl-NL" sz="1900" dirty="0" smtClean="0"/>
              <a:t>? Is </a:t>
            </a:r>
            <a:r>
              <a:rPr lang="nl-NL" sz="1900" dirty="0" err="1" smtClean="0"/>
              <a:t>there</a:t>
            </a:r>
            <a:r>
              <a:rPr lang="nl-NL" sz="1900" dirty="0" smtClean="0"/>
              <a:t> </a:t>
            </a:r>
            <a:r>
              <a:rPr lang="nl-NL" sz="1900" dirty="0" err="1" smtClean="0"/>
              <a:t>something</a:t>
            </a:r>
            <a:r>
              <a:rPr lang="nl-NL" sz="1900" dirty="0" smtClean="0"/>
              <a:t> </a:t>
            </a:r>
            <a:r>
              <a:rPr lang="nl-NL" sz="1900" dirty="0" err="1" smtClean="0"/>
              <a:t>that</a:t>
            </a:r>
            <a:r>
              <a:rPr lang="nl-NL" sz="1900" dirty="0" smtClean="0"/>
              <a:t> is </a:t>
            </a:r>
            <a:r>
              <a:rPr lang="nl-NL" sz="1900" dirty="0" err="1" smtClean="0"/>
              <a:t>unknowable</a:t>
            </a:r>
            <a:r>
              <a:rPr lang="nl-NL" sz="1900" dirty="0" smtClean="0"/>
              <a:t>?</a:t>
            </a:r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395536" y="4293096"/>
            <a:ext cx="9001000" cy="5183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1900" dirty="0" err="1" smtClean="0"/>
              <a:t>If</a:t>
            </a:r>
            <a:r>
              <a:rPr lang="nl-NL" sz="1900" dirty="0" smtClean="0"/>
              <a:t> </a:t>
            </a:r>
            <a:r>
              <a:rPr lang="nl-NL" sz="1900" i="1" dirty="0" err="1" smtClean="0"/>
              <a:t>knowable</a:t>
            </a:r>
            <a:r>
              <a:rPr lang="nl-NL" sz="1900" dirty="0" smtClean="0"/>
              <a:t> is a real property, </a:t>
            </a:r>
            <a:r>
              <a:rPr lang="nl-NL" sz="1900" dirty="0" err="1" smtClean="0"/>
              <a:t>then</a:t>
            </a:r>
            <a:r>
              <a:rPr lang="nl-NL" sz="1900" dirty="0" smtClean="0"/>
              <a:t> </a:t>
            </a:r>
            <a:r>
              <a:rPr lang="nl-NL" sz="1900" dirty="0" err="1" smtClean="0"/>
              <a:t>this</a:t>
            </a:r>
            <a:r>
              <a:rPr lang="nl-NL" sz="1900" dirty="0" smtClean="0"/>
              <a:t> is indeed a </a:t>
            </a:r>
            <a:r>
              <a:rPr lang="nl-NL" sz="1900" dirty="0" err="1" smtClean="0"/>
              <a:t>corollary</a:t>
            </a:r>
            <a:r>
              <a:rPr lang="nl-NL" sz="1900" dirty="0"/>
              <a:t> </a:t>
            </a:r>
            <a:r>
              <a:rPr lang="nl-NL" sz="1900" dirty="0" smtClean="0"/>
              <a:t>of the </a:t>
            </a:r>
            <a:r>
              <a:rPr lang="nl-NL" sz="1900" dirty="0" err="1" smtClean="0"/>
              <a:t>conclusion</a:t>
            </a:r>
            <a:r>
              <a:rPr lang="nl-NL" sz="1900" dirty="0" smtClean="0"/>
              <a:t> of the argument. But </a:t>
            </a:r>
            <a:r>
              <a:rPr lang="nl-NL" sz="1900" dirty="0" err="1" smtClean="0"/>
              <a:t>if</a:t>
            </a:r>
            <a:r>
              <a:rPr lang="nl-NL" sz="1900" dirty="0" smtClean="0"/>
              <a:t> </a:t>
            </a:r>
            <a:r>
              <a:rPr lang="nl-NL" sz="1900" i="1" dirty="0" err="1" smtClean="0"/>
              <a:t>knowable</a:t>
            </a:r>
            <a:r>
              <a:rPr lang="nl-NL" sz="1900" dirty="0" smtClean="0"/>
              <a:t> is a Cambridge property, </a:t>
            </a:r>
            <a:r>
              <a:rPr lang="nl-NL" sz="1900" dirty="0" err="1" smtClean="0"/>
              <a:t>it</a:t>
            </a:r>
            <a:r>
              <a:rPr lang="nl-NL" sz="1900" dirty="0" smtClean="0"/>
              <a:t> </a:t>
            </a:r>
            <a:r>
              <a:rPr lang="nl-NL" sz="1900" dirty="0" err="1" smtClean="0"/>
              <a:t>doesn’t</a:t>
            </a:r>
            <a:r>
              <a:rPr lang="nl-NL" sz="1900" dirty="0" smtClean="0"/>
              <a:t> follow. I do in </a:t>
            </a:r>
            <a:r>
              <a:rPr lang="nl-NL" sz="1900" dirty="0" err="1" smtClean="0"/>
              <a:t>fact</a:t>
            </a:r>
            <a:r>
              <a:rPr lang="nl-NL" sz="1900" dirty="0" smtClean="0"/>
              <a:t> </a:t>
            </a:r>
            <a:r>
              <a:rPr lang="nl-NL" sz="1900" dirty="0" err="1" smtClean="0"/>
              <a:t>think</a:t>
            </a:r>
            <a:r>
              <a:rPr lang="nl-NL" sz="1900" dirty="0" smtClean="0"/>
              <a:t>  </a:t>
            </a:r>
            <a:r>
              <a:rPr lang="nl-NL" sz="1900" dirty="0" err="1" smtClean="0"/>
              <a:t>that</a:t>
            </a:r>
            <a:r>
              <a:rPr lang="nl-NL" sz="1900" dirty="0" smtClean="0"/>
              <a:t> </a:t>
            </a:r>
            <a:r>
              <a:rPr lang="nl-NL" sz="1900" i="1" dirty="0" err="1" smtClean="0"/>
              <a:t>knowable</a:t>
            </a:r>
            <a:r>
              <a:rPr lang="nl-NL" sz="1900" dirty="0" smtClean="0"/>
              <a:t> is a Cambridge property</a:t>
            </a:r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395536" y="5358916"/>
            <a:ext cx="9001000" cy="5183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1900" dirty="0" smtClean="0"/>
              <a:t>But </a:t>
            </a:r>
            <a:r>
              <a:rPr lang="nl-NL" sz="1900" dirty="0" err="1" smtClean="0"/>
              <a:t>what</a:t>
            </a:r>
            <a:r>
              <a:rPr lang="nl-NL" sz="1900" dirty="0" smtClean="0"/>
              <a:t> </a:t>
            </a:r>
            <a:r>
              <a:rPr lang="nl-NL" sz="1900" dirty="0" err="1" smtClean="0"/>
              <a:t>if</a:t>
            </a:r>
            <a:r>
              <a:rPr lang="nl-NL" sz="1900" dirty="0" smtClean="0"/>
              <a:t> </a:t>
            </a:r>
            <a:r>
              <a:rPr lang="nl-NL" sz="1900" dirty="0" err="1" smtClean="0"/>
              <a:t>there</a:t>
            </a:r>
            <a:r>
              <a:rPr lang="nl-NL" sz="1900" dirty="0" smtClean="0"/>
              <a:t> are </a:t>
            </a:r>
            <a:r>
              <a:rPr lang="nl-NL" sz="1900" dirty="0" err="1" smtClean="0"/>
              <a:t>unknowable</a:t>
            </a:r>
            <a:r>
              <a:rPr lang="nl-NL" sz="1900" dirty="0" smtClean="0"/>
              <a:t> </a:t>
            </a:r>
            <a:r>
              <a:rPr lang="nl-NL" sz="1900" dirty="0" err="1" smtClean="0"/>
              <a:t>things</a:t>
            </a:r>
            <a:r>
              <a:rPr lang="nl-NL" sz="1900" dirty="0" smtClean="0"/>
              <a:t>? </a:t>
            </a:r>
            <a:r>
              <a:rPr lang="nl-NL" sz="1900" dirty="0" err="1" smtClean="0"/>
              <a:t>Wouldn’t</a:t>
            </a:r>
            <a:r>
              <a:rPr lang="nl-NL" sz="1900" dirty="0" smtClean="0"/>
              <a:t> </a:t>
            </a:r>
            <a:r>
              <a:rPr lang="nl-NL" sz="1900" dirty="0" err="1" smtClean="0"/>
              <a:t>that</a:t>
            </a:r>
            <a:r>
              <a:rPr lang="nl-NL" sz="1900" dirty="0" smtClean="0"/>
              <a:t> </a:t>
            </a:r>
            <a:r>
              <a:rPr lang="nl-NL" sz="1900" dirty="0" err="1" smtClean="0"/>
              <a:t>reject</a:t>
            </a:r>
            <a:r>
              <a:rPr lang="nl-NL" sz="1900" dirty="0" smtClean="0"/>
              <a:t> the first </a:t>
            </a:r>
            <a:r>
              <a:rPr lang="nl-NL" sz="1900" dirty="0" err="1" smtClean="0"/>
              <a:t>premise</a:t>
            </a:r>
            <a:r>
              <a:rPr lang="nl-NL" sz="1900" dirty="0" smtClean="0"/>
              <a:t> of </a:t>
            </a:r>
            <a:r>
              <a:rPr lang="nl-NL" sz="1900" dirty="0" err="1" smtClean="0"/>
              <a:t>my</a:t>
            </a:r>
            <a:r>
              <a:rPr lang="nl-NL" sz="1900" dirty="0" smtClean="0"/>
              <a:t> </a:t>
            </a:r>
            <a:r>
              <a:rPr lang="nl-NL" sz="1900" i="1" dirty="0" err="1" smtClean="0"/>
              <a:t>modal-epistemic</a:t>
            </a:r>
            <a:r>
              <a:rPr lang="nl-NL" sz="1900" i="1" dirty="0" smtClean="0"/>
              <a:t> argument </a:t>
            </a:r>
            <a:r>
              <a:rPr lang="nl-NL" sz="1900" dirty="0" err="1" smtClean="0"/>
              <a:t>for</a:t>
            </a:r>
            <a:r>
              <a:rPr lang="nl-NL" sz="1900" dirty="0" smtClean="0"/>
              <a:t> the </a:t>
            </a:r>
            <a:r>
              <a:rPr lang="nl-NL" sz="1900" dirty="0" err="1" smtClean="0"/>
              <a:t>existence</a:t>
            </a:r>
            <a:r>
              <a:rPr lang="nl-NL" sz="1900" dirty="0" smtClean="0"/>
              <a:t> of God?</a:t>
            </a: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395536" y="6021288"/>
            <a:ext cx="9001000" cy="5183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1900" dirty="0" smtClean="0"/>
              <a:t>No, </a:t>
            </a:r>
            <a:r>
              <a:rPr lang="nl-NL" sz="1900" dirty="0" err="1" smtClean="0"/>
              <a:t>for</a:t>
            </a:r>
            <a:r>
              <a:rPr lang="nl-NL" sz="1900" dirty="0" smtClean="0"/>
              <a:t> </a:t>
            </a:r>
            <a:r>
              <a:rPr lang="nl-NL" sz="1900" dirty="0"/>
              <a:t>t</a:t>
            </a:r>
            <a:r>
              <a:rPr lang="nl-NL" sz="1900" dirty="0" smtClean="0"/>
              <a:t>he </a:t>
            </a:r>
            <a:r>
              <a:rPr lang="nl-NL" sz="1900" i="1" dirty="0" err="1" smtClean="0"/>
              <a:t>refined</a:t>
            </a:r>
            <a:r>
              <a:rPr lang="nl-NL" sz="1900" i="1" dirty="0" smtClean="0"/>
              <a:t> </a:t>
            </a:r>
            <a:r>
              <a:rPr lang="nl-NL" sz="1900" i="1" dirty="0" err="1" smtClean="0"/>
              <a:t>version</a:t>
            </a:r>
            <a:r>
              <a:rPr lang="nl-NL" sz="1900" dirty="0"/>
              <a:t> </a:t>
            </a:r>
            <a:r>
              <a:rPr lang="nl-NL" sz="1900" dirty="0" smtClean="0"/>
              <a:t>of the </a:t>
            </a:r>
            <a:r>
              <a:rPr lang="nl-NL" sz="1900" dirty="0" err="1" smtClean="0"/>
              <a:t>modal-epistemic</a:t>
            </a:r>
            <a:r>
              <a:rPr lang="nl-NL" sz="1900" dirty="0" smtClean="0"/>
              <a:t> argument is compatible </a:t>
            </a:r>
            <a:r>
              <a:rPr lang="nl-NL" sz="1900" dirty="0" err="1" smtClean="0"/>
              <a:t>with</a:t>
            </a:r>
            <a:r>
              <a:rPr lang="nl-NL" sz="1900" dirty="0" smtClean="0"/>
              <a:t> </a:t>
            </a:r>
            <a:r>
              <a:rPr lang="nl-NL" sz="1900" dirty="0" err="1" smtClean="0"/>
              <a:t>there</a:t>
            </a:r>
            <a:r>
              <a:rPr lang="nl-NL" sz="1900" dirty="0" smtClean="0"/>
              <a:t> </a:t>
            </a:r>
            <a:r>
              <a:rPr lang="nl-NL" sz="1900" dirty="0" err="1" smtClean="0"/>
              <a:t>possibly</a:t>
            </a:r>
            <a:r>
              <a:rPr lang="nl-NL" sz="1900" dirty="0" smtClean="0"/>
              <a:t> </a:t>
            </a:r>
            <a:r>
              <a:rPr lang="nl-NL" sz="1900" dirty="0" err="1" smtClean="0"/>
              <a:t>being</a:t>
            </a:r>
            <a:r>
              <a:rPr lang="nl-NL" sz="1900" dirty="0" smtClean="0"/>
              <a:t> </a:t>
            </a:r>
            <a:r>
              <a:rPr lang="nl-NL" sz="1900" dirty="0" err="1" smtClean="0"/>
              <a:t>unknowable</a:t>
            </a:r>
            <a:r>
              <a:rPr lang="nl-NL" sz="1900" dirty="0"/>
              <a:t> </a:t>
            </a:r>
            <a:r>
              <a:rPr lang="nl-NL" sz="1900" dirty="0" err="1" smtClean="0"/>
              <a:t>facts</a:t>
            </a:r>
            <a:r>
              <a:rPr lang="nl-NL" sz="1900" dirty="0" smtClean="0"/>
              <a:t>, </a:t>
            </a:r>
            <a:r>
              <a:rPr lang="nl-NL" sz="1900" dirty="0" err="1" smtClean="0"/>
              <a:t>such</a:t>
            </a:r>
            <a:r>
              <a:rPr lang="nl-NL" sz="1900" dirty="0" smtClean="0"/>
              <a:t> as </a:t>
            </a:r>
            <a:r>
              <a:rPr lang="nl-NL" sz="1900" i="1" dirty="0" smtClean="0"/>
              <a:t>John </a:t>
            </a:r>
            <a:r>
              <a:rPr lang="nl-NL" sz="1900" i="1" dirty="0" err="1" smtClean="0"/>
              <a:t>left</a:t>
            </a:r>
            <a:r>
              <a:rPr lang="nl-NL" sz="1900" i="1" dirty="0" smtClean="0"/>
              <a:t> Amsterdam </a:t>
            </a:r>
            <a:r>
              <a:rPr lang="nl-NL" sz="1900" i="1" dirty="0" err="1" smtClean="0"/>
              <a:t>and</a:t>
            </a:r>
            <a:r>
              <a:rPr lang="nl-NL" sz="1900" i="1" dirty="0" smtClean="0"/>
              <a:t> </a:t>
            </a:r>
            <a:r>
              <a:rPr lang="nl-NL" sz="1900" i="1" dirty="0" err="1" smtClean="0"/>
              <a:t>nobody</a:t>
            </a:r>
            <a:r>
              <a:rPr lang="nl-NL" sz="1900" i="1" dirty="0" smtClean="0"/>
              <a:t> </a:t>
            </a:r>
            <a:r>
              <a:rPr lang="nl-NL" sz="1900" i="1" dirty="0" err="1" smtClean="0"/>
              <a:t>knows</a:t>
            </a:r>
            <a:r>
              <a:rPr lang="nl-NL" sz="1900" i="1" dirty="0" smtClean="0"/>
              <a:t> </a:t>
            </a:r>
            <a:r>
              <a:rPr lang="nl-NL" sz="1900" i="1" dirty="0" err="1" smtClean="0"/>
              <a:t>it</a:t>
            </a:r>
            <a:r>
              <a:rPr lang="nl-NL" sz="1900" i="1" dirty="0" smtClean="0"/>
              <a:t> </a:t>
            </a:r>
            <a:endParaRPr lang="nl-NL" sz="1900" dirty="0" smtClean="0"/>
          </a:p>
        </p:txBody>
      </p:sp>
    </p:spTree>
    <p:extLst>
      <p:ext uri="{BB962C8B-B14F-4D97-AF65-F5344CB8AC3E}">
        <p14:creationId xmlns:p14="http://schemas.microsoft.com/office/powerpoint/2010/main" val="548582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6" grpId="0"/>
      <p:bldP spid="21" grpId="0"/>
      <p:bldP spid="22" grpId="0"/>
      <p:bldP spid="12" grpId="0"/>
      <p:bldP spid="14" grpId="0"/>
      <p:bldP spid="15" grpId="0"/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ubtitle 2"/>
          <p:cNvSpPr txBox="1">
            <a:spLocks/>
          </p:cNvSpPr>
          <p:nvPr/>
        </p:nvSpPr>
        <p:spPr>
          <a:xfrm>
            <a:off x="1371600" y="2612504"/>
            <a:ext cx="64008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nl-NL" sz="2800" dirty="0" err="1" smtClean="0">
                <a:solidFill>
                  <a:srgbClr val="0070C0"/>
                </a:solidFill>
              </a:rPr>
              <a:t>Thank</a:t>
            </a:r>
            <a:r>
              <a:rPr lang="nl-NL" sz="2800" dirty="0" smtClean="0">
                <a:solidFill>
                  <a:srgbClr val="0070C0"/>
                </a:solidFill>
              </a:rPr>
              <a:t> </a:t>
            </a:r>
            <a:r>
              <a:rPr lang="nl-NL" sz="2800" dirty="0" err="1" smtClean="0">
                <a:solidFill>
                  <a:srgbClr val="0070C0"/>
                </a:solidFill>
              </a:rPr>
              <a:t>You</a:t>
            </a:r>
            <a:endParaRPr lang="nl-NL" sz="2800" dirty="0" smtClean="0">
              <a:solidFill>
                <a:srgbClr val="0070C0"/>
              </a:solidFill>
            </a:endParaRPr>
          </a:p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nl-NL" sz="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nl-NL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Slides</a:t>
            </a:r>
            <a:r>
              <a:rPr kumimoji="0" lang="nl-NL" sz="24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nl-NL" sz="2400" b="0" i="0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available</a:t>
            </a:r>
            <a:r>
              <a:rPr lang="nl-NL" sz="2400" dirty="0" smtClean="0"/>
              <a:t> at </a:t>
            </a:r>
            <a:r>
              <a:rPr lang="nl-NL" sz="2400" i="1" dirty="0" err="1" smtClean="0"/>
              <a:t>gjerutten.nl</a:t>
            </a:r>
            <a:endParaRPr kumimoji="0" lang="nl-NL" sz="2400" i="1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8582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4258</TotalTime>
  <Words>1959</Words>
  <Application>Microsoft Office PowerPoint</Application>
  <PresentationFormat>On-screen Show (4:3)</PresentationFormat>
  <Paragraphs>139</Paragraphs>
  <Slides>13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  A semantic argument against the existence of universally held real properties</vt:lpstr>
      <vt:lpstr>Preliminaries</vt:lpstr>
      <vt:lpstr>A theory of meaning</vt:lpstr>
      <vt:lpstr>A theory of meaning (cont.)</vt:lpstr>
      <vt:lpstr>A theory of meaning (cont.)</vt:lpstr>
      <vt:lpstr>A theory of meaning (cont.)</vt:lpstr>
      <vt:lpstr>A theory of meaning (cont.)</vt:lpstr>
      <vt:lpstr>A theory of meaning (cont.)</vt:lpstr>
      <vt:lpstr>The semantic argument</vt:lpstr>
      <vt:lpstr>The semantic argument (cont.)</vt:lpstr>
      <vt:lpstr>Some corollaries of the argument’s conclusion</vt:lpstr>
      <vt:lpstr>Some objections</vt:lpstr>
      <vt:lpstr>PowerPoint Presentation</vt:lpstr>
    </vt:vector>
  </TitlesOfParts>
  <Company>LeasePlan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Epistemology</dc:title>
  <dc:creator>rutte</dc:creator>
  <cp:lastModifiedBy>Emanuel Rutten</cp:lastModifiedBy>
  <cp:revision>457</cp:revision>
  <dcterms:created xsi:type="dcterms:W3CDTF">2013-05-04T19:13:18Z</dcterms:created>
  <dcterms:modified xsi:type="dcterms:W3CDTF">2014-08-26T15:33:30Z</dcterms:modified>
</cp:coreProperties>
</file>