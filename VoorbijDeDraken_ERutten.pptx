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711" r:id="rId3"/>
    <p:sldId id="717" r:id="rId4"/>
    <p:sldId id="712" r:id="rId5"/>
    <p:sldId id="714" r:id="rId6"/>
    <p:sldId id="713" r:id="rId7"/>
    <p:sldId id="700" r:id="rId8"/>
    <p:sldId id="715" r:id="rId9"/>
    <p:sldId id="716" r:id="rId10"/>
    <p:sldId id="709" r:id="rId11"/>
    <p:sldId id="719" r:id="rId12"/>
    <p:sldId id="718" r:id="rId13"/>
    <p:sldId id="720" r:id="rId14"/>
    <p:sldId id="721" r:id="rId15"/>
  </p:sldIdLst>
  <p:sldSz cx="9144000" cy="6858000" type="screen4x3"/>
  <p:notesSz cx="6858000" cy="9144000"/>
  <p:custDataLst>
    <p:tags r:id="rId17"/>
  </p:custData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24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474" y="5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5334BD-2CFE-4460-9A3B-EBF3B9A79A1D}" type="datetimeFigureOut">
              <a:rPr lang="nl-NL" smtClean="0"/>
              <a:pPr/>
              <a:t>21-5-2023</a:t>
            </a:fld>
            <a:endParaRPr lang="nl-NL"/>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E894D2-E747-4DD6-9AC0-FA60268B0898}" type="slidenum">
              <a:rPr lang="nl-NL" smtClean="0"/>
              <a:pPr/>
              <a:t>‹nr.›</a:t>
            </a:fld>
            <a:endParaRPr lang="nl-NL"/>
          </a:p>
        </p:txBody>
      </p:sp>
    </p:spTree>
    <p:extLst>
      <p:ext uri="{BB962C8B-B14F-4D97-AF65-F5344CB8AC3E}">
        <p14:creationId xmlns:p14="http://schemas.microsoft.com/office/powerpoint/2010/main" val="1002285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2</a:t>
            </a:fld>
            <a:endParaRPr lang="nl-NL"/>
          </a:p>
        </p:txBody>
      </p:sp>
    </p:spTree>
    <p:extLst>
      <p:ext uri="{BB962C8B-B14F-4D97-AF65-F5344CB8AC3E}">
        <p14:creationId xmlns:p14="http://schemas.microsoft.com/office/powerpoint/2010/main" val="1720198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la-Latn" b="0" i="1" dirty="0">
                <a:solidFill>
                  <a:srgbClr val="202122"/>
                </a:solidFill>
                <a:effectLst/>
                <a:latin typeface="Arial" panose="020B0604020202020204" pitchFamily="34" charset="0"/>
              </a:rPr>
              <a:t>Ars Rhetorica</a:t>
            </a:r>
            <a:endParaRPr lang="nl-NL" dirty="0"/>
          </a:p>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3</a:t>
            </a:fld>
            <a:endParaRPr lang="nl-NL"/>
          </a:p>
        </p:txBody>
      </p:sp>
    </p:spTree>
    <p:extLst>
      <p:ext uri="{BB962C8B-B14F-4D97-AF65-F5344CB8AC3E}">
        <p14:creationId xmlns:p14="http://schemas.microsoft.com/office/powerpoint/2010/main" val="2146163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4</a:t>
            </a:fld>
            <a:endParaRPr lang="nl-NL"/>
          </a:p>
        </p:txBody>
      </p:sp>
    </p:spTree>
    <p:extLst>
      <p:ext uri="{BB962C8B-B14F-4D97-AF65-F5344CB8AC3E}">
        <p14:creationId xmlns:p14="http://schemas.microsoft.com/office/powerpoint/2010/main" val="4221917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6</a:t>
            </a:fld>
            <a:endParaRPr lang="nl-NL"/>
          </a:p>
        </p:txBody>
      </p:sp>
    </p:spTree>
    <p:extLst>
      <p:ext uri="{BB962C8B-B14F-4D97-AF65-F5344CB8AC3E}">
        <p14:creationId xmlns:p14="http://schemas.microsoft.com/office/powerpoint/2010/main" val="1625931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7</a:t>
            </a:fld>
            <a:endParaRPr lang="nl-NL"/>
          </a:p>
        </p:txBody>
      </p:sp>
    </p:spTree>
    <p:extLst>
      <p:ext uri="{BB962C8B-B14F-4D97-AF65-F5344CB8AC3E}">
        <p14:creationId xmlns:p14="http://schemas.microsoft.com/office/powerpoint/2010/main" val="19343662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8</a:t>
            </a:fld>
            <a:endParaRPr lang="nl-NL"/>
          </a:p>
        </p:txBody>
      </p:sp>
    </p:spTree>
    <p:extLst>
      <p:ext uri="{BB962C8B-B14F-4D97-AF65-F5344CB8AC3E}">
        <p14:creationId xmlns:p14="http://schemas.microsoft.com/office/powerpoint/2010/main" val="516862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9</a:t>
            </a:fld>
            <a:endParaRPr lang="nl-NL"/>
          </a:p>
        </p:txBody>
      </p:sp>
    </p:spTree>
    <p:extLst>
      <p:ext uri="{BB962C8B-B14F-4D97-AF65-F5344CB8AC3E}">
        <p14:creationId xmlns:p14="http://schemas.microsoft.com/office/powerpoint/2010/main" val="7388415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10</a:t>
            </a:fld>
            <a:endParaRPr lang="nl-NL"/>
          </a:p>
        </p:txBody>
      </p:sp>
    </p:spTree>
    <p:extLst>
      <p:ext uri="{BB962C8B-B14F-4D97-AF65-F5344CB8AC3E}">
        <p14:creationId xmlns:p14="http://schemas.microsoft.com/office/powerpoint/2010/main" val="314754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11</a:t>
            </a:fld>
            <a:endParaRPr lang="nl-NL"/>
          </a:p>
        </p:txBody>
      </p:sp>
    </p:spTree>
    <p:extLst>
      <p:ext uri="{BB962C8B-B14F-4D97-AF65-F5344CB8AC3E}">
        <p14:creationId xmlns:p14="http://schemas.microsoft.com/office/powerpoint/2010/main" val="381250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12</a:t>
            </a:fld>
            <a:endParaRPr lang="nl-NL"/>
          </a:p>
        </p:txBody>
      </p:sp>
    </p:spTree>
    <p:extLst>
      <p:ext uri="{BB962C8B-B14F-4D97-AF65-F5344CB8AC3E}">
        <p14:creationId xmlns:p14="http://schemas.microsoft.com/office/powerpoint/2010/main" val="2722888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Zo </a:t>
            </a:r>
            <a:r>
              <a:rPr lang="en-US" sz="1200" dirty="0" err="1"/>
              <a:t>wijst</a:t>
            </a:r>
            <a:r>
              <a:rPr lang="en-US" sz="1200" dirty="0"/>
              <a:t> de taal </a:t>
            </a:r>
            <a:r>
              <a:rPr lang="en-US" sz="1200" dirty="0" err="1"/>
              <a:t>ons</a:t>
            </a:r>
            <a:r>
              <a:rPr lang="en-US" sz="1200" dirty="0"/>
              <a:t> de </a:t>
            </a:r>
            <a:r>
              <a:rPr lang="en-US" sz="1200" dirty="0" err="1"/>
              <a:t>weg</a:t>
            </a:r>
            <a:r>
              <a:rPr lang="en-US" sz="1200" dirty="0"/>
              <a:t>. De </a:t>
            </a:r>
            <a:r>
              <a:rPr lang="en-US" sz="1200" dirty="0" err="1"/>
              <a:t>wereld</a:t>
            </a:r>
            <a:r>
              <a:rPr lang="en-US" sz="1200" dirty="0"/>
              <a:t> is de </a:t>
            </a:r>
            <a:r>
              <a:rPr lang="en-US" sz="1200" dirty="0" err="1"/>
              <a:t>wereld</a:t>
            </a:r>
            <a:r>
              <a:rPr lang="en-US" sz="1200" dirty="0"/>
              <a:t> </a:t>
            </a:r>
            <a:r>
              <a:rPr lang="en-US" sz="1200" dirty="0" err="1"/>
              <a:t>zoals</a:t>
            </a:r>
            <a:r>
              <a:rPr lang="en-US" sz="1200" dirty="0"/>
              <a:t> </a:t>
            </a:r>
            <a:r>
              <a:rPr lang="en-US" sz="1200" dirty="0" err="1"/>
              <a:t>gedacht</a:t>
            </a:r>
            <a:r>
              <a:rPr lang="en-US" sz="1200" dirty="0"/>
              <a:t> door de logos</a:t>
            </a:r>
            <a:endParaRPr lang="nl-NL" sz="1200" dirty="0"/>
          </a:p>
          <a:p>
            <a:endParaRPr lang="nl-NL" dirty="0"/>
          </a:p>
        </p:txBody>
      </p:sp>
      <p:sp>
        <p:nvSpPr>
          <p:cNvPr id="4" name="Tijdelijke aanduiding voor dianummer 3"/>
          <p:cNvSpPr>
            <a:spLocks noGrp="1"/>
          </p:cNvSpPr>
          <p:nvPr>
            <p:ph type="sldNum" sz="quarter" idx="5"/>
          </p:nvPr>
        </p:nvSpPr>
        <p:spPr/>
        <p:txBody>
          <a:bodyPr/>
          <a:lstStyle/>
          <a:p>
            <a:fld id="{0CE894D2-E747-4DD6-9AC0-FA60268B0898}" type="slidenum">
              <a:rPr lang="nl-NL" smtClean="0"/>
              <a:pPr/>
              <a:t>13</a:t>
            </a:fld>
            <a:endParaRPr lang="nl-NL"/>
          </a:p>
        </p:txBody>
      </p:sp>
    </p:spTree>
    <p:extLst>
      <p:ext uri="{BB962C8B-B14F-4D97-AF65-F5344CB8AC3E}">
        <p14:creationId xmlns:p14="http://schemas.microsoft.com/office/powerpoint/2010/main" val="3293481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21-5-2023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21-5-2023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AA0AEB-7E23-4A29-AE8C-DEF0EC2E5D97}" type="datetimeFigureOut">
              <a:rPr lang="nl-NL" smtClean="0"/>
              <a:pPr/>
              <a:t>21-5-2023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p:cNvSpPr>
            <a:spLocks noGrp="1"/>
          </p:cNvSpPr>
          <p:nvPr>
            <p:ph type="dt" sz="half" idx="10"/>
          </p:nvPr>
        </p:nvSpPr>
        <p:spPr/>
        <p:txBody>
          <a:bodyPr/>
          <a:lstStyle/>
          <a:p>
            <a:fld id="{12AA0AEB-7E23-4A29-AE8C-DEF0EC2E5D97}" type="datetimeFigureOut">
              <a:rPr lang="nl-NL" smtClean="0"/>
              <a:pPr/>
              <a:t>21-5-2023</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p:cNvSpPr>
            <a:spLocks noGrp="1"/>
          </p:cNvSpPr>
          <p:nvPr>
            <p:ph type="dt" sz="half" idx="10"/>
          </p:nvPr>
        </p:nvSpPr>
        <p:spPr/>
        <p:txBody>
          <a:bodyPr/>
          <a:lstStyle/>
          <a:p>
            <a:fld id="{12AA0AEB-7E23-4A29-AE8C-DEF0EC2E5D97}" type="datetimeFigureOut">
              <a:rPr lang="nl-NL" smtClean="0"/>
              <a:pPr/>
              <a:t>21-5-2023</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Date Placeholder 2"/>
          <p:cNvSpPr>
            <a:spLocks noGrp="1"/>
          </p:cNvSpPr>
          <p:nvPr>
            <p:ph type="dt" sz="half" idx="10"/>
          </p:nvPr>
        </p:nvSpPr>
        <p:spPr/>
        <p:txBody>
          <a:bodyPr/>
          <a:lstStyle/>
          <a:p>
            <a:fld id="{12AA0AEB-7E23-4A29-AE8C-DEF0EC2E5D97}" type="datetimeFigureOut">
              <a:rPr lang="nl-NL" smtClean="0"/>
              <a:pPr/>
              <a:t>21-5-2023</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AA0AEB-7E23-4A29-AE8C-DEF0EC2E5D97}" type="datetimeFigureOut">
              <a:rPr lang="nl-NL" smtClean="0"/>
              <a:pPr/>
              <a:t>21-5-2023</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AA0AEB-7E23-4A29-AE8C-DEF0EC2E5D97}" type="datetimeFigureOut">
              <a:rPr lang="nl-NL" smtClean="0"/>
              <a:pPr/>
              <a:t>21-5-2023</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AA0AEB-7E23-4A29-AE8C-DEF0EC2E5D97}" type="datetimeFigureOut">
              <a:rPr lang="nl-NL" smtClean="0"/>
              <a:pPr/>
              <a:t>21-5-2023</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21-5-2023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nl-NL"/>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21-5-2023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‹nr.›</a:t>
            </a:fld>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AA0AEB-7E23-4A29-AE8C-DEF0EC2E5D97}" type="datetimeFigureOut">
              <a:rPr lang="nl-NL" smtClean="0"/>
              <a:pPr/>
              <a:t>21-5-2023</a:t>
            </a:fld>
            <a:endParaRPr lang="nl-NL"/>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B04E19-9FB8-4C27-821D-BBEA7AABA37C}" type="slidenum">
              <a:rPr lang="nl-NL" smtClean="0"/>
              <a:pPr/>
              <a:t>‹nr.›</a:t>
            </a:fld>
            <a:endParaRPr lang="nl-NL"/>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7504" y="1670943"/>
            <a:ext cx="8712968" cy="461913"/>
          </a:xfrm>
        </p:spPr>
        <p:txBody>
          <a:bodyPr>
            <a:normAutofit fontScale="90000"/>
          </a:bodyPr>
          <a:lstStyle/>
          <a:p>
            <a:br>
              <a:rPr lang="nl-NL" dirty="0"/>
            </a:br>
            <a:br>
              <a:rPr lang="nl-NL" sz="4000" dirty="0"/>
            </a:br>
            <a:r>
              <a:rPr lang="nl-NL" dirty="0">
                <a:solidFill>
                  <a:srgbClr val="EA244E"/>
                </a:solidFill>
              </a:rPr>
              <a:t>Waarom de natuur van tegendelen houdt: Een metafysische ontdek-</a:t>
            </a:r>
            <a:br>
              <a:rPr lang="nl-NL" dirty="0">
                <a:solidFill>
                  <a:srgbClr val="EA244E"/>
                </a:solidFill>
              </a:rPr>
            </a:br>
            <a:r>
              <a:rPr lang="nl-NL" dirty="0" err="1">
                <a:solidFill>
                  <a:srgbClr val="EA244E"/>
                </a:solidFill>
              </a:rPr>
              <a:t>kingsreis</a:t>
            </a:r>
            <a:r>
              <a:rPr lang="nl-NL" dirty="0">
                <a:solidFill>
                  <a:srgbClr val="EA244E"/>
                </a:solidFill>
              </a:rPr>
              <a:t> voorbij de draken</a:t>
            </a:r>
            <a:br>
              <a:rPr lang="nl-NL" dirty="0">
                <a:solidFill>
                  <a:srgbClr val="FF0000"/>
                </a:solidFill>
              </a:rPr>
            </a:br>
            <a:br>
              <a:rPr lang="nl-NL" sz="3600" dirty="0"/>
            </a:br>
            <a:r>
              <a:rPr lang="en-IE" sz="3200" i="1" dirty="0" err="1"/>
              <a:t>Wijsgerig</a:t>
            </a:r>
            <a:r>
              <a:rPr lang="en-IE" sz="3200" i="1" dirty="0"/>
              <a:t> Festival Drift 2023</a:t>
            </a:r>
            <a:br>
              <a:rPr lang="en-IE" sz="3200" dirty="0"/>
            </a:br>
            <a:br>
              <a:rPr lang="en-IE" sz="3200" dirty="0"/>
            </a:br>
            <a:r>
              <a:rPr lang="en-IE" sz="3200" dirty="0"/>
              <a:t>20 </a:t>
            </a:r>
            <a:r>
              <a:rPr lang="en-IE" sz="3200" dirty="0" err="1"/>
              <a:t>mei</a:t>
            </a:r>
            <a:r>
              <a:rPr lang="en-IE" sz="3200" dirty="0"/>
              <a:t> | Amsterdam</a:t>
            </a:r>
            <a:endParaRPr lang="nl-NL" dirty="0"/>
          </a:p>
        </p:txBody>
      </p:sp>
      <p:sp>
        <p:nvSpPr>
          <p:cNvPr id="3" name="Subtitle 2"/>
          <p:cNvSpPr>
            <a:spLocks noGrp="1"/>
          </p:cNvSpPr>
          <p:nvPr>
            <p:ph type="subTitle" idx="1"/>
          </p:nvPr>
        </p:nvSpPr>
        <p:spPr>
          <a:xfrm>
            <a:off x="1267544" y="5013176"/>
            <a:ext cx="6328792" cy="1752600"/>
          </a:xfrm>
        </p:spPr>
        <p:txBody>
          <a:bodyPr>
            <a:normAutofit/>
          </a:bodyPr>
          <a:lstStyle/>
          <a:p>
            <a:r>
              <a:rPr lang="nl-NL" sz="2400" dirty="0">
                <a:solidFill>
                  <a:schemeClr val="tx1"/>
                </a:solidFill>
              </a:rPr>
              <a:t>Emanuel Rutten</a:t>
            </a:r>
          </a:p>
          <a:p>
            <a:r>
              <a:rPr lang="nl-NL" sz="2400" dirty="0">
                <a:solidFill>
                  <a:schemeClr val="tx1"/>
                </a:solidFill>
              </a:rPr>
              <a:t>VU Amsterdam</a:t>
            </a:r>
          </a:p>
          <a:p>
            <a:r>
              <a:rPr lang="nl-NL" sz="2400" u="sng" dirty="0">
                <a:solidFill>
                  <a:srgbClr val="0070C0"/>
                </a:solidFill>
              </a:rPr>
              <a:t>e.rutten@vu.nl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normAutofit/>
          </a:bodyPr>
          <a:lstStyle/>
          <a:p>
            <a:r>
              <a:rPr lang="nl-NL" sz="3600" dirty="0">
                <a:solidFill>
                  <a:srgbClr val="EA244E"/>
                </a:solidFill>
              </a:rPr>
              <a:t>Tegendelen</a:t>
            </a:r>
            <a:endParaRPr lang="nl-NL" sz="3600" dirty="0">
              <a:solidFill>
                <a:schemeClr val="accent2"/>
              </a:solidFill>
            </a:endParaRPr>
          </a:p>
        </p:txBody>
      </p:sp>
      <p:sp>
        <p:nvSpPr>
          <p:cNvPr id="3" name="Content Placeholder 2"/>
          <p:cNvSpPr>
            <a:spLocks noGrp="1"/>
          </p:cNvSpPr>
          <p:nvPr>
            <p:ph idx="1"/>
          </p:nvPr>
        </p:nvSpPr>
        <p:spPr>
          <a:xfrm>
            <a:off x="446856" y="2420888"/>
            <a:ext cx="8229600" cy="532656"/>
          </a:xfrm>
        </p:spPr>
        <p:txBody>
          <a:bodyPr>
            <a:noAutofit/>
          </a:bodyPr>
          <a:lstStyle/>
          <a:p>
            <a:r>
              <a:rPr lang="nl-NL" sz="2200" dirty="0"/>
              <a:t>We kunnen </a:t>
            </a:r>
            <a:r>
              <a:rPr lang="nl-NL" sz="2200" dirty="0">
                <a:solidFill>
                  <a:srgbClr val="EA244E"/>
                </a:solidFill>
              </a:rPr>
              <a:t>inductief generaliseren </a:t>
            </a:r>
            <a:r>
              <a:rPr lang="nl-NL" sz="2200" dirty="0"/>
              <a:t>en zo vermoeden dat van alles wat bestaat het </a:t>
            </a:r>
            <a:r>
              <a:rPr lang="nl-NL" sz="2200" i="1" dirty="0"/>
              <a:t>tegendeel</a:t>
            </a:r>
            <a:r>
              <a:rPr lang="nl-NL" sz="2200" dirty="0"/>
              <a:t> of in elk geval de </a:t>
            </a:r>
            <a:r>
              <a:rPr lang="nl-NL" sz="2200" i="1" dirty="0"/>
              <a:t>negatie</a:t>
            </a:r>
            <a:r>
              <a:rPr lang="nl-NL" sz="2200" dirty="0"/>
              <a:t> ook bestaat.</a:t>
            </a:r>
          </a:p>
          <a:p>
            <a:pPr marL="0" indent="0">
              <a:buNone/>
            </a:pPr>
            <a:endParaRPr lang="nl-NL" sz="2400" dirty="0"/>
          </a:p>
        </p:txBody>
      </p:sp>
      <p:sp>
        <p:nvSpPr>
          <p:cNvPr id="9" name="Content Placeholder 2"/>
          <p:cNvSpPr txBox="1">
            <a:spLocks/>
          </p:cNvSpPr>
          <p:nvPr/>
        </p:nvSpPr>
        <p:spPr>
          <a:xfrm>
            <a:off x="446856" y="3256384"/>
            <a:ext cx="8229600"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Er bestaan dan dus </a:t>
            </a:r>
            <a:r>
              <a:rPr lang="nl-NL" sz="2200" dirty="0">
                <a:solidFill>
                  <a:srgbClr val="EA244E"/>
                </a:solidFill>
              </a:rPr>
              <a:t>géén universele eigenschappen</a:t>
            </a:r>
            <a:r>
              <a:rPr lang="nl-NL" sz="2200" dirty="0"/>
              <a:t>. Voor iedere eigenschap bestaat er een object dat die eigenschap niet heeft.</a:t>
            </a:r>
          </a:p>
          <a:p>
            <a:endParaRPr lang="nl-NL" sz="2400" dirty="0"/>
          </a:p>
          <a:p>
            <a:endParaRPr lang="nl-NL" sz="2400" dirty="0"/>
          </a:p>
          <a:p>
            <a:endParaRPr lang="nl-NL" sz="2400" dirty="0"/>
          </a:p>
        </p:txBody>
      </p:sp>
      <p:sp>
        <p:nvSpPr>
          <p:cNvPr id="7" name="Content Placeholder 2">
            <a:extLst>
              <a:ext uri="{FF2B5EF4-FFF2-40B4-BE49-F238E27FC236}">
                <a16:creationId xmlns:a16="http://schemas.microsoft.com/office/drawing/2014/main" id="{D4ED6DF6-FD4C-4B86-5DB8-D3258E9F7C04}"/>
              </a:ext>
            </a:extLst>
          </p:cNvPr>
          <p:cNvSpPr txBox="1">
            <a:spLocks/>
          </p:cNvSpPr>
          <p:nvPr/>
        </p:nvSpPr>
        <p:spPr>
          <a:xfrm>
            <a:off x="446856" y="4984576"/>
            <a:ext cx="844562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Het ontbreken van universele eigenschappen is door de wijsgerige traditie echter zelden of nooit als </a:t>
            </a:r>
            <a:r>
              <a:rPr lang="nl-NL" sz="2200" dirty="0">
                <a:solidFill>
                  <a:srgbClr val="EA244E"/>
                </a:solidFill>
              </a:rPr>
              <a:t>metafysisch principe </a:t>
            </a:r>
            <a:r>
              <a:rPr lang="nl-NL" sz="2200" dirty="0"/>
              <a:t>geformuleerd. </a:t>
            </a:r>
          </a:p>
          <a:p>
            <a:endParaRPr lang="nl-NL" sz="2400" dirty="0"/>
          </a:p>
          <a:p>
            <a:endParaRPr lang="nl-NL" sz="2400" dirty="0"/>
          </a:p>
          <a:p>
            <a:endParaRPr lang="nl-NL" sz="2400" dirty="0"/>
          </a:p>
        </p:txBody>
      </p:sp>
      <p:sp>
        <p:nvSpPr>
          <p:cNvPr id="11" name="Content Placeholder 2">
            <a:extLst>
              <a:ext uri="{FF2B5EF4-FFF2-40B4-BE49-F238E27FC236}">
                <a16:creationId xmlns:a16="http://schemas.microsoft.com/office/drawing/2014/main" id="{74E6D4E8-6054-7DB9-CFC8-CAA1295EEB11}"/>
              </a:ext>
            </a:extLst>
          </p:cNvPr>
          <p:cNvSpPr txBox="1">
            <a:spLocks/>
          </p:cNvSpPr>
          <p:nvPr/>
        </p:nvSpPr>
        <p:spPr>
          <a:xfrm>
            <a:off x="446856" y="1240160"/>
            <a:ext cx="8229600"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We komen overal in de natuur tegendelen tegen. Zo is er geen licht zonder donker, geen warmte zonder koude, en geen liefde zonder haat. De werkelijkheid lijkt </a:t>
            </a:r>
            <a:r>
              <a:rPr lang="nl-NL" sz="2200" dirty="0">
                <a:solidFill>
                  <a:srgbClr val="EA244E"/>
                </a:solidFill>
              </a:rPr>
              <a:t>eindeloos veel opposities </a:t>
            </a:r>
            <a:r>
              <a:rPr lang="nl-NL" sz="2200" dirty="0"/>
              <a:t>te bevatten. </a:t>
            </a:r>
          </a:p>
          <a:p>
            <a:pPr marL="0" indent="0">
              <a:buFont typeface="Arial" pitchFamily="34" charset="0"/>
              <a:buNone/>
            </a:pPr>
            <a:endParaRPr lang="nl-NL" sz="2400" dirty="0"/>
          </a:p>
        </p:txBody>
      </p:sp>
      <p:sp>
        <p:nvSpPr>
          <p:cNvPr id="12" name="Content Placeholder 2">
            <a:extLst>
              <a:ext uri="{FF2B5EF4-FFF2-40B4-BE49-F238E27FC236}">
                <a16:creationId xmlns:a16="http://schemas.microsoft.com/office/drawing/2014/main" id="{23F17670-ED62-5CA9-36A0-387C95CBBD92}"/>
              </a:ext>
            </a:extLst>
          </p:cNvPr>
          <p:cNvSpPr txBox="1">
            <a:spLocks/>
          </p:cNvSpPr>
          <p:nvPr/>
        </p:nvSpPr>
        <p:spPr>
          <a:xfrm>
            <a:off x="467544" y="5848672"/>
            <a:ext cx="835292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Als principe heeft het blijkbaar een hele lange </a:t>
            </a:r>
            <a:r>
              <a:rPr lang="nl-NL" sz="2200" dirty="0">
                <a:solidFill>
                  <a:srgbClr val="EA244E"/>
                </a:solidFill>
              </a:rPr>
              <a:t>incubatietijd </a:t>
            </a:r>
            <a:r>
              <a:rPr lang="nl-NL" sz="2200" dirty="0"/>
              <a:t>gehad.</a:t>
            </a:r>
            <a:endParaRPr lang="nl-NL" sz="2400" dirty="0"/>
          </a:p>
          <a:p>
            <a:endParaRPr lang="nl-NL" sz="2400" dirty="0"/>
          </a:p>
          <a:p>
            <a:endParaRPr lang="nl-NL" sz="2400" dirty="0"/>
          </a:p>
        </p:txBody>
      </p:sp>
      <p:sp>
        <p:nvSpPr>
          <p:cNvPr id="16" name="Content Placeholder 2">
            <a:extLst>
              <a:ext uri="{FF2B5EF4-FFF2-40B4-BE49-F238E27FC236}">
                <a16:creationId xmlns:a16="http://schemas.microsoft.com/office/drawing/2014/main" id="{C66CDFFD-8068-AAF3-E8C6-1484F5A8DC8F}"/>
              </a:ext>
            </a:extLst>
          </p:cNvPr>
          <p:cNvSpPr txBox="1">
            <a:spLocks/>
          </p:cNvSpPr>
          <p:nvPr/>
        </p:nvSpPr>
        <p:spPr>
          <a:xfrm>
            <a:off x="467544" y="4120480"/>
            <a:ext cx="8229600"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De </a:t>
            </a:r>
            <a:r>
              <a:rPr lang="nl-NL" sz="2200" dirty="0">
                <a:solidFill>
                  <a:srgbClr val="EA244E"/>
                </a:solidFill>
              </a:rPr>
              <a:t>rijkgeschakeerdheid </a:t>
            </a:r>
            <a:r>
              <a:rPr lang="nl-NL" sz="2200" dirty="0"/>
              <a:t>of </a:t>
            </a:r>
            <a:r>
              <a:rPr lang="nl-NL" sz="2200" dirty="0">
                <a:solidFill>
                  <a:srgbClr val="EA244E"/>
                </a:solidFill>
              </a:rPr>
              <a:t>diversiteit </a:t>
            </a:r>
            <a:r>
              <a:rPr lang="nl-NL" sz="2200" dirty="0"/>
              <a:t>van de wereld om ons heen lijkt dit empirisch te bevestigen. Niet alles is rood, rond, wit, etc.</a:t>
            </a:r>
          </a:p>
          <a:p>
            <a:endParaRPr lang="nl-NL" sz="2400" dirty="0"/>
          </a:p>
          <a:p>
            <a:endParaRPr lang="nl-NL" sz="2400" dirty="0"/>
          </a:p>
          <a:p>
            <a:endParaRPr lang="nl-NL" sz="2400" dirty="0"/>
          </a:p>
        </p:txBody>
      </p:sp>
    </p:spTree>
    <p:extLst>
      <p:ext uri="{BB962C8B-B14F-4D97-AF65-F5344CB8AC3E}">
        <p14:creationId xmlns:p14="http://schemas.microsoft.com/office/powerpoint/2010/main" val="611193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7" grpId="0"/>
      <p:bldP spid="11" grpId="0"/>
      <p:bldP spid="12"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84"/>
            <a:ext cx="8229600" cy="1143000"/>
          </a:xfrm>
        </p:spPr>
        <p:txBody>
          <a:bodyPr>
            <a:normAutofit/>
          </a:bodyPr>
          <a:lstStyle/>
          <a:p>
            <a:r>
              <a:rPr lang="nl-NL" sz="3600" dirty="0">
                <a:solidFill>
                  <a:srgbClr val="EA244E"/>
                </a:solidFill>
              </a:rPr>
              <a:t>Sporen van het principe </a:t>
            </a:r>
            <a:endParaRPr lang="nl-NL" sz="3600" dirty="0">
              <a:solidFill>
                <a:schemeClr val="accent2"/>
              </a:solidFill>
            </a:endParaRPr>
          </a:p>
        </p:txBody>
      </p:sp>
      <p:sp>
        <p:nvSpPr>
          <p:cNvPr id="3" name="Content Placeholder 2">
            <a:extLst>
              <a:ext uri="{FF2B5EF4-FFF2-40B4-BE49-F238E27FC236}">
                <a16:creationId xmlns:a16="http://schemas.microsoft.com/office/drawing/2014/main" id="{7399D928-E341-1B31-7D75-5A3688C5ACD6}"/>
              </a:ext>
            </a:extLst>
          </p:cNvPr>
          <p:cNvSpPr txBox="1">
            <a:spLocks/>
          </p:cNvSpPr>
          <p:nvPr/>
        </p:nvSpPr>
        <p:spPr>
          <a:xfrm>
            <a:off x="-1016" y="1182762"/>
            <a:ext cx="914501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Heraclitus </a:t>
            </a:r>
            <a:r>
              <a:rPr lang="en-US" sz="2000" dirty="0" err="1"/>
              <a:t>leert</a:t>
            </a:r>
            <a:r>
              <a:rPr lang="en-US" sz="2000" dirty="0"/>
              <a:t> </a:t>
            </a:r>
            <a:r>
              <a:rPr lang="en-US" sz="2000" dirty="0" err="1"/>
              <a:t>dat</a:t>
            </a:r>
            <a:r>
              <a:rPr lang="en-US" sz="2000" dirty="0"/>
              <a:t> de </a:t>
            </a:r>
            <a:r>
              <a:rPr lang="en-US" sz="2000" dirty="0" err="1"/>
              <a:t>natuur</a:t>
            </a:r>
            <a:r>
              <a:rPr lang="en-US" sz="2000" dirty="0"/>
              <a:t> </a:t>
            </a:r>
            <a:r>
              <a:rPr lang="en-US" sz="2000" dirty="0" err="1"/>
              <a:t>een</a:t>
            </a:r>
            <a:r>
              <a:rPr lang="en-US" sz="2000" dirty="0"/>
              <a:t> </a:t>
            </a:r>
            <a:r>
              <a:rPr lang="en-US" sz="2000" dirty="0" err="1"/>
              <a:t>harmonie</a:t>
            </a:r>
            <a:r>
              <a:rPr lang="en-US" sz="2000" dirty="0"/>
              <a:t> of </a:t>
            </a:r>
            <a:r>
              <a:rPr lang="nl-NL" sz="2000" dirty="0">
                <a:solidFill>
                  <a:srgbClr val="EA244E"/>
                </a:solidFill>
              </a:rPr>
              <a:t>eenheid van tegendelen </a:t>
            </a:r>
            <a:r>
              <a:rPr lang="en-US" sz="2000" dirty="0"/>
              <a:t>is. </a:t>
            </a:r>
            <a:r>
              <a:rPr lang="en-US" sz="2000" dirty="0" err="1"/>
              <a:t>Voor</a:t>
            </a:r>
            <a:r>
              <a:rPr lang="en-US" sz="2000" dirty="0"/>
              <a:t> </a:t>
            </a:r>
            <a:r>
              <a:rPr lang="en-US" sz="2000" dirty="0" err="1"/>
              <a:t>alles</a:t>
            </a:r>
            <a:r>
              <a:rPr lang="en-US" sz="2000" dirty="0"/>
              <a:t> wat </a:t>
            </a:r>
            <a:r>
              <a:rPr lang="en-US" sz="2000" dirty="0" err="1"/>
              <a:t>bestaat</a:t>
            </a:r>
            <a:r>
              <a:rPr lang="en-US" sz="2000" dirty="0"/>
              <a:t>, </a:t>
            </a:r>
            <a:r>
              <a:rPr lang="en-US" sz="2000" dirty="0" err="1"/>
              <a:t>geldt</a:t>
            </a:r>
            <a:r>
              <a:rPr lang="en-US" sz="2000" dirty="0"/>
              <a:t> </a:t>
            </a:r>
            <a:r>
              <a:rPr lang="en-US" sz="2000" dirty="0" err="1"/>
              <a:t>dat</a:t>
            </a:r>
            <a:r>
              <a:rPr lang="en-US" sz="2000" dirty="0"/>
              <a:t> </a:t>
            </a:r>
            <a:r>
              <a:rPr lang="en-US" sz="2000" dirty="0" err="1"/>
              <a:t>ook</a:t>
            </a:r>
            <a:r>
              <a:rPr lang="en-US" sz="2000" dirty="0"/>
              <a:t> </a:t>
            </a:r>
            <a:r>
              <a:rPr lang="en-US" sz="2000" dirty="0" err="1"/>
              <a:t>zijn</a:t>
            </a:r>
            <a:r>
              <a:rPr lang="en-US" sz="2000" dirty="0"/>
              <a:t> of </a:t>
            </a:r>
            <a:r>
              <a:rPr lang="en-US" sz="2000" dirty="0" err="1"/>
              <a:t>haar</a:t>
            </a:r>
            <a:r>
              <a:rPr lang="en-US" sz="2000" dirty="0"/>
              <a:t> </a:t>
            </a:r>
            <a:r>
              <a:rPr lang="en-US" sz="2000" dirty="0" err="1"/>
              <a:t>tegendeel</a:t>
            </a:r>
            <a:r>
              <a:rPr lang="en-US" sz="2000" dirty="0"/>
              <a:t> </a:t>
            </a:r>
            <a:r>
              <a:rPr lang="en-US" sz="2000" dirty="0" err="1"/>
              <a:t>bestaat</a:t>
            </a:r>
            <a:r>
              <a:rPr lang="en-US" sz="2000" dirty="0"/>
              <a:t>.</a:t>
            </a:r>
            <a:endParaRPr lang="nl-NL" sz="2000" dirty="0"/>
          </a:p>
        </p:txBody>
      </p:sp>
      <p:sp>
        <p:nvSpPr>
          <p:cNvPr id="6" name="Content Placeholder 2">
            <a:extLst>
              <a:ext uri="{FF2B5EF4-FFF2-40B4-BE49-F238E27FC236}">
                <a16:creationId xmlns:a16="http://schemas.microsoft.com/office/drawing/2014/main" id="{C597A081-1031-1AEE-D9F7-9979364B4439}"/>
              </a:ext>
            </a:extLst>
          </p:cNvPr>
          <p:cNvSpPr txBox="1">
            <a:spLocks/>
          </p:cNvSpPr>
          <p:nvPr/>
        </p:nvSpPr>
        <p:spPr>
          <a:xfrm>
            <a:off x="-1016" y="2046858"/>
            <a:ext cx="914501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Aristoteles </a:t>
            </a:r>
            <a:r>
              <a:rPr lang="en-US" sz="2000" dirty="0" err="1"/>
              <a:t>leert</a:t>
            </a:r>
            <a:r>
              <a:rPr lang="en-US" sz="2000" dirty="0"/>
              <a:t> in </a:t>
            </a:r>
            <a:r>
              <a:rPr lang="en-US" sz="2000" dirty="0" err="1"/>
              <a:t>zijn</a:t>
            </a:r>
            <a:r>
              <a:rPr lang="en-US" sz="2000" dirty="0"/>
              <a:t> </a:t>
            </a:r>
            <a:r>
              <a:rPr lang="nl-NL" sz="2000" dirty="0">
                <a:solidFill>
                  <a:srgbClr val="EA244E"/>
                </a:solidFill>
              </a:rPr>
              <a:t>De </a:t>
            </a:r>
            <a:r>
              <a:rPr lang="nl-NL" sz="2000" dirty="0" err="1">
                <a:solidFill>
                  <a:srgbClr val="EA244E"/>
                </a:solidFill>
              </a:rPr>
              <a:t>Caelo</a:t>
            </a:r>
            <a:r>
              <a:rPr lang="nl-NL" sz="2000" dirty="0">
                <a:solidFill>
                  <a:srgbClr val="EA244E"/>
                </a:solidFill>
              </a:rPr>
              <a:t> </a:t>
            </a:r>
            <a:r>
              <a:rPr lang="en-US" sz="2000" dirty="0" err="1"/>
              <a:t>dat</a:t>
            </a:r>
            <a:r>
              <a:rPr lang="en-US" sz="2000" dirty="0"/>
              <a:t> de </a:t>
            </a:r>
            <a:r>
              <a:rPr lang="en-US" sz="2000" dirty="0" err="1"/>
              <a:t>natuur</a:t>
            </a:r>
            <a:r>
              <a:rPr lang="en-US" sz="2000" dirty="0"/>
              <a:t> van </a:t>
            </a:r>
            <a:r>
              <a:rPr lang="en-US" sz="2000" dirty="0" err="1"/>
              <a:t>tegendelen</a:t>
            </a:r>
            <a:r>
              <a:rPr lang="en-US" sz="2000" dirty="0"/>
              <a:t> </a:t>
            </a:r>
            <a:r>
              <a:rPr lang="en-US" sz="2000" dirty="0" err="1"/>
              <a:t>houdt</a:t>
            </a:r>
            <a:r>
              <a:rPr lang="en-US" sz="2000" dirty="0"/>
              <a:t>. En in </a:t>
            </a:r>
            <a:r>
              <a:rPr lang="en-US" sz="2000" dirty="0" err="1"/>
              <a:t>zijn</a:t>
            </a:r>
            <a:r>
              <a:rPr lang="en-US" sz="2000" dirty="0"/>
              <a:t>    </a:t>
            </a:r>
            <a:r>
              <a:rPr lang="nl-NL" sz="2000" dirty="0">
                <a:solidFill>
                  <a:srgbClr val="EA244E"/>
                </a:solidFill>
              </a:rPr>
              <a:t>Ars </a:t>
            </a:r>
            <a:r>
              <a:rPr lang="nl-NL" sz="2000" dirty="0" err="1">
                <a:solidFill>
                  <a:srgbClr val="EA244E"/>
                </a:solidFill>
              </a:rPr>
              <a:t>Rhetorica</a:t>
            </a:r>
            <a:r>
              <a:rPr lang="nl-NL" sz="2000" dirty="0">
                <a:solidFill>
                  <a:srgbClr val="EA244E"/>
                </a:solidFill>
              </a:rPr>
              <a:t> </a:t>
            </a:r>
            <a:r>
              <a:rPr lang="en-US" sz="2000" dirty="0" err="1"/>
              <a:t>dat</a:t>
            </a:r>
            <a:r>
              <a:rPr lang="en-US" sz="2000" dirty="0"/>
              <a:t> </a:t>
            </a:r>
            <a:r>
              <a:rPr lang="en-US" sz="2000" dirty="0" err="1"/>
              <a:t>als</a:t>
            </a:r>
            <a:r>
              <a:rPr lang="en-US" sz="2000" dirty="0"/>
              <a:t> </a:t>
            </a:r>
            <a:r>
              <a:rPr lang="en-US" sz="2000" dirty="0" err="1"/>
              <a:t>iets</a:t>
            </a:r>
            <a:r>
              <a:rPr lang="en-US" sz="2000" dirty="0"/>
              <a:t> </a:t>
            </a:r>
            <a:r>
              <a:rPr lang="en-US" sz="2000" dirty="0" err="1"/>
              <a:t>potentieel</a:t>
            </a:r>
            <a:r>
              <a:rPr lang="en-US" sz="2000" dirty="0"/>
              <a:t> </a:t>
            </a:r>
            <a:r>
              <a:rPr lang="en-US" sz="2000" dirty="0" err="1"/>
              <a:t>bestaat</a:t>
            </a:r>
            <a:r>
              <a:rPr lang="en-US" sz="2000" dirty="0"/>
              <a:t>, </a:t>
            </a:r>
            <a:r>
              <a:rPr lang="en-US" sz="2000" dirty="0" err="1"/>
              <a:t>ook</a:t>
            </a:r>
            <a:r>
              <a:rPr lang="en-US" sz="2000" dirty="0"/>
              <a:t> </a:t>
            </a:r>
            <a:r>
              <a:rPr lang="en-US" sz="2000" dirty="0" err="1"/>
              <a:t>zijn</a:t>
            </a:r>
            <a:r>
              <a:rPr lang="en-US" sz="2000" dirty="0"/>
              <a:t> </a:t>
            </a:r>
            <a:r>
              <a:rPr lang="en-US" sz="2000" dirty="0" err="1"/>
              <a:t>tegendeel</a:t>
            </a:r>
            <a:r>
              <a:rPr lang="en-US" sz="2000" dirty="0"/>
              <a:t> </a:t>
            </a:r>
            <a:r>
              <a:rPr lang="en-US" sz="2000" dirty="0" err="1"/>
              <a:t>potentieel</a:t>
            </a:r>
            <a:r>
              <a:rPr lang="en-US" sz="2000" dirty="0"/>
              <a:t> </a:t>
            </a:r>
            <a:r>
              <a:rPr lang="en-US" sz="2000" dirty="0" err="1"/>
              <a:t>bestaat</a:t>
            </a:r>
            <a:r>
              <a:rPr lang="en-US" sz="2000" dirty="0"/>
              <a:t>. </a:t>
            </a:r>
            <a:endParaRPr lang="nl-NL" sz="2000" dirty="0"/>
          </a:p>
        </p:txBody>
      </p:sp>
      <p:sp>
        <p:nvSpPr>
          <p:cNvPr id="7" name="Content Placeholder 2">
            <a:extLst>
              <a:ext uri="{FF2B5EF4-FFF2-40B4-BE49-F238E27FC236}">
                <a16:creationId xmlns:a16="http://schemas.microsoft.com/office/drawing/2014/main" id="{635DD617-3850-9A8B-BB52-3FAE70DB56C6}"/>
              </a:ext>
            </a:extLst>
          </p:cNvPr>
          <p:cNvSpPr txBox="1">
            <a:spLocks/>
          </p:cNvSpPr>
          <p:nvPr/>
        </p:nvSpPr>
        <p:spPr>
          <a:xfrm>
            <a:off x="-36512" y="2838946"/>
            <a:ext cx="914501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nl-NL" sz="2000" dirty="0"/>
          </a:p>
        </p:txBody>
      </p:sp>
      <p:sp>
        <p:nvSpPr>
          <p:cNvPr id="10" name="Content Placeholder 2">
            <a:extLst>
              <a:ext uri="{FF2B5EF4-FFF2-40B4-BE49-F238E27FC236}">
                <a16:creationId xmlns:a16="http://schemas.microsoft.com/office/drawing/2014/main" id="{B9F7EF4A-EBDE-9D1A-61B5-61D74517054A}"/>
              </a:ext>
            </a:extLst>
          </p:cNvPr>
          <p:cNvSpPr txBox="1">
            <a:spLocks/>
          </p:cNvSpPr>
          <p:nvPr/>
        </p:nvSpPr>
        <p:spPr>
          <a:xfrm>
            <a:off x="-1016" y="2910954"/>
            <a:ext cx="914501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Cicero </a:t>
            </a:r>
            <a:r>
              <a:rPr lang="en-US" sz="2000" dirty="0" err="1"/>
              <a:t>stelt</a:t>
            </a:r>
            <a:r>
              <a:rPr lang="en-US" sz="2000" dirty="0"/>
              <a:t> in </a:t>
            </a:r>
            <a:r>
              <a:rPr lang="en-US" sz="2000" dirty="0" err="1"/>
              <a:t>zijn</a:t>
            </a:r>
            <a:r>
              <a:rPr lang="en-US" sz="2000" dirty="0"/>
              <a:t> </a:t>
            </a:r>
            <a:r>
              <a:rPr lang="nl-NL" sz="2000" dirty="0">
                <a:solidFill>
                  <a:srgbClr val="EA244E"/>
                </a:solidFill>
              </a:rPr>
              <a:t>De natura </a:t>
            </a:r>
            <a:r>
              <a:rPr lang="nl-NL" sz="2000" dirty="0" err="1">
                <a:solidFill>
                  <a:srgbClr val="EA244E"/>
                </a:solidFill>
              </a:rPr>
              <a:t>deorum</a:t>
            </a:r>
            <a:r>
              <a:rPr lang="en-US" sz="2000" i="1" dirty="0"/>
              <a:t> </a:t>
            </a:r>
            <a:r>
              <a:rPr lang="en-US" sz="2000" dirty="0" err="1"/>
              <a:t>dat</a:t>
            </a:r>
            <a:r>
              <a:rPr lang="en-US" sz="2000" dirty="0"/>
              <a:t> de </a:t>
            </a:r>
            <a:r>
              <a:rPr lang="en-US" sz="2000" dirty="0" err="1"/>
              <a:t>natuur</a:t>
            </a:r>
            <a:r>
              <a:rPr lang="en-US" sz="2000" dirty="0"/>
              <a:t> zo in </a:t>
            </a:r>
            <a:r>
              <a:rPr lang="en-US" sz="2000" dirty="0" err="1"/>
              <a:t>elkaar</a:t>
            </a:r>
            <a:r>
              <a:rPr lang="en-US" sz="2000" dirty="0"/>
              <a:t> zit </a:t>
            </a:r>
            <a:r>
              <a:rPr lang="en-US" sz="2000" dirty="0" err="1"/>
              <a:t>dat</a:t>
            </a:r>
            <a:r>
              <a:rPr lang="en-US" sz="2000" dirty="0"/>
              <a:t> </a:t>
            </a:r>
            <a:r>
              <a:rPr lang="en-US" sz="2000" dirty="0" err="1"/>
              <a:t>alles</a:t>
            </a:r>
            <a:r>
              <a:rPr lang="en-US" sz="2000" dirty="0"/>
              <a:t> </a:t>
            </a:r>
            <a:r>
              <a:rPr lang="en-US" sz="2000" dirty="0" err="1"/>
              <a:t>zijn</a:t>
            </a:r>
            <a:r>
              <a:rPr lang="en-US" sz="2000" dirty="0"/>
              <a:t> </a:t>
            </a:r>
            <a:r>
              <a:rPr lang="en-US" sz="2000" dirty="0" err="1"/>
              <a:t>tegendeel</a:t>
            </a:r>
            <a:r>
              <a:rPr lang="en-US" sz="2000" dirty="0"/>
              <a:t> </a:t>
            </a:r>
            <a:r>
              <a:rPr lang="en-US" sz="2000" dirty="0" err="1"/>
              <a:t>heeft</a:t>
            </a:r>
            <a:r>
              <a:rPr lang="en-US" sz="2000" dirty="0"/>
              <a:t>. Cicero </a:t>
            </a:r>
            <a:r>
              <a:rPr lang="en-US" sz="2000" dirty="0" err="1"/>
              <a:t>noteert</a:t>
            </a:r>
            <a:r>
              <a:rPr lang="en-US" sz="2000" dirty="0"/>
              <a:t> </a:t>
            </a:r>
            <a:r>
              <a:rPr lang="en-US" sz="2000" dirty="0" err="1"/>
              <a:t>hierbij</a:t>
            </a:r>
            <a:r>
              <a:rPr lang="en-US" sz="2000" dirty="0"/>
              <a:t> </a:t>
            </a:r>
            <a:r>
              <a:rPr lang="en-US" sz="2000" dirty="0" err="1"/>
              <a:t>dat</a:t>
            </a:r>
            <a:r>
              <a:rPr lang="en-US" sz="2000" dirty="0"/>
              <a:t> </a:t>
            </a:r>
            <a:r>
              <a:rPr lang="en-US" sz="2000" dirty="0" err="1"/>
              <a:t>dit</a:t>
            </a:r>
            <a:r>
              <a:rPr lang="en-US" sz="2000" dirty="0"/>
              <a:t> </a:t>
            </a:r>
            <a:r>
              <a:rPr lang="en-US" sz="2000" dirty="0" err="1"/>
              <a:t>ook</a:t>
            </a:r>
            <a:r>
              <a:rPr lang="en-US" sz="2000" dirty="0"/>
              <a:t> de </a:t>
            </a:r>
            <a:r>
              <a:rPr lang="en-US" sz="2000" dirty="0" err="1"/>
              <a:t>opvatting</a:t>
            </a:r>
            <a:r>
              <a:rPr lang="en-US" sz="2000" dirty="0"/>
              <a:t> van Epicurus is </a:t>
            </a:r>
            <a:r>
              <a:rPr lang="en-US" sz="2000" dirty="0" err="1"/>
              <a:t>geweest</a:t>
            </a:r>
            <a:r>
              <a:rPr lang="en-US" sz="2000" dirty="0"/>
              <a:t>, die in </a:t>
            </a:r>
            <a:r>
              <a:rPr lang="en-US" sz="2000" dirty="0" err="1"/>
              <a:t>dit</a:t>
            </a:r>
            <a:r>
              <a:rPr lang="en-US" sz="2000" dirty="0"/>
              <a:t> </a:t>
            </a:r>
            <a:r>
              <a:rPr lang="en-US" sz="2000" dirty="0" err="1"/>
              <a:t>verband</a:t>
            </a:r>
            <a:r>
              <a:rPr lang="en-US" sz="2000" dirty="0"/>
              <a:t> </a:t>
            </a:r>
            <a:r>
              <a:rPr lang="en-US" sz="2000" dirty="0" err="1"/>
              <a:t>sprak</a:t>
            </a:r>
            <a:r>
              <a:rPr lang="en-US" sz="2000" dirty="0"/>
              <a:t> over </a:t>
            </a:r>
            <a:r>
              <a:rPr lang="nl-NL" sz="2000" dirty="0" err="1">
                <a:solidFill>
                  <a:srgbClr val="EA244E"/>
                </a:solidFill>
              </a:rPr>
              <a:t>isonomia</a:t>
            </a:r>
            <a:r>
              <a:rPr lang="en-US" sz="2000" dirty="0"/>
              <a:t> of </a:t>
            </a:r>
            <a:r>
              <a:rPr lang="en-US" sz="2000" dirty="0" err="1"/>
              <a:t>gelijke</a:t>
            </a:r>
            <a:r>
              <a:rPr lang="en-US" sz="2000" dirty="0"/>
              <a:t> </a:t>
            </a:r>
            <a:r>
              <a:rPr lang="en-US" sz="2000" dirty="0" err="1"/>
              <a:t>spreiding</a:t>
            </a:r>
            <a:r>
              <a:rPr lang="en-US" sz="2000" dirty="0"/>
              <a:t>. </a:t>
            </a:r>
            <a:endParaRPr lang="nl-NL" sz="2000" dirty="0"/>
          </a:p>
        </p:txBody>
      </p:sp>
      <p:sp>
        <p:nvSpPr>
          <p:cNvPr id="12" name="Content Placeholder 2">
            <a:extLst>
              <a:ext uri="{FF2B5EF4-FFF2-40B4-BE49-F238E27FC236}">
                <a16:creationId xmlns:a16="http://schemas.microsoft.com/office/drawing/2014/main" id="{A757A1C7-4FB9-317F-08DB-FE84DB42DBA7}"/>
              </a:ext>
            </a:extLst>
          </p:cNvPr>
          <p:cNvSpPr txBox="1">
            <a:spLocks/>
          </p:cNvSpPr>
          <p:nvPr/>
        </p:nvSpPr>
        <p:spPr>
          <a:xfrm>
            <a:off x="-1016" y="4063082"/>
            <a:ext cx="914501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Spinoza </a:t>
            </a:r>
            <a:r>
              <a:rPr lang="en-US" sz="2000" dirty="0" err="1"/>
              <a:t>stelt</a:t>
            </a:r>
            <a:r>
              <a:rPr lang="en-US" sz="2000" dirty="0"/>
              <a:t> </a:t>
            </a:r>
            <a:r>
              <a:rPr lang="nl-NL" sz="2000" dirty="0" err="1">
                <a:solidFill>
                  <a:srgbClr val="EA244E"/>
                </a:solidFill>
              </a:rPr>
              <a:t>Determinatio</a:t>
            </a:r>
            <a:r>
              <a:rPr lang="nl-NL" sz="2000" dirty="0">
                <a:solidFill>
                  <a:srgbClr val="EA244E"/>
                </a:solidFill>
              </a:rPr>
              <a:t> </a:t>
            </a:r>
            <a:r>
              <a:rPr lang="nl-NL" sz="2000" dirty="0" err="1">
                <a:solidFill>
                  <a:srgbClr val="EA244E"/>
                </a:solidFill>
              </a:rPr>
              <a:t>negatio</a:t>
            </a:r>
            <a:r>
              <a:rPr lang="nl-NL" sz="2000" dirty="0">
                <a:solidFill>
                  <a:srgbClr val="EA244E"/>
                </a:solidFill>
              </a:rPr>
              <a:t> </a:t>
            </a:r>
            <a:r>
              <a:rPr lang="nl-NL" sz="2000" dirty="0" err="1">
                <a:solidFill>
                  <a:srgbClr val="EA244E"/>
                </a:solidFill>
              </a:rPr>
              <a:t>est</a:t>
            </a:r>
            <a:r>
              <a:rPr lang="en-US" sz="2000" dirty="0"/>
              <a:t>. </a:t>
            </a:r>
            <a:r>
              <a:rPr lang="en-US" sz="2000" dirty="0" err="1"/>
              <a:t>Determinatie</a:t>
            </a:r>
            <a:r>
              <a:rPr lang="en-US" sz="2000" dirty="0"/>
              <a:t> </a:t>
            </a:r>
            <a:r>
              <a:rPr lang="en-US" sz="2000" i="1" dirty="0"/>
              <a:t>is</a:t>
            </a:r>
            <a:r>
              <a:rPr lang="en-US" sz="2000" dirty="0"/>
              <a:t> </a:t>
            </a:r>
            <a:r>
              <a:rPr lang="en-US" sz="2000" dirty="0" err="1"/>
              <a:t>negatie</a:t>
            </a:r>
            <a:r>
              <a:rPr lang="en-US" sz="2000" dirty="0"/>
              <a:t>. Om </a:t>
            </a:r>
            <a:r>
              <a:rPr lang="en-US" sz="2000" dirty="0" err="1"/>
              <a:t>te</a:t>
            </a:r>
            <a:r>
              <a:rPr lang="en-US" sz="2000" dirty="0"/>
              <a:t> </a:t>
            </a:r>
            <a:r>
              <a:rPr lang="en-US" sz="2000" dirty="0" err="1"/>
              <a:t>bestaan</a:t>
            </a:r>
            <a:r>
              <a:rPr lang="en-US" sz="2000" dirty="0"/>
              <a:t> </a:t>
            </a:r>
            <a:r>
              <a:rPr lang="en-US" sz="2000" dirty="0" err="1"/>
              <a:t>als</a:t>
            </a:r>
            <a:r>
              <a:rPr lang="en-US" sz="2000" dirty="0"/>
              <a:t> </a:t>
            </a:r>
            <a:r>
              <a:rPr lang="en-US" sz="2000" dirty="0" err="1"/>
              <a:t>gedetermineerd</a:t>
            </a:r>
            <a:r>
              <a:rPr lang="en-US" sz="2000" dirty="0"/>
              <a:t> object, is het </a:t>
            </a:r>
            <a:r>
              <a:rPr lang="en-US" sz="2000" dirty="0" err="1"/>
              <a:t>nodig</a:t>
            </a:r>
            <a:r>
              <a:rPr lang="en-US" sz="2000" dirty="0"/>
              <a:t> </a:t>
            </a:r>
            <a:r>
              <a:rPr lang="en-US" sz="2000" dirty="0" err="1"/>
              <a:t>te</a:t>
            </a:r>
            <a:r>
              <a:rPr lang="en-US" sz="2000" dirty="0"/>
              <a:t> </a:t>
            </a:r>
            <a:r>
              <a:rPr lang="en-US" sz="2000" dirty="0" err="1"/>
              <a:t>negeren</a:t>
            </a:r>
            <a:r>
              <a:rPr lang="en-US" sz="2000" dirty="0"/>
              <a:t>. Het </a:t>
            </a:r>
            <a:r>
              <a:rPr lang="en-US" sz="2000" dirty="0" err="1"/>
              <a:t>tegendeel</a:t>
            </a:r>
            <a:r>
              <a:rPr lang="en-US" sz="2000" dirty="0"/>
              <a:t> </a:t>
            </a:r>
            <a:r>
              <a:rPr lang="en-US" sz="2000" dirty="0" err="1"/>
              <a:t>moet</a:t>
            </a:r>
            <a:r>
              <a:rPr lang="en-US" sz="2000" dirty="0"/>
              <a:t> </a:t>
            </a:r>
            <a:r>
              <a:rPr lang="en-US" sz="2000" dirty="0" err="1"/>
              <a:t>ook</a:t>
            </a:r>
            <a:r>
              <a:rPr lang="en-US" sz="2000" dirty="0"/>
              <a:t> </a:t>
            </a:r>
            <a:r>
              <a:rPr lang="en-US" sz="2000" dirty="0" err="1"/>
              <a:t>bestaan</a:t>
            </a:r>
            <a:r>
              <a:rPr lang="en-US" sz="2000" dirty="0"/>
              <a:t>.</a:t>
            </a:r>
            <a:endParaRPr lang="nl-NL" sz="2000" dirty="0"/>
          </a:p>
        </p:txBody>
      </p:sp>
      <p:sp>
        <p:nvSpPr>
          <p:cNvPr id="14" name="Content Placeholder 2">
            <a:extLst>
              <a:ext uri="{FF2B5EF4-FFF2-40B4-BE49-F238E27FC236}">
                <a16:creationId xmlns:a16="http://schemas.microsoft.com/office/drawing/2014/main" id="{8AEBCFEB-6DB8-0CBD-AEA7-12A4BD409371}"/>
              </a:ext>
            </a:extLst>
          </p:cNvPr>
          <p:cNvSpPr txBox="1">
            <a:spLocks/>
          </p:cNvSpPr>
          <p:nvPr/>
        </p:nvSpPr>
        <p:spPr>
          <a:xfrm>
            <a:off x="35496" y="5459834"/>
            <a:ext cx="914501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err="1"/>
              <a:t>Speculatief</a:t>
            </a:r>
            <a:r>
              <a:rPr lang="en-US" sz="2000" dirty="0"/>
              <a:t> </a:t>
            </a:r>
            <a:r>
              <a:rPr lang="en-US" sz="2000" dirty="0" err="1"/>
              <a:t>realisten</a:t>
            </a:r>
            <a:r>
              <a:rPr lang="en-US" sz="2000" dirty="0"/>
              <a:t> </a:t>
            </a:r>
            <a:r>
              <a:rPr lang="en-US" sz="2000" dirty="0" err="1"/>
              <a:t>als</a:t>
            </a:r>
            <a:r>
              <a:rPr lang="en-US" sz="2000" dirty="0"/>
              <a:t> Levi Bryant </a:t>
            </a:r>
            <a:r>
              <a:rPr lang="en-US" sz="2000" dirty="0" err="1"/>
              <a:t>menen</a:t>
            </a:r>
            <a:r>
              <a:rPr lang="en-US" sz="2000" dirty="0"/>
              <a:t> </a:t>
            </a:r>
            <a:r>
              <a:rPr lang="en-US" sz="2000" dirty="0" err="1"/>
              <a:t>dat</a:t>
            </a:r>
            <a:r>
              <a:rPr lang="en-US" sz="2000" dirty="0"/>
              <a:t> de </a:t>
            </a:r>
            <a:r>
              <a:rPr lang="en-US" sz="2000" dirty="0" err="1"/>
              <a:t>natuur</a:t>
            </a:r>
            <a:r>
              <a:rPr lang="en-US" sz="2000" dirty="0"/>
              <a:t> </a:t>
            </a:r>
            <a:r>
              <a:rPr lang="en-US" sz="2000" dirty="0" err="1"/>
              <a:t>teruggaat</a:t>
            </a:r>
            <a:r>
              <a:rPr lang="en-US" sz="2000" dirty="0"/>
              <a:t> op </a:t>
            </a:r>
            <a:r>
              <a:rPr lang="nl-NL" sz="2000" dirty="0">
                <a:solidFill>
                  <a:srgbClr val="EA244E"/>
                </a:solidFill>
              </a:rPr>
              <a:t>differenties</a:t>
            </a:r>
            <a:r>
              <a:rPr lang="en-US" sz="2000" dirty="0"/>
              <a:t>.</a:t>
            </a:r>
            <a:endParaRPr lang="nl-NL" sz="2000" dirty="0"/>
          </a:p>
        </p:txBody>
      </p:sp>
      <p:sp>
        <p:nvSpPr>
          <p:cNvPr id="5" name="Content Placeholder 2">
            <a:extLst>
              <a:ext uri="{FF2B5EF4-FFF2-40B4-BE49-F238E27FC236}">
                <a16:creationId xmlns:a16="http://schemas.microsoft.com/office/drawing/2014/main" id="{5A67F606-921F-B783-4D01-250B8B493D7D}"/>
              </a:ext>
            </a:extLst>
          </p:cNvPr>
          <p:cNvSpPr txBox="1">
            <a:spLocks/>
          </p:cNvSpPr>
          <p:nvPr/>
        </p:nvSpPr>
        <p:spPr>
          <a:xfrm>
            <a:off x="35496" y="4883770"/>
            <a:ext cx="914501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In </a:t>
            </a:r>
            <a:r>
              <a:rPr lang="en-US" sz="2000" dirty="0" err="1"/>
              <a:t>zijn</a:t>
            </a:r>
            <a:r>
              <a:rPr lang="en-US" sz="2000" dirty="0"/>
              <a:t> </a:t>
            </a:r>
            <a:r>
              <a:rPr lang="nl-NL" sz="2000" dirty="0">
                <a:solidFill>
                  <a:srgbClr val="EA244E"/>
                </a:solidFill>
              </a:rPr>
              <a:t>dialectiek</a:t>
            </a:r>
            <a:r>
              <a:rPr lang="en-US" sz="2000" dirty="0"/>
              <a:t> </a:t>
            </a:r>
            <a:r>
              <a:rPr lang="en-US" sz="2000" dirty="0" err="1"/>
              <a:t>stelt</a:t>
            </a:r>
            <a:r>
              <a:rPr lang="en-US" sz="2000" dirty="0"/>
              <a:t> Hegel </a:t>
            </a:r>
            <a:r>
              <a:rPr lang="en-US" sz="2000" dirty="0" err="1"/>
              <a:t>dat</a:t>
            </a:r>
            <a:r>
              <a:rPr lang="en-US" sz="2000" dirty="0"/>
              <a:t> de </a:t>
            </a:r>
            <a:r>
              <a:rPr lang="en-US" sz="2000" dirty="0" err="1"/>
              <a:t>werkelijkheid</a:t>
            </a:r>
            <a:r>
              <a:rPr lang="en-US" sz="2000" dirty="0"/>
              <a:t> </a:t>
            </a:r>
            <a:r>
              <a:rPr lang="en-US" sz="2000" dirty="0" err="1"/>
              <a:t>zich</a:t>
            </a:r>
            <a:r>
              <a:rPr lang="en-US" sz="2000" dirty="0"/>
              <a:t> </a:t>
            </a:r>
            <a:r>
              <a:rPr lang="en-US" sz="2000" dirty="0" err="1"/>
              <a:t>volgens</a:t>
            </a:r>
            <a:r>
              <a:rPr lang="en-US" sz="2000" dirty="0"/>
              <a:t> </a:t>
            </a:r>
            <a:r>
              <a:rPr lang="en-US" sz="2000" dirty="0" err="1"/>
              <a:t>negaties</a:t>
            </a:r>
            <a:r>
              <a:rPr lang="en-US" sz="2000" dirty="0"/>
              <a:t> </a:t>
            </a:r>
            <a:r>
              <a:rPr lang="en-US" sz="2000" dirty="0" err="1"/>
              <a:t>ontwikkelt</a:t>
            </a:r>
            <a:r>
              <a:rPr lang="en-US" sz="2000" dirty="0"/>
              <a:t>.</a:t>
            </a:r>
            <a:endParaRPr lang="nl-NL" sz="2000" dirty="0"/>
          </a:p>
        </p:txBody>
      </p:sp>
    </p:spTree>
    <p:extLst>
      <p:ext uri="{BB962C8B-B14F-4D97-AF65-F5344CB8AC3E}">
        <p14:creationId xmlns:p14="http://schemas.microsoft.com/office/powerpoint/2010/main" val="383913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0" grpId="0"/>
      <p:bldP spid="12" grpId="0"/>
      <p:bldP spid="1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096144"/>
            <a:ext cx="8568952" cy="532656"/>
          </a:xfrm>
        </p:spPr>
        <p:txBody>
          <a:bodyPr>
            <a:noAutofit/>
          </a:bodyPr>
          <a:lstStyle/>
          <a:p>
            <a:r>
              <a:rPr lang="nl-NL" sz="2200" dirty="0"/>
              <a:t>Een </a:t>
            </a:r>
            <a:r>
              <a:rPr lang="nl-NL" sz="2200" dirty="0">
                <a:solidFill>
                  <a:srgbClr val="EA244E"/>
                </a:solidFill>
              </a:rPr>
              <a:t>object </a:t>
            </a:r>
            <a:r>
              <a:rPr lang="nl-NL" sz="2200" dirty="0"/>
              <a:t>is iets dat bestaat, zoals een tafel, een proton of een mens. </a:t>
            </a:r>
          </a:p>
          <a:p>
            <a:pPr marL="0" indent="0">
              <a:buNone/>
            </a:pPr>
            <a:endParaRPr lang="nl-NL" sz="2400" dirty="0"/>
          </a:p>
          <a:p>
            <a:endParaRPr lang="nl-NL" sz="2400" dirty="0"/>
          </a:p>
        </p:txBody>
      </p:sp>
      <p:sp>
        <p:nvSpPr>
          <p:cNvPr id="9" name="Content Placeholder 2"/>
          <p:cNvSpPr txBox="1">
            <a:spLocks/>
          </p:cNvSpPr>
          <p:nvPr/>
        </p:nvSpPr>
        <p:spPr>
          <a:xfrm>
            <a:off x="107504" y="1715616"/>
            <a:ext cx="842493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Objecten hebben </a:t>
            </a:r>
            <a:r>
              <a:rPr lang="nl-NL" sz="2200" dirty="0">
                <a:solidFill>
                  <a:srgbClr val="EA244E"/>
                </a:solidFill>
              </a:rPr>
              <a:t>eigenschappen</a:t>
            </a:r>
            <a:r>
              <a:rPr lang="nl-NL" sz="2200" dirty="0"/>
              <a:t>. Jan is een mens en zijn fiets is rood.</a:t>
            </a:r>
          </a:p>
        </p:txBody>
      </p:sp>
      <p:sp>
        <p:nvSpPr>
          <p:cNvPr id="4" name="Content Placeholder 2">
            <a:extLst>
              <a:ext uri="{FF2B5EF4-FFF2-40B4-BE49-F238E27FC236}">
                <a16:creationId xmlns:a16="http://schemas.microsoft.com/office/drawing/2014/main" id="{5039D4AC-D62D-DDDE-BD79-77A5545100A3}"/>
              </a:ext>
            </a:extLst>
          </p:cNvPr>
          <p:cNvSpPr txBox="1">
            <a:spLocks/>
          </p:cNvSpPr>
          <p:nvPr/>
        </p:nvSpPr>
        <p:spPr>
          <a:xfrm>
            <a:off x="107504" y="2363688"/>
            <a:ext cx="8964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Een eigenschap is </a:t>
            </a:r>
            <a:r>
              <a:rPr lang="nl-NL" sz="2200" dirty="0">
                <a:solidFill>
                  <a:srgbClr val="EA244E"/>
                </a:solidFill>
              </a:rPr>
              <a:t>formeel </a:t>
            </a:r>
            <a:r>
              <a:rPr lang="nl-NL" sz="2200" dirty="0"/>
              <a:t>dan en slechts dan als alle objecten in alle mogelijke werelden </a:t>
            </a:r>
            <a:r>
              <a:rPr lang="nl-NL" sz="1600" i="1" dirty="0"/>
              <a:t>(beschrijvingen van hoe de wereld is of had kunnen zijn)</a:t>
            </a:r>
            <a:r>
              <a:rPr lang="nl-NL" sz="2200" dirty="0"/>
              <a:t> het hebben. </a:t>
            </a:r>
            <a:endParaRPr lang="nl-NL" sz="1800" dirty="0"/>
          </a:p>
          <a:p>
            <a:pPr marL="0" indent="0">
              <a:buNone/>
            </a:pPr>
            <a:endParaRPr lang="nl-NL" sz="2400" dirty="0"/>
          </a:p>
          <a:p>
            <a:pPr marL="0" indent="0">
              <a:buFont typeface="Arial" pitchFamily="34" charset="0"/>
              <a:buNone/>
            </a:pPr>
            <a:endParaRPr lang="nl-NL" sz="2400" dirty="0"/>
          </a:p>
          <a:p>
            <a:endParaRPr lang="nl-NL" sz="2400" dirty="0"/>
          </a:p>
          <a:p>
            <a:endParaRPr lang="nl-NL" sz="2400" dirty="0"/>
          </a:p>
          <a:p>
            <a:endParaRPr lang="nl-NL" sz="2400" dirty="0"/>
          </a:p>
        </p:txBody>
      </p:sp>
      <p:sp>
        <p:nvSpPr>
          <p:cNvPr id="5" name="Content Placeholder 2">
            <a:extLst>
              <a:ext uri="{FF2B5EF4-FFF2-40B4-BE49-F238E27FC236}">
                <a16:creationId xmlns:a16="http://schemas.microsoft.com/office/drawing/2014/main" id="{7FB3BFAA-C59C-180C-EDB9-DE050FCC938C}"/>
              </a:ext>
            </a:extLst>
          </p:cNvPr>
          <p:cNvSpPr txBox="1">
            <a:spLocks/>
          </p:cNvSpPr>
          <p:nvPr/>
        </p:nvSpPr>
        <p:spPr>
          <a:xfrm>
            <a:off x="107504" y="3299792"/>
            <a:ext cx="878497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‘Object zijn’ en ‘Gelijk aan jezelf zijn’ zijn formele eigenschappen. Want alle objecten in alle mogelijke werelden zijn objecten en gelijk aan zichzelf. ‘Mens zijn’ en ‘Rood zijn’ zijn </a:t>
            </a:r>
            <a:r>
              <a:rPr lang="nl-NL" sz="2200" dirty="0">
                <a:solidFill>
                  <a:srgbClr val="EA244E"/>
                </a:solidFill>
              </a:rPr>
              <a:t>niet-formele </a:t>
            </a:r>
            <a:r>
              <a:rPr lang="nl-NL" sz="2200" dirty="0"/>
              <a:t>eigenschappen.</a:t>
            </a:r>
          </a:p>
          <a:p>
            <a:pPr marL="0" indent="0">
              <a:buNone/>
            </a:pPr>
            <a:endParaRPr lang="nl-NL" sz="2400" dirty="0"/>
          </a:p>
          <a:p>
            <a:pPr marL="0" indent="0">
              <a:buFont typeface="Arial" pitchFamily="34" charset="0"/>
              <a:buNone/>
            </a:pPr>
            <a:endParaRPr lang="nl-NL" sz="2400" dirty="0"/>
          </a:p>
          <a:p>
            <a:endParaRPr lang="nl-NL" sz="2400" dirty="0"/>
          </a:p>
          <a:p>
            <a:endParaRPr lang="nl-NL" sz="2400" dirty="0"/>
          </a:p>
          <a:p>
            <a:endParaRPr lang="nl-NL" sz="2400" dirty="0"/>
          </a:p>
        </p:txBody>
      </p:sp>
      <p:sp>
        <p:nvSpPr>
          <p:cNvPr id="8" name="Content Placeholder 2">
            <a:extLst>
              <a:ext uri="{FF2B5EF4-FFF2-40B4-BE49-F238E27FC236}">
                <a16:creationId xmlns:a16="http://schemas.microsoft.com/office/drawing/2014/main" id="{53FD2FF7-D9CB-225F-93FE-D3898603FAE0}"/>
              </a:ext>
            </a:extLst>
          </p:cNvPr>
          <p:cNvSpPr txBox="1">
            <a:spLocks/>
          </p:cNvSpPr>
          <p:nvPr/>
        </p:nvSpPr>
        <p:spPr>
          <a:xfrm>
            <a:off x="107504" y="4552528"/>
            <a:ext cx="8964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Als eigenschap </a:t>
            </a:r>
            <a:r>
              <a:rPr lang="nl-NL" sz="2200" i="1" dirty="0"/>
              <a:t>p</a:t>
            </a:r>
            <a:r>
              <a:rPr lang="nl-NL" sz="2200" dirty="0"/>
              <a:t> niet-formeel is, dus als er een object in </a:t>
            </a:r>
            <a:r>
              <a:rPr lang="nl-NL" sz="2200" i="1" dirty="0"/>
              <a:t>een mogelijke wereld</a:t>
            </a:r>
            <a:r>
              <a:rPr lang="nl-NL" sz="2200" dirty="0"/>
              <a:t> is die </a:t>
            </a:r>
            <a:r>
              <a:rPr lang="nl-NL" sz="2200" i="1" dirty="0"/>
              <a:t>p</a:t>
            </a:r>
            <a:r>
              <a:rPr lang="nl-NL" sz="2200" dirty="0"/>
              <a:t> mist, dan is er een object in de </a:t>
            </a:r>
            <a:r>
              <a:rPr lang="nl-NL" sz="2200" i="1" dirty="0"/>
              <a:t>actuele wereld</a:t>
            </a:r>
            <a:r>
              <a:rPr lang="nl-NL" sz="2200" dirty="0"/>
              <a:t> die </a:t>
            </a:r>
            <a:r>
              <a:rPr lang="nl-NL" sz="2200" i="1" dirty="0"/>
              <a:t>p</a:t>
            </a:r>
            <a:r>
              <a:rPr lang="nl-NL" sz="2200" dirty="0"/>
              <a:t> mist. </a:t>
            </a:r>
            <a:endParaRPr lang="nl-NL" sz="2400" dirty="0"/>
          </a:p>
        </p:txBody>
      </p:sp>
      <p:sp>
        <p:nvSpPr>
          <p:cNvPr id="6" name="Title 1">
            <a:extLst>
              <a:ext uri="{FF2B5EF4-FFF2-40B4-BE49-F238E27FC236}">
                <a16:creationId xmlns:a16="http://schemas.microsoft.com/office/drawing/2014/main" id="{1609AB65-8929-BDFC-D22A-001B22BE89FD}"/>
              </a:ext>
            </a:extLst>
          </p:cNvPr>
          <p:cNvSpPr txBox="1">
            <a:spLocks/>
          </p:cNvSpPr>
          <p:nvPr/>
        </p:nvSpPr>
        <p:spPr>
          <a:xfrm>
            <a:off x="609600" y="-3361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3600" dirty="0">
                <a:solidFill>
                  <a:srgbClr val="EA244E"/>
                </a:solidFill>
              </a:rPr>
              <a:t>Precisering van het principe</a:t>
            </a:r>
            <a:endParaRPr lang="nl-NL" sz="3600" dirty="0">
              <a:solidFill>
                <a:schemeClr val="accent2"/>
              </a:solidFill>
            </a:endParaRPr>
          </a:p>
        </p:txBody>
      </p:sp>
      <p:sp>
        <p:nvSpPr>
          <p:cNvPr id="11" name="Content Placeholder 2">
            <a:extLst>
              <a:ext uri="{FF2B5EF4-FFF2-40B4-BE49-F238E27FC236}">
                <a16:creationId xmlns:a16="http://schemas.microsoft.com/office/drawing/2014/main" id="{0890496E-C5DD-0249-0C70-D89357876236}"/>
              </a:ext>
            </a:extLst>
          </p:cNvPr>
          <p:cNvSpPr txBox="1">
            <a:spLocks/>
          </p:cNvSpPr>
          <p:nvPr/>
        </p:nvSpPr>
        <p:spPr>
          <a:xfrm>
            <a:off x="144016" y="5488632"/>
            <a:ext cx="932452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We krijgen dus </a:t>
            </a:r>
            <a:r>
              <a:rPr lang="nl-NL" sz="2200" dirty="0">
                <a:solidFill>
                  <a:srgbClr val="EA244E"/>
                </a:solidFill>
              </a:rPr>
              <a:t>”</a:t>
            </a:r>
            <a:r>
              <a:rPr lang="nl-NL" sz="2200" dirty="0" err="1">
                <a:solidFill>
                  <a:srgbClr val="EA244E"/>
                </a:solidFill>
              </a:rPr>
              <a:t>modal</a:t>
            </a:r>
            <a:r>
              <a:rPr lang="nl-NL" sz="2200" dirty="0">
                <a:solidFill>
                  <a:srgbClr val="EA244E"/>
                </a:solidFill>
              </a:rPr>
              <a:t> </a:t>
            </a:r>
            <a:r>
              <a:rPr lang="nl-NL" sz="2200" dirty="0" err="1">
                <a:solidFill>
                  <a:srgbClr val="EA244E"/>
                </a:solidFill>
              </a:rPr>
              <a:t>collapse</a:t>
            </a:r>
            <a:r>
              <a:rPr lang="nl-NL" sz="2200" dirty="0">
                <a:solidFill>
                  <a:srgbClr val="EA244E"/>
                </a:solidFill>
              </a:rPr>
              <a:t>”</a:t>
            </a:r>
            <a:r>
              <a:rPr lang="nl-NL" sz="2200" dirty="0"/>
              <a:t> - </a:t>
            </a:r>
            <a:r>
              <a:rPr lang="nl-NL" sz="2200" i="1" dirty="0"/>
              <a:t>mogelijke</a:t>
            </a:r>
            <a:r>
              <a:rPr lang="nl-NL" sz="2200" dirty="0"/>
              <a:t> omissies zijn </a:t>
            </a:r>
            <a:r>
              <a:rPr lang="nl-NL" sz="2200" i="1" dirty="0"/>
              <a:t>actuele</a:t>
            </a:r>
            <a:r>
              <a:rPr lang="nl-NL" sz="2200" dirty="0"/>
              <a:t> omissies.</a:t>
            </a:r>
          </a:p>
          <a:p>
            <a:endParaRPr lang="nl-NL" sz="2400" dirty="0"/>
          </a:p>
        </p:txBody>
      </p:sp>
    </p:spTree>
    <p:extLst>
      <p:ext uri="{BB962C8B-B14F-4D97-AF65-F5344CB8AC3E}">
        <p14:creationId xmlns:p14="http://schemas.microsoft.com/office/powerpoint/2010/main" val="215053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4" grpId="0"/>
      <p:bldP spid="5" grpId="0"/>
      <p:bldP spid="8"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8152"/>
            <a:ext cx="9036496" cy="532656"/>
          </a:xfrm>
        </p:spPr>
        <p:txBody>
          <a:bodyPr>
            <a:noAutofit/>
          </a:bodyPr>
          <a:lstStyle/>
          <a:p>
            <a:r>
              <a:rPr lang="nl-NL" sz="2200" dirty="0"/>
              <a:t>Ik laat </a:t>
            </a:r>
            <a:r>
              <a:rPr lang="nl-NL" sz="2200" dirty="0">
                <a:solidFill>
                  <a:srgbClr val="EA244E"/>
                </a:solidFill>
              </a:rPr>
              <a:t>negatieve </a:t>
            </a:r>
            <a:r>
              <a:rPr lang="nl-NL" sz="2200" i="1" dirty="0"/>
              <a:t>(Niet rood zijn)</a:t>
            </a:r>
            <a:r>
              <a:rPr lang="nl-NL" sz="2200" dirty="0"/>
              <a:t> en </a:t>
            </a:r>
            <a:r>
              <a:rPr lang="nl-NL" sz="2200" dirty="0">
                <a:solidFill>
                  <a:srgbClr val="EA244E"/>
                </a:solidFill>
              </a:rPr>
              <a:t>relationele </a:t>
            </a:r>
            <a:r>
              <a:rPr lang="nl-NL" sz="2200" dirty="0"/>
              <a:t>eigenschappen </a:t>
            </a:r>
            <a:r>
              <a:rPr lang="nl-NL" sz="2200" i="1" dirty="0"/>
              <a:t>(Zich ten noorden van Parijs bevinden)</a:t>
            </a:r>
            <a:r>
              <a:rPr lang="nl-NL" sz="2200" dirty="0"/>
              <a:t> buiten bereik van het principe: er zijn</a:t>
            </a:r>
            <a:r>
              <a:rPr lang="nl-NL" sz="2200" i="1" dirty="0"/>
              <a:t>        </a:t>
            </a:r>
            <a:r>
              <a:rPr lang="nl-NL" sz="2200" dirty="0"/>
              <a:t>geen universele niet-formele </a:t>
            </a:r>
            <a:r>
              <a:rPr lang="nl-NL" sz="2200" dirty="0">
                <a:solidFill>
                  <a:srgbClr val="EA244E"/>
                </a:solidFill>
              </a:rPr>
              <a:t>positieve intrinsieke </a:t>
            </a:r>
            <a:r>
              <a:rPr lang="nl-NL" sz="2200" dirty="0"/>
              <a:t>eigenschappen.</a:t>
            </a:r>
            <a:endParaRPr lang="nl-NL" sz="2400" dirty="0"/>
          </a:p>
        </p:txBody>
      </p:sp>
      <p:sp>
        <p:nvSpPr>
          <p:cNvPr id="4" name="Content Placeholder 2">
            <a:extLst>
              <a:ext uri="{FF2B5EF4-FFF2-40B4-BE49-F238E27FC236}">
                <a16:creationId xmlns:a16="http://schemas.microsoft.com/office/drawing/2014/main" id="{5039D4AC-D62D-DDDE-BD79-77A5545100A3}"/>
              </a:ext>
            </a:extLst>
          </p:cNvPr>
          <p:cNvSpPr txBox="1">
            <a:spLocks/>
          </p:cNvSpPr>
          <p:nvPr/>
        </p:nvSpPr>
        <p:spPr>
          <a:xfrm>
            <a:off x="107504" y="2363688"/>
            <a:ext cx="8964488" cy="125273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Elke eigenschap </a:t>
            </a:r>
            <a:r>
              <a:rPr lang="nl-NL" sz="2200" i="1" dirty="0"/>
              <a:t>(Rood zijn)</a:t>
            </a:r>
            <a:r>
              <a:rPr lang="nl-NL" sz="2200" dirty="0"/>
              <a:t> correspondeert met een </a:t>
            </a:r>
            <a:r>
              <a:rPr lang="nl-NL" sz="2200" dirty="0">
                <a:solidFill>
                  <a:srgbClr val="EA244E"/>
                </a:solidFill>
              </a:rPr>
              <a:t>concept</a:t>
            </a:r>
            <a:r>
              <a:rPr lang="nl-NL" sz="2200" dirty="0"/>
              <a:t> </a:t>
            </a:r>
            <a:r>
              <a:rPr lang="nl-NL" sz="2200" i="1" dirty="0"/>
              <a:t>(Rood)</a:t>
            </a:r>
            <a:r>
              <a:rPr lang="nl-NL" sz="2200" dirty="0"/>
              <a:t>. Elk concept heeft een </a:t>
            </a:r>
            <a:r>
              <a:rPr lang="nl-NL" sz="2200" dirty="0">
                <a:solidFill>
                  <a:srgbClr val="EA244E"/>
                </a:solidFill>
              </a:rPr>
              <a:t>verwijzing </a:t>
            </a:r>
            <a:r>
              <a:rPr lang="nl-NL" sz="2200" i="1" dirty="0"/>
              <a:t>(Alle rode objecten)</a:t>
            </a:r>
            <a:r>
              <a:rPr lang="nl-NL" sz="2200" dirty="0"/>
              <a:t>. Twee concepten zijn </a:t>
            </a:r>
            <a:r>
              <a:rPr lang="nl-NL" sz="2200" dirty="0">
                <a:solidFill>
                  <a:srgbClr val="EA244E"/>
                </a:solidFill>
              </a:rPr>
              <a:t>gelijk </a:t>
            </a:r>
            <a:r>
              <a:rPr lang="nl-NL" sz="2200" dirty="0"/>
              <a:t>als ze dezelfde </a:t>
            </a:r>
            <a:r>
              <a:rPr lang="nl-NL" sz="2200" dirty="0">
                <a:solidFill>
                  <a:srgbClr val="EA244E"/>
                </a:solidFill>
              </a:rPr>
              <a:t>betekenis </a:t>
            </a:r>
            <a:r>
              <a:rPr lang="nl-NL" sz="2200" dirty="0"/>
              <a:t>hebben en omgekeerd </a:t>
            </a:r>
            <a:r>
              <a:rPr lang="nl-NL" sz="2200" i="1" dirty="0"/>
              <a:t>(Object en Ding)</a:t>
            </a:r>
            <a:r>
              <a:rPr lang="nl-NL" sz="2200" dirty="0"/>
              <a:t>. </a:t>
            </a:r>
          </a:p>
          <a:p>
            <a:pPr marL="0" indent="0">
              <a:buNone/>
            </a:pPr>
            <a:endParaRPr lang="nl-NL" sz="1800" dirty="0"/>
          </a:p>
          <a:p>
            <a:pPr marL="0" indent="0">
              <a:buNone/>
            </a:pPr>
            <a:endParaRPr lang="nl-NL" sz="2400" dirty="0"/>
          </a:p>
          <a:p>
            <a:pPr marL="0" indent="0">
              <a:buFont typeface="Arial" pitchFamily="34" charset="0"/>
              <a:buNone/>
            </a:pPr>
            <a:endParaRPr lang="nl-NL" sz="2400" dirty="0"/>
          </a:p>
          <a:p>
            <a:endParaRPr lang="nl-NL" sz="2400" dirty="0"/>
          </a:p>
          <a:p>
            <a:endParaRPr lang="nl-NL" sz="2400" dirty="0"/>
          </a:p>
          <a:p>
            <a:endParaRPr lang="nl-NL" sz="2400" dirty="0"/>
          </a:p>
        </p:txBody>
      </p:sp>
      <p:sp>
        <p:nvSpPr>
          <p:cNvPr id="6" name="Content Placeholder 2">
            <a:extLst>
              <a:ext uri="{FF2B5EF4-FFF2-40B4-BE49-F238E27FC236}">
                <a16:creationId xmlns:a16="http://schemas.microsoft.com/office/drawing/2014/main" id="{AE2FE478-1734-B7D5-FC88-733F01BAABAD}"/>
              </a:ext>
            </a:extLst>
          </p:cNvPr>
          <p:cNvSpPr txBox="1">
            <a:spLocks/>
          </p:cNvSpPr>
          <p:nvPr/>
        </p:nvSpPr>
        <p:spPr>
          <a:xfrm>
            <a:off x="107504" y="3616424"/>
            <a:ext cx="8964488" cy="93610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Een </a:t>
            </a:r>
            <a:r>
              <a:rPr lang="nl-NL" sz="2200" dirty="0">
                <a:solidFill>
                  <a:srgbClr val="EA244E"/>
                </a:solidFill>
              </a:rPr>
              <a:t>complex </a:t>
            </a:r>
            <a:r>
              <a:rPr lang="nl-NL" sz="2200" dirty="0"/>
              <a:t>concept </a:t>
            </a:r>
            <a:r>
              <a:rPr lang="nl-NL" sz="2200" i="1" dirty="0"/>
              <a:t>(Eenhoorn; Boekenkast; Rode tafel)</a:t>
            </a:r>
            <a:r>
              <a:rPr lang="nl-NL" sz="2200" dirty="0"/>
              <a:t> bestaat uit </a:t>
            </a:r>
            <a:r>
              <a:rPr lang="nl-NL" sz="2200" dirty="0">
                <a:solidFill>
                  <a:srgbClr val="EA244E"/>
                </a:solidFill>
              </a:rPr>
              <a:t>deel-concepten</a:t>
            </a:r>
            <a:r>
              <a:rPr lang="nl-NL" sz="2200" dirty="0"/>
              <a:t> </a:t>
            </a:r>
            <a:r>
              <a:rPr lang="nl-NL" sz="2200" i="1" dirty="0"/>
              <a:t>(Hoorn, Voorhoofd en Paard; Boek en Kast; Rood en Tafel)</a:t>
            </a:r>
            <a:r>
              <a:rPr lang="nl-NL" sz="2200" dirty="0"/>
              <a:t>.</a:t>
            </a:r>
          </a:p>
          <a:p>
            <a:pPr marL="0" indent="0">
              <a:buNone/>
            </a:pPr>
            <a:endParaRPr lang="nl-NL" sz="1800" dirty="0"/>
          </a:p>
          <a:p>
            <a:pPr marL="0" indent="0">
              <a:buNone/>
            </a:pPr>
            <a:endParaRPr lang="nl-NL" sz="2400" dirty="0"/>
          </a:p>
          <a:p>
            <a:pPr marL="0" indent="0">
              <a:buFont typeface="Arial" pitchFamily="34" charset="0"/>
              <a:buNone/>
            </a:pPr>
            <a:endParaRPr lang="nl-NL" sz="2400" dirty="0"/>
          </a:p>
          <a:p>
            <a:endParaRPr lang="nl-NL" sz="2400" dirty="0"/>
          </a:p>
          <a:p>
            <a:endParaRPr lang="nl-NL" sz="2400" dirty="0"/>
          </a:p>
          <a:p>
            <a:endParaRPr lang="nl-NL" sz="2400" dirty="0"/>
          </a:p>
        </p:txBody>
      </p:sp>
      <p:sp>
        <p:nvSpPr>
          <p:cNvPr id="5" name="Content Placeholder 2">
            <a:extLst>
              <a:ext uri="{FF2B5EF4-FFF2-40B4-BE49-F238E27FC236}">
                <a16:creationId xmlns:a16="http://schemas.microsoft.com/office/drawing/2014/main" id="{CD19FEF2-C4D7-D847-7B1C-B32B52E5E541}"/>
              </a:ext>
            </a:extLst>
          </p:cNvPr>
          <p:cNvSpPr txBox="1">
            <a:spLocks/>
          </p:cNvSpPr>
          <p:nvPr/>
        </p:nvSpPr>
        <p:spPr>
          <a:xfrm>
            <a:off x="72008" y="4595936"/>
            <a:ext cx="8964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Een </a:t>
            </a:r>
            <a:r>
              <a:rPr lang="nl-NL" sz="2200" dirty="0">
                <a:solidFill>
                  <a:srgbClr val="EA244E"/>
                </a:solidFill>
              </a:rPr>
              <a:t>simpel </a:t>
            </a:r>
            <a:r>
              <a:rPr lang="nl-NL" sz="2200" dirty="0"/>
              <a:t>concept is een concept dat niet complex is </a:t>
            </a:r>
            <a:r>
              <a:rPr lang="nl-NL" sz="2200" i="1" dirty="0"/>
              <a:t>(Rood of Object)</a:t>
            </a:r>
            <a:r>
              <a:rPr lang="nl-NL" sz="2200" dirty="0"/>
              <a:t>.</a:t>
            </a:r>
          </a:p>
          <a:p>
            <a:pPr marL="0" indent="0">
              <a:buNone/>
            </a:pPr>
            <a:endParaRPr lang="nl-NL" sz="1800" dirty="0"/>
          </a:p>
          <a:p>
            <a:pPr marL="0" indent="0">
              <a:buNone/>
            </a:pPr>
            <a:endParaRPr lang="nl-NL" sz="2400" dirty="0"/>
          </a:p>
          <a:p>
            <a:pPr marL="0" indent="0">
              <a:buFont typeface="Arial" pitchFamily="34" charset="0"/>
              <a:buNone/>
            </a:pPr>
            <a:endParaRPr lang="nl-NL" sz="2400" dirty="0"/>
          </a:p>
          <a:p>
            <a:endParaRPr lang="nl-NL" sz="2400" dirty="0"/>
          </a:p>
          <a:p>
            <a:endParaRPr lang="nl-NL" sz="2400" dirty="0"/>
          </a:p>
          <a:p>
            <a:endParaRPr lang="nl-NL" sz="2400" dirty="0"/>
          </a:p>
        </p:txBody>
      </p:sp>
      <p:sp>
        <p:nvSpPr>
          <p:cNvPr id="7" name="Content Placeholder 2">
            <a:extLst>
              <a:ext uri="{FF2B5EF4-FFF2-40B4-BE49-F238E27FC236}">
                <a16:creationId xmlns:a16="http://schemas.microsoft.com/office/drawing/2014/main" id="{D2F2360D-A080-B88F-76BB-0D492358BF8E}"/>
              </a:ext>
            </a:extLst>
          </p:cNvPr>
          <p:cNvSpPr txBox="1">
            <a:spLocks/>
          </p:cNvSpPr>
          <p:nvPr/>
        </p:nvSpPr>
        <p:spPr>
          <a:xfrm>
            <a:off x="72008" y="5272608"/>
            <a:ext cx="8964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Deelconcepten kunnen simpel of complex zijn. We kunnen dus een  complex concept </a:t>
            </a:r>
            <a:r>
              <a:rPr lang="nl-NL" sz="2200" dirty="0">
                <a:solidFill>
                  <a:srgbClr val="EA244E"/>
                </a:solidFill>
              </a:rPr>
              <a:t>recursief ontvouwen </a:t>
            </a:r>
            <a:r>
              <a:rPr lang="nl-NL" sz="2200" dirty="0"/>
              <a:t>in simpele concepten.</a:t>
            </a:r>
          </a:p>
          <a:p>
            <a:pPr marL="0" indent="0">
              <a:buNone/>
            </a:pPr>
            <a:endParaRPr lang="nl-NL" sz="1800" dirty="0"/>
          </a:p>
          <a:p>
            <a:pPr marL="0" indent="0">
              <a:buNone/>
            </a:pPr>
            <a:endParaRPr lang="nl-NL" sz="2400" dirty="0"/>
          </a:p>
          <a:p>
            <a:pPr marL="0" indent="0">
              <a:buFont typeface="Arial" pitchFamily="34" charset="0"/>
              <a:buNone/>
            </a:pPr>
            <a:endParaRPr lang="nl-NL" sz="2400" dirty="0"/>
          </a:p>
          <a:p>
            <a:endParaRPr lang="nl-NL" sz="2400" dirty="0"/>
          </a:p>
          <a:p>
            <a:endParaRPr lang="nl-NL" sz="2400" dirty="0"/>
          </a:p>
          <a:p>
            <a:endParaRPr lang="nl-NL" sz="2400" dirty="0"/>
          </a:p>
        </p:txBody>
      </p:sp>
      <p:sp>
        <p:nvSpPr>
          <p:cNvPr id="10" name="Title 1">
            <a:extLst>
              <a:ext uri="{FF2B5EF4-FFF2-40B4-BE49-F238E27FC236}">
                <a16:creationId xmlns:a16="http://schemas.microsoft.com/office/drawing/2014/main" id="{2BAE5595-B351-A682-6796-945642A1E760}"/>
              </a:ext>
            </a:extLst>
          </p:cNvPr>
          <p:cNvSpPr txBox="1">
            <a:spLocks/>
          </p:cNvSpPr>
          <p:nvPr/>
        </p:nvSpPr>
        <p:spPr>
          <a:xfrm>
            <a:off x="609600" y="-55984"/>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3600" dirty="0">
                <a:solidFill>
                  <a:srgbClr val="EA244E"/>
                </a:solidFill>
              </a:rPr>
              <a:t>Aanvullende begrippen</a:t>
            </a:r>
            <a:endParaRPr lang="nl-NL" sz="3600" dirty="0">
              <a:solidFill>
                <a:schemeClr val="accent2"/>
              </a:solidFill>
            </a:endParaRPr>
          </a:p>
        </p:txBody>
      </p:sp>
    </p:spTree>
    <p:extLst>
      <p:ext uri="{BB962C8B-B14F-4D97-AF65-F5344CB8AC3E}">
        <p14:creationId xmlns:p14="http://schemas.microsoft.com/office/powerpoint/2010/main" val="423779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P spid="5"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952128"/>
            <a:ext cx="9036496" cy="532656"/>
          </a:xfrm>
        </p:spPr>
        <p:txBody>
          <a:bodyPr>
            <a:noAutofit/>
          </a:bodyPr>
          <a:lstStyle/>
          <a:p>
            <a:r>
              <a:rPr lang="nl-NL" sz="2200" dirty="0"/>
              <a:t>Concepten hebben ook wat ik een </a:t>
            </a:r>
            <a:r>
              <a:rPr lang="nl-NL" sz="2200" dirty="0">
                <a:solidFill>
                  <a:srgbClr val="EA244E"/>
                </a:solidFill>
              </a:rPr>
              <a:t>verwijzingsverzameling </a:t>
            </a:r>
            <a:r>
              <a:rPr lang="nl-NL" sz="2200" dirty="0"/>
              <a:t>noem. De verwijzingsverzameling van een </a:t>
            </a:r>
            <a:r>
              <a:rPr lang="nl-NL" sz="2200" i="1" dirty="0"/>
              <a:t>simpel</a:t>
            </a:r>
            <a:r>
              <a:rPr lang="nl-NL" sz="2200" dirty="0"/>
              <a:t> concept is de verwijzing ervan.</a:t>
            </a:r>
          </a:p>
          <a:p>
            <a:pPr lvl="1"/>
            <a:r>
              <a:rPr lang="nl-NL" sz="1800" dirty="0"/>
              <a:t>De verwijzingsverzameling van ‘Rood’ is de verzameling van alle rode dingen.   </a:t>
            </a:r>
          </a:p>
          <a:p>
            <a:endParaRPr lang="nl-NL" sz="2400" dirty="0"/>
          </a:p>
        </p:txBody>
      </p:sp>
      <p:sp>
        <p:nvSpPr>
          <p:cNvPr id="8" name="Content Placeholder 2">
            <a:extLst>
              <a:ext uri="{FF2B5EF4-FFF2-40B4-BE49-F238E27FC236}">
                <a16:creationId xmlns:a16="http://schemas.microsoft.com/office/drawing/2014/main" id="{5A4C4515-2927-C06C-77AD-D060F4C9B97A}"/>
              </a:ext>
            </a:extLst>
          </p:cNvPr>
          <p:cNvSpPr txBox="1">
            <a:spLocks/>
          </p:cNvSpPr>
          <p:nvPr/>
        </p:nvSpPr>
        <p:spPr>
          <a:xfrm>
            <a:off x="72008" y="2248272"/>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De verwijzingsverzameling van een </a:t>
            </a:r>
            <a:r>
              <a:rPr lang="nl-NL" sz="2200" i="1" dirty="0"/>
              <a:t>complex</a:t>
            </a:r>
            <a:r>
              <a:rPr lang="nl-NL" sz="2200" dirty="0"/>
              <a:t> concept is de </a:t>
            </a:r>
            <a:r>
              <a:rPr lang="nl-NL" sz="2200" dirty="0">
                <a:solidFill>
                  <a:srgbClr val="EA244E"/>
                </a:solidFill>
              </a:rPr>
              <a:t>vereniging </a:t>
            </a:r>
            <a:r>
              <a:rPr lang="nl-NL" sz="2200" dirty="0"/>
              <a:t>van de verwijzingen van de deelconcepten van het complexe concept.</a:t>
            </a:r>
          </a:p>
          <a:p>
            <a:pPr lvl="1"/>
            <a:r>
              <a:rPr lang="nl-NL" sz="1800" dirty="0"/>
              <a:t>De </a:t>
            </a:r>
            <a:r>
              <a:rPr lang="nl-NL" sz="1800" i="1" dirty="0"/>
              <a:t>verwijzing</a:t>
            </a:r>
            <a:r>
              <a:rPr lang="nl-NL" sz="1800" dirty="0"/>
              <a:t> van ‘Rode fiets’ is de verzameling van alle rode fietsen.</a:t>
            </a:r>
          </a:p>
          <a:p>
            <a:pPr lvl="1"/>
            <a:r>
              <a:rPr lang="nl-NL" sz="1800" dirty="0"/>
              <a:t>De </a:t>
            </a:r>
            <a:r>
              <a:rPr lang="nl-NL" sz="1800" i="1" dirty="0"/>
              <a:t>verwijzingsverzameling</a:t>
            </a:r>
            <a:r>
              <a:rPr lang="nl-NL" sz="1800" dirty="0"/>
              <a:t> van ‘Rode fiets’ is de verzameling van alle rode objecten en alle fietsen. Het bevat bijvoorbeeld ook rode tafels en blauwe fietsen. </a:t>
            </a:r>
            <a:endParaRPr lang="nl-NL" sz="2400" dirty="0"/>
          </a:p>
        </p:txBody>
      </p:sp>
      <p:sp>
        <p:nvSpPr>
          <p:cNvPr id="9" name="Content Placeholder 2">
            <a:extLst>
              <a:ext uri="{FF2B5EF4-FFF2-40B4-BE49-F238E27FC236}">
                <a16:creationId xmlns:a16="http://schemas.microsoft.com/office/drawing/2014/main" id="{778B0D8A-97A4-B80C-AAA7-874B0F5E78DE}"/>
              </a:ext>
            </a:extLst>
          </p:cNvPr>
          <p:cNvSpPr txBox="1">
            <a:spLocks/>
          </p:cNvSpPr>
          <p:nvPr/>
        </p:nvSpPr>
        <p:spPr>
          <a:xfrm>
            <a:off x="107504" y="4149080"/>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Verschillende concepten hebben soms dezelfde verwijzing (</a:t>
            </a:r>
            <a:r>
              <a:rPr lang="nl-NL" sz="2200" dirty="0">
                <a:solidFill>
                  <a:srgbClr val="EA244E"/>
                </a:solidFill>
              </a:rPr>
              <a:t>Frege</a:t>
            </a:r>
            <a:r>
              <a:rPr lang="nl-NL" sz="2200" dirty="0"/>
              <a:t>) </a:t>
            </a:r>
          </a:p>
          <a:p>
            <a:pPr lvl="1"/>
            <a:r>
              <a:rPr lang="nl-NL" sz="1800" dirty="0"/>
              <a:t>‘Dieren met een hart’ en ‘Dieren met een nier’ zijn verschillende concepten. De betekenissen verschillen. Maar elk dier met een hart heeft een nier en omgekeerd.</a:t>
            </a:r>
          </a:p>
        </p:txBody>
      </p:sp>
      <p:sp>
        <p:nvSpPr>
          <p:cNvPr id="10" name="Content Placeholder 2">
            <a:extLst>
              <a:ext uri="{FF2B5EF4-FFF2-40B4-BE49-F238E27FC236}">
                <a16:creationId xmlns:a16="http://schemas.microsoft.com/office/drawing/2014/main" id="{2ACE705B-F10B-6ADE-2D59-4B97E05C29A0}"/>
              </a:ext>
            </a:extLst>
          </p:cNvPr>
          <p:cNvSpPr txBox="1">
            <a:spLocks/>
          </p:cNvSpPr>
          <p:nvPr/>
        </p:nvSpPr>
        <p:spPr>
          <a:xfrm>
            <a:off x="107504" y="5373216"/>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Verschillende concepten hebben </a:t>
            </a:r>
            <a:r>
              <a:rPr lang="nl-NL" sz="2200" dirty="0">
                <a:solidFill>
                  <a:srgbClr val="EA244E"/>
                </a:solidFill>
              </a:rPr>
              <a:t>niet </a:t>
            </a:r>
            <a:r>
              <a:rPr lang="nl-NL" sz="2200" dirty="0"/>
              <a:t>dezelfde verwijzingsverzameling</a:t>
            </a:r>
          </a:p>
          <a:p>
            <a:pPr lvl="1"/>
            <a:r>
              <a:rPr lang="nl-NL" sz="1800" dirty="0"/>
              <a:t>‘Dieren met een hart’ en ‘Dieren met een nier’ hebben inderdaad verschillende verwijzingsverzamelingen. Want ‘Hart’ is een deelconcept van de eerste en niet        van de tweede. En ‘Nier’ een deelconcept van de tweede en niet van de eerste.</a:t>
            </a:r>
          </a:p>
        </p:txBody>
      </p:sp>
      <p:sp>
        <p:nvSpPr>
          <p:cNvPr id="6" name="Title 1">
            <a:extLst>
              <a:ext uri="{FF2B5EF4-FFF2-40B4-BE49-F238E27FC236}">
                <a16:creationId xmlns:a16="http://schemas.microsoft.com/office/drawing/2014/main" id="{66197EE9-3BC3-B51A-6C72-8EDBF0069943}"/>
              </a:ext>
            </a:extLst>
          </p:cNvPr>
          <p:cNvSpPr txBox="1">
            <a:spLocks/>
          </p:cNvSpPr>
          <p:nvPr/>
        </p:nvSpPr>
        <p:spPr>
          <a:xfrm>
            <a:off x="0" y="-99392"/>
            <a:ext cx="9108504"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nl-NL" sz="3600" dirty="0">
                <a:solidFill>
                  <a:srgbClr val="EA244E"/>
                </a:solidFill>
              </a:rPr>
              <a:t>Aanvullende begrippen en de kernpremisse</a:t>
            </a:r>
            <a:endParaRPr lang="nl-NL" sz="3600" dirty="0">
              <a:solidFill>
                <a:schemeClr val="accent2"/>
              </a:solidFill>
            </a:endParaRPr>
          </a:p>
        </p:txBody>
      </p:sp>
    </p:spTree>
    <p:extLst>
      <p:ext uri="{BB962C8B-B14F-4D97-AF65-F5344CB8AC3E}">
        <p14:creationId xmlns:p14="http://schemas.microsoft.com/office/powerpoint/2010/main" val="399710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normAutofit/>
          </a:bodyPr>
          <a:lstStyle/>
          <a:p>
            <a:r>
              <a:rPr lang="nl-NL" sz="3600" dirty="0">
                <a:solidFill>
                  <a:srgbClr val="EA244E"/>
                </a:solidFill>
              </a:rPr>
              <a:t>De kernpremisse</a:t>
            </a:r>
            <a:endParaRPr lang="nl-NL" sz="3600" dirty="0"/>
          </a:p>
        </p:txBody>
      </p:sp>
      <p:sp>
        <p:nvSpPr>
          <p:cNvPr id="6" name="Content Placeholder 2">
            <a:extLst>
              <a:ext uri="{FF2B5EF4-FFF2-40B4-BE49-F238E27FC236}">
                <a16:creationId xmlns:a16="http://schemas.microsoft.com/office/drawing/2014/main" id="{648C3847-35E3-1562-CFCA-0A7F93E4FCD8}"/>
              </a:ext>
            </a:extLst>
          </p:cNvPr>
          <p:cNvSpPr>
            <a:spLocks noGrp="1"/>
          </p:cNvSpPr>
          <p:nvPr>
            <p:ph idx="1"/>
          </p:nvPr>
        </p:nvSpPr>
        <p:spPr>
          <a:xfrm>
            <a:off x="107504" y="1312168"/>
            <a:ext cx="9036496" cy="532656"/>
          </a:xfrm>
        </p:spPr>
        <p:txBody>
          <a:bodyPr>
            <a:noAutofit/>
          </a:bodyPr>
          <a:lstStyle/>
          <a:p>
            <a:r>
              <a:rPr lang="nl-NL" sz="2200" dirty="0"/>
              <a:t>Twee concepten met dezelfde verwijzingsverzameling zijn gelijk.</a:t>
            </a:r>
          </a:p>
        </p:txBody>
      </p:sp>
      <p:sp>
        <p:nvSpPr>
          <p:cNvPr id="7" name="Content Placeholder 2">
            <a:extLst>
              <a:ext uri="{FF2B5EF4-FFF2-40B4-BE49-F238E27FC236}">
                <a16:creationId xmlns:a16="http://schemas.microsoft.com/office/drawing/2014/main" id="{58F05DDC-1E0D-DCC0-B071-CC126083B093}"/>
              </a:ext>
            </a:extLst>
          </p:cNvPr>
          <p:cNvSpPr txBox="1">
            <a:spLocks/>
          </p:cNvSpPr>
          <p:nvPr/>
        </p:nvSpPr>
        <p:spPr>
          <a:xfrm>
            <a:off x="72008" y="1888232"/>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Gelijkheid van verwijzing garandeert </a:t>
            </a:r>
            <a:r>
              <a:rPr lang="nl-NL" sz="2200" i="1" dirty="0"/>
              <a:t>géén</a:t>
            </a:r>
            <a:r>
              <a:rPr lang="nl-NL" sz="2200" dirty="0"/>
              <a:t> gelijkheid van betekenis. Maar gelijkheid van verwijzingsverzameling </a:t>
            </a:r>
            <a:r>
              <a:rPr lang="nl-NL" sz="2200" i="1" dirty="0"/>
              <a:t>wél</a:t>
            </a:r>
            <a:r>
              <a:rPr lang="nl-NL" sz="2200" dirty="0"/>
              <a:t>.</a:t>
            </a:r>
          </a:p>
        </p:txBody>
      </p:sp>
      <p:sp>
        <p:nvSpPr>
          <p:cNvPr id="10" name="Content Placeholder 2">
            <a:extLst>
              <a:ext uri="{FF2B5EF4-FFF2-40B4-BE49-F238E27FC236}">
                <a16:creationId xmlns:a16="http://schemas.microsoft.com/office/drawing/2014/main" id="{93F95CAB-B62B-DB3C-FFD2-E82ED6E8908B}"/>
              </a:ext>
            </a:extLst>
          </p:cNvPr>
          <p:cNvSpPr txBox="1">
            <a:spLocks/>
          </p:cNvSpPr>
          <p:nvPr/>
        </p:nvSpPr>
        <p:spPr>
          <a:xfrm>
            <a:off x="72008" y="2852936"/>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Als twee concepten dezelfde verwijzingsverzameling hebben, dan zijn die concepten zelfs niet van elkaar te onderscheiden door de verwijzingen van al hun deelconcepten te volgen. Ze maken vanuit al hun deelconcepten op exact dezelfde wijze contact met de wereld en zijn dus redelijkerwijs gelijk.</a:t>
            </a:r>
          </a:p>
        </p:txBody>
      </p:sp>
      <p:sp>
        <p:nvSpPr>
          <p:cNvPr id="12" name="Content Placeholder 2">
            <a:extLst>
              <a:ext uri="{FF2B5EF4-FFF2-40B4-BE49-F238E27FC236}">
                <a16:creationId xmlns:a16="http://schemas.microsoft.com/office/drawing/2014/main" id="{040428DD-8985-3360-6E8B-EDCB0FF7F7CF}"/>
              </a:ext>
            </a:extLst>
          </p:cNvPr>
          <p:cNvSpPr txBox="1">
            <a:spLocks/>
          </p:cNvSpPr>
          <p:nvPr/>
        </p:nvSpPr>
        <p:spPr>
          <a:xfrm>
            <a:off x="107504" y="4264496"/>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nl-NL" sz="2200" dirty="0"/>
          </a:p>
        </p:txBody>
      </p:sp>
      <p:sp>
        <p:nvSpPr>
          <p:cNvPr id="13" name="Content Placeholder 2">
            <a:extLst>
              <a:ext uri="{FF2B5EF4-FFF2-40B4-BE49-F238E27FC236}">
                <a16:creationId xmlns:a16="http://schemas.microsoft.com/office/drawing/2014/main" id="{E5CBCF5D-8B0D-1468-7A4D-79BE2996ADB4}"/>
              </a:ext>
            </a:extLst>
          </p:cNvPr>
          <p:cNvSpPr txBox="1">
            <a:spLocks/>
          </p:cNvSpPr>
          <p:nvPr/>
        </p:nvSpPr>
        <p:spPr>
          <a:xfrm>
            <a:off x="107504" y="4509120"/>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200" dirty="0"/>
              <a:t>Alle vermeende voorbeelden van verschillende concepten met dezelfde verwijzingsverzameling zijn weerlegd (Rutten 2021; 2022). De centrale premisse heeft dan ook een voldoende hoge </a:t>
            </a:r>
            <a:r>
              <a:rPr lang="nl-NL" sz="2200" dirty="0" err="1">
                <a:solidFill>
                  <a:srgbClr val="EA244E"/>
                </a:solidFill>
              </a:rPr>
              <a:t>corroboratiegraad</a:t>
            </a:r>
            <a:r>
              <a:rPr lang="nl-NL" sz="2200" dirty="0"/>
              <a:t>.</a:t>
            </a:r>
          </a:p>
        </p:txBody>
      </p:sp>
    </p:spTree>
    <p:extLst>
      <p:ext uri="{BB962C8B-B14F-4D97-AF65-F5344CB8AC3E}">
        <p14:creationId xmlns:p14="http://schemas.microsoft.com/office/powerpoint/2010/main" val="2315911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p:bldP spid="10"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648C3847-35E3-1562-CFCA-0A7F93E4FCD8}"/>
              </a:ext>
            </a:extLst>
          </p:cNvPr>
          <p:cNvSpPr>
            <a:spLocks noGrp="1"/>
          </p:cNvSpPr>
          <p:nvPr>
            <p:ph idx="1"/>
          </p:nvPr>
        </p:nvSpPr>
        <p:spPr>
          <a:xfrm>
            <a:off x="107504" y="1312168"/>
            <a:ext cx="9036496" cy="532656"/>
          </a:xfrm>
        </p:spPr>
        <p:txBody>
          <a:bodyPr>
            <a:noAutofit/>
          </a:bodyPr>
          <a:lstStyle/>
          <a:p>
            <a:r>
              <a:rPr lang="nl-NL" sz="2000" dirty="0"/>
              <a:t>Neem voor </a:t>
            </a:r>
            <a:r>
              <a:rPr lang="nl-NL" sz="2000" dirty="0">
                <a:solidFill>
                  <a:srgbClr val="EA244E"/>
                </a:solidFill>
              </a:rPr>
              <a:t>reductio ad absurdum </a:t>
            </a:r>
            <a:r>
              <a:rPr lang="nl-NL" sz="2000" dirty="0"/>
              <a:t>aan dat er een niet-formele universele eigenschap </a:t>
            </a:r>
            <a:r>
              <a:rPr lang="nl-NL" sz="2000" i="1" dirty="0"/>
              <a:t>p</a:t>
            </a:r>
            <a:r>
              <a:rPr lang="nl-NL" sz="2000" dirty="0"/>
              <a:t> bestaat.</a:t>
            </a:r>
          </a:p>
        </p:txBody>
      </p:sp>
      <p:sp>
        <p:nvSpPr>
          <p:cNvPr id="3" name="Content Placeholder 2">
            <a:extLst>
              <a:ext uri="{FF2B5EF4-FFF2-40B4-BE49-F238E27FC236}">
                <a16:creationId xmlns:a16="http://schemas.microsoft.com/office/drawing/2014/main" id="{A70275E2-F4EC-DCC2-90EC-4BADB2E915CE}"/>
              </a:ext>
            </a:extLst>
          </p:cNvPr>
          <p:cNvSpPr txBox="1">
            <a:spLocks/>
          </p:cNvSpPr>
          <p:nvPr/>
        </p:nvSpPr>
        <p:spPr>
          <a:xfrm>
            <a:off x="107504" y="2132856"/>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Laat P het concept zijn dat correspondeert met </a:t>
            </a:r>
            <a:r>
              <a:rPr lang="nl-NL" sz="2000" i="1" dirty="0"/>
              <a:t>p</a:t>
            </a:r>
            <a:r>
              <a:rPr lang="nl-NL" sz="2000" dirty="0"/>
              <a:t>. Omdat </a:t>
            </a:r>
            <a:r>
              <a:rPr lang="nl-NL" sz="2000" i="1" dirty="0"/>
              <a:t>p</a:t>
            </a:r>
            <a:r>
              <a:rPr lang="nl-NL" sz="2000" dirty="0"/>
              <a:t> universeel is, is de verwijzing van P alles wat bestaat. Concept P is simpel of complex.</a:t>
            </a:r>
          </a:p>
        </p:txBody>
      </p:sp>
      <p:sp>
        <p:nvSpPr>
          <p:cNvPr id="4" name="Content Placeholder 2">
            <a:extLst>
              <a:ext uri="{FF2B5EF4-FFF2-40B4-BE49-F238E27FC236}">
                <a16:creationId xmlns:a16="http://schemas.microsoft.com/office/drawing/2014/main" id="{59882005-8871-1902-DB20-FCBFC48F081B}"/>
              </a:ext>
            </a:extLst>
          </p:cNvPr>
          <p:cNvSpPr txBox="1">
            <a:spLocks/>
          </p:cNvSpPr>
          <p:nvPr/>
        </p:nvSpPr>
        <p:spPr>
          <a:xfrm>
            <a:off x="107504" y="2996952"/>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Als P </a:t>
            </a:r>
            <a:r>
              <a:rPr lang="nl-NL" sz="2000" i="1" dirty="0"/>
              <a:t>simpel</a:t>
            </a:r>
            <a:r>
              <a:rPr lang="nl-NL" sz="2000" dirty="0"/>
              <a:t> is, dan is de verwijzingsverzameling van P alles wat bestaat. </a:t>
            </a:r>
          </a:p>
        </p:txBody>
      </p:sp>
      <p:sp>
        <p:nvSpPr>
          <p:cNvPr id="5" name="Content Placeholder 2">
            <a:extLst>
              <a:ext uri="{FF2B5EF4-FFF2-40B4-BE49-F238E27FC236}">
                <a16:creationId xmlns:a16="http://schemas.microsoft.com/office/drawing/2014/main" id="{D6954882-1F6E-F40A-9401-3CE652AD1476}"/>
              </a:ext>
            </a:extLst>
          </p:cNvPr>
          <p:cNvSpPr txBox="1">
            <a:spLocks/>
          </p:cNvSpPr>
          <p:nvPr/>
        </p:nvSpPr>
        <p:spPr>
          <a:xfrm>
            <a:off x="72008" y="3501008"/>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Het concept ‘Object’ is simpel. De verwijzingsverzameling van ‘Object’ is              dus ook alles wat bestaat. </a:t>
            </a:r>
          </a:p>
        </p:txBody>
      </p:sp>
      <p:sp>
        <p:nvSpPr>
          <p:cNvPr id="8" name="Content Placeholder 2">
            <a:extLst>
              <a:ext uri="{FF2B5EF4-FFF2-40B4-BE49-F238E27FC236}">
                <a16:creationId xmlns:a16="http://schemas.microsoft.com/office/drawing/2014/main" id="{67E15713-3583-A897-CF8A-5A13045CA03D}"/>
              </a:ext>
            </a:extLst>
          </p:cNvPr>
          <p:cNvSpPr txBox="1">
            <a:spLocks/>
          </p:cNvSpPr>
          <p:nvPr/>
        </p:nvSpPr>
        <p:spPr>
          <a:xfrm>
            <a:off x="72008" y="4321696"/>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Omdat P en ‘Object’ dezelfde verwijzingsverzameling hebben, hebben ze    dezelfde betekenis. Concept P en het concept ‘Object’ zijn gelijk. Maar dan                is </a:t>
            </a:r>
            <a:r>
              <a:rPr lang="nl-NL" sz="2000" i="1" dirty="0"/>
              <a:t>p</a:t>
            </a:r>
            <a:r>
              <a:rPr lang="nl-NL" sz="2000" dirty="0"/>
              <a:t> de eigenschap ‘Object zijn’. </a:t>
            </a:r>
          </a:p>
        </p:txBody>
      </p:sp>
      <p:sp>
        <p:nvSpPr>
          <p:cNvPr id="9" name="Content Placeholder 2">
            <a:extLst>
              <a:ext uri="{FF2B5EF4-FFF2-40B4-BE49-F238E27FC236}">
                <a16:creationId xmlns:a16="http://schemas.microsoft.com/office/drawing/2014/main" id="{F1F25230-0415-2351-79BF-027DE435CC12}"/>
              </a:ext>
            </a:extLst>
          </p:cNvPr>
          <p:cNvSpPr txBox="1">
            <a:spLocks/>
          </p:cNvSpPr>
          <p:nvPr/>
        </p:nvSpPr>
        <p:spPr>
          <a:xfrm>
            <a:off x="72008" y="5517232"/>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Eigenschap </a:t>
            </a:r>
            <a:r>
              <a:rPr lang="nl-NL" sz="2000" i="1" dirty="0"/>
              <a:t>p</a:t>
            </a:r>
            <a:r>
              <a:rPr lang="nl-NL" sz="2000" dirty="0"/>
              <a:t> is niet-formeel en ‘Object zijn’ is een formele eigenschap. We verkrijgen zo een tegenspraak.</a:t>
            </a:r>
          </a:p>
        </p:txBody>
      </p:sp>
      <p:sp>
        <p:nvSpPr>
          <p:cNvPr id="11" name="Title 1">
            <a:extLst>
              <a:ext uri="{FF2B5EF4-FFF2-40B4-BE49-F238E27FC236}">
                <a16:creationId xmlns:a16="http://schemas.microsoft.com/office/drawing/2014/main" id="{9F907CA9-9D42-0654-4051-8B9A40594AD6}"/>
              </a:ext>
            </a:extLst>
          </p:cNvPr>
          <p:cNvSpPr>
            <a:spLocks noGrp="1"/>
          </p:cNvSpPr>
          <p:nvPr>
            <p:ph type="title"/>
          </p:nvPr>
        </p:nvSpPr>
        <p:spPr>
          <a:xfrm>
            <a:off x="457200" y="44624"/>
            <a:ext cx="8229600" cy="1143000"/>
          </a:xfrm>
        </p:spPr>
        <p:txBody>
          <a:bodyPr>
            <a:normAutofit/>
          </a:bodyPr>
          <a:lstStyle/>
          <a:p>
            <a:r>
              <a:rPr lang="nl-NL" sz="3600" dirty="0">
                <a:solidFill>
                  <a:srgbClr val="EA244E"/>
                </a:solidFill>
              </a:rPr>
              <a:t>Het semantisch argument</a:t>
            </a:r>
            <a:endParaRPr lang="nl-NL" sz="3600" dirty="0"/>
          </a:p>
        </p:txBody>
      </p:sp>
    </p:spTree>
    <p:extLst>
      <p:ext uri="{BB962C8B-B14F-4D97-AF65-F5344CB8AC3E}">
        <p14:creationId xmlns:p14="http://schemas.microsoft.com/office/powerpoint/2010/main" val="1720195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3" grpId="0"/>
      <p:bldP spid="4" grpId="0"/>
      <p:bldP spid="5"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59882005-8871-1902-DB20-FCBFC48F081B}"/>
              </a:ext>
            </a:extLst>
          </p:cNvPr>
          <p:cNvSpPr txBox="1">
            <a:spLocks/>
          </p:cNvSpPr>
          <p:nvPr/>
        </p:nvSpPr>
        <p:spPr>
          <a:xfrm>
            <a:off x="72008" y="1196752"/>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Als P </a:t>
            </a:r>
            <a:r>
              <a:rPr lang="nl-NL" sz="2000" i="1" dirty="0"/>
              <a:t>complex</a:t>
            </a:r>
            <a:r>
              <a:rPr lang="nl-NL" sz="2000" dirty="0"/>
              <a:t> is, dan is P een </a:t>
            </a:r>
            <a:r>
              <a:rPr lang="nl-NL" sz="2000" dirty="0">
                <a:solidFill>
                  <a:srgbClr val="EA244E"/>
                </a:solidFill>
              </a:rPr>
              <a:t>conjunctie </a:t>
            </a:r>
            <a:r>
              <a:rPr lang="nl-NL" sz="2000" dirty="0"/>
              <a:t>van simpele deelconcepten. </a:t>
            </a:r>
          </a:p>
        </p:txBody>
      </p:sp>
      <p:sp>
        <p:nvSpPr>
          <p:cNvPr id="5" name="Content Placeholder 2">
            <a:extLst>
              <a:ext uri="{FF2B5EF4-FFF2-40B4-BE49-F238E27FC236}">
                <a16:creationId xmlns:a16="http://schemas.microsoft.com/office/drawing/2014/main" id="{D6954882-1F6E-F40A-9401-3CE652AD1476}"/>
              </a:ext>
            </a:extLst>
          </p:cNvPr>
          <p:cNvSpPr txBox="1">
            <a:spLocks/>
          </p:cNvSpPr>
          <p:nvPr/>
        </p:nvSpPr>
        <p:spPr>
          <a:xfrm>
            <a:off x="36512" y="1729408"/>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P correspondeert met de universele eigenschap </a:t>
            </a:r>
            <a:r>
              <a:rPr lang="nl-NL" sz="2000" i="1" dirty="0"/>
              <a:t>p</a:t>
            </a:r>
            <a:r>
              <a:rPr lang="nl-NL" sz="2000" dirty="0"/>
              <a:t>. En dus verwijst P naar alles    wat bestaat. Omdat P een conjunctie is van simpele deelconcepten, is de verwijzing van elk simpel deelconcept ook alles wat bestaat. </a:t>
            </a:r>
          </a:p>
        </p:txBody>
      </p:sp>
      <p:sp>
        <p:nvSpPr>
          <p:cNvPr id="8" name="Content Placeholder 2">
            <a:extLst>
              <a:ext uri="{FF2B5EF4-FFF2-40B4-BE49-F238E27FC236}">
                <a16:creationId xmlns:a16="http://schemas.microsoft.com/office/drawing/2014/main" id="{67E15713-3583-A897-CF8A-5A13045CA03D}"/>
              </a:ext>
            </a:extLst>
          </p:cNvPr>
          <p:cNvSpPr txBox="1">
            <a:spLocks/>
          </p:cNvSpPr>
          <p:nvPr/>
        </p:nvSpPr>
        <p:spPr>
          <a:xfrm>
            <a:off x="36512" y="2881536"/>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De verwijzingsverzameling van elk simpel deelconcept is dus ook alles wat  bestaat. En omdat de verwijzingsverzameling van het concept ‘Object’ ook          alles is wat bestaat, volgt dat ieder simpel deelconcept gelijk is aan ‘Object’. </a:t>
            </a:r>
          </a:p>
        </p:txBody>
      </p:sp>
      <p:sp>
        <p:nvSpPr>
          <p:cNvPr id="11" name="Content Placeholder 2">
            <a:extLst>
              <a:ext uri="{FF2B5EF4-FFF2-40B4-BE49-F238E27FC236}">
                <a16:creationId xmlns:a16="http://schemas.microsoft.com/office/drawing/2014/main" id="{E145FCBA-20F5-E76A-D436-063D87959429}"/>
              </a:ext>
            </a:extLst>
          </p:cNvPr>
          <p:cNvSpPr txBox="1">
            <a:spLocks/>
          </p:cNvSpPr>
          <p:nvPr/>
        </p:nvSpPr>
        <p:spPr>
          <a:xfrm>
            <a:off x="0" y="4105672"/>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Maar dan is P als de conjunctie van simpele deelconcepten die elk gelijk zijn       aan ‘Object’ zelf ook gelijk aan ‘Object’. De eigenschap </a:t>
            </a:r>
            <a:r>
              <a:rPr lang="nl-NL" sz="2000" i="1" dirty="0"/>
              <a:t>p</a:t>
            </a:r>
            <a:r>
              <a:rPr lang="nl-NL" sz="2000" dirty="0"/>
              <a:t> is dus ‘Object zijn’.</a:t>
            </a:r>
          </a:p>
        </p:txBody>
      </p:sp>
      <p:sp>
        <p:nvSpPr>
          <p:cNvPr id="13" name="Content Placeholder 2">
            <a:extLst>
              <a:ext uri="{FF2B5EF4-FFF2-40B4-BE49-F238E27FC236}">
                <a16:creationId xmlns:a16="http://schemas.microsoft.com/office/drawing/2014/main" id="{8AA71A91-08D4-B627-873C-B636BBD1604C}"/>
              </a:ext>
            </a:extLst>
          </p:cNvPr>
          <p:cNvSpPr txBox="1">
            <a:spLocks/>
          </p:cNvSpPr>
          <p:nvPr/>
        </p:nvSpPr>
        <p:spPr>
          <a:xfrm>
            <a:off x="36512" y="5833864"/>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Zo volgt de </a:t>
            </a:r>
            <a:r>
              <a:rPr lang="nl-NL" sz="2000" i="1" dirty="0"/>
              <a:t>conclusie</a:t>
            </a:r>
            <a:r>
              <a:rPr lang="nl-NL" sz="2000" dirty="0"/>
              <a:t> dat er geen niet-formele universele eigenschappen bestaan.</a:t>
            </a:r>
            <a:endParaRPr lang="nl-NL" sz="2000" i="1" dirty="0"/>
          </a:p>
        </p:txBody>
      </p:sp>
      <p:sp>
        <p:nvSpPr>
          <p:cNvPr id="7" name="Title 1">
            <a:extLst>
              <a:ext uri="{FF2B5EF4-FFF2-40B4-BE49-F238E27FC236}">
                <a16:creationId xmlns:a16="http://schemas.microsoft.com/office/drawing/2014/main" id="{F93022C8-93D4-5F64-38E3-B2B5F8FFB35D}"/>
              </a:ext>
            </a:extLst>
          </p:cNvPr>
          <p:cNvSpPr>
            <a:spLocks noGrp="1"/>
          </p:cNvSpPr>
          <p:nvPr>
            <p:ph type="title"/>
          </p:nvPr>
        </p:nvSpPr>
        <p:spPr>
          <a:xfrm>
            <a:off x="457200" y="44624"/>
            <a:ext cx="8229600" cy="1143000"/>
          </a:xfrm>
        </p:spPr>
        <p:txBody>
          <a:bodyPr>
            <a:normAutofit/>
          </a:bodyPr>
          <a:lstStyle/>
          <a:p>
            <a:r>
              <a:rPr lang="nl-NL" sz="3600" dirty="0">
                <a:solidFill>
                  <a:srgbClr val="EA244E"/>
                </a:solidFill>
              </a:rPr>
              <a:t>Het semantisch argument (2)</a:t>
            </a:r>
            <a:endParaRPr lang="nl-NL" sz="3600" dirty="0"/>
          </a:p>
        </p:txBody>
      </p:sp>
      <p:sp>
        <p:nvSpPr>
          <p:cNvPr id="2" name="Content Placeholder 2">
            <a:extLst>
              <a:ext uri="{FF2B5EF4-FFF2-40B4-BE49-F238E27FC236}">
                <a16:creationId xmlns:a16="http://schemas.microsoft.com/office/drawing/2014/main" id="{042E2FF2-BF64-B40E-FD3F-E02E675C3240}"/>
              </a:ext>
            </a:extLst>
          </p:cNvPr>
          <p:cNvSpPr txBox="1">
            <a:spLocks/>
          </p:cNvSpPr>
          <p:nvPr/>
        </p:nvSpPr>
        <p:spPr>
          <a:xfrm>
            <a:off x="36512" y="4984576"/>
            <a:ext cx="90364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Eigenschap </a:t>
            </a:r>
            <a:r>
              <a:rPr lang="nl-NL" sz="2000" i="1" dirty="0"/>
              <a:t>p</a:t>
            </a:r>
            <a:r>
              <a:rPr lang="nl-NL" sz="2000" dirty="0"/>
              <a:t> is niet-formeel, terwijl ‘Object zijn’ een formele eigenschap is. We  krijgen opnieuw een tegenspraak. We moeten de </a:t>
            </a:r>
            <a:r>
              <a:rPr lang="nl-NL" sz="2000" i="1" dirty="0"/>
              <a:t>reductio aanname verwerpen</a:t>
            </a:r>
            <a:r>
              <a:rPr lang="nl-NL" sz="2000" dirty="0"/>
              <a:t>. </a:t>
            </a:r>
          </a:p>
        </p:txBody>
      </p:sp>
    </p:spTree>
    <p:extLst>
      <p:ext uri="{BB962C8B-B14F-4D97-AF65-F5344CB8AC3E}">
        <p14:creationId xmlns:p14="http://schemas.microsoft.com/office/powerpoint/2010/main" val="265038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P spid="11" grpId="0"/>
      <p:bldP spid="13"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92" y="-18256"/>
            <a:ext cx="8965504" cy="1143000"/>
          </a:xfrm>
        </p:spPr>
        <p:txBody>
          <a:bodyPr>
            <a:normAutofit/>
          </a:bodyPr>
          <a:lstStyle/>
          <a:p>
            <a:r>
              <a:rPr lang="nl-NL" sz="3600" dirty="0">
                <a:solidFill>
                  <a:srgbClr val="EA244E"/>
                </a:solidFill>
              </a:rPr>
              <a:t>Enkele implicaties</a:t>
            </a:r>
            <a:endParaRPr lang="nl-NL" sz="3600" dirty="0"/>
          </a:p>
        </p:txBody>
      </p:sp>
      <p:sp>
        <p:nvSpPr>
          <p:cNvPr id="3" name="Content Placeholder 2"/>
          <p:cNvSpPr>
            <a:spLocks noGrp="1"/>
          </p:cNvSpPr>
          <p:nvPr>
            <p:ph idx="1"/>
          </p:nvPr>
        </p:nvSpPr>
        <p:spPr>
          <a:xfrm>
            <a:off x="122312" y="1772816"/>
            <a:ext cx="8821488" cy="532656"/>
          </a:xfrm>
        </p:spPr>
        <p:txBody>
          <a:bodyPr>
            <a:noAutofit/>
          </a:bodyPr>
          <a:lstStyle/>
          <a:p>
            <a:r>
              <a:rPr lang="nl-NL" sz="2000" dirty="0"/>
              <a:t>‘Materieel zijn’ is geen universele eigenschap. Niet alles is dus materieel. Er       bestaan </a:t>
            </a:r>
            <a:r>
              <a:rPr lang="nl-NL" sz="2000" dirty="0">
                <a:solidFill>
                  <a:srgbClr val="EA244E"/>
                </a:solidFill>
              </a:rPr>
              <a:t>immateriële</a:t>
            </a:r>
            <a:r>
              <a:rPr lang="nl-NL" sz="2000" dirty="0"/>
              <a:t> objecten. Materialisme faalt.</a:t>
            </a:r>
          </a:p>
          <a:p>
            <a:pPr marL="0" indent="0">
              <a:buNone/>
            </a:pPr>
            <a:endParaRPr lang="nl-NL" sz="2000" dirty="0"/>
          </a:p>
        </p:txBody>
      </p:sp>
      <p:sp>
        <p:nvSpPr>
          <p:cNvPr id="4" name="Content Placeholder 2">
            <a:extLst>
              <a:ext uri="{FF2B5EF4-FFF2-40B4-BE49-F238E27FC236}">
                <a16:creationId xmlns:a16="http://schemas.microsoft.com/office/drawing/2014/main" id="{6B566B69-1E9F-E835-9579-A07ECC043F0D}"/>
              </a:ext>
            </a:extLst>
          </p:cNvPr>
          <p:cNvSpPr txBox="1">
            <a:spLocks/>
          </p:cNvSpPr>
          <p:nvPr/>
        </p:nvSpPr>
        <p:spPr>
          <a:xfrm>
            <a:off x="122312" y="2564904"/>
            <a:ext cx="844562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‘Fysisch zijn’ en ‘natuurlijk zijn’ zijn geen universele eigenschappen. Er zijn </a:t>
            </a:r>
            <a:r>
              <a:rPr lang="nl-NL" sz="2000" dirty="0">
                <a:solidFill>
                  <a:srgbClr val="EA244E"/>
                </a:solidFill>
              </a:rPr>
              <a:t>niet-fysische </a:t>
            </a:r>
            <a:r>
              <a:rPr lang="nl-NL" sz="2000" dirty="0"/>
              <a:t>en </a:t>
            </a:r>
            <a:r>
              <a:rPr lang="nl-NL" sz="2000" dirty="0">
                <a:solidFill>
                  <a:srgbClr val="EA244E"/>
                </a:solidFill>
              </a:rPr>
              <a:t>bovennatuurlijke </a:t>
            </a:r>
            <a:r>
              <a:rPr lang="nl-NL" sz="2000" dirty="0"/>
              <a:t>objecten. Fysicalisme en naturalisme falen. </a:t>
            </a:r>
          </a:p>
        </p:txBody>
      </p:sp>
      <p:sp>
        <p:nvSpPr>
          <p:cNvPr id="8" name="Content Placeholder 2">
            <a:extLst>
              <a:ext uri="{FF2B5EF4-FFF2-40B4-BE49-F238E27FC236}">
                <a16:creationId xmlns:a16="http://schemas.microsoft.com/office/drawing/2014/main" id="{A0F63CCD-635C-4FBB-E965-02C539125FDE}"/>
              </a:ext>
            </a:extLst>
          </p:cNvPr>
          <p:cNvSpPr txBox="1">
            <a:spLocks/>
          </p:cNvSpPr>
          <p:nvPr/>
        </p:nvSpPr>
        <p:spPr>
          <a:xfrm>
            <a:off x="143000" y="1024136"/>
            <a:ext cx="8821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err="1"/>
              <a:t>Niet</a:t>
            </a:r>
            <a:r>
              <a:rPr lang="en-US" sz="2000" dirty="0"/>
              <a:t> </a:t>
            </a:r>
            <a:r>
              <a:rPr lang="en-US" sz="2000" dirty="0" err="1"/>
              <a:t>alles</a:t>
            </a:r>
            <a:r>
              <a:rPr lang="en-US" sz="2000" dirty="0"/>
              <a:t> is water (contra </a:t>
            </a:r>
            <a:r>
              <a:rPr lang="nl-NL" sz="2000" dirty="0">
                <a:solidFill>
                  <a:srgbClr val="EA244E"/>
                </a:solidFill>
              </a:rPr>
              <a:t>Thales</a:t>
            </a:r>
            <a:r>
              <a:rPr lang="en-US" sz="2000" dirty="0"/>
              <a:t>), </a:t>
            </a:r>
            <a:r>
              <a:rPr lang="en-US" sz="2000" dirty="0" err="1"/>
              <a:t>vuur</a:t>
            </a:r>
            <a:r>
              <a:rPr lang="en-US" sz="2000" dirty="0"/>
              <a:t>, </a:t>
            </a:r>
            <a:r>
              <a:rPr lang="en-US" sz="2000" dirty="0" err="1"/>
              <a:t>aarde</a:t>
            </a:r>
            <a:r>
              <a:rPr lang="en-US" sz="2000" dirty="0"/>
              <a:t>, </a:t>
            </a:r>
            <a:r>
              <a:rPr lang="en-US" sz="2000" dirty="0" err="1"/>
              <a:t>lucht</a:t>
            </a:r>
            <a:r>
              <a:rPr lang="en-US" sz="2000" dirty="0"/>
              <a:t>, </a:t>
            </a:r>
            <a:r>
              <a:rPr lang="en-US" sz="2000" dirty="0" err="1"/>
              <a:t>een</a:t>
            </a:r>
            <a:r>
              <a:rPr lang="en-US" sz="2000" dirty="0"/>
              <a:t> </a:t>
            </a:r>
            <a:r>
              <a:rPr lang="en-US" sz="2000" dirty="0" err="1"/>
              <a:t>monade</a:t>
            </a:r>
            <a:r>
              <a:rPr lang="en-US" sz="2000" dirty="0"/>
              <a:t> (contra </a:t>
            </a:r>
            <a:r>
              <a:rPr lang="nl-NL" sz="2000" dirty="0">
                <a:solidFill>
                  <a:srgbClr val="EA244E"/>
                </a:solidFill>
              </a:rPr>
              <a:t>Leibniz</a:t>
            </a:r>
            <a:r>
              <a:rPr lang="en-US" sz="2000" dirty="0"/>
              <a:t>), </a:t>
            </a:r>
            <a:r>
              <a:rPr lang="en-US" sz="2000" dirty="0" err="1"/>
              <a:t>wil</a:t>
            </a:r>
            <a:r>
              <a:rPr lang="en-US" sz="2000" dirty="0"/>
              <a:t> tot </a:t>
            </a:r>
            <a:r>
              <a:rPr lang="en-US" sz="2000" dirty="0" err="1"/>
              <a:t>macht</a:t>
            </a:r>
            <a:r>
              <a:rPr lang="en-US" sz="2000" dirty="0"/>
              <a:t> (contra </a:t>
            </a:r>
            <a:r>
              <a:rPr lang="nl-NL" sz="2000" dirty="0">
                <a:solidFill>
                  <a:srgbClr val="EA244E"/>
                </a:solidFill>
              </a:rPr>
              <a:t>Nietzsche</a:t>
            </a:r>
            <a:r>
              <a:rPr lang="en-US" sz="2000" dirty="0"/>
              <a:t>) of </a:t>
            </a:r>
            <a:r>
              <a:rPr lang="en-US" sz="2000" dirty="0" err="1"/>
              <a:t>levenswil</a:t>
            </a:r>
            <a:r>
              <a:rPr lang="en-US" sz="2000" dirty="0"/>
              <a:t> (contra </a:t>
            </a:r>
            <a:r>
              <a:rPr lang="nl-NL" sz="2000" dirty="0">
                <a:solidFill>
                  <a:srgbClr val="EA244E"/>
                </a:solidFill>
              </a:rPr>
              <a:t>Schopenhauer</a:t>
            </a:r>
            <a:r>
              <a:rPr lang="en-US" sz="2000" dirty="0"/>
              <a:t>).</a:t>
            </a:r>
            <a:endParaRPr lang="nl-NL" sz="2000" dirty="0"/>
          </a:p>
        </p:txBody>
      </p:sp>
      <p:sp>
        <p:nvSpPr>
          <p:cNvPr id="9" name="Content Placeholder 2">
            <a:extLst>
              <a:ext uri="{FF2B5EF4-FFF2-40B4-BE49-F238E27FC236}">
                <a16:creationId xmlns:a16="http://schemas.microsoft.com/office/drawing/2014/main" id="{FE674579-4800-1FA2-E433-4E3B3BE98136}"/>
              </a:ext>
            </a:extLst>
          </p:cNvPr>
          <p:cNvSpPr txBox="1">
            <a:spLocks/>
          </p:cNvSpPr>
          <p:nvPr/>
        </p:nvSpPr>
        <p:spPr>
          <a:xfrm>
            <a:off x="93306" y="3341172"/>
            <a:ext cx="844562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‘Immanent zijn’ is ook niet universeel. Er moet dus een transcendente sfeer van </a:t>
            </a:r>
            <a:r>
              <a:rPr lang="nl-NL" sz="2000" dirty="0">
                <a:solidFill>
                  <a:srgbClr val="EA244E"/>
                </a:solidFill>
              </a:rPr>
              <a:t>transcendente </a:t>
            </a:r>
            <a:r>
              <a:rPr lang="nl-NL" sz="2000" dirty="0"/>
              <a:t>objecten bestaan. Immanentisme faalt. </a:t>
            </a:r>
          </a:p>
        </p:txBody>
      </p:sp>
      <p:sp>
        <p:nvSpPr>
          <p:cNvPr id="14" name="Content Placeholder 2">
            <a:extLst>
              <a:ext uri="{FF2B5EF4-FFF2-40B4-BE49-F238E27FC236}">
                <a16:creationId xmlns:a16="http://schemas.microsoft.com/office/drawing/2014/main" id="{596D5399-9908-E759-67FB-25039B468FFB}"/>
              </a:ext>
            </a:extLst>
          </p:cNvPr>
          <p:cNvSpPr txBox="1">
            <a:spLocks/>
          </p:cNvSpPr>
          <p:nvPr/>
        </p:nvSpPr>
        <p:spPr>
          <a:xfrm>
            <a:off x="107504" y="4509120"/>
            <a:ext cx="844562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nl-NL" sz="2000" dirty="0"/>
          </a:p>
        </p:txBody>
      </p:sp>
      <p:sp>
        <p:nvSpPr>
          <p:cNvPr id="15" name="Content Placeholder 2">
            <a:extLst>
              <a:ext uri="{FF2B5EF4-FFF2-40B4-BE49-F238E27FC236}">
                <a16:creationId xmlns:a16="http://schemas.microsoft.com/office/drawing/2014/main" id="{5700560A-B7A6-3C21-4EEB-8378B1B51B34}"/>
              </a:ext>
            </a:extLst>
          </p:cNvPr>
          <p:cNvSpPr txBox="1">
            <a:spLocks/>
          </p:cNvSpPr>
          <p:nvPr/>
        </p:nvSpPr>
        <p:spPr>
          <a:xfrm>
            <a:off x="107504" y="4192488"/>
            <a:ext cx="844562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Niet alles is vergankelijk. Er bestaan dus niet-vergankelijke of </a:t>
            </a:r>
            <a:r>
              <a:rPr lang="nl-NL" sz="2000" dirty="0">
                <a:solidFill>
                  <a:srgbClr val="EA244E"/>
                </a:solidFill>
              </a:rPr>
              <a:t>eeuwige </a:t>
            </a:r>
            <a:r>
              <a:rPr lang="nl-NL" sz="2000" dirty="0"/>
              <a:t>objecten. Bovendien is niet alles eindig. Er bestaan </a:t>
            </a:r>
            <a:r>
              <a:rPr lang="nl-NL" sz="2000" dirty="0">
                <a:solidFill>
                  <a:srgbClr val="EA244E"/>
                </a:solidFill>
              </a:rPr>
              <a:t>oneindige </a:t>
            </a:r>
            <a:r>
              <a:rPr lang="nl-NL" sz="2000" dirty="0"/>
              <a:t>objecten.</a:t>
            </a:r>
          </a:p>
          <a:p>
            <a:endParaRPr lang="nl-NL" sz="2000" dirty="0"/>
          </a:p>
        </p:txBody>
      </p:sp>
      <p:sp>
        <p:nvSpPr>
          <p:cNvPr id="16" name="Content Placeholder 2">
            <a:extLst>
              <a:ext uri="{FF2B5EF4-FFF2-40B4-BE49-F238E27FC236}">
                <a16:creationId xmlns:a16="http://schemas.microsoft.com/office/drawing/2014/main" id="{8D512905-181E-628C-BC60-9508407A4D3F}"/>
              </a:ext>
            </a:extLst>
          </p:cNvPr>
          <p:cNvSpPr txBox="1">
            <a:spLocks/>
          </p:cNvSpPr>
          <p:nvPr/>
        </p:nvSpPr>
        <p:spPr>
          <a:xfrm>
            <a:off x="158824" y="5056584"/>
            <a:ext cx="844562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Panpsychisme faalt eveneens. Niet alles heeft een mentaal aspect. Er zijn objecten zonder een mentaal aspect. Kortom, er zijn </a:t>
            </a:r>
            <a:r>
              <a:rPr lang="nl-NL" sz="2000" dirty="0">
                <a:solidFill>
                  <a:srgbClr val="EA244E"/>
                </a:solidFill>
              </a:rPr>
              <a:t>materiële</a:t>
            </a:r>
            <a:r>
              <a:rPr lang="nl-NL" sz="2000" dirty="0"/>
              <a:t> objecten.</a:t>
            </a:r>
          </a:p>
          <a:p>
            <a:endParaRPr lang="nl-NL" sz="2000" dirty="0"/>
          </a:p>
        </p:txBody>
      </p:sp>
      <p:sp>
        <p:nvSpPr>
          <p:cNvPr id="17" name="Content Placeholder 2">
            <a:extLst>
              <a:ext uri="{FF2B5EF4-FFF2-40B4-BE49-F238E27FC236}">
                <a16:creationId xmlns:a16="http://schemas.microsoft.com/office/drawing/2014/main" id="{8E22EB41-0082-BC37-F513-3D4F81D1DFCC}"/>
              </a:ext>
            </a:extLst>
          </p:cNvPr>
          <p:cNvSpPr txBox="1">
            <a:spLocks/>
          </p:cNvSpPr>
          <p:nvPr/>
        </p:nvSpPr>
        <p:spPr>
          <a:xfrm>
            <a:off x="107504" y="5877272"/>
            <a:ext cx="8821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Ook empirisme, positivisme en fenomenalisme (</a:t>
            </a:r>
            <a:r>
              <a:rPr lang="nl-NL" sz="2000" dirty="0" err="1">
                <a:solidFill>
                  <a:srgbClr val="EA244E"/>
                </a:solidFill>
              </a:rPr>
              <a:t>esse</a:t>
            </a:r>
            <a:r>
              <a:rPr lang="nl-NL" sz="2000" dirty="0">
                <a:solidFill>
                  <a:srgbClr val="EA244E"/>
                </a:solidFill>
              </a:rPr>
              <a:t> </a:t>
            </a:r>
            <a:r>
              <a:rPr lang="nl-NL" sz="2000" dirty="0" err="1">
                <a:solidFill>
                  <a:srgbClr val="EA244E"/>
                </a:solidFill>
              </a:rPr>
              <a:t>est</a:t>
            </a:r>
            <a:r>
              <a:rPr lang="nl-NL" sz="2000" dirty="0">
                <a:solidFill>
                  <a:srgbClr val="EA244E"/>
                </a:solidFill>
              </a:rPr>
              <a:t> </a:t>
            </a:r>
            <a:r>
              <a:rPr lang="nl-NL" sz="2000" dirty="0" err="1">
                <a:solidFill>
                  <a:srgbClr val="EA244E"/>
                </a:solidFill>
              </a:rPr>
              <a:t>percipi</a:t>
            </a:r>
            <a:r>
              <a:rPr lang="nl-NL" sz="2000" dirty="0"/>
              <a:t>) falen. Want de eigenschap ‘</a:t>
            </a:r>
            <a:r>
              <a:rPr lang="nl-NL" sz="2000" dirty="0" err="1"/>
              <a:t>observeerbaar</a:t>
            </a:r>
            <a:r>
              <a:rPr lang="nl-NL" sz="2000" dirty="0"/>
              <a:t> zijn’ is niet universeel. Niet alles is </a:t>
            </a:r>
            <a:r>
              <a:rPr lang="nl-NL" sz="2000" dirty="0" err="1"/>
              <a:t>observeerbaar</a:t>
            </a:r>
            <a:r>
              <a:rPr lang="nl-NL" sz="2000" dirty="0"/>
              <a:t>. </a:t>
            </a:r>
          </a:p>
          <a:p>
            <a:endParaRPr lang="nl-NL" sz="2000" dirty="0"/>
          </a:p>
        </p:txBody>
      </p:sp>
    </p:spTree>
    <p:extLst>
      <p:ext uri="{BB962C8B-B14F-4D97-AF65-F5344CB8AC3E}">
        <p14:creationId xmlns:p14="http://schemas.microsoft.com/office/powerpoint/2010/main" val="3668281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8" grpId="0"/>
      <p:bldP spid="9" grpId="0"/>
      <p:bldP spid="15" grpId="0"/>
      <p:bldP spid="16" grpId="0"/>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C2036087-2649-C14D-25CF-0A8B4259CFAA}"/>
              </a:ext>
            </a:extLst>
          </p:cNvPr>
          <p:cNvSpPr txBox="1">
            <a:spLocks/>
          </p:cNvSpPr>
          <p:nvPr/>
        </p:nvSpPr>
        <p:spPr>
          <a:xfrm>
            <a:off x="34480" y="1096144"/>
            <a:ext cx="867645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Pantheïsme faalt ook. Want ‘Goddelijk zijn’ is geen universele eigenschap. Niet alles is goddelijk. Er zijn </a:t>
            </a:r>
            <a:r>
              <a:rPr lang="nl-NL" sz="2000" dirty="0">
                <a:solidFill>
                  <a:srgbClr val="EA244E"/>
                </a:solidFill>
              </a:rPr>
              <a:t>profane </a:t>
            </a:r>
            <a:r>
              <a:rPr lang="nl-NL" sz="2000" dirty="0"/>
              <a:t>objecten.</a:t>
            </a:r>
          </a:p>
        </p:txBody>
      </p:sp>
      <p:sp>
        <p:nvSpPr>
          <p:cNvPr id="6" name="Content Placeholder 2">
            <a:extLst>
              <a:ext uri="{FF2B5EF4-FFF2-40B4-BE49-F238E27FC236}">
                <a16:creationId xmlns:a16="http://schemas.microsoft.com/office/drawing/2014/main" id="{9CE0502C-0193-5533-7953-1136674030F1}"/>
              </a:ext>
            </a:extLst>
          </p:cNvPr>
          <p:cNvSpPr txBox="1">
            <a:spLocks/>
          </p:cNvSpPr>
          <p:nvPr/>
        </p:nvSpPr>
        <p:spPr>
          <a:xfrm>
            <a:off x="50304" y="1844824"/>
            <a:ext cx="844562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‘Mentaal zijn’ is ook geen universele eigenschap. Niet alles is mentaal. Maar dan faalt metafysisch idealisme ook.</a:t>
            </a:r>
          </a:p>
        </p:txBody>
      </p:sp>
      <p:sp>
        <p:nvSpPr>
          <p:cNvPr id="7" name="Content Placeholder 2">
            <a:extLst>
              <a:ext uri="{FF2B5EF4-FFF2-40B4-BE49-F238E27FC236}">
                <a16:creationId xmlns:a16="http://schemas.microsoft.com/office/drawing/2014/main" id="{8C65E6D4-11CB-70B0-6FF8-89AE2DAF9837}"/>
              </a:ext>
            </a:extLst>
          </p:cNvPr>
          <p:cNvSpPr txBox="1">
            <a:spLocks/>
          </p:cNvSpPr>
          <p:nvPr/>
        </p:nvSpPr>
        <p:spPr>
          <a:xfrm>
            <a:off x="-1016" y="2968352"/>
            <a:ext cx="844562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nl-NL" sz="2000" dirty="0"/>
          </a:p>
        </p:txBody>
      </p:sp>
      <p:sp>
        <p:nvSpPr>
          <p:cNvPr id="13" name="Content Placeholder 2">
            <a:extLst>
              <a:ext uri="{FF2B5EF4-FFF2-40B4-BE49-F238E27FC236}">
                <a16:creationId xmlns:a16="http://schemas.microsoft.com/office/drawing/2014/main" id="{97A44C56-5A81-2969-E67B-F96CB76B2B91}"/>
              </a:ext>
            </a:extLst>
          </p:cNvPr>
          <p:cNvSpPr txBox="1">
            <a:spLocks/>
          </p:cNvSpPr>
          <p:nvPr/>
        </p:nvSpPr>
        <p:spPr>
          <a:xfrm>
            <a:off x="70992" y="3688432"/>
            <a:ext cx="9037512"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Niet alles is een concreet object. Er bestaan dus abstracte objecten. </a:t>
            </a:r>
            <a:r>
              <a:rPr lang="nl-NL" sz="2000" dirty="0">
                <a:solidFill>
                  <a:srgbClr val="EA244E"/>
                </a:solidFill>
              </a:rPr>
              <a:t>Plato </a:t>
            </a:r>
            <a:r>
              <a:rPr lang="nl-NL" sz="2000" dirty="0"/>
              <a:t>has       dan ook gelijk toen hij </a:t>
            </a:r>
            <a:r>
              <a:rPr lang="nl-NL" sz="2000" dirty="0">
                <a:solidFill>
                  <a:srgbClr val="EA244E"/>
                </a:solidFill>
              </a:rPr>
              <a:t>abstracta </a:t>
            </a:r>
            <a:r>
              <a:rPr lang="nl-NL" sz="2000" dirty="0"/>
              <a:t>postuleerde.</a:t>
            </a:r>
          </a:p>
        </p:txBody>
      </p:sp>
      <p:sp>
        <p:nvSpPr>
          <p:cNvPr id="12" name="Content Placeholder 2">
            <a:extLst>
              <a:ext uri="{FF2B5EF4-FFF2-40B4-BE49-F238E27FC236}">
                <a16:creationId xmlns:a16="http://schemas.microsoft.com/office/drawing/2014/main" id="{E82A85E6-58BF-9877-751A-235387784006}"/>
              </a:ext>
            </a:extLst>
          </p:cNvPr>
          <p:cNvSpPr txBox="1">
            <a:spLocks/>
          </p:cNvSpPr>
          <p:nvPr/>
        </p:nvSpPr>
        <p:spPr>
          <a:xfrm>
            <a:off x="70992" y="2564904"/>
            <a:ext cx="925353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De eigenschap ‘Het enige object in de wereld zijn’ is universeel als solipsisme waar is. Maar er zijn geen niet-formele universele eigenschappen. Solipsisme is daarom onwaar. Het </a:t>
            </a:r>
            <a:r>
              <a:rPr lang="nl-NL" sz="2000" dirty="0">
                <a:solidFill>
                  <a:srgbClr val="EA244E"/>
                </a:solidFill>
              </a:rPr>
              <a:t>probleem van het bestaan van de buitenwereld</a:t>
            </a:r>
            <a:r>
              <a:rPr lang="nl-NL" sz="2000" dirty="0"/>
              <a:t> wordt zo opgelost.</a:t>
            </a:r>
          </a:p>
        </p:txBody>
      </p:sp>
      <p:sp>
        <p:nvSpPr>
          <p:cNvPr id="14" name="Content Placeholder 2">
            <a:extLst>
              <a:ext uri="{FF2B5EF4-FFF2-40B4-BE49-F238E27FC236}">
                <a16:creationId xmlns:a16="http://schemas.microsoft.com/office/drawing/2014/main" id="{AD18193A-4FB6-C515-2BEB-61F6ABB7F436}"/>
              </a:ext>
            </a:extLst>
          </p:cNvPr>
          <p:cNvSpPr txBox="1">
            <a:spLocks/>
          </p:cNvSpPr>
          <p:nvPr/>
        </p:nvSpPr>
        <p:spPr>
          <a:xfrm>
            <a:off x="70992" y="4480520"/>
            <a:ext cx="9037512"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Niet alles is gedetermineerd. Er zijn dus niet-gedetermineerde objecten. Maar   dan bestaat de </a:t>
            </a:r>
            <a:r>
              <a:rPr lang="nl-NL" sz="2000" dirty="0">
                <a:solidFill>
                  <a:srgbClr val="EA244E"/>
                </a:solidFill>
              </a:rPr>
              <a:t>vrije wil </a:t>
            </a:r>
            <a:r>
              <a:rPr lang="nl-NL" sz="2000" dirty="0"/>
              <a:t>omdat objectief toeval onmogelijk is (Rutten 2012).</a:t>
            </a:r>
          </a:p>
        </p:txBody>
      </p:sp>
      <p:sp>
        <p:nvSpPr>
          <p:cNvPr id="15" name="Content Placeholder 2">
            <a:extLst>
              <a:ext uri="{FF2B5EF4-FFF2-40B4-BE49-F238E27FC236}">
                <a16:creationId xmlns:a16="http://schemas.microsoft.com/office/drawing/2014/main" id="{7AA67E1D-D0DC-2D22-0099-CC1946D04A4D}"/>
              </a:ext>
            </a:extLst>
          </p:cNvPr>
          <p:cNvSpPr txBox="1">
            <a:spLocks/>
          </p:cNvSpPr>
          <p:nvPr/>
        </p:nvSpPr>
        <p:spPr>
          <a:xfrm>
            <a:off x="70992" y="5272608"/>
            <a:ext cx="9037512"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Niet alles is contingent. Er bestaat dus een noodzakelijk bestaand object. We </a:t>
            </a:r>
            <a:r>
              <a:rPr lang="nl-NL" sz="2000" dirty="0" err="1"/>
              <a:t>krjgen</a:t>
            </a:r>
            <a:r>
              <a:rPr lang="nl-NL" sz="2000" dirty="0"/>
              <a:t> een </a:t>
            </a:r>
            <a:r>
              <a:rPr lang="nl-NL" sz="2000" dirty="0">
                <a:solidFill>
                  <a:srgbClr val="EA244E"/>
                </a:solidFill>
              </a:rPr>
              <a:t>ontologisch argument</a:t>
            </a:r>
            <a:r>
              <a:rPr lang="nl-NL" sz="2000" dirty="0"/>
              <a:t> voor een noodzakelijk bestaand wezen.</a:t>
            </a:r>
          </a:p>
        </p:txBody>
      </p:sp>
      <p:sp>
        <p:nvSpPr>
          <p:cNvPr id="20" name="Content Placeholder 2">
            <a:extLst>
              <a:ext uri="{FF2B5EF4-FFF2-40B4-BE49-F238E27FC236}">
                <a16:creationId xmlns:a16="http://schemas.microsoft.com/office/drawing/2014/main" id="{6E21D8D5-5E0D-3C11-5D15-5A503ACA5303}"/>
              </a:ext>
            </a:extLst>
          </p:cNvPr>
          <p:cNvSpPr txBox="1">
            <a:spLocks/>
          </p:cNvSpPr>
          <p:nvPr/>
        </p:nvSpPr>
        <p:spPr>
          <a:xfrm>
            <a:off x="70992" y="6064696"/>
            <a:ext cx="9037512"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Niet alles is ruimtelijk of tijdelijk. Er zijn </a:t>
            </a:r>
            <a:r>
              <a:rPr lang="nl-NL" sz="2000" dirty="0">
                <a:solidFill>
                  <a:srgbClr val="EA244E"/>
                </a:solidFill>
              </a:rPr>
              <a:t>buitenruimtelijke</a:t>
            </a:r>
            <a:r>
              <a:rPr lang="nl-NL" sz="2000" dirty="0"/>
              <a:t> en </a:t>
            </a:r>
            <a:r>
              <a:rPr lang="nl-NL" sz="2000" dirty="0">
                <a:solidFill>
                  <a:srgbClr val="EA244E"/>
                </a:solidFill>
              </a:rPr>
              <a:t>-tijdelijke </a:t>
            </a:r>
            <a:r>
              <a:rPr lang="nl-NL" sz="2000" dirty="0"/>
              <a:t>objecten.</a:t>
            </a:r>
          </a:p>
        </p:txBody>
      </p:sp>
      <p:sp>
        <p:nvSpPr>
          <p:cNvPr id="4" name="Title 1">
            <a:extLst>
              <a:ext uri="{FF2B5EF4-FFF2-40B4-BE49-F238E27FC236}">
                <a16:creationId xmlns:a16="http://schemas.microsoft.com/office/drawing/2014/main" id="{AD790D05-C3CD-7829-1D29-2B8D7546B891}"/>
              </a:ext>
            </a:extLst>
          </p:cNvPr>
          <p:cNvSpPr>
            <a:spLocks noGrp="1"/>
          </p:cNvSpPr>
          <p:nvPr>
            <p:ph type="title"/>
          </p:nvPr>
        </p:nvSpPr>
        <p:spPr>
          <a:xfrm>
            <a:off x="70992" y="-18256"/>
            <a:ext cx="8965504" cy="1143000"/>
          </a:xfrm>
        </p:spPr>
        <p:txBody>
          <a:bodyPr>
            <a:normAutofit/>
          </a:bodyPr>
          <a:lstStyle/>
          <a:p>
            <a:r>
              <a:rPr lang="nl-NL" sz="3600" dirty="0">
                <a:solidFill>
                  <a:srgbClr val="EA244E"/>
                </a:solidFill>
              </a:rPr>
              <a:t>Enkele implicaties (2)</a:t>
            </a:r>
            <a:endParaRPr lang="nl-NL" sz="3600" dirty="0"/>
          </a:p>
        </p:txBody>
      </p:sp>
    </p:spTree>
    <p:extLst>
      <p:ext uri="{BB962C8B-B14F-4D97-AF65-F5344CB8AC3E}">
        <p14:creationId xmlns:p14="http://schemas.microsoft.com/office/powerpoint/2010/main" val="408009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3" grpId="0"/>
      <p:bldP spid="12" grpId="0"/>
      <p:bldP spid="14" grpId="0"/>
      <p:bldP spid="15" grpId="0"/>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A0F63CCD-635C-4FBB-E965-02C539125FDE}"/>
              </a:ext>
            </a:extLst>
          </p:cNvPr>
          <p:cNvSpPr txBox="1">
            <a:spLocks/>
          </p:cNvSpPr>
          <p:nvPr/>
        </p:nvSpPr>
        <p:spPr>
          <a:xfrm>
            <a:off x="70992" y="880120"/>
            <a:ext cx="8821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err="1"/>
              <a:t>Niet</a:t>
            </a:r>
            <a:r>
              <a:rPr lang="en-US" sz="2000" dirty="0"/>
              <a:t> </a:t>
            </a:r>
            <a:r>
              <a:rPr lang="en-US" sz="2000" dirty="0" err="1"/>
              <a:t>alles</a:t>
            </a:r>
            <a:r>
              <a:rPr lang="en-US" sz="2000" dirty="0"/>
              <a:t> wat </a:t>
            </a:r>
            <a:r>
              <a:rPr lang="en-US" sz="2000" dirty="0" err="1"/>
              <a:t>bestaat</a:t>
            </a:r>
            <a:r>
              <a:rPr lang="en-US" sz="2000" dirty="0"/>
              <a:t> is </a:t>
            </a:r>
            <a:r>
              <a:rPr lang="en-US" sz="2000" dirty="0" err="1"/>
              <a:t>actueel</a:t>
            </a:r>
            <a:r>
              <a:rPr lang="en-US" sz="2000" dirty="0"/>
              <a:t>. Er </a:t>
            </a:r>
            <a:r>
              <a:rPr lang="en-US" sz="2000" dirty="0" err="1"/>
              <a:t>bestaan</a:t>
            </a:r>
            <a:r>
              <a:rPr lang="en-US" sz="2000" dirty="0"/>
              <a:t> </a:t>
            </a:r>
            <a:r>
              <a:rPr lang="en-US" sz="2000" dirty="0" err="1"/>
              <a:t>dus</a:t>
            </a:r>
            <a:r>
              <a:rPr lang="en-US" sz="2000" dirty="0"/>
              <a:t> </a:t>
            </a:r>
            <a:r>
              <a:rPr lang="en-US" sz="2000" dirty="0" err="1"/>
              <a:t>niet-actuele</a:t>
            </a:r>
            <a:r>
              <a:rPr lang="en-US" sz="2000" dirty="0"/>
              <a:t> </a:t>
            </a:r>
            <a:r>
              <a:rPr lang="nl-NL" sz="2000" dirty="0" err="1">
                <a:solidFill>
                  <a:srgbClr val="EA244E"/>
                </a:solidFill>
              </a:rPr>
              <a:t>possibilia</a:t>
            </a:r>
            <a:r>
              <a:rPr lang="en-US" sz="2000" dirty="0"/>
              <a:t>. </a:t>
            </a:r>
          </a:p>
          <a:p>
            <a:pPr marL="0" indent="0">
              <a:buNone/>
            </a:pPr>
            <a:endParaRPr lang="nl-NL" sz="2000" dirty="0"/>
          </a:p>
        </p:txBody>
      </p:sp>
      <p:sp>
        <p:nvSpPr>
          <p:cNvPr id="12" name="Content Placeholder 2">
            <a:extLst>
              <a:ext uri="{FF2B5EF4-FFF2-40B4-BE49-F238E27FC236}">
                <a16:creationId xmlns:a16="http://schemas.microsoft.com/office/drawing/2014/main" id="{7D859270-145B-35C4-4C5A-0F32F83108F5}"/>
              </a:ext>
            </a:extLst>
          </p:cNvPr>
          <p:cNvSpPr txBox="1">
            <a:spLocks/>
          </p:cNvSpPr>
          <p:nvPr/>
        </p:nvSpPr>
        <p:spPr>
          <a:xfrm>
            <a:off x="70992" y="1960240"/>
            <a:ext cx="8821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err="1"/>
              <a:t>Niet</a:t>
            </a:r>
            <a:r>
              <a:rPr lang="en-US" sz="2000" dirty="0"/>
              <a:t> </a:t>
            </a:r>
            <a:r>
              <a:rPr lang="en-US" sz="2000" dirty="0" err="1"/>
              <a:t>alles</a:t>
            </a:r>
            <a:r>
              <a:rPr lang="en-US" sz="2000" dirty="0"/>
              <a:t> is </a:t>
            </a:r>
            <a:r>
              <a:rPr lang="en-US" sz="2000" dirty="0" err="1"/>
              <a:t>goed</a:t>
            </a:r>
            <a:r>
              <a:rPr lang="en-US" sz="2000" dirty="0"/>
              <a:t>. Er </a:t>
            </a:r>
            <a:r>
              <a:rPr lang="en-US" sz="2000" dirty="0" err="1"/>
              <a:t>zijn</a:t>
            </a:r>
            <a:r>
              <a:rPr lang="en-US" sz="2000" dirty="0"/>
              <a:t> </a:t>
            </a:r>
            <a:r>
              <a:rPr lang="en-US" sz="2000" dirty="0" err="1"/>
              <a:t>dus</a:t>
            </a:r>
            <a:r>
              <a:rPr lang="en-US" sz="2000" dirty="0"/>
              <a:t> </a:t>
            </a:r>
            <a:r>
              <a:rPr lang="en-US" sz="2000" dirty="0" err="1"/>
              <a:t>objecten</a:t>
            </a:r>
            <a:r>
              <a:rPr lang="en-US" sz="2000" dirty="0"/>
              <a:t> of </a:t>
            </a:r>
            <a:r>
              <a:rPr lang="en-US" sz="2000" dirty="0" err="1"/>
              <a:t>standen</a:t>
            </a:r>
            <a:r>
              <a:rPr lang="en-US" sz="2000" dirty="0"/>
              <a:t> van </a:t>
            </a:r>
            <a:r>
              <a:rPr lang="en-US" sz="2000" dirty="0" err="1"/>
              <a:t>zaken</a:t>
            </a:r>
            <a:r>
              <a:rPr lang="en-US" sz="2000" dirty="0"/>
              <a:t> die </a:t>
            </a:r>
            <a:r>
              <a:rPr lang="en-US" sz="2000" dirty="0" err="1"/>
              <a:t>niet</a:t>
            </a:r>
            <a:r>
              <a:rPr lang="en-US" sz="2000" dirty="0"/>
              <a:t> </a:t>
            </a:r>
            <a:r>
              <a:rPr lang="en-US" sz="2000" dirty="0" err="1"/>
              <a:t>goed</a:t>
            </a:r>
            <a:r>
              <a:rPr lang="en-US" sz="2000" dirty="0"/>
              <a:t> </a:t>
            </a:r>
            <a:r>
              <a:rPr lang="en-US" sz="2000" dirty="0" err="1"/>
              <a:t>zijn</a:t>
            </a:r>
            <a:r>
              <a:rPr lang="en-US" sz="2000" dirty="0"/>
              <a:t>. </a:t>
            </a:r>
            <a:r>
              <a:rPr lang="en-US" sz="2000" dirty="0" err="1"/>
              <a:t>Dit</a:t>
            </a:r>
            <a:r>
              <a:rPr lang="en-US" sz="2000" dirty="0"/>
              <a:t> </a:t>
            </a:r>
            <a:r>
              <a:rPr lang="en-US" sz="2000" dirty="0" err="1"/>
              <a:t>opent</a:t>
            </a:r>
            <a:r>
              <a:rPr lang="en-US" sz="2000" dirty="0"/>
              <a:t> de </a:t>
            </a:r>
            <a:r>
              <a:rPr lang="en-US" sz="2000" dirty="0" err="1"/>
              <a:t>mogelijkheid</a:t>
            </a:r>
            <a:r>
              <a:rPr lang="en-US" sz="2000" dirty="0"/>
              <a:t> van </a:t>
            </a:r>
            <a:r>
              <a:rPr lang="en-US" sz="2000" dirty="0" err="1"/>
              <a:t>een</a:t>
            </a:r>
            <a:r>
              <a:rPr lang="en-US" sz="2000" dirty="0"/>
              <a:t> </a:t>
            </a:r>
            <a:r>
              <a:rPr lang="en-US" sz="2000" dirty="0" err="1"/>
              <a:t>nieuw</a:t>
            </a:r>
            <a:r>
              <a:rPr lang="en-US" sz="2000" dirty="0"/>
              <a:t> </a:t>
            </a:r>
            <a:r>
              <a:rPr lang="en-US" sz="2000" dirty="0" err="1"/>
              <a:t>antwoord</a:t>
            </a:r>
            <a:r>
              <a:rPr lang="en-US" sz="2000" dirty="0"/>
              <a:t> op </a:t>
            </a:r>
            <a:r>
              <a:rPr lang="nl-NL" sz="2000" dirty="0">
                <a:solidFill>
                  <a:srgbClr val="EA244E"/>
                </a:solidFill>
              </a:rPr>
              <a:t>de vraag naar het kwaad</a:t>
            </a:r>
            <a:r>
              <a:rPr lang="en-US" sz="2000" dirty="0"/>
              <a:t>.</a:t>
            </a:r>
            <a:endParaRPr lang="nl-NL" sz="2000" dirty="0"/>
          </a:p>
        </p:txBody>
      </p:sp>
      <p:sp>
        <p:nvSpPr>
          <p:cNvPr id="14" name="Content Placeholder 2">
            <a:extLst>
              <a:ext uri="{FF2B5EF4-FFF2-40B4-BE49-F238E27FC236}">
                <a16:creationId xmlns:a16="http://schemas.microsoft.com/office/drawing/2014/main" id="{778615FF-C887-9B5E-B760-AF123177ACD1}"/>
              </a:ext>
            </a:extLst>
          </p:cNvPr>
          <p:cNvSpPr txBox="1">
            <a:spLocks/>
          </p:cNvSpPr>
          <p:nvPr/>
        </p:nvSpPr>
        <p:spPr>
          <a:xfrm>
            <a:off x="70992" y="2752328"/>
            <a:ext cx="8821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err="1"/>
              <a:t>Niet</a:t>
            </a:r>
            <a:r>
              <a:rPr lang="en-US" sz="2000" dirty="0"/>
              <a:t> </a:t>
            </a:r>
            <a:r>
              <a:rPr lang="en-US" sz="2000" dirty="0" err="1"/>
              <a:t>alles</a:t>
            </a:r>
            <a:r>
              <a:rPr lang="en-US" sz="2000" dirty="0"/>
              <a:t> is </a:t>
            </a:r>
            <a:r>
              <a:rPr lang="en-US" sz="2000" dirty="0" err="1"/>
              <a:t>veroorzaakt</a:t>
            </a:r>
            <a:r>
              <a:rPr lang="en-US" sz="2000" dirty="0"/>
              <a:t>. Er </a:t>
            </a:r>
            <a:r>
              <a:rPr lang="en-US" sz="2000" dirty="0" err="1"/>
              <a:t>zijn</a:t>
            </a:r>
            <a:r>
              <a:rPr lang="en-US" sz="2000" dirty="0"/>
              <a:t> </a:t>
            </a:r>
            <a:r>
              <a:rPr lang="en-US" sz="2000" dirty="0" err="1"/>
              <a:t>dus</a:t>
            </a:r>
            <a:r>
              <a:rPr lang="en-US" sz="2000" dirty="0"/>
              <a:t> </a:t>
            </a:r>
            <a:r>
              <a:rPr lang="en-US" sz="2000" dirty="0" err="1"/>
              <a:t>onveroorzaakte</a:t>
            </a:r>
            <a:r>
              <a:rPr lang="en-US" sz="2000" dirty="0"/>
              <a:t> </a:t>
            </a:r>
            <a:r>
              <a:rPr lang="en-US" sz="2000" dirty="0" err="1"/>
              <a:t>oftewel</a:t>
            </a:r>
            <a:r>
              <a:rPr lang="en-US" sz="2000" dirty="0"/>
              <a:t> </a:t>
            </a:r>
            <a:r>
              <a:rPr lang="nl-NL" sz="2000" dirty="0">
                <a:solidFill>
                  <a:srgbClr val="EA244E"/>
                </a:solidFill>
              </a:rPr>
              <a:t>eerste</a:t>
            </a:r>
            <a:r>
              <a:rPr lang="en-US" sz="2000" dirty="0"/>
              <a:t> </a:t>
            </a:r>
            <a:r>
              <a:rPr lang="en-US" sz="2000" dirty="0" err="1"/>
              <a:t>objecten</a:t>
            </a:r>
            <a:r>
              <a:rPr lang="en-US" sz="2000" dirty="0"/>
              <a:t>.</a:t>
            </a:r>
            <a:endParaRPr lang="nl-NL" sz="2000" dirty="0"/>
          </a:p>
        </p:txBody>
      </p:sp>
      <p:sp>
        <p:nvSpPr>
          <p:cNvPr id="15" name="Content Placeholder 2">
            <a:extLst>
              <a:ext uri="{FF2B5EF4-FFF2-40B4-BE49-F238E27FC236}">
                <a16:creationId xmlns:a16="http://schemas.microsoft.com/office/drawing/2014/main" id="{F7E867FA-B05F-6FF6-B0B5-38290578453B}"/>
              </a:ext>
            </a:extLst>
          </p:cNvPr>
          <p:cNvSpPr txBox="1">
            <a:spLocks/>
          </p:cNvSpPr>
          <p:nvPr/>
        </p:nvSpPr>
        <p:spPr>
          <a:xfrm>
            <a:off x="35496" y="4077072"/>
            <a:ext cx="8821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err="1"/>
              <a:t>Zelfs</a:t>
            </a:r>
            <a:r>
              <a:rPr lang="en-US" sz="2000" dirty="0"/>
              <a:t> de </a:t>
            </a:r>
            <a:r>
              <a:rPr lang="en-US" sz="2000" dirty="0" err="1"/>
              <a:t>beroemde</a:t>
            </a:r>
            <a:r>
              <a:rPr lang="en-US" sz="2000" dirty="0"/>
              <a:t> </a:t>
            </a:r>
            <a:r>
              <a:rPr lang="en-US" sz="2000" dirty="0" err="1"/>
              <a:t>vraag</a:t>
            </a:r>
            <a:r>
              <a:rPr lang="en-US" sz="2000" dirty="0"/>
              <a:t> van </a:t>
            </a:r>
            <a:r>
              <a:rPr lang="nl-NL" sz="2000" dirty="0">
                <a:solidFill>
                  <a:srgbClr val="EA244E"/>
                </a:solidFill>
              </a:rPr>
              <a:t>Leibniz </a:t>
            </a:r>
            <a:r>
              <a:rPr lang="en-US" sz="2000" dirty="0"/>
              <a:t>(“</a:t>
            </a:r>
            <a:r>
              <a:rPr lang="en-US" sz="2000" dirty="0" err="1"/>
              <a:t>Waarom</a:t>
            </a:r>
            <a:r>
              <a:rPr lang="en-US" sz="2000" dirty="0"/>
              <a:t> is er </a:t>
            </a:r>
            <a:r>
              <a:rPr lang="en-US" sz="2000" dirty="0" err="1"/>
              <a:t>iets</a:t>
            </a:r>
            <a:r>
              <a:rPr lang="en-US" sz="2000" dirty="0"/>
              <a:t> in </a:t>
            </a:r>
            <a:r>
              <a:rPr lang="en-US" sz="2000" dirty="0" err="1"/>
              <a:t>plaats</a:t>
            </a:r>
            <a:r>
              <a:rPr lang="en-US" sz="2000" dirty="0"/>
              <a:t> van </a:t>
            </a:r>
            <a:r>
              <a:rPr lang="en-US" sz="2000" dirty="0" err="1"/>
              <a:t>niets</a:t>
            </a:r>
            <a:r>
              <a:rPr lang="en-US" sz="2000" dirty="0"/>
              <a:t>?”) </a:t>
            </a:r>
            <a:r>
              <a:rPr lang="en-US" sz="2000" dirty="0" err="1"/>
              <a:t>kan</a:t>
            </a:r>
            <a:r>
              <a:rPr lang="en-US" sz="2000" dirty="0"/>
              <a:t> </a:t>
            </a:r>
            <a:r>
              <a:rPr lang="en-US" sz="2000" dirty="0" err="1"/>
              <a:t>worden</a:t>
            </a:r>
            <a:r>
              <a:rPr lang="en-US" sz="2000" dirty="0"/>
              <a:t> </a:t>
            </a:r>
            <a:r>
              <a:rPr lang="en-US" sz="2000" dirty="0" err="1"/>
              <a:t>beantwoord</a:t>
            </a:r>
            <a:r>
              <a:rPr lang="en-US" sz="2000" dirty="0"/>
              <a:t>. Er </a:t>
            </a:r>
            <a:r>
              <a:rPr lang="en-US" sz="2000" dirty="0" err="1"/>
              <a:t>moeten</a:t>
            </a:r>
            <a:r>
              <a:rPr lang="en-US" sz="2000" dirty="0"/>
              <a:t> </a:t>
            </a:r>
            <a:r>
              <a:rPr lang="en-US" sz="2000" dirty="0" err="1"/>
              <a:t>objecten</a:t>
            </a:r>
            <a:r>
              <a:rPr lang="en-US" sz="2000" dirty="0"/>
              <a:t> </a:t>
            </a:r>
            <a:r>
              <a:rPr lang="en-US" sz="2000" dirty="0" err="1"/>
              <a:t>zijn</a:t>
            </a:r>
            <a:r>
              <a:rPr lang="en-US" sz="2000" dirty="0"/>
              <a:t> </a:t>
            </a:r>
            <a:r>
              <a:rPr lang="en-US" sz="2000" dirty="0" err="1"/>
              <a:t>omdat</a:t>
            </a:r>
            <a:r>
              <a:rPr lang="en-US" sz="2000" dirty="0"/>
              <a:t> </a:t>
            </a:r>
            <a:r>
              <a:rPr lang="en-US" sz="2000" dirty="0" err="1"/>
              <a:t>anders</a:t>
            </a:r>
            <a:r>
              <a:rPr lang="en-US" sz="2000" dirty="0"/>
              <a:t> op </a:t>
            </a:r>
            <a:r>
              <a:rPr lang="en-US" sz="2000" dirty="0" err="1"/>
              <a:t>grond</a:t>
            </a:r>
            <a:r>
              <a:rPr lang="en-US" sz="2000" dirty="0"/>
              <a:t> van de </a:t>
            </a:r>
            <a:r>
              <a:rPr lang="en-US" sz="2000" dirty="0" err="1"/>
              <a:t>logische</a:t>
            </a:r>
            <a:r>
              <a:rPr lang="en-US" sz="2000" dirty="0"/>
              <a:t> wet </a:t>
            </a:r>
            <a:r>
              <a:rPr lang="nl-NL" sz="2000" dirty="0">
                <a:solidFill>
                  <a:srgbClr val="EA244E"/>
                </a:solidFill>
              </a:rPr>
              <a:t>ex </a:t>
            </a:r>
            <a:r>
              <a:rPr lang="nl-NL" sz="2000" dirty="0" err="1">
                <a:solidFill>
                  <a:srgbClr val="EA244E"/>
                </a:solidFill>
              </a:rPr>
              <a:t>falso</a:t>
            </a:r>
            <a:r>
              <a:rPr lang="nl-NL" sz="2000" dirty="0">
                <a:solidFill>
                  <a:srgbClr val="EA244E"/>
                </a:solidFill>
              </a:rPr>
              <a:t> quodlibet </a:t>
            </a:r>
            <a:r>
              <a:rPr lang="en-US" sz="2000" dirty="0"/>
              <a:t>alle </a:t>
            </a:r>
            <a:r>
              <a:rPr lang="en-US" sz="2000" dirty="0" err="1"/>
              <a:t>eigenschappen</a:t>
            </a:r>
            <a:r>
              <a:rPr lang="en-US" sz="2000" dirty="0"/>
              <a:t> </a:t>
            </a:r>
            <a:r>
              <a:rPr lang="en-US" sz="2000" dirty="0" err="1"/>
              <a:t>universeel</a:t>
            </a:r>
            <a:r>
              <a:rPr lang="en-US" sz="2000" dirty="0"/>
              <a:t> </a:t>
            </a:r>
            <a:r>
              <a:rPr lang="en-US" sz="2000" dirty="0" err="1"/>
              <a:t>zouden</a:t>
            </a:r>
            <a:r>
              <a:rPr lang="en-US" sz="2000" dirty="0"/>
              <a:t> </a:t>
            </a:r>
            <a:r>
              <a:rPr lang="en-US" sz="2000" dirty="0" err="1"/>
              <a:t>zijn</a:t>
            </a:r>
            <a:r>
              <a:rPr lang="en-US" sz="2000" dirty="0"/>
              <a:t>.</a:t>
            </a:r>
            <a:endParaRPr lang="nl-NL" sz="2000" dirty="0"/>
          </a:p>
        </p:txBody>
      </p:sp>
      <p:sp>
        <p:nvSpPr>
          <p:cNvPr id="16" name="Content Placeholder 2">
            <a:extLst>
              <a:ext uri="{FF2B5EF4-FFF2-40B4-BE49-F238E27FC236}">
                <a16:creationId xmlns:a16="http://schemas.microsoft.com/office/drawing/2014/main" id="{76180175-4602-4298-2269-B0C60D052525}"/>
              </a:ext>
            </a:extLst>
          </p:cNvPr>
          <p:cNvSpPr txBox="1">
            <a:spLocks/>
          </p:cNvSpPr>
          <p:nvPr/>
        </p:nvSpPr>
        <p:spPr>
          <a:xfrm>
            <a:off x="35496" y="5128592"/>
            <a:ext cx="914501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De </a:t>
            </a:r>
            <a:r>
              <a:rPr lang="en-US" sz="2000" dirty="0" err="1"/>
              <a:t>wereld</a:t>
            </a:r>
            <a:r>
              <a:rPr lang="en-US" sz="2000" dirty="0"/>
              <a:t> </a:t>
            </a:r>
            <a:r>
              <a:rPr lang="en-US" sz="2000" dirty="0" err="1"/>
              <a:t>bevat</a:t>
            </a:r>
            <a:r>
              <a:rPr lang="en-US" sz="2000" dirty="0"/>
              <a:t> </a:t>
            </a:r>
            <a:r>
              <a:rPr lang="en-US" sz="2000" dirty="0" err="1"/>
              <a:t>dus</a:t>
            </a:r>
            <a:r>
              <a:rPr lang="en-US" sz="2000" dirty="0"/>
              <a:t> al met al </a:t>
            </a:r>
            <a:r>
              <a:rPr lang="en-US" sz="2000" dirty="0" err="1"/>
              <a:t>immateriële</a:t>
            </a:r>
            <a:r>
              <a:rPr lang="en-US" sz="2000" dirty="0"/>
              <a:t>, </a:t>
            </a:r>
            <a:r>
              <a:rPr lang="en-US" sz="2000" dirty="0" err="1"/>
              <a:t>niet-fysische</a:t>
            </a:r>
            <a:r>
              <a:rPr lang="en-US" sz="2000" dirty="0"/>
              <a:t>, </a:t>
            </a:r>
            <a:r>
              <a:rPr lang="en-US" sz="2000" dirty="0" err="1"/>
              <a:t>bovennatuurlijke</a:t>
            </a:r>
            <a:r>
              <a:rPr lang="en-US" sz="2000" dirty="0"/>
              <a:t>, </a:t>
            </a:r>
            <a:r>
              <a:rPr lang="en-US" sz="2000" dirty="0" err="1"/>
              <a:t>transcendente</a:t>
            </a:r>
            <a:r>
              <a:rPr lang="en-US" sz="2000" dirty="0"/>
              <a:t>, </a:t>
            </a:r>
            <a:r>
              <a:rPr lang="en-US" sz="2000" dirty="0" err="1"/>
              <a:t>noodzakelijk</a:t>
            </a:r>
            <a:r>
              <a:rPr lang="en-US" sz="2000" dirty="0"/>
              <a:t> </a:t>
            </a:r>
            <a:r>
              <a:rPr lang="en-US" sz="2000" dirty="0" err="1"/>
              <a:t>bestaande</a:t>
            </a:r>
            <a:r>
              <a:rPr lang="en-US" sz="2000" dirty="0"/>
              <a:t>, </a:t>
            </a:r>
            <a:r>
              <a:rPr lang="en-US" sz="2000" dirty="0" err="1"/>
              <a:t>onveroorzaakte</a:t>
            </a:r>
            <a:r>
              <a:rPr lang="en-US" sz="2000" dirty="0"/>
              <a:t>, </a:t>
            </a:r>
            <a:r>
              <a:rPr lang="en-US" sz="2000" dirty="0" err="1"/>
              <a:t>eerste</a:t>
            </a:r>
            <a:r>
              <a:rPr lang="en-US" sz="2000" dirty="0"/>
              <a:t>, </a:t>
            </a:r>
            <a:r>
              <a:rPr lang="en-US" sz="2000" dirty="0" err="1"/>
              <a:t>abstracte</a:t>
            </a:r>
            <a:r>
              <a:rPr lang="en-US" sz="2000" dirty="0"/>
              <a:t>, </a:t>
            </a:r>
            <a:r>
              <a:rPr lang="en-US" sz="2000" dirty="0" err="1"/>
              <a:t>vrije</a:t>
            </a:r>
            <a:r>
              <a:rPr lang="en-US" sz="2000" dirty="0"/>
              <a:t>, </a:t>
            </a:r>
            <a:r>
              <a:rPr lang="en-US" sz="2000" dirty="0" err="1"/>
              <a:t>eeuwige</a:t>
            </a:r>
            <a:r>
              <a:rPr lang="en-US" sz="2000" dirty="0"/>
              <a:t>, </a:t>
            </a:r>
            <a:r>
              <a:rPr lang="en-US" sz="2000" dirty="0" err="1"/>
              <a:t>oneindige</a:t>
            </a:r>
            <a:r>
              <a:rPr lang="en-US" sz="2000" dirty="0"/>
              <a:t>, </a:t>
            </a:r>
            <a:r>
              <a:rPr lang="en-US" sz="2000" dirty="0" err="1"/>
              <a:t>buiten-ruimtelijke</a:t>
            </a:r>
            <a:r>
              <a:rPr lang="en-US" sz="2000" dirty="0"/>
              <a:t> </a:t>
            </a:r>
            <a:r>
              <a:rPr lang="en-US" sz="2000" dirty="0" err="1"/>
              <a:t>en</a:t>
            </a:r>
            <a:r>
              <a:rPr lang="en-US" sz="2000" dirty="0"/>
              <a:t> </a:t>
            </a:r>
            <a:r>
              <a:rPr lang="en-US" sz="2000" dirty="0" err="1"/>
              <a:t>buiten-tijdelijke</a:t>
            </a:r>
            <a:r>
              <a:rPr lang="en-US" sz="2000" dirty="0"/>
              <a:t> </a:t>
            </a:r>
            <a:r>
              <a:rPr lang="en-US" sz="2000" dirty="0" err="1"/>
              <a:t>objecten</a:t>
            </a:r>
            <a:r>
              <a:rPr lang="en-US" sz="2000" dirty="0"/>
              <a:t>. </a:t>
            </a:r>
            <a:endParaRPr lang="nl-NL" sz="2000" dirty="0"/>
          </a:p>
        </p:txBody>
      </p:sp>
      <p:sp>
        <p:nvSpPr>
          <p:cNvPr id="17" name="Content Placeholder 2">
            <a:extLst>
              <a:ext uri="{FF2B5EF4-FFF2-40B4-BE49-F238E27FC236}">
                <a16:creationId xmlns:a16="http://schemas.microsoft.com/office/drawing/2014/main" id="{D47E34F1-B821-8A82-EA6A-645B3373EF9F}"/>
              </a:ext>
            </a:extLst>
          </p:cNvPr>
          <p:cNvSpPr txBox="1">
            <a:spLocks/>
          </p:cNvSpPr>
          <p:nvPr/>
        </p:nvSpPr>
        <p:spPr>
          <a:xfrm>
            <a:off x="70992" y="3284984"/>
            <a:ext cx="8821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err="1"/>
              <a:t>Niet</a:t>
            </a:r>
            <a:r>
              <a:rPr lang="en-US" sz="2000" dirty="0"/>
              <a:t> </a:t>
            </a:r>
            <a:r>
              <a:rPr lang="en-US" sz="2000" dirty="0" err="1"/>
              <a:t>alles</a:t>
            </a:r>
            <a:r>
              <a:rPr lang="en-US" sz="2000" dirty="0"/>
              <a:t> is </a:t>
            </a:r>
            <a:r>
              <a:rPr lang="en-US" sz="2000" dirty="0" err="1"/>
              <a:t>mereologisch</a:t>
            </a:r>
            <a:r>
              <a:rPr lang="en-US" sz="2000" dirty="0"/>
              <a:t> </a:t>
            </a:r>
            <a:r>
              <a:rPr lang="en-US" sz="2000" dirty="0" err="1"/>
              <a:t>samengesteld</a:t>
            </a:r>
            <a:r>
              <a:rPr lang="en-US" sz="2000" dirty="0"/>
              <a:t>. Er </a:t>
            </a:r>
            <a:r>
              <a:rPr lang="en-US" sz="2000" dirty="0" err="1"/>
              <a:t>zijn</a:t>
            </a:r>
            <a:r>
              <a:rPr lang="en-US" sz="2000" dirty="0"/>
              <a:t> </a:t>
            </a:r>
            <a:r>
              <a:rPr lang="en-US" sz="2000" dirty="0" err="1"/>
              <a:t>dus</a:t>
            </a:r>
            <a:r>
              <a:rPr lang="en-US" sz="2000" dirty="0"/>
              <a:t> </a:t>
            </a:r>
            <a:r>
              <a:rPr lang="en-US" sz="2000" dirty="0" err="1"/>
              <a:t>mereologisch</a:t>
            </a:r>
            <a:r>
              <a:rPr lang="en-US" sz="2000" dirty="0"/>
              <a:t> </a:t>
            </a:r>
            <a:r>
              <a:rPr lang="en-US" sz="2000" dirty="0" err="1"/>
              <a:t>enkelvoudige</a:t>
            </a:r>
            <a:r>
              <a:rPr lang="en-US" sz="2000" dirty="0"/>
              <a:t> </a:t>
            </a:r>
            <a:r>
              <a:rPr lang="en-US" sz="2000" dirty="0" err="1"/>
              <a:t>objecten</a:t>
            </a:r>
            <a:r>
              <a:rPr lang="en-US" sz="2000" dirty="0"/>
              <a:t>. Er </a:t>
            </a:r>
            <a:r>
              <a:rPr lang="en-US" sz="2000" dirty="0" err="1"/>
              <a:t>zijn</a:t>
            </a:r>
            <a:r>
              <a:rPr lang="en-US" sz="2000" dirty="0"/>
              <a:t> </a:t>
            </a:r>
            <a:r>
              <a:rPr lang="nl-NL" sz="2000" dirty="0">
                <a:solidFill>
                  <a:srgbClr val="EA244E"/>
                </a:solidFill>
              </a:rPr>
              <a:t>atomen</a:t>
            </a:r>
            <a:r>
              <a:rPr lang="en-US" sz="2000" dirty="0"/>
              <a:t>. Er is </a:t>
            </a:r>
            <a:r>
              <a:rPr lang="en-US" sz="2000" dirty="0" err="1"/>
              <a:t>een</a:t>
            </a:r>
            <a:r>
              <a:rPr lang="en-US" sz="2000" dirty="0"/>
              <a:t> </a:t>
            </a:r>
            <a:r>
              <a:rPr lang="en-US" sz="2000" dirty="0" err="1"/>
              <a:t>mereologisch</a:t>
            </a:r>
            <a:r>
              <a:rPr lang="en-US" sz="2000" dirty="0"/>
              <a:t> </a:t>
            </a:r>
            <a:r>
              <a:rPr lang="nl-NL" sz="2000" dirty="0">
                <a:solidFill>
                  <a:srgbClr val="EA244E"/>
                </a:solidFill>
              </a:rPr>
              <a:t>fundamenteel bestaansniveau</a:t>
            </a:r>
            <a:r>
              <a:rPr lang="en-US" sz="2000" dirty="0"/>
              <a:t>.</a:t>
            </a:r>
            <a:endParaRPr lang="nl-NL" sz="2000" dirty="0"/>
          </a:p>
        </p:txBody>
      </p:sp>
      <p:sp>
        <p:nvSpPr>
          <p:cNvPr id="6" name="Title 1">
            <a:extLst>
              <a:ext uri="{FF2B5EF4-FFF2-40B4-BE49-F238E27FC236}">
                <a16:creationId xmlns:a16="http://schemas.microsoft.com/office/drawing/2014/main" id="{63E8AB8D-E2F6-0954-ECB8-5AB853520CCD}"/>
              </a:ext>
            </a:extLst>
          </p:cNvPr>
          <p:cNvSpPr>
            <a:spLocks noGrp="1"/>
          </p:cNvSpPr>
          <p:nvPr>
            <p:ph type="title"/>
          </p:nvPr>
        </p:nvSpPr>
        <p:spPr>
          <a:xfrm>
            <a:off x="70992" y="-18256"/>
            <a:ext cx="8965504" cy="1143000"/>
          </a:xfrm>
        </p:spPr>
        <p:txBody>
          <a:bodyPr>
            <a:normAutofit/>
          </a:bodyPr>
          <a:lstStyle/>
          <a:p>
            <a:r>
              <a:rPr lang="nl-NL" sz="3600" dirty="0">
                <a:solidFill>
                  <a:srgbClr val="EA244E"/>
                </a:solidFill>
              </a:rPr>
              <a:t>Enkele implicaties (3)</a:t>
            </a:r>
            <a:endParaRPr lang="nl-NL" sz="3600" dirty="0"/>
          </a:p>
        </p:txBody>
      </p:sp>
      <p:sp>
        <p:nvSpPr>
          <p:cNvPr id="2" name="Content Placeholder 2">
            <a:extLst>
              <a:ext uri="{FF2B5EF4-FFF2-40B4-BE49-F238E27FC236}">
                <a16:creationId xmlns:a16="http://schemas.microsoft.com/office/drawing/2014/main" id="{995C0DE1-1048-6EF5-9524-CA287573DCED}"/>
              </a:ext>
            </a:extLst>
          </p:cNvPr>
          <p:cNvSpPr txBox="1">
            <a:spLocks/>
          </p:cNvSpPr>
          <p:nvPr/>
        </p:nvSpPr>
        <p:spPr>
          <a:xfrm>
            <a:off x="35496" y="6208712"/>
            <a:ext cx="914501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We </a:t>
            </a:r>
            <a:r>
              <a:rPr lang="en-US" sz="2000" dirty="0" err="1"/>
              <a:t>krijgen</a:t>
            </a:r>
            <a:r>
              <a:rPr lang="en-US" sz="2000" dirty="0"/>
              <a:t> de </a:t>
            </a:r>
            <a:r>
              <a:rPr lang="en-US" sz="2000" dirty="0" err="1"/>
              <a:t>wereld</a:t>
            </a:r>
            <a:r>
              <a:rPr lang="en-US" sz="2000" dirty="0"/>
              <a:t> </a:t>
            </a:r>
            <a:r>
              <a:rPr lang="en-US" sz="2000" dirty="0" err="1"/>
              <a:t>weer</a:t>
            </a:r>
            <a:r>
              <a:rPr lang="en-US" sz="2000" dirty="0"/>
              <a:t> </a:t>
            </a:r>
            <a:r>
              <a:rPr lang="en-US" sz="2000" dirty="0" err="1"/>
              <a:t>terug</a:t>
            </a:r>
            <a:r>
              <a:rPr lang="en-US" sz="2000" dirty="0"/>
              <a:t> </a:t>
            </a:r>
            <a:r>
              <a:rPr lang="en-US" sz="2000" dirty="0" err="1"/>
              <a:t>zoals</a:t>
            </a:r>
            <a:r>
              <a:rPr lang="en-US" sz="2000" dirty="0"/>
              <a:t> we </a:t>
            </a:r>
            <a:r>
              <a:rPr lang="en-US" sz="2000" dirty="0" err="1"/>
              <a:t>deze</a:t>
            </a:r>
            <a:r>
              <a:rPr lang="en-US" sz="2000" dirty="0"/>
              <a:t> </a:t>
            </a:r>
            <a:r>
              <a:rPr lang="nl-NL" sz="2000" dirty="0">
                <a:solidFill>
                  <a:srgbClr val="EA244E"/>
                </a:solidFill>
              </a:rPr>
              <a:t>klassiek </a:t>
            </a:r>
            <a:r>
              <a:rPr lang="en-US" sz="2000" dirty="0" err="1"/>
              <a:t>altijd</a:t>
            </a:r>
            <a:r>
              <a:rPr lang="en-US" sz="2000" dirty="0"/>
              <a:t> </a:t>
            </a:r>
            <a:r>
              <a:rPr lang="en-US" sz="2000" dirty="0" err="1"/>
              <a:t>opgevat</a:t>
            </a:r>
            <a:r>
              <a:rPr lang="en-US" sz="2000" dirty="0"/>
              <a:t> </a:t>
            </a:r>
            <a:r>
              <a:rPr lang="en-US" sz="2000" dirty="0" err="1"/>
              <a:t>hebben</a:t>
            </a:r>
            <a:r>
              <a:rPr lang="en-US" sz="2000" dirty="0"/>
              <a:t>.</a:t>
            </a:r>
            <a:endParaRPr lang="nl-NL" sz="2000" dirty="0"/>
          </a:p>
        </p:txBody>
      </p:sp>
      <p:sp>
        <p:nvSpPr>
          <p:cNvPr id="5" name="Content Placeholder 2">
            <a:extLst>
              <a:ext uri="{FF2B5EF4-FFF2-40B4-BE49-F238E27FC236}">
                <a16:creationId xmlns:a16="http://schemas.microsoft.com/office/drawing/2014/main" id="{81D628F7-2357-6742-48C5-B84B31626CCC}"/>
              </a:ext>
            </a:extLst>
          </p:cNvPr>
          <p:cNvSpPr txBox="1">
            <a:spLocks/>
          </p:cNvSpPr>
          <p:nvPr/>
        </p:nvSpPr>
        <p:spPr>
          <a:xfrm>
            <a:off x="70992" y="1412776"/>
            <a:ext cx="8821488"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err="1"/>
              <a:t>Niet</a:t>
            </a:r>
            <a:r>
              <a:rPr lang="en-US" sz="2000" dirty="0"/>
              <a:t> </a:t>
            </a:r>
            <a:r>
              <a:rPr lang="en-US" sz="2000" dirty="0" err="1"/>
              <a:t>alles</a:t>
            </a:r>
            <a:r>
              <a:rPr lang="en-US" sz="2000" dirty="0"/>
              <a:t> is </a:t>
            </a:r>
            <a:r>
              <a:rPr lang="en-US" sz="2000" dirty="0" err="1"/>
              <a:t>een</a:t>
            </a:r>
            <a:r>
              <a:rPr lang="en-US" sz="2000" dirty="0"/>
              <a:t> </a:t>
            </a:r>
            <a:r>
              <a:rPr lang="en-US" sz="2000" dirty="0" err="1"/>
              <a:t>samenstelling</a:t>
            </a:r>
            <a:r>
              <a:rPr lang="en-US" sz="2000" dirty="0"/>
              <a:t> van </a:t>
            </a:r>
            <a:r>
              <a:rPr lang="en-US" sz="2000" dirty="0" err="1"/>
              <a:t>vorm</a:t>
            </a:r>
            <a:r>
              <a:rPr lang="en-US" sz="2000" dirty="0"/>
              <a:t> </a:t>
            </a:r>
            <a:r>
              <a:rPr lang="en-US" sz="2000" dirty="0" err="1"/>
              <a:t>en</a:t>
            </a:r>
            <a:r>
              <a:rPr lang="en-US" sz="2000" dirty="0"/>
              <a:t> </a:t>
            </a:r>
            <a:r>
              <a:rPr lang="en-US" sz="2000" dirty="0" err="1"/>
              <a:t>stof</a:t>
            </a:r>
            <a:r>
              <a:rPr lang="en-US" sz="2000" dirty="0"/>
              <a:t>, wat Aristoteles reeds </a:t>
            </a:r>
            <a:r>
              <a:rPr lang="en-US" sz="2000" dirty="0" err="1"/>
              <a:t>leerde</a:t>
            </a:r>
            <a:r>
              <a:rPr lang="en-US" sz="2000" dirty="0"/>
              <a:t>.</a:t>
            </a:r>
            <a:endParaRPr lang="nl-NL" sz="2000" dirty="0"/>
          </a:p>
        </p:txBody>
      </p:sp>
    </p:spTree>
    <p:extLst>
      <p:ext uri="{BB962C8B-B14F-4D97-AF65-F5344CB8AC3E}">
        <p14:creationId xmlns:p14="http://schemas.microsoft.com/office/powerpoint/2010/main" val="3917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4" grpId="0"/>
      <p:bldP spid="15" grpId="0"/>
      <p:bldP spid="16" grpId="0"/>
      <p:bldP spid="17" grpId="0"/>
      <p:bldP spid="2"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A0F63CCD-635C-4FBB-E965-02C539125FDE}"/>
              </a:ext>
            </a:extLst>
          </p:cNvPr>
          <p:cNvSpPr txBox="1">
            <a:spLocks/>
          </p:cNvSpPr>
          <p:nvPr/>
        </p:nvSpPr>
        <p:spPr>
          <a:xfrm>
            <a:off x="35496" y="836712"/>
            <a:ext cx="925353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Het </a:t>
            </a:r>
            <a:r>
              <a:rPr lang="nl-NL" sz="2000" dirty="0">
                <a:solidFill>
                  <a:srgbClr val="EA244E"/>
                </a:solidFill>
              </a:rPr>
              <a:t>recept </a:t>
            </a:r>
            <a:r>
              <a:rPr lang="nl-NL" sz="2000" dirty="0"/>
              <a:t>voor het afleiden van implicaties waarmee allerlei bestaande               debatten in de metafysica beslecht kunnen worden zal nu duidelijk zijn.</a:t>
            </a:r>
          </a:p>
        </p:txBody>
      </p:sp>
      <p:sp>
        <p:nvSpPr>
          <p:cNvPr id="5" name="Content Placeholder 2">
            <a:extLst>
              <a:ext uri="{FF2B5EF4-FFF2-40B4-BE49-F238E27FC236}">
                <a16:creationId xmlns:a16="http://schemas.microsoft.com/office/drawing/2014/main" id="{C7B814DD-0290-504A-A347-3997B1674E27}"/>
              </a:ext>
            </a:extLst>
          </p:cNvPr>
          <p:cNvSpPr txBox="1">
            <a:spLocks/>
          </p:cNvSpPr>
          <p:nvPr/>
        </p:nvSpPr>
        <p:spPr>
          <a:xfrm>
            <a:off x="374848" y="1297360"/>
            <a:ext cx="8517632"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nl-NL" sz="2400" i="1" dirty="0"/>
          </a:p>
        </p:txBody>
      </p:sp>
      <p:sp>
        <p:nvSpPr>
          <p:cNvPr id="6" name="Content Placeholder 2">
            <a:extLst>
              <a:ext uri="{FF2B5EF4-FFF2-40B4-BE49-F238E27FC236}">
                <a16:creationId xmlns:a16="http://schemas.microsoft.com/office/drawing/2014/main" id="{27C9677B-684D-B296-C050-56324F778E0F}"/>
              </a:ext>
            </a:extLst>
          </p:cNvPr>
          <p:cNvSpPr txBox="1">
            <a:spLocks/>
          </p:cNvSpPr>
          <p:nvPr/>
        </p:nvSpPr>
        <p:spPr>
          <a:xfrm>
            <a:off x="35496" y="1628800"/>
            <a:ext cx="885698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sz="2000" dirty="0"/>
              <a:t>Het principe dat er geen niet-formele universele eigenschappen zijn, begint         zo langzamerhand te lijken op een heuse </a:t>
            </a:r>
            <a:r>
              <a:rPr lang="nl-NL" sz="2000" dirty="0">
                <a:solidFill>
                  <a:srgbClr val="EA244E"/>
                </a:solidFill>
              </a:rPr>
              <a:t>theorie van alles</a:t>
            </a:r>
            <a:r>
              <a:rPr lang="nl-NL" sz="2000" dirty="0"/>
              <a:t>.</a:t>
            </a:r>
            <a:endParaRPr lang="nl-NL" sz="2000" i="1" dirty="0"/>
          </a:p>
          <a:p>
            <a:endParaRPr lang="nl-NL" sz="2000" dirty="0"/>
          </a:p>
        </p:txBody>
      </p:sp>
      <p:sp>
        <p:nvSpPr>
          <p:cNvPr id="7" name="Content Placeholder 2">
            <a:extLst>
              <a:ext uri="{FF2B5EF4-FFF2-40B4-BE49-F238E27FC236}">
                <a16:creationId xmlns:a16="http://schemas.microsoft.com/office/drawing/2014/main" id="{D2DA7C8F-CB9C-885C-0E9C-141CF809FCFA}"/>
              </a:ext>
            </a:extLst>
          </p:cNvPr>
          <p:cNvSpPr txBox="1">
            <a:spLocks/>
          </p:cNvSpPr>
          <p:nvPr/>
        </p:nvSpPr>
        <p:spPr>
          <a:xfrm>
            <a:off x="-36512" y="2780928"/>
            <a:ext cx="885698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nl-NL" sz="2000" dirty="0"/>
          </a:p>
        </p:txBody>
      </p:sp>
      <p:sp>
        <p:nvSpPr>
          <p:cNvPr id="9" name="Content Placeholder 2">
            <a:extLst>
              <a:ext uri="{FF2B5EF4-FFF2-40B4-BE49-F238E27FC236}">
                <a16:creationId xmlns:a16="http://schemas.microsoft.com/office/drawing/2014/main" id="{8DAD4DE9-D6B3-9E2F-8CB9-0AC2F1895015}"/>
              </a:ext>
            </a:extLst>
          </p:cNvPr>
          <p:cNvSpPr txBox="1">
            <a:spLocks/>
          </p:cNvSpPr>
          <p:nvPr/>
        </p:nvSpPr>
        <p:spPr>
          <a:xfrm>
            <a:off x="35496" y="2420888"/>
            <a:ext cx="8856984"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Die </a:t>
            </a:r>
            <a:r>
              <a:rPr lang="en-US" sz="2000" dirty="0" err="1"/>
              <a:t>ene</a:t>
            </a:r>
            <a:r>
              <a:rPr lang="en-US" sz="2000" dirty="0"/>
              <a:t> </a:t>
            </a:r>
            <a:r>
              <a:rPr lang="en-US" sz="2000" dirty="0" err="1"/>
              <a:t>formule</a:t>
            </a:r>
            <a:r>
              <a:rPr lang="en-US" sz="2000" dirty="0"/>
              <a:t> die </a:t>
            </a:r>
            <a:r>
              <a:rPr lang="en-US" sz="2000" dirty="0" err="1"/>
              <a:t>niet</a:t>
            </a:r>
            <a:r>
              <a:rPr lang="en-US" sz="2000" dirty="0"/>
              <a:t> ad hoc is </a:t>
            </a:r>
            <a:r>
              <a:rPr lang="en-US" sz="2000" dirty="0" err="1"/>
              <a:t>en</a:t>
            </a:r>
            <a:r>
              <a:rPr lang="en-US" sz="2000" dirty="0"/>
              <a:t> de hele </a:t>
            </a:r>
            <a:r>
              <a:rPr lang="en-US" sz="2000" dirty="0" err="1"/>
              <a:t>wereld</a:t>
            </a:r>
            <a:r>
              <a:rPr lang="en-US" sz="2000" dirty="0"/>
              <a:t> </a:t>
            </a:r>
            <a:r>
              <a:rPr lang="en-US" sz="2000" dirty="0" err="1"/>
              <a:t>zoals</a:t>
            </a:r>
            <a:r>
              <a:rPr lang="en-US" sz="2000" dirty="0"/>
              <a:t> we die </a:t>
            </a:r>
            <a:r>
              <a:rPr lang="en-US" sz="2000" dirty="0" err="1"/>
              <a:t>klassiek</a:t>
            </a:r>
            <a:r>
              <a:rPr lang="en-US" sz="2000" dirty="0"/>
              <a:t> </a:t>
            </a:r>
            <a:r>
              <a:rPr lang="en-US" sz="2000" dirty="0" err="1"/>
              <a:t>altijd</a:t>
            </a:r>
            <a:r>
              <a:rPr lang="en-US" sz="2000" dirty="0"/>
              <a:t> </a:t>
            </a:r>
            <a:r>
              <a:rPr lang="en-US" sz="2000" dirty="0" err="1"/>
              <a:t>verstonden</a:t>
            </a:r>
            <a:r>
              <a:rPr lang="en-US" sz="2000" dirty="0"/>
              <a:t> </a:t>
            </a:r>
            <a:r>
              <a:rPr lang="en-US" sz="2000" dirty="0" err="1"/>
              <a:t>opnieuw</a:t>
            </a:r>
            <a:r>
              <a:rPr lang="en-US" sz="2000" dirty="0"/>
              <a:t> </a:t>
            </a:r>
            <a:r>
              <a:rPr lang="en-US" sz="2000" dirty="0" err="1"/>
              <a:t>lijkt</a:t>
            </a:r>
            <a:r>
              <a:rPr lang="en-US" sz="2000" dirty="0"/>
              <a:t> </a:t>
            </a:r>
            <a:r>
              <a:rPr lang="en-US" sz="2000" dirty="0" err="1"/>
              <a:t>te</a:t>
            </a:r>
            <a:r>
              <a:rPr lang="en-US" sz="2000" dirty="0"/>
              <a:t> </a:t>
            </a:r>
            <a:r>
              <a:rPr lang="en-US" sz="2000" dirty="0" err="1"/>
              <a:t>impliceren</a:t>
            </a:r>
            <a:r>
              <a:rPr lang="en-US" sz="2000" dirty="0"/>
              <a:t>, is dan </a:t>
            </a:r>
            <a:r>
              <a:rPr lang="en-US" sz="2000" dirty="0" err="1"/>
              <a:t>ook</a:t>
            </a:r>
            <a:r>
              <a:rPr lang="en-US" sz="2000" dirty="0"/>
              <a:t> </a:t>
            </a:r>
            <a:r>
              <a:rPr lang="en-US" sz="2000" dirty="0" err="1"/>
              <a:t>géén</a:t>
            </a:r>
            <a:r>
              <a:rPr lang="en-US" sz="2000" dirty="0"/>
              <a:t> </a:t>
            </a:r>
            <a:r>
              <a:rPr lang="en-US" sz="2000" dirty="0" err="1"/>
              <a:t>formule</a:t>
            </a:r>
            <a:r>
              <a:rPr lang="en-US" sz="2000" dirty="0"/>
              <a:t> in de </a:t>
            </a:r>
            <a:r>
              <a:rPr lang="en-US" sz="2000" i="1" dirty="0" err="1"/>
              <a:t>fysica</a:t>
            </a:r>
            <a:r>
              <a:rPr lang="en-US" sz="2000" dirty="0"/>
              <a:t> of </a:t>
            </a:r>
            <a:r>
              <a:rPr lang="en-US" sz="2000" i="1" dirty="0" err="1"/>
              <a:t>kosmologie</a:t>
            </a:r>
            <a:r>
              <a:rPr lang="en-US" sz="2000" dirty="0"/>
              <a:t>. De </a:t>
            </a:r>
            <a:r>
              <a:rPr lang="en-US" sz="2000" dirty="0" err="1"/>
              <a:t>gezochte</a:t>
            </a:r>
            <a:r>
              <a:rPr lang="en-US" sz="2000" dirty="0"/>
              <a:t> </a:t>
            </a:r>
            <a:r>
              <a:rPr lang="en-US" sz="2000" dirty="0" err="1"/>
              <a:t>formule</a:t>
            </a:r>
            <a:r>
              <a:rPr lang="en-US" sz="2000" dirty="0"/>
              <a:t> is </a:t>
            </a:r>
            <a:r>
              <a:rPr lang="en-US" sz="2000" dirty="0" err="1"/>
              <a:t>een</a:t>
            </a:r>
            <a:r>
              <a:rPr lang="en-US" sz="2000" dirty="0"/>
              <a:t> </a:t>
            </a:r>
            <a:r>
              <a:rPr lang="en-US" sz="2000" i="1" dirty="0" err="1"/>
              <a:t>metafysische</a:t>
            </a:r>
            <a:r>
              <a:rPr lang="en-US" sz="2000" dirty="0"/>
              <a:t> </a:t>
            </a:r>
            <a:r>
              <a:rPr lang="en-US" sz="2000" dirty="0" err="1"/>
              <a:t>formule</a:t>
            </a:r>
            <a:r>
              <a:rPr lang="en-US" sz="2000" dirty="0"/>
              <a:t>: </a:t>
            </a:r>
            <a:r>
              <a:rPr lang="en-US" sz="2000" dirty="0">
                <a:solidFill>
                  <a:srgbClr val="EA244E"/>
                </a:solidFill>
              </a:rPr>
              <a:t>∀P ∃x ¬P(x)</a:t>
            </a:r>
            <a:r>
              <a:rPr lang="nl-NL" sz="2000" dirty="0"/>
              <a:t>.</a:t>
            </a:r>
            <a:endParaRPr lang="nl-NL" sz="2000" dirty="0">
              <a:solidFill>
                <a:srgbClr val="EA244E"/>
              </a:solidFill>
            </a:endParaRPr>
          </a:p>
        </p:txBody>
      </p:sp>
      <p:sp>
        <p:nvSpPr>
          <p:cNvPr id="11" name="Content Placeholder 2">
            <a:extLst>
              <a:ext uri="{FF2B5EF4-FFF2-40B4-BE49-F238E27FC236}">
                <a16:creationId xmlns:a16="http://schemas.microsoft.com/office/drawing/2014/main" id="{9A1C71C1-6647-1713-F8F3-05BAA2A93AC9}"/>
              </a:ext>
            </a:extLst>
          </p:cNvPr>
          <p:cNvSpPr txBox="1">
            <a:spLocks/>
          </p:cNvSpPr>
          <p:nvPr/>
        </p:nvSpPr>
        <p:spPr>
          <a:xfrm>
            <a:off x="35496" y="3544416"/>
            <a:ext cx="9001000"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Het </a:t>
            </a:r>
            <a:r>
              <a:rPr lang="en-US" sz="2000" dirty="0" err="1"/>
              <a:t>functioneert</a:t>
            </a:r>
            <a:r>
              <a:rPr lang="en-US" sz="2000" dirty="0"/>
              <a:t> </a:t>
            </a:r>
            <a:r>
              <a:rPr lang="en-US" sz="2000" dirty="0" err="1"/>
              <a:t>als</a:t>
            </a:r>
            <a:r>
              <a:rPr lang="en-US" sz="2000" dirty="0"/>
              <a:t> </a:t>
            </a:r>
            <a:r>
              <a:rPr lang="en-US" sz="2000" dirty="0" err="1"/>
              <a:t>een</a:t>
            </a:r>
            <a:r>
              <a:rPr lang="en-US" sz="2000" dirty="0"/>
              <a:t> </a:t>
            </a:r>
            <a:r>
              <a:rPr lang="nl-NL" sz="2000" dirty="0">
                <a:solidFill>
                  <a:srgbClr val="EA244E"/>
                </a:solidFill>
              </a:rPr>
              <a:t>filter voor wereldbeelden</a:t>
            </a:r>
            <a:r>
              <a:rPr lang="en-US" sz="2000" dirty="0"/>
              <a:t>. </a:t>
            </a:r>
            <a:r>
              <a:rPr lang="en-US" sz="2000" dirty="0" err="1"/>
              <a:t>Wereldbeelden</a:t>
            </a:r>
            <a:r>
              <a:rPr lang="en-US" sz="2000" dirty="0"/>
              <a:t> die het </a:t>
            </a:r>
            <a:r>
              <a:rPr lang="en-US" sz="2000" dirty="0" err="1"/>
              <a:t>bestaan</a:t>
            </a:r>
            <a:r>
              <a:rPr lang="en-US" sz="2000" dirty="0"/>
              <a:t> van </a:t>
            </a:r>
            <a:r>
              <a:rPr lang="en-US" sz="2000" dirty="0" err="1"/>
              <a:t>een</a:t>
            </a:r>
            <a:r>
              <a:rPr lang="en-US" sz="2000" dirty="0"/>
              <a:t> </a:t>
            </a:r>
            <a:r>
              <a:rPr lang="en-US" sz="2000" dirty="0" err="1"/>
              <a:t>niet-formele</a:t>
            </a:r>
            <a:r>
              <a:rPr lang="en-US" sz="2000" dirty="0"/>
              <a:t> </a:t>
            </a:r>
            <a:r>
              <a:rPr lang="en-US" sz="2000" dirty="0" err="1"/>
              <a:t>universele</a:t>
            </a:r>
            <a:r>
              <a:rPr lang="en-US" sz="2000" dirty="0"/>
              <a:t> </a:t>
            </a:r>
            <a:r>
              <a:rPr lang="en-US" sz="2000" dirty="0" err="1"/>
              <a:t>eigenschap</a:t>
            </a:r>
            <a:r>
              <a:rPr lang="en-US" sz="2000" dirty="0"/>
              <a:t> </a:t>
            </a:r>
            <a:r>
              <a:rPr lang="en-US" sz="2000" dirty="0" err="1"/>
              <a:t>impliceren</a:t>
            </a:r>
            <a:r>
              <a:rPr lang="en-US" sz="2000" dirty="0"/>
              <a:t>, </a:t>
            </a:r>
            <a:r>
              <a:rPr lang="en-US" sz="2000" dirty="0" err="1"/>
              <a:t>zoals</a:t>
            </a:r>
            <a:r>
              <a:rPr lang="en-US" sz="2000" dirty="0"/>
              <a:t> mater-</a:t>
            </a:r>
            <a:r>
              <a:rPr lang="en-US" sz="2000" dirty="0" err="1"/>
              <a:t>ialisme</a:t>
            </a:r>
            <a:r>
              <a:rPr lang="en-US" sz="2000" dirty="0"/>
              <a:t>, </a:t>
            </a:r>
            <a:r>
              <a:rPr lang="en-US" sz="2000" dirty="0" err="1"/>
              <a:t>fysicalisme</a:t>
            </a:r>
            <a:r>
              <a:rPr lang="en-US" sz="2000" dirty="0"/>
              <a:t>, naturalism </a:t>
            </a:r>
            <a:r>
              <a:rPr lang="en-US" sz="2000" dirty="0" err="1"/>
              <a:t>en</a:t>
            </a:r>
            <a:r>
              <a:rPr lang="en-US" sz="2000" dirty="0"/>
              <a:t> </a:t>
            </a:r>
            <a:r>
              <a:rPr lang="en-US" sz="2000" dirty="0" err="1"/>
              <a:t>pantheïsme</a:t>
            </a:r>
            <a:r>
              <a:rPr lang="en-US" sz="2000" dirty="0"/>
              <a:t> </a:t>
            </a:r>
            <a:r>
              <a:rPr lang="en-US" sz="2000" dirty="0" err="1"/>
              <a:t>worden</a:t>
            </a:r>
            <a:r>
              <a:rPr lang="en-US" sz="2000" dirty="0"/>
              <a:t> </a:t>
            </a:r>
            <a:r>
              <a:rPr lang="en-US" sz="2000" dirty="0" err="1"/>
              <a:t>erdoor</a:t>
            </a:r>
            <a:r>
              <a:rPr lang="en-US" sz="2000" dirty="0"/>
              <a:t> </a:t>
            </a:r>
            <a:r>
              <a:rPr lang="en-US" sz="2000" dirty="0" err="1"/>
              <a:t>weerlegd</a:t>
            </a:r>
            <a:r>
              <a:rPr lang="en-US" sz="2000" dirty="0"/>
              <a:t>.</a:t>
            </a:r>
            <a:endParaRPr lang="nl-NL" sz="2000" dirty="0"/>
          </a:p>
        </p:txBody>
      </p:sp>
      <p:sp>
        <p:nvSpPr>
          <p:cNvPr id="12" name="Title 1">
            <a:extLst>
              <a:ext uri="{FF2B5EF4-FFF2-40B4-BE49-F238E27FC236}">
                <a16:creationId xmlns:a16="http://schemas.microsoft.com/office/drawing/2014/main" id="{F724745A-AC86-512D-1A90-C8C372E0282C}"/>
              </a:ext>
            </a:extLst>
          </p:cNvPr>
          <p:cNvSpPr>
            <a:spLocks noGrp="1"/>
          </p:cNvSpPr>
          <p:nvPr>
            <p:ph type="title"/>
          </p:nvPr>
        </p:nvSpPr>
        <p:spPr>
          <a:xfrm>
            <a:off x="70992" y="-18256"/>
            <a:ext cx="8965504" cy="854968"/>
          </a:xfrm>
        </p:spPr>
        <p:txBody>
          <a:bodyPr>
            <a:normAutofit/>
          </a:bodyPr>
          <a:lstStyle/>
          <a:p>
            <a:r>
              <a:rPr lang="nl-NL" sz="3600" dirty="0">
                <a:solidFill>
                  <a:srgbClr val="EA244E"/>
                </a:solidFill>
              </a:rPr>
              <a:t>Een theorie van alles?</a:t>
            </a:r>
            <a:endParaRPr lang="nl-NL" sz="3600" dirty="0"/>
          </a:p>
        </p:txBody>
      </p:sp>
      <p:sp>
        <p:nvSpPr>
          <p:cNvPr id="17" name="Content Placeholder 2">
            <a:extLst>
              <a:ext uri="{FF2B5EF4-FFF2-40B4-BE49-F238E27FC236}">
                <a16:creationId xmlns:a16="http://schemas.microsoft.com/office/drawing/2014/main" id="{3FBBB86B-4FCB-79B8-8B71-D6EC22B19624}"/>
              </a:ext>
            </a:extLst>
          </p:cNvPr>
          <p:cNvSpPr txBox="1">
            <a:spLocks/>
          </p:cNvSpPr>
          <p:nvPr/>
        </p:nvSpPr>
        <p:spPr>
          <a:xfrm>
            <a:off x="35496" y="4725144"/>
            <a:ext cx="925353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Het </a:t>
            </a:r>
            <a:r>
              <a:rPr lang="en-US" sz="2000" dirty="0" err="1"/>
              <a:t>zijn</a:t>
            </a:r>
            <a:r>
              <a:rPr lang="en-US" sz="2000" dirty="0"/>
              <a:t> is </a:t>
            </a:r>
            <a:r>
              <a:rPr lang="en-US" sz="2000" dirty="0" err="1"/>
              <a:t>blijkbaar</a:t>
            </a:r>
            <a:r>
              <a:rPr lang="en-US" sz="2000" dirty="0"/>
              <a:t> zo divers, zo </a:t>
            </a:r>
            <a:r>
              <a:rPr lang="en-US" sz="2000" dirty="0" err="1"/>
              <a:t>rijkgeschakeerd</a:t>
            </a:r>
            <a:r>
              <a:rPr lang="en-US" sz="2000" dirty="0"/>
              <a:t>, </a:t>
            </a:r>
            <a:r>
              <a:rPr lang="en-US" sz="2000" dirty="0" err="1"/>
              <a:t>dat</a:t>
            </a:r>
            <a:r>
              <a:rPr lang="en-US" sz="2000" dirty="0"/>
              <a:t> het </a:t>
            </a:r>
            <a:r>
              <a:rPr lang="en-US" sz="2000" dirty="0" err="1"/>
              <a:t>zich</a:t>
            </a:r>
            <a:r>
              <a:rPr lang="en-US" sz="2000" dirty="0"/>
              <a:t> door </a:t>
            </a:r>
            <a:r>
              <a:rPr lang="en-US" sz="2000" dirty="0" err="1"/>
              <a:t>geen</a:t>
            </a:r>
            <a:r>
              <a:rPr lang="en-US" sz="2000" dirty="0"/>
              <a:t> </a:t>
            </a:r>
            <a:r>
              <a:rPr lang="en-US" sz="2000" dirty="0" err="1"/>
              <a:t>enkel</a:t>
            </a:r>
            <a:r>
              <a:rPr lang="en-US" sz="2000" dirty="0"/>
              <a:t>     “</a:t>
            </a:r>
            <a:r>
              <a:rPr lang="en-US" sz="2000" dirty="0" err="1"/>
              <a:t>Alles</a:t>
            </a:r>
            <a:r>
              <a:rPr lang="en-US" sz="2000" dirty="0"/>
              <a:t> is </a:t>
            </a:r>
            <a:r>
              <a:rPr lang="en-US" sz="2000" dirty="0" err="1"/>
              <a:t>zus</a:t>
            </a:r>
            <a:r>
              <a:rPr lang="en-US" sz="2000" dirty="0"/>
              <a:t>” of “</a:t>
            </a:r>
            <a:r>
              <a:rPr lang="en-US" sz="2000" dirty="0" err="1"/>
              <a:t>Alles</a:t>
            </a:r>
            <a:r>
              <a:rPr lang="en-US" sz="2000" dirty="0"/>
              <a:t> of zo” </a:t>
            </a:r>
            <a:r>
              <a:rPr lang="en-US" sz="2000" dirty="0" err="1"/>
              <a:t>keurslijf</a:t>
            </a:r>
            <a:r>
              <a:rPr lang="en-US" sz="2000" dirty="0"/>
              <a:t> </a:t>
            </a:r>
            <a:r>
              <a:rPr lang="en-US" sz="2000" dirty="0" err="1"/>
              <a:t>laat</a:t>
            </a:r>
            <a:r>
              <a:rPr lang="en-US" sz="2000" dirty="0"/>
              <a:t> </a:t>
            </a:r>
            <a:r>
              <a:rPr lang="en-US" sz="2000" dirty="0" err="1"/>
              <a:t>knechten</a:t>
            </a:r>
            <a:r>
              <a:rPr lang="en-US" sz="2000" dirty="0"/>
              <a:t>. Het </a:t>
            </a:r>
            <a:r>
              <a:rPr lang="en-US" sz="2000" dirty="0" err="1"/>
              <a:t>zijn</a:t>
            </a:r>
            <a:r>
              <a:rPr lang="en-US" sz="2000" dirty="0"/>
              <a:t> </a:t>
            </a:r>
            <a:r>
              <a:rPr lang="en-US" sz="2000" dirty="0" err="1"/>
              <a:t>ontglipt</a:t>
            </a:r>
            <a:r>
              <a:rPr lang="en-US" sz="2000" dirty="0"/>
              <a:t> </a:t>
            </a:r>
            <a:r>
              <a:rPr lang="en-US" sz="2000" dirty="0" err="1"/>
              <a:t>elke</a:t>
            </a:r>
            <a:r>
              <a:rPr lang="en-US" sz="2000" dirty="0"/>
              <a:t> </a:t>
            </a:r>
            <a:r>
              <a:rPr lang="en-US" sz="2000" dirty="0" err="1"/>
              <a:t>poging</a:t>
            </a:r>
            <a:r>
              <a:rPr lang="en-US" sz="2000" dirty="0"/>
              <a:t>    om het in </a:t>
            </a:r>
            <a:r>
              <a:rPr lang="en-US" sz="2000" dirty="0" err="1"/>
              <a:t>een</a:t>
            </a:r>
            <a:r>
              <a:rPr lang="en-US" sz="2000" dirty="0"/>
              <a:t> </a:t>
            </a:r>
            <a:r>
              <a:rPr lang="en-US" sz="2000" dirty="0" err="1"/>
              <a:t>dwingende</a:t>
            </a:r>
            <a:r>
              <a:rPr lang="en-US" sz="2000" dirty="0"/>
              <a:t> </a:t>
            </a:r>
            <a:r>
              <a:rPr lang="en-US" sz="2000" dirty="0" err="1"/>
              <a:t>universele</a:t>
            </a:r>
            <a:r>
              <a:rPr lang="en-US" sz="2000" dirty="0"/>
              <a:t> mal </a:t>
            </a:r>
            <a:r>
              <a:rPr lang="en-US" sz="2000" dirty="0" err="1"/>
              <a:t>te</a:t>
            </a:r>
            <a:r>
              <a:rPr lang="en-US" sz="2000" dirty="0"/>
              <a:t> </a:t>
            </a:r>
            <a:r>
              <a:rPr lang="en-US" sz="2000" dirty="0" err="1"/>
              <a:t>persen</a:t>
            </a:r>
            <a:r>
              <a:rPr lang="en-US" sz="2000" dirty="0"/>
              <a:t>. Het </a:t>
            </a:r>
            <a:r>
              <a:rPr lang="en-US" sz="2000" dirty="0" err="1"/>
              <a:t>zijn</a:t>
            </a:r>
            <a:r>
              <a:rPr lang="en-US" sz="2000" dirty="0"/>
              <a:t> is </a:t>
            </a:r>
            <a:r>
              <a:rPr lang="nl-NL" sz="2000" dirty="0">
                <a:solidFill>
                  <a:srgbClr val="EA244E"/>
                </a:solidFill>
              </a:rPr>
              <a:t>radicaal vrij</a:t>
            </a:r>
            <a:r>
              <a:rPr lang="en-US" sz="2000" dirty="0"/>
              <a:t>. </a:t>
            </a:r>
            <a:endParaRPr lang="nl-NL" sz="2000" dirty="0"/>
          </a:p>
        </p:txBody>
      </p:sp>
      <p:sp>
        <p:nvSpPr>
          <p:cNvPr id="18" name="Content Placeholder 2">
            <a:extLst>
              <a:ext uri="{FF2B5EF4-FFF2-40B4-BE49-F238E27FC236}">
                <a16:creationId xmlns:a16="http://schemas.microsoft.com/office/drawing/2014/main" id="{360C2B73-C2E1-5FCC-FD69-C2E6CDFA5E10}"/>
              </a:ext>
            </a:extLst>
          </p:cNvPr>
          <p:cNvSpPr txBox="1">
            <a:spLocks/>
          </p:cNvSpPr>
          <p:nvPr/>
        </p:nvSpPr>
        <p:spPr>
          <a:xfrm>
            <a:off x="70992" y="5877272"/>
            <a:ext cx="925353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Zo </a:t>
            </a:r>
            <a:r>
              <a:rPr lang="en-US" sz="2000" dirty="0" err="1"/>
              <a:t>wijst</a:t>
            </a:r>
            <a:r>
              <a:rPr lang="en-US" sz="2000" dirty="0"/>
              <a:t> de taal </a:t>
            </a:r>
            <a:r>
              <a:rPr lang="en-US" sz="2000" dirty="0" err="1"/>
              <a:t>ons</a:t>
            </a:r>
            <a:r>
              <a:rPr lang="en-US" sz="2000" dirty="0"/>
              <a:t> de </a:t>
            </a:r>
            <a:r>
              <a:rPr lang="en-US" sz="2000" dirty="0" err="1"/>
              <a:t>weg</a:t>
            </a:r>
            <a:r>
              <a:rPr lang="en-US" sz="2000" dirty="0"/>
              <a:t>. Het </a:t>
            </a:r>
            <a:r>
              <a:rPr lang="en-US" sz="2000" dirty="0" err="1"/>
              <a:t>woord</a:t>
            </a:r>
            <a:r>
              <a:rPr lang="en-US" sz="2000" dirty="0"/>
              <a:t> of de </a:t>
            </a:r>
            <a:r>
              <a:rPr lang="nl-NL" sz="2000" dirty="0">
                <a:solidFill>
                  <a:srgbClr val="EA244E"/>
                </a:solidFill>
              </a:rPr>
              <a:t>logos </a:t>
            </a:r>
            <a:r>
              <a:rPr lang="en-US" sz="2000" dirty="0"/>
              <a:t>is de </a:t>
            </a:r>
            <a:r>
              <a:rPr lang="en-US" sz="2000" dirty="0" err="1"/>
              <a:t>weg</a:t>
            </a:r>
            <a:r>
              <a:rPr lang="en-US" sz="2000" dirty="0"/>
              <a:t> </a:t>
            </a:r>
            <a:r>
              <a:rPr lang="en-US" sz="2000" dirty="0" err="1"/>
              <a:t>naar</a:t>
            </a:r>
            <a:r>
              <a:rPr lang="en-US" sz="2000" dirty="0"/>
              <a:t> de </a:t>
            </a:r>
            <a:r>
              <a:rPr lang="en-US" sz="2000" dirty="0" err="1"/>
              <a:t>grond</a:t>
            </a:r>
            <a:r>
              <a:rPr lang="en-US" sz="2000" dirty="0"/>
              <a:t> van     het </a:t>
            </a:r>
            <a:r>
              <a:rPr lang="en-US" sz="2000" dirty="0" err="1"/>
              <a:t>zijn</a:t>
            </a:r>
            <a:r>
              <a:rPr lang="en-US" sz="2000" dirty="0"/>
              <a:t>. En </a:t>
            </a:r>
            <a:r>
              <a:rPr lang="en-US" sz="2000" dirty="0" err="1"/>
              <a:t>inderdaad</a:t>
            </a:r>
            <a:r>
              <a:rPr lang="en-US" sz="2000" dirty="0"/>
              <a:t>. De </a:t>
            </a:r>
            <a:r>
              <a:rPr lang="en-US" sz="2000" dirty="0" err="1"/>
              <a:t>wereld</a:t>
            </a:r>
            <a:r>
              <a:rPr lang="en-US" sz="2000" dirty="0"/>
              <a:t> is de </a:t>
            </a:r>
            <a:r>
              <a:rPr lang="en-US" sz="2000" dirty="0" err="1"/>
              <a:t>wereld</a:t>
            </a:r>
            <a:r>
              <a:rPr lang="en-US" sz="2000" dirty="0"/>
              <a:t> </a:t>
            </a:r>
            <a:r>
              <a:rPr lang="en-US" sz="2000" dirty="0" err="1"/>
              <a:t>zoals</a:t>
            </a:r>
            <a:r>
              <a:rPr lang="en-US" sz="2000" dirty="0"/>
              <a:t> </a:t>
            </a:r>
            <a:r>
              <a:rPr lang="en-US" sz="2000" dirty="0" err="1"/>
              <a:t>gedacht</a:t>
            </a:r>
            <a:r>
              <a:rPr lang="en-US" sz="2000" dirty="0"/>
              <a:t> door de logos.</a:t>
            </a:r>
            <a:endParaRPr lang="nl-NL" sz="2000" dirty="0"/>
          </a:p>
        </p:txBody>
      </p:sp>
    </p:spTree>
    <p:extLst>
      <p:ext uri="{BB962C8B-B14F-4D97-AF65-F5344CB8AC3E}">
        <p14:creationId xmlns:p14="http://schemas.microsoft.com/office/powerpoint/2010/main" val="908891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P spid="9" grpId="0"/>
      <p:bldP spid="11" grpId="0"/>
      <p:bldP spid="17"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8B6EED2-4E80-64B2-C8D5-51F7145FA3C9}"/>
              </a:ext>
            </a:extLst>
          </p:cNvPr>
          <p:cNvSpPr txBox="1">
            <a:spLocks/>
          </p:cNvSpPr>
          <p:nvPr/>
        </p:nvSpPr>
        <p:spPr>
          <a:xfrm>
            <a:off x="107504" y="692697"/>
            <a:ext cx="8712968" cy="5760640"/>
          </a:xfrm>
          <a:prstGeom prst="rect">
            <a:avLst/>
          </a:prstGeom>
        </p:spPr>
        <p:txBody>
          <a:bodyPr vert="horz" lIns="91440" tIns="45720" rIns="91440" bIns="45720" rtlCol="0" anchor="ctr">
            <a:normAutofit fontScale="6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br>
              <a:rPr lang="nl-NL" dirty="0"/>
            </a:br>
            <a:br>
              <a:rPr lang="nl-NL" sz="4000" dirty="0"/>
            </a:br>
            <a:r>
              <a:rPr lang="nl-NL" sz="4000" dirty="0">
                <a:solidFill>
                  <a:srgbClr val="EA244E"/>
                </a:solidFill>
              </a:rPr>
              <a:t>V</a:t>
            </a:r>
            <a:r>
              <a:rPr lang="nl-NL" dirty="0">
                <a:solidFill>
                  <a:srgbClr val="EA244E"/>
                </a:solidFill>
              </a:rPr>
              <a:t>erder lezen?</a:t>
            </a:r>
            <a:br>
              <a:rPr lang="nl-NL" dirty="0">
                <a:solidFill>
                  <a:srgbClr val="FF0000"/>
                </a:solidFill>
              </a:rPr>
            </a:br>
            <a:endParaRPr lang="en-IE" sz="3200" dirty="0"/>
          </a:p>
          <a:p>
            <a:endParaRPr lang="en-IE" sz="3200" dirty="0"/>
          </a:p>
          <a:p>
            <a:r>
              <a:rPr lang="en-IE" sz="3200" dirty="0"/>
              <a:t>“Positive Universally Held Properties are Necessarily Universally Held” </a:t>
            </a:r>
          </a:p>
          <a:p>
            <a:endParaRPr lang="en-IE" sz="3200" dirty="0"/>
          </a:p>
          <a:p>
            <a:r>
              <a:rPr lang="en-US" sz="3200" i="1" dirty="0"/>
              <a:t>Acta </a:t>
            </a:r>
            <a:r>
              <a:rPr lang="en-US" sz="3200" i="1" dirty="0" err="1"/>
              <a:t>Philosophica</a:t>
            </a:r>
            <a:r>
              <a:rPr lang="en-US" sz="3200" dirty="0"/>
              <a:t> 30 (1): 139-158 (2021)</a:t>
            </a:r>
            <a:br>
              <a:rPr lang="en-US" sz="3200" dirty="0"/>
            </a:br>
            <a:endParaRPr lang="en-US" sz="3200" dirty="0"/>
          </a:p>
          <a:p>
            <a:endParaRPr lang="en-US" sz="3200" dirty="0"/>
          </a:p>
          <a:p>
            <a:endParaRPr lang="en-US" sz="3200" dirty="0"/>
          </a:p>
          <a:p>
            <a:r>
              <a:rPr lang="en-US" sz="3200" dirty="0"/>
              <a:t>“De taal </a:t>
            </a:r>
            <a:r>
              <a:rPr lang="en-US" sz="3200" dirty="0" err="1"/>
              <a:t>wijst</a:t>
            </a:r>
            <a:r>
              <a:rPr lang="en-US" sz="3200" dirty="0"/>
              <a:t> </a:t>
            </a:r>
            <a:r>
              <a:rPr lang="en-US" sz="3200" dirty="0" err="1"/>
              <a:t>ons</a:t>
            </a:r>
            <a:r>
              <a:rPr lang="en-US" sz="3200" dirty="0"/>
              <a:t> de </a:t>
            </a:r>
            <a:r>
              <a:rPr lang="en-US" sz="3200" dirty="0" err="1"/>
              <a:t>weg</a:t>
            </a:r>
            <a:r>
              <a:rPr lang="en-US" sz="3200" dirty="0"/>
              <a:t>: Het </a:t>
            </a:r>
            <a:r>
              <a:rPr lang="en-US" sz="3200" dirty="0" err="1"/>
              <a:t>semantisch</a:t>
            </a:r>
            <a:r>
              <a:rPr lang="en-US" sz="3200" dirty="0"/>
              <a:t> argument”</a:t>
            </a:r>
          </a:p>
          <a:p>
            <a:endParaRPr lang="en-US" sz="3200" dirty="0"/>
          </a:p>
          <a:p>
            <a:r>
              <a:rPr lang="en-US" sz="3200" i="1" dirty="0"/>
              <a:t>Radix</a:t>
            </a:r>
            <a:r>
              <a:rPr lang="en-US" sz="3200" dirty="0"/>
              <a:t> 48 (4): 306-318 (2022)</a:t>
            </a:r>
          </a:p>
          <a:p>
            <a:br>
              <a:rPr lang="en-US" sz="3200" dirty="0"/>
            </a:br>
            <a:endParaRPr lang="en-US" sz="3200" dirty="0"/>
          </a:p>
          <a:p>
            <a:endParaRPr lang="en-IE" sz="3200" dirty="0"/>
          </a:p>
          <a:p>
            <a:r>
              <a:rPr lang="nl-NL" sz="3200" u="sng" dirty="0">
                <a:solidFill>
                  <a:srgbClr val="0070C0"/>
                </a:solidFill>
              </a:rPr>
              <a:t>www.emanuelrutten.nl</a:t>
            </a:r>
            <a:endParaRPr lang="en-IE" sz="3200" u="sng" dirty="0">
              <a:solidFill>
                <a:srgbClr val="0070C0"/>
              </a:solidFill>
            </a:endParaRPr>
          </a:p>
          <a:p>
            <a:br>
              <a:rPr lang="en-IE" sz="3200" dirty="0"/>
            </a:br>
            <a:br>
              <a:rPr lang="en-IE" sz="3200" dirty="0"/>
            </a:br>
            <a:endParaRPr lang="nl-NL" dirty="0"/>
          </a:p>
        </p:txBody>
      </p:sp>
    </p:spTree>
    <p:extLst>
      <p:ext uri="{BB962C8B-B14F-4D97-AF65-F5344CB8AC3E}">
        <p14:creationId xmlns:p14="http://schemas.microsoft.com/office/powerpoint/2010/main" val="30888537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amp;#x0D;&amp;#x0A;&amp;#x0D;&amp;#x0A;Positive Universally Held Properties Are Necessarily Universally Held&amp;#x0D;&amp;#x0A;&amp;#x0D;&amp;#x0A;Annual OZSW Conference 2015 &amp;#x0D;&amp;#x0A;Vrije Univers&quot;/&gt;&lt;property id=&quot;20307&quot; value=&quot;256&quot;/&gt;&lt;/object&gt;&lt;object type=&quot;3&quot; unique_id=&quot;10005&quot;&gt;&lt;property id=&quot;20148&quot; value=&quot;5&quot;/&gt;&lt;property id=&quot;20300&quot; value=&quot;Slide 2&quot;/&gt;&lt;property id=&quot;20307&quot; value=&quot;364&quot;/&gt;&lt;/object&gt;&lt;object type=&quot;3&quot; unique_id=&quot;10006&quot;&gt;&lt;property id=&quot;20148&quot; value=&quot;5&quot;/&gt;&lt;property id=&quot;20300&quot; value=&quot;Slide 3 - &amp;quot;Preliminaries&amp;quot;&quot;/&gt;&lt;property id=&quot;20307&quot; value=&quot;262&quot;/&gt;&lt;/object&gt;&lt;object type=&quot;3&quot; unique_id=&quot;10007&quot;&gt;&lt;property id=&quot;20148&quot; value=&quot;5&quot;/&gt;&lt;property id=&quot;20300&quot; value=&quot;Slide 4 - &amp;quot;Preliminaries&amp;quot;&quot;/&gt;&lt;property id=&quot;20307&quot; value=&quot;700&quot;/&gt;&lt;/object&gt;&lt;object type=&quot;3&quot; unique_id=&quot;10008&quot;&gt;&lt;property id=&quot;20148&quot; value=&quot;5&quot;/&gt;&lt;property id=&quot;20300&quot; value=&quot;Slide 5 - &amp;quot;Premise 1&amp;quot;&quot;/&gt;&lt;property id=&quot;20307&quot; value=&quot;701&quot;/&gt;&lt;/object&gt;&lt;object type=&quot;3&quot; unique_id=&quot;10009&quot;&gt;&lt;property id=&quot;20148&quot; value=&quot;5&quot;/&gt;&lt;property id=&quot;20300&quot; value=&quot;Slide 6 - &amp;quot;Premise 2&amp;quot;&quot;/&gt;&lt;property id=&quot;20307&quot; value=&quot;702&quot;/&gt;&lt;/object&gt;&lt;object type=&quot;3&quot; unique_id=&quot;10010&quot;&gt;&lt;property id=&quot;20148&quot; value=&quot;5&quot;/&gt;&lt;property id=&quot;20300&quot; value=&quot;Slide 7 - &amp;quot;Premise 2&amp;quot;&quot;/&gt;&lt;property id=&quot;20307&quot; value=&quot;703&quot;/&gt;&lt;/object&gt;&lt;object type=&quot;3&quot; unique_id=&quot;10011&quot;&gt;&lt;property id=&quot;20148&quot; value=&quot;5&quot;/&gt;&lt;property id=&quot;20300&quot; value=&quot;Slide 8 - &amp;quot;Premise 3&amp;quot;&quot;/&gt;&lt;property id=&quot;20307&quot; value=&quot;704&quot;/&gt;&lt;/object&gt;&lt;object type=&quot;3&quot; unique_id=&quot;10012&quot;&gt;&lt;property id=&quot;20148&quot; value=&quot;5&quot;/&gt;&lt;property id=&quot;20300&quot; value=&quot;Slide 9 - &amp;quot;Premise 3&amp;quot;&quot;/&gt;&lt;property id=&quot;20307&quot; value=&quot;705&quot;/&gt;&lt;/object&gt;&lt;object type=&quot;3&quot; unique_id=&quot;10013&quot;&gt;&lt;property id=&quot;20148&quot; value=&quot;5&quot;/&gt;&lt;property id=&quot;20300&quot; value=&quot;Slide 10 - &amp;quot;The argument stated&amp;quot;&quot;/&gt;&lt;property id=&quot;20307&quot; value=&quot;706&quot;/&gt;&lt;/object&gt;&lt;object type=&quot;3&quot; unique_id=&quot;10014&quot;&gt;&lt;property id=&quot;20148&quot; value=&quot;5&quot;/&gt;&lt;property id=&quot;20300&quot; value=&quot;Slide 11 - &amp;quot;The argument stated&amp;quot;&quot;/&gt;&lt;property id=&quot;20307&quot; value=&quot;708&quot;/&gt;&lt;/object&gt;&lt;object type=&quot;3&quot; unique_id=&quot;10015&quot;&gt;&lt;property id=&quot;20148&quot; value=&quot;5&quot;/&gt;&lt;property id=&quot;20300&quot; value=&quot;Slide 12 - &amp;quot;Corollaries&amp;quot;&quot;/&gt;&lt;property id=&quot;20307&quot; value=&quot;709&quot;/&gt;&lt;/object&gt;&lt;object type=&quot;3&quot; unique_id=&quot;10016&quot;&gt;&lt;property id=&quot;20148&quot; value=&quot;5&quot;/&gt;&lt;property id=&quot;20300&quot; value=&quot;Slide 13 - &amp;quot;Corollaries&amp;quot;&quot;/&gt;&lt;property id=&quot;20307&quot; value=&quot;710&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2112</Words>
  <Application>Microsoft Office PowerPoint</Application>
  <PresentationFormat>Diavoorstelling (4:3)</PresentationFormat>
  <Paragraphs>144</Paragraphs>
  <Slides>14</Slides>
  <Notes>11</Notes>
  <HiddenSlides>0</HiddenSlides>
  <MMClips>0</MMClips>
  <ScaleCrop>false</ScaleCrop>
  <HeadingPairs>
    <vt:vector size="6" baseType="variant">
      <vt:variant>
        <vt:lpstr>Gebruikte lettertypen</vt:lpstr>
      </vt:variant>
      <vt:variant>
        <vt:i4>2</vt:i4>
      </vt:variant>
      <vt:variant>
        <vt:lpstr>Thema</vt:lpstr>
      </vt:variant>
      <vt:variant>
        <vt:i4>1</vt:i4>
      </vt:variant>
      <vt:variant>
        <vt:lpstr>Diatitels</vt:lpstr>
      </vt:variant>
      <vt:variant>
        <vt:i4>14</vt:i4>
      </vt:variant>
    </vt:vector>
  </HeadingPairs>
  <TitlesOfParts>
    <vt:vector size="17" baseType="lpstr">
      <vt:lpstr>Arial</vt:lpstr>
      <vt:lpstr>Calibri</vt:lpstr>
      <vt:lpstr>Office Theme</vt:lpstr>
      <vt:lpstr>  Waarom de natuur van tegendelen houdt: Een metafysische ontdek- kingsreis voorbij de draken  Wijsgerig Festival Drift 2023  20 mei | Amsterdam</vt:lpstr>
      <vt:lpstr>Tegendelen</vt:lpstr>
      <vt:lpstr>Sporen van het principe </vt:lpstr>
      <vt:lpstr>PowerPoint-presentatie</vt:lpstr>
      <vt:lpstr>PowerPoint-presentatie</vt:lpstr>
      <vt:lpstr>PowerPoint-presentatie</vt:lpstr>
      <vt:lpstr>De kernpremisse</vt:lpstr>
      <vt:lpstr>Het semantisch argument</vt:lpstr>
      <vt:lpstr>Het semantisch argument (2)</vt:lpstr>
      <vt:lpstr>Enkele implicaties</vt:lpstr>
      <vt:lpstr>Enkele implicaties (2)</vt:lpstr>
      <vt:lpstr>Enkele implicaties (3)</vt:lpstr>
      <vt:lpstr>Een theorie van alles?</vt:lpstr>
      <vt:lpstr>PowerPoint-presentatie</vt:lpstr>
    </vt:vector>
  </TitlesOfParts>
  <Company>LeasePlan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Epistemology</dc:title>
  <dc:creator>rutte</dc:creator>
  <cp:lastModifiedBy>E Rutten</cp:lastModifiedBy>
  <cp:revision>531</cp:revision>
  <dcterms:created xsi:type="dcterms:W3CDTF">2013-05-04T19:13:18Z</dcterms:created>
  <dcterms:modified xsi:type="dcterms:W3CDTF">2023-05-20T22:31:55Z</dcterms:modified>
</cp:coreProperties>
</file>